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357" r:id="rId2"/>
    <p:sldId id="370" r:id="rId3"/>
    <p:sldId id="344" r:id="rId4"/>
    <p:sldId id="343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2" r:id="rId16"/>
    <p:sldId id="381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398" r:id="rId33"/>
    <p:sldId id="399" r:id="rId34"/>
    <p:sldId id="400" r:id="rId35"/>
    <p:sldId id="401" r:id="rId36"/>
    <p:sldId id="402" r:id="rId37"/>
    <p:sldId id="403" r:id="rId38"/>
    <p:sldId id="404" r:id="rId39"/>
    <p:sldId id="405" r:id="rId40"/>
    <p:sldId id="406" r:id="rId41"/>
    <p:sldId id="407" r:id="rId42"/>
    <p:sldId id="408" r:id="rId43"/>
    <p:sldId id="409" r:id="rId44"/>
    <p:sldId id="410" r:id="rId45"/>
    <p:sldId id="411" r:id="rId46"/>
    <p:sldId id="412" r:id="rId47"/>
    <p:sldId id="413" r:id="rId48"/>
    <p:sldId id="414" r:id="rId49"/>
    <p:sldId id="415" r:id="rId50"/>
    <p:sldId id="416" r:id="rId51"/>
    <p:sldId id="417" r:id="rId52"/>
    <p:sldId id="418" r:id="rId53"/>
    <p:sldId id="419" r:id="rId54"/>
    <p:sldId id="420" r:id="rId55"/>
    <p:sldId id="421" r:id="rId56"/>
    <p:sldId id="356" r:id="rId57"/>
  </p:sldIdLst>
  <p:sldSz cx="12188825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20CB13"/>
    <a:srgbClr val="008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5110" autoAdjust="0"/>
  </p:normalViewPr>
  <p:slideViewPr>
    <p:cSldViewPr>
      <p:cViewPr varScale="1">
        <p:scale>
          <a:sx n="86" d="100"/>
          <a:sy n="86" d="100"/>
        </p:scale>
        <p:origin x="605" y="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856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310994A-D9D6-45BB-BF4A-14339808A1A4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D0D88C-9335-44B6-B806-50A6EF6D802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547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8305A0-012E-4CA3-9BDD-C21A18A976E8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805123A-5685-498F-AC7F-D0275DAA221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820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188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71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80000" scaling="54"/>
                    </a14:imgEffect>
                    <a14:imgEffect>
                      <a14:sharpenSoften amount="43000"/>
                    </a14:imgEffect>
                    <a14:imgEffect>
                      <a14:colorTemperature colorTemp="725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2" y="-99392"/>
            <a:ext cx="6264696" cy="7056784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/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117848"/>
            <a:ext cx="5544616" cy="17321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820" y="2996952"/>
            <a:ext cx="5112568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53767-4FC8-4F7C-81DC-BD195C78A58F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矩形 3"/>
          <p:cNvSpPr/>
          <p:nvPr userDrawn="1"/>
        </p:nvSpPr>
        <p:spPr>
          <a:xfrm>
            <a:off x="7545284" y="110817"/>
            <a:ext cx="3206327" cy="54784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altLang="zh-CN" sz="35000" b="1" i="0" cap="none" spc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1270000" dist="63500" dir="2700000" algn="tl" rotWithShape="0">
                    <a:schemeClr val="tx2">
                      <a:alpha val="0"/>
                    </a:schemeClr>
                  </a:outerShdw>
                  <a:reflection blurRad="6350" stA="22000" endPos="20000" dir="5400000" sy="-100000" algn="bl" rotWithShape="0"/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C</a:t>
            </a:r>
            <a:endParaRPr lang="zh-CN" altLang="en-US" sz="35000" b="1" i="0" cap="none" spc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1270000" dist="63500" dir="2700000" algn="tl" rotWithShape="0">
                  <a:schemeClr val="tx2">
                    <a:alpha val="0"/>
                  </a:schemeClr>
                </a:outerShdw>
                <a:reflection blurRad="6350" stA="22000" endPos="20000" dir="5400000" sy="-100000" algn="bl" rotWithShape="0"/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852" y="1628800"/>
            <a:ext cx="10287000" cy="4464496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E90CC-62C7-44CD-8DFE-E094F3B07BE4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cap="none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83C11-37EA-4C67-A719-3A70D2B6FC4E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2pPr>
            <a:lvl3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3pPr>
            <a:lvl4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4pPr>
            <a:lvl5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7868" y="1412776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5669" y="1412776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822DD-EAA9-439E-8AB1-0B873012FBB3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3E244-7AAD-4668-887C-457B456B5561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7BD6-F9F3-4A25-9F69-D3EAD888290D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27FAC-F845-4A1D-B266-4299BF2E6ED7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823B7-A18E-47B0-938B-805489A1434A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EAAA-B21E-42BA-B9C5-AE951C054F0D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1542256"/>
            <a:ext cx="10287000" cy="4191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1F94C-04A9-49B4-9F8E-3248285880B9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  <a:prstGeom prst="rect">
            <a:avLst/>
          </a:prstGeo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88D16-42AC-4890-870E-C38CF60D8899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3813" y="1398240"/>
            <a:ext cx="10287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00C1DE-EA82-48C2-9C11-642FE3C6084E}" type="datetimeFigureOut">
              <a:rPr lang="en-US"/>
              <a:pPr>
                <a:defRPr/>
              </a:pPr>
              <a:t>3/27/2023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013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58708" y="6376243"/>
            <a:ext cx="2843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rgbClr val="8C8C8C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7D8FC858-655E-4B47-89A3-6D5457E537AB}" type="slidenum">
              <a:rPr lang="en-US" altLang="zh-CN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/>
  </p:transition>
  <p:hf hdr="0" ftr="0" dt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rtl="0" fontAlgn="base">
        <a:lnSpc>
          <a:spcPct val="90000"/>
        </a:lnSpc>
        <a:spcBef>
          <a:spcPts val="600"/>
        </a:spcBef>
        <a:spcAft>
          <a:spcPct val="0"/>
        </a:spcAft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9538" indent="-282575" algn="l" rtl="0" fontAlgn="base">
        <a:lnSpc>
          <a:spcPct val="90000"/>
        </a:lnSpc>
        <a:spcBef>
          <a:spcPts val="600"/>
        </a:spcBef>
        <a:spcAft>
          <a:spcPct val="0"/>
        </a:spcAft>
        <a:buFont typeface="Corbe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76371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>
                <a:latin typeface="+mj-ea"/>
              </a:rPr>
              <a:t>《C</a:t>
            </a:r>
            <a:r>
              <a:rPr lang="zh-CN" altLang="en-US" b="1" dirty="0">
                <a:latin typeface="+mj-ea"/>
              </a:rPr>
              <a:t>语言程序设计</a:t>
            </a:r>
            <a:r>
              <a:rPr lang="en-US" altLang="zh-CN" b="1" dirty="0">
                <a:latin typeface="+mj-ea"/>
              </a:rPr>
              <a:t>》</a:t>
            </a:r>
            <a:endParaRPr lang="zh-CN" altLang="en-US" b="1" dirty="0">
              <a:latin typeface="+mj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981844" y="2996952"/>
            <a:ext cx="5112568" cy="762000"/>
          </a:xfrm>
        </p:spPr>
        <p:txBody>
          <a:bodyPr/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语言课程组</a:t>
            </a: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344245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上一讲知识复习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1125861" y="1196752"/>
            <a:ext cx="6840760" cy="3714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语言中的数据类型及区别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定义变量的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方法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命名规则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不同类型字面值的写法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输入与输出的方式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604087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 txBox="1">
            <a:spLocks noChangeArrowheads="1"/>
          </p:cNvSpPr>
          <p:nvPr/>
        </p:nvSpPr>
        <p:spPr bwMode="auto">
          <a:xfrm>
            <a:off x="1125860" y="1196752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理解左值及右值。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掌握运算符的种类、重点掌握运算符优先级。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熟悉各种运算符的功能及相关表达式的求值方法。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了解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运算符。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了解表达式副作用。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掌握显式类型转换的方法，了解隐式转换。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掌握溢出的计算方法，了解在什么情况下可能会造成溢出。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本讲教学目标</a:t>
            </a:r>
          </a:p>
        </p:txBody>
      </p:sp>
    </p:spTree>
    <p:extLst>
      <p:ext uri="{BB962C8B-B14F-4D97-AF65-F5344CB8AC3E}">
        <p14:creationId xmlns:p14="http://schemas.microsoft.com/office/powerpoint/2010/main" val="144921304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逻辑运算符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关系运算符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赋值运算符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算术运算符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运算符的基本规则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658456" y="1827609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70119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</a:t>
            </a:r>
            <a:r>
              <a:rPr lang="zh-CN" altLang="en-US" b="1"/>
              <a:t>语言的“单词”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413892" y="980728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标准定义了多种类型的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单词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关键词</a:t>
            </a:r>
            <a:r>
              <a:rPr lang="en-US" altLang="zh-CN" sz="2600" b="1">
                <a:solidFill>
                  <a:srgbClr val="CA1204"/>
                </a:solidFill>
                <a:latin typeface="微软雅黑" pitchFamily="34" charset="-122"/>
                <a:ea typeface="微软雅黑" pitchFamily="34" charset="-122"/>
              </a:rPr>
              <a:t>(keywords)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return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void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标识符</a:t>
            </a:r>
            <a:r>
              <a:rPr lang="en-US" altLang="zh-CN" sz="2600" b="1">
                <a:solidFill>
                  <a:srgbClr val="CA1204"/>
                </a:solidFill>
                <a:latin typeface="微软雅黑" pitchFamily="34" charset="-122"/>
                <a:ea typeface="微软雅黑" pitchFamily="34" charset="-122"/>
              </a:rPr>
              <a:t>(identifiers)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z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字面值</a:t>
            </a:r>
            <a:r>
              <a:rPr lang="en-US" altLang="zh-CN" sz="2600" b="1">
                <a:solidFill>
                  <a:srgbClr val="CA1204"/>
                </a:solidFill>
                <a:latin typeface="微软雅黑" pitchFamily="34" charset="-122"/>
                <a:ea typeface="微软雅黑" pitchFamily="34" charset="-122"/>
              </a:rPr>
              <a:t>(literal)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、“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Hello World!”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注释</a:t>
            </a:r>
            <a:r>
              <a:rPr lang="en-US" altLang="zh-CN" sz="2600" b="1">
                <a:solidFill>
                  <a:srgbClr val="CA1204"/>
                </a:solidFill>
                <a:latin typeface="微软雅黑" pitchFamily="34" charset="-122"/>
                <a:ea typeface="微软雅黑" pitchFamily="34" charset="-122"/>
              </a:rPr>
              <a:t>(comment)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/*This is a comment.*/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操作符</a:t>
            </a:r>
            <a:r>
              <a:rPr lang="en-US" altLang="zh-CN" sz="2600" b="1">
                <a:solidFill>
                  <a:srgbClr val="CA1204"/>
                </a:solidFill>
                <a:latin typeface="微软雅黑" pitchFamily="34" charset="-122"/>
                <a:ea typeface="微软雅黑" pitchFamily="34" charset="-122"/>
              </a:rPr>
              <a:t>(operator)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、*、</a:t>
            </a:r>
            <a:r>
              <a:rPr lang="en-US" altLang="zh-CN" sz="2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分隔符</a:t>
            </a:r>
            <a:r>
              <a:rPr lang="en-US" altLang="zh-CN" sz="2600" b="1">
                <a:solidFill>
                  <a:srgbClr val="CA1204"/>
                </a:solidFill>
                <a:latin typeface="微软雅黑" pitchFamily="34" charset="-122"/>
                <a:ea typeface="微软雅黑" pitchFamily="34" charset="-122"/>
              </a:rPr>
              <a:t>(separator)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{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}</a:t>
            </a:r>
            <a:r>
              <a:rPr lang="zh-CN" altLang="en-US" sz="2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</a:pPr>
            <a:r>
              <a:rPr lang="en-US" altLang="zh-CN" sz="2600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4101970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</a:t>
            </a:r>
            <a:r>
              <a:rPr lang="zh-CN" altLang="en-US" b="1"/>
              <a:t>语法的基本概念总结</a:t>
            </a:r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269876" y="1076323"/>
            <a:ext cx="9577064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语言的数据表示：变量，常量，字面值等。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语言的运算符：加，减，乘，除，取余等。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单个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多个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操作数、运算符组成的符合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语言规则的式子叫做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表达式的值就是经过计算以后所得到的结果。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语言中数据表示的分类：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左值：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可以写的内存块儿表示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，变量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右值：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可以读的内存块儿表示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，变量，常量，字面值</a:t>
            </a:r>
          </a:p>
        </p:txBody>
      </p:sp>
    </p:spTree>
    <p:extLst>
      <p:ext uri="{BB962C8B-B14F-4D97-AF65-F5344CB8AC3E}">
        <p14:creationId xmlns:p14="http://schemas.microsoft.com/office/powerpoint/2010/main" val="26340885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</a:t>
            </a:r>
            <a:r>
              <a:rPr lang="zh-CN" altLang="en-US" b="1"/>
              <a:t>语言中的运算符</a:t>
            </a:r>
            <a:r>
              <a:rPr lang="en-US" altLang="zh-CN" b="1"/>
              <a:t>(I)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125860" y="1049990"/>
            <a:ext cx="950505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语言运算符可分为以下几类：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算术运算符：加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、除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、求余或称模运算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%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、自增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、自减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关系运算符：包括大于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、小于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、等于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 大于等于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、小于等于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、不等于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!=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逻辑运算符：与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&amp;&amp;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、或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||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、非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!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赋值运算符：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简单赋值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复合算术赋值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+=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-=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*=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%=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复合位运算赋值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&amp;=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|=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^=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&gt;&gt;=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&lt;&lt;=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162305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</a:t>
            </a:r>
            <a:r>
              <a:rPr lang="zh-CN" altLang="en-US" b="1"/>
              <a:t>语言中的运算符</a:t>
            </a:r>
            <a:r>
              <a:rPr lang="en-US" altLang="zh-CN" b="1"/>
              <a:t>(II)</a:t>
            </a:r>
            <a:endParaRPr lang="zh-CN" altLang="en-US" b="1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1277069"/>
            <a:ext cx="9217024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条件运算符：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?: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).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这是唯一一个三目运算符。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位运算符：与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、位或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|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、位非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~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、位异或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^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、左移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&lt;&lt;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、右移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&gt;&gt;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逗号运算符：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指针运算符：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 。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求字节数运算符：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特殊运算符：</a:t>
            </a:r>
            <a:r>
              <a:rPr lang="zh-CN" altLang="en-US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括号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[]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，成员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06445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</a:t>
            </a:r>
            <a:r>
              <a:rPr lang="zh-CN" altLang="en-US" b="1"/>
              <a:t>语言中运算符的优先级（</a:t>
            </a:r>
            <a:r>
              <a:rPr lang="en-US" altLang="zh-CN" b="1"/>
              <a:t>I</a:t>
            </a:r>
            <a:r>
              <a:rPr lang="zh-CN" altLang="en-US" b="1"/>
              <a:t>）</a:t>
            </a:r>
          </a:p>
        </p:txBody>
      </p:sp>
      <p:pic>
        <p:nvPicPr>
          <p:cNvPr id="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103213"/>
            <a:ext cx="8569325" cy="49180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925130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</a:t>
            </a:r>
            <a:r>
              <a:rPr lang="zh-CN" altLang="en-US" b="1"/>
              <a:t>语言中运算符的优先级（</a:t>
            </a:r>
            <a:r>
              <a:rPr lang="en-US" altLang="zh-CN" b="1"/>
              <a:t>II</a:t>
            </a:r>
            <a:r>
              <a:rPr lang="zh-CN" altLang="en-US" b="1"/>
              <a:t>）</a:t>
            </a:r>
          </a:p>
        </p:txBody>
      </p:sp>
      <p:pic>
        <p:nvPicPr>
          <p:cNvPr id="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08" y="1198339"/>
            <a:ext cx="8813800" cy="4606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73304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</a:t>
            </a:r>
            <a:r>
              <a:rPr lang="zh-CN" altLang="en-US" b="1"/>
              <a:t>语言中的运算符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413892" y="980728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学习一个运算符一定要解决的问题：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优先级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结合性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几元运算符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运算规则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结果是什么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Arial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变量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Arial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字面值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特殊规则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7449133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逻辑运算符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关系运算符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赋值运算符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算术运算符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运算符的基本规则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378536" y="2609532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12495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算数运算符</a:t>
            </a:r>
          </a:p>
        </p:txBody>
      </p:sp>
      <p:sp>
        <p:nvSpPr>
          <p:cNvPr id="5" name="矩形 3"/>
          <p:cNvSpPr txBox="1">
            <a:spLocks noChangeArrowheads="1"/>
          </p:cNvSpPr>
          <p:nvPr/>
        </p:nvSpPr>
        <p:spPr bwMode="auto">
          <a:xfrm>
            <a:off x="1197868" y="1052736"/>
            <a:ext cx="943304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算术运算符二元运算符，即应有两个操作数参与运算，其相应的表达式形式为：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 +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1 -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 *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 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1 %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运算规则同数学运算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运算结果是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“常量字面值”，右值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57948" y="5231408"/>
            <a:ext cx="9416984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注意：对于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来说，结果的符号同被取余数相同而且两个操作数必须为整数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9224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4" presetClass="emph" presetSubtype="0" fill="hold" grpId="1" nodeType="after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算数运算符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93813" y="1268760"/>
            <a:ext cx="1036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4, y;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请分析语句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= x*5+4;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执行完后，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的值是多少？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93813" y="2308810"/>
            <a:ext cx="10368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4, z = 5, y;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请分析语句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= z + x*(9 – z) 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执行完后，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的值是多少？</a:t>
            </a:r>
            <a:endParaRPr lang="en-US" altLang="zh-CN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93813" y="3348860"/>
            <a:ext cx="1036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int x = 5, y = 3, z;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请分析语句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z =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x%y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;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执行完后，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的值是多少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93813" y="4388911"/>
            <a:ext cx="10368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4, y = 3; double z1, z2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；请分析语句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z1 = x / y;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z2 = x % y;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执行完后，</a:t>
            </a:r>
            <a:r>
              <a:rPr lang="pl-PL" altLang="zh-CN" sz="2400">
                <a:latin typeface="微软雅黑" pitchFamily="34" charset="-122"/>
                <a:ea typeface="微软雅黑" pitchFamily="34" charset="-122"/>
              </a:rPr>
              <a:t>z1 </a:t>
            </a:r>
            <a:r>
              <a:rPr lang="zh-CN" altLang="pl-PL" sz="24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pl-PL" altLang="zh-CN" sz="2400">
                <a:latin typeface="微软雅黑" pitchFamily="34" charset="-122"/>
                <a:ea typeface="微软雅黑" pitchFamily="34" charset="-122"/>
              </a:rPr>
              <a:t>z2 </a:t>
            </a:r>
            <a:r>
              <a:rPr lang="zh-CN" altLang="pl-PL" sz="2400">
                <a:latin typeface="微软雅黑" pitchFamily="34" charset="-122"/>
                <a:ea typeface="微软雅黑" pitchFamily="34" charset="-122"/>
              </a:rPr>
              <a:t>的值是多少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72453867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算术运算符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557908" y="908721"/>
            <a:ext cx="82296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自增运算符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：一元运算符，有两种：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53244" y="4221088"/>
            <a:ext cx="36724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int x = 3, y;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y = ++x;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145732" y="4221088"/>
            <a:ext cx="3837112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int x = 3, y = 4, z;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z = x++ + y;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的值？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860329"/>
              </p:ext>
            </p:extLst>
          </p:nvPr>
        </p:nvGraphicFramePr>
        <p:xfrm>
          <a:off x="1763588" y="1533203"/>
          <a:ext cx="8136904" cy="252016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710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6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786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自增运算符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前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++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后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++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786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表达式形式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++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++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786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运算元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一元运算符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786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必须为可修改的左值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12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运算规则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、当前变量自动加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、然后参与当前表达式运算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、先计算当前表达式的值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、当前表达式计算完毕后，变量自动加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5737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算数运算符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681236" y="1076325"/>
            <a:ext cx="8229600" cy="6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自减运算符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：一元运算符，操作形式有两种：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42818"/>
              </p:ext>
            </p:extLst>
          </p:nvPr>
        </p:nvGraphicFramePr>
        <p:xfrm>
          <a:off x="1917948" y="1691287"/>
          <a:ext cx="8136904" cy="237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710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6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86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自增运算符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前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--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后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--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6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表达式形式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--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--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86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运算元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一元运算符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86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必须为可修改的左值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44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运算规则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、当前变量自动减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、然后参与当前表达式运算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、先计算当前表达式的值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、当前表达式计算完毕后，变量自动减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010494" y="4221088"/>
            <a:ext cx="81883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3, y = 4, z;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 = x++ + --y;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</p:spTree>
    <p:extLst>
      <p:ext uri="{BB962C8B-B14F-4D97-AF65-F5344CB8AC3E}">
        <p14:creationId xmlns:p14="http://schemas.microsoft.com/office/powerpoint/2010/main" val="12700197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算数运算符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321196" y="980729"/>
            <a:ext cx="82296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总结：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运算符的操作数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必须是可修改的左值</a:t>
            </a:r>
            <a:endParaRPr lang="en-US" altLang="zh-CN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运算符和运算符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的使用规范（同理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运算符的副作用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a=c+++b+++c++; </a:t>
            </a:r>
            <a:r>
              <a:rPr lang="en-US" altLang="zh-CN" b="1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 a?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c=(i++)+(i++) ;</a:t>
            </a:r>
            <a:r>
              <a:rPr lang="en-US" altLang="zh-CN" b="1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 c </a:t>
            </a:r>
            <a:r>
              <a:rPr lang="zh-CN" altLang="en-US" b="1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？</a:t>
            </a:r>
            <a:endParaRPr lang="en-US" altLang="zh-CN" b="1">
              <a:latin typeface="微软雅黑" pitchFamily="34" charset="-122"/>
              <a:ea typeface="微软雅黑" pitchFamily="34" charset="-122"/>
              <a:sym typeface="Wingdings" pitchFamily="2" charset="2"/>
            </a:endParaRP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b="1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printf(“%d\t%d\n”,i,i++);  </a:t>
            </a:r>
            <a:r>
              <a:rPr lang="zh-CN" altLang="en-US" b="1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结果？</a:t>
            </a:r>
            <a:endParaRPr lang="en-US" altLang="zh-CN" b="1">
              <a:latin typeface="微软雅黑" pitchFamily="34" charset="-122"/>
              <a:ea typeface="微软雅黑" pitchFamily="34" charset="-122"/>
              <a:sym typeface="Wingdings" pitchFamily="2" charset="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586852" y="3817151"/>
            <a:ext cx="857547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尽量分多行写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lvl="1" eaLnBrk="1" hangingPunct="1"/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尽量使用多使用（）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lvl="1" eaLnBrk="1" hangingPunct="1"/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尽量不要再一行语句中对一个变量多次使用自增自减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01458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运算符和表达式总结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81844" y="1096252"/>
            <a:ext cx="8229600" cy="62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求代码结果。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0104" y="1640989"/>
            <a:ext cx="7632700" cy="452431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#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include &lt;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 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 main(void)</a:t>
            </a:r>
          </a:p>
          <a:p>
            <a:pPr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    int 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x = 3; 	</a:t>
            </a:r>
          </a:p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 a; 	</a:t>
            </a:r>
          </a:p>
          <a:p>
            <a:pPr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      </a:t>
            </a:r>
          </a:p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a </a:t>
            </a:r>
            <a:r>
              <a:rPr lang="en-US" altLang="zh-C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= ++x + ++x + ++x; 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	</a:t>
            </a:r>
          </a:p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    printf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("a = %d", a);	</a:t>
            </a:r>
          </a:p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     </a:t>
            </a:r>
          </a:p>
          <a:p>
            <a:pPr>
              <a:defRPr/>
            </a:pPr>
            <a:r>
              <a:rPr lang="en-US" altLang="zh-CN" sz="240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0;</a:t>
            </a:r>
          </a:p>
          <a:p>
            <a:pPr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957528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逻辑运算符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关系运算符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赋值运算符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算术运算符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运算符的基本规则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594560" y="3467991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1841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赋值运算符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1052736"/>
            <a:ext cx="945363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简单赋值（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），二元运算符，结合性从右到左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不是判断是否相等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 =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运算规则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把操作数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的值取出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修改操作数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的值为操作数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运算结果，左值，变量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755541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赋值运算符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413892" y="1076324"/>
            <a:ext cx="936104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复合赋值运算符（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op=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），二元运算符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 op=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运算规则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itchFamily="34" charset="0"/>
              <a:buChar char="•"/>
            </a:pP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1 = 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1 op 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2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运算结果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itchFamily="34" charset="0"/>
              <a:buChar char="•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例：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int x=3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，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y=4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，请分析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x += y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；执行后，求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x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，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y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？</a:t>
            </a:r>
            <a:endParaRPr lang="en-US" altLang="zh-CN">
              <a:latin typeface="微软雅黑" pitchFamily="34" charset="-122"/>
              <a:ea typeface="微软雅黑" pitchFamily="34" charset="-122"/>
              <a:sym typeface="Wingdings" pitchFamily="2" charset="2"/>
            </a:endParaRPr>
          </a:p>
          <a:p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78992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逻辑运算符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关系运算符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赋值运算符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算术运算符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运算符的基本规则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594560" y="4301332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5334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关系、判等运算符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25860" y="1076324"/>
            <a:ext cx="9885684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关系运算符：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大于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、小于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、等于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==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、大于等于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&gt;=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、小于等于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&lt;=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、不等于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!=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一般形式： 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 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运算规则：同数学运算规则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运算结果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0  or  1</a:t>
            </a:r>
          </a:p>
          <a:p>
            <a:pPr lvl="1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5781887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关系、判等运算符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126876" y="1157843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285750" indent="-28575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3, y = 2, z;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，请分析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 = x &gt; y;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26876" y="2131281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285750" indent="-28575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3, y;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，请分析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= 2 &lt; x &gt;= 8;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26876" y="3104719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285750" indent="-28575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3, y = 3, z = 5;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，请分析表达式：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== y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!=y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!= z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== 3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!=4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的计算结果？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126876" y="407815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285750" indent="-28575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3, y = 3, z;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 = x == y != 4;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</p:spTree>
    <p:extLst>
      <p:ext uri="{BB962C8B-B14F-4D97-AF65-F5344CB8AC3E}">
        <p14:creationId xmlns:p14="http://schemas.microsoft.com/office/powerpoint/2010/main" val="37049155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逻辑运算符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关系运算符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赋值运算符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算术运算符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运算符的基本规则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727308" y="5124171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5124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逻辑运算符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53852" y="1076325"/>
            <a:ext cx="8229600" cy="5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Clr>
                <a:schemeClr val="bg2">
                  <a:lumMod val="50000"/>
                </a:schemeClr>
              </a:buClr>
              <a:buFont typeface="Wingdings" pitchFamily="2" charset="2"/>
              <a:buChar char="v"/>
              <a:defRPr/>
            </a:pPr>
            <a:r>
              <a:rPr lang="zh-CN" altLang="en-US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逻辑运算符：与</a:t>
            </a:r>
            <a:r>
              <a:rPr lang="en-US" altLang="zh-CN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&amp;&amp;</a:t>
            </a:r>
            <a:r>
              <a:rPr lang="en-US" altLang="zh-CN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、或</a:t>
            </a:r>
            <a:r>
              <a:rPr lang="en-US" altLang="zh-CN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||</a:t>
            </a:r>
            <a:r>
              <a:rPr lang="en-US" altLang="zh-CN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、非</a:t>
            </a:r>
            <a:r>
              <a:rPr lang="en-US" altLang="zh-CN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!</a:t>
            </a:r>
            <a:r>
              <a:rPr lang="en-US" altLang="zh-CN" sz="2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207868"/>
              </p:ext>
            </p:extLst>
          </p:nvPr>
        </p:nvGraphicFramePr>
        <p:xfrm>
          <a:off x="1629916" y="1844824"/>
          <a:ext cx="8640960" cy="375656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86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逻辑运算符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非运算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或运算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与运算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6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形式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!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1||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1&amp;&amp;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操作数</a:t>
                      </a: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86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运算元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一元运算符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二元运算符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44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运算规则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真变假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假变真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有一个为真则结果为真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否则为假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有一个为假则结果为假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否则为真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44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运算结果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0  or</a:t>
                      </a:r>
                      <a:r>
                        <a:rPr lang="en-US" altLang="zh-CN" baseline="0">
                          <a:latin typeface="微软雅黑" pitchFamily="34" charset="-122"/>
                          <a:ea typeface="微软雅黑" pitchFamily="34" charset="-122"/>
                        </a:rPr>
                        <a:t>  1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2441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特殊规则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短路规则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第一个操作数为真则第二个操作数不运算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第一个操作数为假则第二个操作数不运算</a:t>
                      </a:r>
                    </a:p>
                  </a:txBody>
                  <a:tcPr>
                    <a:lnL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1996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逻辑运算符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61956" y="1268760"/>
            <a:ext cx="90649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285750" indent="-28575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x = 3, y = 0, z;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，请分析表达式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&amp;&amp; y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|| y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!x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!y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的结果？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061957" y="2416922"/>
            <a:ext cx="90649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285750" indent="-28575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a = 3, b = 2, c = 1, d = 5, e = 6, f;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，请分析表达式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f = a &lt; b || b &lt; c &amp;&amp; c &lt; d|| d &lt; e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的结果？</a:t>
            </a:r>
          </a:p>
        </p:txBody>
      </p:sp>
    </p:spTree>
    <p:extLst>
      <p:ext uri="{BB962C8B-B14F-4D97-AF65-F5344CB8AC3E}">
        <p14:creationId xmlns:p14="http://schemas.microsoft.com/office/powerpoint/2010/main" val="5920406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内存溢出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类型转换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运算符总结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位运算符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条件运算符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727308" y="1827609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51087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条件运算符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341884" y="1076885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条件运算符（？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），三元运算符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一般形式：操作数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？操作数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：操作数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3</a:t>
            </a:r>
          </a:p>
          <a:p>
            <a:pPr lvl="1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运算过程：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1223963" lvl="2" indent="-457200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求值。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1223963" lvl="2" indent="-457200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若操作数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的结果非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，则对操作数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求值（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不需要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进行求值），并将该值作为条件表达式的最终结果。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1223963" lvl="2" indent="-457200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若操作数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的结果为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，则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只需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求值（而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不需要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进行求值），并将该值作为条件表达式的结果。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01924" y="4653136"/>
            <a:ext cx="81265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int a = 3, b = 4, c;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 试分析语句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 = a &gt;b ? a : b;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</p:spTree>
    <p:extLst>
      <p:ext uri="{BB962C8B-B14F-4D97-AF65-F5344CB8AC3E}">
        <p14:creationId xmlns:p14="http://schemas.microsoft.com/office/powerpoint/2010/main" val="21357951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内存溢出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类型转换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运算符总结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位运算符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条件运算符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302892" y="2610351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719893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485900" y="980728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位运算符：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defRPr/>
            </a:pPr>
            <a:r>
              <a:rPr lang="zh-CN" altLang="en-US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位与</a:t>
            </a:r>
            <a:r>
              <a:rPr lang="en-US" altLang="zh-CN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(&amp;)</a:t>
            </a:r>
            <a:r>
              <a:rPr lang="zh-CN" altLang="en-US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、位或</a:t>
            </a:r>
            <a:r>
              <a:rPr lang="en-US" altLang="zh-CN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(|)</a:t>
            </a:r>
            <a:r>
              <a:rPr lang="zh-CN" altLang="en-US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、位非</a:t>
            </a:r>
            <a:r>
              <a:rPr lang="en-US" altLang="zh-CN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(~)</a:t>
            </a:r>
            <a:r>
              <a:rPr lang="zh-CN" altLang="en-US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、位异或</a:t>
            </a:r>
            <a:r>
              <a:rPr lang="en-US" altLang="zh-CN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(^)</a:t>
            </a:r>
            <a:r>
              <a:rPr lang="zh-CN" altLang="en-US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、左移</a:t>
            </a:r>
            <a:r>
              <a:rPr lang="en-US" altLang="zh-CN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(&lt;&lt;)</a:t>
            </a:r>
            <a:r>
              <a:rPr lang="zh-CN" altLang="en-US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右移</a:t>
            </a:r>
            <a:r>
              <a:rPr lang="en-US" altLang="zh-CN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(&gt;&gt;)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~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一般形式：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~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作用：将操作数的二进制表示逐位取反。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3000"/>
              </a:spcBef>
              <a:buClr>
                <a:schemeClr val="bg2">
                  <a:lumMod val="50000"/>
                </a:schemeClr>
              </a:buClr>
              <a:buNone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  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short x = 0x0FA4, y;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，请分析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= ~x;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的值？</a:t>
            </a:r>
          </a:p>
          <a:p>
            <a:pPr>
              <a:defRPr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defRPr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013" y="4724995"/>
            <a:ext cx="3863975" cy="1584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03894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33164" y="1058564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运算符一般形式：操作数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1&amp;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的二进制数，进行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按位求与</a:t>
            </a:r>
            <a:endParaRPr lang="en-US" altLang="zh-CN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|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运算符一般形式：操作数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1|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的二进制数，进行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按位求或</a:t>
            </a:r>
            <a:endParaRPr lang="en-US" altLang="zh-CN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^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运算符一般形式：操作数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1^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的二进制数，进行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按位求异或</a:t>
            </a:r>
            <a:endParaRPr lang="en-US" altLang="zh-CN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97867" y="4221310"/>
            <a:ext cx="8389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int x = 3, y = 4, z;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z = x &amp; y;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97867" y="4715383"/>
            <a:ext cx="87129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int x = 0xF4AB, y = 0x1AFC, z;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z = x | y;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197867" y="5517232"/>
            <a:ext cx="83891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int x = 0xF4AB, y = 0x1AFC, z;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z = x ^ y;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759129" y="980728"/>
            <a:ext cx="16557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759129" y="1971377"/>
            <a:ext cx="16557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730425" y="2996952"/>
            <a:ext cx="201622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相同为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3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不同为</a:t>
            </a:r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3161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980728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&lt;&lt;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运算符一般形式：操作数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1&lt;&lt;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每一位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都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向左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移动操作数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位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以上操作的操作数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应为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整数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类型；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运算数的各二进位全部左移操作数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指定值的位数，移到边界之外的位被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丢弃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，低位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补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如操作数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是负数，则移位运算符的结果是未定义的；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如操作数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的值大于或等于转换后左操作数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数值的位数，则移位运算符的结果也是未定义的。</a:t>
            </a:r>
            <a:endParaRPr lang="en-US" altLang="zh-CN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1393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1052736"/>
            <a:ext cx="907300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short x = 0xE4AB, y;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= x &lt;&lt; 3;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77416" y="1916832"/>
            <a:ext cx="7713912" cy="40814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61016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908720"/>
            <a:ext cx="9289032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char x = ‘a’, y;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= x &lt;&lt; 4;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的值？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char x = ‘a’; int y;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= x &lt;&lt; 4;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9956" y="2689412"/>
            <a:ext cx="7292906" cy="3935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92255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25860" y="989013"/>
            <a:ext cx="945363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int x = 0xFAFF; char y;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请分析语句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= x &lt;&lt; 3;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  <p:pic>
        <p:nvPicPr>
          <p:cNvPr id="5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3932" y="1628800"/>
            <a:ext cx="7701708" cy="446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7997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1277069"/>
            <a:ext cx="914501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&gt;&gt;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运算符一般形式：操作数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1&gt;&gt;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对操作数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每一位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都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向右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移动操作数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位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330200" lvl="1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若操作数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为无符号整型数（或带符号的非负数）时，操作数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的各二进制位右移操作数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指定的位数，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高位补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。如：将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(0100 0110)b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右移两位将得到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(0001 0001)b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35837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1412775"/>
            <a:ext cx="8928992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若操作数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为带符号的负数时，操作数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的各二进制位右移操作数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指定的位数：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有的在高位补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，此时将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(1000 0110)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(0010 0001)b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有的将操作数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移出的低位移入高位，此时将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(1000 0110)b 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(10100001)b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含有对带符号的负数进行右移的程序是不可移植的。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如操作数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是负数，则移位运算符的结果是未定义的；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如操作数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的值大于或等于转换后左操作数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数值的位数，则移位运算符的结果也是未定义的。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9013657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位运算操作运算符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1076325"/>
            <a:ext cx="909359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unsigned int x = 0XFAFF, y;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 = x &gt;&gt; 3;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的值。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1924" y="1844824"/>
            <a:ext cx="7776864" cy="4479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5174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内存溢出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类型转换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运算符总结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位运算符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条件运算符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550796" y="3494161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34416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逗号运算符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46520" y="1124744"/>
            <a:ext cx="936104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逗号表达式（又称顺序表达式）包括逗号分开的两个表达式。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一般形式为：表达式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1,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逗号表达式的结合律是从左至右。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的值作为整个逗号表达式的值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和表达式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也可以是逗号表达式。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并不是有逗号出现的地方，就可以被认为是逗号表达式。</a:t>
            </a:r>
          </a:p>
        </p:txBody>
      </p:sp>
    </p:spTree>
    <p:extLst>
      <p:ext uri="{BB962C8B-B14F-4D97-AF65-F5344CB8AC3E}">
        <p14:creationId xmlns:p14="http://schemas.microsoft.com/office/powerpoint/2010/main" val="3056987964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逗号运算符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1117224"/>
            <a:ext cx="9649072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int x = 3, y;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y= x+3,4;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的值？</a:t>
            </a:r>
            <a:endParaRPr lang="en-US" altLang="zh-CN" sz="300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int x = 3, y;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y=(x+3,4);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的值？</a:t>
            </a:r>
            <a:endParaRPr lang="en-US" altLang="zh-CN" sz="300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int x = 3, y;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，请分析语句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y=((x+3,4,5),x+6);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lang="en-US" altLang="zh-CN" sz="300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sz="3000">
                <a:latin typeface="微软雅黑" pitchFamily="34" charset="-122"/>
                <a:ea typeface="微软雅黑" pitchFamily="34" charset="-122"/>
              </a:rPr>
              <a:t>的值？</a:t>
            </a:r>
          </a:p>
        </p:txBody>
      </p:sp>
    </p:spTree>
    <p:extLst>
      <p:ext uri="{BB962C8B-B14F-4D97-AF65-F5344CB8AC3E}">
        <p14:creationId xmlns:p14="http://schemas.microsoft.com/office/powerpoint/2010/main" val="7533402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运算符表达式总结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609228" y="1133053"/>
            <a:ext cx="858964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语言运算符可分为以下几类：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算数运算符：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--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关系运算符：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!=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逻辑运算符：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&amp;&amp;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||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!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赋值运算符：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+=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-=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*=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%=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		 		    &amp;=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|=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^=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&gt;&gt;=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&lt;&lt;=</a:t>
            </a: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条件运算符：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?: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位运算符：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|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~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^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&lt;&lt;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&gt;&gt;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逗号运算符：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指针运算符：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 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求字节数运算符：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sizeof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特殊运算符：</a:t>
            </a:r>
            <a:r>
              <a:rPr lang="zh-CN" altLang="en-US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括号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[]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 、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成员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→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373568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不同类型的变量进行运算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681236" y="1205061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int x = 5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float y = 4.6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float z = x + y;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double z = x + y;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int z = x + y;</a:t>
            </a: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 descr="BQ2009513174034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644" y="3485170"/>
            <a:ext cx="13589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标注 3"/>
          <p:cNvSpPr/>
          <p:nvPr/>
        </p:nvSpPr>
        <p:spPr>
          <a:xfrm>
            <a:off x="7009828" y="1756978"/>
            <a:ext cx="2448272" cy="1728192"/>
          </a:xfrm>
          <a:prstGeom prst="wedgeRoundRectCallout">
            <a:avLst>
              <a:gd name="adj1" fmla="val -73774"/>
              <a:gd name="adj2" fmla="val 53720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如果把不同类型的变量相互运算会怎样呢？</a:t>
            </a:r>
          </a:p>
        </p:txBody>
      </p:sp>
    </p:spTree>
    <p:extLst>
      <p:ext uri="{BB962C8B-B14F-4D97-AF65-F5344CB8AC3E}">
        <p14:creationId xmlns:p14="http://schemas.microsoft.com/office/powerpoint/2010/main" val="24641058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内存溢出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类型转换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运算符总结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位运算符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条件运算符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522335" y="4293096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40989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类型转换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1076326"/>
            <a:ext cx="8229600" cy="171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类型转换分为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隐式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类型转换和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显示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类型转换。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3892" y="1556792"/>
            <a:ext cx="9793088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 x = 0x89898; /*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等价于 </a:t>
            </a:r>
            <a:r>
              <a:rPr lang="en-US" altLang="zh-CN" sz="28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 x = 0x00089898;*/</a:t>
            </a:r>
          </a:p>
          <a:p>
            <a:pPr>
              <a:defRPr/>
            </a:pP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short y;</a:t>
            </a:r>
          </a:p>
          <a:p>
            <a:pPr>
              <a:defRPr/>
            </a:pP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y = x;</a:t>
            </a:r>
            <a:endParaRPr lang="zh-CN" altLang="en-US" sz="2800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48" b="4672"/>
          <a:stretch>
            <a:fillRect/>
          </a:stretch>
        </p:blipFill>
        <p:spPr bwMode="auto">
          <a:xfrm>
            <a:off x="1751210" y="3044601"/>
            <a:ext cx="8375650" cy="27606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91458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隐式类型转换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827534" y="1061045"/>
            <a:ext cx="1038974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在表达式中如果有不同类型的变量或字面值参与同一运算时，编译器将在编译时自动按照规定的规则将其转换为相同的数据类型，这种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由编译自动完成的转换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即是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隐式转换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整数转换级别：</a:t>
            </a: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51922" y="2512061"/>
            <a:ext cx="9278994" cy="4085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3951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隐式类型转换</a:t>
            </a:r>
          </a:p>
        </p:txBody>
      </p:sp>
      <p:sp>
        <p:nvSpPr>
          <p:cNvPr id="4" name="矩形 3"/>
          <p:cNvSpPr/>
          <p:nvPr/>
        </p:nvSpPr>
        <p:spPr>
          <a:xfrm>
            <a:off x="1125860" y="1052735"/>
            <a:ext cx="96490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规则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：若运算符两边的操作数类型相同则不需要任何转换。</a:t>
            </a:r>
          </a:p>
          <a:p>
            <a:pPr marL="285750" indent="-285750" eaLnBrk="1" hangingPunct="1"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规则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：若两边都是带符号类型或都是无符号类型，则把低级别类型的操作数转换为高级别的类型。如：设有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long long x; long y;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，则计算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+ 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时先将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的类型转换为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long long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285750" indent="-285750" eaLnBrk="1" hangingPunct="1"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规则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：若一个操作数是带符号的（设为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），另一个是无符号的（设为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），且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的级别高于或等于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的级别，则把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转换成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的类型。如：设有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unsigned int x; int y;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，则计算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x + 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时先将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的类型转换为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unsigned int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285750" indent="-285750" eaLnBrk="1" hangingPunct="1"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规则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：若一个操作数是带符号的（设为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），另一个是无符号的（设为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），且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的类型能够表示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的类型的所有数值，则把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转换为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的类型。</a:t>
            </a:r>
          </a:p>
          <a:p>
            <a:pPr marL="285750" indent="-285750" eaLnBrk="1" hangingPunct="1"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规则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：若一个操作数是带符号的（设为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），另一个是无符号的（设为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），且以上规则都不适用，则把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U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转换为与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的类型级别相同的无符号类型。</a:t>
            </a:r>
          </a:p>
        </p:txBody>
      </p:sp>
    </p:spTree>
    <p:extLst>
      <p:ext uri="{BB962C8B-B14F-4D97-AF65-F5344CB8AC3E}">
        <p14:creationId xmlns:p14="http://schemas.microsoft.com/office/powerpoint/2010/main" val="626515969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隐式类型转换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1884" y="1175261"/>
            <a:ext cx="9073008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 sz="3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3200" b="1">
                <a:latin typeface="微软雅黑" pitchFamily="34" charset="-122"/>
                <a:ea typeface="微软雅黑" pitchFamily="34" charset="-122"/>
              </a:rPr>
              <a:t>隐式类型转换是编译器自动进行的</a:t>
            </a:r>
            <a:r>
              <a:rPr lang="en-US" altLang="zh-CN" sz="3200" b="1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marL="914400" lvl="1" indent="-457200" eaLnBrk="1" hangingPunct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3200" b="1">
                <a:latin typeface="微软雅黑" pitchFamily="34" charset="-122"/>
                <a:ea typeface="微软雅黑" pitchFamily="34" charset="-122"/>
              </a:rPr>
              <a:t>隐式类型转换一般是向较大的类型转变</a:t>
            </a:r>
            <a:r>
              <a:rPr lang="en-US" altLang="zh-CN" sz="3200" b="1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marL="914400" lvl="1" indent="-457200" eaLnBrk="1" hangingPunct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3200" b="1">
                <a:latin typeface="微软雅黑" pitchFamily="34" charset="-122"/>
                <a:ea typeface="微软雅黑" pitchFamily="34" charset="-122"/>
              </a:rPr>
              <a:t>在一个表达式中尽量避免带符号和无符号的数同时出现</a:t>
            </a:r>
            <a:endParaRPr lang="en-US" altLang="zh-CN" sz="3200" b="1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23219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4" presetClass="emph" presetSubtype="0" fill="hold" grpId="1" nodeType="after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显示类型转换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908720"/>
            <a:ext cx="900100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显式转换表达式的一般形式为：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8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希望转换的类型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2800" i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操作数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 marL="330200" lvl="1" indent="0">
              <a:spcBef>
                <a:spcPts val="1800"/>
              </a:spcBef>
              <a:buClr>
                <a:schemeClr val="bg2">
                  <a:lumMod val="50000"/>
                </a:schemeClr>
              </a:buClr>
              <a:buNone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marL="228600" lvl="1" indent="-228600">
              <a:spcBef>
                <a:spcPts val="18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int x = 3, y = 0xFFFFFFFF; double f;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，请分析下列语句执行后，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的值</a:t>
            </a:r>
            <a:r>
              <a:rPr lang="zh-CN" altLang="en-US" sz="2800"/>
              <a:t>。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394" y="3789040"/>
            <a:ext cx="8391525" cy="221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865737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显示类型转换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1884" y="1484784"/>
            <a:ext cx="8696263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sz="36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 sz="36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3600" b="1">
                <a:latin typeface="微软雅黑" pitchFamily="34" charset="-122"/>
                <a:ea typeface="微软雅黑" pitchFamily="34" charset="-122"/>
              </a:rPr>
              <a:t>显示类型转换是程序员手动进行的</a:t>
            </a:r>
            <a:r>
              <a:rPr lang="en-US" altLang="zh-CN" sz="3600" b="1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marL="914400" lvl="1" indent="-457200" eaLnBrk="1" hangingPunct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3600" b="1">
                <a:latin typeface="微软雅黑" pitchFamily="34" charset="-122"/>
                <a:ea typeface="微软雅黑" pitchFamily="34" charset="-122"/>
              </a:rPr>
              <a:t>基本可以进行任意类型的转换</a:t>
            </a:r>
            <a:r>
              <a:rPr lang="en-US" altLang="zh-CN" sz="3600" b="1">
                <a:latin typeface="微软雅黑" pitchFamily="34" charset="-122"/>
                <a:ea typeface="微软雅黑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448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4" presetClass="emph" presetSubtype="0" fill="hold" grpId="1" nodeType="after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429301" y="5099050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内存溢出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089529" y="4271963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类型转换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50353" y="3459163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运算符总结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3047206" y="2590800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位运算符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353121" y="1820863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条件运算符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989956" y="5069979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714688" y="5128418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椭圆 39"/>
          <p:cNvSpPr>
            <a:spLocks noChangeArrowheads="1"/>
          </p:cNvSpPr>
          <p:nvPr/>
        </p:nvSpPr>
        <p:spPr bwMode="gray">
          <a:xfrm>
            <a:off x="2650732" y="4266333"/>
            <a:ext cx="520552" cy="519261"/>
          </a:xfrm>
          <a:prstGeom prst="ellipse">
            <a:avLst/>
          </a:prstGeom>
          <a:gradFill rotWithShape="1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 w="5715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40"/>
          <p:cNvSpPr>
            <a:spLocks noChangeArrowheads="1"/>
          </p:cNvSpPr>
          <p:nvPr/>
        </p:nvSpPr>
        <p:spPr bwMode="gray">
          <a:xfrm>
            <a:off x="2700628" y="4319133"/>
            <a:ext cx="419712" cy="413660"/>
          </a:xfrm>
          <a:prstGeom prst="ellipse">
            <a:avLst/>
          </a:prstGeom>
          <a:gradFill rotWithShape="1">
            <a:gsLst>
              <a:gs pos="0">
                <a:srgbClr val="A2A2A2"/>
              </a:gs>
              <a:gs pos="50000">
                <a:srgbClr val="FFFFFF"/>
              </a:gs>
              <a:gs pos="100000">
                <a:srgbClr val="A2A2A2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椭圆 35"/>
          <p:cNvSpPr>
            <a:spLocks noChangeArrowheads="1"/>
          </p:cNvSpPr>
          <p:nvPr/>
        </p:nvSpPr>
        <p:spPr bwMode="gray">
          <a:xfrm>
            <a:off x="2723815" y="4319134"/>
            <a:ext cx="396525" cy="41366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8D67E1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椭圆 37"/>
          <p:cNvSpPr>
            <a:spLocks noChangeArrowheads="1"/>
          </p:cNvSpPr>
          <p:nvPr/>
        </p:nvSpPr>
        <p:spPr bwMode="gray">
          <a:xfrm>
            <a:off x="2727616" y="4332207"/>
            <a:ext cx="370916" cy="387511"/>
          </a:xfrm>
          <a:prstGeom prst="ellipse">
            <a:avLst/>
          </a:prstGeom>
          <a:gradFill rotWithShape="1">
            <a:gsLst>
              <a:gs pos="0">
                <a:srgbClr val="8D67E1"/>
              </a:gs>
              <a:gs pos="100000">
                <a:srgbClr val="45326D"/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599883" y="2579539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9565" y="1820863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29253" y="3459163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18972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内存溢出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269876" y="1124744"/>
            <a:ext cx="943304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由于数值数据类型都有数值范围，当两个数据发生运算时，其结果就有可能超出结果类型的数值范围，这种现象称为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溢出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例如：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short x = 32767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； 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x = x + 1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例如：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unsigned short x = 65535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；</a:t>
            </a:r>
            <a:br>
              <a:rPr lang="en-US" altLang="zh-CN" sz="320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	     x++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1239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内存溢出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413892" y="1076325"/>
            <a:ext cx="8784976" cy="1272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int x = 0x7FFFFFFF, y= 1, z;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请分析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z=x+y;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执行后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z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的值？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5900" y="2355129"/>
            <a:ext cx="8436655" cy="2225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61569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内存溢出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1884" y="1412776"/>
            <a:ext cx="7848600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sz="36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en-US" altLang="zh-CN" sz="36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028700" lvl="1" indent="-571500" eaLnBrk="1" hangingPunct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3600" b="1">
                <a:latin typeface="微软雅黑" pitchFamily="34" charset="-122"/>
                <a:ea typeface="微软雅黑" pitchFamily="34" charset="-122"/>
              </a:rPr>
              <a:t>溢出是未定义的行为</a:t>
            </a:r>
            <a:r>
              <a:rPr lang="en-US" altLang="zh-CN" sz="3600" b="1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marL="1028700" lvl="1" indent="-571500" eaLnBrk="1" hangingPunct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80000"/>
              <a:buFont typeface="Wingdings" pitchFamily="2" charset="2"/>
              <a:buChar char=""/>
            </a:pPr>
            <a:r>
              <a:rPr lang="zh-CN" altLang="en-US" sz="3600" b="1">
                <a:latin typeface="微软雅黑" pitchFamily="34" charset="-122"/>
                <a:ea typeface="微软雅黑" pitchFamily="34" charset="-122"/>
              </a:rPr>
              <a:t>程序员要尽量避免溢出</a:t>
            </a:r>
            <a:r>
              <a:rPr lang="en-US" altLang="zh-CN" sz="3600" b="1">
                <a:latin typeface="微软雅黑" pitchFamily="34" charset="-122"/>
                <a:ea typeface="微软雅黑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90386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4" presetClass="emph" presetSubtype="0" fill="hold" grpId="1" nodeType="after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WordArt 4"/>
          <p:cNvSpPr>
            <a:spLocks noChangeArrowheads="1" noChangeShapeType="1" noTextEdit="1"/>
          </p:cNvSpPr>
          <p:nvPr/>
        </p:nvSpPr>
        <p:spPr bwMode="gray">
          <a:xfrm>
            <a:off x="2061964" y="1916832"/>
            <a:ext cx="8352928" cy="187220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2">
                      <a:lumMod val="50000"/>
                    </a:schemeClr>
                  </a:solidFill>
                  <a:round/>
                  <a:headEnd/>
                  <a:tailEnd/>
                </a:ln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Arial"/>
              </a:rPr>
              <a:t>Thank You !</a:t>
            </a:r>
            <a:endParaRPr lang="zh-CN" altLang="en-US" sz="3600" b="1" kern="10">
              <a:ln w="19050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468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</p:bldLst>
  </p:timing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2317</TotalTime>
  <Words>3556</Words>
  <Application>Microsoft Office PowerPoint</Application>
  <PresentationFormat>自定义</PresentationFormat>
  <Paragraphs>386</Paragraphs>
  <Slides>56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3" baseType="lpstr">
      <vt:lpstr>微软雅黑</vt:lpstr>
      <vt:lpstr>幼圆</vt:lpstr>
      <vt:lpstr>Arial</vt:lpstr>
      <vt:lpstr>Consolas</vt:lpstr>
      <vt:lpstr>Corbel</vt:lpstr>
      <vt:lpstr>Wingdings</vt:lpstr>
      <vt:lpstr>Marketing 16x9</vt:lpstr>
      <vt:lpstr>《C语言程序设计》</vt:lpstr>
      <vt:lpstr>上一讲知识复习</vt:lpstr>
      <vt:lpstr>本讲教学目标</vt:lpstr>
      <vt:lpstr>本章授课内容</vt:lpstr>
      <vt:lpstr>C语言的“单词”</vt:lpstr>
      <vt:lpstr>C语法的基本概念总结</vt:lpstr>
      <vt:lpstr>C语言中的运算符(I)</vt:lpstr>
      <vt:lpstr>C语言中的运算符(II)</vt:lpstr>
      <vt:lpstr>C语言中运算符的优先级（I）</vt:lpstr>
      <vt:lpstr>C语言中运算符的优先级（II）</vt:lpstr>
      <vt:lpstr>C语言中的运算符</vt:lpstr>
      <vt:lpstr>本章授课内容</vt:lpstr>
      <vt:lpstr>算数运算符</vt:lpstr>
      <vt:lpstr>算数运算符</vt:lpstr>
      <vt:lpstr>算术运算符</vt:lpstr>
      <vt:lpstr>算数运算符</vt:lpstr>
      <vt:lpstr>算数运算符</vt:lpstr>
      <vt:lpstr>运算符和表达式总结</vt:lpstr>
      <vt:lpstr>本章授课内容</vt:lpstr>
      <vt:lpstr>赋值运算符</vt:lpstr>
      <vt:lpstr>赋值运算符</vt:lpstr>
      <vt:lpstr>本章授课内容</vt:lpstr>
      <vt:lpstr>关系、判等运算符</vt:lpstr>
      <vt:lpstr>关系、判等运算符</vt:lpstr>
      <vt:lpstr>本章授课内容</vt:lpstr>
      <vt:lpstr>逻辑运算符</vt:lpstr>
      <vt:lpstr>逻辑运算符</vt:lpstr>
      <vt:lpstr>本章授课内容</vt:lpstr>
      <vt:lpstr>条件运算符</vt:lpstr>
      <vt:lpstr>本章授课内容</vt:lpstr>
      <vt:lpstr>位运算操作运算符</vt:lpstr>
      <vt:lpstr>位运算操作运算符</vt:lpstr>
      <vt:lpstr>位运算操作运算符</vt:lpstr>
      <vt:lpstr>位运算操作运算符</vt:lpstr>
      <vt:lpstr>位运算操作运算符</vt:lpstr>
      <vt:lpstr>位运算操作运算符</vt:lpstr>
      <vt:lpstr>位运算操作运算符</vt:lpstr>
      <vt:lpstr>位运算操作运算符</vt:lpstr>
      <vt:lpstr>位运算操作运算符</vt:lpstr>
      <vt:lpstr>本章授课内容</vt:lpstr>
      <vt:lpstr>逗号运算符</vt:lpstr>
      <vt:lpstr>逗号运算符</vt:lpstr>
      <vt:lpstr>运算符表达式总结</vt:lpstr>
      <vt:lpstr>不同类型的变量进行运算</vt:lpstr>
      <vt:lpstr>本章授课内容</vt:lpstr>
      <vt:lpstr>类型转换</vt:lpstr>
      <vt:lpstr>隐式类型转换</vt:lpstr>
      <vt:lpstr>隐式类型转换</vt:lpstr>
      <vt:lpstr>隐式类型转换</vt:lpstr>
      <vt:lpstr>显示类型转换</vt:lpstr>
      <vt:lpstr>显示类型转换</vt:lpstr>
      <vt:lpstr>本章授课内容</vt:lpstr>
      <vt:lpstr>内存溢出</vt:lpstr>
      <vt:lpstr>内存溢出</vt:lpstr>
      <vt:lpstr>内存溢出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Administrator</dc:creator>
  <cp:lastModifiedBy>陈 润资</cp:lastModifiedBy>
  <cp:revision>205</cp:revision>
  <dcterms:created xsi:type="dcterms:W3CDTF">2014-04-17T22:00:45Z</dcterms:created>
  <dcterms:modified xsi:type="dcterms:W3CDTF">2023-03-27T06:37:35Z</dcterms:modified>
</cp:coreProperties>
</file>