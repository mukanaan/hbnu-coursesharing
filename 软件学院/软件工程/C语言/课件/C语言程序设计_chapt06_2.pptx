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57" r:id="rId2"/>
    <p:sldId id="343" r:id="rId3"/>
    <p:sldId id="483" r:id="rId4"/>
    <p:sldId id="485" r:id="rId5"/>
    <p:sldId id="484" r:id="rId6"/>
    <p:sldId id="486" r:id="rId7"/>
    <p:sldId id="487" r:id="rId8"/>
    <p:sldId id="489" r:id="rId9"/>
    <p:sldId id="488" r:id="rId10"/>
    <p:sldId id="356" r:id="rId11"/>
  </p:sldIdLst>
  <p:sldSz cx="12188825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20CB13"/>
    <a:srgbClr val="CC9900"/>
    <a:srgbClr val="008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2" autoAdjust="0"/>
    <p:restoredTop sz="94660" autoAdjust="0"/>
  </p:normalViewPr>
  <p:slideViewPr>
    <p:cSldViewPr>
      <p:cViewPr varScale="1">
        <p:scale>
          <a:sx n="65" d="100"/>
          <a:sy n="65" d="100"/>
        </p:scale>
        <p:origin x="765" y="39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2352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310994A-D9D6-45BB-BF4A-14339808A1A4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D0D88C-9335-44B6-B806-50A6EF6D802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547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B8305A0-012E-4CA3-9BDD-C21A18A976E8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noProof="0"/>
              <a:t>Click to edit Master text styles</a:t>
            </a:r>
          </a:p>
          <a:p>
            <a:pPr lvl="1"/>
            <a:r>
              <a:rPr noProof="0"/>
              <a:t>Second level</a:t>
            </a:r>
          </a:p>
          <a:p>
            <a:pPr lvl="2"/>
            <a:r>
              <a:rPr noProof="0"/>
              <a:t>Third level</a:t>
            </a:r>
          </a:p>
          <a:p>
            <a:pPr lvl="3"/>
            <a:r>
              <a:rPr noProof="0"/>
              <a:t>Fourth level</a:t>
            </a:r>
          </a:p>
          <a:p>
            <a:pPr lvl="4"/>
            <a:r>
              <a:rPr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805123A-5685-498F-AC7F-D0275DAA221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3820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trans="80000" scaling="54"/>
                    </a14:imgEffect>
                    <a14:imgEffect>
                      <a14:sharpenSoften amount="43000"/>
                    </a14:imgEffect>
                    <a14:imgEffect>
                      <a14:colorTemperature colorTemp="725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2" y="-99392"/>
            <a:ext cx="6264696" cy="7056784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000000"/>
            </a:outerShdw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796" y="1117848"/>
            <a:ext cx="5544616" cy="17321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820" y="2996952"/>
            <a:ext cx="5112568" cy="762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/>
              <a:t>Click to edit Master subtitle style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53767-4FC8-4F7C-81DC-BD195C78A58F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矩形 3"/>
          <p:cNvSpPr/>
          <p:nvPr userDrawn="1"/>
        </p:nvSpPr>
        <p:spPr>
          <a:xfrm>
            <a:off x="7545284" y="110817"/>
            <a:ext cx="3206327" cy="54784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Lef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en-US" altLang="zh-CN" sz="35000" b="1" i="0" cap="none" spc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1270000" dist="63500" dir="2700000" algn="tl" rotWithShape="0">
                    <a:schemeClr val="tx2">
                      <a:alpha val="0"/>
                    </a:schemeClr>
                  </a:outerShdw>
                  <a:reflection blurRad="6350" stA="22000" endPos="20000" dir="5400000" sy="-100000" algn="bl" rotWithShape="0"/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C</a:t>
            </a:r>
            <a:endParaRPr lang="zh-CN" altLang="en-US" sz="35000" b="1" i="0" cap="none" spc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>
                  <a:lumMod val="75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1270000" dist="63500" dir="2700000" algn="tl" rotWithShape="0">
                  <a:schemeClr val="tx2">
                    <a:alpha val="0"/>
                  </a:schemeClr>
                </a:outerShdw>
                <a:reflection blurRad="6350" stA="22000" endPos="20000" dir="5400000" sy="-100000" algn="bl" rotWithShape="0"/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852" y="1628800"/>
            <a:ext cx="10287000" cy="4464496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E90CC-62C7-44CD-8DFE-E094F3B07BE4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800" b="0" cap="none" baseline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83C11-37EA-4C67-A719-3A70D2B6FC4E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2pPr>
            <a:lvl3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3pPr>
            <a:lvl4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4pPr>
            <a:lvl5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7868" y="1412776"/>
            <a:ext cx="50292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5669" y="1412776"/>
            <a:ext cx="5029199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822DD-EAA9-439E-8AB1-0B873012FBB3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664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664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0025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3E244-7AAD-4668-887C-457B456B5561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97BD6-F9F3-4A25-9F69-D3EAD888290D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27FAC-F845-4A1D-B266-4299BF2E6ED7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823B7-A18E-47B0-938B-805489A1434A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EAAA-B21E-42BA-B9C5-AE951C054F0D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3" y="1542256"/>
            <a:ext cx="10287000" cy="4191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1F94C-04A9-49B4-9F8E-3248285880B9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  <a:prstGeom prst="rect">
            <a:avLst/>
          </a:prstGeom>
        </p:spPr>
        <p:txBody>
          <a:bodyPr vert="eaVert"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88D16-42AC-4890-870E-C38CF60D8899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3813" y="1398240"/>
            <a:ext cx="10287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Click to edit Master text styles</a:t>
            </a:r>
          </a:p>
          <a:p>
            <a:pPr lvl="1"/>
            <a:r>
              <a:rPr lang="zh-CN" altLang="zh-CN" smtClean="0"/>
              <a:t>Second level</a:t>
            </a:r>
          </a:p>
          <a:p>
            <a:pPr lvl="2"/>
            <a:r>
              <a:rPr lang="zh-CN" altLang="zh-CN" smtClean="0"/>
              <a:t>Third level</a:t>
            </a:r>
          </a:p>
          <a:p>
            <a:pPr lvl="3"/>
            <a:r>
              <a:rPr lang="zh-CN" altLang="zh-CN" smtClean="0"/>
              <a:t>Fourth level</a:t>
            </a:r>
          </a:p>
          <a:p>
            <a:pPr lvl="4"/>
            <a:r>
              <a:rPr lang="zh-CN" altLang="zh-CN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00C1DE-EA82-48C2-9C11-642FE3C6084E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013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758708" y="6376243"/>
            <a:ext cx="2843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rgbClr val="8C8C8C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7D8FC858-655E-4B47-89A3-6D5457E537AB}" type="slidenum">
              <a:rPr lang="en-US" altLang="zh-CN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med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lnSpc>
          <a:spcPct val="80000"/>
        </a:lnSpc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2pPr>
      <a:lvl3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3pPr>
      <a:lvl4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4pPr>
      <a:lvl5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rtl="0" fontAlgn="base">
        <a:lnSpc>
          <a:spcPct val="90000"/>
        </a:lnSpc>
        <a:spcBef>
          <a:spcPts val="600"/>
        </a:spcBef>
        <a:spcAft>
          <a:spcPct val="0"/>
        </a:spcAft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9538" indent="-282575" algn="l" rtl="0" fontAlgn="base">
        <a:lnSpc>
          <a:spcPct val="90000"/>
        </a:lnSpc>
        <a:spcBef>
          <a:spcPts val="600"/>
        </a:spcBef>
        <a:spcAft>
          <a:spcPct val="0"/>
        </a:spcAft>
        <a:buFont typeface="Corbe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76371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smtClean="0">
                <a:latin typeface="+mj-ea"/>
              </a:rPr>
              <a:t>《 C</a:t>
            </a:r>
            <a:r>
              <a:rPr lang="zh-CN" altLang="en-US" b="1" smtClean="0">
                <a:latin typeface="+mj-ea"/>
              </a:rPr>
              <a:t>语言程序设计</a:t>
            </a:r>
            <a:r>
              <a:rPr lang="en-US" altLang="zh-CN" b="1" smtClean="0">
                <a:latin typeface="+mj-ea"/>
              </a:rPr>
              <a:t>》</a:t>
            </a:r>
            <a:endParaRPr lang="zh-CN" altLang="en-US" b="1">
              <a:latin typeface="+mj-ea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981844" y="2996952"/>
            <a:ext cx="5112568" cy="762000"/>
          </a:xfrm>
        </p:spPr>
        <p:txBody>
          <a:bodyPr/>
          <a:lstStyle/>
          <a:p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语言课程组</a:t>
            </a:r>
          </a:p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534424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本章授课内容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自选图形 7"/>
          <p:cNvSpPr>
            <a:spLocks noChangeArrowheads="1"/>
          </p:cNvSpPr>
          <p:nvPr/>
        </p:nvSpPr>
        <p:spPr bwMode="gray">
          <a:xfrm>
            <a:off x="3203144" y="3229630"/>
            <a:ext cx="6204451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指针与二维数组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467167" y="3236206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782044" y="3227378"/>
            <a:ext cx="520552" cy="519261"/>
            <a:chOff x="1984929" y="5010002"/>
            <a:chExt cx="520552" cy="519261"/>
          </a:xfrm>
        </p:grpSpPr>
        <p:sp>
          <p:nvSpPr>
            <p:cNvPr id="36" name="椭圆 39"/>
            <p:cNvSpPr>
              <a:spLocks noChangeArrowheads="1"/>
            </p:cNvSpPr>
            <p:nvPr/>
          </p:nvSpPr>
          <p:spPr bwMode="gray">
            <a:xfrm>
              <a:off x="1984929" y="5010002"/>
              <a:ext cx="520552" cy="519261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椭圆 40"/>
            <p:cNvSpPr>
              <a:spLocks noChangeArrowheads="1"/>
            </p:cNvSpPr>
            <p:nvPr/>
          </p:nvSpPr>
          <p:spPr bwMode="gray">
            <a:xfrm>
              <a:off x="2034825" y="5062802"/>
              <a:ext cx="419712" cy="41366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椭圆 42"/>
            <p:cNvSpPr>
              <a:spLocks noChangeArrowheads="1"/>
            </p:cNvSpPr>
            <p:nvPr/>
          </p:nvSpPr>
          <p:spPr bwMode="gray">
            <a:xfrm>
              <a:off x="2047798" y="5062802"/>
              <a:ext cx="406739" cy="405291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椭圆 44"/>
            <p:cNvSpPr>
              <a:spLocks noChangeArrowheads="1"/>
            </p:cNvSpPr>
            <p:nvPr/>
          </p:nvSpPr>
          <p:spPr bwMode="gray">
            <a:xfrm>
              <a:off x="2052414" y="5070283"/>
              <a:ext cx="385351" cy="390327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70119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指针与二维数组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981844" y="973932"/>
            <a:ext cx="9361040" cy="5479404"/>
          </a:xfrm>
        </p:spPr>
        <p:txBody>
          <a:bodyPr/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指向由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个元素组成的一维数组的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定义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：数据类型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(*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指针名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m];</a:t>
            </a:r>
          </a:p>
          <a:p>
            <a:pPr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a[4];</a:t>
            </a:r>
          </a:p>
          <a:p>
            <a:pPr marL="457200" lvl="1" indent="0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(*p)[4] = </a:t>
            </a:r>
            <a:r>
              <a:rPr lang="en-US" altLang="zh-CN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&amp;a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lvl="1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含义：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是一个指向由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个整型元素构成的数组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的指针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错误的赋值方式：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错号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108" y="5727321"/>
            <a:ext cx="92868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603202" y="5501008"/>
            <a:ext cx="18373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/>
              <a:t>p = a;</a:t>
            </a:r>
          </a:p>
          <a:p>
            <a:pPr eaLnBrk="1" hangingPunct="1"/>
            <a:r>
              <a:rPr lang="en-US" altLang="zh-CN" sz="2400"/>
              <a:t>p = &amp;a[0]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266883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指针与二维数组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837828" y="1133053"/>
            <a:ext cx="6901398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  <a:defRPr/>
            </a:pP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a[3][4];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altLang="zh-CN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代表二维数组的首地址，第</a:t>
            </a:r>
            <a:r>
              <a:rPr lang="en-US" altLang="zh-CN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zh-CN" altLang="en-US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的地址，</a:t>
            </a:r>
            <a:r>
              <a:rPr lang="zh-CN" altLang="en-US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行地址</a:t>
            </a:r>
            <a:endParaRPr lang="en-US" altLang="zh-CN" b="1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altLang="zh-CN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+ i </a:t>
            </a:r>
            <a:r>
              <a:rPr lang="zh-CN" alt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代表第</a:t>
            </a:r>
            <a:r>
              <a:rPr lang="en-US" altLang="zh-CN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行的地址，但并非增加</a:t>
            </a:r>
            <a:r>
              <a:rPr lang="en-US" altLang="zh-CN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个字节！</a:t>
            </a:r>
            <a:endParaRPr lang="en-US" altLang="zh-CN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defRPr/>
            </a:pPr>
            <a:r>
              <a:rPr lang="zh-CN" alt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行地址表示的是一个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指向由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列元素组成的一维数组的指针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如果有</a:t>
            </a:r>
            <a:r>
              <a:rPr lang="en-US" altLang="zh-CN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(*p)[4];</a:t>
            </a:r>
            <a:r>
              <a:rPr lang="zh-CN" alt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可以这样赋值：</a:t>
            </a:r>
            <a:endParaRPr lang="en-US" altLang="zh-CN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p = a;</a:t>
            </a:r>
            <a:endParaRPr lang="zh-CN" altLang="en-US" smtClean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31"/>
          <p:cNvSpPr txBox="1">
            <a:spLocks noChangeArrowheads="1"/>
          </p:cNvSpPr>
          <p:nvPr/>
        </p:nvSpPr>
        <p:spPr bwMode="auto">
          <a:xfrm>
            <a:off x="7822604" y="692696"/>
            <a:ext cx="3841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a</a:t>
            </a:r>
          </a:p>
        </p:txBody>
      </p:sp>
      <p:grpSp>
        <p:nvGrpSpPr>
          <p:cNvPr id="10" name="Group 93"/>
          <p:cNvGrpSpPr>
            <a:grpSpLocks/>
          </p:cNvGrpSpPr>
          <p:nvPr/>
        </p:nvGrpSpPr>
        <p:grpSpPr bwMode="auto">
          <a:xfrm>
            <a:off x="8542684" y="953295"/>
            <a:ext cx="714485" cy="5184775"/>
            <a:chOff x="1415" y="864"/>
            <a:chExt cx="700" cy="3266"/>
          </a:xfrm>
        </p:grpSpPr>
        <p:sp>
          <p:nvSpPr>
            <p:cNvPr id="11" name="Line 21"/>
            <p:cNvSpPr>
              <a:spLocks noChangeShapeType="1"/>
            </p:cNvSpPr>
            <p:nvPr/>
          </p:nvSpPr>
          <p:spPr bwMode="auto">
            <a:xfrm>
              <a:off x="1415" y="1978"/>
              <a:ext cx="686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2" name="Line 22"/>
            <p:cNvSpPr>
              <a:spLocks noChangeShapeType="1"/>
            </p:cNvSpPr>
            <p:nvPr/>
          </p:nvSpPr>
          <p:spPr bwMode="auto">
            <a:xfrm>
              <a:off x="1429" y="2989"/>
              <a:ext cx="686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chemeClr val="tx1">
                    <a:lumMod val="40000"/>
                    <a:lumOff val="60000"/>
                  </a:schemeClr>
                </a:solidFill>
              </a:endParaRPr>
            </a:p>
          </p:txBody>
        </p:sp>
        <p:grpSp>
          <p:nvGrpSpPr>
            <p:cNvPr id="13" name="Group 68"/>
            <p:cNvGrpSpPr>
              <a:grpSpLocks/>
            </p:cNvGrpSpPr>
            <p:nvPr/>
          </p:nvGrpSpPr>
          <p:grpSpPr bwMode="auto">
            <a:xfrm>
              <a:off x="1415" y="864"/>
              <a:ext cx="686" cy="3266"/>
              <a:chOff x="1043" y="852"/>
              <a:chExt cx="686" cy="3266"/>
            </a:xfrm>
          </p:grpSpPr>
          <p:sp>
            <p:nvSpPr>
              <p:cNvPr id="14" name="Rectangle 2"/>
              <p:cNvSpPr>
                <a:spLocks noChangeArrowheads="1"/>
              </p:cNvSpPr>
              <p:nvPr/>
            </p:nvSpPr>
            <p:spPr bwMode="auto">
              <a:xfrm>
                <a:off x="1043" y="852"/>
                <a:ext cx="686" cy="3266"/>
              </a:xfrm>
              <a:prstGeom prst="rect">
                <a:avLst/>
              </a:prstGeom>
              <a:noFill/>
              <a:ln w="38100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chemeClr val="tx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5" name="Text Box 23"/>
              <p:cNvSpPr txBox="1">
                <a:spLocks noChangeArrowheads="1"/>
              </p:cNvSpPr>
              <p:nvPr/>
            </p:nvSpPr>
            <p:spPr bwMode="auto">
              <a:xfrm>
                <a:off x="1102" y="1239"/>
                <a:ext cx="607" cy="252"/>
              </a:xfrm>
              <a:prstGeom prst="rect">
                <a:avLst/>
              </a:prstGeom>
              <a:noFill/>
              <a:ln w="38100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a+0</a:t>
                </a:r>
              </a:p>
            </p:txBody>
          </p:sp>
          <p:sp>
            <p:nvSpPr>
              <p:cNvPr id="16" name="Text Box 24"/>
              <p:cNvSpPr txBox="1">
                <a:spLocks noChangeArrowheads="1"/>
              </p:cNvSpPr>
              <p:nvPr/>
            </p:nvSpPr>
            <p:spPr bwMode="auto">
              <a:xfrm>
                <a:off x="1082" y="2258"/>
                <a:ext cx="607" cy="252"/>
              </a:xfrm>
              <a:prstGeom prst="rect">
                <a:avLst/>
              </a:prstGeom>
              <a:noFill/>
              <a:ln w="38100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a+1</a:t>
                </a:r>
              </a:p>
            </p:txBody>
          </p:sp>
          <p:sp>
            <p:nvSpPr>
              <p:cNvPr id="17" name="Text Box 25"/>
              <p:cNvSpPr txBox="1">
                <a:spLocks noChangeArrowheads="1"/>
              </p:cNvSpPr>
              <p:nvPr/>
            </p:nvSpPr>
            <p:spPr bwMode="auto">
              <a:xfrm>
                <a:off x="1114" y="3389"/>
                <a:ext cx="607" cy="252"/>
              </a:xfrm>
              <a:prstGeom prst="rect">
                <a:avLst/>
              </a:prstGeom>
              <a:noFill/>
              <a:ln w="38100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a+2</a:t>
                </a:r>
              </a:p>
            </p:txBody>
          </p:sp>
        </p:grpSp>
      </p:grpSp>
      <p:grpSp>
        <p:nvGrpSpPr>
          <p:cNvPr id="18" name="Group 94"/>
          <p:cNvGrpSpPr>
            <a:grpSpLocks/>
          </p:cNvGrpSpPr>
          <p:nvPr/>
        </p:nvGrpSpPr>
        <p:grpSpPr bwMode="auto">
          <a:xfrm>
            <a:off x="9768384" y="940595"/>
            <a:ext cx="1071562" cy="5132387"/>
            <a:chOff x="3355" y="853"/>
            <a:chExt cx="774" cy="3233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auto">
            <a:xfrm>
              <a:off x="3355" y="853"/>
              <a:ext cx="747" cy="32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4"/>
            <p:cNvSpPr>
              <a:spLocks noChangeShapeType="1"/>
            </p:cNvSpPr>
            <p:nvPr/>
          </p:nvSpPr>
          <p:spPr bwMode="auto">
            <a:xfrm>
              <a:off x="3370" y="1103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5"/>
            <p:cNvSpPr>
              <a:spLocks noChangeShapeType="1"/>
            </p:cNvSpPr>
            <p:nvPr/>
          </p:nvSpPr>
          <p:spPr bwMode="auto">
            <a:xfrm>
              <a:off x="3358" y="1378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6"/>
            <p:cNvSpPr>
              <a:spLocks noChangeShapeType="1"/>
            </p:cNvSpPr>
            <p:nvPr/>
          </p:nvSpPr>
          <p:spPr bwMode="auto">
            <a:xfrm>
              <a:off x="3358" y="1928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7"/>
            <p:cNvSpPr>
              <a:spLocks noChangeShapeType="1"/>
            </p:cNvSpPr>
            <p:nvPr/>
          </p:nvSpPr>
          <p:spPr bwMode="auto">
            <a:xfrm>
              <a:off x="3358" y="2204"/>
              <a:ext cx="7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>
              <a:off x="3358" y="2479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3358" y="3030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 flipV="1">
              <a:off x="3358" y="3305"/>
              <a:ext cx="75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>
              <a:off x="3358" y="3581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Text Box 12"/>
            <p:cNvSpPr txBox="1">
              <a:spLocks noChangeArrowheads="1"/>
            </p:cNvSpPr>
            <p:nvPr/>
          </p:nvSpPr>
          <p:spPr bwMode="auto">
            <a:xfrm>
              <a:off x="3483" y="854"/>
              <a:ext cx="6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</a:rPr>
                <a:t>a[0]</a:t>
              </a:r>
              <a:r>
                <a:rPr lang="en-US" altLang="zh-CN" sz="2000"/>
                <a:t>[0]</a:t>
              </a: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3483" y="1124"/>
              <a:ext cx="6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</a:rPr>
                <a:t>a[0]</a:t>
              </a:r>
              <a:r>
                <a:rPr lang="en-US" altLang="zh-CN" sz="2000"/>
                <a:t>[1]</a:t>
              </a:r>
            </a:p>
          </p:txBody>
        </p:sp>
        <p:sp>
          <p:nvSpPr>
            <p:cNvPr id="30" name="Text Box 14"/>
            <p:cNvSpPr txBox="1">
              <a:spLocks noChangeArrowheads="1"/>
            </p:cNvSpPr>
            <p:nvPr/>
          </p:nvSpPr>
          <p:spPr bwMode="auto">
            <a:xfrm>
              <a:off x="3483" y="1935"/>
              <a:ext cx="64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a[1]</a:t>
              </a:r>
              <a:r>
                <a:rPr lang="en-US" altLang="zh-CN" sz="2000" dirty="0"/>
                <a:t>[0]</a:t>
              </a:r>
            </a:p>
          </p:txBody>
        </p:sp>
        <p:sp>
          <p:nvSpPr>
            <p:cNvPr id="31" name="Text Box 15"/>
            <p:cNvSpPr txBox="1">
              <a:spLocks noChangeArrowheads="1"/>
            </p:cNvSpPr>
            <p:nvPr/>
          </p:nvSpPr>
          <p:spPr bwMode="auto">
            <a:xfrm>
              <a:off x="3483" y="2205"/>
              <a:ext cx="64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a[1]</a:t>
              </a:r>
              <a:r>
                <a:rPr lang="en-US" altLang="zh-CN" sz="2000" dirty="0"/>
                <a:t>[1]</a:t>
              </a:r>
            </a:p>
          </p:txBody>
        </p:sp>
        <p:sp>
          <p:nvSpPr>
            <p:cNvPr id="32" name="Text Box 16"/>
            <p:cNvSpPr txBox="1">
              <a:spLocks noChangeArrowheads="1"/>
            </p:cNvSpPr>
            <p:nvPr/>
          </p:nvSpPr>
          <p:spPr bwMode="auto">
            <a:xfrm>
              <a:off x="3483" y="3016"/>
              <a:ext cx="6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a[2]</a:t>
              </a:r>
              <a:r>
                <a:rPr lang="en-US" altLang="zh-CN" sz="2000"/>
                <a:t>[0]</a:t>
              </a:r>
            </a:p>
          </p:txBody>
        </p:sp>
        <p:sp>
          <p:nvSpPr>
            <p:cNvPr id="33" name="Text Box 17"/>
            <p:cNvSpPr txBox="1">
              <a:spLocks noChangeArrowheads="1"/>
            </p:cNvSpPr>
            <p:nvPr/>
          </p:nvSpPr>
          <p:spPr bwMode="auto">
            <a:xfrm>
              <a:off x="3483" y="3287"/>
              <a:ext cx="6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a[2]</a:t>
              </a:r>
              <a:r>
                <a:rPr lang="en-US" altLang="zh-CN" sz="2000"/>
                <a:t>[1]</a:t>
              </a:r>
            </a:p>
          </p:txBody>
        </p:sp>
        <p:sp>
          <p:nvSpPr>
            <p:cNvPr id="34" name="Line 69"/>
            <p:cNvSpPr>
              <a:spLocks noChangeShapeType="1"/>
            </p:cNvSpPr>
            <p:nvPr/>
          </p:nvSpPr>
          <p:spPr bwMode="auto">
            <a:xfrm>
              <a:off x="3358" y="1653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70"/>
            <p:cNvSpPr>
              <a:spLocks noChangeShapeType="1"/>
            </p:cNvSpPr>
            <p:nvPr/>
          </p:nvSpPr>
          <p:spPr bwMode="auto">
            <a:xfrm>
              <a:off x="3358" y="2754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71"/>
            <p:cNvSpPr>
              <a:spLocks noChangeShapeType="1"/>
            </p:cNvSpPr>
            <p:nvPr/>
          </p:nvSpPr>
          <p:spPr bwMode="auto">
            <a:xfrm>
              <a:off x="3370" y="3857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72"/>
            <p:cNvSpPr txBox="1">
              <a:spLocks noChangeArrowheads="1"/>
            </p:cNvSpPr>
            <p:nvPr/>
          </p:nvSpPr>
          <p:spPr bwMode="auto">
            <a:xfrm>
              <a:off x="3483" y="1394"/>
              <a:ext cx="6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</a:rPr>
                <a:t>a[0]</a:t>
              </a:r>
              <a:r>
                <a:rPr lang="en-US" altLang="zh-CN" sz="2000"/>
                <a:t>[2]</a:t>
              </a:r>
            </a:p>
          </p:txBody>
        </p:sp>
        <p:sp>
          <p:nvSpPr>
            <p:cNvPr id="38" name="Text Box 73"/>
            <p:cNvSpPr txBox="1">
              <a:spLocks noChangeArrowheads="1"/>
            </p:cNvSpPr>
            <p:nvPr/>
          </p:nvSpPr>
          <p:spPr bwMode="auto">
            <a:xfrm>
              <a:off x="3483" y="1665"/>
              <a:ext cx="6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</a:rPr>
                <a:t>a[0]</a:t>
              </a:r>
              <a:r>
                <a:rPr lang="en-US" altLang="zh-CN" sz="2000"/>
                <a:t>[3]</a:t>
              </a:r>
            </a:p>
          </p:txBody>
        </p:sp>
        <p:sp>
          <p:nvSpPr>
            <p:cNvPr id="39" name="Text Box 74"/>
            <p:cNvSpPr txBox="1">
              <a:spLocks noChangeArrowheads="1"/>
            </p:cNvSpPr>
            <p:nvPr/>
          </p:nvSpPr>
          <p:spPr bwMode="auto">
            <a:xfrm>
              <a:off x="3483" y="2476"/>
              <a:ext cx="64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a[1]</a:t>
              </a:r>
              <a:r>
                <a:rPr lang="en-US" altLang="zh-CN" sz="2000" dirty="0"/>
                <a:t>[2]</a:t>
              </a:r>
            </a:p>
          </p:txBody>
        </p:sp>
        <p:sp>
          <p:nvSpPr>
            <p:cNvPr id="40" name="Text Box 75"/>
            <p:cNvSpPr txBox="1">
              <a:spLocks noChangeArrowheads="1"/>
            </p:cNvSpPr>
            <p:nvPr/>
          </p:nvSpPr>
          <p:spPr bwMode="auto">
            <a:xfrm>
              <a:off x="3483" y="2746"/>
              <a:ext cx="64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a[1]</a:t>
              </a:r>
              <a:r>
                <a:rPr lang="en-US" altLang="zh-CN" sz="2000" dirty="0"/>
                <a:t>[3]</a:t>
              </a:r>
            </a:p>
          </p:txBody>
        </p:sp>
        <p:sp>
          <p:nvSpPr>
            <p:cNvPr id="41" name="Text Box 76"/>
            <p:cNvSpPr txBox="1">
              <a:spLocks noChangeArrowheads="1"/>
            </p:cNvSpPr>
            <p:nvPr/>
          </p:nvSpPr>
          <p:spPr bwMode="auto">
            <a:xfrm>
              <a:off x="3483" y="3557"/>
              <a:ext cx="6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a[2]</a:t>
              </a:r>
              <a:r>
                <a:rPr lang="en-US" altLang="zh-CN" sz="2000"/>
                <a:t>[2]</a:t>
              </a:r>
            </a:p>
          </p:txBody>
        </p:sp>
        <p:sp>
          <p:nvSpPr>
            <p:cNvPr id="42" name="Text Box 77"/>
            <p:cNvSpPr txBox="1">
              <a:spLocks noChangeArrowheads="1"/>
            </p:cNvSpPr>
            <p:nvPr/>
          </p:nvSpPr>
          <p:spPr bwMode="auto">
            <a:xfrm>
              <a:off x="3483" y="3828"/>
              <a:ext cx="6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0000"/>
                  </a:solidFill>
                </a:rPr>
                <a:t>a[2]</a:t>
              </a:r>
              <a:r>
                <a:rPr lang="en-US" altLang="zh-CN" sz="2000"/>
                <a:t>[3]</a:t>
              </a:r>
            </a:p>
          </p:txBody>
        </p:sp>
      </p:grpSp>
      <p:sp>
        <p:nvSpPr>
          <p:cNvPr id="43" name="左大括号 42"/>
          <p:cNvSpPr/>
          <p:nvPr/>
        </p:nvSpPr>
        <p:spPr>
          <a:xfrm>
            <a:off x="9444534" y="1086645"/>
            <a:ext cx="323850" cy="1571625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左大括号 42"/>
          <p:cNvSpPr/>
          <p:nvPr/>
        </p:nvSpPr>
        <p:spPr>
          <a:xfrm>
            <a:off x="9393734" y="2736057"/>
            <a:ext cx="322262" cy="1571625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5" name="左大括号 42"/>
          <p:cNvSpPr/>
          <p:nvPr/>
        </p:nvSpPr>
        <p:spPr>
          <a:xfrm>
            <a:off x="9346109" y="4447382"/>
            <a:ext cx="323850" cy="1571625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0919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3" grpId="0" animBg="1"/>
      <p:bldP spid="44" grpId="0" animBg="1"/>
      <p:bldP spid="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指针与二维数组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076325"/>
            <a:ext cx="6933356" cy="5248275"/>
          </a:xfrm>
        </p:spPr>
        <p:txBody>
          <a:bodyPr/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a[3][4];</a:t>
            </a:r>
          </a:p>
          <a:p>
            <a:pPr lvl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altLang="zh-CN" b="1" smtClean="0">
                <a:solidFill>
                  <a:srgbClr val="CA120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a[i]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*(a+i)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代表第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行第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列元素的地址，</a:t>
            </a:r>
            <a:r>
              <a:rPr lang="zh-CN" altLang="en-US" b="1" smtClean="0">
                <a:solidFill>
                  <a:srgbClr val="CA120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行首元素地址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(a+i)+j 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即 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a[i]+j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代表第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行第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列的地址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&amp;a[i][j] 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*(*(a+i)+j) 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即 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a[i][j]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代表第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行第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列的内容</a:t>
            </a:r>
          </a:p>
        </p:txBody>
      </p:sp>
      <p:sp>
        <p:nvSpPr>
          <p:cNvPr id="6" name="Text Box 30"/>
          <p:cNvSpPr txBox="1">
            <a:spLocks noChangeArrowheads="1"/>
          </p:cNvSpPr>
          <p:nvPr/>
        </p:nvSpPr>
        <p:spPr bwMode="auto">
          <a:xfrm>
            <a:off x="7839669" y="1340768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" name="Text Box 31"/>
          <p:cNvSpPr txBox="1">
            <a:spLocks noChangeArrowheads="1"/>
          </p:cNvSpPr>
          <p:nvPr/>
        </p:nvSpPr>
        <p:spPr bwMode="auto">
          <a:xfrm>
            <a:off x="7677744" y="2904456"/>
            <a:ext cx="7072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</a:rPr>
              <a:t>a+1</a:t>
            </a:r>
          </a:p>
        </p:txBody>
      </p:sp>
      <p:sp>
        <p:nvSpPr>
          <p:cNvPr id="8" name="Text Box 32"/>
          <p:cNvSpPr txBox="1">
            <a:spLocks noChangeArrowheads="1"/>
          </p:cNvSpPr>
          <p:nvPr/>
        </p:nvSpPr>
        <p:spPr bwMode="auto">
          <a:xfrm>
            <a:off x="7677744" y="4622131"/>
            <a:ext cx="7072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</a:rPr>
              <a:t>a+2</a:t>
            </a:r>
          </a:p>
        </p:txBody>
      </p:sp>
      <p:grpSp>
        <p:nvGrpSpPr>
          <p:cNvPr id="9" name="Group 93"/>
          <p:cNvGrpSpPr>
            <a:grpSpLocks/>
          </p:cNvGrpSpPr>
          <p:nvPr/>
        </p:nvGrpSpPr>
        <p:grpSpPr bwMode="auto">
          <a:xfrm>
            <a:off x="8404373" y="908520"/>
            <a:ext cx="714375" cy="5184775"/>
            <a:chOff x="1415" y="864"/>
            <a:chExt cx="700" cy="3266"/>
          </a:xfrm>
        </p:grpSpPr>
        <p:sp>
          <p:nvSpPr>
            <p:cNvPr id="10" name="Line 21"/>
            <p:cNvSpPr>
              <a:spLocks noChangeShapeType="1"/>
            </p:cNvSpPr>
            <p:nvPr/>
          </p:nvSpPr>
          <p:spPr bwMode="auto">
            <a:xfrm>
              <a:off x="1415" y="1978"/>
              <a:ext cx="686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1" name="Line 22"/>
            <p:cNvSpPr>
              <a:spLocks noChangeShapeType="1"/>
            </p:cNvSpPr>
            <p:nvPr/>
          </p:nvSpPr>
          <p:spPr bwMode="auto">
            <a:xfrm>
              <a:off x="1429" y="2989"/>
              <a:ext cx="686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  <p:grpSp>
          <p:nvGrpSpPr>
            <p:cNvPr id="12" name="Group 68"/>
            <p:cNvGrpSpPr>
              <a:grpSpLocks/>
            </p:cNvGrpSpPr>
            <p:nvPr/>
          </p:nvGrpSpPr>
          <p:grpSpPr bwMode="auto">
            <a:xfrm>
              <a:off x="1415" y="864"/>
              <a:ext cx="686" cy="3266"/>
              <a:chOff x="1043" y="852"/>
              <a:chExt cx="686" cy="3266"/>
            </a:xfrm>
          </p:grpSpPr>
          <p:sp>
            <p:nvSpPr>
              <p:cNvPr id="13" name="Rectangle 2"/>
              <p:cNvSpPr>
                <a:spLocks noChangeArrowheads="1"/>
              </p:cNvSpPr>
              <p:nvPr/>
            </p:nvSpPr>
            <p:spPr bwMode="auto">
              <a:xfrm>
                <a:off x="1043" y="852"/>
                <a:ext cx="686" cy="3266"/>
              </a:xfrm>
              <a:prstGeom prst="rect">
                <a:avLst/>
              </a:prstGeom>
              <a:noFill/>
              <a:ln w="38100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4" name="Text Box 23"/>
              <p:cNvSpPr txBox="1">
                <a:spLocks noChangeArrowheads="1"/>
              </p:cNvSpPr>
              <p:nvPr/>
            </p:nvSpPr>
            <p:spPr bwMode="auto">
              <a:xfrm>
                <a:off x="1102" y="1124"/>
                <a:ext cx="599" cy="252"/>
              </a:xfrm>
              <a:prstGeom prst="rect">
                <a:avLst/>
              </a:prstGeom>
              <a:noFill/>
              <a:ln w="38100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US" altLang="zh-CN" sz="20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a[0]</a:t>
                </a:r>
              </a:p>
            </p:txBody>
          </p:sp>
          <p:sp>
            <p:nvSpPr>
              <p:cNvPr id="15" name="Text Box 24"/>
              <p:cNvSpPr txBox="1">
                <a:spLocks noChangeArrowheads="1"/>
              </p:cNvSpPr>
              <p:nvPr/>
            </p:nvSpPr>
            <p:spPr bwMode="auto">
              <a:xfrm>
                <a:off x="1046" y="2249"/>
                <a:ext cx="599" cy="252"/>
              </a:xfrm>
              <a:prstGeom prst="rect">
                <a:avLst/>
              </a:prstGeom>
              <a:noFill/>
              <a:ln w="38100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US" altLang="zh-CN" sz="20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a[1]</a:t>
                </a:r>
              </a:p>
            </p:txBody>
          </p:sp>
          <p:sp>
            <p:nvSpPr>
              <p:cNvPr id="16" name="Text Box 25"/>
              <p:cNvSpPr txBox="1">
                <a:spLocks noChangeArrowheads="1"/>
              </p:cNvSpPr>
              <p:nvPr/>
            </p:nvSpPr>
            <p:spPr bwMode="auto">
              <a:xfrm>
                <a:off x="1046" y="3276"/>
                <a:ext cx="599" cy="252"/>
              </a:xfrm>
              <a:prstGeom prst="rect">
                <a:avLst/>
              </a:prstGeom>
              <a:noFill/>
              <a:ln w="38100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US" altLang="zh-CN" sz="20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a[2]</a:t>
                </a:r>
              </a:p>
            </p:txBody>
          </p:sp>
        </p:grpSp>
      </p:grpSp>
      <p:grpSp>
        <p:nvGrpSpPr>
          <p:cNvPr id="17" name="Group 94"/>
          <p:cNvGrpSpPr>
            <a:grpSpLocks/>
          </p:cNvGrpSpPr>
          <p:nvPr/>
        </p:nvGrpSpPr>
        <p:grpSpPr bwMode="auto">
          <a:xfrm>
            <a:off x="9317583" y="895821"/>
            <a:ext cx="1863725" cy="5132387"/>
            <a:chOff x="2771" y="853"/>
            <a:chExt cx="1345" cy="3233"/>
          </a:xfrm>
        </p:grpSpPr>
        <p:sp>
          <p:nvSpPr>
            <p:cNvPr id="18" name="Line 35"/>
            <p:cNvSpPr>
              <a:spLocks noChangeShapeType="1"/>
            </p:cNvSpPr>
            <p:nvPr/>
          </p:nvSpPr>
          <p:spPr bwMode="auto">
            <a:xfrm>
              <a:off x="2775" y="907"/>
              <a:ext cx="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40"/>
            <p:cNvSpPr>
              <a:spLocks noChangeShapeType="1"/>
            </p:cNvSpPr>
            <p:nvPr/>
          </p:nvSpPr>
          <p:spPr bwMode="auto">
            <a:xfrm>
              <a:off x="2771" y="1986"/>
              <a:ext cx="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42"/>
            <p:cNvSpPr>
              <a:spLocks noChangeShapeType="1"/>
            </p:cNvSpPr>
            <p:nvPr/>
          </p:nvSpPr>
          <p:spPr bwMode="auto">
            <a:xfrm>
              <a:off x="2771" y="3069"/>
              <a:ext cx="5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3355" y="853"/>
              <a:ext cx="747" cy="32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4"/>
            <p:cNvSpPr>
              <a:spLocks noChangeShapeType="1"/>
            </p:cNvSpPr>
            <p:nvPr/>
          </p:nvSpPr>
          <p:spPr bwMode="auto">
            <a:xfrm>
              <a:off x="3370" y="1103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5"/>
            <p:cNvSpPr>
              <a:spLocks noChangeShapeType="1"/>
            </p:cNvSpPr>
            <p:nvPr/>
          </p:nvSpPr>
          <p:spPr bwMode="auto">
            <a:xfrm>
              <a:off x="3358" y="1378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6"/>
            <p:cNvSpPr>
              <a:spLocks noChangeShapeType="1"/>
            </p:cNvSpPr>
            <p:nvPr/>
          </p:nvSpPr>
          <p:spPr bwMode="auto">
            <a:xfrm>
              <a:off x="3358" y="1928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7"/>
            <p:cNvSpPr>
              <a:spLocks noChangeShapeType="1"/>
            </p:cNvSpPr>
            <p:nvPr/>
          </p:nvSpPr>
          <p:spPr bwMode="auto">
            <a:xfrm>
              <a:off x="3358" y="2204"/>
              <a:ext cx="7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8"/>
            <p:cNvSpPr>
              <a:spLocks noChangeShapeType="1"/>
            </p:cNvSpPr>
            <p:nvPr/>
          </p:nvSpPr>
          <p:spPr bwMode="auto">
            <a:xfrm>
              <a:off x="3358" y="2479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9"/>
            <p:cNvSpPr>
              <a:spLocks noChangeShapeType="1"/>
            </p:cNvSpPr>
            <p:nvPr/>
          </p:nvSpPr>
          <p:spPr bwMode="auto">
            <a:xfrm>
              <a:off x="3358" y="3030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10"/>
            <p:cNvSpPr>
              <a:spLocks noChangeShapeType="1"/>
            </p:cNvSpPr>
            <p:nvPr/>
          </p:nvSpPr>
          <p:spPr bwMode="auto">
            <a:xfrm flipV="1">
              <a:off x="3358" y="3305"/>
              <a:ext cx="75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11"/>
            <p:cNvSpPr>
              <a:spLocks noChangeShapeType="1"/>
            </p:cNvSpPr>
            <p:nvPr/>
          </p:nvSpPr>
          <p:spPr bwMode="auto">
            <a:xfrm>
              <a:off x="3358" y="3581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Text Box 12"/>
            <p:cNvSpPr txBox="1">
              <a:spLocks noChangeArrowheads="1"/>
            </p:cNvSpPr>
            <p:nvPr/>
          </p:nvSpPr>
          <p:spPr bwMode="auto">
            <a:xfrm>
              <a:off x="3483" y="854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tx2"/>
                  </a:solidFill>
                </a:rPr>
                <a:t>a[0]</a:t>
              </a:r>
              <a:r>
                <a:rPr lang="en-US" altLang="zh-CN" sz="2000"/>
                <a:t>[0]</a:t>
              </a:r>
            </a:p>
          </p:txBody>
        </p:sp>
        <p:sp>
          <p:nvSpPr>
            <p:cNvPr id="31" name="Text Box 13"/>
            <p:cNvSpPr txBox="1">
              <a:spLocks noChangeArrowheads="1"/>
            </p:cNvSpPr>
            <p:nvPr/>
          </p:nvSpPr>
          <p:spPr bwMode="auto">
            <a:xfrm>
              <a:off x="3483" y="1124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tx2"/>
                  </a:solidFill>
                </a:rPr>
                <a:t>a[0]</a:t>
              </a:r>
              <a:r>
                <a:rPr lang="en-US" altLang="zh-CN" sz="2000"/>
                <a:t>[1]</a:t>
              </a:r>
            </a:p>
          </p:txBody>
        </p:sp>
        <p:sp>
          <p:nvSpPr>
            <p:cNvPr id="32" name="Text Box 14"/>
            <p:cNvSpPr txBox="1">
              <a:spLocks noChangeArrowheads="1"/>
            </p:cNvSpPr>
            <p:nvPr/>
          </p:nvSpPr>
          <p:spPr bwMode="auto">
            <a:xfrm>
              <a:off x="3483" y="1935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339933"/>
                  </a:solidFill>
                </a:rPr>
                <a:t>a[1]</a:t>
              </a:r>
              <a:r>
                <a:rPr lang="en-US" altLang="zh-CN" sz="2000"/>
                <a:t>[0]</a:t>
              </a:r>
            </a:p>
          </p:txBody>
        </p:sp>
        <p:sp>
          <p:nvSpPr>
            <p:cNvPr id="33" name="Text Box 15"/>
            <p:cNvSpPr txBox="1">
              <a:spLocks noChangeArrowheads="1"/>
            </p:cNvSpPr>
            <p:nvPr/>
          </p:nvSpPr>
          <p:spPr bwMode="auto">
            <a:xfrm>
              <a:off x="3483" y="2205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339933"/>
                  </a:solidFill>
                </a:rPr>
                <a:t>a[1]</a:t>
              </a:r>
              <a:r>
                <a:rPr lang="en-US" altLang="zh-CN" sz="2000"/>
                <a:t>[1]</a:t>
              </a:r>
            </a:p>
          </p:txBody>
        </p:sp>
        <p:sp>
          <p:nvSpPr>
            <p:cNvPr id="34" name="Text Box 16"/>
            <p:cNvSpPr txBox="1">
              <a:spLocks noChangeArrowheads="1"/>
            </p:cNvSpPr>
            <p:nvPr/>
          </p:nvSpPr>
          <p:spPr bwMode="auto">
            <a:xfrm>
              <a:off x="3483" y="3016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9900"/>
                  </a:solidFill>
                </a:rPr>
                <a:t>a[2]</a:t>
              </a:r>
              <a:r>
                <a:rPr lang="en-US" altLang="zh-CN" sz="2000"/>
                <a:t>[0]</a:t>
              </a:r>
            </a:p>
          </p:txBody>
        </p:sp>
        <p:sp>
          <p:nvSpPr>
            <p:cNvPr id="35" name="Text Box 17"/>
            <p:cNvSpPr txBox="1">
              <a:spLocks noChangeArrowheads="1"/>
            </p:cNvSpPr>
            <p:nvPr/>
          </p:nvSpPr>
          <p:spPr bwMode="auto">
            <a:xfrm>
              <a:off x="3483" y="3287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9900"/>
                  </a:solidFill>
                </a:rPr>
                <a:t>a[2]</a:t>
              </a:r>
              <a:r>
                <a:rPr lang="en-US" altLang="zh-CN" sz="2000"/>
                <a:t>[1]</a:t>
              </a:r>
            </a:p>
          </p:txBody>
        </p:sp>
        <p:sp>
          <p:nvSpPr>
            <p:cNvPr id="36" name="Line 69"/>
            <p:cNvSpPr>
              <a:spLocks noChangeShapeType="1"/>
            </p:cNvSpPr>
            <p:nvPr/>
          </p:nvSpPr>
          <p:spPr bwMode="auto">
            <a:xfrm>
              <a:off x="3358" y="1653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70"/>
            <p:cNvSpPr>
              <a:spLocks noChangeShapeType="1"/>
            </p:cNvSpPr>
            <p:nvPr/>
          </p:nvSpPr>
          <p:spPr bwMode="auto">
            <a:xfrm>
              <a:off x="3358" y="2754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71"/>
            <p:cNvSpPr>
              <a:spLocks noChangeShapeType="1"/>
            </p:cNvSpPr>
            <p:nvPr/>
          </p:nvSpPr>
          <p:spPr bwMode="auto">
            <a:xfrm>
              <a:off x="3370" y="3857"/>
              <a:ext cx="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Text Box 72"/>
            <p:cNvSpPr txBox="1">
              <a:spLocks noChangeArrowheads="1"/>
            </p:cNvSpPr>
            <p:nvPr/>
          </p:nvSpPr>
          <p:spPr bwMode="auto">
            <a:xfrm>
              <a:off x="3483" y="1394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tx2"/>
                  </a:solidFill>
                </a:rPr>
                <a:t>a[0]</a:t>
              </a:r>
              <a:r>
                <a:rPr lang="en-US" altLang="zh-CN" sz="2000"/>
                <a:t>[2]</a:t>
              </a:r>
            </a:p>
          </p:txBody>
        </p:sp>
        <p:sp>
          <p:nvSpPr>
            <p:cNvPr id="40" name="Text Box 73"/>
            <p:cNvSpPr txBox="1">
              <a:spLocks noChangeArrowheads="1"/>
            </p:cNvSpPr>
            <p:nvPr/>
          </p:nvSpPr>
          <p:spPr bwMode="auto">
            <a:xfrm>
              <a:off x="3483" y="1665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tx2"/>
                  </a:solidFill>
                </a:rPr>
                <a:t>a[0]</a:t>
              </a:r>
              <a:r>
                <a:rPr lang="en-US" altLang="zh-CN" sz="2000"/>
                <a:t>[3]</a:t>
              </a:r>
            </a:p>
          </p:txBody>
        </p:sp>
        <p:sp>
          <p:nvSpPr>
            <p:cNvPr id="41" name="Text Box 74"/>
            <p:cNvSpPr txBox="1">
              <a:spLocks noChangeArrowheads="1"/>
            </p:cNvSpPr>
            <p:nvPr/>
          </p:nvSpPr>
          <p:spPr bwMode="auto">
            <a:xfrm>
              <a:off x="3483" y="2476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339933"/>
                  </a:solidFill>
                </a:rPr>
                <a:t>a[1]</a:t>
              </a:r>
              <a:r>
                <a:rPr lang="en-US" altLang="zh-CN" sz="2000"/>
                <a:t>[2]</a:t>
              </a:r>
            </a:p>
          </p:txBody>
        </p:sp>
        <p:sp>
          <p:nvSpPr>
            <p:cNvPr id="42" name="Text Box 75"/>
            <p:cNvSpPr txBox="1">
              <a:spLocks noChangeArrowheads="1"/>
            </p:cNvSpPr>
            <p:nvPr/>
          </p:nvSpPr>
          <p:spPr bwMode="auto">
            <a:xfrm>
              <a:off x="3483" y="2746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339933"/>
                  </a:solidFill>
                </a:rPr>
                <a:t>a[1]</a:t>
              </a:r>
              <a:r>
                <a:rPr lang="en-US" altLang="zh-CN" sz="2000"/>
                <a:t>[3]</a:t>
              </a:r>
            </a:p>
          </p:txBody>
        </p:sp>
        <p:sp>
          <p:nvSpPr>
            <p:cNvPr id="43" name="Text Box 76"/>
            <p:cNvSpPr txBox="1">
              <a:spLocks noChangeArrowheads="1"/>
            </p:cNvSpPr>
            <p:nvPr/>
          </p:nvSpPr>
          <p:spPr bwMode="auto">
            <a:xfrm>
              <a:off x="3483" y="3557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9900"/>
                  </a:solidFill>
                </a:rPr>
                <a:t>a[2]</a:t>
              </a:r>
              <a:r>
                <a:rPr lang="en-US" altLang="zh-CN" sz="2000"/>
                <a:t>[2]</a:t>
              </a:r>
            </a:p>
          </p:txBody>
        </p:sp>
        <p:sp>
          <p:nvSpPr>
            <p:cNvPr id="44" name="Text Box 77"/>
            <p:cNvSpPr txBox="1">
              <a:spLocks noChangeArrowheads="1"/>
            </p:cNvSpPr>
            <p:nvPr/>
          </p:nvSpPr>
          <p:spPr bwMode="auto">
            <a:xfrm>
              <a:off x="3483" y="3828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FF9900"/>
                  </a:solidFill>
                </a:rPr>
                <a:t>a[2]</a:t>
              </a:r>
              <a:r>
                <a:rPr lang="en-US" altLang="zh-CN" sz="2000"/>
                <a:t>[3]</a:t>
              </a:r>
            </a:p>
          </p:txBody>
        </p:sp>
      </p:grpSp>
      <p:sp>
        <p:nvSpPr>
          <p:cNvPr id="45" name="TextBox 43"/>
          <p:cNvSpPr txBox="1">
            <a:spLocks noChangeArrowheads="1"/>
          </p:cNvSpPr>
          <p:nvPr/>
        </p:nvSpPr>
        <p:spPr bwMode="auto">
          <a:xfrm>
            <a:off x="9109620" y="1048221"/>
            <a:ext cx="10048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&amp;a[0][0]</a:t>
            </a:r>
            <a:endParaRPr lang="zh-CN" altLang="en-US"/>
          </a:p>
        </p:txBody>
      </p:sp>
      <p:sp>
        <p:nvSpPr>
          <p:cNvPr id="46" name="TextBox 44"/>
          <p:cNvSpPr txBox="1">
            <a:spLocks noChangeArrowheads="1"/>
          </p:cNvSpPr>
          <p:nvPr/>
        </p:nvSpPr>
        <p:spPr bwMode="auto">
          <a:xfrm>
            <a:off x="9181058" y="2762721"/>
            <a:ext cx="1004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&amp;a[1][0]</a:t>
            </a:r>
            <a:endParaRPr lang="zh-CN" altLang="en-US"/>
          </a:p>
        </p:txBody>
      </p:sp>
      <p:sp>
        <p:nvSpPr>
          <p:cNvPr id="47" name="TextBox 45"/>
          <p:cNvSpPr txBox="1">
            <a:spLocks noChangeArrowheads="1"/>
          </p:cNvSpPr>
          <p:nvPr/>
        </p:nvSpPr>
        <p:spPr bwMode="auto">
          <a:xfrm>
            <a:off x="9236620" y="4437533"/>
            <a:ext cx="917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1600"/>
              <a:t>&amp;a[2][0]</a:t>
            </a:r>
            <a:endParaRPr lang="zh-CN" altLang="en-US" sz="1600"/>
          </a:p>
        </p:txBody>
      </p:sp>
      <p:sp>
        <p:nvSpPr>
          <p:cNvPr id="48" name="TextBox 46"/>
          <p:cNvSpPr txBox="1">
            <a:spLocks noChangeArrowheads="1"/>
          </p:cNvSpPr>
          <p:nvPr/>
        </p:nvSpPr>
        <p:spPr bwMode="auto">
          <a:xfrm>
            <a:off x="1116013" y="4321175"/>
            <a:ext cx="47067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/>
              <a:t>a[i] </a:t>
            </a:r>
            <a:r>
              <a:rPr lang="en-US" altLang="zh-CN" sz="2800" smtClean="0"/>
              <a:t> &lt;=&gt; </a:t>
            </a:r>
            <a:r>
              <a:rPr lang="zh-CN" altLang="en-US" sz="2800" smtClean="0"/>
              <a:t> </a:t>
            </a:r>
            <a:r>
              <a:rPr lang="en-US" altLang="zh-CN" sz="2800"/>
              <a:t>*(a+i)</a:t>
            </a:r>
            <a:r>
              <a:rPr lang="zh-CN" altLang="en-US" sz="2800"/>
              <a:t> </a:t>
            </a:r>
            <a:r>
              <a:rPr lang="zh-CN" altLang="en-US" sz="2800" smtClean="0"/>
              <a:t> </a:t>
            </a:r>
            <a:r>
              <a:rPr lang="en-US" altLang="zh-CN" sz="2800" smtClean="0"/>
              <a:t>&lt;=&gt;</a:t>
            </a:r>
            <a:r>
              <a:rPr lang="zh-CN" altLang="en-US" sz="2800" smtClean="0"/>
              <a:t>  </a:t>
            </a:r>
            <a:r>
              <a:rPr lang="en-US" altLang="zh-CN" sz="2800" smtClean="0"/>
              <a:t>&amp;</a:t>
            </a:r>
            <a:r>
              <a:rPr lang="en-US" altLang="zh-CN" sz="2800"/>
              <a:t>a[i][0]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6487773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45" grpId="0"/>
      <p:bldP spid="46" grpId="0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指针与二维数组</a:t>
            </a:r>
          </a:p>
        </p:txBody>
      </p:sp>
      <p:sp>
        <p:nvSpPr>
          <p:cNvPr id="49" name="Text Box 5"/>
          <p:cNvSpPr txBox="1">
            <a:spLocks noChangeArrowheads="1"/>
          </p:cNvSpPr>
          <p:nvPr/>
        </p:nvSpPr>
        <p:spPr bwMode="auto">
          <a:xfrm>
            <a:off x="2341513" y="5763666"/>
            <a:ext cx="1592659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0" hangingPunct="0"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一维数组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</a:t>
            </a:r>
          </a:p>
          <a:p>
            <a:pPr algn="just" eaLnBrk="0" hangingPunct="0"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</a:t>
            </a:r>
          </a:p>
          <a:p>
            <a:pPr algn="just" eaLnBrk="0" hangingPunct="0"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2660277" y="3700933"/>
            <a:ext cx="992188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0" hangingPunct="0">
              <a:defRPr/>
            </a:pPr>
            <a:r>
              <a:rPr lang="en-US" altLang="zh-CN" sz="2400" b="1">
                <a:latin typeface="Times New Roman" pitchFamily="18" charset="0"/>
              </a:rPr>
              <a:t>a[1]</a:t>
            </a:r>
          </a:p>
          <a:p>
            <a:pPr algn="just" eaLnBrk="0" hangingPunct="0">
              <a:defRPr/>
            </a:pPr>
            <a:endParaRPr lang="en-US" altLang="zh-CN" sz="2400" b="1">
              <a:latin typeface="Times New Roman" pitchFamily="18" charset="0"/>
            </a:endParaRPr>
          </a:p>
          <a:p>
            <a:pPr algn="just" eaLnBrk="0" hangingPunct="0">
              <a:defRPr/>
            </a:pPr>
            <a:r>
              <a:rPr lang="en-US" altLang="zh-CN" sz="1000" b="1">
                <a:latin typeface="Times New Roman" pitchFamily="18" charset="0"/>
              </a:rPr>
              <a:t>            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1" name="Line 7"/>
          <p:cNvSpPr>
            <a:spLocks noChangeShapeType="1"/>
          </p:cNvSpPr>
          <p:nvPr/>
        </p:nvSpPr>
        <p:spPr bwMode="auto">
          <a:xfrm>
            <a:off x="2563440" y="3450108"/>
            <a:ext cx="915987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8"/>
          <p:cNvSpPr>
            <a:spLocks noChangeShapeType="1"/>
          </p:cNvSpPr>
          <p:nvPr/>
        </p:nvSpPr>
        <p:spPr bwMode="auto">
          <a:xfrm>
            <a:off x="2547565" y="4594696"/>
            <a:ext cx="915987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Line 9"/>
          <p:cNvSpPr>
            <a:spLocks noChangeShapeType="1"/>
          </p:cNvSpPr>
          <p:nvPr/>
        </p:nvSpPr>
        <p:spPr bwMode="auto">
          <a:xfrm>
            <a:off x="2068140" y="2708746"/>
            <a:ext cx="495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10"/>
          <p:cNvSpPr>
            <a:spLocks noChangeShapeType="1"/>
          </p:cNvSpPr>
          <p:nvPr/>
        </p:nvSpPr>
        <p:spPr bwMode="auto">
          <a:xfrm>
            <a:off x="2068140" y="3772371"/>
            <a:ext cx="495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11"/>
          <p:cNvSpPr>
            <a:spLocks noChangeShapeType="1"/>
          </p:cNvSpPr>
          <p:nvPr/>
        </p:nvSpPr>
        <p:spPr bwMode="auto">
          <a:xfrm>
            <a:off x="2068140" y="5013796"/>
            <a:ext cx="495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" name="Group 12"/>
          <p:cNvGrpSpPr>
            <a:grpSpLocks/>
          </p:cNvGrpSpPr>
          <p:nvPr/>
        </p:nvGrpSpPr>
        <p:grpSpPr bwMode="auto">
          <a:xfrm>
            <a:off x="5786065" y="2521421"/>
            <a:ext cx="4268787" cy="630237"/>
            <a:chOff x="4860" y="2220"/>
            <a:chExt cx="4320" cy="624"/>
          </a:xfrm>
        </p:grpSpPr>
        <p:sp>
          <p:nvSpPr>
            <p:cNvPr id="57" name="Text Box 13"/>
            <p:cNvSpPr txBox="1">
              <a:spLocks noChangeArrowheads="1"/>
            </p:cNvSpPr>
            <p:nvPr/>
          </p:nvSpPr>
          <p:spPr bwMode="auto">
            <a:xfrm>
              <a:off x="4860" y="2220"/>
              <a:ext cx="4320" cy="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 eaLnBrk="0" hangingPunct="0">
                <a:defRPr/>
              </a:pPr>
              <a:r>
                <a:rPr lang="zh-CN" altLang="en-US" sz="2000" b="1">
                  <a:latin typeface="Times New Roman" pitchFamily="18" charset="0"/>
                </a:rPr>
                <a:t>  </a:t>
              </a:r>
              <a:r>
                <a:rPr lang="en-US" altLang="zh-CN" sz="2000" b="1">
                  <a:latin typeface="Times New Roman" pitchFamily="18" charset="0"/>
                </a:rPr>
                <a:t>a[0][0]     a[0][1]     a[0][2]      a[0][3]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58" name="Line 14"/>
            <p:cNvSpPr>
              <a:spLocks noChangeShapeType="1"/>
            </p:cNvSpPr>
            <p:nvPr/>
          </p:nvSpPr>
          <p:spPr bwMode="auto">
            <a:xfrm>
              <a:off x="702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15"/>
            <p:cNvSpPr>
              <a:spLocks noChangeShapeType="1"/>
            </p:cNvSpPr>
            <p:nvPr/>
          </p:nvSpPr>
          <p:spPr bwMode="auto">
            <a:xfrm>
              <a:off x="594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16"/>
            <p:cNvSpPr>
              <a:spLocks noChangeShapeType="1"/>
            </p:cNvSpPr>
            <p:nvPr/>
          </p:nvSpPr>
          <p:spPr bwMode="auto">
            <a:xfrm>
              <a:off x="810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1" name="Group 17"/>
          <p:cNvGrpSpPr>
            <a:grpSpLocks/>
          </p:cNvGrpSpPr>
          <p:nvPr/>
        </p:nvGrpSpPr>
        <p:grpSpPr bwMode="auto">
          <a:xfrm>
            <a:off x="5786065" y="3893021"/>
            <a:ext cx="4268787" cy="630237"/>
            <a:chOff x="4860" y="2220"/>
            <a:chExt cx="4320" cy="624"/>
          </a:xfrm>
        </p:grpSpPr>
        <p:sp>
          <p:nvSpPr>
            <p:cNvPr id="62" name="Text Box 18"/>
            <p:cNvSpPr txBox="1">
              <a:spLocks noChangeArrowheads="1"/>
            </p:cNvSpPr>
            <p:nvPr/>
          </p:nvSpPr>
          <p:spPr bwMode="auto">
            <a:xfrm>
              <a:off x="4860" y="2220"/>
              <a:ext cx="4320" cy="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 eaLnBrk="0" hangingPunct="0">
                <a:defRPr/>
              </a:pPr>
              <a:r>
                <a:rPr lang="zh-CN" altLang="en-US" sz="2000" b="1">
                  <a:latin typeface="Times New Roman" pitchFamily="18" charset="0"/>
                </a:rPr>
                <a:t>  </a:t>
              </a:r>
              <a:r>
                <a:rPr lang="en-US" altLang="zh-CN" sz="2000" b="1">
                  <a:latin typeface="Times New Roman" pitchFamily="18" charset="0"/>
                </a:rPr>
                <a:t>a[1][0]    a[1][1]      a[1][2]      a[1][3]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63" name="Line 19"/>
            <p:cNvSpPr>
              <a:spLocks noChangeShapeType="1"/>
            </p:cNvSpPr>
            <p:nvPr/>
          </p:nvSpPr>
          <p:spPr bwMode="auto">
            <a:xfrm>
              <a:off x="702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20"/>
            <p:cNvSpPr>
              <a:spLocks noChangeShapeType="1"/>
            </p:cNvSpPr>
            <p:nvPr/>
          </p:nvSpPr>
          <p:spPr bwMode="auto">
            <a:xfrm>
              <a:off x="594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21"/>
            <p:cNvSpPr>
              <a:spLocks noChangeShapeType="1"/>
            </p:cNvSpPr>
            <p:nvPr/>
          </p:nvSpPr>
          <p:spPr bwMode="auto">
            <a:xfrm>
              <a:off x="810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" name="Group 22"/>
          <p:cNvGrpSpPr>
            <a:grpSpLocks/>
          </p:cNvGrpSpPr>
          <p:nvPr/>
        </p:nvGrpSpPr>
        <p:grpSpPr bwMode="auto">
          <a:xfrm>
            <a:off x="5786065" y="5293196"/>
            <a:ext cx="4268787" cy="630237"/>
            <a:chOff x="4860" y="2220"/>
            <a:chExt cx="4320" cy="624"/>
          </a:xfrm>
        </p:grpSpPr>
        <p:sp>
          <p:nvSpPr>
            <p:cNvPr id="67" name="Text Box 23"/>
            <p:cNvSpPr txBox="1">
              <a:spLocks noChangeArrowheads="1"/>
            </p:cNvSpPr>
            <p:nvPr/>
          </p:nvSpPr>
          <p:spPr bwMode="auto">
            <a:xfrm>
              <a:off x="4860" y="2220"/>
              <a:ext cx="4320" cy="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 eaLnBrk="0" hangingPunct="0">
                <a:defRPr/>
              </a:pPr>
              <a:r>
                <a:rPr lang="zh-CN" altLang="en-US" sz="2000" b="1">
                  <a:latin typeface="Times New Roman" pitchFamily="18" charset="0"/>
                </a:rPr>
                <a:t>  </a:t>
              </a:r>
              <a:r>
                <a:rPr lang="en-US" altLang="zh-CN" sz="2000" b="1">
                  <a:latin typeface="Times New Roman" pitchFamily="18" charset="0"/>
                </a:rPr>
                <a:t>a[2][0]    a[2][1]      a[2][2]      a[2][3]</a:t>
              </a:r>
              <a:endPara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68" name="Line 24"/>
            <p:cNvSpPr>
              <a:spLocks noChangeShapeType="1"/>
            </p:cNvSpPr>
            <p:nvPr/>
          </p:nvSpPr>
          <p:spPr bwMode="auto">
            <a:xfrm>
              <a:off x="702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25"/>
            <p:cNvSpPr>
              <a:spLocks noChangeShapeType="1"/>
            </p:cNvSpPr>
            <p:nvPr/>
          </p:nvSpPr>
          <p:spPr bwMode="auto">
            <a:xfrm>
              <a:off x="594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26"/>
            <p:cNvSpPr>
              <a:spLocks noChangeShapeType="1"/>
            </p:cNvSpPr>
            <p:nvPr/>
          </p:nvSpPr>
          <p:spPr bwMode="auto">
            <a:xfrm>
              <a:off x="810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" name="AutoShape 40"/>
          <p:cNvSpPr>
            <a:spLocks noChangeArrowheads="1"/>
          </p:cNvSpPr>
          <p:nvPr/>
        </p:nvSpPr>
        <p:spPr bwMode="auto">
          <a:xfrm>
            <a:off x="1356940" y="1152996"/>
            <a:ext cx="1206500" cy="627062"/>
          </a:xfrm>
          <a:prstGeom prst="wedgeRoundRectCallout">
            <a:avLst>
              <a:gd name="adj1" fmla="val 6840"/>
              <a:gd name="adj2" fmla="val 158293"/>
              <a:gd name="adj3" fmla="val 16667"/>
            </a:avLst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just" eaLnBrk="0" hangingPunct="0">
              <a:defRPr/>
            </a:pPr>
            <a:r>
              <a:rPr lang="zh-CN" altLang="en-US" sz="2400" b="1">
                <a:solidFill>
                  <a:srgbClr val="88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行地址</a:t>
            </a:r>
            <a:endParaRPr lang="zh-CN" altLang="en-US" sz="2400" b="1">
              <a:solidFill>
                <a:srgbClr val="88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AutoShape 41"/>
          <p:cNvSpPr>
            <a:spLocks noChangeArrowheads="1"/>
          </p:cNvSpPr>
          <p:nvPr/>
        </p:nvSpPr>
        <p:spPr bwMode="auto">
          <a:xfrm>
            <a:off x="2730127" y="1133946"/>
            <a:ext cx="2282825" cy="625475"/>
          </a:xfrm>
          <a:prstGeom prst="wedgeRoundRectCallout">
            <a:avLst>
              <a:gd name="adj1" fmla="val -35551"/>
              <a:gd name="adj2" fmla="val 137863"/>
              <a:gd name="adj3" fmla="val 16667"/>
            </a:avLst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just" eaLnBrk="0" hangingPunct="0">
              <a:defRPr/>
            </a:pPr>
            <a:r>
              <a:rPr lang="zh-CN" altLang="en-US" sz="2400" b="1" dirty="0">
                <a:solidFill>
                  <a:srgbClr val="88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行首元素地址</a:t>
            </a:r>
            <a:endParaRPr lang="zh-CN" altLang="en-US" sz="2400" b="1" dirty="0">
              <a:solidFill>
                <a:srgbClr val="88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Box 44"/>
          <p:cNvSpPr txBox="1">
            <a:spLocks noChangeArrowheads="1"/>
          </p:cNvSpPr>
          <p:nvPr/>
        </p:nvSpPr>
        <p:spPr bwMode="auto">
          <a:xfrm>
            <a:off x="5754315" y="1980083"/>
            <a:ext cx="4122737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a[0]+0      a[0]+1      a[0]+2      a[0]+3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4" name="Text Box 45"/>
          <p:cNvSpPr txBox="1">
            <a:spLocks noChangeArrowheads="1"/>
          </p:cNvSpPr>
          <p:nvPr/>
        </p:nvSpPr>
        <p:spPr bwMode="auto">
          <a:xfrm>
            <a:off x="5859090" y="4783608"/>
            <a:ext cx="4122737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a[2]+0     a[2]+1      a[2]+2     a[2]+3</a:t>
            </a:r>
          </a:p>
          <a:p>
            <a:pPr eaLnBrk="0" hangingPunct="0">
              <a:defRPr/>
            </a:pP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5" name="Text Box 46"/>
          <p:cNvSpPr txBox="1">
            <a:spLocks noChangeArrowheads="1"/>
          </p:cNvSpPr>
          <p:nvPr/>
        </p:nvSpPr>
        <p:spPr bwMode="auto">
          <a:xfrm>
            <a:off x="5754315" y="3367558"/>
            <a:ext cx="4122737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a[1]+0     a[1]+1      a[1]+2      a[1]+3</a:t>
            </a:r>
          </a:p>
          <a:p>
            <a:pPr eaLnBrk="0" hangingPunct="0">
              <a:defRPr/>
            </a:pP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6" name="Text Box 47"/>
          <p:cNvSpPr txBox="1">
            <a:spLocks noChangeArrowheads="1"/>
          </p:cNvSpPr>
          <p:nvPr/>
        </p:nvSpPr>
        <p:spPr bwMode="auto">
          <a:xfrm>
            <a:off x="3762002" y="5142383"/>
            <a:ext cx="1698625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一维数组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a[2]</a:t>
            </a:r>
          </a:p>
          <a:p>
            <a:pPr eaLnBrk="0" hangingPunct="0">
              <a:defRPr/>
            </a:pP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Box 48"/>
          <p:cNvSpPr txBox="1">
            <a:spLocks noChangeArrowheads="1"/>
          </p:cNvSpPr>
          <p:nvPr/>
        </p:nvSpPr>
        <p:spPr bwMode="auto">
          <a:xfrm>
            <a:off x="3762002" y="3896196"/>
            <a:ext cx="16049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一维数组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a[1]</a:t>
            </a:r>
          </a:p>
          <a:p>
            <a:pPr eaLnBrk="0" hangingPunct="0">
              <a:defRPr/>
            </a:pP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49"/>
          <p:cNvSpPr txBox="1">
            <a:spLocks noChangeArrowheads="1"/>
          </p:cNvSpPr>
          <p:nvPr/>
        </p:nvSpPr>
        <p:spPr bwMode="auto">
          <a:xfrm>
            <a:off x="3762002" y="2484908"/>
            <a:ext cx="1725613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一维数组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a[0]</a:t>
            </a:r>
            <a:endParaRPr lang="en-US" altLang="zh-CN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Rectangle 50"/>
          <p:cNvSpPr>
            <a:spLocks noChangeArrowheads="1"/>
          </p:cNvSpPr>
          <p:nvPr/>
        </p:nvSpPr>
        <p:spPr bwMode="auto">
          <a:xfrm>
            <a:off x="2536452" y="2353146"/>
            <a:ext cx="969963" cy="3338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Text Box 51"/>
          <p:cNvSpPr txBox="1">
            <a:spLocks noChangeArrowheads="1"/>
          </p:cNvSpPr>
          <p:nvPr/>
        </p:nvSpPr>
        <p:spPr bwMode="auto">
          <a:xfrm>
            <a:off x="2633290" y="2594446"/>
            <a:ext cx="992187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0" hangingPunct="0">
              <a:defRPr/>
            </a:pPr>
            <a:r>
              <a:rPr lang="en-US" altLang="zh-CN" sz="2400" b="1">
                <a:latin typeface="Times New Roman" pitchFamily="18" charset="0"/>
              </a:rPr>
              <a:t>a[0]</a:t>
            </a:r>
          </a:p>
          <a:p>
            <a:pPr algn="just" eaLnBrk="0" hangingPunct="0">
              <a:defRPr/>
            </a:pPr>
            <a:endParaRPr lang="en-US" altLang="zh-CN" sz="700" b="1">
              <a:latin typeface="Times New Roman" pitchFamily="18" charset="0"/>
            </a:endParaRPr>
          </a:p>
          <a:p>
            <a:pPr algn="just" eaLnBrk="0" hangingPunct="0">
              <a:defRPr/>
            </a:pPr>
            <a:endParaRPr lang="en-US" altLang="zh-CN" sz="700" b="1">
              <a:latin typeface="Times New Roman" pitchFamily="18" charset="0"/>
            </a:endParaRPr>
          </a:p>
          <a:p>
            <a:pPr algn="just" eaLnBrk="0" hangingPunct="0">
              <a:defRPr/>
            </a:pPr>
            <a:r>
              <a:rPr lang="en-US" altLang="zh-CN" sz="1000" b="1">
                <a:latin typeface="Times New Roman" pitchFamily="18" charset="0"/>
              </a:rPr>
              <a:t>            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1" name="Text Box 52"/>
          <p:cNvSpPr txBox="1">
            <a:spLocks noChangeArrowheads="1"/>
          </p:cNvSpPr>
          <p:nvPr/>
        </p:nvSpPr>
        <p:spPr bwMode="auto">
          <a:xfrm>
            <a:off x="2682502" y="4793133"/>
            <a:ext cx="990600" cy="83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0" hangingPunct="0">
              <a:defRPr/>
            </a:pPr>
            <a:r>
              <a:rPr lang="en-US" altLang="zh-CN" sz="2400" b="1">
                <a:latin typeface="Times New Roman" pitchFamily="18" charset="0"/>
              </a:rPr>
              <a:t>a[2]</a:t>
            </a:r>
          </a:p>
          <a:p>
            <a:pPr algn="just" eaLnBrk="0" hangingPunct="0">
              <a:defRPr/>
            </a:pPr>
            <a:endParaRPr lang="en-US" altLang="zh-CN" sz="2400" b="1">
              <a:latin typeface="Times New Roman" pitchFamily="18" charset="0"/>
            </a:endParaRPr>
          </a:p>
          <a:p>
            <a:pPr algn="just" eaLnBrk="0" hangingPunct="0">
              <a:defRPr/>
            </a:pPr>
            <a:r>
              <a:rPr lang="en-US" altLang="zh-CN" sz="1000" b="1">
                <a:latin typeface="Times New Roman" pitchFamily="18" charset="0"/>
              </a:rPr>
              <a:t>            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2" name="Text Box 53"/>
          <p:cNvSpPr txBox="1">
            <a:spLocks noChangeArrowheads="1"/>
          </p:cNvSpPr>
          <p:nvPr/>
        </p:nvSpPr>
        <p:spPr bwMode="auto">
          <a:xfrm>
            <a:off x="1345827" y="2386483"/>
            <a:ext cx="1481138" cy="104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  a+0                        </a:t>
            </a:r>
          </a:p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&amp;a[0]</a:t>
            </a:r>
          </a:p>
          <a:p>
            <a:pPr algn="just" eaLnBrk="0" hangingPunct="0">
              <a:defRPr/>
            </a:pPr>
            <a:r>
              <a:rPr lang="en-US" altLang="zh-CN" sz="700" b="1" dirty="0">
                <a:latin typeface="Times New Roman" pitchFamily="18" charset="0"/>
              </a:rPr>
              <a:t>                               </a:t>
            </a:r>
          </a:p>
          <a:p>
            <a:pPr algn="just" eaLnBrk="0" hangingPunct="0">
              <a:defRPr/>
            </a:pPr>
            <a:r>
              <a:rPr lang="en-US" altLang="zh-CN" sz="700" b="1" dirty="0">
                <a:latin typeface="Times New Roman" pitchFamily="18" charset="0"/>
              </a:rPr>
              <a:t>             </a:t>
            </a:r>
            <a:r>
              <a:rPr lang="en-US" altLang="zh-CN" sz="1000" b="1" dirty="0">
                <a:latin typeface="Times New Roman" pitchFamily="18" charset="0"/>
              </a:rPr>
              <a:t>          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3" name="Text Box 54"/>
          <p:cNvSpPr txBox="1">
            <a:spLocks noChangeArrowheads="1"/>
          </p:cNvSpPr>
          <p:nvPr/>
        </p:nvSpPr>
        <p:spPr bwMode="auto">
          <a:xfrm>
            <a:off x="1356941" y="3461221"/>
            <a:ext cx="1503362" cy="104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  a+1                                         </a:t>
            </a:r>
          </a:p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&amp;a[1]</a:t>
            </a:r>
          </a:p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               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4" name="Text Box 55"/>
          <p:cNvSpPr txBox="1">
            <a:spLocks noChangeArrowheads="1"/>
          </p:cNvSpPr>
          <p:nvPr/>
        </p:nvSpPr>
        <p:spPr bwMode="auto">
          <a:xfrm>
            <a:off x="1345827" y="4696296"/>
            <a:ext cx="1546225" cy="104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  a+2</a:t>
            </a:r>
          </a:p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&amp;a[2]                              </a:t>
            </a:r>
          </a:p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                                        </a:t>
            </a:r>
          </a:p>
          <a:p>
            <a:pPr algn="just" eaLnBrk="0" hangingPunct="0">
              <a:defRPr/>
            </a:pPr>
            <a:r>
              <a:rPr lang="en-US" altLang="zh-CN" sz="2000" b="1" dirty="0">
                <a:latin typeface="Times New Roman" pitchFamily="18" charset="0"/>
              </a:rPr>
              <a:t>                       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85" name="直接箭头​​连接符 57"/>
          <p:cNvCxnSpPr/>
          <p:nvPr/>
        </p:nvCxnSpPr>
        <p:spPr>
          <a:xfrm>
            <a:off x="3506415" y="2907183"/>
            <a:ext cx="22955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​​连接符 60"/>
          <p:cNvCxnSpPr/>
          <p:nvPr/>
        </p:nvCxnSpPr>
        <p:spPr>
          <a:xfrm>
            <a:off x="3506415" y="4231158"/>
            <a:ext cx="22955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​​连接符 61"/>
          <p:cNvCxnSpPr/>
          <p:nvPr/>
        </p:nvCxnSpPr>
        <p:spPr>
          <a:xfrm>
            <a:off x="3501652" y="5528146"/>
            <a:ext cx="22955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043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指针与二维数组</a:t>
            </a:r>
          </a:p>
        </p:txBody>
      </p:sp>
      <p:sp>
        <p:nvSpPr>
          <p:cNvPr id="49" name="内容占位符 2"/>
          <p:cNvSpPr txBox="1">
            <a:spLocks/>
          </p:cNvSpPr>
          <p:nvPr/>
        </p:nvSpPr>
        <p:spPr bwMode="auto">
          <a:xfrm>
            <a:off x="765820" y="1052736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已知：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a[2][3];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下列各表达式的含义：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&amp;a</a:t>
            </a:r>
          </a:p>
          <a:p>
            <a:pPr lvl="1">
              <a:lnSpc>
                <a:spcPct val="150000"/>
              </a:lnSpc>
            </a:pPr>
            <a:r>
              <a:rPr lang="en-US" altLang="zh-CN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lvl="1">
              <a:lnSpc>
                <a:spcPct val="150000"/>
              </a:lnSpc>
            </a:pPr>
            <a:r>
              <a:rPr lang="en-US" altLang="zh-CN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&amp;a[0]</a:t>
            </a:r>
          </a:p>
          <a:p>
            <a:pPr lvl="1">
              <a:lnSpc>
                <a:spcPct val="150000"/>
              </a:lnSpc>
            </a:pPr>
            <a:r>
              <a:rPr lang="en-US" altLang="zh-CN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a[0]</a:t>
            </a:r>
          </a:p>
          <a:p>
            <a:pPr lvl="1">
              <a:lnSpc>
                <a:spcPct val="150000"/>
              </a:lnSpc>
            </a:pPr>
            <a:r>
              <a:rPr lang="en-US" altLang="zh-CN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a[0][0]</a:t>
            </a:r>
          </a:p>
          <a:p>
            <a:pPr lvl="1">
              <a:lnSpc>
                <a:spcPct val="150000"/>
              </a:lnSpc>
            </a:pPr>
            <a:r>
              <a:rPr lang="en-US" altLang="zh-CN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&amp;a[0][0]</a:t>
            </a:r>
            <a:endParaRPr lang="zh-CN" altLang="en-US" b="1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78377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指针与二维数组</a:t>
            </a:r>
          </a:p>
        </p:txBody>
      </p:sp>
      <p:sp>
        <p:nvSpPr>
          <p:cNvPr id="49" name="内容占位符 2"/>
          <p:cNvSpPr txBox="1">
            <a:spLocks/>
          </p:cNvSpPr>
          <p:nvPr/>
        </p:nvSpPr>
        <p:spPr bwMode="auto">
          <a:xfrm>
            <a:off x="765820" y="1052736"/>
            <a:ext cx="10153128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已知：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 a[3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][4]={{1,3,5,7},{9,11,13,15},{17,19,21,23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}};</a:t>
            </a:r>
          </a:p>
          <a:p>
            <a:pPr marL="0" indent="0">
              <a:buClr>
                <a:srgbClr val="002060"/>
              </a:buClr>
              <a:buNone/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则：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a[1]+2 </a:t>
            </a:r>
          </a:p>
          <a:p>
            <a:pPr lvl="1"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*(a+1)+2 </a:t>
            </a:r>
          </a:p>
          <a:p>
            <a:pPr lvl="1"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*(a[1]+2) </a:t>
            </a:r>
          </a:p>
          <a:p>
            <a:pPr lvl="1"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*(*(a+1)+2) </a:t>
            </a:r>
          </a:p>
          <a:p>
            <a:pPr lvl="1"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(*(a+1))[2]</a:t>
            </a:r>
          </a:p>
          <a:p>
            <a:pPr marL="330200" lvl="1" indent="0">
              <a:lnSpc>
                <a:spcPct val="150000"/>
              </a:lnSpc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以上表达上表示什么？</a:t>
            </a:r>
          </a:p>
        </p:txBody>
      </p:sp>
    </p:spTree>
    <p:extLst>
      <p:ext uri="{BB962C8B-B14F-4D97-AF65-F5344CB8AC3E}">
        <p14:creationId xmlns:p14="http://schemas.microsoft.com/office/powerpoint/2010/main" val="16218688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指针与二维数组</a:t>
            </a:r>
          </a:p>
        </p:txBody>
      </p:sp>
      <p:sp>
        <p:nvSpPr>
          <p:cNvPr id="49" name="内容占位符 2"/>
          <p:cNvSpPr txBox="1">
            <a:spLocks/>
          </p:cNvSpPr>
          <p:nvPr/>
        </p:nvSpPr>
        <p:spPr bwMode="auto">
          <a:xfrm>
            <a:off x="765819" y="1052736"/>
            <a:ext cx="10611173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已知：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int a[3][4]  ={{1,3,5,7}, {9,11,13,15}, {17,19,21,23}};</a:t>
            </a:r>
          </a:p>
          <a:p>
            <a:pPr marL="0" indent="0">
              <a:buClr>
                <a:srgbClr val="002060"/>
              </a:buClr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int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(*p)[4] = a;</a:t>
            </a:r>
          </a:p>
          <a:p>
            <a:pPr marL="0" indent="0">
              <a:buClr>
                <a:srgbClr val="002060"/>
              </a:buClr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int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*q = &amp;a[0][0];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请用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p,q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分别表示下面的表达式：</a:t>
            </a:r>
          </a:p>
          <a:p>
            <a:pPr lvl="1">
              <a:lnSpc>
                <a:spcPct val="150000"/>
              </a:lnSpc>
            </a:pPr>
            <a:r>
              <a:rPr lang="pt-BR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a[1]</a:t>
            </a:r>
          </a:p>
          <a:p>
            <a:pPr lvl="1">
              <a:lnSpc>
                <a:spcPct val="150000"/>
              </a:lnSpc>
            </a:pPr>
            <a:r>
              <a:rPr lang="pt-BR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a+2</a:t>
            </a:r>
          </a:p>
          <a:p>
            <a:pPr lvl="1">
              <a:lnSpc>
                <a:spcPct val="150000"/>
              </a:lnSpc>
            </a:pPr>
            <a:r>
              <a:rPr lang="pt-BR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a[2][</a:t>
            </a:r>
            <a:r>
              <a:rPr lang="pt-BR" altLang="zh-CN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2]</a:t>
            </a:r>
          </a:p>
        </p:txBody>
      </p:sp>
    </p:spTree>
    <p:extLst>
      <p:ext uri="{BB962C8B-B14F-4D97-AF65-F5344CB8AC3E}">
        <p14:creationId xmlns:p14="http://schemas.microsoft.com/office/powerpoint/2010/main" val="9470485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WordArt 4"/>
          <p:cNvSpPr>
            <a:spLocks noChangeArrowheads="1" noChangeShapeType="1" noTextEdit="1"/>
          </p:cNvSpPr>
          <p:nvPr/>
        </p:nvSpPr>
        <p:spPr bwMode="gray">
          <a:xfrm>
            <a:off x="2061964" y="1916832"/>
            <a:ext cx="8352928" cy="1872208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2">
                      <a:lumMod val="50000"/>
                    </a:schemeClr>
                  </a:solidFill>
                  <a:round/>
                  <a:headEnd/>
                  <a:tailEnd/>
                </a:ln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Arial"/>
              </a:rPr>
              <a:t>Thank You !</a:t>
            </a:r>
            <a:endParaRPr lang="zh-CN" altLang="en-US" sz="3600" b="1" kern="10">
              <a:ln w="19050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  <a:solidFill>
                <a:schemeClr val="bg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468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/>
    </p:bldLst>
  </p:timing>
</p:sld>
</file>

<file path=ppt/theme/theme1.xml><?xml version="1.0" encoding="utf-8"?>
<a:theme xmlns:a="http://schemas.openxmlformats.org/drawingml/2006/main" name="Marketing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3235</TotalTime>
  <Words>667</Words>
  <Application>Microsoft Office PowerPoint</Application>
  <PresentationFormat>自定义</PresentationFormat>
  <Paragraphs>125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楷体_GB2312</vt:lpstr>
      <vt:lpstr>宋体</vt:lpstr>
      <vt:lpstr>微软雅黑</vt:lpstr>
      <vt:lpstr>幼圆</vt:lpstr>
      <vt:lpstr>Arial</vt:lpstr>
      <vt:lpstr>Consolas</vt:lpstr>
      <vt:lpstr>Corbel</vt:lpstr>
      <vt:lpstr>Times New Roman</vt:lpstr>
      <vt:lpstr>Wingdings</vt:lpstr>
      <vt:lpstr>Marketing 16x9</vt:lpstr>
      <vt:lpstr>《 C语言程序设计》</vt:lpstr>
      <vt:lpstr>本章授课内容</vt:lpstr>
      <vt:lpstr>指针与二维数组</vt:lpstr>
      <vt:lpstr>指针与二维数组</vt:lpstr>
      <vt:lpstr>指针与二维数组</vt:lpstr>
      <vt:lpstr>指针与二维数组</vt:lpstr>
      <vt:lpstr>指针与二维数组</vt:lpstr>
      <vt:lpstr>指针与二维数组</vt:lpstr>
      <vt:lpstr>指针与二维数组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Administrator</dc:creator>
  <cp:lastModifiedBy>Eetze</cp:lastModifiedBy>
  <cp:revision>382</cp:revision>
  <dcterms:created xsi:type="dcterms:W3CDTF">2014-04-17T22:00:45Z</dcterms:created>
  <dcterms:modified xsi:type="dcterms:W3CDTF">2023-02-26T00:28:45Z</dcterms:modified>
</cp:coreProperties>
</file>