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57" r:id="rId2"/>
    <p:sldId id="370" r:id="rId3"/>
    <p:sldId id="344" r:id="rId4"/>
    <p:sldId id="473" r:id="rId5"/>
    <p:sldId id="477" r:id="rId6"/>
    <p:sldId id="478" r:id="rId7"/>
    <p:sldId id="518" r:id="rId8"/>
    <p:sldId id="519" r:id="rId9"/>
    <p:sldId id="520" r:id="rId10"/>
    <p:sldId id="521" r:id="rId11"/>
    <p:sldId id="522" r:id="rId12"/>
    <p:sldId id="523" r:id="rId13"/>
    <p:sldId id="524" r:id="rId14"/>
    <p:sldId id="525" r:id="rId15"/>
    <p:sldId id="526" r:id="rId16"/>
    <p:sldId id="497" r:id="rId17"/>
    <p:sldId id="499" r:id="rId18"/>
    <p:sldId id="528" r:id="rId19"/>
    <p:sldId id="527" r:id="rId20"/>
    <p:sldId id="530" r:id="rId21"/>
    <p:sldId id="529" r:id="rId22"/>
    <p:sldId id="531" r:id="rId23"/>
    <p:sldId id="532" r:id="rId24"/>
    <p:sldId id="533" r:id="rId25"/>
    <p:sldId id="534" r:id="rId26"/>
    <p:sldId id="535" r:id="rId27"/>
    <p:sldId id="501" r:id="rId28"/>
    <p:sldId id="356" r:id="rId29"/>
  </p:sldIdLst>
  <p:sldSz cx="12188825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20CB13"/>
    <a:srgbClr val="CC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7" autoAdjust="0"/>
    <p:restoredTop sz="93773" autoAdjust="0"/>
  </p:normalViewPr>
  <p:slideViewPr>
    <p:cSldViewPr>
      <p:cViewPr varScale="1">
        <p:scale>
          <a:sx n="60" d="100"/>
          <a:sy n="60" d="100"/>
        </p:scale>
        <p:origin x="888" y="48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2916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310994A-D9D6-45BB-BF4A-14339808A1A4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D0D88C-9335-44B6-B806-50A6EF6D802C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15474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B8305A0-012E-4CA3-9BDD-C21A18A976E8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noProof="0"/>
              <a:t>Click to edit Master text styles</a:t>
            </a:r>
          </a:p>
          <a:p>
            <a:pPr lvl="1"/>
            <a:r>
              <a:rPr noProof="0"/>
              <a:t>Second level</a:t>
            </a:r>
          </a:p>
          <a:p>
            <a:pPr lvl="2"/>
            <a:r>
              <a:rPr noProof="0"/>
              <a:t>Third level</a:t>
            </a:r>
          </a:p>
          <a:p>
            <a:pPr lvl="3"/>
            <a:r>
              <a:rPr noProof="0"/>
              <a:t>Fourth level</a:t>
            </a:r>
          </a:p>
          <a:p>
            <a:pPr lvl="4"/>
            <a:r>
              <a:rPr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805123A-5685-498F-AC7F-D0275DAA221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3820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mtClean="0"/>
              <a:t>预处理是在编译前所作的一项工作。预处理由预处理器负责完成。预处理根据原始源文件中的预处理指令行对源文件进行处理，并输出经过预处理后的源文件给编译器。预处理指令行以字符</a:t>
            </a:r>
            <a:r>
              <a:rPr lang="en-US" altLang="zh-CN" smtClean="0"/>
              <a:t>#</a:t>
            </a:r>
            <a:r>
              <a:rPr lang="zh-CN" altLang="en-US" smtClean="0"/>
              <a:t>开头，如前面章节中看到了</a:t>
            </a:r>
            <a:r>
              <a:rPr lang="en-US" altLang="zh-CN" smtClean="0"/>
              <a:t>#include &lt;stdio.h&gt;</a:t>
            </a:r>
            <a:r>
              <a:rPr lang="zh-CN" altLang="en-US" smtClean="0"/>
              <a:t>即是一个预处理指令行，</a:t>
            </a:r>
            <a:r>
              <a:rPr lang="en-US" altLang="zh-CN" smtClean="0"/>
              <a:t>#include</a:t>
            </a:r>
            <a:r>
              <a:rPr lang="zh-CN" altLang="en-US" smtClean="0"/>
              <a:t>被称为预处理指令。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05123A-5685-498F-AC7F-D0275DAA2210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1848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mtClean="0"/>
              <a:t>对无参宏，预处理器在处理时将会用宏体替换宏。对有参宏，宏调用时需要给定实际参数。预处理器在处理时用宏体替换宏的同时，用实际参数替换宏体中的形式参数。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05123A-5685-498F-AC7F-D0275DAA2210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7584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mtClean="0"/>
              <a:t>预处理器遇到宏名时，将其换成宏体。对象式宏非常有用，如：给“数字字面值”取一个顾名思义的名字。在用到该数字的地方，调用宏即可。而且，今后要修改该数字，仅需要修改宏体中的数字即可。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05123A-5685-498F-AC7F-D0275DAA2210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9167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mtClean="0"/>
              <a:t>从逻辑的角度来讲，</a:t>
            </a:r>
            <a:r>
              <a:rPr lang="en-US" altLang="zh-CN" smtClean="0"/>
              <a:t>#if</a:t>
            </a:r>
            <a:r>
              <a:rPr lang="zh-CN" altLang="en-US" smtClean="0"/>
              <a:t>、</a:t>
            </a:r>
            <a:r>
              <a:rPr lang="en-US" altLang="zh-CN" smtClean="0"/>
              <a:t>#else</a:t>
            </a:r>
            <a:r>
              <a:rPr lang="zh-CN" altLang="en-US" smtClean="0"/>
              <a:t>、</a:t>
            </a:r>
            <a:r>
              <a:rPr lang="en-US" altLang="zh-CN" smtClean="0"/>
              <a:t>#elif</a:t>
            </a:r>
            <a:r>
              <a:rPr lang="zh-CN" altLang="en-US" smtClean="0"/>
              <a:t>、</a:t>
            </a:r>
            <a:r>
              <a:rPr lang="en-US" altLang="zh-CN" smtClean="0"/>
              <a:t>#endif </a:t>
            </a:r>
            <a:r>
              <a:rPr lang="zh-CN" altLang="en-US" smtClean="0"/>
              <a:t>的使用形式与</a:t>
            </a:r>
            <a:r>
              <a:rPr lang="en-US" altLang="zh-CN" smtClean="0"/>
              <a:t>if-else </a:t>
            </a:r>
            <a:r>
              <a:rPr lang="zh-CN" altLang="en-US" smtClean="0"/>
              <a:t>语句的使用形式是一样的，但功能上还是有所差别的</a:t>
            </a:r>
            <a:endParaRPr lang="zh-CN" altLang="en-US" b="1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05123A-5685-498F-AC7F-D0275DAA2210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893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trans="80000" scaling="54"/>
                    </a14:imgEffect>
                    <a14:imgEffect>
                      <a14:sharpenSoften amount="43000"/>
                    </a14:imgEffect>
                    <a14:imgEffect>
                      <a14:colorTemperature colorTemp="7250"/>
                    </a14:imgEffect>
                    <a14:imgEffect>
                      <a14:brightnessContrast brigh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12" y="-99392"/>
            <a:ext cx="6264696" cy="7056784"/>
          </a:xfrm>
          <a:prstGeom prst="rect">
            <a:avLst/>
          </a:prstGeom>
          <a:ln>
            <a:noFill/>
          </a:ln>
          <a:effectLst>
            <a:outerShdw blurRad="50800" dist="50800" dir="5400000" algn="ctr" rotWithShape="0">
              <a:srgbClr val="000000"/>
            </a:outerShdw>
            <a:softEdge rad="88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9796" y="1117848"/>
            <a:ext cx="5544616" cy="17321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5820" y="2996952"/>
            <a:ext cx="5112568" cy="7620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/>
              <a:t>Click to edit Master subtitle style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53767-4FC8-4F7C-81DC-BD195C78A58F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矩形 3"/>
          <p:cNvSpPr/>
          <p:nvPr userDrawn="1"/>
        </p:nvSpPr>
        <p:spPr>
          <a:xfrm>
            <a:off x="7545284" y="110817"/>
            <a:ext cx="3206327" cy="54784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perspectiveLef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algn="ctr"/>
            <a:r>
              <a:rPr lang="en-US" altLang="zh-CN" sz="35000" b="1" i="0" cap="none" spc="0" smtClean="0">
                <a:ln w="1270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1270000" dist="63500" dir="2700000" algn="tl" rotWithShape="0">
                    <a:schemeClr val="tx2">
                      <a:alpha val="0"/>
                    </a:schemeClr>
                  </a:outerShdw>
                  <a:reflection blurRad="6350" stA="22000" endPos="20000" dir="5400000" sy="-100000" algn="bl" rotWithShape="0"/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C</a:t>
            </a:r>
            <a:endParaRPr lang="zh-CN" altLang="en-US" sz="35000" b="1" i="0" cap="none" spc="0">
              <a:ln w="12700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bg2">
                  <a:lumMod val="75000"/>
                </a:schemeClr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1270000" dist="63500" dir="2700000" algn="tl" rotWithShape="0">
                  <a:schemeClr val="tx2">
                    <a:alpha val="0"/>
                  </a:schemeClr>
                </a:outerShdw>
                <a:reflection blurRad="6350" stA="22000" endPos="20000" dir="5400000" sy="-100000" algn="bl" rotWithShape="0"/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3852" y="1628800"/>
            <a:ext cx="10287000" cy="4464496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E90CC-62C7-44CD-8DFE-E094F3B07BE4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800" b="0" cap="none" baseline="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83C11-37EA-4C67-A719-3A70D2B6FC4E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>
            <a:lvl1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2pPr>
            <a:lvl3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3pPr>
            <a:lvl4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4pPr>
            <a:lvl5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5pPr>
            <a:lvl6pPr marL="4572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6pPr>
            <a:lvl7pPr marL="9144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7pPr>
            <a:lvl8pPr marL="13716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8pPr>
            <a:lvl9pPr marL="1828800"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Corbel" pitchFamily="34" charset="0"/>
              </a:defRPr>
            </a:lvl9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7868" y="1412776"/>
            <a:ext cx="50292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5669" y="1412776"/>
            <a:ext cx="5029199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822DD-EAA9-439E-8AB1-0B873012FBB3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664" y="1502296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664" y="2636912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1613" y="1502296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0025" y="2636912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3E244-7AAD-4668-887C-457B456B5561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97BD6-F9F3-4A25-9F69-D3EAD888290D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27FAC-F845-4A1D-B266-4299BF2E6ED7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 b="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823B7-A18E-47B0-938B-805489A1434A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600" b="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EAAA-B21E-42BA-B9C5-AE951C054F0D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3813" y="1542256"/>
            <a:ext cx="10287000" cy="4191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1F94C-04A9-49B4-9F8E-3248285880B9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05780" y="332656"/>
            <a:ext cx="10971213" cy="864096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title style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  <a:prstGeom prst="rect">
            <a:avLst/>
          </a:prstGeom>
        </p:spPr>
        <p:txBody>
          <a:bodyPr vert="eaVert"/>
          <a:lstStyle/>
          <a:p>
            <a:r>
              <a:rPr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888D16-42AC-4890-870E-C38CF60D8899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93813" y="1398240"/>
            <a:ext cx="10287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Click to edit Master text styles</a:t>
            </a:r>
          </a:p>
          <a:p>
            <a:pPr lvl="1"/>
            <a:r>
              <a:rPr lang="zh-CN" altLang="zh-CN" smtClean="0"/>
              <a:t>Second level</a:t>
            </a:r>
          </a:p>
          <a:p>
            <a:pPr lvl="2"/>
            <a:r>
              <a:rPr lang="zh-CN" altLang="zh-CN" smtClean="0"/>
              <a:t>Third level</a:t>
            </a:r>
          </a:p>
          <a:p>
            <a:pPr lvl="3"/>
            <a:r>
              <a:rPr lang="zh-CN" altLang="zh-CN" smtClean="0"/>
              <a:t>Fourth level</a:t>
            </a:r>
          </a:p>
          <a:p>
            <a:pPr lvl="4"/>
            <a:r>
              <a:rPr lang="zh-CN" altLang="zh-CN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8C8C8C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F00C1DE-EA82-48C2-9C11-642FE3C6084E}" type="datetimeFigureOut">
              <a:rPr lang="en-US"/>
              <a:pPr>
                <a:defRPr/>
              </a:pPr>
              <a:t>2/26/2023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013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8C8C8C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758708" y="6376243"/>
            <a:ext cx="2843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rgbClr val="8C8C8C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>
              <a:defRPr/>
            </a:pPr>
            <a:fld id="{7D8FC858-655E-4B47-89A3-6D5457E537AB}" type="slidenum">
              <a:rPr lang="en-US" altLang="zh-CN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 spd="med"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lnSpc>
          <a:spcPct val="80000"/>
        </a:lnSpc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2pPr>
      <a:lvl3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3pPr>
      <a:lvl4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4pPr>
      <a:lvl5pPr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Corbel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800"/>
        </a:spcBef>
        <a:spcAft>
          <a:spcPct val="0"/>
        </a:spcAft>
        <a:buClr>
          <a:schemeClr val="tx1"/>
        </a:buClr>
        <a:buSzPct val="80000"/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5950" indent="-285750" algn="l" rtl="0" fontAlgn="base">
        <a:lnSpc>
          <a:spcPct val="90000"/>
        </a:lnSpc>
        <a:spcBef>
          <a:spcPts val="600"/>
        </a:spcBef>
        <a:spcAft>
          <a:spcPct val="0"/>
        </a:spcAft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fontAlgn="base">
        <a:lnSpc>
          <a:spcPct val="90000"/>
        </a:lnSpc>
        <a:spcBef>
          <a:spcPts val="600"/>
        </a:spcBef>
        <a:spcAft>
          <a:spcPct val="0"/>
        </a:spcAft>
        <a:buClr>
          <a:schemeClr val="tx1"/>
        </a:buClr>
        <a:buSzPct val="80000"/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9538" indent="-282575" algn="l" rtl="0" fontAlgn="base">
        <a:lnSpc>
          <a:spcPct val="90000"/>
        </a:lnSpc>
        <a:spcBef>
          <a:spcPts val="600"/>
        </a:spcBef>
        <a:spcAft>
          <a:spcPct val="0"/>
        </a:spcAft>
        <a:buFont typeface="Corbel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763713" indent="-228600" algn="l" rtl="0" fontAlgn="base">
        <a:lnSpc>
          <a:spcPct val="90000"/>
        </a:lnSpc>
        <a:spcBef>
          <a:spcPts val="600"/>
        </a:spcBef>
        <a:spcAft>
          <a:spcPct val="0"/>
        </a:spcAft>
        <a:buClr>
          <a:schemeClr val="tx1"/>
        </a:buClr>
        <a:buSzPct val="80000"/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148840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smtClean="0">
                <a:latin typeface="+mj-ea"/>
              </a:rPr>
              <a:t>《 C</a:t>
            </a:r>
            <a:r>
              <a:rPr lang="zh-CN" altLang="en-US" b="1" smtClean="0">
                <a:latin typeface="+mj-ea"/>
              </a:rPr>
              <a:t>语言程序设计</a:t>
            </a:r>
            <a:r>
              <a:rPr lang="en-US" altLang="zh-CN" b="1" smtClean="0">
                <a:latin typeface="+mj-ea"/>
              </a:rPr>
              <a:t>》</a:t>
            </a:r>
            <a:endParaRPr lang="zh-CN" altLang="en-US" b="1">
              <a:latin typeface="+mj-ea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981844" y="2996952"/>
            <a:ext cx="5112568" cy="762000"/>
          </a:xfrm>
        </p:spPr>
        <p:txBody>
          <a:bodyPr/>
          <a:lstStyle/>
          <a:p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语言课程组</a:t>
            </a:r>
          </a:p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534424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3"/>
          <p:cNvSpPr txBox="1">
            <a:spLocks noChangeArrowheads="1"/>
          </p:cNvSpPr>
          <p:nvPr/>
        </p:nvSpPr>
        <p:spPr bwMode="auto">
          <a:xfrm>
            <a:off x="1125860" y="1052736"/>
            <a:ext cx="10513168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结构体的定义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结构体变量的声明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结构体指针的声明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通过结构体变量名来引用其分量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通过指向结构体的指针来应用其分量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结构体数组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链表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共同体、枚举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上</a:t>
            </a:r>
            <a:r>
              <a:rPr lang="zh-CN" altLang="en-US" b="1" smtClean="0"/>
              <a:t>一讲知识</a:t>
            </a:r>
            <a:r>
              <a:rPr lang="zh-CN" altLang="en-US" b="1"/>
              <a:t>复习</a:t>
            </a:r>
          </a:p>
        </p:txBody>
      </p:sp>
    </p:spTree>
    <p:extLst>
      <p:ext uri="{BB962C8B-B14F-4D97-AF65-F5344CB8AC3E}">
        <p14:creationId xmlns:p14="http://schemas.microsoft.com/office/powerpoint/2010/main" val="30060408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3"/>
          <p:cNvSpPr txBox="1">
            <a:spLocks noChangeArrowheads="1"/>
          </p:cNvSpPr>
          <p:nvPr/>
        </p:nvSpPr>
        <p:spPr bwMode="auto">
          <a:xfrm>
            <a:off x="1125860" y="1196752"/>
            <a:ext cx="9865096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理解预处理指令的作用及给程序员带来的好处。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重点掌握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#include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#define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预处理指令。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掌握宏定义的方法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学会分析宏替换的详细过程。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掌握条件编译指令的作用及给程序移植、调试等带来的好处。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了解预定义宏，学会使用预定义宏。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本讲教学目标</a:t>
            </a:r>
          </a:p>
        </p:txBody>
      </p:sp>
    </p:spTree>
    <p:extLst>
      <p:ext uri="{BB962C8B-B14F-4D97-AF65-F5344CB8AC3E}">
        <p14:creationId xmlns:p14="http://schemas.microsoft.com/office/powerpoint/2010/main" val="14492130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/>
              <a:t>本讲授课</a:t>
            </a:r>
            <a:r>
              <a:rPr lang="zh-CN" altLang="en-US" b="1"/>
              <a:t>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9089409" y="2085757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285337" y="4973717"/>
            <a:ext cx="6804072" cy="519261"/>
            <a:chOff x="2650732" y="4266333"/>
            <a:chExt cx="6804072" cy="519261"/>
          </a:xfrm>
        </p:grpSpPr>
        <p:sp>
          <p:nvSpPr>
            <p:cNvPr id="8" name="自选图形 6"/>
            <p:cNvSpPr>
              <a:spLocks noChangeArrowheads="1"/>
            </p:cNvSpPr>
            <p:nvPr/>
          </p:nvSpPr>
          <p:spPr bwMode="gray">
            <a:xfrm>
              <a:off x="3089529" y="4271963"/>
              <a:ext cx="636527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条件编译</a:t>
              </a: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650732" y="4266333"/>
              <a:ext cx="520552" cy="519261"/>
              <a:chOff x="2650732" y="4266333"/>
              <a:chExt cx="520552" cy="519261"/>
            </a:xfrm>
          </p:grpSpPr>
          <p:sp>
            <p:nvSpPr>
              <p:cNvPr id="21" name="椭圆 39"/>
              <p:cNvSpPr>
                <a:spLocks noChangeArrowheads="1"/>
              </p:cNvSpPr>
              <p:nvPr/>
            </p:nvSpPr>
            <p:spPr bwMode="gray">
              <a:xfrm>
                <a:off x="2650732" y="4266333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椭圆 40"/>
              <p:cNvSpPr>
                <a:spLocks noChangeArrowheads="1"/>
              </p:cNvSpPr>
              <p:nvPr/>
            </p:nvSpPr>
            <p:spPr bwMode="gray">
              <a:xfrm>
                <a:off x="2700628" y="4319133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椭圆 35"/>
              <p:cNvSpPr>
                <a:spLocks noChangeArrowheads="1"/>
              </p:cNvSpPr>
              <p:nvPr/>
            </p:nvSpPr>
            <p:spPr bwMode="gray">
              <a:xfrm>
                <a:off x="2723815" y="4319134"/>
                <a:ext cx="396525" cy="413660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D67E1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37"/>
              <p:cNvSpPr>
                <a:spLocks noChangeArrowheads="1"/>
              </p:cNvSpPr>
              <p:nvPr/>
            </p:nvSpPr>
            <p:spPr bwMode="gray">
              <a:xfrm>
                <a:off x="2727616" y="4332207"/>
                <a:ext cx="370916" cy="387511"/>
              </a:xfrm>
              <a:prstGeom prst="ellipse">
                <a:avLst/>
              </a:prstGeom>
              <a:gradFill rotWithShape="1">
                <a:gsLst>
                  <a:gs pos="0">
                    <a:srgbClr val="8D67E1"/>
                  </a:gs>
                  <a:gs pos="100000">
                    <a:srgbClr val="45326D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2758752" y="3028146"/>
            <a:ext cx="6662355" cy="519261"/>
            <a:chOff x="2599883" y="2579539"/>
            <a:chExt cx="6662355" cy="519261"/>
          </a:xfrm>
        </p:grpSpPr>
        <p:sp>
          <p:nvSpPr>
            <p:cNvPr id="10" name="自选图形 8"/>
            <p:cNvSpPr>
              <a:spLocks noChangeArrowheads="1"/>
            </p:cNvSpPr>
            <p:nvPr/>
          </p:nvSpPr>
          <p:spPr bwMode="gray">
            <a:xfrm>
              <a:off x="3047206" y="2590800"/>
              <a:ext cx="6215032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文件包含</a:t>
              </a: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2599883" y="2579539"/>
              <a:ext cx="520552" cy="519261"/>
              <a:chOff x="1984929" y="5010002"/>
              <a:chExt cx="520552" cy="519261"/>
            </a:xfrm>
          </p:grpSpPr>
          <p:sp>
            <p:nvSpPr>
              <p:cNvPr id="26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6" name="组合 45"/>
          <p:cNvGrpSpPr/>
          <p:nvPr/>
        </p:nvGrpSpPr>
        <p:grpSpPr>
          <a:xfrm>
            <a:off x="2285337" y="2068560"/>
            <a:ext cx="6639749" cy="519261"/>
            <a:chOff x="1949565" y="1820863"/>
            <a:chExt cx="6639749" cy="519261"/>
          </a:xfrm>
        </p:grpSpPr>
        <p:sp>
          <p:nvSpPr>
            <p:cNvPr id="11" name="自选图形 9"/>
            <p:cNvSpPr>
              <a:spLocks noChangeArrowheads="1"/>
            </p:cNvSpPr>
            <p:nvPr/>
          </p:nvSpPr>
          <p:spPr bwMode="gray">
            <a:xfrm>
              <a:off x="2353121" y="1820863"/>
              <a:ext cx="6236193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预处理器与预处理指令</a:t>
              </a: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949565" y="1820863"/>
              <a:ext cx="520552" cy="519261"/>
              <a:chOff x="1984929" y="5010002"/>
              <a:chExt cx="520552" cy="519261"/>
            </a:xfrm>
          </p:grpSpPr>
          <p:sp>
            <p:nvSpPr>
              <p:cNvPr id="31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2807088" y="4049382"/>
            <a:ext cx="6625551" cy="519261"/>
            <a:chOff x="2829253" y="3459163"/>
            <a:chExt cx="6625551" cy="519261"/>
          </a:xfrm>
        </p:grpSpPr>
        <p:sp>
          <p:nvSpPr>
            <p:cNvPr id="9" name="自选图形 7"/>
            <p:cNvSpPr>
              <a:spLocks noChangeArrowheads="1"/>
            </p:cNvSpPr>
            <p:nvPr/>
          </p:nvSpPr>
          <p:spPr bwMode="gray">
            <a:xfrm>
              <a:off x="3250353" y="3459163"/>
              <a:ext cx="6204451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宏定义与宏替换</a:t>
              </a: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2829253" y="3459163"/>
              <a:ext cx="520552" cy="519261"/>
              <a:chOff x="1984929" y="5010002"/>
              <a:chExt cx="520552" cy="519261"/>
            </a:xfrm>
          </p:grpSpPr>
          <p:sp>
            <p:nvSpPr>
              <p:cNvPr id="36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3261146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预处理器与预处理指令</a:t>
            </a:r>
          </a:p>
        </p:txBody>
      </p:sp>
      <p:sp>
        <p:nvSpPr>
          <p:cNvPr id="6" name="TextBox 7"/>
          <p:cNvSpPr txBox="1"/>
          <p:nvPr/>
        </p:nvSpPr>
        <p:spPr>
          <a:xfrm>
            <a:off x="1629916" y="1196752"/>
            <a:ext cx="8137525" cy="521788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5715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tabLst>
                <a:tab pos="542925" algn="l"/>
              </a:tabLst>
              <a:defRPr/>
            </a:pPr>
            <a:r>
              <a:rPr lang="en-US" altLang="zh-CN" sz="2800" b="1" smtClean="0">
                <a:solidFill>
                  <a:srgbClr val="FF0000"/>
                </a:solidFill>
                <a:latin typeface="Consolas" panose="020B0609020204030204" pitchFamily="49" charset="0"/>
              </a:rPr>
              <a:t>#include </a:t>
            </a:r>
            <a:r>
              <a:rPr lang="en-US" altLang="zh-CN" sz="2800" b="1" smtClean="0">
                <a:latin typeface="Consolas" panose="020B0609020204030204" pitchFamily="49" charset="0"/>
              </a:rPr>
              <a:t>&lt;stdio.h&gt;</a:t>
            </a:r>
          </a:p>
          <a:p>
            <a:pPr>
              <a:tabLst>
                <a:tab pos="542925" algn="l"/>
              </a:tabLst>
              <a:defRPr/>
            </a:pPr>
            <a:endParaRPr lang="en-US" altLang="zh-CN" sz="2800" b="1" smtClean="0">
              <a:latin typeface="Consolas" panose="020B0609020204030204" pitchFamily="49" charset="0"/>
            </a:endParaRPr>
          </a:p>
          <a:p>
            <a:pPr>
              <a:tabLst>
                <a:tab pos="542925" algn="l"/>
              </a:tabLst>
              <a:defRPr/>
            </a:pPr>
            <a:r>
              <a:rPr lang="en-US" altLang="zh-CN" sz="2800" b="1" smtClean="0">
                <a:latin typeface="Consolas" panose="020B0609020204030204" pitchFamily="49" charset="0"/>
              </a:rPr>
              <a:t>void sayHello(void)</a:t>
            </a:r>
          </a:p>
          <a:p>
            <a:pPr>
              <a:tabLst>
                <a:tab pos="542925" algn="l"/>
              </a:tabLst>
              <a:defRPr/>
            </a:pPr>
            <a:r>
              <a:rPr lang="en-US" altLang="zh-CN" sz="2800" b="1" smtClean="0">
                <a:latin typeface="Consolas" panose="020B0609020204030204" pitchFamily="49" charset="0"/>
              </a:rPr>
              <a:t>{ </a:t>
            </a:r>
          </a:p>
          <a:p>
            <a:pPr>
              <a:tabLst>
                <a:tab pos="542925" algn="l"/>
              </a:tabLst>
              <a:defRPr/>
            </a:pPr>
            <a:r>
              <a:rPr lang="en-US" altLang="zh-CN" sz="2800" b="1" smtClean="0">
                <a:latin typeface="Consolas" panose="020B0609020204030204" pitchFamily="49" charset="0"/>
              </a:rPr>
              <a:t> </a:t>
            </a:r>
            <a:r>
              <a:rPr lang="zh-CN" altLang="en-US" sz="2800" b="1" smtClean="0">
                <a:latin typeface="Consolas" panose="020B0609020204030204" pitchFamily="49" charset="0"/>
              </a:rPr>
              <a:t>　 </a:t>
            </a:r>
            <a:r>
              <a:rPr lang="en-US" altLang="zh-CN" sz="2800" b="1" smtClean="0">
                <a:latin typeface="Consolas" panose="020B0609020204030204" pitchFamily="49" charset="0"/>
              </a:rPr>
              <a:t>printf("Hello World!\n");</a:t>
            </a:r>
          </a:p>
          <a:p>
            <a:pPr>
              <a:tabLst>
                <a:tab pos="542925" algn="l"/>
              </a:tabLst>
              <a:defRPr/>
            </a:pPr>
            <a:r>
              <a:rPr lang="en-US" altLang="zh-CN" sz="2800" b="1" smtClean="0">
                <a:latin typeface="Consolas" panose="020B0609020204030204" pitchFamily="49" charset="0"/>
              </a:rPr>
              <a:t>} </a:t>
            </a:r>
          </a:p>
          <a:p>
            <a:pPr>
              <a:tabLst>
                <a:tab pos="542925" algn="l"/>
              </a:tabLst>
              <a:defRPr/>
            </a:pPr>
            <a:endParaRPr lang="en-US" altLang="zh-CN" sz="2800" b="1" smtClean="0">
              <a:latin typeface="Consolas" panose="020B0609020204030204" pitchFamily="49" charset="0"/>
            </a:endParaRPr>
          </a:p>
          <a:p>
            <a:pPr>
              <a:tabLst>
                <a:tab pos="542925" algn="l"/>
              </a:tabLst>
              <a:defRPr/>
            </a:pPr>
            <a:r>
              <a:rPr lang="en-US" altLang="zh-CN" sz="2800" b="1" smtClean="0">
                <a:latin typeface="Consolas" panose="020B0609020204030204" pitchFamily="49" charset="0"/>
              </a:rPr>
              <a:t>int main(void)</a:t>
            </a:r>
          </a:p>
          <a:p>
            <a:pPr>
              <a:tabLst>
                <a:tab pos="542925" algn="l"/>
              </a:tabLst>
              <a:defRPr/>
            </a:pPr>
            <a:r>
              <a:rPr lang="en-US" altLang="zh-CN" sz="2800" b="1" smtClean="0">
                <a:latin typeface="Consolas" panose="020B0609020204030204" pitchFamily="49" charset="0"/>
              </a:rPr>
              <a:t>{</a:t>
            </a:r>
          </a:p>
          <a:p>
            <a:pPr>
              <a:tabLst>
                <a:tab pos="542925" algn="l"/>
              </a:tabLst>
              <a:defRPr/>
            </a:pPr>
            <a:r>
              <a:rPr lang="en-US" altLang="zh-CN" sz="2800" b="1" smtClean="0">
                <a:latin typeface="Consolas" panose="020B0609020204030204" pitchFamily="49" charset="0"/>
              </a:rPr>
              <a:t>    sayHello();</a:t>
            </a:r>
          </a:p>
          <a:p>
            <a:pPr>
              <a:tabLst>
                <a:tab pos="542925" algn="l"/>
              </a:tabLst>
              <a:defRPr/>
            </a:pPr>
            <a:r>
              <a:rPr lang="en-US" altLang="zh-CN" sz="2800" b="1" smtClean="0">
                <a:latin typeface="Consolas" panose="020B0609020204030204" pitchFamily="49" charset="0"/>
              </a:rPr>
              <a:t>    return 0;</a:t>
            </a:r>
          </a:p>
          <a:p>
            <a:pPr>
              <a:tabLst>
                <a:tab pos="542925" algn="l"/>
              </a:tabLst>
              <a:defRPr/>
            </a:pPr>
            <a:r>
              <a:rPr lang="en-US" altLang="zh-CN" sz="2800" b="1" smtClean="0">
                <a:latin typeface="Consolas" panose="020B0609020204030204" pitchFamily="49" charset="0"/>
              </a:rPr>
              <a:t>} </a:t>
            </a:r>
            <a:endParaRPr lang="en-US" altLang="zh-CN" sz="28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1740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预处理器与预处理指令</a:t>
            </a:r>
          </a:p>
        </p:txBody>
      </p:sp>
      <p:sp>
        <p:nvSpPr>
          <p:cNvPr id="7" name="内容占位符 3"/>
          <p:cNvSpPr>
            <a:spLocks noGrp="1"/>
          </p:cNvSpPr>
          <p:nvPr>
            <p:ph idx="1"/>
          </p:nvPr>
        </p:nvSpPr>
        <p:spPr>
          <a:xfrm>
            <a:off x="1174862" y="925498"/>
            <a:ext cx="9570714" cy="1207358"/>
          </a:xfrm>
        </p:spPr>
        <p:txBody>
          <a:bodyPr/>
          <a:lstStyle/>
          <a:p>
            <a:pPr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预处理是在编译前所作的一项工作，一般预处理命令行都是以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开头的。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862" y="1784408"/>
            <a:ext cx="9856726" cy="481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23030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/>
              <a:t>本讲授课</a:t>
            </a:r>
            <a:r>
              <a:rPr lang="zh-CN" altLang="en-US" b="1"/>
              <a:t>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9461476" y="3058958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285337" y="4973717"/>
            <a:ext cx="6804072" cy="519261"/>
            <a:chOff x="2650732" y="4266333"/>
            <a:chExt cx="6804072" cy="519261"/>
          </a:xfrm>
        </p:grpSpPr>
        <p:sp>
          <p:nvSpPr>
            <p:cNvPr id="8" name="自选图形 6"/>
            <p:cNvSpPr>
              <a:spLocks noChangeArrowheads="1"/>
            </p:cNvSpPr>
            <p:nvPr/>
          </p:nvSpPr>
          <p:spPr bwMode="gray">
            <a:xfrm>
              <a:off x="3089529" y="4271963"/>
              <a:ext cx="636527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条件编译</a:t>
              </a: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650732" y="4266333"/>
              <a:ext cx="520552" cy="519261"/>
              <a:chOff x="2650732" y="4266333"/>
              <a:chExt cx="520552" cy="519261"/>
            </a:xfrm>
          </p:grpSpPr>
          <p:sp>
            <p:nvSpPr>
              <p:cNvPr id="21" name="椭圆 39"/>
              <p:cNvSpPr>
                <a:spLocks noChangeArrowheads="1"/>
              </p:cNvSpPr>
              <p:nvPr/>
            </p:nvSpPr>
            <p:spPr bwMode="gray">
              <a:xfrm>
                <a:off x="2650732" y="4266333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椭圆 40"/>
              <p:cNvSpPr>
                <a:spLocks noChangeArrowheads="1"/>
              </p:cNvSpPr>
              <p:nvPr/>
            </p:nvSpPr>
            <p:spPr bwMode="gray">
              <a:xfrm>
                <a:off x="2700628" y="4319133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椭圆 35"/>
              <p:cNvSpPr>
                <a:spLocks noChangeArrowheads="1"/>
              </p:cNvSpPr>
              <p:nvPr/>
            </p:nvSpPr>
            <p:spPr bwMode="gray">
              <a:xfrm>
                <a:off x="2723815" y="4319134"/>
                <a:ext cx="396525" cy="413660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D67E1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37"/>
              <p:cNvSpPr>
                <a:spLocks noChangeArrowheads="1"/>
              </p:cNvSpPr>
              <p:nvPr/>
            </p:nvSpPr>
            <p:spPr bwMode="gray">
              <a:xfrm>
                <a:off x="2727616" y="4332207"/>
                <a:ext cx="370916" cy="387511"/>
              </a:xfrm>
              <a:prstGeom prst="ellipse">
                <a:avLst/>
              </a:prstGeom>
              <a:gradFill rotWithShape="1">
                <a:gsLst>
                  <a:gs pos="0">
                    <a:srgbClr val="8D67E1"/>
                  </a:gs>
                  <a:gs pos="100000">
                    <a:srgbClr val="45326D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2758752" y="3028146"/>
            <a:ext cx="6662355" cy="519261"/>
            <a:chOff x="2599883" y="2579539"/>
            <a:chExt cx="6662355" cy="519261"/>
          </a:xfrm>
        </p:grpSpPr>
        <p:sp>
          <p:nvSpPr>
            <p:cNvPr id="10" name="自选图形 8"/>
            <p:cNvSpPr>
              <a:spLocks noChangeArrowheads="1"/>
            </p:cNvSpPr>
            <p:nvPr/>
          </p:nvSpPr>
          <p:spPr bwMode="gray">
            <a:xfrm>
              <a:off x="3047206" y="2590800"/>
              <a:ext cx="6215032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文件包含</a:t>
              </a: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2599883" y="2579539"/>
              <a:ext cx="520552" cy="519261"/>
              <a:chOff x="1984929" y="5010002"/>
              <a:chExt cx="520552" cy="519261"/>
            </a:xfrm>
          </p:grpSpPr>
          <p:sp>
            <p:nvSpPr>
              <p:cNvPr id="26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6" name="组合 45"/>
          <p:cNvGrpSpPr/>
          <p:nvPr/>
        </p:nvGrpSpPr>
        <p:grpSpPr>
          <a:xfrm>
            <a:off x="2285337" y="2068560"/>
            <a:ext cx="6639749" cy="519261"/>
            <a:chOff x="1949565" y="1820863"/>
            <a:chExt cx="6639749" cy="519261"/>
          </a:xfrm>
        </p:grpSpPr>
        <p:sp>
          <p:nvSpPr>
            <p:cNvPr id="11" name="自选图形 9"/>
            <p:cNvSpPr>
              <a:spLocks noChangeArrowheads="1"/>
            </p:cNvSpPr>
            <p:nvPr/>
          </p:nvSpPr>
          <p:spPr bwMode="gray">
            <a:xfrm>
              <a:off x="2353121" y="1820863"/>
              <a:ext cx="6236193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预处理器与预处理指令</a:t>
              </a: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949565" y="1820863"/>
              <a:ext cx="520552" cy="519261"/>
              <a:chOff x="1984929" y="5010002"/>
              <a:chExt cx="520552" cy="519261"/>
            </a:xfrm>
          </p:grpSpPr>
          <p:sp>
            <p:nvSpPr>
              <p:cNvPr id="31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2807088" y="4049382"/>
            <a:ext cx="6625551" cy="519261"/>
            <a:chOff x="2829253" y="3459163"/>
            <a:chExt cx="6625551" cy="519261"/>
          </a:xfrm>
        </p:grpSpPr>
        <p:sp>
          <p:nvSpPr>
            <p:cNvPr id="9" name="自选图形 7"/>
            <p:cNvSpPr>
              <a:spLocks noChangeArrowheads="1"/>
            </p:cNvSpPr>
            <p:nvPr/>
          </p:nvSpPr>
          <p:spPr bwMode="gray">
            <a:xfrm>
              <a:off x="3250353" y="3459163"/>
              <a:ext cx="6204451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宏定义与宏替换</a:t>
              </a: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2829253" y="3459163"/>
              <a:ext cx="520552" cy="519261"/>
              <a:chOff x="1984929" y="5010002"/>
              <a:chExt cx="520552" cy="519261"/>
            </a:xfrm>
          </p:grpSpPr>
          <p:sp>
            <p:nvSpPr>
              <p:cNvPr id="36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0564433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文件包含</a:t>
            </a:r>
          </a:p>
        </p:txBody>
      </p:sp>
      <p:sp>
        <p:nvSpPr>
          <p:cNvPr id="4" name="内容占位符 3"/>
          <p:cNvSpPr txBox="1">
            <a:spLocks/>
          </p:cNvSpPr>
          <p:nvPr/>
        </p:nvSpPr>
        <p:spPr bwMode="auto">
          <a:xfrm>
            <a:off x="1125860" y="908721"/>
            <a:ext cx="9793088" cy="4104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  <a:defRPr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#include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预处理指令在标准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语言中的形式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800"/>
              </a:spcBef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  <a:defRPr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#include &lt;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文件名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&gt;</a:t>
            </a:r>
          </a:p>
          <a:p>
            <a:pPr lvl="1">
              <a:spcBef>
                <a:spcPts val="1800"/>
              </a:spcBef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  <a:defRPr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#include “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文件名”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  <a:defRPr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两种形式的使用区别：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800"/>
              </a:spcBef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  <a:defRPr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#include &lt;stdio.h&gt;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将导致预处理器根据实现定义的搜索规则从某个</a:t>
            </a:r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指定的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文件夹寻找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stdio.h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800"/>
              </a:spcBef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  <a:defRPr/>
            </a:pP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#include “stdio.h”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将导致预处理器先搜索</a:t>
            </a:r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本地文件夹，如果未找到的话，在去系统路径查找。</a:t>
            </a:r>
          </a:p>
          <a:p>
            <a:pPr lvl="1"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  <a:defRPr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15927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文件包含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5590355" y="1384685"/>
            <a:ext cx="6218685" cy="1384995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HAKUYOXingShu3500" pitchFamily="2" charset="-122"/>
              </a:rPr>
              <a:t>注意：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“”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HAKUYOXingShu3500" pitchFamily="2" charset="-122"/>
              </a:rPr>
              <a:t>形式引用编程人员自己写</a:t>
            </a:r>
            <a:r>
              <a:rPr lang="zh-CN" altLang="en-US" sz="28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HAKUYOXingShu3500" pitchFamily="2" charset="-122"/>
              </a:rPr>
              <a:t>的头文件</a:t>
            </a:r>
            <a:endParaRPr lang="en-US" altLang="zh-CN" sz="280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HAKUYOXingShu3500" pitchFamily="2" charset="-122"/>
            </a:endParaRPr>
          </a:p>
          <a:p>
            <a:pPr eaLnBrk="1" hangingPunct="1">
              <a:defRPr/>
            </a:pPr>
            <a:r>
              <a:rPr lang="en-US" altLang="zh-CN" sz="28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HAKUYOXingShu3500" pitchFamily="2" charset="-122"/>
              </a:rPr>
              <a:t>           </a:t>
            </a:r>
            <a:r>
              <a:rPr lang="zh-CN" altLang="en-US" sz="28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HAKUYOXingShu3500" pitchFamily="2" charset="-122"/>
              </a:rPr>
              <a:t>而 </a:t>
            </a:r>
            <a:r>
              <a:rPr lang="en-US" altLang="zh-CN" sz="28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HAKUYOXingShu3500" pitchFamily="2" charset="-122"/>
              </a:rPr>
              <a:t>&lt;&gt;</a:t>
            </a:r>
            <a:r>
              <a:rPr lang="en-US" altLang="zh-CN" sz="28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HAKUYOXingShu3500" pitchFamily="2" charset="-122"/>
              </a:rPr>
              <a:t> </a:t>
            </a:r>
            <a:r>
              <a:rPr lang="zh-CN" altLang="en-US" sz="28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HAKUYOXingShu3500" pitchFamily="2" charset="-122"/>
              </a:rPr>
              <a:t>形式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HAKUYOXingShu3500" pitchFamily="2" charset="-122"/>
              </a:rPr>
              <a:t>引用标准实现文件</a:t>
            </a: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HAKUYOXingShu3500" pitchFamily="2" charset="-122"/>
              </a:rPr>
              <a:t>.</a:t>
            </a:r>
            <a:endParaRPr lang="en-US" altLang="zh-CN" sz="28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HAKUYOXingShu3500" pitchFamily="2" charset="-122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589349" y="3414479"/>
            <a:ext cx="5905664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注意：在</a:t>
            </a:r>
            <a:r>
              <a:rPr lang="en-US" altLang="zh-CN" sz="2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&lt;&gt;</a:t>
            </a:r>
            <a:r>
              <a:rPr lang="zh-CN" altLang="en-US" sz="2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或“”中，有时会</a:t>
            </a:r>
            <a:r>
              <a:rPr lang="zh-CN" altLang="en-US" sz="28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出现  </a:t>
            </a:r>
            <a:r>
              <a:rPr lang="en-US" altLang="zh-CN" sz="28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..  </a:t>
            </a:r>
            <a:r>
              <a:rPr lang="zh-CN" altLang="en-US" sz="28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或  </a:t>
            </a:r>
            <a:r>
              <a:rPr lang="en-US" altLang="zh-CN" sz="28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r>
              <a:rPr lang="zh-CN" altLang="en-US" sz="28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8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2" eaLnBrk="1" hangingPunct="1"/>
            <a:r>
              <a:rPr lang="en-US" altLang="zh-CN" sz="28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..  </a:t>
            </a:r>
            <a:r>
              <a:rPr lang="zh-CN" altLang="en-US" sz="28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表示</a:t>
            </a:r>
            <a:r>
              <a:rPr lang="zh-CN" altLang="en-US" sz="2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当前文件所在目录的上一级目录；</a:t>
            </a:r>
            <a:endParaRPr lang="en-US" altLang="zh-CN" sz="28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2" eaLnBrk="1" hangingPunct="1"/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 </a:t>
            </a:r>
            <a:r>
              <a:rPr lang="en-US" altLang="zh-CN" sz="28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8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则</a:t>
            </a:r>
            <a:r>
              <a:rPr lang="zh-CN" altLang="en-US" sz="2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表示当前文件所在的目录</a:t>
            </a:r>
            <a:r>
              <a:rPr lang="en-US" altLang="zh-CN" sz="2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037" y="980728"/>
            <a:ext cx="4234279" cy="544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14130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4" presetClass="emph" presetSubtype="0" fill="hold" grpId="1" nodeType="afterEffect">
                                  <p:stCondLst>
                                    <p:cond delay="5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34" presetClass="emph" presetSubtype="0" fill="hold" grpId="1" nodeType="afterEffect">
                                  <p:stCondLst>
                                    <p:cond delay="5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/>
              <a:t>本讲授课</a:t>
            </a:r>
            <a:r>
              <a:rPr lang="zh-CN" altLang="en-US" b="1"/>
              <a:t>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9495121" y="4078750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285337" y="4973717"/>
            <a:ext cx="6804072" cy="519261"/>
            <a:chOff x="2650732" y="4266333"/>
            <a:chExt cx="6804072" cy="519261"/>
          </a:xfrm>
        </p:grpSpPr>
        <p:sp>
          <p:nvSpPr>
            <p:cNvPr id="8" name="自选图形 6"/>
            <p:cNvSpPr>
              <a:spLocks noChangeArrowheads="1"/>
            </p:cNvSpPr>
            <p:nvPr/>
          </p:nvSpPr>
          <p:spPr bwMode="gray">
            <a:xfrm>
              <a:off x="3089529" y="4271963"/>
              <a:ext cx="636527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条件编译</a:t>
              </a: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650732" y="4266333"/>
              <a:ext cx="520552" cy="519261"/>
              <a:chOff x="2650732" y="4266333"/>
              <a:chExt cx="520552" cy="519261"/>
            </a:xfrm>
          </p:grpSpPr>
          <p:sp>
            <p:nvSpPr>
              <p:cNvPr id="21" name="椭圆 39"/>
              <p:cNvSpPr>
                <a:spLocks noChangeArrowheads="1"/>
              </p:cNvSpPr>
              <p:nvPr/>
            </p:nvSpPr>
            <p:spPr bwMode="gray">
              <a:xfrm>
                <a:off x="2650732" y="4266333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椭圆 40"/>
              <p:cNvSpPr>
                <a:spLocks noChangeArrowheads="1"/>
              </p:cNvSpPr>
              <p:nvPr/>
            </p:nvSpPr>
            <p:spPr bwMode="gray">
              <a:xfrm>
                <a:off x="2700628" y="4319133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椭圆 35"/>
              <p:cNvSpPr>
                <a:spLocks noChangeArrowheads="1"/>
              </p:cNvSpPr>
              <p:nvPr/>
            </p:nvSpPr>
            <p:spPr bwMode="gray">
              <a:xfrm>
                <a:off x="2723815" y="4319134"/>
                <a:ext cx="396525" cy="413660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D67E1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37"/>
              <p:cNvSpPr>
                <a:spLocks noChangeArrowheads="1"/>
              </p:cNvSpPr>
              <p:nvPr/>
            </p:nvSpPr>
            <p:spPr bwMode="gray">
              <a:xfrm>
                <a:off x="2727616" y="4332207"/>
                <a:ext cx="370916" cy="387511"/>
              </a:xfrm>
              <a:prstGeom prst="ellipse">
                <a:avLst/>
              </a:prstGeom>
              <a:gradFill rotWithShape="1">
                <a:gsLst>
                  <a:gs pos="0">
                    <a:srgbClr val="8D67E1"/>
                  </a:gs>
                  <a:gs pos="100000">
                    <a:srgbClr val="45326D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2758752" y="3028146"/>
            <a:ext cx="6662355" cy="519261"/>
            <a:chOff x="2599883" y="2579539"/>
            <a:chExt cx="6662355" cy="519261"/>
          </a:xfrm>
        </p:grpSpPr>
        <p:sp>
          <p:nvSpPr>
            <p:cNvPr id="10" name="自选图形 8"/>
            <p:cNvSpPr>
              <a:spLocks noChangeArrowheads="1"/>
            </p:cNvSpPr>
            <p:nvPr/>
          </p:nvSpPr>
          <p:spPr bwMode="gray">
            <a:xfrm>
              <a:off x="3047206" y="2590800"/>
              <a:ext cx="6215032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文件包含</a:t>
              </a: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2599883" y="2579539"/>
              <a:ext cx="520552" cy="519261"/>
              <a:chOff x="1984929" y="5010002"/>
              <a:chExt cx="520552" cy="519261"/>
            </a:xfrm>
          </p:grpSpPr>
          <p:sp>
            <p:nvSpPr>
              <p:cNvPr id="26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6" name="组合 45"/>
          <p:cNvGrpSpPr/>
          <p:nvPr/>
        </p:nvGrpSpPr>
        <p:grpSpPr>
          <a:xfrm>
            <a:off x="2285337" y="2068560"/>
            <a:ext cx="6639749" cy="519261"/>
            <a:chOff x="1949565" y="1820863"/>
            <a:chExt cx="6639749" cy="519261"/>
          </a:xfrm>
        </p:grpSpPr>
        <p:sp>
          <p:nvSpPr>
            <p:cNvPr id="11" name="自选图形 9"/>
            <p:cNvSpPr>
              <a:spLocks noChangeArrowheads="1"/>
            </p:cNvSpPr>
            <p:nvPr/>
          </p:nvSpPr>
          <p:spPr bwMode="gray">
            <a:xfrm>
              <a:off x="2353121" y="1820863"/>
              <a:ext cx="6236193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预处理器与预处理指令</a:t>
              </a: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949565" y="1820863"/>
              <a:ext cx="520552" cy="519261"/>
              <a:chOff x="1984929" y="5010002"/>
              <a:chExt cx="520552" cy="519261"/>
            </a:xfrm>
          </p:grpSpPr>
          <p:sp>
            <p:nvSpPr>
              <p:cNvPr id="31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2807088" y="4049382"/>
            <a:ext cx="6625551" cy="519261"/>
            <a:chOff x="2829253" y="3459163"/>
            <a:chExt cx="6625551" cy="519261"/>
          </a:xfrm>
        </p:grpSpPr>
        <p:sp>
          <p:nvSpPr>
            <p:cNvPr id="9" name="自选图形 7"/>
            <p:cNvSpPr>
              <a:spLocks noChangeArrowheads="1"/>
            </p:cNvSpPr>
            <p:nvPr/>
          </p:nvSpPr>
          <p:spPr bwMode="gray">
            <a:xfrm>
              <a:off x="3250353" y="3459163"/>
              <a:ext cx="6204451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宏定义与宏替换</a:t>
              </a: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2829253" y="3459163"/>
              <a:ext cx="520552" cy="519261"/>
              <a:chOff x="1984929" y="5010002"/>
              <a:chExt cx="520552" cy="519261"/>
            </a:xfrm>
          </p:grpSpPr>
          <p:sp>
            <p:nvSpPr>
              <p:cNvPr id="36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7761070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宏定义与宏替换</a:t>
            </a:r>
          </a:p>
        </p:txBody>
      </p:sp>
      <p:sp>
        <p:nvSpPr>
          <p:cNvPr id="4" name="内容占位符 3"/>
          <p:cNvSpPr txBox="1">
            <a:spLocks/>
          </p:cNvSpPr>
          <p:nvPr/>
        </p:nvSpPr>
        <p:spPr bwMode="auto">
          <a:xfrm>
            <a:off x="1125860" y="1196604"/>
            <a:ext cx="9577064" cy="4104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  <a:defRPr/>
            </a:pP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#define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预处理指令把标识符</a:t>
            </a:r>
            <a:r>
              <a:rPr lang="zh-CN" altLang="en-US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定义为宏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，出现宏的地方被视为对</a:t>
            </a:r>
            <a:r>
              <a:rPr lang="zh-CN" altLang="en-US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宏的调用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3200" smtClean="0">
              <a:latin typeface="微软雅黑" pitchFamily="34" charset="-122"/>
              <a:ea typeface="微软雅黑" pitchFamily="34" charset="-122"/>
            </a:endParaRPr>
          </a:p>
          <a:p>
            <a:pPr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  <a:defRPr/>
            </a:pPr>
            <a:r>
              <a:rPr lang="en-US" altLang="zh-CN" sz="3200" smtClean="0">
                <a:latin typeface="微软雅黑" pitchFamily="34" charset="-122"/>
                <a:ea typeface="微软雅黑" pitchFamily="34" charset="-122"/>
              </a:rPr>
              <a:t>#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define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可以定义的两类宏：</a:t>
            </a:r>
          </a:p>
          <a:p>
            <a:pPr lvl="1">
              <a:spcBef>
                <a:spcPts val="18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  <a:defRPr/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对象宏（无参宏）</a:t>
            </a:r>
          </a:p>
          <a:p>
            <a:pPr lvl="1">
              <a:spcBef>
                <a:spcPts val="180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  <a:defRPr/>
            </a:pPr>
            <a:r>
              <a:rPr lang="zh-CN" altLang="en-US" sz="2800">
                <a:latin typeface="微软雅黑" pitchFamily="34" charset="-122"/>
                <a:ea typeface="微软雅黑" pitchFamily="34" charset="-122"/>
              </a:rPr>
              <a:t>函数式宏（有参宏）</a:t>
            </a:r>
          </a:p>
          <a:p>
            <a:pPr lvl="1"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  <a:defRPr/>
            </a:pP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20261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宏定义与宏替换</a:t>
            </a:r>
          </a:p>
        </p:txBody>
      </p:sp>
      <p:sp>
        <p:nvSpPr>
          <p:cNvPr id="4" name="内容占位符 3"/>
          <p:cNvSpPr txBox="1">
            <a:spLocks/>
          </p:cNvSpPr>
          <p:nvPr/>
        </p:nvSpPr>
        <p:spPr bwMode="auto">
          <a:xfrm>
            <a:off x="981844" y="980728"/>
            <a:ext cx="10585176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  <a:defRPr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简单对象式宏定义的格式如下：</a:t>
            </a:r>
          </a:p>
          <a:p>
            <a:pPr marL="0" lvl="1" indent="0"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100000"/>
              <a:buNone/>
              <a:defRPr/>
            </a:pPr>
            <a:r>
              <a:rPr lang="en-US" altLang="zh-CN" sz="2800" smtClean="0">
                <a:latin typeface="微软雅黑" pitchFamily="34" charset="-122"/>
                <a:ea typeface="微软雅黑" pitchFamily="34" charset="-122"/>
              </a:rPr>
              <a:t>		</a:t>
            </a:r>
            <a:r>
              <a:rPr lang="en-US" altLang="zh-CN" sz="2800" b="1" smtClean="0">
                <a:latin typeface="微软雅黑" pitchFamily="34" charset="-122"/>
                <a:ea typeface="微软雅黑" pitchFamily="34" charset="-122"/>
              </a:rPr>
              <a:t>#</a:t>
            </a:r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define  </a:t>
            </a:r>
            <a:r>
              <a:rPr lang="en-US" altLang="zh-CN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宏名  </a:t>
            </a:r>
            <a:r>
              <a:rPr lang="zh-CN" altLang="en-US" sz="2800" b="1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宏</a:t>
            </a:r>
            <a:r>
              <a:rPr lang="zh-CN" altLang="en-US" sz="2800" b="1" smtClean="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体</a:t>
            </a:r>
            <a:endParaRPr lang="zh-CN" altLang="en-US" sz="3200" b="1">
              <a:solidFill>
                <a:schemeClr val="bg2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  <a:defRPr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注意：</a:t>
            </a:r>
          </a:p>
          <a:p>
            <a:pPr lvl="1"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把源程序中相应宏名用宏体予以替换，仅是简单的字符串替换，没有任何语法正确性检查</a:t>
            </a:r>
          </a:p>
          <a:p>
            <a:pPr lvl="1"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宏名和宏体之间有空格，宏体最好用括号括起来</a:t>
            </a:r>
          </a:p>
          <a:p>
            <a:pPr lvl="1"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  <a:defRPr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宏定义与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main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函数在同一层，行末没有分号，如有分号将会被一起替换</a:t>
            </a:r>
          </a:p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  <a:defRPr/>
            </a:pP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#undef 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命令则可以取消宏定义，其形式如下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3200" smtClean="0">
              <a:latin typeface="微软雅黑" pitchFamily="34" charset="-122"/>
              <a:ea typeface="微软雅黑" pitchFamily="34" charset="-122"/>
            </a:endParaRPr>
          </a:p>
          <a:p>
            <a:pPr marL="0" lvl="1" indent="0"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None/>
              <a:defRPr/>
            </a:pPr>
            <a:r>
              <a:rPr lang="en-US" altLang="zh-CN" sz="2800" smtClean="0"/>
              <a:t>		</a:t>
            </a:r>
            <a:r>
              <a:rPr lang="en-US" altLang="zh-CN" sz="2800" b="1" smtClean="0">
                <a:latin typeface="微软雅黑" pitchFamily="34" charset="-122"/>
                <a:ea typeface="微软雅黑" pitchFamily="34" charset="-122"/>
              </a:rPr>
              <a:t>#</a:t>
            </a:r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undef   </a:t>
            </a:r>
            <a:r>
              <a:rPr lang="zh-CN" altLang="en-US" sz="28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宏</a:t>
            </a:r>
            <a:r>
              <a:rPr lang="zh-CN" altLang="en-US" sz="28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名</a:t>
            </a:r>
            <a:endParaRPr lang="en-US" altLang="zh-CN" sz="28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712698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宏定义与宏替换</a:t>
            </a:r>
            <a:endParaRPr lang="zh-CN" altLang="en-US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269876" y="1133053"/>
            <a:ext cx="9130728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阅读下面的宏定义语句，指出宏名与宏体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 lvl="2"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 sz="2400" b="1" smtClean="0">
                <a:latin typeface="Consolas" pitchFamily="49" charset="0"/>
                <a:cs typeface="Consolas" pitchFamily="49" charset="0"/>
              </a:rPr>
              <a:t>#define UNIVERSITY 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"</a:t>
            </a:r>
            <a:r>
              <a:rPr lang="en-US" altLang="zh-CN" sz="2400" b="1" smtClean="0">
                <a:latin typeface="Consolas" pitchFamily="49" charset="0"/>
                <a:cs typeface="Consolas" pitchFamily="49" charset="0"/>
              </a:rPr>
              <a:t>He Bei Normal University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"</a:t>
            </a:r>
            <a:r>
              <a:rPr lang="en-US" altLang="zh-CN" sz="2400" b="1" smtClean="0">
                <a:latin typeface="Consolas" pitchFamily="49" charset="0"/>
                <a:cs typeface="Consolas" pitchFamily="49" charset="0"/>
              </a:rPr>
              <a:t> </a:t>
            </a:r>
          </a:p>
          <a:p>
            <a:pPr lvl="2"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 sz="2400" b="1" smtClean="0">
                <a:latin typeface="Consolas" pitchFamily="49" charset="0"/>
                <a:cs typeface="Consolas" pitchFamily="49" charset="0"/>
              </a:rPr>
              <a:t>#define PI 3.145926f</a:t>
            </a:r>
          </a:p>
          <a:p>
            <a:pPr lvl="2"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 sz="2400" b="1" smtClean="0">
                <a:latin typeface="Consolas" pitchFamily="49" charset="0"/>
                <a:cs typeface="Consolas" pitchFamily="49" charset="0"/>
              </a:rPr>
              <a:t>#define ERRMSG 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"</a:t>
            </a:r>
            <a:r>
              <a:rPr lang="en-US" altLang="zh-CN" sz="2400" b="1" smtClean="0">
                <a:latin typeface="Consolas" pitchFamily="49" charset="0"/>
                <a:cs typeface="Consolas" pitchFamily="49" charset="0"/>
              </a:rPr>
              <a:t>Error: %s\n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"</a:t>
            </a:r>
            <a:endParaRPr lang="en-US" altLang="zh-CN" sz="2400" b="1" smtClean="0">
              <a:latin typeface="Consolas" pitchFamily="49" charset="0"/>
              <a:cs typeface="Consolas" pitchFamily="49" charset="0"/>
            </a:endParaRPr>
          </a:p>
          <a:p>
            <a:pPr lvl="2"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 sz="2400" b="1" smtClean="0">
                <a:latin typeface="Consolas" pitchFamily="49" charset="0"/>
                <a:cs typeface="Consolas" pitchFamily="49" charset="0"/>
              </a:rPr>
              <a:t>#define BLOCK_SIZE 0x100</a:t>
            </a:r>
          </a:p>
          <a:p>
            <a:pPr lvl="2"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 sz="2400" b="1" smtClean="0">
                <a:latin typeface="Consolas" pitchFamily="49" charset="0"/>
                <a:cs typeface="Consolas" pitchFamily="49" charset="0"/>
              </a:rPr>
              <a:t>#define TRACK_SIZE (16*BLOCK_SIZE)</a:t>
            </a:r>
          </a:p>
          <a:p>
            <a:pPr lvl="2"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en-US" altLang="zh-CN" sz="2400" b="1" smtClean="0">
                <a:latin typeface="Consolas" pitchFamily="49" charset="0"/>
                <a:cs typeface="Consolas" pitchFamily="49" charset="0"/>
              </a:rPr>
              <a:t>#define AREA   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"</a:t>
            </a:r>
            <a:r>
              <a:rPr lang="en-US" altLang="zh-CN" sz="2400" b="1" smtClean="0">
                <a:latin typeface="Consolas" pitchFamily="49" charset="0"/>
                <a:cs typeface="Consolas" pitchFamily="49" charset="0"/>
              </a:rPr>
              <a:t>2*PI*r</a:t>
            </a:r>
            <a:r>
              <a:rPr lang="en-US" altLang="zh-CN" sz="2400" b="1">
                <a:latin typeface="Consolas" pitchFamily="49" charset="0"/>
                <a:cs typeface="Consolas" pitchFamily="49" charset="0"/>
              </a:rPr>
              <a:t>"</a:t>
            </a:r>
            <a:endParaRPr lang="zh-CN" altLang="en-US" sz="2400" b="1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716212" y="4293096"/>
            <a:ext cx="697048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marL="342900" indent="-342900" eaLnBrk="1" hangingPunct="1">
              <a:buClr>
                <a:schemeClr val="bg2">
                  <a:lumMod val="50000"/>
                </a:schemeClr>
              </a:buClr>
              <a:buFont typeface="Wingdings" pitchFamily="2" charset="2"/>
              <a:buChar char="Ø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宏定义语句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可以嵌套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但</a:t>
            </a:r>
            <a:r>
              <a:rPr lang="zh-CN" altLang="en-US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不能</a:t>
            </a:r>
            <a:r>
              <a:rPr lang="zh-CN" altLang="en-US" sz="24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递归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bg2">
                  <a:lumMod val="50000"/>
                </a:schemeClr>
              </a:buClr>
              <a:buFont typeface="Wingdings" pitchFamily="2" charset="2"/>
              <a:buChar char="Ø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宏名一般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习惯大写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，但这不是语法规定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bg2">
                  <a:lumMod val="50000"/>
                </a:schemeClr>
              </a:buClr>
              <a:buFont typeface="Wingdings" pitchFamily="2" charset="2"/>
              <a:buChar char="Ø"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宏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替换双引号里面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的内容</a:t>
            </a:r>
          </a:p>
        </p:txBody>
      </p:sp>
    </p:spTree>
    <p:extLst>
      <p:ext uri="{BB962C8B-B14F-4D97-AF65-F5344CB8AC3E}">
        <p14:creationId xmlns:p14="http://schemas.microsoft.com/office/powerpoint/2010/main" val="27192210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宏定义与宏替换</a:t>
            </a:r>
            <a:endParaRPr lang="zh-CN" altLang="en-US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624086" y="980728"/>
            <a:ext cx="8862814" cy="561662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 marL="365125" indent="-255588" eaLnBrk="0" hangingPunct="0"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SzPct val="100000"/>
              <a:buFont typeface="Wingdings" pitchFamily="2" charset="2"/>
              <a:buNone/>
            </a:pPr>
            <a:r>
              <a:rPr lang="en-US" altLang="zh-CN" sz="2400" b="1">
                <a:solidFill>
                  <a:schemeClr val="tx1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zh-CN" altLang="en-US" sz="2400" b="1">
                <a:solidFill>
                  <a:schemeClr val="tx1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宏定义的作用域</a:t>
            </a:r>
            <a:endParaRPr lang="en-US" altLang="zh-CN" sz="2400" b="1">
              <a:solidFill>
                <a:schemeClr val="tx1">
                  <a:lumMod val="40000"/>
                  <a:lumOff val="6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eaLnBrk="1" hangingPunct="1">
              <a:lnSpc>
                <a:spcPct val="80000"/>
              </a:lnSpc>
              <a:buSzPct val="100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#</a:t>
            </a:r>
            <a:r>
              <a:rPr lang="en-US" altLang="zh-CN" sz="2400" b="1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define  A  "This is the first macro"</a:t>
            </a:r>
          </a:p>
          <a:p>
            <a:pPr eaLnBrk="1" hangingPunct="1">
              <a:lnSpc>
                <a:spcPct val="80000"/>
              </a:lnSpc>
              <a:buSzPct val="100000"/>
              <a:buFont typeface="Wingdings" pitchFamily="2" charset="2"/>
              <a:buNone/>
            </a:pPr>
            <a:r>
              <a:rPr lang="en-US" altLang="zh-CN" sz="2400" b="1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void  f1(void)</a:t>
            </a:r>
          </a:p>
          <a:p>
            <a:pPr eaLnBrk="1" hangingPunct="1">
              <a:lnSpc>
                <a:spcPct val="80000"/>
              </a:lnSpc>
              <a:buSzPct val="100000"/>
              <a:buFont typeface="Wingdings" pitchFamily="2" charset="2"/>
              <a:buNone/>
            </a:pPr>
            <a:r>
              <a:rPr lang="en-US" altLang="zh-CN" sz="2400" b="1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{</a:t>
            </a:r>
            <a:endParaRPr lang="en-US" altLang="zh-CN" sz="2400" b="1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eaLnBrk="1" hangingPunct="1">
              <a:lnSpc>
                <a:spcPct val="80000"/>
              </a:lnSpc>
              <a:buSzPct val="100000"/>
              <a:buFont typeface="Wingdings" pitchFamily="2" charset="2"/>
              <a:buNone/>
            </a:pPr>
            <a:r>
              <a:rPr lang="en-US" altLang="zh-CN" sz="2400" b="1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printf( “A\n” );</a:t>
            </a:r>
          </a:p>
          <a:p>
            <a:pPr eaLnBrk="1" hangingPunct="1">
              <a:lnSpc>
                <a:spcPct val="80000"/>
              </a:lnSpc>
              <a:buSzPct val="100000"/>
              <a:buFont typeface="Wingdings" pitchFamily="2" charset="2"/>
              <a:buNone/>
            </a:pPr>
            <a:r>
              <a:rPr lang="en-US" altLang="zh-CN" sz="2400" b="1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altLang="zh-CN" sz="2400" b="1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eaLnBrk="1" hangingPunct="1">
              <a:lnSpc>
                <a:spcPct val="80000"/>
              </a:lnSpc>
              <a:buSzPct val="100000"/>
              <a:buFont typeface="Wingdings" pitchFamily="2" charset="2"/>
              <a:buNone/>
            </a:pPr>
            <a:r>
              <a:rPr lang="en-US" altLang="zh-CN" sz="2400" b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#define  B  "This is the second macro"</a:t>
            </a:r>
            <a:r>
              <a:rPr lang="en-US" altLang="zh-CN" sz="2400" b="1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	</a:t>
            </a:r>
            <a:endParaRPr lang="zh-CN" altLang="en-US" sz="2400" b="1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eaLnBrk="1" hangingPunct="1">
              <a:lnSpc>
                <a:spcPct val="80000"/>
              </a:lnSpc>
              <a:buSzPct val="100000"/>
              <a:buFont typeface="Wingdings" pitchFamily="2" charset="2"/>
              <a:buNone/>
            </a:pPr>
            <a:r>
              <a:rPr lang="en-US" altLang="zh-CN" sz="2400" b="1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void  f2(void)</a:t>
            </a:r>
          </a:p>
          <a:p>
            <a:pPr eaLnBrk="1" hangingPunct="1">
              <a:lnSpc>
                <a:spcPct val="80000"/>
              </a:lnSpc>
              <a:buSzPct val="100000"/>
              <a:buFont typeface="Wingdings" pitchFamily="2" charset="2"/>
              <a:buNone/>
            </a:pPr>
            <a:r>
              <a:rPr lang="en-US" altLang="zh-CN" sz="2400" b="1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SzPct val="100000"/>
              <a:buFont typeface="Wingdings" pitchFamily="2" charset="2"/>
              <a:buNone/>
            </a:pPr>
            <a:r>
              <a:rPr lang="en-US" altLang="zh-CN" sz="2400" b="1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printf( </a:t>
            </a:r>
            <a:r>
              <a:rPr lang="en-US" altLang="zh-CN" sz="2400" b="1">
                <a:solidFill>
                  <a:srgbClr val="CA1204"/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) ;		</a:t>
            </a:r>
            <a:endParaRPr lang="zh-CN" altLang="en-US" sz="2400" b="1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eaLnBrk="1" hangingPunct="1">
              <a:lnSpc>
                <a:spcPct val="80000"/>
              </a:lnSpc>
              <a:buSzPct val="100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SzPct val="100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#</a:t>
            </a:r>
            <a:r>
              <a:rPr lang="en-US" altLang="zh-CN" sz="2400" b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undef  </a:t>
            </a:r>
            <a:r>
              <a:rPr lang="en-US" altLang="zh-CN" sz="2400" b="1" smtClean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B</a:t>
            </a:r>
            <a:endParaRPr lang="en-US" altLang="zh-CN" sz="2400" b="1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eaLnBrk="1" hangingPunct="1">
              <a:lnSpc>
                <a:spcPct val="80000"/>
              </a:lnSpc>
              <a:buSzPct val="100000"/>
              <a:buFont typeface="Wingdings" pitchFamily="2" charset="2"/>
              <a:buNone/>
            </a:pPr>
            <a:r>
              <a:rPr lang="en-US" altLang="zh-CN" sz="2400" b="1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int main(void)</a:t>
            </a:r>
          </a:p>
          <a:p>
            <a:pPr eaLnBrk="1" hangingPunct="1">
              <a:lnSpc>
                <a:spcPct val="80000"/>
              </a:lnSpc>
              <a:buSzPct val="100000"/>
              <a:buFont typeface="Wingdings" pitchFamily="2" charset="2"/>
              <a:buNone/>
            </a:pPr>
            <a:r>
              <a:rPr lang="en-US" altLang="zh-CN" sz="2400" b="1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SzPct val="100000"/>
              <a:buFont typeface="Wingdings" pitchFamily="2" charset="2"/>
              <a:buNone/>
            </a:pPr>
            <a:r>
              <a:rPr lang="en-US" altLang="zh-CN" sz="2400" b="1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f1( );</a:t>
            </a:r>
          </a:p>
          <a:p>
            <a:pPr eaLnBrk="1" hangingPunct="1">
              <a:lnSpc>
                <a:spcPct val="80000"/>
              </a:lnSpc>
              <a:buSzPct val="100000"/>
              <a:buFont typeface="Wingdings" pitchFamily="2" charset="2"/>
              <a:buNone/>
            </a:pPr>
            <a:r>
              <a:rPr lang="en-US" altLang="zh-CN" sz="2400" b="1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f2( );</a:t>
            </a:r>
          </a:p>
          <a:p>
            <a:pPr eaLnBrk="1" hangingPunct="1">
              <a:lnSpc>
                <a:spcPct val="80000"/>
              </a:lnSpc>
              <a:buSzPct val="100000"/>
              <a:buFont typeface="Wingdings" pitchFamily="2" charset="2"/>
              <a:buNone/>
            </a:pPr>
            <a:r>
              <a:rPr lang="en-US" altLang="zh-CN" sz="2400" b="1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return 0;</a:t>
            </a:r>
          </a:p>
          <a:p>
            <a:pPr eaLnBrk="1" hangingPunct="1">
              <a:lnSpc>
                <a:spcPct val="80000"/>
              </a:lnSpc>
              <a:buSzPct val="100000"/>
              <a:buFont typeface="Wingdings" pitchFamily="2" charset="2"/>
              <a:buNone/>
            </a:pPr>
            <a:r>
              <a:rPr lang="en-US" altLang="zh-CN" sz="2400" b="1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altLang="zh-CN" sz="2400" b="1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Line 10"/>
          <p:cNvSpPr>
            <a:spLocks noChangeShapeType="1"/>
          </p:cNvSpPr>
          <p:nvPr/>
        </p:nvSpPr>
        <p:spPr bwMode="auto">
          <a:xfrm flipV="1">
            <a:off x="5950396" y="3140968"/>
            <a:ext cx="0" cy="495300"/>
          </a:xfrm>
          <a:prstGeom prst="line">
            <a:avLst/>
          </a:prstGeom>
          <a:noFill/>
          <a:ln w="50800">
            <a:solidFill>
              <a:schemeClr val="bg2">
                <a:lumMod val="50000"/>
              </a:schemeClr>
            </a:solidFill>
            <a:round/>
            <a:headEnd/>
            <a:tailEnd type="triangle" w="sm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11"/>
          <p:cNvSpPr>
            <a:spLocks noChangeShapeType="1"/>
          </p:cNvSpPr>
          <p:nvPr/>
        </p:nvSpPr>
        <p:spPr bwMode="auto">
          <a:xfrm>
            <a:off x="5950396" y="4077072"/>
            <a:ext cx="0" cy="373063"/>
          </a:xfrm>
          <a:prstGeom prst="line">
            <a:avLst/>
          </a:prstGeom>
          <a:noFill/>
          <a:ln w="50800">
            <a:solidFill>
              <a:schemeClr val="bg2">
                <a:lumMod val="50000"/>
              </a:schemeClr>
            </a:solidFill>
            <a:round/>
            <a:headEnd/>
            <a:tailEnd type="triangle" w="sm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/>
        </p:nvSpPr>
        <p:spPr bwMode="auto">
          <a:xfrm flipV="1">
            <a:off x="8470676" y="1826518"/>
            <a:ext cx="0" cy="1314450"/>
          </a:xfrm>
          <a:prstGeom prst="line">
            <a:avLst/>
          </a:prstGeom>
          <a:noFill/>
          <a:ln w="50800">
            <a:solidFill>
              <a:schemeClr val="bg2">
                <a:lumMod val="50000"/>
              </a:schemeClr>
            </a:solidFill>
            <a:round/>
            <a:headEnd/>
            <a:tailEnd type="triangle" w="sm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13"/>
          <p:cNvSpPr>
            <a:spLocks noChangeShapeType="1"/>
          </p:cNvSpPr>
          <p:nvPr/>
        </p:nvSpPr>
        <p:spPr bwMode="auto">
          <a:xfrm>
            <a:off x="8470676" y="3663528"/>
            <a:ext cx="0" cy="2717800"/>
          </a:xfrm>
          <a:prstGeom prst="line">
            <a:avLst/>
          </a:prstGeom>
          <a:noFill/>
          <a:ln w="50800">
            <a:solidFill>
              <a:schemeClr val="bg2">
                <a:lumMod val="50000"/>
              </a:schemeClr>
            </a:solidFill>
            <a:round/>
            <a:headEnd/>
            <a:tailEnd type="triangle" w="sm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7583253" y="3212976"/>
            <a:ext cx="177484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的有效范围</a:t>
            </a:r>
            <a:endParaRPr lang="zh-CN" altLang="en-US" sz="20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5078809" y="3645024"/>
            <a:ext cx="17027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B </a:t>
            </a:r>
            <a:r>
              <a:rPr lang="zh-CN" altLang="en-US" sz="20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的有效范围</a:t>
            </a:r>
            <a:endParaRPr lang="zh-CN" altLang="en-US" sz="20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08869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宏定义与宏替换</a:t>
            </a:r>
            <a:endParaRPr lang="zh-CN" altLang="en-US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745232" y="980728"/>
            <a:ext cx="9597652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函数式宏定义的常用格式如下：</a:t>
            </a:r>
            <a:endParaRPr lang="en-US" altLang="zh-CN" sz="3200" smtClean="0">
              <a:latin typeface="微软雅黑" pitchFamily="34" charset="-122"/>
              <a:ea typeface="微软雅黑" pitchFamily="34" charset="-122"/>
            </a:endParaRPr>
          </a:p>
          <a:p>
            <a:pPr marL="0" lvl="1" indent="0">
              <a:lnSpc>
                <a:spcPct val="100000"/>
              </a:lnSpc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None/>
            </a:pPr>
            <a:r>
              <a:rPr lang="en-US" altLang="zh-CN" sz="3200" smtClean="0">
                <a:latin typeface="微软雅黑" pitchFamily="34" charset="-122"/>
                <a:ea typeface="微软雅黑" pitchFamily="34" charset="-122"/>
              </a:rPr>
              <a:t>		</a:t>
            </a:r>
            <a:r>
              <a:rPr lang="en-US" altLang="zh-CN" sz="3200" b="1" smtClean="0">
                <a:latin typeface="微软雅黑" pitchFamily="34" charset="-122"/>
                <a:ea typeface="微软雅黑" pitchFamily="34" charset="-122"/>
              </a:rPr>
              <a:t>#</a:t>
            </a:r>
            <a:r>
              <a:rPr lang="en-US" altLang="zh-CN" sz="3200" b="1">
                <a:latin typeface="微软雅黑" pitchFamily="34" charset="-122"/>
                <a:ea typeface="微软雅黑" pitchFamily="34" charset="-122"/>
              </a:rPr>
              <a:t>define  </a:t>
            </a:r>
            <a:r>
              <a:rPr lang="zh-CN" altLang="en-US" sz="3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宏名</a:t>
            </a:r>
            <a:r>
              <a:rPr lang="en-US" altLang="zh-CN" sz="3200" b="1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3200" b="1">
                <a:latin typeface="微软雅黑" pitchFamily="34" charset="-122"/>
                <a:ea typeface="微软雅黑" pitchFamily="34" charset="-122"/>
              </a:rPr>
              <a:t>参数表</a:t>
            </a:r>
            <a:r>
              <a:rPr lang="en-US" altLang="zh-CN" sz="3200" b="1">
                <a:latin typeface="微软雅黑" pitchFamily="34" charset="-122"/>
                <a:ea typeface="微软雅黑" pitchFamily="34" charset="-122"/>
              </a:rPr>
              <a:t>)   </a:t>
            </a:r>
            <a:r>
              <a:rPr lang="zh-CN" altLang="en-US" sz="3200" b="1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宏</a:t>
            </a:r>
            <a:r>
              <a:rPr lang="zh-CN" altLang="en-US" sz="3200" b="1" smtClean="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体</a:t>
            </a:r>
            <a:endParaRPr lang="en-US" altLang="zh-CN" sz="3200" b="1" smtClean="0">
              <a:solidFill>
                <a:schemeClr val="bg2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注意</a:t>
            </a:r>
            <a:endParaRPr lang="en-US" altLang="zh-CN" sz="320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00000"/>
              </a:lnSpc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宏名和括号之间的</a:t>
            </a:r>
            <a:r>
              <a:rPr lang="zh-CN" altLang="en-US" sz="28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不能有空格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，参数表可为空</a:t>
            </a:r>
            <a:endParaRPr lang="en-US" altLang="zh-CN" sz="280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00000"/>
              </a:lnSpc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参数表里的参数</a:t>
            </a:r>
            <a:r>
              <a:rPr lang="zh-CN" altLang="en-US" sz="28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无类型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，多个参数用“，”分开</a:t>
            </a:r>
            <a:endParaRPr lang="en-US" altLang="zh-CN" sz="280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00000"/>
              </a:lnSpc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u"/>
            </a:pP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宏体最好使用</a:t>
            </a:r>
            <a:r>
              <a:rPr lang="zh-CN" altLang="en-US" sz="28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小括号</a:t>
            </a: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括起，以防歧义产生</a:t>
            </a:r>
            <a:endParaRPr lang="en-US" altLang="zh-CN" sz="2800">
              <a:latin typeface="微软雅黑" pitchFamily="34" charset="-122"/>
              <a:ea typeface="微软雅黑" pitchFamily="34" charset="-122"/>
            </a:endParaRPr>
          </a:p>
          <a:p>
            <a:pPr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请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分析下面的语句</a:t>
            </a:r>
          </a:p>
          <a:p>
            <a:pPr marL="709613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100000"/>
              <a:buNone/>
            </a:pPr>
            <a:r>
              <a:rPr lang="en-US" altLang="zh-CN" sz="3200">
                <a:latin typeface="Consolas" panose="020B0609020204030204" pitchFamily="49" charset="0"/>
                <a:ea typeface="微软雅黑" pitchFamily="34" charset="-122"/>
              </a:rPr>
              <a:t>#define product(x, y) ((x) * (y))</a:t>
            </a:r>
          </a:p>
          <a:p>
            <a:pPr marL="709613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100000"/>
              <a:buNone/>
            </a:pPr>
            <a:r>
              <a:rPr lang="en-US" altLang="zh-CN" sz="3200">
                <a:latin typeface="Consolas" panose="020B0609020204030204" pitchFamily="49" charset="0"/>
                <a:ea typeface="微软雅黑" pitchFamily="34" charset="-122"/>
              </a:rPr>
              <a:t>double x = product(3, 4);</a:t>
            </a:r>
          </a:p>
          <a:p>
            <a:pPr marL="330200" lvl="1" indent="0">
              <a:spcBef>
                <a:spcPts val="18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None/>
            </a:pPr>
            <a:endParaRPr lang="en-US" altLang="zh-CN" sz="320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41963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宏定义与宏替换</a:t>
            </a:r>
          </a:p>
        </p:txBody>
      </p:sp>
      <p:sp>
        <p:nvSpPr>
          <p:cNvPr id="4" name="内容占位符 3"/>
          <p:cNvSpPr txBox="1">
            <a:spLocks/>
          </p:cNvSpPr>
          <p:nvPr/>
        </p:nvSpPr>
        <p:spPr bwMode="auto">
          <a:xfrm>
            <a:off x="765820" y="836712"/>
            <a:ext cx="9865096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阅读下面的程序，体会函数式宏调用的扩展及宏扩展的过程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1269876" y="1412776"/>
            <a:ext cx="9577065" cy="5292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 eaLnBrk="0" hangingPunct="0"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b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include &lt;stdio.h&gt;</a:t>
            </a:r>
          </a:p>
          <a:p>
            <a:pPr eaLnBrk="1" hangingPunct="1"/>
            <a:r>
              <a:rPr lang="en-US" altLang="zh-CN" sz="2400" b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define ARRAY_SIZE 10</a:t>
            </a:r>
          </a:p>
          <a:p>
            <a:pPr eaLnBrk="1" hangingPunct="1"/>
            <a:r>
              <a:rPr lang="nn-NO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#define LOOP_PRINT(i, startPos, endPos) </a:t>
            </a:r>
            <a:endParaRPr lang="nn-NO" altLang="zh-CN" sz="2400" b="1" smtClean="0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eaLnBrk="1" hangingPunct="1"/>
            <a:r>
              <a:rPr lang="nn-NO" altLang="zh-CN" sz="2400" b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    for</a:t>
            </a:r>
            <a:r>
              <a:rPr lang="nn-NO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((i) = (startPos</a:t>
            </a:r>
            <a:r>
              <a:rPr lang="nn-NO" altLang="zh-CN" sz="2400" b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); (</a:t>
            </a:r>
            <a:r>
              <a:rPr lang="nn-NO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i) &lt; (endPos); (i)++)</a:t>
            </a:r>
          </a:p>
          <a:p>
            <a:pPr eaLnBrk="1" hangingPunct="1"/>
            <a:r>
              <a:rPr lang="en-US" altLang="zh-CN" sz="2400" b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define PRINT_CONTROL "%d "</a:t>
            </a:r>
          </a:p>
          <a:p>
            <a:pPr eaLnBrk="1" hangingPunct="1"/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int main(void)</a:t>
            </a:r>
          </a:p>
          <a:p>
            <a:pPr eaLnBrk="1" hangingPunct="1"/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eaLnBrk="1" hangingPunct="1"/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int a[ARRAY_SIZE] = {0, 1, 2, 3, 4, 5, 6, 7, 8, 9};</a:t>
            </a:r>
          </a:p>
          <a:p>
            <a:pPr eaLnBrk="1" hangingPunct="1"/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int j = 0;</a:t>
            </a:r>
          </a:p>
          <a:p>
            <a:pPr eaLnBrk="1" hangingPunct="1"/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LOOP_PRINT(j, 0, ARRAY_SIZE)</a:t>
            </a:r>
          </a:p>
          <a:p>
            <a:pPr eaLnBrk="1" hangingPunct="1"/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    printf(PRINT_CONTROL, a[j]);</a:t>
            </a:r>
          </a:p>
          <a:p>
            <a:pPr eaLnBrk="1" hangingPunct="1"/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printf(“\n”);</a:t>
            </a:r>
          </a:p>
          <a:p>
            <a:pPr eaLnBrk="1" hangingPunct="1"/>
            <a:r>
              <a:rPr lang="en-US" altLang="zh-CN" sz="2400" b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return </a:t>
            </a:r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0;</a:t>
            </a:r>
          </a:p>
          <a:p>
            <a:pPr eaLnBrk="1" hangingPunct="1"/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}</a:t>
            </a:r>
            <a:endParaRPr lang="zh-CN" altLang="en-US" sz="2400" b="1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78078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宏定义与宏替换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549796" y="908721"/>
            <a:ext cx="8229600" cy="576064"/>
          </a:xfrm>
        </p:spPr>
        <p:txBody>
          <a:bodyPr/>
          <a:lstStyle/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zh-CN" altLang="en-US" sz="30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阅读</a:t>
            </a:r>
            <a:r>
              <a:rPr lang="zh-CN" altLang="en-US" sz="3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下面的程序段，给出输出结果</a:t>
            </a:r>
            <a:endParaRPr lang="en-US" altLang="zh-CN" sz="32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anose="05000000000000000000" pitchFamily="2" charset="2"/>
              <a:buChar char="v"/>
            </a:pPr>
            <a:endParaRPr lang="en-US" altLang="zh-CN" sz="32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anose="05000000000000000000" pitchFamily="2" charset="2"/>
              <a:buChar char="v"/>
            </a:pPr>
            <a:endParaRPr lang="en-US" altLang="zh-CN" sz="32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anose="05000000000000000000" pitchFamily="2" charset="2"/>
              <a:buChar char="v"/>
            </a:pPr>
            <a:endParaRPr lang="en-US" altLang="zh-CN" sz="32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Clr>
                <a:schemeClr val="bg2">
                  <a:lumMod val="50000"/>
                </a:schemeClr>
              </a:buClr>
              <a:buSzPct val="100000"/>
              <a:buNone/>
            </a:pPr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Clr>
                <a:schemeClr val="bg2">
                  <a:lumMod val="50000"/>
                </a:schemeClr>
              </a:buClr>
              <a:buSzPct val="100000"/>
              <a:buNone/>
            </a:pPr>
            <a:endParaRPr lang="en-US" altLang="zh-CN" sz="32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1341884" y="1412776"/>
            <a:ext cx="7665070" cy="28803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zh-CN" altLang="en-US" sz="26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altLang="zh-CN" sz="26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define F(x)  x - 2</a:t>
            </a: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en-US" altLang="zh-CN" sz="26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#define D(x)  x*F(x)</a:t>
            </a: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en-US" altLang="zh-CN" sz="26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int main(void)</a:t>
            </a: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en-US" altLang="zh-CN" sz="26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en-US" altLang="zh-CN" sz="26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printf("%d,%d", D(3), D(D(3))) ;</a:t>
            </a: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en-US" altLang="zh-CN" sz="26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return 0;</a:t>
            </a: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en-US" altLang="zh-CN" sz="26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}</a:t>
            </a:r>
            <a:endParaRPr lang="zh-CN" altLang="zh-CN" sz="2600" b="1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569234" y="4349650"/>
            <a:ext cx="10277705" cy="2247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zh-CN" altLang="en-US" sz="3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sz="30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3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宏</a:t>
            </a:r>
            <a:endParaRPr lang="en-US" altLang="zh-CN" sz="32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交换两个数的值</a:t>
            </a:r>
          </a:p>
          <a:p>
            <a:pPr lvl="1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定义宏</a:t>
            </a:r>
            <a:r>
              <a:rPr lang="en-US" altLang="zh-CN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LOWCASE</a:t>
            </a: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，判断字符</a:t>
            </a:r>
            <a:r>
              <a:rPr lang="en-US" altLang="zh-CN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是否为小写字母</a:t>
            </a:r>
          </a:p>
          <a:p>
            <a:pPr lvl="1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定义宏</a:t>
            </a:r>
            <a:r>
              <a:rPr lang="en-US" altLang="zh-CN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CTOD</a:t>
            </a: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将数字字符（‘</a:t>
            </a:r>
            <a:r>
              <a:rPr lang="en-US" altLang="zh-CN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0’</a:t>
            </a: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～‘</a:t>
            </a:r>
            <a:r>
              <a:rPr lang="en-US" altLang="zh-CN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9’</a:t>
            </a: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）转换为相应的十进制整数，</a:t>
            </a:r>
            <a:r>
              <a:rPr lang="en-US" altLang="zh-CN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表示出错。 </a:t>
            </a:r>
          </a:p>
        </p:txBody>
      </p:sp>
    </p:spTree>
    <p:extLst>
      <p:ext uri="{BB962C8B-B14F-4D97-AF65-F5344CB8AC3E}">
        <p14:creationId xmlns:p14="http://schemas.microsoft.com/office/powerpoint/2010/main" val="82893125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宏定义与宏替换</a:t>
            </a:r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569234" y="908720"/>
            <a:ext cx="6192688" cy="338437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altLang="zh-CN" sz="2400" b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define  MAX(x,y)  (</a:t>
            </a:r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x)&gt;(y)?(x):(y)</a:t>
            </a: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……</a:t>
            </a:r>
            <a:endParaRPr lang="en-US" altLang="zh-CN" sz="2400" b="1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en-US" altLang="zh-CN" sz="2400" b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int main(void</a:t>
            </a:r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{   </a:t>
            </a:r>
            <a:r>
              <a:rPr lang="en-US" altLang="zh-CN" sz="2400" b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int  </a:t>
            </a:r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a,b,c,d,t;</a:t>
            </a: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 …….</a:t>
            </a: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 t=MAX(a+b,c+d);</a:t>
            </a: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sz="2400" b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……</a:t>
            </a:r>
            <a:endParaRPr lang="en-US" altLang="zh-CN" sz="2400" b="1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zh-CN" altLang="en-US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宏展开：</a:t>
            </a:r>
            <a:r>
              <a:rPr lang="en-US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t=(a+b)&gt;(c+d)?(a+b):(c+d);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569234" y="4637682"/>
            <a:ext cx="10565738" cy="1815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功能简单，代码短小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，则可以使用函数宏</a:t>
            </a:r>
          </a:p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anose="05000000000000000000" pitchFamily="2" charset="2"/>
              <a:buChar char="v"/>
            </a:pP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如果要求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效率较高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，可以采用函数宏，函数宏没有函数调用的代价。</a:t>
            </a:r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6925376" y="908720"/>
            <a:ext cx="4857668" cy="338437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fr-FR" altLang="zh-CN" sz="2400" b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int max(int </a:t>
            </a:r>
            <a:r>
              <a:rPr lang="fr-FR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x,int y)</a:t>
            </a: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fr-FR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{  return(x&gt;y?x:y);</a:t>
            </a: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fr-FR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fr-FR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int  main(void)</a:t>
            </a: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fr-FR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{    int a,b,c,d,t;</a:t>
            </a: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fr-FR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 </a:t>
            </a:r>
            <a:r>
              <a:rPr lang="fr-FR" altLang="zh-CN" sz="2400" b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…….</a:t>
            </a:r>
            <a:endParaRPr lang="fr-FR" altLang="zh-CN" sz="2400" b="1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fr-FR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 </a:t>
            </a:r>
            <a:r>
              <a:rPr lang="fr-FR" altLang="zh-CN" sz="2400" b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t=max(a+b,c+d</a:t>
            </a:r>
            <a:r>
              <a:rPr lang="fr-FR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); </a:t>
            </a: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fr-FR" altLang="zh-CN" sz="2400" b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 ………</a:t>
            </a:r>
            <a:endParaRPr lang="fr-FR" altLang="zh-CN" sz="2400" b="1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>
              <a:buFont typeface="Wingdings" pitchFamily="2" charset="2"/>
              <a:buNone/>
              <a:tabLst>
                <a:tab pos="542925" algn="l"/>
              </a:tabLst>
            </a:pPr>
            <a:r>
              <a:rPr lang="fr-FR" altLang="zh-CN" sz="2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522491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宏定义与宏替换</a:t>
            </a:r>
          </a:p>
        </p:txBody>
      </p:sp>
      <p:sp>
        <p:nvSpPr>
          <p:cNvPr id="4" name="内容占位符 3"/>
          <p:cNvSpPr txBox="1">
            <a:spLocks/>
          </p:cNvSpPr>
          <p:nvPr/>
        </p:nvSpPr>
        <p:spPr bwMode="auto">
          <a:xfrm>
            <a:off x="1125860" y="836712"/>
            <a:ext cx="9865096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标准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语言指定了某些对象式宏，这些宏不能被取消定义或由编程人员重新定义，含义也是固定的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52" y="1787352"/>
            <a:ext cx="10015026" cy="4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142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宏定义与宏替换</a:t>
            </a:r>
          </a:p>
        </p:txBody>
      </p:sp>
      <p:sp>
        <p:nvSpPr>
          <p:cNvPr id="4" name="内容占位符 3"/>
          <p:cNvSpPr txBox="1">
            <a:spLocks/>
          </p:cNvSpPr>
          <p:nvPr/>
        </p:nvSpPr>
        <p:spPr bwMode="auto">
          <a:xfrm>
            <a:off x="765820" y="836712"/>
            <a:ext cx="9865096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阅读下面程序体会预定义宏的作用。</a:t>
            </a:r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1269876" y="1412777"/>
            <a:ext cx="9577065" cy="52553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 eaLnBrk="0" hangingPunct="0"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42925" algn="l"/>
              </a:tabLs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200" b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include &lt;stdio.h&gt;</a:t>
            </a:r>
          </a:p>
          <a:p>
            <a:pPr eaLnBrk="1" hangingPunct="1"/>
            <a:r>
              <a:rPr lang="en-US" altLang="zh-CN" sz="2200" b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void </a:t>
            </a:r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foo(void)</a:t>
            </a:r>
          </a:p>
          <a:p>
            <a:pPr eaLnBrk="1" hangingPunct="1"/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eaLnBrk="1" hangingPunct="1"/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printf( "foo()</a:t>
            </a:r>
            <a:r>
              <a:rPr lang="zh-CN" altLang="en-US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所在的文件为：</a:t>
            </a:r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%s.\n", __FILE__ ); </a:t>
            </a:r>
          </a:p>
          <a:p>
            <a:pPr eaLnBrk="1" hangingPunct="1"/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printf( "</a:t>
            </a:r>
            <a:r>
              <a:rPr lang="zh-CN" altLang="en-US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当前行号：</a:t>
            </a:r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%d.\n", __LINE__ );</a:t>
            </a:r>
          </a:p>
          <a:p>
            <a:pPr eaLnBrk="1" hangingPunct="1"/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/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int main(void)</a:t>
            </a:r>
          </a:p>
          <a:p>
            <a:pPr eaLnBrk="1" hangingPunct="1"/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eaLnBrk="1" hangingPunct="1"/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printf( "main()</a:t>
            </a:r>
            <a:r>
              <a:rPr lang="zh-CN" altLang="en-US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所在的文件为：</a:t>
            </a:r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%s.\n", __FILE__ );</a:t>
            </a:r>
          </a:p>
          <a:p>
            <a:pPr eaLnBrk="1" hangingPunct="1"/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printf( "</a:t>
            </a:r>
            <a:r>
              <a:rPr lang="zh-CN" altLang="en-US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编译的日期为：</a:t>
            </a:r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%s.\n", __DATE__ );</a:t>
            </a:r>
          </a:p>
          <a:p>
            <a:pPr eaLnBrk="1" hangingPunct="1"/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printf( "</a:t>
            </a:r>
            <a:r>
              <a:rPr lang="zh-CN" altLang="en-US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编译的时间为：</a:t>
            </a:r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%s.\n", __TIME__ );</a:t>
            </a:r>
          </a:p>
          <a:p>
            <a:pPr eaLnBrk="1" hangingPunct="1"/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printf( "</a:t>
            </a:r>
            <a:r>
              <a:rPr lang="zh-CN" altLang="en-US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当前行号：</a:t>
            </a:r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%d.\n", __LINE__ ); </a:t>
            </a:r>
          </a:p>
          <a:p>
            <a:pPr eaLnBrk="1" hangingPunct="1"/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foo();</a:t>
            </a:r>
          </a:p>
          <a:p>
            <a:pPr eaLnBrk="1" hangingPunct="1"/>
            <a:r>
              <a:rPr lang="en-US" altLang="zh-CN" sz="2200" b="1" smtClean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  return </a:t>
            </a:r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0;</a:t>
            </a:r>
          </a:p>
          <a:p>
            <a:pPr eaLnBrk="1" hangingPunct="1"/>
            <a:r>
              <a:rPr lang="en-US" altLang="zh-CN" sz="22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6275748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宏定义与宏替换</a:t>
            </a:r>
          </a:p>
        </p:txBody>
      </p:sp>
      <p:sp>
        <p:nvSpPr>
          <p:cNvPr id="4" name="内容占位符 3"/>
          <p:cNvSpPr txBox="1">
            <a:spLocks/>
          </p:cNvSpPr>
          <p:nvPr/>
        </p:nvSpPr>
        <p:spPr bwMode="auto">
          <a:xfrm>
            <a:off x="1125860" y="1052736"/>
            <a:ext cx="9865096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注意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：</a:t>
            </a:r>
          </a:p>
          <a:p>
            <a:pPr lvl="1">
              <a:lnSpc>
                <a:spcPts val="3500"/>
              </a:lnSpc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宏替换在程序</a:t>
            </a:r>
            <a:r>
              <a:rPr lang="zh-CN" altLang="en-US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编译前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进行；</a:t>
            </a:r>
          </a:p>
          <a:p>
            <a:pPr lvl="1">
              <a:lnSpc>
                <a:spcPts val="3500"/>
              </a:lnSpc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宏替换不是</a:t>
            </a:r>
            <a:r>
              <a:rPr lang="en-US" altLang="zh-CN" sz="320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语句，</a:t>
            </a:r>
            <a:r>
              <a:rPr lang="zh-CN" altLang="en-US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不用以分号结尾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lvl="1">
              <a:lnSpc>
                <a:spcPts val="3500"/>
              </a:lnSpc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宏替换只是简单的字符串替换，</a:t>
            </a:r>
            <a:r>
              <a:rPr lang="zh-CN" altLang="en-US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不做语法检查</a:t>
            </a: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lvl="1">
              <a:lnSpc>
                <a:spcPts val="3500"/>
              </a:lnSpc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宏替换不替换双引号内的字符串；</a:t>
            </a:r>
          </a:p>
          <a:p>
            <a:pPr lvl="1">
              <a:lnSpc>
                <a:spcPts val="3500"/>
              </a:lnSpc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宏定义可以嵌套，但不允许递归；</a:t>
            </a:r>
          </a:p>
          <a:p>
            <a:pPr lvl="1">
              <a:lnSpc>
                <a:spcPts val="3500"/>
              </a:lnSpc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z="3200">
                <a:latin typeface="微软雅黑" pitchFamily="34" charset="-122"/>
                <a:ea typeface="微软雅黑" pitchFamily="34" charset="-122"/>
              </a:rPr>
              <a:t>函数宏定义时，参数最好加括号，尽量多使用括号</a:t>
            </a:r>
          </a:p>
          <a:p>
            <a:pPr>
              <a:lnSpc>
                <a:spcPts val="3500"/>
              </a:lnSpc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71300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/>
              <a:t>本讲授课</a:t>
            </a:r>
            <a:r>
              <a:rPr lang="zh-CN" altLang="en-US" b="1"/>
              <a:t>内容</a:t>
            </a:r>
          </a:p>
        </p:txBody>
      </p:sp>
      <p:sp>
        <p:nvSpPr>
          <p:cNvPr id="5" name="自选图形 3"/>
          <p:cNvSpPr>
            <a:spLocks noChangeArrowheads="1"/>
          </p:cNvSpPr>
          <p:nvPr/>
        </p:nvSpPr>
        <p:spPr bwMode="ltGray">
          <a:xfrm rot="5400000">
            <a:off x="-2462669" y="643840"/>
            <a:ext cx="4824413" cy="6432337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shade val="30000"/>
                  <a:satMod val="115000"/>
                  <a:alpha val="75000"/>
                  <a:lumMod val="73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6" name="自选图形 4"/>
          <p:cNvSpPr>
            <a:spLocks noChangeArrowheads="1"/>
          </p:cNvSpPr>
          <p:nvPr/>
        </p:nvSpPr>
        <p:spPr bwMode="ltGray">
          <a:xfrm rot="5400000" flipH="1">
            <a:off x="-2017182" y="1256395"/>
            <a:ext cx="4032250" cy="523738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bg2">
              <a:lumMod val="50000"/>
              <a:alpha val="75000"/>
            </a:schemeClr>
          </a:solidFill>
          <a:ln w="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9195907" y="4995961"/>
            <a:ext cx="1684428" cy="449263"/>
            <a:chOff x="8589313" y="1800225"/>
            <a:chExt cx="1684428" cy="449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自选图形 45"/>
            <p:cNvSpPr>
              <a:spLocks noChangeArrowheads="1"/>
            </p:cNvSpPr>
            <p:nvPr/>
          </p:nvSpPr>
          <p:spPr bwMode="gray">
            <a:xfrm>
              <a:off x="8589313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自选图形 46"/>
            <p:cNvSpPr>
              <a:spLocks noChangeArrowheads="1"/>
            </p:cNvSpPr>
            <p:nvPr/>
          </p:nvSpPr>
          <p:spPr bwMode="gray">
            <a:xfrm>
              <a:off x="9164897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自选图形 47"/>
            <p:cNvSpPr>
              <a:spLocks noChangeArrowheads="1"/>
            </p:cNvSpPr>
            <p:nvPr/>
          </p:nvSpPr>
          <p:spPr bwMode="gray">
            <a:xfrm>
              <a:off x="9740480" y="1800225"/>
              <a:ext cx="533261" cy="449263"/>
            </a:xfrm>
            <a:prstGeom prst="chevron">
              <a:avLst>
                <a:gd name="adj" fmla="val 52514"/>
              </a:avLst>
            </a:prstGeom>
            <a:solidFill>
              <a:schemeClr val="accent1"/>
            </a:soli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285337" y="4973717"/>
            <a:ext cx="6804072" cy="519261"/>
            <a:chOff x="2650732" y="4266333"/>
            <a:chExt cx="6804072" cy="519261"/>
          </a:xfrm>
        </p:grpSpPr>
        <p:sp>
          <p:nvSpPr>
            <p:cNvPr id="8" name="自选图形 6"/>
            <p:cNvSpPr>
              <a:spLocks noChangeArrowheads="1"/>
            </p:cNvSpPr>
            <p:nvPr/>
          </p:nvSpPr>
          <p:spPr bwMode="gray">
            <a:xfrm>
              <a:off x="3089529" y="4271963"/>
              <a:ext cx="636527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条件编译</a:t>
              </a: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650732" y="4266333"/>
              <a:ext cx="520552" cy="519261"/>
              <a:chOff x="2650732" y="4266333"/>
              <a:chExt cx="520552" cy="519261"/>
            </a:xfrm>
          </p:grpSpPr>
          <p:sp>
            <p:nvSpPr>
              <p:cNvPr id="21" name="椭圆 39"/>
              <p:cNvSpPr>
                <a:spLocks noChangeArrowheads="1"/>
              </p:cNvSpPr>
              <p:nvPr/>
            </p:nvSpPr>
            <p:spPr bwMode="gray">
              <a:xfrm>
                <a:off x="2650732" y="4266333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椭圆 40"/>
              <p:cNvSpPr>
                <a:spLocks noChangeArrowheads="1"/>
              </p:cNvSpPr>
              <p:nvPr/>
            </p:nvSpPr>
            <p:spPr bwMode="gray">
              <a:xfrm>
                <a:off x="2700628" y="4319133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椭圆 35"/>
              <p:cNvSpPr>
                <a:spLocks noChangeArrowheads="1"/>
              </p:cNvSpPr>
              <p:nvPr/>
            </p:nvSpPr>
            <p:spPr bwMode="gray">
              <a:xfrm>
                <a:off x="2723815" y="4319134"/>
                <a:ext cx="396525" cy="413660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D67E1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37"/>
              <p:cNvSpPr>
                <a:spLocks noChangeArrowheads="1"/>
              </p:cNvSpPr>
              <p:nvPr/>
            </p:nvSpPr>
            <p:spPr bwMode="gray">
              <a:xfrm>
                <a:off x="2727616" y="4332207"/>
                <a:ext cx="370916" cy="387511"/>
              </a:xfrm>
              <a:prstGeom prst="ellipse">
                <a:avLst/>
              </a:prstGeom>
              <a:gradFill rotWithShape="1">
                <a:gsLst>
                  <a:gs pos="0">
                    <a:srgbClr val="8D67E1"/>
                  </a:gs>
                  <a:gs pos="100000">
                    <a:srgbClr val="45326D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2758752" y="3028146"/>
            <a:ext cx="6662355" cy="519261"/>
            <a:chOff x="2599883" y="2579539"/>
            <a:chExt cx="6662355" cy="519261"/>
          </a:xfrm>
        </p:grpSpPr>
        <p:sp>
          <p:nvSpPr>
            <p:cNvPr id="10" name="自选图形 8"/>
            <p:cNvSpPr>
              <a:spLocks noChangeArrowheads="1"/>
            </p:cNvSpPr>
            <p:nvPr/>
          </p:nvSpPr>
          <p:spPr bwMode="gray">
            <a:xfrm>
              <a:off x="3047206" y="2590800"/>
              <a:ext cx="6215032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文件包含</a:t>
              </a: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2599883" y="2579539"/>
              <a:ext cx="520552" cy="519261"/>
              <a:chOff x="1984929" y="5010002"/>
              <a:chExt cx="520552" cy="519261"/>
            </a:xfrm>
          </p:grpSpPr>
          <p:sp>
            <p:nvSpPr>
              <p:cNvPr id="26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6" name="组合 45"/>
          <p:cNvGrpSpPr/>
          <p:nvPr/>
        </p:nvGrpSpPr>
        <p:grpSpPr>
          <a:xfrm>
            <a:off x="2285337" y="2068560"/>
            <a:ext cx="6639749" cy="519261"/>
            <a:chOff x="1949565" y="1820863"/>
            <a:chExt cx="6639749" cy="519261"/>
          </a:xfrm>
        </p:grpSpPr>
        <p:sp>
          <p:nvSpPr>
            <p:cNvPr id="11" name="自选图形 9"/>
            <p:cNvSpPr>
              <a:spLocks noChangeArrowheads="1"/>
            </p:cNvSpPr>
            <p:nvPr/>
          </p:nvSpPr>
          <p:spPr bwMode="gray">
            <a:xfrm>
              <a:off x="2353121" y="1820863"/>
              <a:ext cx="6236193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预处理器与预处理指令</a:t>
              </a: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949565" y="1820863"/>
              <a:ext cx="520552" cy="519261"/>
              <a:chOff x="1984929" y="5010002"/>
              <a:chExt cx="520552" cy="519261"/>
            </a:xfrm>
          </p:grpSpPr>
          <p:sp>
            <p:nvSpPr>
              <p:cNvPr id="31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>
                      <a:shade val="30000"/>
                      <a:satMod val="115000"/>
                    </a:srgbClr>
                  </a:gs>
                  <a:gs pos="50000">
                    <a:srgbClr val="FFC000">
                      <a:shade val="67500"/>
                      <a:satMod val="115000"/>
                    </a:srgbClr>
                  </a:gs>
                  <a:gs pos="100000">
                    <a:srgbClr val="FFC00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2807088" y="4049382"/>
            <a:ext cx="6625551" cy="519261"/>
            <a:chOff x="2829253" y="3459163"/>
            <a:chExt cx="6625551" cy="519261"/>
          </a:xfrm>
        </p:grpSpPr>
        <p:sp>
          <p:nvSpPr>
            <p:cNvPr id="9" name="自选图形 7"/>
            <p:cNvSpPr>
              <a:spLocks noChangeArrowheads="1"/>
            </p:cNvSpPr>
            <p:nvPr/>
          </p:nvSpPr>
          <p:spPr bwMode="gray">
            <a:xfrm>
              <a:off x="3250353" y="3459163"/>
              <a:ext cx="6204451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latin typeface="微软雅黑" pitchFamily="34" charset="-122"/>
                  <a:ea typeface="微软雅黑" pitchFamily="34" charset="-122"/>
                </a:rPr>
                <a:t>宏定义与宏替换</a:t>
              </a: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2829253" y="3459163"/>
              <a:ext cx="520552" cy="519261"/>
              <a:chOff x="1984929" y="5010002"/>
              <a:chExt cx="520552" cy="519261"/>
            </a:xfrm>
          </p:grpSpPr>
          <p:sp>
            <p:nvSpPr>
              <p:cNvPr id="36" name="椭圆 39"/>
              <p:cNvSpPr>
                <a:spLocks noChangeArrowheads="1"/>
              </p:cNvSpPr>
              <p:nvPr/>
            </p:nvSpPr>
            <p:spPr bwMode="gray">
              <a:xfrm>
                <a:off x="1984929" y="5010002"/>
                <a:ext cx="520552" cy="519261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椭圆 40"/>
              <p:cNvSpPr>
                <a:spLocks noChangeArrowheads="1"/>
              </p:cNvSpPr>
              <p:nvPr/>
            </p:nvSpPr>
            <p:spPr bwMode="gray">
              <a:xfrm>
                <a:off x="2034825" y="5062802"/>
                <a:ext cx="419712" cy="41366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椭圆 42"/>
              <p:cNvSpPr>
                <a:spLocks noChangeArrowheads="1"/>
              </p:cNvSpPr>
              <p:nvPr/>
            </p:nvSpPr>
            <p:spPr bwMode="gray">
              <a:xfrm>
                <a:off x="2047798" y="5062802"/>
                <a:ext cx="406739" cy="405291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" name="椭圆 44"/>
              <p:cNvSpPr>
                <a:spLocks noChangeArrowheads="1"/>
              </p:cNvSpPr>
              <p:nvPr/>
            </p:nvSpPr>
            <p:spPr bwMode="gray">
              <a:xfrm>
                <a:off x="2052414" y="5070283"/>
                <a:ext cx="385351" cy="390327"/>
              </a:xfrm>
              <a:prstGeom prst="ellipse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37419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条件编译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197868" y="836712"/>
            <a:ext cx="9577064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预处理器条件指令（</a:t>
            </a:r>
            <a:r>
              <a:rPr lang="en-US" altLang="zh-CN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#if</a:t>
            </a:r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#else</a:t>
            </a:r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#elif</a:t>
            </a:r>
            <a:r>
              <a:rPr lang="zh-CN" altLang="en-US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#endif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等）允许预处理器根据计算条件处理和替换宏。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处理形式：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 descr="BQ2009513174034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5952" y="4591967"/>
            <a:ext cx="1358900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自选图形 4"/>
          <p:cNvSpPr>
            <a:spLocks noChangeArrowheads="1"/>
          </p:cNvSpPr>
          <p:nvPr/>
        </p:nvSpPr>
        <p:spPr bwMode="auto">
          <a:xfrm>
            <a:off x="6598468" y="2187915"/>
            <a:ext cx="3360291" cy="1873250"/>
          </a:xfrm>
          <a:prstGeom prst="cloudCallout">
            <a:avLst>
              <a:gd name="adj1" fmla="val 25588"/>
              <a:gd name="adj2" fmla="val 76480"/>
            </a:avLst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85725" indent="-85725"/>
            <a:r>
              <a:rPr lang="zh-CN" altLang="en-US" sz="2000" b="1">
                <a:latin typeface="微软雅黑" pitchFamily="34" charset="-122"/>
                <a:ea typeface="微软雅黑" pitchFamily="34" charset="-122"/>
              </a:rPr>
              <a:t>问题：</a:t>
            </a:r>
          </a:p>
          <a:p>
            <a:pPr marL="85725" indent="-85725">
              <a:buFontTx/>
              <a:buChar char="•"/>
            </a:pPr>
            <a:r>
              <a:rPr lang="zh-CN" altLang="en-US" sz="2000" b="1">
                <a:latin typeface="微软雅黑" pitchFamily="34" charset="-122"/>
                <a:ea typeface="微软雅黑" pitchFamily="34" charset="-122"/>
              </a:rPr>
              <a:t>能否根据条件决定哪些宏需要处理和替换呢？</a:t>
            </a:r>
          </a:p>
        </p:txBody>
      </p:sp>
      <p:sp>
        <p:nvSpPr>
          <p:cNvPr id="7" name="矩形 7"/>
          <p:cNvSpPr>
            <a:spLocks noChangeArrowheads="1"/>
          </p:cNvSpPr>
          <p:nvPr/>
        </p:nvSpPr>
        <p:spPr bwMode="auto">
          <a:xfrm>
            <a:off x="2566020" y="2749565"/>
            <a:ext cx="3643312" cy="36317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>
            <a:spAutoFit/>
          </a:bodyPr>
          <a:lstStyle/>
          <a:p>
            <a:pPr lvl="1" indent="-457200">
              <a:spcBef>
                <a:spcPts val="600"/>
              </a:spcBef>
              <a:spcAft>
                <a:spcPts val="600"/>
              </a:spcAft>
              <a:tabLst>
                <a:tab pos="542925" algn="l"/>
              </a:tabLst>
            </a:pPr>
            <a:r>
              <a:rPr lang="en-US" altLang="zh-CN" sz="2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#if </a:t>
            </a:r>
            <a:r>
              <a:rPr lang="en-US" altLang="zh-CN" sz="2000" b="1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常量</a:t>
            </a:r>
            <a:r>
              <a:rPr lang="zh-CN" altLang="en-US" sz="2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2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  <a:p>
            <a:pPr marL="457200" lvl="2" indent="-457200">
              <a:spcBef>
                <a:spcPts val="600"/>
              </a:spcBef>
              <a:spcAft>
                <a:spcPts val="600"/>
              </a:spcAft>
              <a:tabLst>
                <a:tab pos="542925" algn="l"/>
              </a:tabLst>
            </a:pPr>
            <a:r>
              <a:rPr lang="zh-CN" altLang="en-US" sz="2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000" b="1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语句</a:t>
            </a:r>
            <a:r>
              <a:rPr lang="zh-CN" altLang="en-US" sz="2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块</a:t>
            </a:r>
            <a:r>
              <a:rPr lang="en-US" altLang="zh-CN" sz="2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  <a:p>
            <a:pPr lvl="1" indent="-457200">
              <a:spcBef>
                <a:spcPts val="600"/>
              </a:spcBef>
              <a:spcAft>
                <a:spcPts val="600"/>
              </a:spcAft>
              <a:tabLst>
                <a:tab pos="542925" algn="l"/>
              </a:tabLst>
            </a:pPr>
            <a:r>
              <a:rPr lang="en-US" altLang="zh-CN" sz="2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#elif </a:t>
            </a:r>
            <a:r>
              <a:rPr lang="en-US" altLang="zh-CN" sz="2000" b="1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常量</a:t>
            </a:r>
            <a:r>
              <a:rPr lang="zh-CN" altLang="en-US" sz="2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2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 marL="457200" lvl="2" indent="-457200">
              <a:spcBef>
                <a:spcPts val="600"/>
              </a:spcBef>
              <a:spcAft>
                <a:spcPts val="600"/>
              </a:spcAft>
              <a:tabLst>
                <a:tab pos="542925" algn="l"/>
              </a:tabLst>
            </a:pPr>
            <a:r>
              <a:rPr lang="zh-CN" altLang="en-US" sz="2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2000" b="1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语句</a:t>
            </a:r>
            <a:r>
              <a:rPr lang="zh-CN" altLang="en-US" sz="2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块</a:t>
            </a:r>
            <a:r>
              <a:rPr lang="en-US" altLang="zh-CN" sz="2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 lvl="1" indent="-457200">
              <a:spcBef>
                <a:spcPts val="600"/>
              </a:spcBef>
              <a:spcAft>
                <a:spcPts val="600"/>
              </a:spcAft>
              <a:tabLst>
                <a:tab pos="542925" algn="l"/>
              </a:tabLst>
            </a:pPr>
            <a:r>
              <a:rPr lang="en-US" altLang="zh-CN" sz="2000" b="1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lvl="1" indent="-457200">
              <a:spcBef>
                <a:spcPts val="600"/>
              </a:spcBef>
              <a:spcAft>
                <a:spcPts val="600"/>
              </a:spcAft>
              <a:tabLst>
                <a:tab pos="542925" algn="l"/>
              </a:tabLst>
            </a:pPr>
            <a:r>
              <a:rPr lang="en-US" altLang="zh-CN" sz="2000" b="1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en-US" altLang="zh-CN" sz="2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else</a:t>
            </a:r>
          </a:p>
          <a:p>
            <a:pPr marL="457200" lvl="2" indent="-457200">
              <a:spcBef>
                <a:spcPts val="600"/>
              </a:spcBef>
              <a:spcAft>
                <a:spcPts val="600"/>
              </a:spcAft>
              <a:tabLst>
                <a:tab pos="542925" algn="l"/>
              </a:tabLst>
            </a:pPr>
            <a:r>
              <a:rPr lang="zh-CN" altLang="en-US" sz="2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000" b="1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最后</a:t>
            </a:r>
            <a:r>
              <a:rPr lang="zh-CN" altLang="en-US" sz="2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一个语句块</a:t>
            </a:r>
          </a:p>
          <a:p>
            <a:pPr lvl="1" indent="-457200">
              <a:spcBef>
                <a:spcPts val="600"/>
              </a:spcBef>
              <a:spcAft>
                <a:spcPts val="600"/>
              </a:spcAft>
              <a:tabLst>
                <a:tab pos="542925" algn="l"/>
              </a:tabLst>
            </a:pPr>
            <a:r>
              <a:rPr lang="en-US" altLang="zh-CN" sz="2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#endif</a:t>
            </a:r>
            <a:endParaRPr lang="zh-CN" altLang="en-US" sz="2000" b="1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39621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animBg="1"/>
      <p:bldP spid="6" grpId="1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635818" y="1556792"/>
            <a:ext cx="8707066" cy="46085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条件编译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197868" y="980728"/>
            <a:ext cx="8229600" cy="6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SzPct val="100000"/>
              <a:buFont typeface="Wingdings" pitchFamily="2" charset="2"/>
              <a:buChar char="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阅读下面的程序，比较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#if 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if 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语句的相同与不同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34660" y="1606060"/>
            <a:ext cx="8713451" cy="4509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6768319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224682" y="1988840"/>
            <a:ext cx="9694266" cy="463991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条件编译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197868" y="1041925"/>
            <a:ext cx="9165704" cy="966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设有一个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源程序将分别在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Windows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平台上编译，并设有两个函数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w_foo()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l_foo()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40706" y="2154336"/>
            <a:ext cx="5760640" cy="44935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200" b="1">
                <a:latin typeface="Consolas" pitchFamily="49" charset="0"/>
                <a:cs typeface="Consolas" pitchFamily="49" charset="0"/>
              </a:rPr>
              <a:t>#include &lt;stdio.h</a:t>
            </a:r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1" hangingPunct="1"/>
            <a:endParaRPr lang="en-US" altLang="zh-CN" sz="2200" b="1">
              <a:latin typeface="Consolas" pitchFamily="49" charset="0"/>
              <a:cs typeface="Consolas" pitchFamily="49" charset="0"/>
            </a:endParaRPr>
          </a:p>
          <a:p>
            <a:pPr eaLnBrk="1" hangingPunct="1"/>
            <a:r>
              <a:rPr lang="en-US" altLang="zh-CN" sz="2200" b="1">
                <a:latin typeface="Consolas" pitchFamily="49" charset="0"/>
                <a:cs typeface="Consolas" pitchFamily="49" charset="0"/>
              </a:rPr>
              <a:t>#define WINDOWS  1</a:t>
            </a:r>
          </a:p>
          <a:p>
            <a:pPr eaLnBrk="1" hangingPunct="1"/>
            <a:r>
              <a:rPr lang="en-US" altLang="zh-CN" sz="2200" b="1">
                <a:latin typeface="Consolas" pitchFamily="49" charset="0"/>
                <a:cs typeface="Consolas" pitchFamily="49" charset="0"/>
              </a:rPr>
              <a:t>#define LIUNX  </a:t>
            </a:r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0</a:t>
            </a:r>
          </a:p>
          <a:p>
            <a:pPr eaLnBrk="1" hangingPunct="1"/>
            <a:endParaRPr lang="en-US" altLang="zh-CN" sz="2200" b="1">
              <a:latin typeface="Consolas" pitchFamily="49" charset="0"/>
              <a:cs typeface="Consolas" pitchFamily="49" charset="0"/>
            </a:endParaRPr>
          </a:p>
          <a:p>
            <a:pPr eaLnBrk="1" hangingPunct="1"/>
            <a:r>
              <a:rPr lang="en-US" altLang="zh-CN" sz="2200" b="1">
                <a:latin typeface="Consolas" pitchFamily="49" charset="0"/>
                <a:cs typeface="Consolas" pitchFamily="49" charset="0"/>
              </a:rPr>
              <a:t>void w_foo()</a:t>
            </a:r>
          </a:p>
          <a:p>
            <a:pPr eaLnBrk="1" hangingPunct="1"/>
            <a:r>
              <a:rPr lang="en-US" altLang="zh-CN" sz="2200" b="1">
                <a:latin typeface="Consolas" pitchFamily="49" charset="0"/>
                <a:cs typeface="Consolas" pitchFamily="49" charset="0"/>
              </a:rPr>
              <a:t>{    </a:t>
            </a:r>
          </a:p>
          <a:p>
            <a:pPr eaLnBrk="1" hangingPunct="1"/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    printf</a:t>
            </a:r>
            <a:r>
              <a:rPr lang="en-US" altLang="zh-CN" sz="2200" b="1">
                <a:latin typeface="Consolas" pitchFamily="49" charset="0"/>
                <a:cs typeface="Consolas" pitchFamily="49" charset="0"/>
              </a:rPr>
              <a:t>("w_foo() is called!\n");  </a:t>
            </a:r>
          </a:p>
          <a:p>
            <a:pPr eaLnBrk="1" hangingPunct="1"/>
            <a:r>
              <a:rPr lang="en-US" altLang="zh-CN" sz="2200" b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1" hangingPunct="1"/>
            <a:r>
              <a:rPr lang="en-US" altLang="zh-CN" sz="2200" b="1">
                <a:latin typeface="Consolas" pitchFamily="49" charset="0"/>
                <a:cs typeface="Consolas" pitchFamily="49" charset="0"/>
              </a:rPr>
              <a:t>void l_foo()</a:t>
            </a:r>
          </a:p>
          <a:p>
            <a:pPr eaLnBrk="1" hangingPunct="1"/>
            <a:r>
              <a:rPr lang="en-US" altLang="zh-CN" sz="2200" b="1">
                <a:latin typeface="Consolas" pitchFamily="49" charset="0"/>
                <a:cs typeface="Consolas" pitchFamily="49" charset="0"/>
              </a:rPr>
              <a:t>{    </a:t>
            </a:r>
          </a:p>
          <a:p>
            <a:pPr eaLnBrk="1" hangingPunct="1"/>
            <a:r>
              <a:rPr lang="en-US" altLang="zh-CN" sz="2200" b="1" smtClean="0">
                <a:latin typeface="Consolas" pitchFamily="49" charset="0"/>
                <a:cs typeface="Consolas" pitchFamily="49" charset="0"/>
              </a:rPr>
              <a:t>    printf</a:t>
            </a:r>
            <a:r>
              <a:rPr lang="en-US" altLang="zh-CN" sz="2200" b="1">
                <a:latin typeface="Consolas" pitchFamily="49" charset="0"/>
                <a:cs typeface="Consolas" pitchFamily="49" charset="0"/>
              </a:rPr>
              <a:t>("l_foo() is called!\n");  </a:t>
            </a:r>
          </a:p>
          <a:p>
            <a:pPr eaLnBrk="1" hangingPunct="1"/>
            <a:r>
              <a:rPr lang="en-US" altLang="zh-CN" sz="2200" b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7489378" y="2132856"/>
            <a:ext cx="3357562" cy="3477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200" b="1" smtClean="0">
                <a:latin typeface="Consolas" pitchFamily="49" charset="0"/>
                <a:ea typeface="楷体_GB2312"/>
                <a:cs typeface="Consolas" pitchFamily="49" charset="0"/>
              </a:rPr>
              <a:t>int main(void</a:t>
            </a:r>
            <a:r>
              <a:rPr lang="en-US" altLang="zh-CN" sz="2200" b="1" dirty="0">
                <a:latin typeface="Consolas" pitchFamily="49" charset="0"/>
                <a:ea typeface="楷体_GB2312"/>
                <a:cs typeface="Consolas" pitchFamily="49" charset="0"/>
              </a:rPr>
              <a:t>)</a:t>
            </a:r>
          </a:p>
          <a:p>
            <a:pPr>
              <a:defRPr/>
            </a:pPr>
            <a:r>
              <a:rPr lang="en-US" altLang="zh-CN" sz="2200" b="1" smtClean="0">
                <a:latin typeface="Consolas" pitchFamily="49" charset="0"/>
                <a:ea typeface="楷体_GB2312"/>
                <a:cs typeface="Consolas" pitchFamily="49" charset="0"/>
              </a:rPr>
              <a:t>{</a:t>
            </a:r>
          </a:p>
          <a:p>
            <a:pPr>
              <a:defRPr/>
            </a:pPr>
            <a:r>
              <a:rPr lang="en-US" altLang="zh-CN" sz="2200" b="1">
                <a:latin typeface="Consolas" pitchFamily="49" charset="0"/>
                <a:ea typeface="楷体_GB2312"/>
                <a:cs typeface="Consolas" pitchFamily="49" charset="0"/>
              </a:rPr>
              <a:t> </a:t>
            </a:r>
            <a:r>
              <a:rPr lang="en-US" altLang="zh-CN" sz="2200" b="1" smtClean="0">
                <a:latin typeface="Consolas" pitchFamily="49" charset="0"/>
                <a:ea typeface="楷体_GB2312"/>
                <a:cs typeface="Consolas" pitchFamily="49" charset="0"/>
              </a:rPr>
              <a:t>   #if WINDOWS</a:t>
            </a:r>
            <a:endParaRPr lang="en-US" altLang="zh-CN" sz="2200" b="1" dirty="0">
              <a:latin typeface="Consolas" pitchFamily="49" charset="0"/>
              <a:ea typeface="楷体_GB2312"/>
              <a:cs typeface="Consolas" pitchFamily="49" charset="0"/>
            </a:endParaRPr>
          </a:p>
          <a:p>
            <a:pPr>
              <a:defRPr/>
            </a:pPr>
            <a:r>
              <a:rPr lang="en-US" altLang="zh-CN" sz="2200" b="1">
                <a:latin typeface="Consolas" pitchFamily="49" charset="0"/>
                <a:ea typeface="楷体_GB2312"/>
                <a:cs typeface="Consolas" pitchFamily="49" charset="0"/>
              </a:rPr>
              <a:t> </a:t>
            </a:r>
            <a:r>
              <a:rPr lang="en-US" altLang="zh-CN" sz="2200" b="1" smtClean="0">
                <a:latin typeface="Consolas" pitchFamily="49" charset="0"/>
                <a:ea typeface="楷体_GB2312"/>
                <a:cs typeface="Consolas" pitchFamily="49" charset="0"/>
              </a:rPr>
              <a:t>   w_foo();</a:t>
            </a:r>
          </a:p>
          <a:p>
            <a:pPr>
              <a:defRPr/>
            </a:pPr>
            <a:r>
              <a:rPr lang="en-US" altLang="zh-CN" sz="2200" b="1">
                <a:latin typeface="Consolas" pitchFamily="49" charset="0"/>
                <a:ea typeface="楷体_GB2312"/>
                <a:cs typeface="Consolas" pitchFamily="49" charset="0"/>
              </a:rPr>
              <a:t> </a:t>
            </a:r>
            <a:r>
              <a:rPr lang="en-US" altLang="zh-CN" sz="2200" b="1" smtClean="0">
                <a:latin typeface="Consolas" pitchFamily="49" charset="0"/>
                <a:ea typeface="楷体_GB2312"/>
                <a:cs typeface="Consolas" pitchFamily="49" charset="0"/>
              </a:rPr>
              <a:t>   #</a:t>
            </a:r>
            <a:r>
              <a:rPr lang="en-US" altLang="zh-CN" sz="2200" b="1" err="1">
                <a:latin typeface="Consolas" pitchFamily="49" charset="0"/>
                <a:ea typeface="楷体_GB2312"/>
                <a:cs typeface="Consolas" pitchFamily="49" charset="0"/>
              </a:rPr>
              <a:t>elif</a:t>
            </a:r>
            <a:r>
              <a:rPr lang="en-US" altLang="zh-CN" sz="2200" b="1">
                <a:latin typeface="Consolas" pitchFamily="49" charset="0"/>
                <a:ea typeface="楷体_GB2312"/>
                <a:cs typeface="Consolas" pitchFamily="49" charset="0"/>
              </a:rPr>
              <a:t> </a:t>
            </a:r>
            <a:r>
              <a:rPr lang="en-US" altLang="zh-CN" sz="2200" b="1" smtClean="0">
                <a:latin typeface="Consolas" pitchFamily="49" charset="0"/>
                <a:ea typeface="楷体_GB2312"/>
                <a:cs typeface="Consolas" pitchFamily="49" charset="0"/>
              </a:rPr>
              <a:t>LIUNX</a:t>
            </a:r>
          </a:p>
          <a:p>
            <a:pPr>
              <a:defRPr/>
            </a:pPr>
            <a:r>
              <a:rPr lang="en-US" altLang="zh-CN" sz="2200" b="1">
                <a:latin typeface="Consolas" pitchFamily="49" charset="0"/>
                <a:ea typeface="楷体_GB2312"/>
                <a:cs typeface="Consolas" pitchFamily="49" charset="0"/>
              </a:rPr>
              <a:t> </a:t>
            </a:r>
            <a:r>
              <a:rPr lang="en-US" altLang="zh-CN" sz="2200" b="1" smtClean="0">
                <a:latin typeface="Consolas" pitchFamily="49" charset="0"/>
                <a:ea typeface="楷体_GB2312"/>
                <a:cs typeface="Consolas" pitchFamily="49" charset="0"/>
              </a:rPr>
              <a:t>   l_foo();</a:t>
            </a:r>
          </a:p>
          <a:p>
            <a:pPr>
              <a:defRPr/>
            </a:pPr>
            <a:r>
              <a:rPr lang="en-US" altLang="zh-CN" sz="2200" b="1">
                <a:latin typeface="Consolas" pitchFamily="49" charset="0"/>
                <a:ea typeface="楷体_GB2312"/>
                <a:cs typeface="Consolas" pitchFamily="49" charset="0"/>
              </a:rPr>
              <a:t> </a:t>
            </a:r>
            <a:r>
              <a:rPr lang="en-US" altLang="zh-CN" sz="2200" b="1" smtClean="0">
                <a:latin typeface="Consolas" pitchFamily="49" charset="0"/>
                <a:ea typeface="楷体_GB2312"/>
                <a:cs typeface="Consolas" pitchFamily="49" charset="0"/>
              </a:rPr>
              <a:t>   #endif</a:t>
            </a:r>
            <a:endParaRPr lang="en-US" altLang="zh-CN" sz="2200" b="1" dirty="0">
              <a:latin typeface="Consolas" pitchFamily="49" charset="0"/>
              <a:ea typeface="楷体_GB2312"/>
              <a:cs typeface="Consolas" pitchFamily="49" charset="0"/>
            </a:endParaRPr>
          </a:p>
          <a:p>
            <a:pPr>
              <a:defRPr/>
            </a:pPr>
            <a:endParaRPr lang="en-US" altLang="zh-CN" sz="2200" b="1" dirty="0">
              <a:latin typeface="Consolas" pitchFamily="49" charset="0"/>
              <a:ea typeface="楷体_GB2312"/>
              <a:cs typeface="Consolas" pitchFamily="49" charset="0"/>
            </a:endParaRPr>
          </a:p>
          <a:p>
            <a:pPr>
              <a:defRPr/>
            </a:pPr>
            <a:r>
              <a:rPr lang="en-US" altLang="zh-CN" sz="2200" b="1">
                <a:latin typeface="Consolas" pitchFamily="49" charset="0"/>
                <a:ea typeface="楷体_GB2312"/>
                <a:cs typeface="Consolas" pitchFamily="49" charset="0"/>
              </a:rPr>
              <a:t> </a:t>
            </a:r>
            <a:r>
              <a:rPr lang="en-US" altLang="zh-CN" sz="2200" b="1" smtClean="0">
                <a:latin typeface="Consolas" pitchFamily="49" charset="0"/>
                <a:ea typeface="楷体_GB2312"/>
                <a:cs typeface="Consolas" pitchFamily="49" charset="0"/>
              </a:rPr>
              <a:t>   return </a:t>
            </a:r>
            <a:r>
              <a:rPr lang="en-US" altLang="zh-CN" sz="2200" b="1" dirty="0">
                <a:latin typeface="Consolas" pitchFamily="49" charset="0"/>
                <a:ea typeface="楷体_GB2312"/>
                <a:cs typeface="Consolas" pitchFamily="49" charset="0"/>
              </a:rPr>
              <a:t>0;</a:t>
            </a:r>
          </a:p>
          <a:p>
            <a:pPr>
              <a:defRPr/>
            </a:pPr>
            <a:r>
              <a:rPr lang="en-US" altLang="zh-CN" sz="2200" b="1" dirty="0">
                <a:latin typeface="Consolas" pitchFamily="49" charset="0"/>
                <a:ea typeface="楷体_GB2312"/>
                <a:cs typeface="Consolas" pitchFamily="49" charset="0"/>
              </a:rPr>
              <a:t>}</a:t>
            </a:r>
            <a:endParaRPr lang="zh-CN" altLang="en-US" sz="2200" b="1" dirty="0">
              <a:solidFill>
                <a:srgbClr val="000066"/>
              </a:solidFill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7129338" y="2007960"/>
            <a:ext cx="45194" cy="4639914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3065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条件编译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053852" y="1220341"/>
            <a:ext cx="9577064" cy="1488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8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5950" indent="-28575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ct val="80000"/>
              <a:buFont typeface="Corbe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538" indent="-282575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Corbe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63713" indent="-228600" algn="l" rtl="0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884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88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6936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0984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en-US" altLang="zh-CN" sz="3200" smtClean="0">
                <a:latin typeface="微软雅黑" pitchFamily="34" charset="-122"/>
                <a:ea typeface="微软雅黑" pitchFamily="34" charset="-122"/>
              </a:rPr>
              <a:t>#ifdef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3200" smtClean="0">
                <a:latin typeface="微软雅黑" pitchFamily="34" charset="-122"/>
                <a:ea typeface="微软雅黑" pitchFamily="34" charset="-122"/>
              </a:rPr>
              <a:t>#ifndef </a:t>
            </a:r>
            <a:r>
              <a:rPr lang="zh-CN" altLang="en-US" sz="3200" smtClean="0">
                <a:latin typeface="微软雅黑" pitchFamily="34" charset="-122"/>
                <a:ea typeface="微软雅黑" pitchFamily="34" charset="-122"/>
              </a:rPr>
              <a:t>用于测试一个名称是否被定义为预处理宏。</a:t>
            </a:r>
            <a:endParaRPr lang="en-US" altLang="zh-CN" sz="320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  <a:buClr>
                <a:schemeClr val="bg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800" smtClean="0">
                <a:latin typeface="微软雅黑" pitchFamily="34" charset="-122"/>
                <a:ea typeface="微软雅黑" pitchFamily="34" charset="-122"/>
              </a:rPr>
              <a:t>主要用来解决头文件重复包含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5987604" y="3212976"/>
            <a:ext cx="4071937" cy="21431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tabLst>
                <a:tab pos="542925" algn="l"/>
              </a:tabLst>
            </a:pPr>
            <a:r>
              <a:rPr lang="en-US" altLang="zh-CN"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//#ifndef </a:t>
            </a:r>
            <a:r>
              <a:rPr lang="zh-CN" altLang="en-US"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的基本形式为：</a:t>
            </a:r>
          </a:p>
          <a:p>
            <a:pPr lvl="1" indent="-195263">
              <a:lnSpc>
                <a:spcPct val="200000"/>
              </a:lnSpc>
              <a:tabLst>
                <a:tab pos="542925" algn="l"/>
              </a:tabLst>
            </a:pPr>
            <a:r>
              <a:rPr lang="en-US" altLang="zh-CN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#ifndef  </a:t>
            </a:r>
            <a:r>
              <a:rPr lang="zh-CN" altLang="en-US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宏名</a:t>
            </a:r>
          </a:p>
          <a:p>
            <a:pPr marL="457200" lvl="2" indent="-195263">
              <a:tabLst>
                <a:tab pos="542925" algn="l"/>
              </a:tabLst>
            </a:pPr>
            <a:r>
              <a:rPr lang="zh-CN" altLang="en-US" sz="24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语句</a:t>
            </a:r>
            <a:r>
              <a:rPr lang="zh-CN" altLang="en-US" sz="24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块</a:t>
            </a:r>
            <a:endParaRPr lang="en-US" altLang="zh-CN" sz="240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 indent="-195263">
              <a:tabLst>
                <a:tab pos="542925" algn="l"/>
              </a:tabLst>
            </a:pPr>
            <a:r>
              <a:rPr lang="en-US" altLang="zh-CN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#endif</a:t>
            </a:r>
            <a:endParaRPr lang="zh-CN" altLang="en-US" sz="24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6"/>
          <p:cNvSpPr>
            <a:spLocks noChangeArrowheads="1"/>
          </p:cNvSpPr>
          <p:nvPr/>
        </p:nvSpPr>
        <p:spPr bwMode="auto">
          <a:xfrm>
            <a:off x="1629916" y="3212976"/>
            <a:ext cx="4071938" cy="21431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87313">
              <a:tabLst>
                <a:tab pos="542925" algn="l"/>
              </a:tabLst>
            </a:pPr>
            <a:r>
              <a:rPr lang="en-US" altLang="zh-CN"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//#ifdef </a:t>
            </a:r>
            <a:r>
              <a:rPr lang="zh-CN" altLang="en-US"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的基本形式为：</a:t>
            </a:r>
            <a:endParaRPr lang="en-US" altLang="zh-CN" sz="2400" b="1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7313" lvl="1" indent="174625">
              <a:lnSpc>
                <a:spcPct val="200000"/>
              </a:lnSpc>
              <a:tabLst>
                <a:tab pos="542925" algn="l"/>
              </a:tabLst>
            </a:pPr>
            <a:r>
              <a:rPr lang="en-US" altLang="zh-CN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#ifdef  </a:t>
            </a:r>
            <a:r>
              <a:rPr lang="zh-CN" altLang="en-US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宏名</a:t>
            </a:r>
          </a:p>
          <a:p>
            <a:pPr marL="87313" lvl="2" indent="174625">
              <a:tabLst>
                <a:tab pos="542925" algn="l"/>
              </a:tabLst>
            </a:pPr>
            <a:r>
              <a:rPr lang="zh-CN" altLang="en-US" sz="24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4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语句</a:t>
            </a:r>
            <a:r>
              <a:rPr lang="zh-CN" altLang="en-US" sz="24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块</a:t>
            </a:r>
            <a:endParaRPr lang="en-US" altLang="zh-CN" sz="240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7313" lvl="2" indent="174625">
              <a:tabLst>
                <a:tab pos="542925" algn="l"/>
              </a:tabLst>
            </a:pPr>
            <a:r>
              <a:rPr lang="en-US" altLang="zh-CN" sz="24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#endif</a:t>
            </a:r>
            <a:endParaRPr lang="zh-CN" altLang="en-US" sz="24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3249197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条件编译</a:t>
            </a:r>
          </a:p>
        </p:txBody>
      </p:sp>
      <p:sp>
        <p:nvSpPr>
          <p:cNvPr id="5" name="内容占位符 3"/>
          <p:cNvSpPr>
            <a:spLocks noGrp="1"/>
          </p:cNvSpPr>
          <p:nvPr>
            <p:ph idx="1"/>
          </p:nvPr>
        </p:nvSpPr>
        <p:spPr>
          <a:xfrm>
            <a:off x="909836" y="980728"/>
            <a:ext cx="10225136" cy="1287835"/>
          </a:xfrm>
        </p:spPr>
        <p:txBody>
          <a:bodyPr/>
          <a:lstStyle/>
          <a:p>
            <a:pPr>
              <a:buClr>
                <a:schemeClr val="bg2">
                  <a:lumMod val="50000"/>
                </a:schemeClr>
              </a:buClr>
              <a:buFont typeface="Wingdings" pitchFamily="2" charset="2"/>
              <a:buChar char=""/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设有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a.h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b.h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a.c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，其文件内容大致如下，请分析编译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a.c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时将会产生什么样的编译错误，并利用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#ifdef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#define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#endif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解决这一问题。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1197868" y="3717032"/>
            <a:ext cx="9151388" cy="295232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2075" tIns="46037" rIns="92075" bIns="46037"/>
          <a:lstStyle/>
          <a:p>
            <a:pPr>
              <a:defRPr/>
            </a:pPr>
            <a:r>
              <a:rPr lang="en-US" altLang="zh-CN" sz="2400" b="1" smtClean="0">
                <a:latin typeface="Consolas" panose="020B0609020204030204" pitchFamily="49" charset="0"/>
                <a:ea typeface="楷体_GB2312"/>
                <a:cs typeface="楷体_GB2312"/>
              </a:rPr>
              <a:t>/* </a:t>
            </a:r>
            <a:r>
              <a:rPr lang="zh-CN" altLang="en-US" sz="2400" b="1" smtClean="0">
                <a:latin typeface="Consolas" panose="020B0609020204030204" pitchFamily="49" charset="0"/>
                <a:ea typeface="楷体_GB2312"/>
                <a:cs typeface="楷体_GB2312"/>
              </a:rPr>
              <a:t>源文件</a:t>
            </a:r>
            <a:r>
              <a:rPr lang="en-US" altLang="zh-CN" sz="2400" b="1" smtClean="0">
                <a:latin typeface="Consolas" panose="020B0609020204030204" pitchFamily="49" charset="0"/>
                <a:ea typeface="楷体_GB2312"/>
                <a:cs typeface="楷体_GB2312"/>
              </a:rPr>
              <a:t> a.c */</a:t>
            </a:r>
          </a:p>
          <a:p>
            <a:pPr>
              <a:defRPr/>
            </a:pPr>
            <a:r>
              <a:rPr lang="en-US" altLang="zh-CN" sz="2400" b="1" smtClean="0">
                <a:latin typeface="Consolas" panose="020B0609020204030204" pitchFamily="49" charset="0"/>
                <a:ea typeface="楷体_GB2312"/>
                <a:cs typeface="楷体_GB2312"/>
              </a:rPr>
              <a:t>#</a:t>
            </a:r>
            <a:r>
              <a:rPr lang="en-US" altLang="zh-CN" sz="2400" b="1">
                <a:latin typeface="Consolas" panose="020B0609020204030204" pitchFamily="49" charset="0"/>
                <a:ea typeface="楷体_GB2312"/>
                <a:cs typeface="楷体_GB2312"/>
              </a:rPr>
              <a:t>include "a.h"</a:t>
            </a:r>
          </a:p>
          <a:p>
            <a:pPr>
              <a:defRPr/>
            </a:pPr>
            <a:r>
              <a:rPr lang="en-US" altLang="zh-CN" sz="2400" b="1">
                <a:latin typeface="Consolas" panose="020B0609020204030204" pitchFamily="49" charset="0"/>
                <a:ea typeface="楷体_GB2312"/>
                <a:cs typeface="楷体_GB2312"/>
              </a:rPr>
              <a:t>#include "</a:t>
            </a:r>
            <a:r>
              <a:rPr lang="en-US" altLang="zh-CN" sz="2400" b="1" smtClean="0">
                <a:latin typeface="Consolas" panose="020B0609020204030204" pitchFamily="49" charset="0"/>
                <a:ea typeface="楷体_GB2312"/>
                <a:cs typeface="楷体_GB2312"/>
              </a:rPr>
              <a:t>b.h"</a:t>
            </a:r>
          </a:p>
          <a:p>
            <a:pPr>
              <a:defRPr/>
            </a:pPr>
            <a:endParaRPr lang="en-US" altLang="zh-CN" sz="2400" b="1">
              <a:latin typeface="Consolas" panose="020B0609020204030204" pitchFamily="49" charset="0"/>
              <a:ea typeface="楷体_GB2312"/>
              <a:cs typeface="楷体_GB2312"/>
            </a:endParaRPr>
          </a:p>
          <a:p>
            <a:pPr>
              <a:defRPr/>
            </a:pPr>
            <a:r>
              <a:rPr lang="en-US" altLang="zh-CN" sz="2400" b="1">
                <a:latin typeface="Consolas" panose="020B0609020204030204" pitchFamily="49" charset="0"/>
                <a:ea typeface="楷体_GB2312"/>
                <a:cs typeface="楷体_GB2312"/>
              </a:rPr>
              <a:t>int main(void)</a:t>
            </a:r>
          </a:p>
          <a:p>
            <a:pPr>
              <a:defRPr/>
            </a:pPr>
            <a:r>
              <a:rPr lang="en-US" altLang="zh-CN" sz="2400" b="1" smtClean="0">
                <a:latin typeface="Consolas" panose="020B0609020204030204" pitchFamily="49" charset="0"/>
                <a:ea typeface="楷体_GB2312"/>
                <a:cs typeface="楷体_GB2312"/>
              </a:rPr>
              <a:t>{</a:t>
            </a:r>
            <a:endParaRPr lang="en-US" altLang="zh-CN" sz="2400" b="1">
              <a:latin typeface="Consolas" panose="020B0609020204030204" pitchFamily="49" charset="0"/>
              <a:ea typeface="楷体_GB2312"/>
              <a:cs typeface="楷体_GB2312"/>
            </a:endParaRPr>
          </a:p>
          <a:p>
            <a:pPr>
              <a:defRPr/>
            </a:pPr>
            <a:r>
              <a:rPr lang="en-US" altLang="zh-CN" sz="2400" b="1" smtClean="0">
                <a:latin typeface="Consolas" panose="020B0609020204030204" pitchFamily="49" charset="0"/>
                <a:ea typeface="楷体_GB2312"/>
                <a:cs typeface="楷体_GB2312"/>
              </a:rPr>
              <a:t>    return </a:t>
            </a:r>
            <a:r>
              <a:rPr lang="en-US" altLang="zh-CN" sz="2400" b="1">
                <a:latin typeface="Consolas" panose="020B0609020204030204" pitchFamily="49" charset="0"/>
                <a:ea typeface="楷体_GB2312"/>
                <a:cs typeface="楷体_GB2312"/>
              </a:rPr>
              <a:t>0;</a:t>
            </a:r>
          </a:p>
          <a:p>
            <a:pPr>
              <a:defRPr/>
            </a:pPr>
            <a:r>
              <a:rPr lang="en-US" altLang="zh-CN" sz="2400" b="1">
                <a:latin typeface="Consolas" panose="020B0609020204030204" pitchFamily="49" charset="0"/>
                <a:ea typeface="楷体_GB2312"/>
                <a:cs typeface="楷体_GB2312"/>
              </a:rPr>
              <a:t>};</a:t>
            </a:r>
            <a:endParaRPr lang="zh-CN" altLang="en-US" sz="2400" b="1" dirty="0">
              <a:solidFill>
                <a:srgbClr val="000066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5"/>
          <p:cNvSpPr txBox="1"/>
          <p:nvPr/>
        </p:nvSpPr>
        <p:spPr>
          <a:xfrm>
            <a:off x="1197868" y="2303339"/>
            <a:ext cx="4464496" cy="126967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2075" tIns="46037" rIns="92075" bIns="46037"/>
          <a:lstStyle/>
          <a:p>
            <a:pPr>
              <a:defRPr/>
            </a:pPr>
            <a:r>
              <a:rPr lang="en-US" altLang="zh-CN" sz="2400" b="1" smtClean="0">
                <a:latin typeface="Consolas" panose="020B0609020204030204" pitchFamily="49" charset="0"/>
                <a:ea typeface="楷体_GB2312"/>
                <a:cs typeface="楷体_GB2312"/>
              </a:rPr>
              <a:t>/* </a:t>
            </a:r>
            <a:r>
              <a:rPr lang="zh-CN" altLang="en-US" sz="2400" b="1" smtClean="0">
                <a:latin typeface="Consolas" panose="020B0609020204030204" pitchFamily="49" charset="0"/>
                <a:ea typeface="楷体_GB2312"/>
                <a:cs typeface="楷体_GB2312"/>
              </a:rPr>
              <a:t>头文件</a:t>
            </a:r>
            <a:r>
              <a:rPr lang="en-US" altLang="zh-CN" sz="2400" b="1" smtClean="0">
                <a:latin typeface="Consolas" panose="020B0609020204030204" pitchFamily="49" charset="0"/>
                <a:ea typeface="楷体_GB2312"/>
                <a:cs typeface="楷体_GB2312"/>
              </a:rPr>
              <a:t> a.h */</a:t>
            </a:r>
          </a:p>
          <a:p>
            <a:pPr>
              <a:defRPr/>
            </a:pPr>
            <a:r>
              <a:rPr lang="en-US" altLang="zh-CN" sz="2400" b="1" smtClean="0">
                <a:latin typeface="Consolas" panose="020B0609020204030204" pitchFamily="49" charset="0"/>
                <a:ea typeface="楷体_GB2312"/>
                <a:cs typeface="楷体_GB2312"/>
              </a:rPr>
              <a:t>int x = 10;</a:t>
            </a:r>
          </a:p>
          <a:p>
            <a:pPr>
              <a:defRPr/>
            </a:pPr>
            <a:r>
              <a:rPr lang="en-US" altLang="zh-CN" sz="2400" b="1" smtClean="0">
                <a:latin typeface="Consolas" panose="020B0609020204030204" pitchFamily="49" charset="0"/>
                <a:ea typeface="楷体_GB2312"/>
                <a:cs typeface="楷体_GB2312"/>
              </a:rPr>
              <a:t>void foo();</a:t>
            </a:r>
          </a:p>
        </p:txBody>
      </p:sp>
      <p:sp>
        <p:nvSpPr>
          <p:cNvPr id="11" name="TextBox 5"/>
          <p:cNvSpPr txBox="1"/>
          <p:nvPr/>
        </p:nvSpPr>
        <p:spPr>
          <a:xfrm>
            <a:off x="5892052" y="2303339"/>
            <a:ext cx="4464496" cy="123490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2075" tIns="46037" rIns="92075" bIns="46037"/>
          <a:lstStyle/>
          <a:p>
            <a:pPr>
              <a:defRPr/>
            </a:pPr>
            <a:r>
              <a:rPr lang="en-US" altLang="zh-CN" sz="2400" b="1" smtClean="0">
                <a:latin typeface="Consolas" panose="020B0609020204030204" pitchFamily="49" charset="0"/>
                <a:ea typeface="楷体_GB2312"/>
                <a:cs typeface="楷体_GB2312"/>
              </a:rPr>
              <a:t>/* </a:t>
            </a:r>
            <a:r>
              <a:rPr lang="zh-CN" altLang="en-US" sz="2400" b="1" smtClean="0">
                <a:latin typeface="Consolas" panose="020B0609020204030204" pitchFamily="49" charset="0"/>
                <a:ea typeface="楷体_GB2312"/>
                <a:cs typeface="楷体_GB2312"/>
              </a:rPr>
              <a:t>头文件</a:t>
            </a:r>
            <a:r>
              <a:rPr lang="en-US" altLang="zh-CN" sz="2400" b="1" smtClean="0">
                <a:latin typeface="Consolas" panose="020B0609020204030204" pitchFamily="49" charset="0"/>
                <a:ea typeface="楷体_GB2312"/>
                <a:cs typeface="楷体_GB2312"/>
              </a:rPr>
              <a:t> b.h */</a:t>
            </a:r>
          </a:p>
          <a:p>
            <a:pPr>
              <a:defRPr/>
            </a:pPr>
            <a:r>
              <a:rPr lang="en-US" altLang="zh-CN" sz="2400" b="1" smtClean="0">
                <a:latin typeface="Consolas" panose="020B0609020204030204" pitchFamily="49" charset="0"/>
                <a:ea typeface="楷体_GB2312"/>
                <a:cs typeface="楷体_GB2312"/>
              </a:rPr>
              <a:t>#include "a.h"</a:t>
            </a:r>
          </a:p>
        </p:txBody>
      </p:sp>
    </p:spTree>
    <p:extLst>
      <p:ext uri="{BB962C8B-B14F-4D97-AF65-F5344CB8AC3E}">
        <p14:creationId xmlns:p14="http://schemas.microsoft.com/office/powerpoint/2010/main" val="32719658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8" name="WordArt 4"/>
          <p:cNvSpPr>
            <a:spLocks noChangeArrowheads="1" noChangeShapeType="1" noTextEdit="1"/>
          </p:cNvSpPr>
          <p:nvPr/>
        </p:nvSpPr>
        <p:spPr bwMode="gray">
          <a:xfrm>
            <a:off x="2061964" y="1916832"/>
            <a:ext cx="8352928" cy="1872208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US" altLang="zh-CN" sz="3600" b="1" kern="10">
                <a:ln w="19050">
                  <a:solidFill>
                    <a:schemeClr val="bg2">
                      <a:lumMod val="50000"/>
                    </a:schemeClr>
                  </a:solidFill>
                  <a:round/>
                  <a:headEnd/>
                  <a:tailEnd/>
                </a:ln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Arial"/>
              </a:rPr>
              <a:t>Thank You !</a:t>
            </a:r>
            <a:endParaRPr lang="zh-CN" altLang="en-US" sz="3600" b="1" kern="10">
              <a:ln w="19050">
                <a:solidFill>
                  <a:schemeClr val="bg2">
                    <a:lumMod val="50000"/>
                  </a:schemeClr>
                </a:solidFill>
                <a:round/>
                <a:headEnd/>
                <a:tailEnd/>
              </a:ln>
              <a:solidFill>
                <a:schemeClr val="bg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49468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/>
    </p:bldLst>
  </p:timing>
</p:sld>
</file>

<file path=ppt/theme/theme1.xml><?xml version="1.0" encoding="utf-8"?>
<a:theme xmlns:a="http://schemas.openxmlformats.org/drawingml/2006/main" name="Marketing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3742</TotalTime>
  <Words>1670</Words>
  <Application>Microsoft Office PowerPoint</Application>
  <PresentationFormat>自定义</PresentationFormat>
  <Paragraphs>276</Paragraphs>
  <Slides>28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Arial Unicode MS</vt:lpstr>
      <vt:lpstr>HAKUYOXingShu3500</vt:lpstr>
      <vt:lpstr>楷体_GB2312</vt:lpstr>
      <vt:lpstr>宋体</vt:lpstr>
      <vt:lpstr>微软雅黑</vt:lpstr>
      <vt:lpstr>幼圆</vt:lpstr>
      <vt:lpstr>Arial</vt:lpstr>
      <vt:lpstr>Consolas</vt:lpstr>
      <vt:lpstr>Corbel</vt:lpstr>
      <vt:lpstr>Wingdings</vt:lpstr>
      <vt:lpstr>Marketing 16x9</vt:lpstr>
      <vt:lpstr>《 C语言程序设计》</vt:lpstr>
      <vt:lpstr>上一讲知识复习</vt:lpstr>
      <vt:lpstr>本讲教学目标</vt:lpstr>
      <vt:lpstr>本讲授课内容</vt:lpstr>
      <vt:lpstr>预处理器与预处理指令</vt:lpstr>
      <vt:lpstr>预处理器与预处理指令</vt:lpstr>
      <vt:lpstr>本讲授课内容</vt:lpstr>
      <vt:lpstr>文件包含</vt:lpstr>
      <vt:lpstr>文件包含</vt:lpstr>
      <vt:lpstr>本讲授课内容</vt:lpstr>
      <vt:lpstr>宏定义与宏替换</vt:lpstr>
      <vt:lpstr>宏定义与宏替换</vt:lpstr>
      <vt:lpstr>宏定义与宏替换</vt:lpstr>
      <vt:lpstr>宏定义与宏替换</vt:lpstr>
      <vt:lpstr>宏定义与宏替换</vt:lpstr>
      <vt:lpstr>宏定义与宏替换</vt:lpstr>
      <vt:lpstr>宏定义与宏替换</vt:lpstr>
      <vt:lpstr>宏定义与宏替换</vt:lpstr>
      <vt:lpstr>宏定义与宏替换</vt:lpstr>
      <vt:lpstr>宏定义与宏替换</vt:lpstr>
      <vt:lpstr>宏定义与宏替换</vt:lpstr>
      <vt:lpstr>本讲授课内容</vt:lpstr>
      <vt:lpstr>条件编译</vt:lpstr>
      <vt:lpstr>条件编译</vt:lpstr>
      <vt:lpstr>条件编译</vt:lpstr>
      <vt:lpstr>条件编译</vt:lpstr>
      <vt:lpstr>条件编译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Administrator</dc:creator>
  <cp:lastModifiedBy>Eetze</cp:lastModifiedBy>
  <cp:revision>497</cp:revision>
  <dcterms:created xsi:type="dcterms:W3CDTF">2014-04-17T22:00:45Z</dcterms:created>
  <dcterms:modified xsi:type="dcterms:W3CDTF">2023-02-26T00:29:29Z</dcterms:modified>
</cp:coreProperties>
</file>