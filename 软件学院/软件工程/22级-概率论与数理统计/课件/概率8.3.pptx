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jpeg" ContentType="image/jpeg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Default Extension="vml" ContentType="application/vnd.openxmlformats-officedocument.vmlDrawing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96" r:id="rId2"/>
  </p:sldMasterIdLst>
  <p:notesMasterIdLst>
    <p:notesMasterId r:id="rId10"/>
  </p:notesMasterIdLst>
  <p:sldIdLst>
    <p:sldId id="259" r:id="rId3"/>
    <p:sldId id="272" r:id="rId4"/>
    <p:sldId id="281" r:id="rId5"/>
    <p:sldId id="280" r:id="rId6"/>
    <p:sldId id="278" r:id="rId7"/>
    <p:sldId id="282" r:id="rId8"/>
    <p:sldId id="266" r:id="rId9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宋体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宋体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944A3"/>
    <a:srgbClr val="202AEC"/>
    <a:srgbClr val="FFCC66"/>
    <a:srgbClr val="FFCCCC"/>
    <a:srgbClr val="E6E48E"/>
    <a:srgbClr val="4E10FC"/>
    <a:srgbClr val="4110BA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21" autoAdjust="0"/>
    <p:restoredTop sz="91992" autoAdjust="0"/>
  </p:normalViewPr>
  <p:slideViewPr>
    <p:cSldViewPr>
      <p:cViewPr>
        <p:scale>
          <a:sx n="70" d="100"/>
          <a:sy n="70" d="100"/>
        </p:scale>
        <p:origin x="-1572" y="-3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7" Type="http://schemas.openxmlformats.org/officeDocument/2006/relationships/image" Target="../media/image20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6" Type="http://schemas.openxmlformats.org/officeDocument/2006/relationships/image" Target="../media/image19.wmf"/><Relationship Id="rId5" Type="http://schemas.openxmlformats.org/officeDocument/2006/relationships/image" Target="../media/image18.wmf"/><Relationship Id="rId4" Type="http://schemas.openxmlformats.org/officeDocument/2006/relationships/image" Target="../media/image1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8.wmf"/><Relationship Id="rId3" Type="http://schemas.openxmlformats.org/officeDocument/2006/relationships/image" Target="../media/image33.wmf"/><Relationship Id="rId7" Type="http://schemas.openxmlformats.org/officeDocument/2006/relationships/image" Target="../media/image37.wmf"/><Relationship Id="rId2" Type="http://schemas.openxmlformats.org/officeDocument/2006/relationships/image" Target="../media/image32.wmf"/><Relationship Id="rId1" Type="http://schemas.openxmlformats.org/officeDocument/2006/relationships/image" Target="../media/image31.wmf"/><Relationship Id="rId6" Type="http://schemas.openxmlformats.org/officeDocument/2006/relationships/image" Target="../media/image36.wmf"/><Relationship Id="rId5" Type="http://schemas.openxmlformats.org/officeDocument/2006/relationships/image" Target="../media/image35.wmf"/><Relationship Id="rId4" Type="http://schemas.openxmlformats.org/officeDocument/2006/relationships/image" Target="../media/image34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46.wmf"/><Relationship Id="rId2" Type="http://schemas.openxmlformats.org/officeDocument/2006/relationships/image" Target="../media/image45.wmf"/><Relationship Id="rId1" Type="http://schemas.openxmlformats.org/officeDocument/2006/relationships/image" Target="../media/image44.wmf"/><Relationship Id="rId5" Type="http://schemas.openxmlformats.org/officeDocument/2006/relationships/image" Target="../media/image48.wmf"/><Relationship Id="rId4" Type="http://schemas.openxmlformats.org/officeDocument/2006/relationships/image" Target="../media/image4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92190996-90B4-4C5B-B55B-F9C5A167F032}" type="datetimeFigureOut">
              <a:rPr lang="zh-CN" altLang="en-US"/>
              <a:pPr>
                <a:defRPr/>
              </a:pPr>
              <a:t>2021-11-20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2A2EFE2-0780-46E8-A324-701C3E367EF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9900779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8546427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12A2EFE2-0780-46E8-A324-701C3E367EF8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8546427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11152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474785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1133378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558120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061684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8169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2906542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29769344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xmlns="" val="42344494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369510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516563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5165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00094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173157"/>
            <a:ext cx="7772400" cy="1470025"/>
          </a:xfrm>
        </p:spPr>
        <p:txBody>
          <a:bodyPr anchor="b"/>
          <a:lstStyle>
            <a:lvl1pPr algn="l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687716" y="2643182"/>
            <a:ext cx="6670366" cy="1752600"/>
          </a:xfrm>
        </p:spPr>
        <p:txBody>
          <a:bodyPr/>
          <a:lstStyle>
            <a:lvl1pPr marL="0" indent="0" algn="l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E2307-1E40-4E12-8716-25BFDA8E7013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2924181"/>
            <a:ext cx="7772400" cy="1362075"/>
          </a:xfrm>
        </p:spPr>
        <p:txBody>
          <a:bodyPr anchor="t"/>
          <a:lstStyle>
            <a:lvl1pPr algn="l">
              <a:defRPr sz="4400" b="0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5800" y="1428747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AA6B6-10E5-4810-BC9F-DA72D8452E73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18D072-EF12-4AA2-BD71-ABC68B06D0E2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DBF60-6CC3-4B74-A60D-3486985E4346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14818-984F-4759-BF72-A33BDC1963BD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1071546"/>
            <a:ext cx="5111750" cy="50497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3" y="1071546"/>
            <a:ext cx="3008313" cy="342902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7E191-5F94-4FC1-B823-BD7CABF7FA06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5" y="285728"/>
            <a:ext cx="8230993" cy="696626"/>
          </a:xfrm>
        </p:spPr>
        <p:txBody>
          <a:bodyPr anchor="ctr"/>
          <a:lstStyle>
            <a:lvl1pPr algn="ctr">
              <a:defRPr sz="36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001024" y="642918"/>
            <a:ext cx="785818" cy="4572032"/>
          </a:xfrm>
        </p:spPr>
        <p:txBody>
          <a:bodyPr vert="eaVert" anchor="ctr"/>
          <a:lstStyle>
            <a:lvl1pPr algn="l">
              <a:defRPr sz="2400" b="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42922" y="541340"/>
            <a:ext cx="6415094" cy="5459428"/>
          </a:xfrm>
          <a:prstGeom prst="roundRect">
            <a:avLst>
              <a:gd name="adj" fmla="val 4800"/>
            </a:avLst>
          </a:prstGeom>
          <a:solidFill>
            <a:schemeClr val="accent1">
              <a:tint val="20000"/>
            </a:schemeClr>
          </a:solidFill>
          <a:ln w="38100">
            <a:gradFill flip="none"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tint val="20000"/>
                  </a:schemeClr>
                </a:gs>
              </a:gsLst>
              <a:lin ang="16200000" scaled="1"/>
              <a:tileRect/>
            </a:gradFill>
          </a:ln>
          <a:effectLst>
            <a:outerShdw blurRad="76200" dist="38100" dir="5400000" sx="100500" sy="100500" algn="tl" rotWithShape="0">
              <a:srgbClr val="000000">
                <a:alpha val="50000"/>
              </a:srgb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072330" y="1000108"/>
            <a:ext cx="914368" cy="4214842"/>
          </a:xfrm>
        </p:spPr>
        <p:txBody>
          <a:bodyPr vert="eaVert" anchor="ctr"/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1200"/>
            </a:lvl2pPr>
            <a:lvl3pPr marL="914400" indent="0" algn="ctr">
              <a:buNone/>
              <a:defRPr sz="1000"/>
            </a:lvl3pPr>
            <a:lvl4pPr marL="1371600" indent="0" algn="ctr">
              <a:buNone/>
              <a:defRPr sz="900"/>
            </a:lvl4pPr>
            <a:lvl5pPr marL="1828800" indent="0" algn="ct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856D55-EFBE-4F9B-8A5F-09D42CA22A9B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CFCF5A-EA79-452C-A52C-1A2668C2E7DF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143768" y="274639"/>
            <a:ext cx="1543032" cy="5851525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61513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C4C28-BD4B-4892-9A2D-6E19BD753A9A}" type="datetime1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wmf"/><Relationship Id="rId18" Type="http://schemas.openxmlformats.org/officeDocument/2006/relationships/image" Target="../media/image6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20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7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DRLC032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 descr="BJ1180"/>
          <p:cNvSpPr>
            <a:spLocks noChangeArrowheads="1"/>
          </p:cNvSpPr>
          <p:nvPr/>
        </p:nvSpPr>
        <p:spPr bwMode="auto">
          <a:xfrm>
            <a:off x="479425" y="131763"/>
            <a:ext cx="8450263" cy="655320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8" name="Rectangle 4" descr="BJ1180"/>
          <p:cNvSpPr>
            <a:spLocks noChangeArrowheads="1"/>
          </p:cNvSpPr>
          <p:nvPr/>
        </p:nvSpPr>
        <p:spPr bwMode="auto">
          <a:xfrm>
            <a:off x="331788" y="136525"/>
            <a:ext cx="150812" cy="158750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29" name="Rectangle 5" descr="BJ1180"/>
          <p:cNvSpPr>
            <a:spLocks noChangeArrowheads="1"/>
          </p:cNvSpPr>
          <p:nvPr/>
        </p:nvSpPr>
        <p:spPr bwMode="auto">
          <a:xfrm>
            <a:off x="323850" y="519113"/>
            <a:ext cx="150813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0" name="Rectangle 6" descr="BJ1180"/>
          <p:cNvSpPr>
            <a:spLocks noChangeArrowheads="1"/>
          </p:cNvSpPr>
          <p:nvPr/>
        </p:nvSpPr>
        <p:spPr bwMode="auto">
          <a:xfrm>
            <a:off x="323850" y="11207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1" name="Rectangle 7" descr="BJ1180"/>
          <p:cNvSpPr>
            <a:spLocks noChangeArrowheads="1"/>
          </p:cNvSpPr>
          <p:nvPr/>
        </p:nvSpPr>
        <p:spPr bwMode="auto">
          <a:xfrm>
            <a:off x="323850" y="2292350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2" name="Rectangle 8" descr="BJ1180"/>
          <p:cNvSpPr>
            <a:spLocks noChangeArrowheads="1"/>
          </p:cNvSpPr>
          <p:nvPr/>
        </p:nvSpPr>
        <p:spPr bwMode="auto">
          <a:xfrm>
            <a:off x="325438" y="28860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3" name="Rectangle 9" descr="BJ1180"/>
          <p:cNvSpPr>
            <a:spLocks noChangeArrowheads="1"/>
          </p:cNvSpPr>
          <p:nvPr/>
        </p:nvSpPr>
        <p:spPr bwMode="auto">
          <a:xfrm>
            <a:off x="325438" y="3479800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4" name="Rectangle 10" descr="BJ1180"/>
          <p:cNvSpPr>
            <a:spLocks noChangeArrowheads="1"/>
          </p:cNvSpPr>
          <p:nvPr/>
        </p:nvSpPr>
        <p:spPr bwMode="auto">
          <a:xfrm>
            <a:off x="325438" y="465613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5" name="Rectangle 11" descr="BJ1180"/>
          <p:cNvSpPr>
            <a:spLocks noChangeArrowheads="1"/>
          </p:cNvSpPr>
          <p:nvPr/>
        </p:nvSpPr>
        <p:spPr bwMode="auto">
          <a:xfrm>
            <a:off x="320675" y="5248275"/>
            <a:ext cx="150813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6" name="Rectangle 12" descr="BJ1180"/>
          <p:cNvSpPr>
            <a:spLocks noChangeArrowheads="1"/>
          </p:cNvSpPr>
          <p:nvPr/>
        </p:nvSpPr>
        <p:spPr bwMode="auto">
          <a:xfrm>
            <a:off x="319088" y="5845175"/>
            <a:ext cx="150812" cy="36036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7" name="Rectangle 13" descr="BJ1180"/>
          <p:cNvSpPr>
            <a:spLocks noChangeArrowheads="1"/>
          </p:cNvSpPr>
          <p:nvPr/>
        </p:nvSpPr>
        <p:spPr bwMode="auto">
          <a:xfrm>
            <a:off x="323850" y="6419850"/>
            <a:ext cx="150813" cy="269875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8" name="Rectangle 14" descr="BJ1180"/>
          <p:cNvSpPr>
            <a:spLocks noChangeArrowheads="1"/>
          </p:cNvSpPr>
          <p:nvPr/>
        </p:nvSpPr>
        <p:spPr bwMode="auto">
          <a:xfrm>
            <a:off x="331788" y="4065588"/>
            <a:ext cx="150812" cy="360362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39" name="Rectangle 15" descr="BJ1180"/>
          <p:cNvSpPr>
            <a:spLocks noChangeArrowheads="1"/>
          </p:cNvSpPr>
          <p:nvPr/>
        </p:nvSpPr>
        <p:spPr bwMode="auto">
          <a:xfrm>
            <a:off x="323850" y="1698625"/>
            <a:ext cx="150813" cy="366713"/>
          </a:xfrm>
          <a:prstGeom prst="rect">
            <a:avLst/>
          </a:prstGeom>
          <a:blipFill dpi="0" rotWithShape="1">
            <a:blip r:embed="rId14">
              <a:alphaModFix amt="20000"/>
            </a:blip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0" name="Rectangle 16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7696200" cy="1143000"/>
          </a:xfrm>
          <a:prstGeom prst="rect">
            <a:avLst/>
          </a:prstGeom>
          <a:noFill/>
          <a:ln>
            <a:noFill/>
          </a:ln>
          <a:effectLst>
            <a:outerShdw dist="17961" dir="2700000" algn="ctr" rotWithShape="0">
              <a:srgbClr val="C0C0C0"/>
            </a:outerShdw>
          </a:effectLst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1" name="Rectangle 17"/>
          <p:cNvSpPr>
            <a:spLocks noChangeArrowheads="1"/>
          </p:cNvSpPr>
          <p:nvPr/>
        </p:nvSpPr>
        <p:spPr bwMode="auto">
          <a:xfrm>
            <a:off x="6586538" y="63119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2" name="Picture 18">
            <a:hlinkClick r:id="" action="ppaction://noaction" highlightClick="1"/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2798" b="-66667"/>
          <a:stretch>
            <a:fillRect/>
          </a:stretch>
        </p:blipFill>
        <p:spPr bwMode="auto">
          <a:xfrm>
            <a:off x="6483350" y="6286500"/>
            <a:ext cx="465138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43" name="Rectangle 20"/>
          <p:cNvSpPr>
            <a:spLocks noChangeArrowheads="1"/>
          </p:cNvSpPr>
          <p:nvPr/>
        </p:nvSpPr>
        <p:spPr bwMode="auto">
          <a:xfrm>
            <a:off x="6986588" y="633412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4" name="Rectangle 21"/>
          <p:cNvSpPr>
            <a:spLocks noChangeArrowheads="1"/>
          </p:cNvSpPr>
          <p:nvPr/>
        </p:nvSpPr>
        <p:spPr bwMode="auto">
          <a:xfrm>
            <a:off x="7362825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5" name="Rectangle 22"/>
          <p:cNvSpPr>
            <a:spLocks noChangeArrowheads="1"/>
          </p:cNvSpPr>
          <p:nvPr/>
        </p:nvSpPr>
        <p:spPr bwMode="auto">
          <a:xfrm>
            <a:off x="7747000" y="63404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6" name="Rectangle 23"/>
          <p:cNvSpPr>
            <a:spLocks noChangeArrowheads="1"/>
          </p:cNvSpPr>
          <p:nvPr/>
        </p:nvSpPr>
        <p:spPr bwMode="auto">
          <a:xfrm>
            <a:off x="8154988" y="6350000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sp>
        <p:nvSpPr>
          <p:cNvPr id="1047" name="Rectangle 24"/>
          <p:cNvSpPr>
            <a:spLocks noChangeArrowheads="1"/>
          </p:cNvSpPr>
          <p:nvPr/>
        </p:nvSpPr>
        <p:spPr bwMode="auto">
          <a:xfrm>
            <a:off x="8515350" y="6365875"/>
            <a:ext cx="215900" cy="2159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 type="none" w="sm" len="med"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 sz="2800" b="1" smtClean="0">
              <a:solidFill>
                <a:srgbClr val="000000"/>
              </a:solidFill>
            </a:endParaRPr>
          </a:p>
        </p:txBody>
      </p:sp>
      <p:pic>
        <p:nvPicPr>
          <p:cNvPr id="1048" name="Picture 25">
            <a:hlinkClick r:id="" action="ppaction://hlinkshowjump?jump=lastslideviewed" highlightClick="1"/>
          </p:cNvPr>
          <p:cNvPicPr>
            <a:picLocks noChangeAspect="1" noChangeArrowheads="1"/>
          </p:cNvPicPr>
          <p:nvPr/>
        </p:nvPicPr>
        <p:blipFill>
          <a:blip r:embed="rId1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7678" b="-69908"/>
          <a:stretch>
            <a:fillRect/>
          </a:stretch>
        </p:blipFill>
        <p:spPr bwMode="auto">
          <a:xfrm>
            <a:off x="7642225" y="6275388"/>
            <a:ext cx="385763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49" name="Picture 26">
            <a:hlinkClick r:id="" action="ppaction://hlinkshowjump?jump=endshow" highlightClick="1"/>
          </p:cNvPr>
          <p:cNvPicPr>
            <a:picLocks noChangeAspect="1" noChangeArrowheads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31548" b="-71297"/>
          <a:stretch>
            <a:fillRect/>
          </a:stretch>
        </p:blipFill>
        <p:spPr bwMode="auto">
          <a:xfrm>
            <a:off x="8023225" y="6270625"/>
            <a:ext cx="365125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0" name="Picture 27">
            <a:hlinkClick r:id="" action="ppaction://hlinkshowjump?jump=nextslide" highlightClick="1"/>
          </p:cNvPr>
          <p:cNvPicPr>
            <a:picLocks noChangeAspect="1" noChangeArrowheads="1"/>
          </p:cNvPicPr>
          <p:nvPr/>
        </p:nvPicPr>
        <p:blipFill>
          <a:blip r:embed="rId1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23810" b="-69908"/>
          <a:stretch>
            <a:fillRect/>
          </a:stretch>
        </p:blipFill>
        <p:spPr bwMode="auto">
          <a:xfrm>
            <a:off x="7261225" y="6275388"/>
            <a:ext cx="406400" cy="582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1" name="Picture 28">
            <a:hlinkClick r:id="" action="ppaction://hlinkshowjump?jump=previousslide" highlightClick="1"/>
          </p:cNvPr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r="19048" b="-70833"/>
          <a:stretch>
            <a:fillRect/>
          </a:stretch>
        </p:blipFill>
        <p:spPr bwMode="auto">
          <a:xfrm>
            <a:off x="6877050" y="6272213"/>
            <a:ext cx="431800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52" name="Picture 29"/>
          <p:cNvPicPr>
            <a:picLocks noChangeAspect="1" noChangeArrowheads="1"/>
          </p:cNvPicPr>
          <p:nvPr/>
        </p:nvPicPr>
        <p:blipFill>
          <a:blip r:embed="rId2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b="-71759"/>
          <a:stretch>
            <a:fillRect/>
          </a:stretch>
        </p:blipFill>
        <p:spPr bwMode="auto">
          <a:xfrm>
            <a:off x="8396288" y="6269038"/>
            <a:ext cx="352425" cy="588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B40000"/>
          </a:solidFill>
          <a:latin typeface="Times New Roman" pitchFamily="18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8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8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13">
            <a:duotone>
              <a:schemeClr val="accent1"/>
              <a:srgbClr val="FFFFFF"/>
            </a:duotone>
            <a:lum bright="12000" contrast="40000"/>
          </a:blip>
          <a:stretch>
            <a:fillRect/>
          </a:stretch>
        </p:blipFill>
        <p:spPr>
          <a:xfrm>
            <a:off x="6667809" y="4915143"/>
            <a:ext cx="2476191" cy="1942857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矩形 9"/>
          <p:cNvSpPr/>
          <p:nvPr/>
        </p:nvSpPr>
        <p:spPr>
          <a:xfrm>
            <a:off x="0" y="0"/>
            <a:ext cx="9144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20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</a:schemeClr>
              </a:gs>
            </a:gsLst>
            <a:lin ang="18900000" scaled="1"/>
            <a:tileRect/>
          </a:gradFill>
          <a:ln w="12700" cap="rnd" cmpd="sng" algn="ctr">
            <a:noFill/>
            <a:prstDash val="solid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0" y="40951"/>
            <a:ext cx="4572000" cy="71438"/>
          </a:xfrm>
          <a:prstGeom prst="rect">
            <a:avLst/>
          </a:prstGeom>
          <a:gradFill flip="none" rotWithShape="1">
            <a:gsLst>
              <a:gs pos="0">
                <a:schemeClr val="accent1">
                  <a:tint val="100000"/>
                  <a:shade val="50000"/>
                  <a:hueMod val="100000"/>
                  <a:satMod val="250000"/>
                  <a:alpha val="0"/>
                </a:schemeClr>
              </a:gs>
              <a:gs pos="75000">
                <a:schemeClr val="accent1">
                  <a:tint val="80000"/>
                  <a:shade val="100000"/>
                  <a:hueMod val="100000"/>
                  <a:satMod val="375000"/>
                  <a:alpha val="5000"/>
                </a:schemeClr>
              </a:gs>
              <a:gs pos="100000">
                <a:schemeClr val="accent1">
                  <a:tint val="50000"/>
                  <a:shade val="100000"/>
                  <a:hueMod val="100000"/>
                  <a:satMod val="500000"/>
                  <a:alpha val="60000"/>
                </a:schemeClr>
              </a:gs>
            </a:gsLst>
            <a:lin ang="8100000" scaled="1"/>
            <a:tileRect/>
          </a:gradFill>
          <a:ln w="12700" cap="rnd" cmpd="sng" algn="ctr">
            <a:noFill/>
            <a:prstDash val="solid"/>
          </a:ln>
          <a:effectLst>
            <a:glow>
              <a:schemeClr val="accent1">
                <a:tint val="100000"/>
                <a:shade val="100000"/>
                <a:hueMod val="100000"/>
                <a:satMod val="100000"/>
              </a:schemeClr>
            </a:glow>
            <a:softEdge rad="12700"/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4">
            <a:duotone>
              <a:schemeClr val="accent1"/>
              <a:srgbClr val="FFFFFF"/>
            </a:duotone>
            <a:lum bright="35000" contrast="40000"/>
          </a:blip>
          <a:stretch>
            <a:fillRect/>
          </a:stretch>
        </p:blipFill>
        <p:spPr>
          <a:xfrm>
            <a:off x="0" y="6420445"/>
            <a:ext cx="9144000" cy="437555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rtlCol="0" anchor="ctr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l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22987-CD27-4AB6-B5EE-BBB2825D6C9B}" type="datetimeFigureOut">
              <a:rPr lang="en-US" smtClean="0"/>
              <a:pPr/>
              <a:t>11/20/2021</a:t>
            </a:fld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0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rtlCol="0" anchor="ctr"/>
          <a:lstStyle>
            <a:lvl1pPr algn="r" eaLnBrk="1" latinLnBrk="0" hangingPunct="1">
              <a:defRPr kumimoji="0"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36937C-4296-4F09-BFBF-208432D16C49}" type="slidenum">
              <a:rPr kumimoji="0" lang="en-US" smtClean="0"/>
              <a:pPr/>
              <a:t>‹#›</a:t>
            </a:fld>
            <a:endParaRPr kumimoji="0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accent1"/>
        </a:buClr>
        <a:buSzPct val="5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accent2"/>
        </a:buClr>
        <a:buSzPct val="50000"/>
        <a:buFont typeface="Wingdings 2"/>
        <a:buChar char="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accent3"/>
        </a:buClr>
        <a:buSzPct val="60000"/>
        <a:buFont typeface="Wingdings 2"/>
        <a:buChar char="®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accent5"/>
        </a:buClr>
        <a:buSzPct val="45000"/>
        <a:buFont typeface="Wingdings 2"/>
        <a:buChar char="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accent6"/>
        </a:buClr>
        <a:buFont typeface="Wingdings 2"/>
        <a:buChar char="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gif"/><Relationship Id="rId2" Type="http://schemas.openxmlformats.org/officeDocument/2006/relationships/hyperlink" Target="&#27010;&#29575;&#31532;&#19968;&#31456;/&#27010;&#29575;1-1.ppt" TargetMode="External"/><Relationship Id="rId1" Type="http://schemas.openxmlformats.org/officeDocument/2006/relationships/slideLayout" Target="../slideLayouts/slideLayout18.xml"/><Relationship Id="rId4" Type="http://schemas.openxmlformats.org/officeDocument/2006/relationships/hyperlink" Target="&#27010;&#29575;&#31532;&#19968;&#31456;/&#27010;&#29575;1-3.ppt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slide" Target="slide1.xml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7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22.png"/><Relationship Id="rId5" Type="http://schemas.openxmlformats.org/officeDocument/2006/relationships/oleObject" Target="../embeddings/oleObject1.bin"/><Relationship Id="rId10" Type="http://schemas.openxmlformats.org/officeDocument/2006/relationships/oleObject" Target="../embeddings/oleObject6.bin"/><Relationship Id="rId4" Type="http://schemas.openxmlformats.org/officeDocument/2006/relationships/image" Target="../media/image21.png"/><Relationship Id="rId9" Type="http://schemas.openxmlformats.org/officeDocument/2006/relationships/oleObject" Target="../embeddings/oleObject5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10.bin"/><Relationship Id="rId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image" Target="../media/image30.png"/><Relationship Id="rId7" Type="http://schemas.openxmlformats.org/officeDocument/2006/relationships/oleObject" Target="../embeddings/oleObject1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3.bin"/><Relationship Id="rId5" Type="http://schemas.openxmlformats.org/officeDocument/2006/relationships/oleObject" Target="../embeddings/oleObject12.bin"/><Relationship Id="rId4" Type="http://schemas.openxmlformats.org/officeDocument/2006/relationships/oleObject" Target="../embeddings/oleObject11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.bin"/><Relationship Id="rId13" Type="http://schemas.openxmlformats.org/officeDocument/2006/relationships/oleObject" Target="../embeddings/oleObject23.bin"/><Relationship Id="rId3" Type="http://schemas.openxmlformats.org/officeDocument/2006/relationships/notesSlide" Target="../notesSlides/notesSlide1.xml"/><Relationship Id="rId7" Type="http://schemas.openxmlformats.org/officeDocument/2006/relationships/oleObject" Target="../embeddings/oleObject17.bin"/><Relationship Id="rId12" Type="http://schemas.openxmlformats.org/officeDocument/2006/relationships/oleObject" Target="../embeddings/oleObject22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6.bin"/><Relationship Id="rId11" Type="http://schemas.openxmlformats.org/officeDocument/2006/relationships/oleObject" Target="../embeddings/oleObject21.bin"/><Relationship Id="rId5" Type="http://schemas.openxmlformats.org/officeDocument/2006/relationships/image" Target="../media/image40.png"/><Relationship Id="rId10" Type="http://schemas.openxmlformats.org/officeDocument/2006/relationships/oleObject" Target="../embeddings/oleObject20.bin"/><Relationship Id="rId4" Type="http://schemas.openxmlformats.org/officeDocument/2006/relationships/image" Target="../media/image39.png"/><Relationship Id="rId9" Type="http://schemas.openxmlformats.org/officeDocument/2006/relationships/oleObject" Target="../embeddings/oleObject19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43.png"/><Relationship Id="rId5" Type="http://schemas.openxmlformats.org/officeDocument/2006/relationships/oleObject" Target="../embeddings/oleObject25.bin"/><Relationship Id="rId4" Type="http://schemas.openxmlformats.org/officeDocument/2006/relationships/oleObject" Target="../embeddings/oleObject24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30.bin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9.bin"/><Relationship Id="rId5" Type="http://schemas.openxmlformats.org/officeDocument/2006/relationships/oleObject" Target="../embeddings/oleObject28.bin"/><Relationship Id="rId4" Type="http://schemas.openxmlformats.org/officeDocument/2006/relationships/oleObject" Target="../embeddings/oleObject2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6" descr="f010">
            <a:hlinkClick r:id="rId2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59632" y="2276872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27">
            <a:hlinkClick r:id="" action="ppaction://hlinkshowjump?jump=endshow" highlightClick="1"/>
          </p:cNvPr>
          <p:cNvSpPr>
            <a:spLocks noChangeArrowheads="1"/>
          </p:cNvSpPr>
          <p:nvPr/>
        </p:nvSpPr>
        <p:spPr bwMode="auto">
          <a:xfrm>
            <a:off x="683567" y="764704"/>
            <a:ext cx="8072437" cy="1165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algn="ctr" eaLnBrk="1" hangingPunct="1"/>
            <a:r>
              <a:rPr lang="zh-CN" altLang="en-US" sz="3600" b="1" dirty="0" smtClean="0">
                <a:solidFill>
                  <a:schemeClr val="tx2"/>
                </a:solidFill>
                <a:latin typeface="华文新魏" pitchFamily="2" charset="-122"/>
                <a:ea typeface="华文新魏" pitchFamily="2" charset="-122"/>
              </a:rPr>
              <a:t>第三节   正态总体方差的假设检验</a:t>
            </a:r>
            <a:endParaRPr lang="zh-CN" altLang="en-US" sz="3600" b="1" dirty="0">
              <a:solidFill>
                <a:schemeClr val="tx2"/>
              </a:solidFill>
              <a:latin typeface="华文新魏" pitchFamily="2" charset="-122"/>
              <a:ea typeface="华文新魏" pitchFamily="2" charset="-122"/>
            </a:endParaRPr>
          </a:p>
        </p:txBody>
      </p:sp>
      <p:pic>
        <p:nvPicPr>
          <p:cNvPr id="8197" name="Picture 31" descr="f010">
            <a:hlinkClick r:id="rId4" action="ppaction://hlinkpres?slideindex=1&amp;slidetitle=1. 幻灯片 1" highlightClick="1"/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223243" y="3071813"/>
            <a:ext cx="504825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灯片编号占位符 15"/>
          <p:cNvSpPr>
            <a:spLocks noGrp="1"/>
          </p:cNvSpPr>
          <p:nvPr>
            <p:ph type="sldNum" sz="quarter" idx="12"/>
          </p:nvPr>
        </p:nvSpPr>
        <p:spPr bwMode="auto">
          <a:xfrm>
            <a:off x="7010400" y="6356350"/>
            <a:ext cx="2133600" cy="36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fld id="{420242CD-21A6-4B80-AAE7-02543FCB43B1}" type="slidenum">
              <a:rPr lang="zh-CN" altLang="en-US"/>
              <a:pPr eaLnBrk="1" hangingPunct="1"/>
              <a:t>1</a:t>
            </a:fld>
            <a:endParaRPr lang="zh-CN" altLang="en-US"/>
          </a:p>
        </p:txBody>
      </p:sp>
      <p:sp>
        <p:nvSpPr>
          <p:cNvPr id="8206" name="Rectangle 14"/>
          <p:cNvSpPr>
            <a:spLocks noChangeArrowheads="1"/>
          </p:cNvSpPr>
          <p:nvPr/>
        </p:nvSpPr>
        <p:spPr bwMode="auto">
          <a:xfrm>
            <a:off x="1475656" y="2204864"/>
            <a:ext cx="4824536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lvl="0" algn="ctr" eaLnBrk="1" hangingPunct="1"/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单个</a:t>
            </a:r>
            <a:r>
              <a:rPr lang="zh-CN" altLang="en-US" sz="3200" b="1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正态</a:t>
            </a:r>
            <a:r>
              <a:rPr lang="zh-CN" altLang="en-US" sz="3200" b="1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总体的情况</a:t>
            </a:r>
            <a:endParaRPr lang="zh-CN" altLang="en-US" sz="3200" b="1" dirty="0">
              <a:latin typeface="华文新魏" pitchFamily="2" charset="-122"/>
              <a:ea typeface="华文新魏" pitchFamily="2" charset="-122"/>
            </a:endParaRPr>
          </a:p>
        </p:txBody>
      </p:sp>
      <p:sp>
        <p:nvSpPr>
          <p:cNvPr id="8208" name="Rectangle 16"/>
          <p:cNvSpPr>
            <a:spLocks noChangeArrowheads="1"/>
          </p:cNvSpPr>
          <p:nvPr/>
        </p:nvSpPr>
        <p:spPr bwMode="auto">
          <a:xfrm>
            <a:off x="1187450" y="2924175"/>
            <a:ext cx="466345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None/>
            </a:pPr>
            <a:r>
              <a:rPr lang="zh-CN" altLang="en-US" sz="3600" dirty="0" smtClean="0">
                <a:latin typeface="华文新魏" pitchFamily="2" charset="-122"/>
                <a:ea typeface="华文新魏" pitchFamily="2" charset="-122"/>
              </a:rPr>
              <a:t>       </a:t>
            </a:r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两个正</a:t>
            </a:r>
            <a:r>
              <a:rPr lang="zh-CN" altLang="en-US" sz="3200" b="1" dirty="0">
                <a:latin typeface="华文新魏" pitchFamily="2" charset="-122"/>
                <a:ea typeface="华文新魏" pitchFamily="2" charset="-122"/>
              </a:rPr>
              <a:t>态</a:t>
            </a:r>
            <a:r>
              <a:rPr lang="zh-CN" altLang="en-US" sz="3200" b="1" dirty="0" smtClean="0">
                <a:latin typeface="华文新魏" pitchFamily="2" charset="-122"/>
                <a:ea typeface="华文新魏" pitchFamily="2" charset="-122"/>
              </a:rPr>
              <a:t>总体的情况</a:t>
            </a:r>
            <a:endParaRPr lang="zh-CN" altLang="en-US" sz="3200" b="1" dirty="0">
              <a:latin typeface="华文新魏" pitchFamily="2" charset="-122"/>
              <a:ea typeface="华文新魏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8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6" dur="2000"/>
                                        <p:tgtEl>
                                          <p:spTgt spid="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1" dur="2000"/>
                                        <p:tgtEl>
                                          <p:spTgt spid="8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8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4" dur="2000"/>
                                        <p:tgtEl>
                                          <p:spTgt spid="8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1" grpId="0"/>
      <p:bldP spid="8206" grpId="0"/>
      <p:bldP spid="820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 txBox="1">
            <a:spLocks noChangeArrowheads="1"/>
          </p:cNvSpPr>
          <p:nvPr/>
        </p:nvSpPr>
        <p:spPr>
          <a:xfrm>
            <a:off x="1096927" y="362453"/>
            <a:ext cx="7537649" cy="646331"/>
          </a:xfrm>
          <a:prstGeom prst="rect">
            <a:avLst/>
          </a:prstGeom>
          <a:noFill/>
          <a:ln/>
        </p:spPr>
        <p:txBody>
          <a:bodyPr wrap="square">
            <a:spAutoFit/>
          </a:bodyPr>
          <a:lstStyle/>
          <a:p>
            <a:pPr lvl="0" algn="ctr"/>
            <a:r>
              <a:rPr lang="zh-CN" altLang="en-US" sz="36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单个正态</a:t>
            </a:r>
            <a:r>
              <a:rPr lang="zh-CN" altLang="en-US" sz="3600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总体的情况</a:t>
            </a:r>
            <a:endParaRPr lang="zh-CN" altLang="en-US" sz="360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3081" name="Text Box 4">
                <a:hlinkClick r:id="rId3" action="ppaction://hlinksldjump"/>
              </p:cNvPr>
              <p:cNvSpPr txBox="1">
                <a:spLocks noChangeArrowheads="1"/>
              </p:cNvSpPr>
              <p:nvPr/>
            </p:nvSpPr>
            <p:spPr bwMode="auto">
              <a:xfrm>
                <a:off x="251520" y="1052736"/>
                <a:ext cx="8640960" cy="13234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ea typeface="宋体" charset="-122"/>
                  </a:defRPr>
                </a:lvl9pPr>
              </a:lstStyle>
              <a:p>
                <a:pPr eaLnBrk="1" hangingPunct="1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设总体   服从</a:t>
                </a:r>
                <a:r>
                  <a:rPr lang="zh-CN" altLang="en-US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14:m>
                  <m:oMath xmlns:m="http://schemas.openxmlformats.org/officeDocument/2006/math"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      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    </m:t>
                    </m:r>
                    <m:r>
                      <m:rPr>
                        <m:nor/>
                      </m:rPr>
                      <a:rPr lang="zh-CN" altLang="en-US" sz="2800" b="1" dirty="0">
                        <a:solidFill>
                          <a:prstClr val="black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未知</m:t>
                    </m:r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，</m:t>
                    </m:r>
                    <m:d>
                      <m:dPr>
                        <m:ctrlPr>
                          <a:rPr lang="en-US" altLang="zh-CN" sz="2800" b="0" i="1" dirty="0" smtClean="0">
                            <a:latin typeface="Cambria Math"/>
                            <a:ea typeface="+mn-ea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/>
                                <a:ea typeface="+mn-ea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/>
                                <a:ea typeface="+mn-ea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dirty="0" smtClean="0">
                            <a:latin typeface="Cambria Math"/>
                            <a:ea typeface="+mn-ea"/>
                          </a:rPr>
                          <m:t>,⋯,</m:t>
                        </m:r>
                        <m:sSub>
                          <m:sSubPr>
                            <m:ctrlPr>
                              <a:rPr lang="en-US" altLang="zh-CN" sz="2800" b="0" i="1" dirty="0" smtClean="0">
                                <a:latin typeface="Cambria Math"/>
                                <a:ea typeface="+mn-ea"/>
                              </a:rPr>
                            </m:ctrlPr>
                          </m:sSubPr>
                          <m:e>
                            <m:r>
                              <a:rPr lang="en-US" altLang="zh-CN" sz="2800" b="0" i="1" dirty="0" smtClean="0">
                                <a:latin typeface="Cambria Math"/>
                                <a:ea typeface="+mn-ea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zh-CN" sz="2800" b="0" i="1" dirty="0" smtClean="0">
                                <a:latin typeface="Cambria Math"/>
                                <a:ea typeface="+mn-ea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m:rPr>
                        <m:nor/>
                      </m:rPr>
                      <a:rPr lang="zh-CN" altLang="en-US" sz="2800" b="1" dirty="0">
                        <a:solidFill>
                          <a:prstClr val="black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为总体</m:t>
                    </m:r>
                  </m:oMath>
                </a14:m>
                <a:r>
                  <a:rPr lang="zh-CN" altLang="en-US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的一个样本，欲检验假设</a:t>
                </a:r>
                <a:r>
                  <a:rPr lang="zh-CN" altLang="en-US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：</a:t>
                </a:r>
                <a:endParaRPr lang="en-US" altLang="zh-CN" sz="2800" b="0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3081" name="Text Box 4">
                <a:hlinkClick r:id="rId3" action="ppaction://hlinksldjump"/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51520" y="1052736"/>
                <a:ext cx="8640960" cy="1323439"/>
              </a:xfrm>
              <a:prstGeom prst="rect">
                <a:avLst/>
              </a:prstGeom>
              <a:blipFill rotWithShape="1">
                <a:blip r:embed="rId4"/>
                <a:stretch>
                  <a:fillRect l="-1410" b="-1198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92156028"/>
              </p:ext>
            </p:extLst>
          </p:nvPr>
        </p:nvGraphicFramePr>
        <p:xfrm>
          <a:off x="1090300" y="2564904"/>
          <a:ext cx="3448804" cy="504056"/>
        </p:xfrm>
        <a:graphic>
          <a:graphicData uri="http://schemas.openxmlformats.org/presentationml/2006/ole">
            <p:oleObj spid="_x0000_s6371" name="Equation" r:id="rId5" imgW="1650960" imgH="241200" progId="Equation.DSMT4">
              <p:embed/>
            </p:oleObj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110958025"/>
              </p:ext>
            </p:extLst>
          </p:nvPr>
        </p:nvGraphicFramePr>
        <p:xfrm>
          <a:off x="4708343" y="2564904"/>
          <a:ext cx="2527953" cy="466487"/>
        </p:xfrm>
        <a:graphic>
          <a:graphicData uri="http://schemas.openxmlformats.org/presentationml/2006/ole">
            <p:oleObj spid="_x0000_s6372" name="Equation" r:id="rId6" imgW="1104840" imgH="203040" progId="Equation.DSMT4">
              <p:embed/>
            </p:oleObj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112627140"/>
              </p:ext>
            </p:extLst>
          </p:nvPr>
        </p:nvGraphicFramePr>
        <p:xfrm>
          <a:off x="2123728" y="5589240"/>
          <a:ext cx="3123038" cy="855944"/>
        </p:xfrm>
        <a:graphic>
          <a:graphicData uri="http://schemas.openxmlformats.org/presentationml/2006/ole">
            <p:oleObj spid="_x0000_s6373" name="Equation" r:id="rId7" imgW="1714320" imgH="469800" progId="Equation.DSMT4">
              <p:embed/>
            </p:oleObj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22754886"/>
              </p:ext>
            </p:extLst>
          </p:nvPr>
        </p:nvGraphicFramePr>
        <p:xfrm>
          <a:off x="2414853" y="1264816"/>
          <a:ext cx="1547812" cy="508000"/>
        </p:xfrm>
        <a:graphic>
          <a:graphicData uri="http://schemas.openxmlformats.org/presentationml/2006/ole">
            <p:oleObj spid="_x0000_s6374" name="Equation" r:id="rId8" imgW="850680" imgH="279360" progId="Equation.DSMT4">
              <p:embed/>
            </p:oleObj>
          </a:graphicData>
        </a:graphic>
      </p:graphicFrame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77288533"/>
              </p:ext>
            </p:extLst>
          </p:nvPr>
        </p:nvGraphicFramePr>
        <p:xfrm>
          <a:off x="1439652" y="1295233"/>
          <a:ext cx="360040" cy="333567"/>
        </p:xfrm>
        <a:graphic>
          <a:graphicData uri="http://schemas.openxmlformats.org/presentationml/2006/ole">
            <p:oleObj spid="_x0000_s6375" name="Equation" r:id="rId9" imgW="177480" imgH="164880" progId="Equation.DSMT4">
              <p:embed/>
            </p:oleObj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863764238"/>
              </p:ext>
            </p:extLst>
          </p:nvPr>
        </p:nvGraphicFramePr>
        <p:xfrm>
          <a:off x="7812360" y="1295425"/>
          <a:ext cx="360363" cy="333375"/>
        </p:xfrm>
        <a:graphic>
          <a:graphicData uri="http://schemas.openxmlformats.org/presentationml/2006/ole">
            <p:oleObj spid="_x0000_s6376" name="Equation" r:id="rId10" imgW="177492" imgH="164814" progId="Equation.DSMT4">
              <p:embed/>
            </p:oleObj>
          </a:graphicData>
        </a:graphic>
      </p:graphicFrame>
      <mc:AlternateContent xmlns:mc="http://schemas.openxmlformats.org/markup-compatibility/2006">
        <mc:Choice xmlns:a14="http://schemas.microsoft.com/office/drawing/2010/main" xmlns="" Requires="a14">
          <p:sp>
            <p:nvSpPr>
              <p:cNvPr id="18" name="TextBox 17"/>
              <p:cNvSpPr txBox="1"/>
              <p:nvPr/>
            </p:nvSpPr>
            <p:spPr>
              <a:xfrm>
                <a:off x="539552" y="4849996"/>
                <a:ext cx="828092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第六章定理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6.2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155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页）知，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𝐻</m:t>
                        </m:r>
                      </m:e>
                      <m:sub>
                        <m:r>
                          <a:rPr lang="en-US" altLang="zh-CN" sz="2800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0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成立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时</a:t>
                </a:r>
                <a:r>
                  <a:rPr lang="zh-CN" altLang="en-US" sz="2800" dirty="0" smtClean="0">
                    <a:solidFill>
                      <a:srgbClr val="000000"/>
                    </a:solidFill>
                    <a:latin typeface="+mn-ea"/>
                    <a:ea typeface="+mn-ea"/>
                  </a:rPr>
                  <a:t>，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统计量</a:t>
                </a:r>
                <a:endParaRPr lang="zh-CN" altLang="en-US" sz="28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4849996"/>
                <a:ext cx="8280920" cy="523220"/>
              </a:xfrm>
              <a:prstGeom prst="rect">
                <a:avLst/>
              </a:prstGeom>
              <a:blipFill rotWithShape="1">
                <a:blip r:embed="rId11"/>
                <a:stretch>
                  <a:fillRect l="-1546" t="-17647" r="-1399" b="-341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1406741"/>
              </p:ext>
            </p:extLst>
          </p:nvPr>
        </p:nvGraphicFramePr>
        <p:xfrm>
          <a:off x="1630363" y="3138486"/>
          <a:ext cx="5821957" cy="969071"/>
        </p:xfrm>
        <a:graphic>
          <a:graphicData uri="http://schemas.openxmlformats.org/presentationml/2006/ole">
            <p:oleObj spid="_x0000_s6377" name="Equation" r:id="rId12" imgW="2743200" imgH="457200" progId="Equation.DSMT4">
              <p:embed/>
            </p:oleObj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39552" y="4057908"/>
            <a:ext cx="540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过大或过小都可以认为不成立</a:t>
            </a:r>
            <a:r>
              <a:rPr lang="en-US" altLang="zh-CN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67544" y="3284984"/>
            <a:ext cx="11521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分析：</a:t>
            </a:r>
            <a:endParaRPr lang="zh-CN" altLang="en-US" sz="28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081" grpId="0" animBg="1"/>
      <p:bldP spid="18" grpId="0" animBg="1"/>
      <p:bldP spid="22" grpId="0"/>
      <p:bldP spid="2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467544" y="1340768"/>
            <a:ext cx="81375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1959548"/>
              </p:ext>
            </p:extLst>
          </p:nvPr>
        </p:nvGraphicFramePr>
        <p:xfrm>
          <a:off x="2244611" y="4365104"/>
          <a:ext cx="4038600" cy="790575"/>
        </p:xfrm>
        <a:graphic>
          <a:graphicData uri="http://schemas.openxmlformats.org/presentationml/2006/ole">
            <p:oleObj spid="_x0000_s8252" name="Equation" r:id="rId3" imgW="2463800" imgH="482600" progId="Equation.DSMT4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27584" y="1465620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所以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355550622"/>
              </p:ext>
            </p:extLst>
          </p:nvPr>
        </p:nvGraphicFramePr>
        <p:xfrm>
          <a:off x="2851448" y="2354387"/>
          <a:ext cx="1712912" cy="855662"/>
        </p:xfrm>
        <a:graphic>
          <a:graphicData uri="http://schemas.openxmlformats.org/presentationml/2006/ole">
            <p:oleObj spid="_x0000_s8253" name="Equation" r:id="rId4" imgW="939600" imgH="469800" progId="Equation.DSMT4">
              <p:embed/>
            </p:oleObj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993323" y="3429000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053523071"/>
              </p:ext>
            </p:extLst>
          </p:nvPr>
        </p:nvGraphicFramePr>
        <p:xfrm>
          <a:off x="539552" y="435725"/>
          <a:ext cx="7197726" cy="923925"/>
        </p:xfrm>
        <a:graphic>
          <a:graphicData uri="http://schemas.openxmlformats.org/presentationml/2006/ole">
            <p:oleObj spid="_x0000_s8254" name="Equation" r:id="rId5" imgW="3949560" imgH="507960" progId="Equation.DSMT4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53603596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xmlns="" Requires="a14">
          <p:sp>
            <p:nvSpPr>
              <p:cNvPr id="4098" name="Rectangle 2"/>
              <p:cNvSpPr>
                <a:spLocks noGrp="1" noChangeArrowheads="1"/>
              </p:cNvSpPr>
              <p:nvPr>
                <p:ph idx="1"/>
              </p:nvPr>
            </p:nvSpPr>
            <p:spPr bwMode="auto">
              <a:xfrm>
                <a:off x="683568" y="548681"/>
                <a:ext cx="7993508" cy="2304256"/>
              </a:xfrm>
              <a:noFill/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buNone/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例</a:t>
                </a:r>
                <a:r>
                  <a:rPr lang="en-US" altLang="zh-CN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 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:r>
                  <a:rPr lang="zh-CN" altLang="en-US" sz="28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某</a:t>
                </a:r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厂生产的维尼纶纤度</a:t>
                </a:r>
                <a14:m>
                  <m:oMath xmlns:m="http://schemas.openxmlformats.org/officeDocument/2006/math">
                    <m:r>
                      <a:rPr lang="en-US" altLang="zh-CN" sz="2800" b="1" i="1" smtClean="0">
                        <a:solidFill>
                          <a:schemeClr val="tx1"/>
                        </a:solidFill>
                        <a:latin typeface="Cambria Math"/>
                      </a:rPr>
                      <m:t>𝑿</m:t>
                    </m:r>
                  </m:oMath>
                </a14:m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服从</a:t>
                </a:r>
                <a14:m>
                  <m:oMath xmlns:m="http://schemas.openxmlformats.org/officeDocument/2006/math">
                    <m:r>
                      <a:rPr lang="en-US" altLang="zh-CN" sz="2800" b="1" i="1" kern="1200">
                        <a:solidFill>
                          <a:srgbClr val="000000"/>
                        </a:solidFill>
                        <a:latin typeface="Cambria Math"/>
                      </a:rPr>
                      <m:t>𝑵</m:t>
                    </m:r>
                    <m:d>
                      <m:dPr>
                        <m:ctrlPr>
                          <a:rPr lang="en-US" altLang="zh-CN" sz="28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zh-CN" altLang="en-US" sz="28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𝝁</m:t>
                        </m:r>
                        <m:r>
                          <a:rPr lang="en-US" altLang="zh-CN" sz="2800" b="1" i="1" kern="1200">
                            <a:solidFill>
                              <a:srgbClr val="000000"/>
                            </a:solidFill>
                            <a:latin typeface="Cambria Math"/>
                          </a:rPr>
                          <m:t>,</m:t>
                        </m:r>
                        <m:sSup>
                          <m:sSupPr>
                            <m:ctrlPr>
                              <a:rPr lang="en-US" altLang="zh-CN" sz="2800" b="1" i="1" kern="1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sSupPr>
                          <m:e>
                            <m:r>
                              <a:rPr lang="zh-CN" altLang="en-US" sz="2800" b="1" i="1" kern="1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𝝈</m:t>
                            </m:r>
                          </m:e>
                          <m:sup>
                            <m:r>
                              <a:rPr lang="en-US" altLang="zh-CN" sz="2800" b="1" i="1" kern="120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𝟐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zh-CN" sz="2800" b="1" kern="1200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zh-CN" altLang="en-US" sz="28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𝝈</m:t>
                    </m:r>
                    <m:r>
                      <a:rPr lang="en-US" altLang="zh-CN" sz="28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=</m:t>
                    </m:r>
                    <m:r>
                      <a:rPr lang="en-US" altLang="zh-CN" sz="28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𝟎</m:t>
                    </m:r>
                    <m:r>
                      <a:rPr lang="en-US" altLang="zh-CN" sz="28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  <m:r>
                      <a:rPr lang="en-US" altLang="zh-CN" sz="28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𝟎𝟒𝟖</m:t>
                    </m:r>
                    <m:r>
                      <a:rPr lang="en-US" altLang="zh-CN" sz="2800" b="1" i="1" kern="1200" dirty="0" smtClean="0">
                        <a:solidFill>
                          <a:srgbClr val="000000"/>
                        </a:solidFill>
                        <a:latin typeface="Cambria Math"/>
                      </a:rPr>
                      <m:t>.</m:t>
                    </m:r>
                    <m:r>
                      <m:rPr>
                        <m:nor/>
                      </m:rPr>
                      <a:rPr lang="zh-CN" altLang="en-US" sz="2800" b="1" dirty="0">
                        <a:solidFill>
                          <a:srgbClr val="00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今任取</m:t>
                    </m:r>
                  </m:oMath>
                </a14:m>
                <a:r>
                  <a:rPr lang="en-US" altLang="zh-CN" sz="28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5</a:t>
                </a:r>
                <a:r>
                  <a:rPr lang="zh-CN" altLang="en-US" sz="28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根纤维，测得纤度为：</a:t>
                </a:r>
                <a:endParaRPr lang="en-US" altLang="zh-CN" sz="2800" b="1" kern="1200" dirty="0" smtClean="0">
                  <a:solidFill>
                    <a:srgbClr val="00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ctr" eaLnBrk="1" hangingPunct="1">
                  <a:buFontTx/>
                  <a:buNone/>
                </a:pPr>
                <a:r>
                  <a:rPr lang="en-US" altLang="zh-CN" sz="2800" b="1" kern="1200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1.32,1.55,1.36,1.40,1.44,</a:t>
                </a:r>
              </a:p>
              <a:p>
                <a:pPr marL="0" indent="0" eaLnBrk="1" hangingPunct="1">
                  <a:spcBef>
                    <a:spcPts val="0"/>
                  </a:spcBef>
                  <a:buFontTx/>
                  <a:buNone/>
                </a:pP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问在显著性水平</a:t>
                </a:r>
                <a14:m>
                  <m:oMath xmlns:m="http://schemas.openxmlformats.org/officeDocument/2006/math">
                    <m:r>
                      <a:rPr lang="zh-CN" altLang="en-US" sz="2800" b="1" i="1" smtClean="0">
                        <a:latin typeface="Cambria Math"/>
                      </a:rPr>
                      <m:t>𝜶</m:t>
                    </m:r>
                    <m:r>
                      <a:rPr lang="en-US" altLang="zh-CN" sz="2800" b="1" i="1" smtClean="0">
                        <a:latin typeface="Cambria Math"/>
                      </a:rPr>
                      <m:t>=</m:t>
                    </m:r>
                    <m:r>
                      <a:rPr lang="en-US" altLang="zh-CN" sz="2800" b="1" i="1" smtClean="0">
                        <a:latin typeface="Cambria Math"/>
                      </a:rPr>
                      <m:t>𝟎</m:t>
                    </m:r>
                    <m:r>
                      <a:rPr lang="en-US" altLang="zh-CN" sz="2800" b="1" i="1" smtClean="0">
                        <a:latin typeface="Cambria Math"/>
                      </a:rPr>
                      <m:t>.</m:t>
                    </m:r>
                    <m:r>
                      <a:rPr lang="en-US" altLang="zh-CN" sz="2800" b="1" i="1" smtClean="0">
                        <a:latin typeface="Cambria Math"/>
                      </a:rPr>
                      <m:t>𝟏</m:t>
                    </m:r>
                  </m:oMath>
                </a14:m>
                <a:r>
                  <a:rPr lang="zh-CN" altLang="en-US" sz="2800" b="1" dirty="0" smtClean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下，纤度总体的方差有无显著变化？                      </a:t>
                </a:r>
                <a:endParaRPr lang="en-US" altLang="zh-CN" sz="2800" b="1" dirty="0" smtClean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eaLnBrk="1" hangingPunct="1">
                  <a:buFontTx/>
                  <a:buNone/>
                </a:pPr>
                <a:r>
                  <a:rPr lang="en-US" altLang="zh-CN" sz="2800" b="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r>
                  <a:rPr lang="en-US" altLang="zh-CN" sz="2800" b="0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/>
                </a:r>
                <a:endParaRPr lang="zh-CN" altLang="en-US" sz="2800" b="0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4098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683568" y="548681"/>
                <a:ext cx="7993508" cy="2304256"/>
              </a:xfrm>
              <a:blipFill rotWithShape="1">
                <a:blip r:embed="rId3"/>
                <a:stretch>
                  <a:fillRect l="-1526" t="-1058" r="-1068" b="-10053"/>
                </a:stretch>
              </a:blipFill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00" name="Rectangle 4"/>
          <p:cNvSpPr>
            <a:spLocks noChangeArrowheads="1"/>
          </p:cNvSpPr>
          <p:nvPr/>
        </p:nvSpPr>
        <p:spPr bwMode="auto">
          <a:xfrm>
            <a:off x="467544" y="1340768"/>
            <a:ext cx="8137525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charset="-122"/>
              </a:defRPr>
            </a:lvl9pPr>
          </a:lstStyle>
          <a:p>
            <a:pPr eaLnBrk="1" hangingPunct="1"/>
            <a:endParaRPr lang="zh-CN" altLang="en-US" sz="2800" dirty="0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724213450"/>
              </p:ext>
            </p:extLst>
          </p:nvPr>
        </p:nvGraphicFramePr>
        <p:xfrm>
          <a:off x="2915816" y="2972376"/>
          <a:ext cx="3752850" cy="431800"/>
        </p:xfrm>
        <a:graphic>
          <a:graphicData uri="http://schemas.openxmlformats.org/presentationml/2006/ole">
            <p:oleObj spid="_x0000_s7295" name="Equation" r:id="rId4" imgW="2095200" imgH="241200" progId="Equation.DSMT4">
              <p:embed/>
            </p:oleObj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903840" y="3618602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78410303"/>
              </p:ext>
            </p:extLst>
          </p:nvPr>
        </p:nvGraphicFramePr>
        <p:xfrm>
          <a:off x="2927703" y="3441545"/>
          <a:ext cx="1712913" cy="855663"/>
        </p:xfrm>
        <a:graphic>
          <a:graphicData uri="http://schemas.openxmlformats.org/presentationml/2006/ole">
            <p:oleObj spid="_x0000_s7296" name="Equation" r:id="rId5" imgW="939800" imgH="469900" progId="Equation.DSMT4">
              <p:embed/>
            </p:oleObj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862013" y="4293096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00774866"/>
              </p:ext>
            </p:extLst>
          </p:nvPr>
        </p:nvGraphicFramePr>
        <p:xfrm>
          <a:off x="2060721" y="4222601"/>
          <a:ext cx="4038600" cy="790575"/>
        </p:xfrm>
        <a:graphic>
          <a:graphicData uri="http://schemas.openxmlformats.org/presentationml/2006/ole">
            <p:oleObj spid="_x0000_s7297" name="Equation" r:id="rId6" imgW="2463800" imgH="482600" progId="Equation.DSMT4">
              <p:embed/>
            </p:oleObj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845586" y="2926666"/>
            <a:ext cx="2430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  检验假设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84822" y="5013176"/>
            <a:ext cx="99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32127014"/>
              </p:ext>
            </p:extLst>
          </p:nvPr>
        </p:nvGraphicFramePr>
        <p:xfrm>
          <a:off x="1835696" y="5043805"/>
          <a:ext cx="4557712" cy="461962"/>
        </p:xfrm>
        <a:graphic>
          <a:graphicData uri="http://schemas.openxmlformats.org/presentationml/2006/ole">
            <p:oleObj spid="_x0000_s7298" name="Equation" r:id="rId7" imgW="2501640" imgH="253800" progId="Equation.DSMT4">
              <p:embed/>
            </p:oleObj>
          </a:graphicData>
        </a:graphic>
      </p:graphicFrame>
      <p:graphicFrame>
        <p:nvGraphicFramePr>
          <p:cNvPr id="20" name="对象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828005356"/>
              </p:ext>
            </p:extLst>
          </p:nvPr>
        </p:nvGraphicFramePr>
        <p:xfrm>
          <a:off x="985838" y="5661025"/>
          <a:ext cx="7102475" cy="831850"/>
        </p:xfrm>
        <a:graphic>
          <a:graphicData uri="http://schemas.openxmlformats.org/presentationml/2006/ole">
            <p:oleObj spid="_x0000_s7299" name="Equation" r:id="rId8" imgW="3898800" imgH="457200" progId="Equation.DSMT4">
              <p:embed/>
            </p:oleObj>
          </a:graphicData>
        </a:graphic>
      </p:graphicFrame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6" grpId="0"/>
      <p:bldP spid="18" grpId="0"/>
      <p:bldP spid="1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15616" y="404664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CN" altLang="en-US" sz="3600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两个</a:t>
            </a:r>
            <a:r>
              <a:rPr lang="zh-CN" altLang="en-US" sz="3600" dirty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正态</a:t>
            </a:r>
            <a:r>
              <a:rPr lang="zh-CN" altLang="en-US" sz="3600" dirty="0" smtClean="0">
                <a:solidFill>
                  <a:srgbClr val="000000"/>
                </a:solidFill>
                <a:latin typeface="华文新魏" pitchFamily="2" charset="-122"/>
                <a:ea typeface="华文新魏" pitchFamily="2" charset="-122"/>
              </a:rPr>
              <a:t>总体的情况</a:t>
            </a:r>
            <a:endParaRPr lang="zh-CN" altLang="en-US" sz="3600" dirty="0">
              <a:solidFill>
                <a:srgbClr val="000000"/>
              </a:solidFill>
              <a:latin typeface="华文新魏" pitchFamily="2" charset="-122"/>
              <a:ea typeface="华文新魏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8" name="TextBox 7"/>
              <p:cNvSpPr txBox="1"/>
              <p:nvPr/>
            </p:nvSpPr>
            <p:spPr>
              <a:xfrm>
                <a:off x="179512" y="1258113"/>
                <a:ext cx="7992888" cy="13849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2400" dirty="0" smtClean="0"/>
                  <a:t/>
                </a:r>
                <a:r>
                  <a:rPr lang="zh-CN" altLang="en-US" sz="2400" dirty="0" smtClean="0">
                    <a:latin typeface="+mn-ea"/>
                    <a:ea typeface="+mn-ea"/>
                  </a:rPr>
                  <a:t/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设总体                               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14:m>
                  <m:oMath xmlns:m="http://schemas.openxmlformats.org/officeDocument/2006/math">
                    <m:r>
                      <a:rPr lang="zh-CN" altLang="en-US" sz="2800" b="1" i="1" dirty="0">
                        <a:solidFill>
                          <a:srgbClr val="000000"/>
                        </a:solidFill>
                        <a:latin typeface="Cambria Math"/>
                        <a:ea typeface="+mn-ea"/>
                      </a:rPr>
                      <m:t>分别是</m:t>
                    </m:r>
                  </m:oMath>
                </a14:m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取自  和   的样本且相互独立，其样本方差分别为           且                     均</a:t>
                </a:r>
                <a:r>
                  <a:rPr lang="zh-CN" altLang="en-US" sz="28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</a:t>
                </a:r>
                <a:r>
                  <a:rPr lang="zh-CN" altLang="en-US" sz="2800" b="1" dirty="0" smtClean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未知，检验假设</a:t>
                </a:r>
                <a:endParaRPr lang="en-US" altLang="zh-CN" sz="2800" b="1" dirty="0" smtClean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1258113"/>
                <a:ext cx="7992888" cy="1384995"/>
              </a:xfrm>
              <a:prstGeom prst="rect">
                <a:avLst/>
              </a:prstGeom>
              <a:blipFill rotWithShape="1">
                <a:blip r:embed="rId4"/>
                <a:stretch>
                  <a:fillRect l="-1524" t="-4386" b="-1096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xmlns="" Requires="a14">
          <p:sp>
            <p:nvSpPr>
              <p:cNvPr id="10" name="TextBox 9"/>
              <p:cNvSpPr txBox="1"/>
              <p:nvPr/>
            </p:nvSpPr>
            <p:spPr>
              <a:xfrm>
                <a:off x="179512" y="3356992"/>
                <a:ext cx="763284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/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由定理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6.2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的推论</a:t>
                </a:r>
                <a:r>
                  <a:rPr lang="en-US" altLang="zh-CN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</a:t>
                </a:r>
                <a:r>
                  <a:rPr lang="zh-CN" altLang="en-US" sz="2800" b="1" dirty="0" smtClean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知</a:t>
                </a:r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</m:ctrlPr>
                      </m:sSubPr>
                      <m:e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𝑯</m:t>
                        </m:r>
                      </m:e>
                      <m:sub>
                        <m:r>
                          <a:rPr lang="en-US" altLang="zh-CN" sz="2800" b="1" i="1">
                            <a:solidFill>
                              <a:srgbClr val="000000"/>
                            </a:solidFill>
                            <a:latin typeface="Cambria Math"/>
                            <a:ea typeface="+mn-ea"/>
                          </a:rPr>
                          <m:t>𝟎</m:t>
                        </m:r>
                      </m:sub>
                    </m:sSub>
                  </m:oMath>
                </a14:m>
                <a:r>
                  <a:rPr lang="zh-CN" altLang="en-US" sz="2800" b="1" dirty="0">
                    <a:solidFill>
                      <a:srgbClr val="00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成立时，统计量</a:t>
                </a:r>
              </a:p>
            </p:txBody>
          </p:sp>
        </mc:Choice>
        <mc:Fallback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3356992"/>
                <a:ext cx="7632848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1596" t="-11628" b="-313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1" name="对象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989278212"/>
              </p:ext>
            </p:extLst>
          </p:nvPr>
        </p:nvGraphicFramePr>
        <p:xfrm>
          <a:off x="1979712" y="3933056"/>
          <a:ext cx="3324205" cy="844932"/>
        </p:xfrm>
        <a:graphic>
          <a:graphicData uri="http://schemas.openxmlformats.org/presentationml/2006/ole">
            <p:oleObj spid="_x0000_s1260" name="Equation" r:id="rId6" imgW="1625400" imgH="457200" progId="Equation.DSMT4">
              <p:embed/>
            </p:oleObj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484306256"/>
              </p:ext>
            </p:extLst>
          </p:nvPr>
        </p:nvGraphicFramePr>
        <p:xfrm>
          <a:off x="1331640" y="2132856"/>
          <a:ext cx="936104" cy="433804"/>
        </p:xfrm>
        <a:graphic>
          <a:graphicData uri="http://schemas.openxmlformats.org/presentationml/2006/ole">
            <p:oleObj spid="_x0000_s1261" name="Equation" r:id="rId7" imgW="520560" imgH="241200" progId="Equation.DSMT4">
              <p:embed/>
            </p:oleObj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18257570"/>
              </p:ext>
            </p:extLst>
          </p:nvPr>
        </p:nvGraphicFramePr>
        <p:xfrm>
          <a:off x="2627784" y="2132856"/>
          <a:ext cx="1937497" cy="438244"/>
        </p:xfrm>
        <a:graphic>
          <a:graphicData uri="http://schemas.openxmlformats.org/presentationml/2006/ole">
            <p:oleObj spid="_x0000_s1262" name="Equation" r:id="rId8" imgW="1066680" imgH="241200" progId="Equation.DSMT4">
              <p:embed/>
            </p:oleObj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795084847"/>
              </p:ext>
            </p:extLst>
          </p:nvPr>
        </p:nvGraphicFramePr>
        <p:xfrm>
          <a:off x="1907704" y="2780928"/>
          <a:ext cx="3312368" cy="487868"/>
        </p:xfrm>
        <a:graphic>
          <a:graphicData uri="http://schemas.openxmlformats.org/presentationml/2006/ole">
            <p:oleObj spid="_x0000_s1263" name="Equation" r:id="rId9" imgW="1638000" imgH="241200" progId="Equation.DSMT4">
              <p:embed/>
            </p:oleObj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212337032"/>
              </p:ext>
            </p:extLst>
          </p:nvPr>
        </p:nvGraphicFramePr>
        <p:xfrm>
          <a:off x="1979712" y="1312441"/>
          <a:ext cx="6389688" cy="460375"/>
        </p:xfrm>
        <a:graphic>
          <a:graphicData uri="http://schemas.openxmlformats.org/presentationml/2006/ole">
            <p:oleObj spid="_x0000_s1264" name="Equation" r:id="rId10" imgW="3873240" imgH="279360" progId="Equation.DSMT4">
              <p:embed/>
            </p:oleObj>
          </a:graphicData>
        </a:graphic>
      </p:graphicFrame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430675689"/>
              </p:ext>
            </p:extLst>
          </p:nvPr>
        </p:nvGraphicFramePr>
        <p:xfrm>
          <a:off x="1942660" y="1789775"/>
          <a:ext cx="323504" cy="299334"/>
        </p:xfrm>
        <a:graphic>
          <a:graphicData uri="http://schemas.openxmlformats.org/presentationml/2006/ole">
            <p:oleObj spid="_x0000_s1265" name="Equation" r:id="rId11" imgW="177480" imgH="164880" progId="Equation.DSMT4">
              <p:embed/>
            </p:oleObj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624382234"/>
              </p:ext>
            </p:extLst>
          </p:nvPr>
        </p:nvGraphicFramePr>
        <p:xfrm>
          <a:off x="2627784" y="1763823"/>
          <a:ext cx="288032" cy="340978"/>
        </p:xfrm>
        <a:graphic>
          <a:graphicData uri="http://schemas.openxmlformats.org/presentationml/2006/ole">
            <p:oleObj spid="_x0000_s1266" name="Equation" r:id="rId12" imgW="139680" imgH="164880" progId="Equation.DSMT4">
              <p:embed/>
            </p:oleObj>
          </a:graphicData>
        </a:graphic>
      </p:graphicFrame>
      <p:graphicFrame>
        <p:nvGraphicFramePr>
          <p:cNvPr id="14" name="对象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888705916"/>
              </p:ext>
            </p:extLst>
          </p:nvPr>
        </p:nvGraphicFramePr>
        <p:xfrm>
          <a:off x="1259632" y="4941168"/>
          <a:ext cx="4303712" cy="1801812"/>
        </p:xfrm>
        <a:graphic>
          <a:graphicData uri="http://schemas.openxmlformats.org/presentationml/2006/ole">
            <p:oleObj spid="_x0000_s1267" name="Equation" r:id="rId13" imgW="2362200" imgH="9906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45526559"/>
              </p:ext>
            </p:extLst>
          </p:nvPr>
        </p:nvGraphicFramePr>
        <p:xfrm>
          <a:off x="2385843" y="1519098"/>
          <a:ext cx="5383704" cy="796034"/>
        </p:xfrm>
        <a:graphic>
          <a:graphicData uri="http://schemas.openxmlformats.org/presentationml/2006/ole">
            <p:oleObj spid="_x0000_s9255" name="Equation" r:id="rId4" imgW="3263760" imgH="482400" progId="Equation.DSMT4">
              <p:embed/>
            </p:oleObj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14430" y="404664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因此</a:t>
            </a:r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16" name="对象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53747383"/>
              </p:ext>
            </p:extLst>
          </p:nvPr>
        </p:nvGraphicFramePr>
        <p:xfrm>
          <a:off x="3794750" y="404664"/>
          <a:ext cx="1012825" cy="844550"/>
        </p:xfrm>
        <a:graphic>
          <a:graphicData uri="http://schemas.openxmlformats.org/presentationml/2006/ole">
            <p:oleObj spid="_x0000_s9256" name="Equation" r:id="rId5" imgW="495000" imgH="457200" progId="Equation.DSMT4">
              <p:embed/>
            </p:oleObj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1017691" y="155679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6" name="矩形 5"/>
              <p:cNvSpPr/>
              <p:nvPr/>
            </p:nvSpPr>
            <p:spPr>
              <a:xfrm>
                <a:off x="179512" y="2470244"/>
                <a:ext cx="8712968" cy="433965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b="1" kern="0" dirty="0" smtClean="0">
                    <a:solidFill>
                      <a:srgbClr val="FF0000"/>
                    </a:solidFill>
                    <a:latin typeface="Times New Roman"/>
                    <a:ea typeface="宋体"/>
                  </a:rPr>
                  <a:t>例</a:t>
                </a:r>
                <a:r>
                  <a:rPr lang="en-US" altLang="zh-CN" sz="2400" b="1" kern="0" dirty="0" smtClean="0">
                    <a:solidFill>
                      <a:srgbClr val="FF0000"/>
                    </a:solidFill>
                    <a:latin typeface="Times New Roman"/>
                    <a:ea typeface="宋体"/>
                  </a:rPr>
                  <a:t>2  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用不同方法冶炼某种金属，分别抽样测得其杂质的含量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(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单位：百分率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)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如下：</a:t>
                </a:r>
                <a:endParaRPr lang="en-US" altLang="zh-CN" sz="2400" b="1" kern="0" dirty="0" smtClean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    旧法：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26.9,22.8,25.7,23.0,22.3,24.2,26.1,26.4,27.2,</a:t>
                </a: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30.2,24.5</a:t>
                </a:r>
                <a:r>
                  <a:rPr lang="zh-CN" altLang="en-US" sz="2400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，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29.5,25.1</a:t>
                </a: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400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新法：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22.6,22.5,20.6,23.5,24.3,21.9,20.6,23.2,23.4</a:t>
                </a:r>
              </a:p>
              <a:p>
                <a:pPr lvl="0">
                  <a:lnSpc>
                    <a:spcPct val="150000"/>
                  </a:lnSpc>
                  <a:spcBef>
                    <a:spcPts val="0"/>
                  </a:spcBef>
                </a:pPr>
                <a:r>
                  <a:rPr lang="en-US" altLang="zh-CN" sz="2400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设在两种方法下杂质含量均服从正态分布</a:t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. </a:t>
                </a:r>
                <a:r>
                  <a:rPr lang="zh-CN" altLang="en-US" sz="2400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>问</a:t>
                </a:r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在两种冶炼方法下，杂质含量的方差是否相同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</m:ctrlPr>
                      </m:dPr>
                      <m:e>
                        <m:r>
                          <a:rPr lang="zh-CN" altLang="en-US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𝜶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=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𝟎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.</m:t>
                        </m:r>
                        <m:r>
                          <a:rPr lang="en-US" altLang="zh-CN" sz="2400" b="1" i="1" kern="0" smtClean="0">
                            <a:solidFill>
                              <a:srgbClr val="000000"/>
                            </a:solidFill>
                            <a:latin typeface="Cambria Math"/>
                            <a:ea typeface="宋体"/>
                          </a:rPr>
                          <m:t>𝟎𝟓</m:t>
                        </m:r>
                      </m:e>
                    </m:d>
                  </m:oMath>
                </a14:m>
                <a:r>
                  <a:rPr lang="zh-CN" altLang="en-US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>？</a:t>
                </a:r>
                <a:endParaRPr lang="en-US" altLang="zh-CN" sz="2400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  <a:p>
                <a:pPr lvl="0">
                  <a:spcBef>
                    <a:spcPts val="0"/>
                  </a:spcBef>
                </a:pPr>
                <a:r>
                  <a:rPr lang="en-US" altLang="zh-CN" sz="2400" b="1" kern="0" dirty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:r>
                  <a:rPr lang="en-US" altLang="zh-CN" sz="2400" b="1" kern="0" dirty="0" smtClean="0">
                    <a:solidFill>
                      <a:srgbClr val="000000"/>
                    </a:solidFill>
                    <a:latin typeface="Times New Roman"/>
                    <a:ea typeface="宋体"/>
                  </a:rPr>
                  <a:t/>
                </a:r>
                <a:endParaRPr lang="en-US" altLang="zh-CN" sz="2400" b="1" kern="0" dirty="0">
                  <a:solidFill>
                    <a:srgbClr val="000000"/>
                  </a:solidFill>
                  <a:latin typeface="Times New Roman"/>
                  <a:ea typeface="宋体"/>
                </a:endParaRPr>
              </a:p>
            </p:txBody>
          </p:sp>
        </mc:Choice>
        <mc:Fallback>
          <p:sp>
            <p:nvSpPr>
              <p:cNvPr id="6" name="矩形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2470244"/>
                <a:ext cx="8712968" cy="4339650"/>
              </a:xfrm>
              <a:prstGeom prst="rect">
                <a:avLst/>
              </a:prstGeom>
              <a:blipFill rotWithShape="1">
                <a:blip r:embed="rId6"/>
                <a:stretch>
                  <a:fillRect l="-1049" r="-7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xmlns="" val="474069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39552" y="476672"/>
            <a:ext cx="24302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解  </a:t>
            </a:r>
            <a:r>
              <a:rPr lang="zh-CN" altLang="en-US" sz="28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检验假设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31717038"/>
              </p:ext>
            </p:extLst>
          </p:nvPr>
        </p:nvGraphicFramePr>
        <p:xfrm>
          <a:off x="2411760" y="1196752"/>
          <a:ext cx="3311525" cy="487363"/>
        </p:xfrm>
        <a:graphic>
          <a:graphicData uri="http://schemas.openxmlformats.org/presentationml/2006/ole">
            <p:oleObj spid="_x0000_s10312" name="Equation" r:id="rId3" imgW="1638300" imgH="241300" progId="Equation.DSMT4">
              <p:embed/>
            </p:oleObj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30" y="2060848"/>
            <a:ext cx="205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检验统计量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252839950"/>
              </p:ext>
            </p:extLst>
          </p:nvPr>
        </p:nvGraphicFramePr>
        <p:xfrm>
          <a:off x="2771800" y="2584068"/>
          <a:ext cx="1012825" cy="844550"/>
        </p:xfrm>
        <a:graphic>
          <a:graphicData uri="http://schemas.openxmlformats.org/presentationml/2006/ole">
            <p:oleObj spid="_x0000_s10313" name="Equation" r:id="rId4" imgW="495085" imgH="457002" progId="Equation.DSMT4">
              <p:embed/>
            </p:oleObj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43608" y="3356992"/>
            <a:ext cx="13681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拒绝域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615637699"/>
              </p:ext>
            </p:extLst>
          </p:nvPr>
        </p:nvGraphicFramePr>
        <p:xfrm>
          <a:off x="1259632" y="3910526"/>
          <a:ext cx="5383212" cy="796925"/>
        </p:xfrm>
        <a:graphic>
          <a:graphicData uri="http://schemas.openxmlformats.org/presentationml/2006/ole">
            <p:oleObj spid="_x0000_s10314" name="Equation" r:id="rId5" imgW="3263900" imgH="482600" progId="Equation.DSMT4">
              <p:embed/>
            </p:oleObj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984822" y="4797152"/>
            <a:ext cx="9948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计算</a:t>
            </a:r>
            <a:endParaRPr lang="zh-CN" altLang="en-US" sz="28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957747260"/>
              </p:ext>
            </p:extLst>
          </p:nvPr>
        </p:nvGraphicFramePr>
        <p:xfrm>
          <a:off x="1997004" y="4833222"/>
          <a:ext cx="4371975" cy="461962"/>
        </p:xfrm>
        <a:graphic>
          <a:graphicData uri="http://schemas.openxmlformats.org/presentationml/2006/ole">
            <p:oleObj spid="_x0000_s10315" name="Equation" r:id="rId6" imgW="2400120" imgH="253800" progId="Equation.DSMT4">
              <p:embed/>
            </p:oleObj>
          </a:graphicData>
        </a:graphic>
      </p:graphicFrame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122401091"/>
              </p:ext>
            </p:extLst>
          </p:nvPr>
        </p:nvGraphicFramePr>
        <p:xfrm>
          <a:off x="815975" y="5445125"/>
          <a:ext cx="7286625" cy="831850"/>
        </p:xfrm>
        <a:graphic>
          <a:graphicData uri="http://schemas.openxmlformats.org/presentationml/2006/ole">
            <p:oleObj spid="_x0000_s10316" name="Equation" r:id="rId7" imgW="4000320" imgH="457200" progId="Equation.DSMT4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/>
      <p:bldP spid="11" grpId="0"/>
    </p:bldLst>
  </p:timing>
</p:sld>
</file>

<file path=ppt/theme/_rels/them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theme/theme1.xml><?xml version="1.0" encoding="utf-8"?>
<a:theme xmlns:a="http://schemas.openxmlformats.org/drawingml/2006/main" name="6_Notebook">
  <a:themeElements>
    <a:clrScheme name="6_Notebook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6_Notebook">
      <a:majorFont>
        <a:latin typeface="Times New Roman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宋体" pitchFamily="2" charset="-122"/>
          </a:defRPr>
        </a:defPPr>
      </a:lstStyle>
    </a:lnDef>
  </a:objectDefaults>
  <a:extraClrSchemeLst>
    <a:extraClrScheme>
      <a:clrScheme name="6_Notebook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Notebook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8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9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0">
        <a:dk1>
          <a:srgbClr val="A50021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8C001B"/>
        </a:accent4>
        <a:accent5>
          <a:srgbClr val="DAEDEF"/>
        </a:accent5>
        <a:accent6>
          <a:srgbClr val="2D2DB9"/>
        </a:accent6>
        <a:hlink>
          <a:srgbClr val="CCCCFF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Notebook 11">
        <a:dk1>
          <a:srgbClr val="000000"/>
        </a:dk1>
        <a:lt1>
          <a:srgbClr val="FFFFFF"/>
        </a:lt1>
        <a:dk2>
          <a:srgbClr val="A50021"/>
        </a:dk2>
        <a:lt2>
          <a:srgbClr val="808080"/>
        </a:lt2>
        <a:accent1>
          <a:srgbClr val="BBE0E3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B9"/>
        </a:accent6>
        <a:hlink>
          <a:srgbClr val="0099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龙腾四海">
  <a:themeElements>
    <a:clrScheme name="龙腾四海">
      <a:dk1>
        <a:sysClr val="windowText" lastClr="000000"/>
      </a:dk1>
      <a:lt1>
        <a:sysClr val="window" lastClr="FFFFFF"/>
      </a:lt1>
      <a:dk2>
        <a:srgbClr val="001B36"/>
      </a:dk2>
      <a:lt2>
        <a:srgbClr val="EDF8FE"/>
      </a:lt2>
      <a:accent1>
        <a:srgbClr val="477AB1"/>
      </a:accent1>
      <a:accent2>
        <a:srgbClr val="51848E"/>
      </a:accent2>
      <a:accent3>
        <a:srgbClr val="7B9B57"/>
      </a:accent3>
      <a:accent4>
        <a:srgbClr val="8B8D8C"/>
      </a:accent4>
      <a:accent5>
        <a:srgbClr val="8B7396"/>
      </a:accent5>
      <a:accent6>
        <a:srgbClr val="E89A53"/>
      </a:accent6>
      <a:hlink>
        <a:srgbClr val="0080FF"/>
      </a:hlink>
      <a:folHlink>
        <a:srgbClr val="FF00FF"/>
      </a:folHlink>
    </a:clrScheme>
    <a:fontScheme name="龙腾四海">
      <a:majorFont>
        <a:latin typeface="Maiandra GD"/>
        <a:ea typeface=""/>
        <a:cs typeface=""/>
        <a:font script="CYRL" typeface="Times New Roman"/>
        <a:font script="GREK" typeface="Times New Roman"/>
        <a:font script="Jpan" typeface="ＭＳ Ｐゴシック"/>
        <a:font script="Hang" typeface="HY중고딕"/>
        <a:font script="Hans" typeface="隶书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ambria"/>
        <a:ea typeface=""/>
        <a:cs typeface=""/>
        <a:font script="Jpan" typeface="ＭＳ Ｐ明朝"/>
        <a:font script="Hang" typeface="HY견명조"/>
        <a:font script="Hans" typeface="华文楷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龙腾四海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100000"/>
                <a:shade val="50000"/>
                <a:hueMod val="100000"/>
                <a:satMod val="250000"/>
              </a:schemeClr>
            </a:gs>
            <a:gs pos="75000">
              <a:schemeClr val="phClr">
                <a:tint val="80000"/>
                <a:shade val="100000"/>
                <a:hueMod val="100000"/>
                <a:satMod val="375000"/>
              </a:schemeClr>
            </a:gs>
            <a:gs pos="100000">
              <a:schemeClr val="phClr">
                <a:tint val="50000"/>
                <a:shade val="100000"/>
                <a:hueMod val="100000"/>
                <a:satMod val="5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50000"/>
                <a:hueMod val="100000"/>
                <a:satMod val="100000"/>
              </a:schemeClr>
              <a:schemeClr val="phClr">
                <a:tint val="100000"/>
                <a:shade val="75000"/>
                <a:hueMod val="100000"/>
                <a:satMod val="100000"/>
              </a:schemeClr>
            </a:duotone>
          </a:blip>
          <a:tile tx="0" ty="0" sx="50000" sy="50000" flip="none" algn="ctr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</a:effectLst>
          <a:scene3d>
            <a:camera prst="orthographicFront" fov="0">
              <a:rot lat="0" lon="0" rev="0"/>
            </a:camera>
            <a:lightRig rig="threePt" dir="tl">
              <a:rot lat="0" lon="0" rev="0"/>
            </a:lightRig>
          </a:scene3d>
          <a:sp3d prstMaterial="metal">
            <a:bevelT w="12700" h="12700" prst="relaxedInset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glow>
              <a:schemeClr val="phClr">
                <a:tint val="100000"/>
                <a:shade val="100000"/>
                <a:hueMod val="100000"/>
                <a:satMod val="100000"/>
              </a:schemeClr>
            </a:glow>
            <a:outerShdw blurRad="44450" dist="50800" dir="3300000" sx="99000" sy="99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contrasting" dir="tl">
              <a:rot lat="0" lon="0" rev="14220000"/>
            </a:lightRig>
          </a:scene3d>
          <a:sp3d prstMaterial="dkEdge">
            <a:bevelT w="63500" h="63500"/>
            <a:bevelB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bg1">
                <a:tint val="100000"/>
                <a:shade val="100000"/>
                <a:hueMod val="100000"/>
                <a:satMod val="150000"/>
              </a:schemeClr>
            </a:gs>
            <a:gs pos="55000">
              <a:schemeClr val="bg1">
                <a:tint val="100000"/>
                <a:shade val="90000"/>
                <a:hueMod val="100000"/>
                <a:satMod val="375000"/>
              </a:schemeClr>
            </a:gs>
            <a:gs pos="100000">
              <a:schemeClr val="phClr">
                <a:tint val="88000"/>
                <a:shade val="100000"/>
                <a:hueMod val="100000"/>
                <a:satMod val="500000"/>
              </a:schemeClr>
            </a:gs>
          </a:gsLst>
          <a:lin ang="5400000" scaled="1"/>
        </a:gradFill>
        <a:blipFill>
          <a:blip xmlns:r="http://schemas.openxmlformats.org/officeDocument/2006/relationships" r:embed="rId2">
            <a:duotone>
              <a:schemeClr val="phClr">
                <a:shade val="30000"/>
                <a:satMod val="555000"/>
              </a:schemeClr>
              <a:schemeClr val="phClr">
                <a:tint val="96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2367</TotalTime>
  <Words>68</Words>
  <Application>Microsoft Office PowerPoint</Application>
  <PresentationFormat>全屏显示(4:3)</PresentationFormat>
  <Paragraphs>28</Paragraphs>
  <Slides>7</Slides>
  <Notes>2</Notes>
  <HiddenSlides>0</HiddenSlides>
  <MMClips>0</MMClips>
  <ScaleCrop>false</ScaleCrop>
  <HeadingPairs>
    <vt:vector size="6" baseType="variant"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0" baseType="lpstr">
      <vt:lpstr>6_Notebook</vt:lpstr>
      <vt:lpstr>龙腾四海</vt:lpstr>
      <vt:lpstr>Equation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郑伟</dc:creator>
  <cp:lastModifiedBy>dell</cp:lastModifiedBy>
  <cp:revision>322</cp:revision>
  <dcterms:modified xsi:type="dcterms:W3CDTF">2021-11-20T14:29:12Z</dcterms:modified>
</cp:coreProperties>
</file>