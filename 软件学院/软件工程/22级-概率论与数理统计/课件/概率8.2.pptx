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Layouts/slideLayout29.xml" ContentType="application/vnd.openxmlformats-officedocument.presentationml.slideLayout+xml"/>
  <Override PartName="/ppt/theme/theme4.xml" ContentType="application/vnd.openxmlformats-officedocument.theme+xml"/>
  <Default Extension="bin" ContentType="application/vnd.openxmlformats-officedocument.oleObject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816" r:id="rId2"/>
    <p:sldMasterId id="2147483828" r:id="rId3"/>
  </p:sldMasterIdLst>
  <p:notesMasterIdLst>
    <p:notesMasterId r:id="rId15"/>
  </p:notesMasterIdLst>
  <p:sldIdLst>
    <p:sldId id="259" r:id="rId4"/>
    <p:sldId id="284" r:id="rId5"/>
    <p:sldId id="272" r:id="rId6"/>
    <p:sldId id="280" r:id="rId7"/>
    <p:sldId id="287" r:id="rId8"/>
    <p:sldId id="291" r:id="rId9"/>
    <p:sldId id="278" r:id="rId10"/>
    <p:sldId id="266" r:id="rId11"/>
    <p:sldId id="288" r:id="rId12"/>
    <p:sldId id="267" r:id="rId13"/>
    <p:sldId id="289" r:id="rId1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0944A3"/>
    <a:srgbClr val="202AEC"/>
    <a:srgbClr val="FFCC66"/>
    <a:srgbClr val="FFCCCC"/>
    <a:srgbClr val="E6E48E"/>
    <a:srgbClr val="4E10FC"/>
    <a:srgbClr val="4110BA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21" autoAdjust="0"/>
    <p:restoredTop sz="91992" autoAdjust="0"/>
  </p:normalViewPr>
  <p:slideViewPr>
    <p:cSldViewPr>
      <p:cViewPr>
        <p:scale>
          <a:sx n="70" d="100"/>
          <a:sy n="70" d="100"/>
        </p:scale>
        <p:origin x="-1572" y="-3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4" Type="http://schemas.openxmlformats.org/officeDocument/2006/relationships/image" Target="../media/image1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5" Type="http://schemas.openxmlformats.org/officeDocument/2006/relationships/image" Target="../media/image37.wmf"/><Relationship Id="rId4" Type="http://schemas.openxmlformats.org/officeDocument/2006/relationships/image" Target="../media/image36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17.wmf"/><Relationship Id="rId1" Type="http://schemas.openxmlformats.org/officeDocument/2006/relationships/image" Target="../media/image46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5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92190996-90B4-4C5B-B55B-F9C5A167F032}" type="datetimeFigureOut">
              <a:rPr lang="zh-CN" altLang="en-US"/>
              <a:pPr>
                <a:defRPr/>
              </a:pPr>
              <a:t>2022-05-17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2A2EFE2-0780-46E8-A324-701C3E367EF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9900779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2A2EFE2-0780-46E8-A324-701C3E367EF8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2051833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2A2EFE2-0780-46E8-A324-701C3E367EF8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1854642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211152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947478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="" xmlns:p14="http://schemas.microsoft.com/office/powerpoint/2010/main" val="1133378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558120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306168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1981693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906542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="" xmlns:p14="http://schemas.microsoft.com/office/powerpoint/2010/main" val="2976934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="" xmlns:p14="http://schemas.microsoft.com/office/powerpoint/2010/main" val="4234449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369510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51656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5165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0000943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E2307-1E40-4E12-8716-25BFDA8E701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5/17/2022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945345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D9D02-426E-46C9-9EE9-0DE1EF8B283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5/17/2022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607447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EBBE-F8B2-42CF-9895-E86A608384E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5/17/2022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914528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AA6B6-10E5-4810-BC9F-DA72D8452E7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5/17/2022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669317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D072-EF12-4AA2-BD71-ABC68B06D0E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5/17/2022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985812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BF60-6CC3-4B74-A60D-3486985E434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5/17/2022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895745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14818-984F-4759-BF72-A33BDC1963B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5/17/2022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14582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7E191-5F94-4FC1-B823-BD7CABF7FA0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5/17/2022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284596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56D55-EFBE-4F9B-8A5F-09D42CA22A9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5/17/2022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132838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FCF5A-EA79-452C-A52C-1A2668C2E7D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5/17/2022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795960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C4C28-BD4B-4892-9A2D-6E19BD753A9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5/17/2022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2128574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173157"/>
            <a:ext cx="7772400" cy="147002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E3B4E-09A0-4CC9-8F0B-18FEE1492D66}" type="datetimeFigureOut">
              <a:rPr lang="zh-CN" altLang="en-US" smtClean="0"/>
              <a:pPr/>
              <a:t>2022-05-17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24331-EEF4-49F4-A340-7A7F1CEFFEB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E3B4E-09A0-4CC9-8F0B-18FEE1492D66}" type="datetimeFigureOut">
              <a:rPr lang="zh-CN" altLang="en-US" smtClean="0"/>
              <a:pPr/>
              <a:t>2022-05-17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24331-EEF4-49F4-A340-7A7F1CEFFEB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924181"/>
            <a:ext cx="7772400" cy="1362075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5800" y="1428747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E3B4E-09A0-4CC9-8F0B-18FEE1492D66}" type="datetimeFigureOut">
              <a:rPr lang="zh-CN" altLang="en-US" smtClean="0"/>
              <a:pPr/>
              <a:t>2022-05-17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24331-EEF4-49F4-A340-7A7F1CEFFEB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E3B4E-09A0-4CC9-8F0B-18FEE1492D66}" type="datetimeFigureOut">
              <a:rPr lang="zh-CN" altLang="en-US" smtClean="0"/>
              <a:pPr/>
              <a:t>2022-05-17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24331-EEF4-49F4-A340-7A7F1CEFFEB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E3B4E-09A0-4CC9-8F0B-18FEE1492D66}" type="datetimeFigureOut">
              <a:rPr lang="zh-CN" altLang="en-US" smtClean="0"/>
              <a:pPr/>
              <a:t>2022-05-17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24331-EEF4-49F4-A340-7A7F1CEFFEB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E3B4E-09A0-4CC9-8F0B-18FEE1492D66}" type="datetimeFigureOut">
              <a:rPr lang="zh-CN" altLang="en-US" smtClean="0"/>
              <a:pPr/>
              <a:t>2022-05-17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24331-EEF4-49F4-A340-7A7F1CEFFEB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E3B4E-09A0-4CC9-8F0B-18FEE1492D66}" type="datetimeFigureOut">
              <a:rPr lang="zh-CN" altLang="en-US" smtClean="0"/>
              <a:pPr/>
              <a:t>2022-05-17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24331-EEF4-49F4-A340-7A7F1CEFFEB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0382" y="1071546"/>
            <a:ext cx="5111750" cy="50497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679083" y="1071546"/>
            <a:ext cx="3008313" cy="3429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E3B4E-09A0-4CC9-8F0B-18FEE1492D66}" type="datetimeFigureOut">
              <a:rPr lang="zh-CN" altLang="en-US" smtClean="0"/>
              <a:pPr/>
              <a:t>2022-05-17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24331-EEF4-49F4-A340-7A7F1CEFFEBA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5" y="285728"/>
            <a:ext cx="8230993" cy="696626"/>
          </a:xfrm>
        </p:spPr>
        <p:txBody>
          <a:bodyPr anchor="ctr"/>
          <a:lstStyle>
            <a:lvl1pPr algn="ctr">
              <a:defRPr sz="36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01024" y="642918"/>
            <a:ext cx="785818" cy="4572032"/>
          </a:xfrm>
        </p:spPr>
        <p:txBody>
          <a:bodyPr vert="eaVert" anchor="ctr"/>
          <a:lstStyle>
            <a:lvl1pPr algn="l">
              <a:defRPr sz="24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42922" y="541340"/>
            <a:ext cx="6415094" cy="5459428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072330" y="1000108"/>
            <a:ext cx="914368" cy="4214842"/>
          </a:xfrm>
        </p:spPr>
        <p:txBody>
          <a:bodyPr vert="eaVert"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E3B4E-09A0-4CC9-8F0B-18FEE1492D66}" type="datetimeFigureOut">
              <a:rPr lang="zh-CN" altLang="en-US" smtClean="0"/>
              <a:pPr/>
              <a:t>2022-05-17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24331-EEF4-49F4-A340-7A7F1CEFFEB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E3B4E-09A0-4CC9-8F0B-18FEE1492D66}" type="datetimeFigureOut">
              <a:rPr lang="zh-CN" altLang="en-US" smtClean="0"/>
              <a:pPr/>
              <a:t>2022-05-17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24331-EEF4-49F4-A340-7A7F1CEFFEB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43768" y="274639"/>
            <a:ext cx="1543032" cy="5851525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61513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E3B4E-09A0-4CC9-8F0B-18FEE1492D66}" type="datetimeFigureOut">
              <a:rPr lang="zh-CN" altLang="en-US" smtClean="0"/>
              <a:pPr/>
              <a:t>2022-05-17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24331-EEF4-49F4-A340-7A7F1CEFFEB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wmf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7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DRLC03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 descr="BJ1180"/>
          <p:cNvSpPr>
            <a:spLocks noChangeArrowheads="1"/>
          </p:cNvSpPr>
          <p:nvPr/>
        </p:nvSpPr>
        <p:spPr bwMode="auto">
          <a:xfrm>
            <a:off x="479425" y="131763"/>
            <a:ext cx="8450263" cy="6553200"/>
          </a:xfrm>
          <a:prstGeom prst="rect">
            <a:avLst/>
          </a:prstGeom>
          <a:blipFill dpi="0" rotWithShape="1">
            <a:blip r:embed="rId14">
              <a:alphaModFix amt="20000"/>
            </a:blip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28" name="Rectangle 4" descr="BJ1180"/>
          <p:cNvSpPr>
            <a:spLocks noChangeArrowheads="1"/>
          </p:cNvSpPr>
          <p:nvPr/>
        </p:nvSpPr>
        <p:spPr bwMode="auto">
          <a:xfrm>
            <a:off x="331788" y="136525"/>
            <a:ext cx="150812" cy="158750"/>
          </a:xfrm>
          <a:prstGeom prst="rect">
            <a:avLst/>
          </a:prstGeom>
          <a:blipFill dpi="0" rotWithShape="1">
            <a:blip r:embed="rId14">
              <a:alphaModFix amt="20000"/>
            </a:blip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29" name="Rectangle 5" descr="BJ1180"/>
          <p:cNvSpPr>
            <a:spLocks noChangeArrowheads="1"/>
          </p:cNvSpPr>
          <p:nvPr/>
        </p:nvSpPr>
        <p:spPr bwMode="auto">
          <a:xfrm>
            <a:off x="323850" y="519113"/>
            <a:ext cx="150813" cy="360362"/>
          </a:xfrm>
          <a:prstGeom prst="rect">
            <a:avLst/>
          </a:prstGeom>
          <a:blipFill dpi="0" rotWithShape="1">
            <a:blip r:embed="rId14">
              <a:alphaModFix amt="20000"/>
            </a:blip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30" name="Rectangle 6" descr="BJ1180"/>
          <p:cNvSpPr>
            <a:spLocks noChangeArrowheads="1"/>
          </p:cNvSpPr>
          <p:nvPr/>
        </p:nvSpPr>
        <p:spPr bwMode="auto">
          <a:xfrm>
            <a:off x="323850" y="1120775"/>
            <a:ext cx="150813" cy="360363"/>
          </a:xfrm>
          <a:prstGeom prst="rect">
            <a:avLst/>
          </a:prstGeom>
          <a:blipFill dpi="0" rotWithShape="1">
            <a:blip r:embed="rId14">
              <a:alphaModFix amt="20000"/>
            </a:blip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31" name="Rectangle 7" descr="BJ1180"/>
          <p:cNvSpPr>
            <a:spLocks noChangeArrowheads="1"/>
          </p:cNvSpPr>
          <p:nvPr/>
        </p:nvSpPr>
        <p:spPr bwMode="auto">
          <a:xfrm>
            <a:off x="323850" y="2292350"/>
            <a:ext cx="150813" cy="360363"/>
          </a:xfrm>
          <a:prstGeom prst="rect">
            <a:avLst/>
          </a:prstGeom>
          <a:blipFill dpi="0" rotWithShape="1">
            <a:blip r:embed="rId14">
              <a:alphaModFix amt="20000"/>
            </a:blip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32" name="Rectangle 8" descr="BJ1180"/>
          <p:cNvSpPr>
            <a:spLocks noChangeArrowheads="1"/>
          </p:cNvSpPr>
          <p:nvPr/>
        </p:nvSpPr>
        <p:spPr bwMode="auto">
          <a:xfrm>
            <a:off x="325438" y="2886075"/>
            <a:ext cx="150812" cy="360363"/>
          </a:xfrm>
          <a:prstGeom prst="rect">
            <a:avLst/>
          </a:prstGeom>
          <a:blipFill dpi="0" rotWithShape="1">
            <a:blip r:embed="rId14">
              <a:alphaModFix amt="20000"/>
            </a:blip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33" name="Rectangle 9" descr="BJ1180"/>
          <p:cNvSpPr>
            <a:spLocks noChangeArrowheads="1"/>
          </p:cNvSpPr>
          <p:nvPr/>
        </p:nvSpPr>
        <p:spPr bwMode="auto">
          <a:xfrm>
            <a:off x="325438" y="3479800"/>
            <a:ext cx="150812" cy="360363"/>
          </a:xfrm>
          <a:prstGeom prst="rect">
            <a:avLst/>
          </a:prstGeom>
          <a:blipFill dpi="0" rotWithShape="1">
            <a:blip r:embed="rId14">
              <a:alphaModFix amt="20000"/>
            </a:blip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34" name="Rectangle 10" descr="BJ1180"/>
          <p:cNvSpPr>
            <a:spLocks noChangeArrowheads="1"/>
          </p:cNvSpPr>
          <p:nvPr/>
        </p:nvSpPr>
        <p:spPr bwMode="auto">
          <a:xfrm>
            <a:off x="325438" y="4656138"/>
            <a:ext cx="150812" cy="360362"/>
          </a:xfrm>
          <a:prstGeom prst="rect">
            <a:avLst/>
          </a:prstGeom>
          <a:blipFill dpi="0" rotWithShape="1">
            <a:blip r:embed="rId14">
              <a:alphaModFix amt="20000"/>
            </a:blip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35" name="Rectangle 11" descr="BJ1180"/>
          <p:cNvSpPr>
            <a:spLocks noChangeArrowheads="1"/>
          </p:cNvSpPr>
          <p:nvPr/>
        </p:nvSpPr>
        <p:spPr bwMode="auto">
          <a:xfrm>
            <a:off x="320675" y="5248275"/>
            <a:ext cx="150813" cy="360363"/>
          </a:xfrm>
          <a:prstGeom prst="rect">
            <a:avLst/>
          </a:prstGeom>
          <a:blipFill dpi="0" rotWithShape="1">
            <a:blip r:embed="rId14">
              <a:alphaModFix amt="20000"/>
            </a:blip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36" name="Rectangle 12" descr="BJ1180"/>
          <p:cNvSpPr>
            <a:spLocks noChangeArrowheads="1"/>
          </p:cNvSpPr>
          <p:nvPr/>
        </p:nvSpPr>
        <p:spPr bwMode="auto">
          <a:xfrm>
            <a:off x="319088" y="5845175"/>
            <a:ext cx="150812" cy="360363"/>
          </a:xfrm>
          <a:prstGeom prst="rect">
            <a:avLst/>
          </a:prstGeom>
          <a:blipFill dpi="0" rotWithShape="1">
            <a:blip r:embed="rId14">
              <a:alphaModFix amt="20000"/>
            </a:blip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37" name="Rectangle 13" descr="BJ1180"/>
          <p:cNvSpPr>
            <a:spLocks noChangeArrowheads="1"/>
          </p:cNvSpPr>
          <p:nvPr/>
        </p:nvSpPr>
        <p:spPr bwMode="auto">
          <a:xfrm>
            <a:off x="323850" y="6419850"/>
            <a:ext cx="150813" cy="269875"/>
          </a:xfrm>
          <a:prstGeom prst="rect">
            <a:avLst/>
          </a:prstGeom>
          <a:blipFill dpi="0" rotWithShape="1">
            <a:blip r:embed="rId14">
              <a:alphaModFix amt="20000"/>
            </a:blip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38" name="Rectangle 14" descr="BJ1180"/>
          <p:cNvSpPr>
            <a:spLocks noChangeArrowheads="1"/>
          </p:cNvSpPr>
          <p:nvPr/>
        </p:nvSpPr>
        <p:spPr bwMode="auto">
          <a:xfrm>
            <a:off x="331788" y="4065588"/>
            <a:ext cx="150812" cy="360362"/>
          </a:xfrm>
          <a:prstGeom prst="rect">
            <a:avLst/>
          </a:prstGeom>
          <a:blipFill dpi="0" rotWithShape="1">
            <a:blip r:embed="rId14">
              <a:alphaModFix amt="20000"/>
            </a:blip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39" name="Rectangle 15" descr="BJ1180"/>
          <p:cNvSpPr>
            <a:spLocks noChangeArrowheads="1"/>
          </p:cNvSpPr>
          <p:nvPr/>
        </p:nvSpPr>
        <p:spPr bwMode="auto">
          <a:xfrm>
            <a:off x="323850" y="1698625"/>
            <a:ext cx="150813" cy="366713"/>
          </a:xfrm>
          <a:prstGeom prst="rect">
            <a:avLst/>
          </a:prstGeom>
          <a:blipFill dpi="0" rotWithShape="1">
            <a:blip r:embed="rId14">
              <a:alphaModFix amt="20000"/>
            </a:blip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40" name="Rectangle 16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7696200" cy="11430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rgbClr val="C0C0C0"/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41" name="Rectangle 17"/>
          <p:cNvSpPr>
            <a:spLocks noChangeArrowheads="1"/>
          </p:cNvSpPr>
          <p:nvPr/>
        </p:nvSpPr>
        <p:spPr bwMode="auto">
          <a:xfrm>
            <a:off x="6586538" y="6311900"/>
            <a:ext cx="215900" cy="215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pic>
        <p:nvPicPr>
          <p:cNvPr id="1042" name="Picture 18">
            <a:hlinkClick r:id="" action="ppaction://noaction" highlightClick="1"/>
          </p:cNvPr>
          <p:cNvPicPr>
            <a:picLocks noChangeAspect="1" noChangeArrowheads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r="12798" b="-66667"/>
          <a:stretch>
            <a:fillRect/>
          </a:stretch>
        </p:blipFill>
        <p:spPr bwMode="auto">
          <a:xfrm>
            <a:off x="6483350" y="6286500"/>
            <a:ext cx="465138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3" name="Rectangle 20"/>
          <p:cNvSpPr>
            <a:spLocks noChangeArrowheads="1"/>
          </p:cNvSpPr>
          <p:nvPr/>
        </p:nvSpPr>
        <p:spPr bwMode="auto">
          <a:xfrm>
            <a:off x="6986588" y="6334125"/>
            <a:ext cx="215900" cy="215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44" name="Rectangle 21"/>
          <p:cNvSpPr>
            <a:spLocks noChangeArrowheads="1"/>
          </p:cNvSpPr>
          <p:nvPr/>
        </p:nvSpPr>
        <p:spPr bwMode="auto">
          <a:xfrm>
            <a:off x="7362825" y="6340475"/>
            <a:ext cx="215900" cy="215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45" name="Rectangle 22"/>
          <p:cNvSpPr>
            <a:spLocks noChangeArrowheads="1"/>
          </p:cNvSpPr>
          <p:nvPr/>
        </p:nvSpPr>
        <p:spPr bwMode="auto">
          <a:xfrm>
            <a:off x="7747000" y="6340475"/>
            <a:ext cx="215900" cy="215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46" name="Rectangle 23"/>
          <p:cNvSpPr>
            <a:spLocks noChangeArrowheads="1"/>
          </p:cNvSpPr>
          <p:nvPr/>
        </p:nvSpPr>
        <p:spPr bwMode="auto">
          <a:xfrm>
            <a:off x="8154988" y="6350000"/>
            <a:ext cx="215900" cy="215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47" name="Rectangle 24"/>
          <p:cNvSpPr>
            <a:spLocks noChangeArrowheads="1"/>
          </p:cNvSpPr>
          <p:nvPr/>
        </p:nvSpPr>
        <p:spPr bwMode="auto">
          <a:xfrm>
            <a:off x="8515350" y="6365875"/>
            <a:ext cx="215900" cy="215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pic>
        <p:nvPicPr>
          <p:cNvPr id="1048" name="Picture 25">
            <a:hlinkClick r:id="" action="ppaction://hlinkshowjump?jump=lastslideviewed" highlightClick="1"/>
          </p:cNvPr>
          <p:cNvPicPr>
            <a:picLocks noChangeAspect="1" noChangeArrowheads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r="27678" b="-69908"/>
          <a:stretch>
            <a:fillRect/>
          </a:stretch>
        </p:blipFill>
        <p:spPr bwMode="auto">
          <a:xfrm>
            <a:off x="7642225" y="6275388"/>
            <a:ext cx="385763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9" name="Picture 26">
            <a:hlinkClick r:id="" action="ppaction://hlinkshowjump?jump=endshow" highlightClick="1"/>
          </p:cNvPr>
          <p:cNvPicPr>
            <a:picLocks noChangeAspect="1" noChangeArrowheads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r="31548" b="-71297"/>
          <a:stretch>
            <a:fillRect/>
          </a:stretch>
        </p:blipFill>
        <p:spPr bwMode="auto">
          <a:xfrm>
            <a:off x="8023225" y="6270625"/>
            <a:ext cx="365125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0" name="Picture 27">
            <a:hlinkClick r:id="" action="ppaction://hlinkshowjump?jump=nextslide" highlightClick="1"/>
          </p:cNvPr>
          <p:cNvPicPr>
            <a:picLocks noChangeAspect="1" noChangeArrowheads="1"/>
          </p:cNvPicPr>
          <p:nvPr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r="23810" b="-69908"/>
          <a:stretch>
            <a:fillRect/>
          </a:stretch>
        </p:blipFill>
        <p:spPr bwMode="auto">
          <a:xfrm>
            <a:off x="7261225" y="6275388"/>
            <a:ext cx="406400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1" name="Picture 28">
            <a:hlinkClick r:id="" action="ppaction://hlinkshowjump?jump=previousslide" highlightClick="1"/>
          </p:cNvPr>
          <p:cNvPicPr>
            <a:picLocks noChangeAspect="1" noChangeArrowheads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r="19048" b="-70833"/>
          <a:stretch>
            <a:fillRect/>
          </a:stretch>
        </p:blipFill>
        <p:spPr bwMode="auto">
          <a:xfrm>
            <a:off x="6877050" y="6272213"/>
            <a:ext cx="4318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2" name="Picture 29"/>
          <p:cNvPicPr>
            <a:picLocks noChangeAspect="1" noChangeArrowheads="1"/>
          </p:cNvPicPr>
          <p:nvPr/>
        </p:nvPicPr>
        <p:blipFill>
          <a:blip r:embed="rId2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b="-71759"/>
          <a:stretch>
            <a:fillRect/>
          </a:stretch>
        </p:blipFill>
        <p:spPr bwMode="auto">
          <a:xfrm>
            <a:off x="8396288" y="6269038"/>
            <a:ext cx="352425" cy="588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B4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B40000"/>
          </a:solidFill>
          <a:latin typeface="Times New Roman" pitchFamily="18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B40000"/>
          </a:solidFill>
          <a:latin typeface="Times New Roman" pitchFamily="18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B40000"/>
          </a:solidFill>
          <a:latin typeface="Times New Roman" pitchFamily="18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B40000"/>
          </a:solidFill>
          <a:latin typeface="Times New Roman" pitchFamily="18" charset="0"/>
          <a:ea typeface="黑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B40000"/>
          </a:solidFill>
          <a:latin typeface="Times New Roman" pitchFamily="18" charset="0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B40000"/>
          </a:solidFill>
          <a:latin typeface="Times New Roman" pitchFamily="18" charset="0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B40000"/>
          </a:solidFill>
          <a:latin typeface="Times New Roman" pitchFamily="18" charset="0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B40000"/>
          </a:solidFill>
          <a:latin typeface="Times New Roman" pitchFamily="18" charset="0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8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8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8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8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8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8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8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D29482-6391-4C19-9678-BBF4D59465D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2022-05-17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255DD-BAEE-4E32-A972-95B332C9887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6531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3">
            <a:duotone>
              <a:schemeClr val="accent1"/>
              <a:srgbClr val="FFFFFF"/>
            </a:duotone>
            <a:lum bright="12000" contrast="40000"/>
          </a:blip>
          <a:stretch>
            <a:fillRect/>
          </a:stretch>
        </p:blipFill>
        <p:spPr>
          <a:xfrm>
            <a:off x="6667809" y="4915143"/>
            <a:ext cx="2476191" cy="19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矩形 9"/>
          <p:cNvSpPr/>
          <p:nvPr/>
        </p:nvSpPr>
        <p:spPr>
          <a:xfrm>
            <a:off x="0" y="0"/>
            <a:ext cx="9144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20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</a:schemeClr>
              </a:gs>
            </a:gsLst>
            <a:lin ang="18900000" scaled="1"/>
            <a:tileRect/>
          </a:gradFill>
          <a:ln w="12700" cap="rnd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0" y="40951"/>
            <a:ext cx="4572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5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  <a:alpha val="60000"/>
                </a:schemeClr>
              </a:gs>
            </a:gsLst>
            <a:lin ang="8100000" scaled="1"/>
            <a:tileRect/>
          </a:gradFill>
          <a:ln w="12700" cap="rnd" cmpd="sng" algn="ctr">
            <a:noFill/>
            <a:prstDash val="solid"/>
          </a:ln>
          <a:effectLst>
            <a:glow>
              <a:schemeClr val="accent1">
                <a:tint val="100000"/>
                <a:shade val="100000"/>
                <a:hueMod val="100000"/>
                <a:satMod val="100000"/>
              </a:schemeClr>
            </a:glow>
            <a:softEdge rad="127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4">
            <a:duotone>
              <a:schemeClr val="accent1"/>
              <a:srgbClr val="FFFFFF"/>
            </a:duotone>
            <a:lum bright="35000" contrast="40000"/>
          </a:blip>
          <a:stretch>
            <a:fillRect/>
          </a:stretch>
        </p:blipFill>
        <p:spPr>
          <a:xfrm>
            <a:off x="0" y="6420445"/>
            <a:ext cx="9144000" cy="43755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l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122987-CD27-4AB6-B5EE-BBB2825D6C9B}" type="datetimeFigureOut">
              <a:rPr lang="en-US" smtClean="0"/>
              <a:pPr/>
              <a:t>5/17/2022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0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6937C-4296-4F09-BFBF-208432D16C49}" type="slidenum">
              <a:rPr kumimoji="0" lang="en-US" smtClean="0"/>
              <a:pPr/>
              <a:t>‹#›</a:t>
            </a:fld>
            <a:endParaRPr kumimoji="0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50000"/>
        <a:buFont typeface="Wingdings 2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2"/>
        </a:buClr>
        <a:buSzPct val="50000"/>
        <a:buFont typeface="Wingdings 2"/>
        <a:buChar char="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3"/>
        </a:buClr>
        <a:buSzPct val="60000"/>
        <a:buFont typeface="Wingdings 2"/>
        <a:buChar char="®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5"/>
        </a:buClr>
        <a:buSzPct val="45000"/>
        <a:buFont typeface="Wingdings 2"/>
        <a:buChar char="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hyperlink" Target="&#27010;&#29575;&#31532;&#19968;&#31456;/&#27010;&#29575;1-1.ppt" TargetMode="External"/><Relationship Id="rId1" Type="http://schemas.openxmlformats.org/officeDocument/2006/relationships/slideLayout" Target="../slideLayouts/slideLayout29.xml"/><Relationship Id="rId4" Type="http://schemas.openxmlformats.org/officeDocument/2006/relationships/hyperlink" Target="&#27010;&#29575;&#31532;&#19968;&#31456;/&#27010;&#29575;1-3.ppt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slide" Target="slide1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19.png"/><Relationship Id="rId10" Type="http://schemas.openxmlformats.org/officeDocument/2006/relationships/oleObject" Target="../embeddings/oleObject5.bin"/><Relationship Id="rId4" Type="http://schemas.openxmlformats.org/officeDocument/2006/relationships/image" Target="../media/image18.png"/><Relationship Id="rId9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2.vml"/><Relationship Id="rId5" Type="http://schemas.openxmlformats.org/officeDocument/2006/relationships/oleObject" Target="../embeddings/oleObject6.bin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7" Type="http://schemas.openxmlformats.org/officeDocument/2006/relationships/image" Target="../media/image27.png"/><Relationship Id="rId2" Type="http://schemas.openxmlformats.org/officeDocument/2006/relationships/slideLayout" Target="../slideLayouts/slideLayout24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7" Type="http://schemas.openxmlformats.org/officeDocument/2006/relationships/image" Target="../media/image32.png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1.png"/><Relationship Id="rId5" Type="http://schemas.openxmlformats.org/officeDocument/2006/relationships/oleObject" Target="../embeddings/oleObject10.bin"/><Relationship Id="rId4" Type="http://schemas.openxmlformats.org/officeDocument/2006/relationships/oleObject" Target="../embeddings/oleObject9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notesSlide" Target="../notesSlides/notesSlide2.xml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9.png"/><Relationship Id="rId5" Type="http://schemas.openxmlformats.org/officeDocument/2006/relationships/oleObject" Target="../embeddings/oleObject11.bin"/><Relationship Id="rId10" Type="http://schemas.openxmlformats.org/officeDocument/2006/relationships/oleObject" Target="../embeddings/oleObject15.bin"/><Relationship Id="rId4" Type="http://schemas.openxmlformats.org/officeDocument/2006/relationships/image" Target="../media/image38.png"/><Relationship Id="rId9" Type="http://schemas.openxmlformats.org/officeDocument/2006/relationships/oleObject" Target="../embeddings/oleObject14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image" Target="../media/image43.png"/><Relationship Id="rId7" Type="http://schemas.openxmlformats.org/officeDocument/2006/relationships/image" Target="../media/image45.png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44.png"/><Relationship Id="rId4" Type="http://schemas.openxmlformats.org/officeDocument/2006/relationships/oleObject" Target="../embeddings/oleObject16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7" Type="http://schemas.openxmlformats.org/officeDocument/2006/relationships/image" Target="../media/image49.png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48.png"/><Relationship Id="rId4" Type="http://schemas.openxmlformats.org/officeDocument/2006/relationships/oleObject" Target="../embeddings/oleObject20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oleObject" Target="../embeddings/oleObject24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23.bin"/><Relationship Id="rId5" Type="http://schemas.openxmlformats.org/officeDocument/2006/relationships/image" Target="../media/image54.png"/><Relationship Id="rId4" Type="http://schemas.openxmlformats.org/officeDocument/2006/relationships/oleObject" Target="../embeddings/oleObject22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6.png"/><Relationship Id="rId7" Type="http://schemas.openxmlformats.org/officeDocument/2006/relationships/oleObject" Target="../embeddings/oleObject26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oleObject" Target="../embeddings/oleObject25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6" descr="f010">
            <a:hlinkClick r:id="rId2" action="ppaction://hlinkpres?slideindex=1&amp;slidetitle=1. 幻灯片 1" highlightClick="1"/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831" y="2255912"/>
            <a:ext cx="50482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27">
            <a:hlinkClick r:id="" action="ppaction://hlinkshowjump?jump=endshow" highlightClick="1"/>
          </p:cNvPr>
          <p:cNvSpPr>
            <a:spLocks noChangeArrowheads="1"/>
          </p:cNvSpPr>
          <p:nvPr/>
        </p:nvSpPr>
        <p:spPr bwMode="auto">
          <a:xfrm>
            <a:off x="785812" y="620713"/>
            <a:ext cx="8072437" cy="116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3600" b="1" dirty="0" smtClean="0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rPr>
              <a:t>8.2</a:t>
            </a:r>
            <a:r>
              <a:rPr lang="zh-CN" altLang="en-US" sz="3600" b="1" dirty="0" smtClean="0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rPr>
              <a:t>   正态总体均值的假设检验</a:t>
            </a:r>
            <a:endParaRPr lang="zh-CN" altLang="en-US" sz="3600" b="1" dirty="0">
              <a:solidFill>
                <a:schemeClr val="tx2"/>
              </a:solidFill>
              <a:latin typeface="华文新魏" pitchFamily="2" charset="-122"/>
              <a:ea typeface="华文新魏" pitchFamily="2" charset="-122"/>
            </a:endParaRPr>
          </a:p>
        </p:txBody>
      </p:sp>
      <p:pic>
        <p:nvPicPr>
          <p:cNvPr id="8197" name="Picture 31" descr="f010">
            <a:hlinkClick r:id="rId4" action="ppaction://hlinkpres?slideindex=1&amp;slidetitle=1. 幻灯片 1" highlightClick="1"/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831" y="3408040"/>
            <a:ext cx="50482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5" name="灯片编号占位符 15"/>
          <p:cNvSpPr>
            <a:spLocks noGrp="1"/>
          </p:cNvSpPr>
          <p:nvPr>
            <p:ph type="sldNum" sz="quarter" idx="12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420242CD-21A6-4B80-AAE7-02543FCB43B1}" type="slidenum">
              <a:rPr lang="zh-CN" altLang="en-US"/>
              <a:pPr eaLnBrk="1" hangingPunct="1"/>
              <a:t>1</a:t>
            </a:fld>
            <a:endParaRPr lang="zh-CN" altLang="en-US"/>
          </a:p>
        </p:txBody>
      </p:sp>
      <p:sp>
        <p:nvSpPr>
          <p:cNvPr id="8206" name="Rectangle 14"/>
          <p:cNvSpPr>
            <a:spLocks noChangeArrowheads="1"/>
          </p:cNvSpPr>
          <p:nvPr/>
        </p:nvSpPr>
        <p:spPr bwMode="auto">
          <a:xfrm>
            <a:off x="854404" y="2181286"/>
            <a:ext cx="6758314" cy="1175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0" algn="ctr" eaLnBrk="1" hangingPunct="1"/>
            <a:r>
              <a:rPr lang="zh-CN" altLang="en-US" sz="3200" b="1" dirty="0" smtClean="0">
                <a:latin typeface="华文新魏" pitchFamily="2" charset="-122"/>
                <a:ea typeface="华文新魏" pitchFamily="2" charset="-122"/>
              </a:rPr>
              <a:t>单个</a:t>
            </a:r>
            <a:r>
              <a:rPr lang="zh-CN" altLang="en-US" sz="3200" b="1" dirty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</a:rPr>
              <a:t>正态总体均值</a:t>
            </a:r>
            <a:r>
              <a:rPr lang="zh-CN" altLang="en-US" sz="3200" b="1" dirty="0" smtClean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</a:rPr>
              <a:t>的检验</a:t>
            </a:r>
            <a:endParaRPr lang="zh-CN" altLang="en-US" sz="3200" b="1" dirty="0">
              <a:solidFill>
                <a:srgbClr val="000000"/>
              </a:solidFill>
              <a:latin typeface="华文新魏" pitchFamily="2" charset="-122"/>
              <a:ea typeface="华文新魏" pitchFamily="2" charset="-122"/>
            </a:endParaRP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endParaRPr lang="zh-CN" altLang="en-US" sz="3200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208" name="Rectangle 16"/>
          <p:cNvSpPr>
            <a:spLocks noChangeArrowheads="1"/>
          </p:cNvSpPr>
          <p:nvPr/>
        </p:nvSpPr>
        <p:spPr bwMode="auto">
          <a:xfrm>
            <a:off x="1331639" y="3214717"/>
            <a:ext cx="567014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zh-CN" altLang="en-US" sz="3600" dirty="0" smtClean="0">
                <a:latin typeface="华文新魏" pitchFamily="2" charset="-122"/>
                <a:ea typeface="华文新魏" pitchFamily="2" charset="-122"/>
              </a:rPr>
              <a:t>     </a:t>
            </a:r>
            <a:r>
              <a:rPr lang="zh-CN" altLang="en-US" sz="3200" b="1" dirty="0" smtClean="0">
                <a:latin typeface="华文新魏" pitchFamily="2" charset="-122"/>
                <a:ea typeface="华文新魏" pitchFamily="2" charset="-122"/>
              </a:rPr>
              <a:t>两个正</a:t>
            </a:r>
            <a:r>
              <a:rPr lang="zh-CN" altLang="en-US" sz="3200" b="1" dirty="0">
                <a:latin typeface="华文新魏" pitchFamily="2" charset="-122"/>
                <a:ea typeface="华文新魏" pitchFamily="2" charset="-122"/>
              </a:rPr>
              <a:t>态</a:t>
            </a:r>
            <a:r>
              <a:rPr lang="zh-CN" altLang="en-US" sz="3200" b="1" dirty="0" smtClean="0">
                <a:latin typeface="华文新魏" pitchFamily="2" charset="-122"/>
                <a:ea typeface="华文新魏" pitchFamily="2" charset="-122"/>
              </a:rPr>
              <a:t>总体均值差的检验</a:t>
            </a:r>
            <a:endParaRPr lang="zh-CN" altLang="en-US" sz="3200" b="1" dirty="0">
              <a:latin typeface="华文新魏" pitchFamily="2" charset="-122"/>
              <a:ea typeface="华文新魏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8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8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6" grpId="0"/>
      <p:bldP spid="820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67544" y="406405"/>
            <a:ext cx="7537649" cy="646331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lvl="0" algn="ctr"/>
            <a:r>
              <a:rPr lang="zh-CN" altLang="en-US" sz="3600" b="1" dirty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</a:rPr>
              <a:t>单个正态总体均值的检验</a:t>
            </a:r>
          </a:p>
        </p:txBody>
      </p: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3081" name="Text Box 4">
                <a:hlinkClick r:id="rId3" action="ppaction://hlinksldjump"/>
              </p:cNvPr>
              <p:cNvSpPr txBox="1">
                <a:spLocks noChangeArrowheads="1"/>
              </p:cNvSpPr>
              <p:nvPr/>
            </p:nvSpPr>
            <p:spPr bwMode="auto">
              <a:xfrm>
                <a:off x="546945" y="1397094"/>
                <a:ext cx="7950995" cy="18158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000" dirty="0" smtClean="0">
                    <a:latin typeface="+mn-ea"/>
                    <a:ea typeface="+mn-ea"/>
                  </a:rPr>
                  <a:t/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设总体</a:t>
                </a:r>
                <a:r>
                  <a:rPr lang="zh-CN" altLang="en-US" sz="24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/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服从正态分布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/>
                        <a:ea typeface="+mn-ea"/>
                      </a:rPr>
                      <m:t>𝑵</m:t>
                    </m:r>
                    <m:d>
                      <m:dPr>
                        <m:ctrlPr>
                          <a:rPr lang="en-US" altLang="zh-CN" sz="2400" b="1" i="1" smtClean="0">
                            <a:latin typeface="Cambria Math"/>
                            <a:ea typeface="+mn-ea"/>
                          </a:rPr>
                        </m:ctrlPr>
                      </m:dPr>
                      <m:e>
                        <m:r>
                          <a:rPr lang="zh-CN" altLang="en-US" sz="2400" b="1" i="1" smtClean="0">
                            <a:latin typeface="Cambria Math"/>
                            <a:ea typeface="+mn-ea"/>
                          </a:rPr>
                          <m:t>𝝁</m:t>
                        </m:r>
                        <m:r>
                          <a:rPr lang="en-US" altLang="zh-CN" sz="2400" b="1" i="1" smtClean="0">
                            <a:latin typeface="Cambria Math"/>
                            <a:ea typeface="+mn-ea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2400" b="1" i="1" smtClean="0">
                                <a:latin typeface="Cambria Math"/>
                                <a:ea typeface="+mn-ea"/>
                              </a:rPr>
                            </m:ctrlPr>
                          </m:sSupPr>
                          <m:e>
                            <m:r>
                              <a:rPr lang="zh-CN" altLang="en-US" sz="2400" b="1" i="1" smtClean="0">
                                <a:latin typeface="Cambria Math"/>
                                <a:ea typeface="+mn-ea"/>
                              </a:rPr>
                              <m:t>𝝈</m:t>
                            </m:r>
                          </m:e>
                          <m:sup>
                            <m:r>
                              <a:rPr lang="en-US" altLang="zh-CN" sz="2400" b="1" i="1" smtClean="0">
                                <a:latin typeface="Cambria Math"/>
                                <a:ea typeface="+mn-ea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sz="24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 </a:t>
                </a:r>
              </a:p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为总体   的一个样本，欲检验假设：</a:t>
                </a:r>
                <a:endParaRPr lang="en-US" altLang="zh-CN" sz="2800" b="1" dirty="0" smtClean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algn="ctr" eaLnBrk="1" hangingPunct="1">
                  <a:spcBef>
                    <a:spcPct val="500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/>
                            <a:ea typeface="+mn-ea"/>
                          </a:rPr>
                          <m:t>𝑯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/>
                            <a:ea typeface="+mn-ea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800" b="1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:</a:t>
                </a:r>
                <a14:m>
                  <m:oMath xmlns:m="http://schemas.openxmlformats.org/officeDocument/2006/math">
                    <m:r>
                      <a:rPr lang="zh-CN" altLang="en-US" sz="2800" b="1" i="1" dirty="0" smtClean="0">
                        <a:solidFill>
                          <a:srgbClr val="FF0000"/>
                        </a:solidFill>
                        <a:latin typeface="Cambria Math"/>
                        <a:ea typeface="+mn-ea"/>
                      </a:rPr>
                      <m:t>𝝁</m:t>
                    </m:r>
                    <m:r>
                      <a:rPr lang="en-US" altLang="zh-CN" sz="2800" b="1" i="1" dirty="0" smtClean="0">
                        <a:solidFill>
                          <a:srgbClr val="FF0000"/>
                        </a:solidFill>
                        <a:latin typeface="Cambria Math"/>
                        <a:ea typeface="+mn-ea"/>
                      </a:rPr>
                      <m:t>=</m:t>
                    </m:r>
                    <m:sSub>
                      <m:sSubPr>
                        <m:ctrlPr>
                          <a:rPr lang="en-US" altLang="zh-CN" sz="2800" b="1" i="1" dirty="0" smtClean="0">
                            <a:solidFill>
                              <a:srgbClr val="FF0000"/>
                            </a:solidFill>
                            <a:latin typeface="Cambria Math"/>
                            <a:ea typeface="+mn-ea"/>
                          </a:rPr>
                        </m:ctrlPr>
                      </m:sSubPr>
                      <m:e>
                        <m:r>
                          <a:rPr lang="zh-CN" altLang="en-US" sz="2800" b="1" i="1" dirty="0" smtClean="0">
                            <a:solidFill>
                              <a:srgbClr val="FF0000"/>
                            </a:solidFill>
                            <a:latin typeface="Cambria Math"/>
                            <a:ea typeface="+mn-ea"/>
                          </a:rPr>
                          <m:t>𝝁</m:t>
                        </m:r>
                      </m:e>
                      <m:sub>
                        <m:r>
                          <a:rPr lang="en-US" altLang="zh-CN" sz="2800" b="1" i="1" dirty="0" smtClean="0">
                            <a:solidFill>
                              <a:srgbClr val="FF0000"/>
                            </a:solidFill>
                            <a:latin typeface="Cambria Math"/>
                            <a:ea typeface="+mn-ea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800" b="1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;</a:t>
                </a:r>
                <a:r>
                  <a:rPr lang="en-US" altLang="zh-CN" sz="2800" b="1" dirty="0">
                    <a:solidFill>
                      <a:srgbClr val="FF0000"/>
                    </a:solidFill>
                    <a:ea typeface="宋体"/>
                  </a:rPr>
                  <a:t/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/>
                            <a:ea typeface="+mn-ea"/>
                          </a:rPr>
                          <m:t>𝑯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/>
                            <a:ea typeface="+mn-ea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800" b="1" dirty="0">
                    <a:solidFill>
                      <a:srgbClr val="FF0000"/>
                    </a:solidFill>
                    <a:latin typeface="宋体"/>
                    <a:ea typeface="宋体"/>
                  </a:rPr>
                  <a:t>:</a:t>
                </a:r>
                <a14:m>
                  <m:oMath xmlns:m="http://schemas.openxmlformats.org/officeDocument/2006/math">
                    <m:r>
                      <a:rPr lang="zh-CN" altLang="en-US" sz="2800" b="1" i="1" dirty="0">
                        <a:solidFill>
                          <a:srgbClr val="FF0000"/>
                        </a:solidFill>
                        <a:latin typeface="Cambria Math"/>
                        <a:ea typeface="+mn-ea"/>
                      </a:rPr>
                      <m:t>𝝁</m:t>
                    </m:r>
                    <m:r>
                      <a:rPr lang="en-US" altLang="zh-CN" sz="2800" b="1" i="1" dirty="0" smtClean="0">
                        <a:solidFill>
                          <a:srgbClr val="FF0000"/>
                        </a:solidFill>
                        <a:latin typeface="Cambria Math"/>
                        <a:ea typeface="+mn-ea"/>
                      </a:rPr>
                      <m:t>≠</m:t>
                    </m:r>
                    <m:sSub>
                      <m:sSubPr>
                        <m:ctrlPr>
                          <a:rPr lang="en-US" altLang="zh-CN" sz="2800" b="1" i="1" dirty="0">
                            <a:solidFill>
                              <a:srgbClr val="FF0000"/>
                            </a:solidFill>
                            <a:latin typeface="Cambria Math"/>
                            <a:ea typeface="+mn-ea"/>
                          </a:rPr>
                        </m:ctrlPr>
                      </m:sSubPr>
                      <m:e>
                        <m:r>
                          <a:rPr lang="zh-CN" altLang="en-US" sz="2800" b="1" i="1" dirty="0">
                            <a:solidFill>
                              <a:srgbClr val="FF0000"/>
                            </a:solidFill>
                            <a:latin typeface="Cambria Math"/>
                            <a:ea typeface="+mn-ea"/>
                          </a:rPr>
                          <m:t>𝝁</m:t>
                        </m:r>
                      </m:e>
                      <m:sub>
                        <m:r>
                          <a:rPr lang="en-US" altLang="zh-CN" sz="2800" b="1" i="1" dirty="0">
                            <a:solidFill>
                              <a:srgbClr val="FF0000"/>
                            </a:solidFill>
                            <a:latin typeface="Cambria Math"/>
                            <a:ea typeface="+mn-ea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800" b="1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,</a:t>
                </a:r>
              </a:p>
            </p:txBody>
          </p:sp>
        </mc:Choice>
        <mc:Fallback>
          <p:sp>
            <p:nvSpPr>
              <p:cNvPr id="3081" name="Text Box 4">
                <a:hlinkClick r:id="rId3" action="ppaction://hlinksldjump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6945" y="1397094"/>
                <a:ext cx="7950995" cy="1815882"/>
              </a:xfrm>
              <a:prstGeom prst="rect">
                <a:avLst/>
              </a:prstGeom>
              <a:blipFill rotWithShape="1">
                <a:blip r:embed="rId4"/>
                <a:stretch>
                  <a:fillRect l="-1610" t="-3356" b="-7383"/>
                </a:stretch>
              </a:blipFill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=""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669364" y="3429629"/>
                <a:ext cx="7706155" cy="2818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smtClean="0">
                            <a:solidFill>
                              <a:srgbClr val="FF0000"/>
                            </a:solidFill>
                            <a:latin typeface="Cambria Math"/>
                            <a:ea typeface="+mn-ea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solidFill>
                              <a:srgbClr val="FF0000"/>
                            </a:solidFill>
                            <a:latin typeface="Cambria Math"/>
                            <a:ea typeface="+mn-ea"/>
                          </a:rPr>
                          <m:t> </m:t>
                        </m:r>
                        <m:r>
                          <a:rPr lang="en-US" altLang="zh-CN" sz="2800" b="0" i="1" smtClean="0">
                            <a:solidFill>
                              <a:srgbClr val="FF0000"/>
                            </a:solidFill>
                            <a:latin typeface="Cambria Math"/>
                            <a:ea typeface="+mn-ea"/>
                          </a:rPr>
                          <m:t>𝑐𝑎𝑠𝑒</m:t>
                        </m:r>
                        <m:r>
                          <a:rPr lang="en-US" altLang="zh-CN" sz="2800" b="0" i="1" smtClean="0">
                            <a:solidFill>
                              <a:srgbClr val="FF0000"/>
                            </a:solidFill>
                            <a:latin typeface="Cambria Math"/>
                            <a:ea typeface="+mn-ea"/>
                          </a:rPr>
                          <m:t>1.    </m:t>
                        </m:r>
                        <m:r>
                          <a:rPr lang="zh-CN" altLang="en-US" sz="2800" b="0" i="1">
                            <a:solidFill>
                              <a:srgbClr val="FF0000"/>
                            </a:solidFill>
                            <a:latin typeface="Cambria Math"/>
                            <a:ea typeface="+mn-ea"/>
                          </a:rPr>
                          <m:t>𝜎</m:t>
                        </m:r>
                      </m:e>
                      <m:sup>
                        <m:r>
                          <a:rPr lang="en-US" altLang="zh-CN" sz="2800" b="0" i="1">
                            <a:solidFill>
                              <a:srgbClr val="FF0000"/>
                            </a:solidFill>
                            <a:latin typeface="Cambria Math"/>
                            <a:ea typeface="+mn-ea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800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已知</a:t>
                </a:r>
                <a:r>
                  <a:rPr lang="zh-CN" altLang="en-US" sz="2800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</a:t>
                </a:r>
                <a:r>
                  <a:rPr lang="zh-CN" altLang="en-US" sz="2800" b="1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则统计量</a:t>
                </a:r>
                <a:endParaRPr lang="en-US" altLang="zh-CN" sz="2800" b="1" dirty="0" smtClean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800" b="1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在假设    成立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时服从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srgbClr val="000000"/>
                        </a:solidFill>
                        <a:latin typeface="Cambria Math"/>
                        <a:ea typeface="+mn-ea"/>
                      </a:rPr>
                      <m:t>𝑵</m:t>
                    </m:r>
                    <m:d>
                      <m:dPr>
                        <m:ctrlPr>
                          <a:rPr lang="en-US" altLang="zh-CN" sz="2800" b="1" i="1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𝟎</m:t>
                        </m:r>
                        <m:r>
                          <a:rPr lang="en-US" altLang="zh-CN" sz="2800" b="1" i="1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,</m:t>
                        </m:r>
                        <m:r>
                          <a:rPr lang="en-US" altLang="zh-CN" sz="2800" b="1" i="1" smtClean="0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𝟏</m:t>
                        </m:r>
                        <m:r>
                          <a:rPr lang="en-US" altLang="zh-CN" sz="2800" b="1" i="1" smtClean="0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 </m:t>
                        </m:r>
                      </m:e>
                    </m:d>
                  </m:oMath>
                </a14:m>
                <a:r>
                  <a:rPr lang="zh-CN" altLang="en-US" sz="2800" b="1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分布</a:t>
                </a:r>
                <a:r>
                  <a:rPr lang="en-US" altLang="zh-CN" sz="2800" b="1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 </a:t>
                </a:r>
                <a:r>
                  <a:rPr lang="zh-CN" altLang="en-US" sz="2800" b="1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拒绝域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solidFill>
                          <a:srgbClr val="000000"/>
                        </a:solidFill>
                        <a:latin typeface="Cambria Math"/>
                        <a:ea typeface="宋体"/>
                      </a:rPr>
                      <m:t>𝑾</m:t>
                    </m:r>
                    <m:r>
                      <a:rPr lang="en-US" altLang="zh-CN" sz="2800" b="1" i="1" dirty="0" smtClean="0">
                        <a:solidFill>
                          <a:srgbClr val="000000"/>
                        </a:solidFill>
                        <a:latin typeface="Cambria Math"/>
                        <a:ea typeface="宋体"/>
                      </a:rPr>
                      <m:t>=</m:t>
                    </m:r>
                    <m:d>
                      <m:dPr>
                        <m:ctrlPr>
                          <a:rPr lang="en-US" altLang="zh-CN" sz="2800" b="1" i="1" dirty="0" smtClean="0">
                            <a:solidFill>
                              <a:srgbClr val="000000"/>
                            </a:solidFill>
                            <a:latin typeface="Cambria Math"/>
                            <a:ea typeface="宋体"/>
                          </a:rPr>
                        </m:ctrlPr>
                      </m:dPr>
                      <m:e>
                        <m:r>
                          <a:rPr lang="en-US" altLang="zh-CN" sz="2800" b="1" i="1" dirty="0" smtClean="0">
                            <a:solidFill>
                              <a:srgbClr val="000000"/>
                            </a:solidFill>
                            <a:latin typeface="Cambria Math"/>
                            <a:ea typeface="宋体"/>
                          </a:rPr>
                          <m:t>−</m:t>
                        </m:r>
                        <m:r>
                          <a:rPr lang="en-US" altLang="zh-CN" sz="2800" b="1" i="1" dirty="0" smtClean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∞,−</m:t>
                        </m:r>
                        <m:sSub>
                          <m:sSubPr>
                            <m:ctrlPr>
                              <a:rPr lang="en-US" altLang="zh-CN" sz="2800" b="1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altLang="zh-CN" sz="2800" b="1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𝒖</m:t>
                            </m:r>
                          </m:e>
                          <m:sub>
                            <m:f>
                              <m:fPr>
                                <m:type m:val="skw"/>
                                <m:ctrlPr>
                                  <a:rPr lang="en-US" altLang="zh-CN" sz="2800" b="1" i="1" dirty="0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2800" b="1" i="1" dirty="0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𝜶</m:t>
                                </m:r>
                              </m:num>
                              <m:den>
                                <m:r>
                                  <a:rPr lang="en-US" altLang="zh-CN" sz="2800" b="1" i="1" dirty="0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𝟐</m:t>
                                </m:r>
                              </m:den>
                            </m:f>
                          </m:sub>
                        </m:sSub>
                      </m:e>
                    </m:d>
                    <m:r>
                      <a:rPr lang="en-US" altLang="zh-CN" sz="2800" b="1" i="1" dirty="0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∪</m:t>
                    </m:r>
                    <m:d>
                      <m:dPr>
                        <m:ctrlPr>
                          <a:rPr lang="en-US" altLang="zh-CN" sz="2800" b="1" i="1" dirty="0" smtClean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altLang="zh-CN" sz="28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𝒖</m:t>
                            </m:r>
                          </m:e>
                          <m:sub>
                            <m:f>
                              <m:fPr>
                                <m:type m:val="skw"/>
                                <m:ctrlPr>
                                  <a:rPr lang="en-US" altLang="zh-CN" sz="2800" b="1" i="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2800" b="1" i="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𝜶</m:t>
                                </m:r>
                              </m:num>
                              <m:den>
                                <m:r>
                                  <a:rPr lang="en-US" altLang="zh-CN" sz="2800" b="1" i="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𝟐</m:t>
                                </m:r>
                              </m:den>
                            </m:f>
                          </m:sub>
                        </m:sSub>
                        <m:r>
                          <a:rPr lang="en-US" altLang="zh-CN" sz="2800" b="1" i="1" dirty="0" smtClean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,+∞</m:t>
                        </m:r>
                      </m:e>
                    </m:d>
                    <m:r>
                      <a:rPr lang="en-US" altLang="zh-CN" sz="2800" b="1" i="0" dirty="0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.</m:t>
                    </m:r>
                  </m:oMath>
                </a14:m>
                <a:endParaRPr lang="en-US" altLang="zh-CN" sz="2800" b="1" dirty="0" smtClean="0"/>
              </a:p>
              <a:p>
                <a:pPr>
                  <a:lnSpc>
                    <a:spcPct val="150000"/>
                  </a:lnSpc>
                </a:pPr>
                <a:r>
                  <a:rPr lang="zh-CN" altLang="en-US" sz="28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此检验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法称为</a:t>
                </a:r>
                <a:r>
                  <a:rPr lang="en-US" altLang="zh-CN" sz="2800" b="1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U</a:t>
                </a:r>
                <a:r>
                  <a:rPr lang="zh-CN" altLang="en-US" sz="2800" b="1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检验法</a:t>
                </a:r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  <a:endParaRPr lang="zh-CN" altLang="en-US" sz="2800" b="1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364" y="3429629"/>
                <a:ext cx="7706155" cy="2818016"/>
              </a:xfrm>
              <a:prstGeom prst="rect">
                <a:avLst/>
              </a:prstGeom>
              <a:blipFill rotWithShape="1">
                <a:blip r:embed="rId5"/>
                <a:stretch>
                  <a:fillRect l="-1661" b="-3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1209413958"/>
              </p:ext>
            </p:extLst>
          </p:nvPr>
        </p:nvGraphicFramePr>
        <p:xfrm>
          <a:off x="5580112" y="1423120"/>
          <a:ext cx="2239962" cy="493712"/>
        </p:xfrm>
        <a:graphic>
          <a:graphicData uri="http://schemas.openxmlformats.org/presentationml/2006/ole">
            <p:oleObj spid="_x0000_s7406" name="Equation" r:id="rId6" imgW="1015920" imgH="228600" progId="Equation.DSMT4">
              <p:embed/>
            </p:oleObj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1915620121"/>
              </p:ext>
            </p:extLst>
          </p:nvPr>
        </p:nvGraphicFramePr>
        <p:xfrm>
          <a:off x="1351632" y="2135708"/>
          <a:ext cx="700088" cy="357188"/>
        </p:xfrm>
        <a:graphic>
          <a:graphicData uri="http://schemas.openxmlformats.org/presentationml/2006/ole">
            <p:oleObj spid="_x0000_s7407" name="Equation" r:id="rId7" imgW="317160" imgH="164880" progId="Equation.DSMT4">
              <p:embed/>
            </p:oleObj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340142131"/>
              </p:ext>
            </p:extLst>
          </p:nvPr>
        </p:nvGraphicFramePr>
        <p:xfrm>
          <a:off x="1907704" y="1487637"/>
          <a:ext cx="700088" cy="357187"/>
        </p:xfrm>
        <a:graphic>
          <a:graphicData uri="http://schemas.openxmlformats.org/presentationml/2006/ole">
            <p:oleObj spid="_x0000_s7408" name="Equation" r:id="rId8" imgW="317160" imgH="164880" progId="Equation.DSMT4">
              <p:embed/>
            </p:oleObj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147831913"/>
              </p:ext>
            </p:extLst>
          </p:nvPr>
        </p:nvGraphicFramePr>
        <p:xfrm>
          <a:off x="5076056" y="3479725"/>
          <a:ext cx="2047875" cy="741363"/>
        </p:xfrm>
        <a:graphic>
          <a:graphicData uri="http://schemas.openxmlformats.org/presentationml/2006/ole">
            <p:oleObj spid="_x0000_s7409" name="Equation" r:id="rId9" imgW="1168200" imgH="431640" progId="Equation.DSMT4">
              <p:embed/>
            </p:oleObj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3314448554"/>
              </p:ext>
            </p:extLst>
          </p:nvPr>
        </p:nvGraphicFramePr>
        <p:xfrm>
          <a:off x="1475656" y="4221088"/>
          <a:ext cx="812800" cy="493713"/>
        </p:xfrm>
        <a:graphic>
          <a:graphicData uri="http://schemas.openxmlformats.org/presentationml/2006/ole">
            <p:oleObj spid="_x0000_s7410" name="Equation" r:id="rId10" imgW="368280" imgH="228600" progId="Equation.DSMT4">
              <p:embed/>
            </p:oleObj>
          </a:graphicData>
        </a:graphic>
      </p:graphicFrame>
    </p:spTree>
    <p:extLst>
      <p:ext uri="{BB962C8B-B14F-4D97-AF65-F5344CB8AC3E}">
        <p14:creationId xmlns="" xmlns:p14="http://schemas.microsoft.com/office/powerpoint/2010/main" val="1507468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=""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827584" y="332656"/>
                <a:ext cx="7336756" cy="67664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/>
                            <a:ea typeface="+mn-ea"/>
                          </a:rPr>
                        </m:ctrlPr>
                      </m:sSupPr>
                      <m:e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/>
                            <a:ea typeface="+mn-ea"/>
                          </a:rPr>
                          <m:t>𝒄𝒂𝒔𝒆</m:t>
                        </m:r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/>
                            <a:ea typeface="+mn-ea"/>
                          </a:rPr>
                          <m:t>𝟐</m:t>
                        </m:r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/>
                            <a:ea typeface="+mn-ea"/>
                          </a:rPr>
                          <m:t>.    </m:t>
                        </m:r>
                        <m:r>
                          <a:rPr lang="zh-CN" altLang="en-US" sz="2800" b="1" i="1">
                            <a:solidFill>
                              <a:srgbClr val="FF0000"/>
                            </a:solidFill>
                            <a:latin typeface="Cambria Math"/>
                            <a:ea typeface="+mn-ea"/>
                          </a:rPr>
                          <m:t>𝝈</m:t>
                        </m:r>
                      </m:e>
                      <m:sup>
                        <m: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/>
                            <a:ea typeface="+mn-ea"/>
                          </a:rPr>
                          <m:t>𝟐</m:t>
                        </m:r>
                      </m:sup>
                    </m:sSup>
                    <m:r>
                      <a:rPr lang="zh-CN" altLang="en-US" sz="2800" b="1" i="1" smtClean="0">
                        <a:solidFill>
                          <a:srgbClr val="FF0000"/>
                        </a:solidFill>
                        <a:latin typeface="Cambria Math"/>
                        <a:ea typeface="+mn-ea"/>
                      </a:rPr>
                      <m:t>未</m:t>
                    </m:r>
                  </m:oMath>
                </a14:m>
                <a:r>
                  <a:rPr lang="zh-CN" altLang="en-US" sz="2800" b="1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知</a:t>
                </a:r>
                <a:r>
                  <a:rPr lang="zh-CN" altLang="en-US" sz="2800" b="1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，用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1" i="1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</m:ctrlPr>
                      </m:sSupPr>
                      <m:e>
                        <m:r>
                          <a:rPr lang="zh-CN" altLang="en-US" sz="2800" b="1" i="1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𝝈</m:t>
                        </m:r>
                      </m:e>
                      <m:sup>
                        <m:r>
                          <a:rPr lang="en-US" altLang="zh-CN" sz="2800" b="1" i="1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的无偏估计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1" i="1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</m:ctrlPr>
                      </m:sSupPr>
                      <m:e>
                        <m:r>
                          <a:rPr lang="en-US" altLang="zh-CN" sz="2800" b="1" i="1" smtClean="0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𝑺</m:t>
                        </m:r>
                      </m:e>
                      <m:sup>
                        <m:r>
                          <a:rPr lang="en-US" altLang="zh-CN" sz="2800" b="1" i="1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zh-CN" altLang="en-US" sz="2800" b="1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去替代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1" i="1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</m:ctrlPr>
                      </m:sSupPr>
                      <m:e>
                        <m:r>
                          <a:rPr lang="zh-CN" altLang="en-US" sz="2800" b="1" i="1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𝝈</m:t>
                        </m:r>
                      </m:e>
                      <m:sup>
                        <m:r>
                          <a:rPr lang="en-US" altLang="zh-CN" sz="2800" b="1" i="1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zh-CN" altLang="en-US" sz="2800" b="1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</a:t>
                </a:r>
                <a:r>
                  <a:rPr lang="zh-CN" altLang="en-US" sz="2800" b="1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在</a:t>
                </a:r>
                <a:r>
                  <a:rPr lang="zh-CN" altLang="en-US" sz="2800" b="1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假设    成立时，统计量</a:t>
                </a:r>
                <a14:m>
                  <m:oMath xmlns:m="http://schemas.openxmlformats.org/officeDocument/2006/math">
                    <m:r>
                      <a:rPr lang="en-US" altLang="zh-CN" sz="2800" b="1" i="0" smtClean="0">
                        <a:solidFill>
                          <a:srgbClr val="000000"/>
                        </a:solidFill>
                        <a:latin typeface="Cambria Math"/>
                      </a:rPr>
                      <m:t>              </m:t>
                    </m:r>
                  </m:oMath>
                </a14:m>
                <a:endParaRPr lang="en-US" altLang="zh-CN" sz="2800" b="1" i="0" dirty="0" smtClean="0">
                  <a:solidFill>
                    <a:srgbClr val="000000"/>
                  </a:solidFill>
                  <a:latin typeface="Cambria Math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𝑻</m:t>
                      </m:r>
                      <m:r>
                        <a:rPr lang="en-US" altLang="zh-CN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sz="28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28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(</m:t>
                          </m:r>
                          <m:acc>
                            <m:accPr>
                              <m:chr m:val="̅"/>
                              <m:ctrlPr>
                                <a:rPr lang="en-US" altLang="zh-CN" sz="28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CN" sz="28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𝑿</m:t>
                              </m:r>
                            </m:e>
                          </m:acc>
                          <m:r>
                            <a:rPr lang="en-US" altLang="zh-CN" sz="28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800" b="1" i="1" dirty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zh-CN" altLang="en-US" sz="2800" b="1" i="1" dirty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800" b="1" i="1" dirty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altLang="zh-CN" sz="28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)</m:t>
                          </m:r>
                          <m:rad>
                            <m:radPr>
                              <m:degHide m:val="on"/>
                              <m:ctrlPr>
                                <a:rPr lang="en-US" altLang="zh-CN" sz="28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8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𝒏</m:t>
                              </m:r>
                            </m:e>
                          </m:rad>
                        </m:num>
                        <m:den>
                          <m:r>
                            <a:rPr lang="en-US" altLang="zh-CN" sz="28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𝑺</m:t>
                          </m:r>
                        </m:den>
                      </m:f>
                      <m:r>
                        <a:rPr lang="en-US" altLang="zh-CN" sz="28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~</m:t>
                      </m:r>
                      <m:r>
                        <a:rPr lang="en-US" altLang="zh-CN" sz="28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𝒕</m:t>
                      </m:r>
                      <m:d>
                        <m:dPr>
                          <m:ctrlPr>
                            <a:rPr lang="en-US" altLang="zh-CN" sz="2800" b="1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altLang="zh-CN" sz="2800" b="1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𝒏</m:t>
                          </m:r>
                          <m:r>
                            <a:rPr lang="en-US" altLang="zh-CN" sz="2800" b="1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US" altLang="zh-CN" sz="2800" b="1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𝟏</m:t>
                          </m:r>
                        </m:e>
                      </m:d>
                      <m:r>
                        <a:rPr lang="en-US" altLang="zh-CN" sz="2800" b="1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</a:rPr>
                        <m:t>,</m:t>
                      </m:r>
                    </m:oMath>
                  </m:oMathPara>
                </a14:m>
                <a:endParaRPr lang="en-US" altLang="zh-CN" sz="2800" b="1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800" b="1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拒绝域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solidFill>
                          <a:srgbClr val="000000"/>
                        </a:solidFill>
                        <a:latin typeface="Cambria Math"/>
                        <a:ea typeface="宋体"/>
                      </a:rPr>
                      <m:t>𝑾</m:t>
                    </m:r>
                    <m:r>
                      <a:rPr lang="en-US" altLang="zh-CN" sz="2800" b="1" i="1" dirty="0">
                        <a:solidFill>
                          <a:srgbClr val="000000"/>
                        </a:solidFill>
                        <a:latin typeface="Cambria Math"/>
                        <a:ea typeface="宋体"/>
                      </a:rPr>
                      <m:t>=</m:t>
                    </m:r>
                    <m:d>
                      <m:dPr>
                        <m:ctrlPr>
                          <a:rPr lang="en-US" altLang="zh-CN" sz="2800" b="1" i="1" dirty="0">
                            <a:solidFill>
                              <a:srgbClr val="000000"/>
                            </a:solidFill>
                            <a:latin typeface="Cambria Math"/>
                            <a:ea typeface="宋体"/>
                          </a:rPr>
                        </m:ctrlPr>
                      </m:dPr>
                      <m:e>
                        <m:r>
                          <a:rPr lang="en-US" altLang="zh-CN" sz="2800" b="1" i="1" dirty="0">
                            <a:solidFill>
                              <a:srgbClr val="000000"/>
                            </a:solidFill>
                            <a:latin typeface="Cambria Math"/>
                            <a:ea typeface="宋体"/>
                          </a:rPr>
                          <m:t>−</m:t>
                        </m:r>
                        <m:r>
                          <a:rPr lang="en-US" altLang="zh-CN" sz="2800" b="1" i="1" dirty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∞,−</m:t>
                        </m:r>
                        <m:sSub>
                          <m:sSubPr>
                            <m:ctrlPr>
                              <a:rPr lang="en-US" altLang="zh-CN" sz="28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altLang="zh-CN" sz="2800" b="1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𝒕</m:t>
                            </m:r>
                          </m:e>
                          <m:sub>
                            <m:f>
                              <m:fPr>
                                <m:type m:val="skw"/>
                                <m:ctrlPr>
                                  <a:rPr lang="en-US" altLang="zh-CN" sz="2800" b="1" i="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2800" b="1" i="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𝜶</m:t>
                                </m:r>
                              </m:num>
                              <m:den>
                                <m:r>
                                  <a:rPr lang="en-US" altLang="zh-CN" sz="2800" b="1" i="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𝟐</m:t>
                                </m:r>
                              </m:den>
                            </m:f>
                          </m:sub>
                        </m:sSub>
                        <m:d>
                          <m:dPr>
                            <m:ctrlPr>
                              <a:rPr lang="en-US" altLang="zh-CN" sz="2800" b="1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altLang="zh-CN" sz="2800" b="1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𝒏</m:t>
                            </m:r>
                            <m:r>
                              <a:rPr lang="en-US" altLang="zh-CN" sz="2800" b="1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−</m:t>
                            </m:r>
                            <m:r>
                              <a:rPr lang="en-US" altLang="zh-CN" sz="2800" b="1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𝟏</m:t>
                            </m:r>
                          </m:e>
                        </m:d>
                      </m:e>
                    </m:d>
                    <m:r>
                      <a:rPr lang="en-US" altLang="zh-CN" sz="2800" b="1" i="1" dirty="0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∪</m:t>
                    </m:r>
                    <m:d>
                      <m:dPr>
                        <m:ctrlPr>
                          <a:rPr lang="en-US" altLang="zh-CN" sz="2800" b="1" i="1" dirty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altLang="zh-CN" sz="2800" b="1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𝒕</m:t>
                            </m:r>
                          </m:e>
                          <m:sub>
                            <m:f>
                              <m:fPr>
                                <m:type m:val="skw"/>
                                <m:ctrlPr>
                                  <a:rPr lang="en-US" altLang="zh-CN" sz="2800" b="1" i="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2800" b="1" i="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𝜶</m:t>
                                </m:r>
                              </m:num>
                              <m:den>
                                <m:r>
                                  <a:rPr lang="en-US" altLang="zh-CN" sz="2800" b="1" i="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𝟐</m:t>
                                </m:r>
                              </m:den>
                            </m:f>
                          </m:sub>
                        </m:sSub>
                        <m:d>
                          <m:dPr>
                            <m:ctrlPr>
                              <a:rPr lang="en-US" altLang="zh-CN" sz="2800" b="1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altLang="zh-CN" sz="2800" b="1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𝒏</m:t>
                            </m:r>
                            <m:r>
                              <a:rPr lang="en-US" altLang="zh-CN" sz="2800" b="1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−</m:t>
                            </m:r>
                            <m:r>
                              <a:rPr lang="en-US" altLang="zh-CN" sz="2800" b="1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𝟏</m:t>
                            </m:r>
                          </m:e>
                        </m:d>
                        <m:r>
                          <a:rPr lang="en-US" altLang="zh-CN" sz="2800" b="1" i="1" dirty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,+∞</m:t>
                        </m:r>
                      </m:e>
                    </m:d>
                    <m:r>
                      <a:rPr lang="en-US" altLang="zh-CN" sz="2800" b="1" dirty="0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.</m:t>
                    </m:r>
                  </m:oMath>
                </a14:m>
                <a:endParaRPr lang="en-US" altLang="zh-CN" sz="2800" b="1" dirty="0" smtClean="0">
                  <a:solidFill>
                    <a:srgbClr val="000000"/>
                  </a:solidFill>
                  <a:latin typeface="Cambria Math"/>
                  <a:ea typeface="Cambria Math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800" b="1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由于检验统计量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𝑻</m:t>
                    </m:r>
                    <m:r>
                      <m:rPr>
                        <m:nor/>
                      </m:rPr>
                      <a:rPr lang="zh-CN" altLang="en-US" sz="2800" b="1" dirty="0">
                        <a:solidFill>
                          <a:srgbClr val="000000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rPr>
                      <m:t>服从</m:t>
                    </m:r>
                    <m:r>
                      <a:rPr lang="en-US" altLang="zh-CN" sz="2800" b="1" i="1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𝒕</m:t>
                    </m:r>
                    <m:d>
                      <m:dPr>
                        <m:ctrlPr>
                          <a:rPr lang="en-US" altLang="zh-CN" sz="2800" b="1" i="1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sz="2800" b="1" i="1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𝒏</m:t>
                        </m:r>
                        <m:r>
                          <a:rPr lang="en-US" altLang="zh-CN" sz="2800" b="1" i="1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en-US" altLang="zh-CN" sz="2800" b="1" i="1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𝟏</m:t>
                        </m:r>
                      </m:e>
                    </m:d>
                  </m:oMath>
                </a14:m>
                <a:r>
                  <a:rPr lang="zh-CN" altLang="en-US" sz="2800" b="1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分布，故称此检验法为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𝒕</m:t>
                    </m:r>
                    <m:r>
                      <m:rPr>
                        <m:nor/>
                      </m:rPr>
                      <a:rPr lang="zh-CN" altLang="en-US" sz="2800" b="1" dirty="0">
                        <a:solidFill>
                          <a:srgbClr val="FF0000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rPr>
                      <m:t>检验法</m:t>
                    </m:r>
                  </m:oMath>
                </a14:m>
                <a:r>
                  <a:rPr lang="en-US" altLang="zh-CN" sz="2800" b="1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endParaRPr lang="en-US" altLang="zh-CN" b="0" dirty="0" smtClean="0">
                  <a:solidFill>
                    <a:srgbClr val="000000"/>
                  </a:solidFill>
                  <a:ea typeface="Cambria Math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2000" dirty="0" smtClean="0">
                  <a:solidFill>
                    <a:srgbClr val="000000"/>
                  </a:solidFill>
                  <a:ea typeface="+mn-ea"/>
                </a:endParaRPr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332656"/>
                <a:ext cx="7336756" cy="6766404"/>
              </a:xfrm>
              <a:prstGeom prst="rect">
                <a:avLst/>
              </a:prstGeom>
              <a:blipFill rotWithShape="1">
                <a:blip r:embed="rId4"/>
                <a:stretch>
                  <a:fillRect l="-17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2227788347"/>
              </p:ext>
            </p:extLst>
          </p:nvPr>
        </p:nvGraphicFramePr>
        <p:xfrm>
          <a:off x="2339752" y="1196752"/>
          <a:ext cx="812800" cy="493712"/>
        </p:xfrm>
        <a:graphic>
          <a:graphicData uri="http://schemas.openxmlformats.org/presentationml/2006/ole">
            <p:oleObj spid="_x0000_s6201" name="Equation" r:id="rId5" imgW="368280" imgH="2286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="" xmlns:a14="http://schemas.microsoft.com/office/drawing/2010/main" Requires="a14">
          <p:sp>
            <p:nvSpPr>
              <p:cNvPr id="4098" name="Rectangle 2"/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611560" y="81029"/>
                <a:ext cx="7993509" cy="3131947"/>
              </a:xfrm>
              <a:noFill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pPr marL="0" indent="0" eaLnBrk="1" hangingPunct="1">
                  <a:lnSpc>
                    <a:spcPct val="170000"/>
                  </a:lnSpc>
                  <a:spcBef>
                    <a:spcPts val="0"/>
                  </a:spcBef>
                  <a:buFontTx/>
                  <a:buNone/>
                </a:pPr>
                <a:r>
                  <a:rPr lang="zh-CN" altLang="en-US" sz="11200" b="1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例</a:t>
                </a:r>
                <a:r>
                  <a:rPr lang="en-US" altLang="zh-CN" sz="11200" b="1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1  </a:t>
                </a:r>
                <a:r>
                  <a:rPr lang="zh-CN" altLang="en-US" sz="112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设</a:t>
                </a:r>
                <a:r>
                  <a:rPr lang="zh-CN" altLang="en-US" sz="112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某</a:t>
                </a:r>
                <a:r>
                  <a:rPr lang="zh-CN" altLang="en-US" sz="112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厂生产的螺杆直径服从正态分布</a:t>
                </a:r>
                <a14:m>
                  <m:oMath xmlns:m="http://schemas.openxmlformats.org/officeDocument/2006/math">
                    <m:r>
                      <a:rPr lang="en-US" altLang="zh-CN" sz="11200" b="1" i="1" kern="1200">
                        <a:solidFill>
                          <a:srgbClr val="000000"/>
                        </a:solidFill>
                        <a:latin typeface="Cambria Math"/>
                      </a:rPr>
                      <m:t>𝑵</m:t>
                    </m:r>
                    <m:d>
                      <m:dPr>
                        <m:ctrlPr>
                          <a:rPr lang="en-US" altLang="zh-CN" sz="11200" b="1" i="1" kern="1200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zh-CN" altLang="en-US" sz="11200" b="1" i="1" kern="1200">
                            <a:solidFill>
                              <a:srgbClr val="000000"/>
                            </a:solidFill>
                            <a:latin typeface="Cambria Math"/>
                          </a:rPr>
                          <m:t>𝝁</m:t>
                        </m:r>
                        <m:r>
                          <a:rPr lang="en-US" altLang="zh-CN" sz="11200" b="1" i="1" kern="1200">
                            <a:solidFill>
                              <a:srgbClr val="000000"/>
                            </a:solidFill>
                            <a:latin typeface="Cambria Math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11200" b="1" i="1" kern="120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zh-CN" altLang="en-US" sz="11200" b="1" i="1" kern="120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𝝈</m:t>
                            </m:r>
                          </m:e>
                          <m:sup>
                            <m:r>
                              <a:rPr lang="en-US" altLang="zh-CN" sz="11200" b="1" i="1" kern="120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sz="11200" b="1" kern="1200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11200" b="1" kern="1200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现从中抽取</a:t>
                </a:r>
                <a:r>
                  <a:rPr lang="en-US" altLang="zh-CN" sz="11200" b="1" kern="1200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5</a:t>
                </a:r>
                <a:r>
                  <a:rPr lang="zh-CN" altLang="en-US" sz="11200" b="1" kern="1200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件，测得直径</a:t>
                </a:r>
                <a:r>
                  <a:rPr lang="en-US" altLang="zh-CN" sz="11200" b="1" kern="1200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(</a:t>
                </a:r>
                <a:r>
                  <a:rPr lang="zh-CN" altLang="en-US" sz="11200" b="1" kern="1200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单位：</a:t>
                </a:r>
                <a:r>
                  <a:rPr lang="en-US" altLang="zh-CN" sz="11200" b="1" kern="1200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mm)</a:t>
                </a:r>
                <a:r>
                  <a:rPr lang="zh-CN" altLang="en-US" sz="11200" b="1" kern="1200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为：</a:t>
                </a:r>
                <a:r>
                  <a:rPr lang="en-US" altLang="zh-CN" sz="11200" b="1" kern="1200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22.3,21.5,22.0,21.8,21.4,</a:t>
                </a:r>
                <a:r>
                  <a:rPr lang="zh-CN" altLang="en-US" sz="112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1200" b="1" i="1" kern="1200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zh-CN" altLang="en-US" sz="11200" b="1" i="1" kern="1200">
                            <a:solidFill>
                              <a:srgbClr val="000000"/>
                            </a:solidFill>
                            <a:latin typeface="Cambria Math"/>
                          </a:rPr>
                          <m:t>𝝈</m:t>
                        </m:r>
                      </m:e>
                      <m:sup>
                        <m:r>
                          <a:rPr lang="en-US" altLang="zh-CN" sz="11200" b="1" i="1" kern="1200">
                            <a:solidFill>
                              <a:srgbClr val="00000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zh-CN" altLang="en-US" sz="112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未知，</a:t>
                </a:r>
                <a:r>
                  <a:rPr lang="zh-CN" altLang="en-US" sz="112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试</a:t>
                </a:r>
                <a:r>
                  <a:rPr lang="zh-CN" altLang="en-US" sz="112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在显著性水平</a:t>
                </a:r>
                <a14:m>
                  <m:oMath xmlns:m="http://schemas.openxmlformats.org/officeDocument/2006/math">
                    <m:r>
                      <a:rPr lang="zh-CN" altLang="en-US" sz="11200" b="1" i="1" smtClean="0">
                        <a:latin typeface="Cambria Math"/>
                      </a:rPr>
                      <m:t>𝜶</m:t>
                    </m:r>
                    <m:r>
                      <a:rPr lang="en-US" altLang="zh-CN" sz="11200" b="1" i="1" smtClean="0">
                        <a:latin typeface="Cambria Math"/>
                      </a:rPr>
                      <m:t>=</m:t>
                    </m:r>
                    <m:r>
                      <a:rPr lang="en-US" altLang="zh-CN" sz="11200" b="1" i="1" smtClean="0">
                        <a:latin typeface="Cambria Math"/>
                      </a:rPr>
                      <m:t>𝟎</m:t>
                    </m:r>
                    <m:r>
                      <a:rPr lang="en-US" altLang="zh-CN" sz="11200" b="1" i="1" smtClean="0">
                        <a:latin typeface="Cambria Math"/>
                      </a:rPr>
                      <m:t>.</m:t>
                    </m:r>
                    <m:r>
                      <a:rPr lang="en-US" altLang="zh-CN" sz="11200" b="1" i="1" smtClean="0">
                        <a:latin typeface="Cambria Math"/>
                      </a:rPr>
                      <m:t>𝟎𝟓</m:t>
                    </m:r>
                  </m:oMath>
                </a14:m>
                <a:r>
                  <a:rPr lang="zh-CN" altLang="en-US" sz="112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下</a:t>
                </a:r>
                <a:r>
                  <a:rPr lang="en-US" altLang="zh-CN" sz="112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112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检验假设</a:t>
                </a:r>
                <a14:m>
                  <m:oMath xmlns:m="http://schemas.openxmlformats.org/officeDocument/2006/math">
                    <m:r>
                      <a:rPr lang="en-US" altLang="zh-CN" sz="11200" b="1" i="0" kern="1200" smtClean="0">
                        <a:solidFill>
                          <a:srgbClr val="000000"/>
                        </a:solidFill>
                        <a:latin typeface="Cambria Math"/>
                      </a:rPr>
                      <m:t>:</m:t>
                    </m:r>
                    <m:sSub>
                      <m:sSubPr>
                        <m:ctrlPr>
                          <a:rPr lang="en-US" altLang="zh-CN" sz="11200" b="1" i="1" kern="1200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11200" b="1" i="1" kern="1200">
                            <a:solidFill>
                              <a:srgbClr val="000000"/>
                            </a:solidFill>
                            <a:latin typeface="Cambria Math"/>
                          </a:rPr>
                          <m:t>𝑯</m:t>
                        </m:r>
                      </m:e>
                      <m:sub>
                        <m:r>
                          <a:rPr lang="en-US" altLang="zh-CN" sz="11200" b="1" i="1" kern="1200">
                            <a:solidFill>
                              <a:srgbClr val="000000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11200" b="1" kern="1200" dirty="0">
                    <a:solidFill>
                      <a:srgbClr val="000000"/>
                    </a:solidFill>
                    <a:latin typeface="+mn-ea"/>
                  </a:rPr>
                  <a:t>:</a:t>
                </a:r>
                <a14:m>
                  <m:oMath xmlns:m="http://schemas.openxmlformats.org/officeDocument/2006/math">
                    <m:r>
                      <a:rPr lang="zh-CN" altLang="en-US" sz="11200" b="1" i="1" kern="1200" dirty="0">
                        <a:solidFill>
                          <a:srgbClr val="000000"/>
                        </a:solidFill>
                        <a:latin typeface="Cambria Math"/>
                      </a:rPr>
                      <m:t>𝝁</m:t>
                    </m:r>
                    <m:r>
                      <a:rPr lang="en-US" altLang="zh-CN" sz="11200" b="1" i="1" kern="1200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altLang="zh-CN" sz="11200" b="1" i="1" kern="1200" dirty="0" smtClean="0">
                        <a:solidFill>
                          <a:srgbClr val="000000"/>
                        </a:solidFill>
                        <a:latin typeface="Cambria Math"/>
                      </a:rPr>
                      <m:t>𝟐𝟏</m:t>
                    </m:r>
                  </m:oMath>
                </a14:m>
                <a:r>
                  <a:rPr lang="en-US" altLang="zh-CN" sz="11200" b="1" kern="1200" dirty="0">
                    <a:solidFill>
                      <a:srgbClr val="000000"/>
                    </a:solidFill>
                    <a:latin typeface="+mn-ea"/>
                  </a:rPr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1200" b="1" i="1" kern="1200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11200" b="1" i="1" kern="1200">
                            <a:solidFill>
                              <a:srgbClr val="000000"/>
                            </a:solidFill>
                            <a:latin typeface="Cambria Math"/>
                          </a:rPr>
                          <m:t>𝑯</m:t>
                        </m:r>
                      </m:e>
                      <m:sub>
                        <m:r>
                          <a:rPr lang="en-US" altLang="zh-CN" sz="11200" b="1" i="1" kern="1200">
                            <a:solidFill>
                              <a:srgbClr val="00000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1200" b="1" kern="1200" dirty="0">
                    <a:solidFill>
                      <a:srgbClr val="000000"/>
                    </a:solidFill>
                    <a:latin typeface="+mn-ea"/>
                  </a:rPr>
                  <a:t>:</a:t>
                </a:r>
                <a14:m>
                  <m:oMath xmlns:m="http://schemas.openxmlformats.org/officeDocument/2006/math">
                    <m:r>
                      <a:rPr lang="zh-CN" altLang="en-US" sz="11200" b="1" i="1" kern="1200" dirty="0">
                        <a:solidFill>
                          <a:srgbClr val="000000"/>
                        </a:solidFill>
                        <a:latin typeface="Cambria Math"/>
                      </a:rPr>
                      <m:t>𝝁</m:t>
                    </m:r>
                    <m:r>
                      <a:rPr lang="en-US" altLang="zh-CN" sz="11200" b="1" i="1" kern="1200" dirty="0">
                        <a:solidFill>
                          <a:srgbClr val="000000"/>
                        </a:solidFill>
                        <a:latin typeface="Cambria Math"/>
                      </a:rPr>
                      <m:t>≠</m:t>
                    </m:r>
                    <m:r>
                      <a:rPr lang="en-US" altLang="zh-CN" sz="11200" b="1" i="1" kern="1200" dirty="0" smtClean="0">
                        <a:solidFill>
                          <a:srgbClr val="000000"/>
                        </a:solidFill>
                        <a:latin typeface="Cambria Math"/>
                      </a:rPr>
                      <m:t>𝟐𝟏</m:t>
                    </m:r>
                    <m:r>
                      <a:rPr lang="en-US" altLang="zh-CN" sz="11200" b="1" i="0" kern="1200" dirty="0" smtClean="0">
                        <a:solidFill>
                          <a:srgbClr val="000000"/>
                        </a:solidFill>
                        <a:latin typeface="Cambria Math"/>
                      </a:rPr>
                      <m:t>.</m:t>
                    </m:r>
                  </m:oMath>
                </a14:m>
                <a:endParaRPr lang="en-US" altLang="zh-CN" sz="11200" b="1" dirty="0" smtClean="0">
                  <a:latin typeface="+mn-ea"/>
                </a:endParaRPr>
              </a:p>
              <a:p>
                <a:pPr eaLnBrk="1" hangingPunct="1">
                  <a:buFontTx/>
                  <a:buNone/>
                </a:pPr>
                <a:r>
                  <a:rPr lang="zh-CN" altLang="en-US" sz="45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/>
                </a:r>
                <a:endParaRPr lang="en-US" altLang="zh-CN" sz="4500" b="1" dirty="0" smtClean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eaLnBrk="1" hangingPunct="1">
                  <a:buFontTx/>
                  <a:buNone/>
                </a:pPr>
                <a:r>
                  <a:rPr lang="en-US" altLang="zh-CN" b="1" dirty="0"/>
                  <a:t/>
                </a:r>
                <a:r>
                  <a:rPr lang="en-US" altLang="zh-CN" b="1" dirty="0" smtClean="0"/>
                  <a:t/>
                </a:r>
                <a:endParaRPr lang="zh-CN" altLang="en-US" b="1" dirty="0" smtClean="0"/>
              </a:p>
            </p:txBody>
          </p:sp>
        </mc:Choice>
        <mc:Fallback>
          <p:sp>
            <p:nvSpPr>
              <p:cNvPr id="4098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611560" y="81029"/>
                <a:ext cx="7993509" cy="3131947"/>
              </a:xfrm>
              <a:blipFill rotWithShape="1">
                <a:blip r:embed="rId2"/>
                <a:stretch>
                  <a:fillRect l="-1524" r="-1524"/>
                </a:stretch>
              </a:blipFill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467544" y="1340768"/>
            <a:ext cx="8137525" cy="1872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 sz="2800" dirty="0"/>
          </a:p>
        </p:txBody>
      </p: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4" name="Rectangle 2"/>
              <p:cNvSpPr txBox="1">
                <a:spLocks noChangeArrowheads="1"/>
              </p:cNvSpPr>
              <p:nvPr/>
            </p:nvSpPr>
            <p:spPr bwMode="auto">
              <a:xfrm>
                <a:off x="651688" y="2708920"/>
                <a:ext cx="7993509" cy="3384376"/>
              </a:xfrm>
              <a:prstGeom prst="rect">
                <a:avLst/>
              </a:prstGeom>
              <a:noFill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eaLnBrk="1" hangingPunct="1">
                  <a:buFontTx/>
                  <a:buNone/>
                </a:pPr>
                <a:r>
                  <a:rPr lang="zh-CN" altLang="en-US" kern="0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解 </a:t>
                </a:r>
                <a:r>
                  <a:rPr lang="en-US" altLang="zh-CN" b="0" kern="0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/>
                </a:r>
                <a:r>
                  <a:rPr lang="zh-CN" altLang="en-US" kern="0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检验统计量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</m:oMath>
                </a14:m>
                <a:endParaRPr lang="en-US" altLang="zh-CN" i="0" dirty="0" smtClean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eaLnBrk="1" hangingPunct="1"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𝑻</m:t>
                      </m:r>
                      <m:r>
                        <a:rPr lang="en-US" altLang="zh-CN" b="1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(</m:t>
                          </m:r>
                          <m:acc>
                            <m:accPr>
                              <m:chr m:val="̅"/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𝑿</m:t>
                              </m:r>
                            </m:e>
                          </m:acc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 dirty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zh-CN" altLang="en-US" b="1" i="1" dirty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b="1" i="1" dirty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)</m:t>
                          </m:r>
                          <m:rad>
                            <m:radPr>
                              <m:degHide m:val="on"/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𝒏</m:t>
                              </m:r>
                            </m:e>
                          </m:rad>
                        </m:num>
                        <m:den>
                          <m:r>
                            <m:rPr>
                              <m:nor/>
                            </m:rPr>
                            <a:rPr lang="en-US" altLang="zh-CN" kern="0" dirty="0" smtClean="0"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m:t> </m:t>
                          </m:r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𝑺</m:t>
                          </m:r>
                        </m:den>
                      </m:f>
                    </m:oMath>
                  </m:oMathPara>
                </a14:m>
                <a:endParaRPr lang="en-US" altLang="zh-CN" dirty="0" smtClean="0">
                  <a:solidFill>
                    <a:schemeClr val="tx1"/>
                  </a:solidFill>
                  <a:latin typeface="华文楷体" panose="02010600040101010101" pitchFamily="2" charset="-122"/>
                </a:endParaRPr>
              </a:p>
              <a:p>
                <a:pPr eaLnBrk="1" hangingPunct="1">
                  <a:buFontTx/>
                  <a:buNone/>
                </a:pPr>
                <a:r>
                  <a:rPr lang="zh-CN" altLang="en-US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所以，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/>
                      </a:rPr>
                      <m:t>𝒕</m:t>
                    </m:r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CN" b="1" i="1">
                            <a:solidFill>
                              <a:prstClr val="black"/>
                            </a:solidFill>
                            <a:latin typeface="Cambria Math"/>
                          </a:rPr>
                          <m:t>(</m:t>
                        </m:r>
                        <m:r>
                          <a:rPr lang="en-US" altLang="zh-CN" b="1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𝟐𝟏</m:t>
                        </m:r>
                        <m:r>
                          <a:rPr lang="en-US" altLang="zh-CN" b="1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.</m:t>
                        </m:r>
                        <m:r>
                          <a:rPr lang="en-US" altLang="zh-CN" b="1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𝟖</m:t>
                        </m:r>
                        <m:r>
                          <a:rPr lang="en-US" altLang="zh-CN" b="1" i="1">
                            <a:solidFill>
                              <a:prstClr val="black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𝟐𝟏</m:t>
                        </m:r>
                        <m:r>
                          <a:rPr lang="en-US" altLang="zh-CN" b="1" i="1">
                            <a:solidFill>
                              <a:prstClr val="black"/>
                            </a:solidFill>
                            <a:latin typeface="Cambria Math"/>
                          </a:rPr>
                          <m:t>)</m:t>
                        </m:r>
                        <m:rad>
                          <m:radPr>
                            <m:degHide m:val="on"/>
                            <m:ctrlP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b="1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𝟓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b="1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altLang="zh-CN" b="1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.</m:t>
                            </m:r>
                            <m:r>
                              <a:rPr lang="en-US" altLang="zh-CN" b="1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𝟏𝟑𝟓</m:t>
                            </m:r>
                          </m:e>
                        </m:rad>
                      </m:den>
                    </m:f>
                    <m:r>
                      <a:rPr lang="en-US" altLang="zh-CN" b="1" i="1" smtClean="0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/>
                      </a:rPr>
                      <m:t>𝟒</m:t>
                    </m:r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/>
                      </a:rPr>
                      <m:t>.</m:t>
                    </m:r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/>
                      </a:rPr>
                      <m:t>𝟖𝟕</m:t>
                    </m:r>
                  </m:oMath>
                </a14:m>
                <a:endParaRPr lang="en-US" altLang="zh-CN" kern="0" dirty="0" smtClean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zh-CN" altLang="en-US" kern="0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拒绝域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solidFill>
                          <a:srgbClr val="000000"/>
                        </a:solidFill>
                        <a:latin typeface="Cambria Math"/>
                      </a:rPr>
                      <m:t>𝑾</m:t>
                    </m:r>
                    <m:r>
                      <a:rPr lang="en-US" altLang="zh-CN" b="1" i="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altLang="zh-CN" i="1" dirty="0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b="1" i="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altLang="zh-CN" b="1" i="1" dirty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∞,−</m:t>
                        </m:r>
                        <m:sSub>
                          <m:sSubPr>
                            <m:ctrlPr>
                              <a:rPr lang="en-US" altLang="zh-CN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altLang="zh-CN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𝒕</m:t>
                            </m:r>
                          </m:e>
                          <m:sub>
                            <m:f>
                              <m:fPr>
                                <m:type m:val="skw"/>
                                <m:ctrlPr>
                                  <a:rPr lang="en-US" altLang="zh-CN" i="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altLang="en-US" b="1" i="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𝜶</m:t>
                                </m:r>
                              </m:num>
                              <m:den>
                                <m:r>
                                  <a:rPr lang="en-US" altLang="zh-CN" b="1" i="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𝟐</m:t>
                                </m:r>
                              </m:den>
                            </m:f>
                          </m:sub>
                        </m:sSub>
                        <m:d>
                          <m:dPr>
                            <m:ctrlPr>
                              <a:rPr lang="en-US" altLang="zh-CN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altLang="zh-CN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𝒏</m:t>
                            </m:r>
                            <m:r>
                              <a:rPr lang="en-US" altLang="zh-CN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−</m:t>
                            </m:r>
                            <m:r>
                              <a:rPr lang="en-US" altLang="zh-CN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𝟏</m:t>
                            </m:r>
                          </m:e>
                        </m:d>
                      </m:e>
                    </m:d>
                    <m:r>
                      <a:rPr lang="en-US" altLang="zh-CN" b="1" i="1" dirty="0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∪</m:t>
                    </m:r>
                    <m:d>
                      <m:dPr>
                        <m:ctrlPr>
                          <a:rPr lang="en-US" altLang="zh-CN" i="1" dirty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altLang="zh-CN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𝒕</m:t>
                            </m:r>
                          </m:e>
                          <m:sub>
                            <m:f>
                              <m:fPr>
                                <m:type m:val="skw"/>
                                <m:ctrlPr>
                                  <a:rPr lang="en-US" altLang="zh-CN" i="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altLang="en-US" b="1" i="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𝜶</m:t>
                                </m:r>
                              </m:num>
                              <m:den>
                                <m:r>
                                  <a:rPr lang="en-US" altLang="zh-CN" b="1" i="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𝟐</m:t>
                                </m:r>
                              </m:den>
                            </m:f>
                          </m:sub>
                        </m:sSub>
                        <m:d>
                          <m:dPr>
                            <m:ctrlPr>
                              <a:rPr lang="en-US" altLang="zh-CN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altLang="zh-CN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𝒏</m:t>
                            </m:r>
                            <m:r>
                              <a:rPr lang="en-US" altLang="zh-CN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−</m:t>
                            </m:r>
                            <m:r>
                              <a:rPr lang="en-US" altLang="zh-CN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𝟏</m:t>
                            </m:r>
                          </m:e>
                        </m:d>
                        <m:r>
                          <a:rPr lang="en-US" altLang="zh-CN" b="1" i="1" dirty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,+∞</m:t>
                        </m:r>
                      </m:e>
                    </m:d>
                    <m:r>
                      <a:rPr lang="en-US" altLang="zh-CN" b="1" dirty="0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.</m:t>
                    </m:r>
                  </m:oMath>
                </a14:m>
                <a:endParaRPr lang="en-US" altLang="zh-CN" dirty="0">
                  <a:solidFill>
                    <a:srgbClr val="000000"/>
                  </a:solidFill>
                  <a:latin typeface="Cambria Math"/>
                  <a:ea typeface="Cambria Math"/>
                </a:endParaRPr>
              </a:p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dirty="0" smtClean="0">
                    <a:solidFill>
                      <a:srgbClr val="000000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altLang="zh-CN" i="1" dirty="0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b="1" i="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altLang="zh-CN" b="1" i="1" dirty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∞,−</m:t>
                        </m:r>
                        <m:r>
                          <a:rPr lang="en-US" altLang="zh-CN" b="1" i="1" dirty="0" smtClean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𝟐</m:t>
                        </m:r>
                        <m:r>
                          <a:rPr lang="en-US" altLang="zh-CN" b="1" i="1" dirty="0" smtClean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.</m:t>
                        </m:r>
                        <m:r>
                          <a:rPr lang="en-US" altLang="zh-CN" b="1" i="1" dirty="0" smtClean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𝟕𝟕𝟔</m:t>
                        </m:r>
                      </m:e>
                    </m:d>
                    <m:r>
                      <a:rPr lang="en-US" altLang="zh-CN" b="1" i="1" dirty="0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∪</m:t>
                    </m:r>
                    <m:d>
                      <m:dPr>
                        <m:ctrlPr>
                          <a:rPr lang="en-US" altLang="zh-CN" i="1" dirty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b="1" i="1" dirty="0" smtClean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𝟐</m:t>
                        </m:r>
                        <m:r>
                          <a:rPr lang="en-US" altLang="zh-CN" b="1" i="1" dirty="0" smtClean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.</m:t>
                        </m:r>
                        <m:r>
                          <a:rPr lang="en-US" altLang="zh-CN" b="1" i="1" dirty="0" smtClean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𝟕𝟕𝟔</m:t>
                        </m:r>
                        <m:r>
                          <a:rPr lang="en-US" altLang="zh-CN" b="1" i="1" dirty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,+∞</m:t>
                        </m:r>
                      </m:e>
                    </m:d>
                  </m:oMath>
                </a14:m>
                <a:endParaRPr lang="en-US" altLang="zh-CN" kern="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eaLnBrk="1" hangingPunct="1">
                  <a:buFontTx/>
                  <a:buNone/>
                </a:pPr>
                <a:r>
                  <a:rPr lang="zh-CN" altLang="en-US" b="0" kern="0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/>
                </a:r>
                <a:r>
                  <a:rPr lang="en-US" altLang="zh-CN" b="0" kern="0" dirty="0" smtClean="0"/>
                  <a:t/>
                </a:r>
                <a:endParaRPr lang="zh-CN" altLang="en-US" b="0" kern="0" dirty="0" smtClean="0"/>
              </a:p>
            </p:txBody>
          </p:sp>
        </mc:Choice>
        <mc:Fallback>
          <p:sp>
            <p:nvSpPr>
              <p:cNvPr id="4" name="Rectangl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1688" y="2708920"/>
                <a:ext cx="7993509" cy="3384376"/>
              </a:xfrm>
              <a:prstGeom prst="rect">
                <a:avLst/>
              </a:prstGeom>
              <a:blipFill rotWithShape="1">
                <a:blip r:embed="rId3"/>
                <a:stretch>
                  <a:fillRect l="-1602" t="-1799" b="-7554"/>
                </a:stretch>
              </a:blipFill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395536" y="332656"/>
            <a:ext cx="8137525" cy="1872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 sz="2800" dirty="0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1839200214"/>
              </p:ext>
            </p:extLst>
          </p:nvPr>
        </p:nvGraphicFramePr>
        <p:xfrm>
          <a:off x="1531869" y="1316780"/>
          <a:ext cx="1260475" cy="439738"/>
        </p:xfrm>
        <a:graphic>
          <a:graphicData uri="http://schemas.openxmlformats.org/presentationml/2006/ole">
            <p:oleObj spid="_x0000_s8234" name="Equation" r:id="rId3" imgW="571320" imgH="203040" progId="Equation.DSMT4">
              <p:embed/>
            </p:oleObj>
          </a:graphicData>
        </a:graphic>
      </p:graphicFrame>
      <mc:AlternateContent xmlns:mc="http://schemas.openxmlformats.org/markup-compatibility/2006">
        <mc:Choice xmlns=""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611560" y="1961545"/>
                <a:ext cx="7824618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B6FD"/>
                  </a:buClr>
                  <a:buSzPct val="100000"/>
                </a:pPr>
                <a:r>
                  <a:rPr lang="zh-CN" altLang="en-US" sz="2800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拒绝     </a:t>
                </a:r>
                <a:r>
                  <a:rPr lang="zh-CN" altLang="en-US" sz="2800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，即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在显著性水平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73E87"/>
                        </a:solidFill>
                        <a:latin typeface="Cambria Math"/>
                      </a:rPr>
                      <m:t>𝛼</m:t>
                    </m:r>
                    <m:r>
                      <a:rPr lang="en-US" altLang="zh-CN" sz="2800" i="1">
                        <a:solidFill>
                          <a:srgbClr val="073E87"/>
                        </a:solidFill>
                        <a:latin typeface="Cambria Math"/>
                      </a:rPr>
                      <m:t>=0.05 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下认为</a:t>
                </a:r>
                <a:r>
                  <a:rPr lang="zh-CN" altLang="en-US" sz="2800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螺杆直径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不是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21cm.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/>
                </a:r>
                <a:endParaRPr lang="zh-CN" altLang="en-US" sz="2800" dirty="0">
                  <a:solidFill>
                    <a:srgbClr val="073E87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1961545"/>
                <a:ext cx="7824618" cy="1323439"/>
              </a:xfrm>
              <a:prstGeom prst="rect">
                <a:avLst/>
              </a:prstGeom>
              <a:blipFill rotWithShape="1">
                <a:blip r:embed="rId4"/>
                <a:stretch>
                  <a:fillRect l="-1558" r="-234" b="-119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148878"/>
            <a:ext cx="720080" cy="440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="" xmlns:a14="http://schemas.microsoft.com/office/drawing/2010/main" Requires="a14">
          <p:sp>
            <p:nvSpPr>
              <p:cNvPr id="8" name="Rectangle 2"/>
              <p:cNvSpPr txBox="1">
                <a:spLocks noChangeArrowheads="1"/>
              </p:cNvSpPr>
              <p:nvPr/>
            </p:nvSpPr>
            <p:spPr bwMode="auto">
              <a:xfrm>
                <a:off x="539552" y="44624"/>
                <a:ext cx="7993509" cy="828092"/>
              </a:xfrm>
              <a:prstGeom prst="rect">
                <a:avLst/>
              </a:prstGeom>
              <a:noFill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en-US" altLang="zh-CN" b="0" dirty="0">
                  <a:solidFill>
                    <a:srgbClr val="000000"/>
                  </a:solidFill>
                  <a:latin typeface="Cambria Math"/>
                  <a:ea typeface="Cambria Math"/>
                </a:endParaRPr>
              </a:p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b="0" dirty="0" smtClean="0">
                    <a:solidFill>
                      <a:srgbClr val="000000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en-US" altLang="zh-CN" b="0" i="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altLang="zh-CN" b="0" i="1" dirty="0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b="0" i="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altLang="zh-CN" b="0" i="1" dirty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∞,−</m:t>
                        </m:r>
                        <m:r>
                          <a:rPr lang="en-US" altLang="zh-CN" b="0" i="1" dirty="0" smtClean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2.776</m:t>
                        </m:r>
                      </m:e>
                    </m:d>
                    <m:r>
                      <a:rPr lang="en-US" altLang="zh-CN" b="0" i="1" dirty="0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∪</m:t>
                    </m:r>
                    <m:d>
                      <m:dPr>
                        <m:ctrlPr>
                          <a:rPr lang="en-US" altLang="zh-CN" b="0" i="1" dirty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2.776</m:t>
                        </m:r>
                        <m:r>
                          <a:rPr lang="en-US" altLang="zh-CN" b="0" i="1" dirty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,+∞</m:t>
                        </m:r>
                      </m:e>
                    </m:d>
                  </m:oMath>
                </a14:m>
                <a:endParaRPr lang="en-US" altLang="zh-CN" b="0" kern="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eaLnBrk="1" hangingPunct="1">
                  <a:buFontTx/>
                  <a:buNone/>
                </a:pPr>
                <a:r>
                  <a:rPr lang="zh-CN" altLang="en-US" b="0" kern="0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/>
                </a:r>
                <a:r>
                  <a:rPr lang="en-US" altLang="zh-CN" b="0" kern="0" dirty="0" smtClean="0"/>
                  <a:t/>
                </a:r>
              </a:p>
              <a:p>
                <a:pPr eaLnBrk="1" hangingPunct="1">
                  <a:buFontTx/>
                  <a:buNone/>
                </a:pPr>
                <a:endParaRPr lang="en-US" altLang="zh-CN" b="0" kern="0" dirty="0" smtClean="0"/>
              </a:p>
              <a:p>
                <a:pPr eaLnBrk="1" hangingPunct="1">
                  <a:buFontTx/>
                  <a:buNone/>
                </a:pPr>
                <a:r>
                  <a:rPr lang="zh-CN" altLang="en-US" sz="1800" b="0" kern="0" dirty="0">
                    <a:solidFill>
                      <a:prstClr val="black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/>
                </a:r>
                <a:endParaRPr lang="en-US" altLang="zh-CN" b="0" kern="0" dirty="0" smtClean="0"/>
              </a:p>
              <a:p>
                <a:pPr eaLnBrk="1" hangingPunct="1">
                  <a:buFontTx/>
                  <a:buNone/>
                </a:pPr>
                <a:r>
                  <a:rPr lang="zh-CN" altLang="en-US" sz="1800" b="0" kern="0" dirty="0">
                    <a:solidFill>
                      <a:prstClr val="black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/>
                </a:r>
                <a:endParaRPr lang="en-US" altLang="zh-CN" b="0" kern="0" dirty="0"/>
              </a:p>
              <a:p>
                <a:pPr eaLnBrk="1" hangingPunct="1">
                  <a:buFontTx/>
                  <a:buNone/>
                </a:pPr>
                <a:endParaRPr lang="en-US" altLang="zh-CN" b="0" kern="0" dirty="0" smtClean="0"/>
              </a:p>
              <a:p>
                <a:pPr eaLnBrk="1" hangingPunct="1">
                  <a:buFontTx/>
                  <a:buNone/>
                </a:pPr>
                <a:endParaRPr lang="en-US" altLang="zh-CN" b="0" kern="0" dirty="0" smtClean="0"/>
              </a:p>
              <a:p>
                <a:pPr eaLnBrk="1" hangingPunct="1">
                  <a:buFontTx/>
                  <a:buNone/>
                </a:pPr>
                <a:r>
                  <a:rPr lang="en-US" altLang="zh-CN" b="0" kern="0" dirty="0" smtClean="0"/>
                  <a:t/>
                </a:r>
                <a:endParaRPr lang="zh-CN" altLang="en-US" b="0" kern="0" dirty="0" smtClean="0"/>
              </a:p>
            </p:txBody>
          </p:sp>
        </mc:Choice>
        <mc:Fallback>
          <p:sp>
            <p:nvSpPr>
              <p:cNvPr id="8" name="Rectangl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9552" y="44624"/>
                <a:ext cx="7993509" cy="828092"/>
              </a:xfrm>
              <a:prstGeom prst="rect">
                <a:avLst/>
              </a:prstGeom>
              <a:blipFill rotWithShape="1">
                <a:blip r:embed="rId6"/>
                <a:stretch>
                  <a:fillRect b="-4412"/>
                </a:stretch>
              </a:blipFill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=""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67544" y="3140968"/>
                <a:ext cx="7824618" cy="38381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B6FD"/>
                  </a:buClr>
                  <a:buSzPct val="100000"/>
                </a:pPr>
                <a:r>
                  <a:rPr lang="zh-CN" altLang="en-US" sz="2800" b="1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练习</a:t>
                </a:r>
                <a:r>
                  <a:rPr lang="en-US" altLang="zh-CN" sz="2800" b="1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/>
                </a:r>
                <a:r>
                  <a:rPr lang="en-US" altLang="zh-CN" sz="2800" b="1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/>
                </a:r>
                <a:r>
                  <a:rPr lang="zh-CN" altLang="en-US" sz="2800" b="1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某厂宣称已采取大力措施治理废水污染，废水中所含某种</a:t>
                </a:r>
                <a:r>
                  <a:rPr lang="zh-CN" altLang="en-US" sz="2800" b="1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物质</a:t>
                </a:r>
                <a:r>
                  <a:rPr lang="zh-CN" altLang="en-US" sz="2800" b="1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的浓度服从正态分布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prstClr val="black"/>
                        </a:solidFill>
                        <a:latin typeface="Cambria Math"/>
                        <a:ea typeface="+mn-ea"/>
                      </a:rPr>
                      <m:t>𝑵</m:t>
                    </m:r>
                    <m:d>
                      <m:dPr>
                        <m:ctrlPr>
                          <a:rPr lang="en-US" altLang="zh-CN" sz="2800" b="1" i="1">
                            <a:solidFill>
                              <a:prstClr val="black"/>
                            </a:solidFill>
                            <a:latin typeface="Cambria Math"/>
                            <a:ea typeface="+mn-ea"/>
                          </a:rPr>
                        </m:ctrlPr>
                      </m:dPr>
                      <m:e>
                        <m:r>
                          <a:rPr lang="zh-CN" altLang="en-US" sz="2800" b="1" i="1">
                            <a:solidFill>
                              <a:prstClr val="black"/>
                            </a:solidFill>
                            <a:latin typeface="Cambria Math"/>
                            <a:ea typeface="+mn-ea"/>
                          </a:rPr>
                          <m:t>𝝁</m:t>
                        </m:r>
                        <m:r>
                          <a:rPr lang="en-US" altLang="zh-CN" sz="2800" b="1" i="1">
                            <a:solidFill>
                              <a:prstClr val="black"/>
                            </a:solidFill>
                            <a:latin typeface="Cambria Math"/>
                            <a:ea typeface="+mn-ea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2800" b="1" i="1">
                                <a:solidFill>
                                  <a:prstClr val="black"/>
                                </a:solidFill>
                                <a:latin typeface="Cambria Math"/>
                                <a:ea typeface="+mn-ea"/>
                              </a:rPr>
                            </m:ctrlPr>
                          </m:sSupPr>
                          <m:e>
                            <m:r>
                              <a:rPr lang="zh-CN" altLang="en-US" sz="2800" b="1" i="1">
                                <a:solidFill>
                                  <a:prstClr val="black"/>
                                </a:solidFill>
                                <a:latin typeface="Cambria Math"/>
                                <a:ea typeface="+mn-ea"/>
                              </a:rPr>
                              <m:t>𝝈</m:t>
                            </m:r>
                          </m:e>
                          <m:sup>
                            <m:r>
                              <a:rPr lang="en-US" altLang="zh-CN" sz="2800" b="1" i="1">
                                <a:solidFill>
                                  <a:prstClr val="black"/>
                                </a:solidFill>
                                <a:latin typeface="Cambria Math"/>
                                <a:ea typeface="+mn-ea"/>
                              </a:rPr>
                              <m:t>𝟐</m:t>
                            </m:r>
                          </m:sup>
                        </m:sSup>
                      </m:e>
                    </m:d>
                    <m:r>
                      <a:rPr lang="en-US" altLang="zh-CN" sz="2800" b="1" i="1" smtClean="0">
                        <a:solidFill>
                          <a:prstClr val="black"/>
                        </a:solidFill>
                        <a:latin typeface="Cambria Math"/>
                        <a:ea typeface="+mn-ea"/>
                      </a:rPr>
                      <m:t>.</m:t>
                    </m:r>
                  </m:oMath>
                </a14:m>
                <a:r>
                  <a:rPr lang="zh-CN" altLang="en-US" sz="2800" b="1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现抽取</a:t>
                </a:r>
                <a:r>
                  <a:rPr lang="en-US" altLang="zh-CN" sz="2800" b="1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9</a:t>
                </a:r>
                <a:r>
                  <a:rPr lang="zh-CN" altLang="en-US" sz="2800" b="1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个水样测得样本均值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US" altLang="zh-CN" sz="2800" b="1" dirty="0" smtClean="0">
                    <a:solidFill>
                      <a:srgbClr val="073E87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=17.4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，样本标准差</a:t>
                </a:r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s=2.4,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问在显著性水平</a:t>
                </a:r>
                <a14:m>
                  <m:oMath xmlns:m="http://schemas.openxmlformats.org/officeDocument/2006/math">
                    <m:r>
                      <a:rPr lang="zh-CN" altLang="en-US" sz="2800" b="1" i="1">
                        <a:solidFill>
                          <a:srgbClr val="073E87"/>
                        </a:solidFill>
                        <a:latin typeface="Cambria Math"/>
                      </a:rPr>
                      <m:t>𝜶</m:t>
                    </m:r>
                    <m:r>
                      <a:rPr lang="en-US" altLang="zh-CN" sz="2800" b="1" i="1">
                        <a:solidFill>
                          <a:srgbClr val="073E87"/>
                        </a:solidFill>
                        <a:latin typeface="Cambria Math"/>
                      </a:rPr>
                      <m:t>=</m:t>
                    </m:r>
                    <m:r>
                      <a:rPr lang="en-US" altLang="zh-CN" sz="2800" b="1" i="1">
                        <a:solidFill>
                          <a:srgbClr val="073E87"/>
                        </a:solidFill>
                        <a:latin typeface="Cambria Math"/>
                      </a:rPr>
                      <m:t>𝟎</m:t>
                    </m:r>
                    <m:r>
                      <a:rPr lang="en-US" altLang="zh-CN" sz="2800" b="1" i="1">
                        <a:solidFill>
                          <a:srgbClr val="073E87"/>
                        </a:solidFill>
                        <a:latin typeface="Cambria Math"/>
                      </a:rPr>
                      <m:t>.</m:t>
                    </m:r>
                    <m:r>
                      <a:rPr lang="en-US" altLang="zh-CN" sz="2800" b="1" i="1">
                        <a:solidFill>
                          <a:srgbClr val="073E87"/>
                        </a:solidFill>
                        <a:latin typeface="Cambria Math"/>
                      </a:rPr>
                      <m:t>𝟎𝟓</m:t>
                    </m:r>
                    <m:r>
                      <a:rPr lang="en-US" altLang="zh-CN" sz="2800" b="1" i="1">
                        <a:solidFill>
                          <a:srgbClr val="073E87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下，是否可以认为</a:t>
                </a:r>
                <a:r>
                  <a:rPr lang="zh-CN" altLang="en-US" sz="28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有毒物质的平均浓度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为</a:t>
                </a:r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18.2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？</a:t>
                </a:r>
                <a:endParaRPr lang="en-US" altLang="zh-CN" sz="2800" b="1" dirty="0" smtClean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buClr>
                    <a:srgbClr val="31B6FD"/>
                  </a:buClr>
                  <a:buSzPct val="100000"/>
                </a:pPr>
                <a:endParaRPr lang="zh-CN" altLang="en-US" sz="28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3140968"/>
                <a:ext cx="7824618" cy="3838102"/>
              </a:xfrm>
              <a:prstGeom prst="rect">
                <a:avLst/>
              </a:prstGeom>
              <a:blipFill rotWithShape="1">
                <a:blip r:embed="rId7"/>
                <a:stretch>
                  <a:fillRect l="-1637" r="-1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="" xmlns:p14="http://schemas.microsoft.com/office/powerpoint/2010/main" val="398959988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39552" y="476672"/>
            <a:ext cx="24302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解  </a:t>
            </a:r>
            <a:r>
              <a:rPr lang="zh-CN" altLang="en-US" sz="2800" b="1" dirty="0" smtClean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检验假设</a:t>
            </a:r>
            <a:endParaRPr lang="zh-CN" altLang="en-US" sz="2800" b="1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3937642050"/>
              </p:ext>
            </p:extLst>
          </p:nvPr>
        </p:nvGraphicFramePr>
        <p:xfrm>
          <a:off x="2360613" y="1209675"/>
          <a:ext cx="3414712" cy="461963"/>
        </p:xfrm>
        <a:graphic>
          <a:graphicData uri="http://schemas.openxmlformats.org/presentationml/2006/ole">
            <p:oleObj spid="_x0000_s12305" name="Equation" r:id="rId3" imgW="1688760" imgH="228600" progId="Equation.DSMT4">
              <p:embed/>
            </p:oleObj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30" y="2060848"/>
            <a:ext cx="2055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检验统计量</a:t>
            </a:r>
            <a:endParaRPr lang="zh-CN" altLang="en-US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43608" y="3356992"/>
            <a:ext cx="13681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拒绝域</a:t>
            </a:r>
            <a:endParaRPr lang="zh-CN" altLang="en-US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84822" y="4849996"/>
            <a:ext cx="9948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计算</a:t>
            </a:r>
            <a:endParaRPr lang="zh-CN" altLang="en-US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244307386"/>
              </p:ext>
            </p:extLst>
          </p:nvPr>
        </p:nvGraphicFramePr>
        <p:xfrm>
          <a:off x="1811338" y="4833938"/>
          <a:ext cx="6034087" cy="593725"/>
        </p:xfrm>
        <a:graphic>
          <a:graphicData uri="http://schemas.openxmlformats.org/presentationml/2006/ole">
            <p:oleObj spid="_x0000_s12306" name="Equation" r:id="rId4" imgW="2577960" imgH="253800" progId="Equation.DSMT4">
              <p:embed/>
            </p:oleObj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2029093005"/>
              </p:ext>
            </p:extLst>
          </p:nvPr>
        </p:nvGraphicFramePr>
        <p:xfrm>
          <a:off x="1331640" y="5661248"/>
          <a:ext cx="1989137" cy="415925"/>
        </p:xfrm>
        <a:graphic>
          <a:graphicData uri="http://schemas.openxmlformats.org/presentationml/2006/ole">
            <p:oleObj spid="_x0000_s12307" name="Equation" r:id="rId5" imgW="1091880" imgH="228600" progId="Equation.DSMT4">
              <p:embed/>
            </p:oleObj>
          </a:graphicData>
        </a:graphic>
      </p:graphicFrame>
      <mc:AlternateContent xmlns:mc="http://schemas.openxmlformats.org/markup-compatibility/2006">
        <mc:Choice xmlns="" xmlns:a14="http://schemas.microsoft.com/office/drawing/2010/main" Requires="a14">
          <p:sp>
            <p:nvSpPr>
              <p:cNvPr id="6" name="矩形 5"/>
              <p:cNvSpPr/>
              <p:nvPr/>
            </p:nvSpPr>
            <p:spPr>
              <a:xfrm>
                <a:off x="2483768" y="2636912"/>
                <a:ext cx="2441759" cy="8413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>
                          <a:solidFill>
                            <a:prstClr val="black"/>
                          </a:solidFill>
                          <a:latin typeface="Cambria Math"/>
                        </a:rPr>
                        <m:t>𝑻</m:t>
                      </m:r>
                      <m:r>
                        <a:rPr lang="en-US" altLang="zh-CN" sz="2400" b="1" i="1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2400" b="1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(</m:t>
                          </m:r>
                          <m:acc>
                            <m:accPr>
                              <m:chr m:val="̅"/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CN" sz="2400" b="1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𝑿</m:t>
                              </m:r>
                            </m:e>
                          </m:acc>
                          <m:r>
                            <a:rPr lang="en-US" altLang="zh-CN" sz="2400" b="1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 dirty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400" b="1" i="1" dirty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altLang="zh-CN" sz="2400" b="1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)</m:t>
                          </m:r>
                          <m:rad>
                            <m:radPr>
                              <m:degHide m:val="on"/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400" b="1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𝒏</m:t>
                              </m:r>
                            </m:e>
                          </m:rad>
                        </m:num>
                        <m:den>
                          <m:r>
                            <m:rPr>
                              <m:nor/>
                            </m:rPr>
                            <a:rPr lang="en-US" altLang="zh-CN" sz="2400" kern="0" dirty="0">
                              <a:solidFill>
                                <a:prstClr val="black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m:t> </m:t>
                          </m:r>
                          <m:r>
                            <a:rPr lang="en-US" altLang="zh-CN" sz="2400" b="1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𝑺</m:t>
                          </m:r>
                        </m:den>
                      </m:f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3768" y="2636912"/>
                <a:ext cx="2441759" cy="841321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="" xmlns:a14="http://schemas.microsoft.com/office/drawing/2010/main" Requires="a14">
          <p:sp>
            <p:nvSpPr>
              <p:cNvPr id="12" name="矩形 11"/>
              <p:cNvSpPr/>
              <p:nvPr/>
            </p:nvSpPr>
            <p:spPr>
              <a:xfrm>
                <a:off x="1043608" y="3926973"/>
                <a:ext cx="7128792" cy="7454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dirty="0">
                          <a:solidFill>
                            <a:srgbClr val="000000"/>
                          </a:solidFill>
                          <a:latin typeface="Cambria Math"/>
                        </a:rPr>
                        <m:t>𝑾</m:t>
                      </m:r>
                      <m:r>
                        <a:rPr lang="en-US" altLang="zh-CN" sz="2400" b="1" i="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altLang="zh-CN" sz="2400" i="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400" b="1" i="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altLang="zh-CN" sz="2400" b="1" i="1" dirty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∞,−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dirty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</a:rPr>
                                <m:t>𝒕</m:t>
                              </m:r>
                            </m:e>
                            <m:sub>
                              <m:f>
                                <m:fPr>
                                  <m:type m:val="skw"/>
                                  <m:ctrlPr>
                                    <a:rPr lang="en-US" altLang="zh-CN" sz="2400" i="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400" b="1" i="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𝜶</m:t>
                                  </m:r>
                                </m:num>
                                <m:den>
                                  <m:r>
                                    <a:rPr lang="en-US" altLang="zh-CN" sz="2400" b="1" i="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𝟐</m:t>
                                  </m:r>
                                </m:den>
                              </m:f>
                            </m:sub>
                          </m:sSub>
                          <m:d>
                            <m:dPr>
                              <m:ctrlPr>
                                <a:rPr lang="en-US" altLang="zh-CN" sz="2400" i="1" dirty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dirty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</a:rPr>
                                <m:t>𝒏</m:t>
                              </m:r>
                              <m:r>
                                <a:rPr lang="en-US" altLang="zh-CN" sz="2400" b="1" i="1" dirty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</a:rPr>
                                <m:t>−</m:t>
                              </m:r>
                              <m:r>
                                <a:rPr lang="en-US" altLang="zh-CN" sz="2400" b="1" i="1" dirty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</a:rPr>
                                <m:t>𝟏</m:t>
                              </m:r>
                            </m:e>
                          </m:d>
                        </m:e>
                      </m:d>
                      <m:r>
                        <a:rPr lang="en-US" altLang="zh-CN" sz="2400" b="1" i="1" dirty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</a:rPr>
                        <m:t>∪</m:t>
                      </m:r>
                      <m:d>
                        <m:dPr>
                          <m:ctrlPr>
                            <a:rPr lang="en-US" altLang="zh-CN" sz="2400" i="1" dirty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 dirty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dirty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</a:rPr>
                                <m:t>𝒕</m:t>
                              </m:r>
                            </m:e>
                            <m:sub>
                              <m:f>
                                <m:fPr>
                                  <m:type m:val="skw"/>
                                  <m:ctrlPr>
                                    <a:rPr lang="en-US" altLang="zh-CN" sz="2400" i="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400" b="1" i="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𝜶</m:t>
                                  </m:r>
                                </m:num>
                                <m:den>
                                  <m:r>
                                    <a:rPr lang="en-US" altLang="zh-CN" sz="2400" b="1" i="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𝟐</m:t>
                                  </m:r>
                                </m:den>
                              </m:f>
                            </m:sub>
                          </m:sSub>
                          <m:d>
                            <m:dPr>
                              <m:ctrlPr>
                                <a:rPr lang="en-US" altLang="zh-CN" sz="2400" i="1" dirty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dirty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</a:rPr>
                                <m:t>𝒏</m:t>
                              </m:r>
                              <m:r>
                                <a:rPr lang="en-US" altLang="zh-CN" sz="2400" b="1" i="1" dirty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</a:rPr>
                                <m:t>−</m:t>
                              </m:r>
                              <m:r>
                                <a:rPr lang="en-US" altLang="zh-CN" sz="2400" b="1" i="1" dirty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</a:rPr>
                                <m:t>𝟏</m:t>
                              </m:r>
                            </m:e>
                          </m:d>
                          <m:r>
                            <a:rPr lang="en-US" altLang="zh-CN" sz="2400" b="1" i="1" dirty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,+∞</m:t>
                          </m:r>
                        </m:e>
                      </m:d>
                      <m:r>
                        <a:rPr lang="en-US" altLang="zh-CN" sz="2400" b="1" dirty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</a:rPr>
                        <m:t>.</m:t>
                      </m:r>
                    </m:oMath>
                  </m:oMathPara>
                </a14:m>
                <a:endParaRPr lang="en-US" altLang="zh-CN" sz="2400" dirty="0">
                  <a:solidFill>
                    <a:srgbClr val="000000"/>
                  </a:solidFill>
                  <a:latin typeface="Cambria Math"/>
                  <a:ea typeface="Cambria Math"/>
                </a:endParaRPr>
              </a:p>
            </p:txBody>
          </p:sp>
        </mc:Choice>
        <mc:Fallback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3926973"/>
                <a:ext cx="7128792" cy="74546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="" xmlns:p14="http://schemas.microsoft.com/office/powerpoint/2010/main" val="1736996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1" grpId="0"/>
      <p:bldP spid="6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07704" y="188640"/>
            <a:ext cx="58326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3200" b="1" dirty="0" smtClean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</a:rPr>
              <a:t>两个</a:t>
            </a:r>
            <a:r>
              <a:rPr lang="zh-CN" altLang="en-US" sz="3200" b="1" dirty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</a:rPr>
              <a:t>正态</a:t>
            </a:r>
            <a:r>
              <a:rPr lang="zh-CN" altLang="en-US" sz="3200" b="1" dirty="0" smtClean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</a:rPr>
              <a:t>总体均值差的</a:t>
            </a:r>
            <a:r>
              <a:rPr lang="zh-CN" altLang="en-US" sz="3200" b="1" dirty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</a:rPr>
              <a:t>检验</a:t>
            </a:r>
          </a:p>
        </p:txBody>
      </p: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395536" y="2420888"/>
                <a:ext cx="7632848" cy="19673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800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1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.</m:t>
                    </m:r>
                    <m:sSup>
                      <m:sSupPr>
                        <m:ctrlPr>
                          <a:rPr lang="en-US" altLang="zh-CN" sz="280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800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800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已知</a:t>
                </a:r>
                <a:endParaRPr lang="en-US" altLang="zh-CN" sz="2800" dirty="0" smtClean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/>
                </a:r>
                <a:r>
                  <a:rPr lang="en-US" altLang="zh-CN" sz="2800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/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由于</a:t>
                </a:r>
                <a:r>
                  <a:rPr lang="zh-CN" altLang="en-US" sz="2800" b="1" dirty="0" smtClean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统计量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8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𝑿</m:t>
                        </m:r>
                      </m:e>
                    </m:acc>
                  </m:oMath>
                </a14:m>
                <a:r>
                  <a:rPr lang="en-US" altLang="zh-CN" sz="28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/>
                </a:r>
                <a14:m>
                  <m:oMath xmlns:m="http://schemas.openxmlformats.org/officeDocument/2006/math">
                    <m:r>
                      <a:rPr lang="en-US" altLang="zh-CN" sz="2800" b="1" i="1" dirty="0">
                        <a:solidFill>
                          <a:schemeClr val="tx1"/>
                        </a:solidFill>
                        <a:latin typeface="Cambria Math"/>
                        <a:ea typeface="+mn-ea"/>
                      </a:rPr>
                      <m:t>−</m:t>
                    </m:r>
                  </m:oMath>
                </a14:m>
                <a:r>
                  <a:rPr lang="zh-CN" altLang="en-US" sz="28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/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800" b="1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𝒀</m:t>
                        </m:r>
                      </m:e>
                    </m:acc>
                    <m:r>
                      <a:rPr lang="zh-CN" altLang="en-US" sz="2800" b="1" i="1" smtClean="0">
                        <a:solidFill>
                          <a:schemeClr val="tx1"/>
                        </a:solidFill>
                        <a:latin typeface="Cambria Math"/>
                      </a:rPr>
                      <m:t>是</m:t>
                    </m:r>
                    <m:sSub>
                      <m:sSubPr>
                        <m:ctrlPr>
                          <a:rPr lang="en-US" altLang="zh-CN" sz="2800" b="1" i="1" dirty="0">
                            <a:solidFill>
                              <a:schemeClr val="tx1"/>
                            </a:solidFill>
                            <a:latin typeface="Cambria Math"/>
                            <a:ea typeface="+mn-ea"/>
                          </a:rPr>
                        </m:ctrlPr>
                      </m:sSubPr>
                      <m:e>
                        <m:r>
                          <a:rPr lang="zh-CN" altLang="en-US" sz="2800" b="1" i="1" dirty="0">
                            <a:solidFill>
                              <a:schemeClr val="tx1"/>
                            </a:solidFill>
                            <a:latin typeface="Cambria Math"/>
                            <a:ea typeface="+mn-ea"/>
                          </a:rPr>
                          <m:t>𝝁</m:t>
                        </m:r>
                      </m:e>
                      <m:sub>
                        <m:r>
                          <a:rPr lang="en-US" altLang="zh-CN" sz="2800" b="1" i="1" dirty="0">
                            <a:solidFill>
                              <a:schemeClr val="tx1"/>
                            </a:solidFill>
                            <a:latin typeface="Cambria Math"/>
                            <a:ea typeface="+mn-ea"/>
                          </a:rPr>
                          <m:t>𝟏</m:t>
                        </m:r>
                      </m:sub>
                    </m:sSub>
                    <m:r>
                      <a:rPr lang="en-US" altLang="zh-CN" sz="2800" b="1" i="1" dirty="0">
                        <a:solidFill>
                          <a:schemeClr val="tx1"/>
                        </a:solidFill>
                        <a:latin typeface="Cambria Math"/>
                        <a:ea typeface="+mn-ea"/>
                      </a:rPr>
                      <m:t>−</m:t>
                    </m:r>
                    <m:sSub>
                      <m:sSubPr>
                        <m:ctrlPr>
                          <a:rPr lang="en-US" altLang="zh-CN" sz="2800" b="1" i="1" dirty="0">
                            <a:solidFill>
                              <a:schemeClr val="tx1"/>
                            </a:solidFill>
                            <a:latin typeface="Cambria Math"/>
                            <a:ea typeface="+mn-ea"/>
                          </a:rPr>
                        </m:ctrlPr>
                      </m:sSubPr>
                      <m:e>
                        <m:r>
                          <a:rPr lang="zh-CN" altLang="en-US" sz="2800" b="1" i="1" dirty="0">
                            <a:solidFill>
                              <a:schemeClr val="tx1"/>
                            </a:solidFill>
                            <a:latin typeface="Cambria Math"/>
                            <a:ea typeface="+mn-ea"/>
                          </a:rPr>
                          <m:t>𝝁</m:t>
                        </m:r>
                      </m:e>
                      <m:sub>
                        <m:r>
                          <a:rPr lang="en-US" altLang="zh-CN" sz="2800" b="1" i="1" dirty="0">
                            <a:solidFill>
                              <a:schemeClr val="tx1"/>
                            </a:solidFill>
                            <a:latin typeface="Cambria Math"/>
                            <a:ea typeface="+mn-ea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2800" b="1" dirty="0" smtClean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的无偏估计量，因此在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solidFill>
                              <a:schemeClr val="tx1"/>
                            </a:solidFill>
                            <a:latin typeface="Cambria Math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chemeClr val="tx1"/>
                            </a:solidFill>
                            <a:latin typeface="Cambria Math"/>
                            <a:ea typeface="+mn-ea"/>
                          </a:rPr>
                          <m:t>𝑯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chemeClr val="tx1"/>
                            </a:solidFill>
                            <a:latin typeface="Cambria Math"/>
                            <a:ea typeface="+mn-ea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2800" b="1" dirty="0" smtClean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成立时，</a:t>
                </a:r>
                <a:r>
                  <a:rPr lang="zh-CN" altLang="en-US" sz="2800" b="1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统计量</a:t>
                </a:r>
                <a:r>
                  <a:rPr lang="en-US" altLang="zh-CN" sz="2800" b="1" dirty="0" smtClean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/>
                </a:r>
                <a:endParaRPr lang="zh-CN" altLang="en-US" sz="2800" b="1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2420888"/>
                <a:ext cx="7632848" cy="1967398"/>
              </a:xfrm>
              <a:prstGeom prst="rect">
                <a:avLst/>
              </a:prstGeom>
              <a:blipFill rotWithShape="1">
                <a:blip r:embed="rId4"/>
                <a:stretch>
                  <a:fillRect l="-1677" r="-799" b="-77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547912656"/>
              </p:ext>
            </p:extLst>
          </p:nvPr>
        </p:nvGraphicFramePr>
        <p:xfrm>
          <a:off x="4427983" y="3822342"/>
          <a:ext cx="3225297" cy="1262842"/>
        </p:xfrm>
        <a:graphic>
          <a:graphicData uri="http://schemas.openxmlformats.org/presentationml/2006/ole">
            <p:oleObj spid="_x0000_s1203" name="Equation" r:id="rId5" imgW="1612800" imgH="698400" progId="Equation.DSMT4">
              <p:embed/>
            </p:oleObj>
          </a:graphicData>
        </a:graphic>
      </p:graphicFrame>
      <mc:AlternateContent xmlns:mc="http://schemas.openxmlformats.org/markup-compatibility/2006">
        <mc:Choice xmlns=""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251520" y="5013176"/>
                <a:ext cx="8604448" cy="1525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于是</a:t>
                </a:r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2800" b="1" dirty="0" smtClean="0">
                    <a:solidFill>
                      <a:prstClr val="black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拒绝域</a:t>
                </a:r>
                <a14:m>
                  <m:oMath xmlns:m="http://schemas.openxmlformats.org/officeDocument/2006/math">
                    <m:r>
                      <a:rPr lang="en-US" altLang="zh-CN" sz="2800" b="1" i="1" dirty="0">
                        <a:solidFill>
                          <a:srgbClr val="000000"/>
                        </a:solidFill>
                        <a:latin typeface="Cambria Math"/>
                        <a:ea typeface="+mn-ea"/>
                      </a:rPr>
                      <m:t>𝑾</m:t>
                    </m:r>
                    <m:r>
                      <a:rPr lang="en-US" altLang="zh-CN" sz="2800" b="1" i="1" dirty="0">
                        <a:solidFill>
                          <a:srgbClr val="000000"/>
                        </a:solidFill>
                        <a:latin typeface="Cambria Math"/>
                        <a:ea typeface="+mn-ea"/>
                      </a:rPr>
                      <m:t>=</m:t>
                    </m:r>
                    <m:d>
                      <m:dPr>
                        <m:ctrlPr>
                          <a:rPr lang="en-US" altLang="zh-CN" sz="2800" b="1" i="1" dirty="0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</m:ctrlPr>
                      </m:dPr>
                      <m:e>
                        <m:r>
                          <a:rPr lang="en-US" altLang="zh-CN" sz="2800" b="1" i="1" dirty="0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−∞,−</m:t>
                        </m:r>
                        <m:sSub>
                          <m:sSubPr>
                            <m:ctrlPr>
                              <a:rPr lang="en-US" altLang="zh-CN" sz="28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zh-CN" sz="28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𝒖</m:t>
                            </m:r>
                          </m:e>
                          <m:sub>
                            <m:f>
                              <m:fPr>
                                <m:type m:val="skw"/>
                                <m:ctrlPr>
                                  <a:rPr lang="en-US" altLang="zh-CN" sz="2800" b="1" i="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+mn-ea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2800" b="1" i="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+mn-ea"/>
                                  </a:rPr>
                                  <m:t>𝜶</m:t>
                                </m:r>
                              </m:num>
                              <m:den>
                                <m:r>
                                  <a:rPr lang="en-US" altLang="zh-CN" sz="2800" b="1" i="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+mn-ea"/>
                                  </a:rPr>
                                  <m:t>𝟐</m:t>
                                </m:r>
                              </m:den>
                            </m:f>
                          </m:sub>
                        </m:sSub>
                      </m:e>
                    </m:d>
                    <m:r>
                      <a:rPr lang="en-US" altLang="zh-CN" sz="2800" b="1" i="1" dirty="0">
                        <a:solidFill>
                          <a:srgbClr val="000000"/>
                        </a:solidFill>
                        <a:latin typeface="Cambria Math"/>
                        <a:ea typeface="+mn-ea"/>
                      </a:rPr>
                      <m:t>∪</m:t>
                    </m:r>
                    <m:d>
                      <m:dPr>
                        <m:ctrlPr>
                          <a:rPr lang="en-US" altLang="zh-CN" sz="2800" b="1" i="1" dirty="0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zh-CN" sz="28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+mn-ea"/>
                              </a:rPr>
                              <m:t>𝒖</m:t>
                            </m:r>
                          </m:e>
                          <m:sub>
                            <m:f>
                              <m:fPr>
                                <m:type m:val="skw"/>
                                <m:ctrlPr>
                                  <a:rPr lang="en-US" altLang="zh-CN" sz="2800" b="1" i="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+mn-ea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2800" b="1" i="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+mn-ea"/>
                                  </a:rPr>
                                  <m:t>𝜶</m:t>
                                </m:r>
                              </m:num>
                              <m:den>
                                <m:r>
                                  <a:rPr lang="en-US" altLang="zh-CN" sz="2800" b="1" i="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+mn-ea"/>
                                  </a:rPr>
                                  <m:t>𝟐</m:t>
                                </m:r>
                              </m:den>
                            </m:f>
                          </m:sub>
                        </m:sSub>
                        <m:r>
                          <a:rPr lang="en-US" altLang="zh-CN" sz="2800" b="1" i="1" dirty="0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,+∞</m:t>
                        </m:r>
                      </m:e>
                    </m:d>
                  </m:oMath>
                </a14:m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检验统计量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/>
                        <a:ea typeface="+mn-ea"/>
                      </a:rPr>
                      <m:t>𝑼</m:t>
                    </m:r>
                    <m:r>
                      <a:rPr lang="en-US" altLang="zh-CN" sz="2800" b="1" i="1" smtClean="0">
                        <a:latin typeface="Cambria Math"/>
                        <a:ea typeface="+mn-ea"/>
                      </a:rPr>
                      <m:t>~</m:t>
                    </m:r>
                    <m:r>
                      <a:rPr lang="en-US" altLang="zh-CN" sz="2800" b="1" i="1" smtClean="0">
                        <a:latin typeface="Cambria Math"/>
                        <a:ea typeface="+mn-ea"/>
                      </a:rPr>
                      <m:t>𝑵</m:t>
                    </m:r>
                    <m:d>
                      <m:dPr>
                        <m:ctrlPr>
                          <a:rPr lang="en-US" altLang="zh-CN" sz="2800" b="1" i="1" smtClean="0">
                            <a:latin typeface="Cambria Math"/>
                            <a:ea typeface="+mn-ea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latin typeface="Cambria Math"/>
                            <a:ea typeface="+mn-ea"/>
                          </a:rPr>
                          <m:t>𝟎</m:t>
                        </m:r>
                        <m:r>
                          <a:rPr lang="en-US" altLang="zh-CN" sz="2800" b="1" i="1" smtClean="0">
                            <a:latin typeface="Cambria Math"/>
                            <a:ea typeface="+mn-ea"/>
                          </a:rPr>
                          <m:t>,</m:t>
                        </m:r>
                        <m:r>
                          <a:rPr lang="en-US" altLang="zh-CN" sz="2800" b="1" i="1" smtClean="0">
                            <a:latin typeface="Cambria Math"/>
                            <a:ea typeface="+mn-ea"/>
                          </a:rPr>
                          <m:t>𝟏</m:t>
                        </m:r>
                      </m:e>
                    </m:d>
                  </m:oMath>
                </a14:m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故此检验法仍为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  <a:ea typeface="+mn-ea"/>
                      </a:rPr>
                      <m:t>𝑼</m:t>
                    </m:r>
                  </m:oMath>
                </a14:m>
                <a:r>
                  <a:rPr lang="zh-CN" altLang="en-US" sz="2800" b="1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检验</a:t>
                </a:r>
                <a:r>
                  <a:rPr lang="zh-CN" altLang="en-US" sz="2800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法</a:t>
                </a:r>
                <a:r>
                  <a:rPr lang="en-US" altLang="zh-CN" sz="2400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  <a:endParaRPr lang="zh-CN" altLang="en-US" sz="2400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5013176"/>
                <a:ext cx="8604448" cy="1525354"/>
              </a:xfrm>
              <a:prstGeom prst="rect">
                <a:avLst/>
              </a:prstGeom>
              <a:blipFill rotWithShape="1">
                <a:blip r:embed="rId6"/>
                <a:stretch>
                  <a:fillRect l="-1416" b="-59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179512" y="620688"/>
            <a:ext cx="79928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/>
              <a:t> </a:t>
            </a:r>
            <a:r>
              <a:rPr lang="zh-CN" altLang="en-US" sz="2400" dirty="0" smtClean="0">
                <a:latin typeface="+mn-ea"/>
                <a:ea typeface="+mn-ea"/>
              </a:rPr>
              <a:t> </a:t>
            </a:r>
            <a:r>
              <a:rPr lang="zh-CN" altLang="en-US" sz="28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设总体                               </a:t>
            </a:r>
            <a:endParaRPr lang="en-US" altLang="zh-CN" sz="2800" b="1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分别是取自  和   的样本且相互独立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zh-CN" altLang="en-US" sz="28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检验假设</a:t>
            </a:r>
            <a:endParaRPr lang="en-US" altLang="zh-CN" sz="2800" b="1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2958946785"/>
              </p:ext>
            </p:extLst>
          </p:nvPr>
        </p:nvGraphicFramePr>
        <p:xfrm>
          <a:off x="1638696" y="822032"/>
          <a:ext cx="6533704" cy="470751"/>
        </p:xfrm>
        <a:graphic>
          <a:graphicData uri="http://schemas.openxmlformats.org/presentationml/2006/ole">
            <p:oleObj spid="_x0000_s1204" name="Equation" r:id="rId7" imgW="3873500" imgH="279400" progId="Equation.DSMT4">
              <p:embed/>
            </p:oleObj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244984912"/>
              </p:ext>
            </p:extLst>
          </p:nvPr>
        </p:nvGraphicFramePr>
        <p:xfrm>
          <a:off x="1979712" y="1484784"/>
          <a:ext cx="323850" cy="300037"/>
        </p:xfrm>
        <a:graphic>
          <a:graphicData uri="http://schemas.openxmlformats.org/presentationml/2006/ole">
            <p:oleObj spid="_x0000_s1205" name="Equation" r:id="rId8" imgW="177492" imgH="164814" progId="Equation.DSMT4">
              <p:embed/>
            </p:oleObj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1278781494"/>
              </p:ext>
            </p:extLst>
          </p:nvPr>
        </p:nvGraphicFramePr>
        <p:xfrm>
          <a:off x="2626891" y="1484784"/>
          <a:ext cx="288925" cy="341312"/>
        </p:xfrm>
        <a:graphic>
          <a:graphicData uri="http://schemas.openxmlformats.org/presentationml/2006/ole">
            <p:oleObj spid="_x0000_s1206" name="Equation" r:id="rId9" imgW="139579" imgH="164957" progId="Equation.DSMT4">
              <p:embed/>
            </p:oleObj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2377160765"/>
              </p:ext>
            </p:extLst>
          </p:nvPr>
        </p:nvGraphicFramePr>
        <p:xfrm>
          <a:off x="2051720" y="2060848"/>
          <a:ext cx="3157538" cy="461962"/>
        </p:xfrm>
        <a:graphic>
          <a:graphicData uri="http://schemas.openxmlformats.org/presentationml/2006/ole">
            <p:oleObj spid="_x0000_s1207" name="Equation" r:id="rId10" imgW="1562040" imgH="2286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 animBg="1"/>
      <p:bldP spid="12" grpId="0" animBg="1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="" xmlns:a14="http://schemas.microsoft.com/office/drawing/2010/main" Requires="a14">
          <p:sp>
            <p:nvSpPr>
              <p:cNvPr id="6" name="矩形 5"/>
              <p:cNvSpPr/>
              <p:nvPr/>
            </p:nvSpPr>
            <p:spPr>
              <a:xfrm>
                <a:off x="179512" y="-27384"/>
                <a:ext cx="8208912" cy="19697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sz="2800" b="1" kern="0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例</a:t>
                </a:r>
                <a:r>
                  <a:rPr lang="en-US" altLang="zh-CN" sz="2800" b="1" kern="0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2</a:t>
                </a:r>
                <a:r>
                  <a:rPr lang="en-US" altLang="zh-CN" sz="2800" kern="0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/>
                </a:r>
                <a:r>
                  <a:rPr lang="zh-CN" altLang="en-US" sz="2800" b="1" kern="0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从甲、乙两厂生产的钢丝总体</a:t>
                </a:r>
                <a14:m>
                  <m:oMath xmlns:m="http://schemas.openxmlformats.org/officeDocument/2006/math">
                    <m:r>
                      <a:rPr lang="en-US" altLang="zh-CN" sz="2800" b="1" i="1" kern="0" smtClean="0">
                        <a:solidFill>
                          <a:srgbClr val="000000"/>
                        </a:solidFill>
                        <a:latin typeface="Cambria Math"/>
                        <a:ea typeface="宋体"/>
                      </a:rPr>
                      <m:t>𝑿</m:t>
                    </m:r>
                    <m:r>
                      <a:rPr lang="zh-CN" altLang="en-US" sz="2800" b="1" i="1" kern="0" smtClean="0">
                        <a:solidFill>
                          <a:srgbClr val="000000"/>
                        </a:solidFill>
                        <a:latin typeface="Cambria Math"/>
                        <a:ea typeface="宋体"/>
                      </a:rPr>
                      <m:t>、</m:t>
                    </m:r>
                    <m:r>
                      <a:rPr lang="en-US" altLang="zh-CN" sz="2800" b="1" i="1" kern="0" smtClean="0">
                        <a:solidFill>
                          <a:srgbClr val="000000"/>
                        </a:solidFill>
                        <a:latin typeface="Cambria Math"/>
                        <a:ea typeface="宋体"/>
                      </a:rPr>
                      <m:t>𝒀</m:t>
                    </m:r>
                  </m:oMath>
                </a14:m>
                <a:r>
                  <a:rPr lang="zh-CN" altLang="en-US" sz="2800" b="1" kern="0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中各取</a:t>
                </a:r>
                <a:r>
                  <a:rPr lang="en-US" altLang="zh-CN" sz="2800" b="1" kern="0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50</a:t>
                </a:r>
                <a:r>
                  <a:rPr lang="zh-CN" altLang="en-US" sz="2800" b="1" kern="0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截</a:t>
                </a:r>
                <a:r>
                  <a:rPr lang="en-US" altLang="zh-CN" sz="2800" b="1" kern="0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1</a:t>
                </a:r>
                <a:r>
                  <a:rPr lang="zh-CN" altLang="en-US" sz="2800" b="1" kern="0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米长的钢丝做拉力强度试验，得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800" b="1" i="1" kern="0" smtClean="0">
                            <a:solidFill>
                              <a:srgbClr val="000000"/>
                            </a:solidFill>
                            <a:latin typeface="Cambria Math"/>
                            <a:ea typeface="宋体"/>
                          </a:rPr>
                        </m:ctrlPr>
                      </m:accPr>
                      <m:e>
                        <m:r>
                          <a:rPr lang="en-US" altLang="zh-CN" sz="2800" b="1" i="1" kern="0" smtClean="0">
                            <a:solidFill>
                              <a:srgbClr val="000000"/>
                            </a:solidFill>
                            <a:latin typeface="Cambria Math"/>
                            <a:ea typeface="宋体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US" altLang="zh-CN" sz="2800" b="1" kern="0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=1208,</a:t>
                </a:r>
                <a:r>
                  <a:rPr lang="zh-CN" altLang="en-US" sz="2800" b="1" kern="0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/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800" b="1" i="1" kern="0">
                            <a:solidFill>
                              <a:srgbClr val="000000"/>
                            </a:solidFill>
                            <a:latin typeface="Cambria Math"/>
                            <a:ea typeface="宋体"/>
                          </a:rPr>
                        </m:ctrlPr>
                      </m:accPr>
                      <m:e>
                        <m:r>
                          <a:rPr lang="en-US" altLang="zh-CN" sz="2800" b="1" i="1" kern="0" smtClean="0">
                            <a:solidFill>
                              <a:srgbClr val="000000"/>
                            </a:solidFill>
                            <a:latin typeface="Cambria Math"/>
                            <a:ea typeface="宋体"/>
                          </a:rPr>
                          <m:t>𝒚</m:t>
                        </m:r>
                      </m:e>
                    </m:acc>
                  </m:oMath>
                </a14:m>
                <a:r>
                  <a:rPr lang="en-US" altLang="zh-CN" sz="2800" b="1" kern="0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=</a:t>
                </a:r>
                <a:r>
                  <a:rPr lang="en-US" altLang="zh-CN" sz="2800" b="1" kern="0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1282.</a:t>
                </a:r>
                <a:r>
                  <a:rPr lang="zh-CN" altLang="en-US" sz="2800" b="1" kern="0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设钢丝的抗拉强度服从正态分布</a:t>
                </a:r>
                <a:r>
                  <a:rPr lang="en-US" altLang="zh-CN" sz="2800" b="1" kern="0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2800" b="1" kern="0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且</a:t>
                </a:r>
                <a:endParaRPr lang="en-US" altLang="zh-CN" sz="2800" b="1" kern="0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-27384"/>
                <a:ext cx="8208912" cy="1969770"/>
              </a:xfrm>
              <a:prstGeom prst="rect">
                <a:avLst/>
              </a:prstGeom>
              <a:blipFill rotWithShape="1">
                <a:blip r:embed="rId3"/>
                <a:stretch>
                  <a:fillRect l="-1485" r="-1114" b="-77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2222122658"/>
              </p:ext>
            </p:extLst>
          </p:nvPr>
        </p:nvGraphicFramePr>
        <p:xfrm>
          <a:off x="5508104" y="1438330"/>
          <a:ext cx="2394266" cy="504056"/>
        </p:xfrm>
        <a:graphic>
          <a:graphicData uri="http://schemas.openxmlformats.org/presentationml/2006/ole">
            <p:oleObj spid="_x0000_s2151" name="Equation" r:id="rId4" imgW="1206360" imgH="253800" progId="Equation.DSMT4">
              <p:embed/>
            </p:oleObj>
          </a:graphicData>
        </a:graphic>
      </p:graphicFrame>
      <mc:AlternateContent xmlns:mc="http://schemas.openxmlformats.org/markup-compatibility/2006">
        <mc:Choice xmlns=""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51520" y="1844824"/>
                <a:ext cx="8208912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800" b="1" kern="0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问甲</a:t>
                </a:r>
                <a:r>
                  <a:rPr lang="zh-CN" altLang="en-US" sz="2800" b="1" kern="0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、乙两厂生产的</a:t>
                </a:r>
                <a:r>
                  <a:rPr lang="zh-CN" altLang="en-US" sz="2800" b="1" kern="0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钢丝的抗拉强度是否有显著的差别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1" i="1" kern="0" smtClean="0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</m:ctrlPr>
                      </m:dPr>
                      <m:e>
                        <m:r>
                          <a:rPr lang="zh-CN" altLang="en-US" sz="2400" b="1" i="1" kern="0" smtClean="0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𝜶</m:t>
                        </m:r>
                        <m:r>
                          <a:rPr lang="en-US" altLang="zh-CN" sz="2400" b="1" i="1" kern="0" smtClean="0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=</m:t>
                        </m:r>
                        <m:r>
                          <a:rPr lang="en-US" altLang="zh-CN" sz="2400" b="1" i="1" kern="0" smtClean="0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𝟎</m:t>
                        </m:r>
                        <m:r>
                          <a:rPr lang="en-US" altLang="zh-CN" sz="2400" b="1" i="1" kern="0" smtClean="0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.</m:t>
                        </m:r>
                        <m:r>
                          <a:rPr lang="en-US" altLang="zh-CN" sz="2400" b="1" i="1" kern="0" smtClean="0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𝟎𝟓</m:t>
                        </m:r>
                      </m:e>
                    </m:d>
                  </m:oMath>
                </a14:m>
                <a:r>
                  <a:rPr lang="zh-CN" altLang="en-US" sz="2400" b="1" dirty="0" smtClean="0">
                    <a:latin typeface="+mn-ea"/>
                    <a:ea typeface="+mn-ea"/>
                  </a:rPr>
                  <a:t>？</a:t>
                </a:r>
                <a:endParaRPr lang="zh-CN" altLang="en-US" sz="2400" b="1" dirty="0">
                  <a:latin typeface="+mn-ea"/>
                  <a:ea typeface="+mn-ea"/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844824"/>
                <a:ext cx="8208912" cy="1384995"/>
              </a:xfrm>
              <a:prstGeom prst="rect">
                <a:avLst/>
              </a:prstGeom>
              <a:blipFill rotWithShape="1">
                <a:blip r:embed="rId5"/>
                <a:stretch>
                  <a:fillRect l="-1485" b="-7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202985958"/>
              </p:ext>
            </p:extLst>
          </p:nvPr>
        </p:nvGraphicFramePr>
        <p:xfrm>
          <a:off x="1239912" y="3771314"/>
          <a:ext cx="5080000" cy="1344612"/>
        </p:xfrm>
        <a:graphic>
          <a:graphicData uri="http://schemas.openxmlformats.org/presentationml/2006/ole">
            <p:oleObj spid="_x0000_s2152" name="Equation" r:id="rId6" imgW="2387520" imgH="698400" progId="Equation.DSMT4">
              <p:embed/>
            </p:oleObj>
          </a:graphicData>
        </a:graphic>
      </p:graphicFrame>
      <mc:AlternateContent xmlns:mc="http://schemas.openxmlformats.org/markup-compatibility/2006">
        <mc:Choice xmlns=""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5496" y="5141632"/>
                <a:ext cx="7488832" cy="1844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0" i="1" smtClean="0">
                          <a:solidFill>
                            <a:schemeClr val="tx1"/>
                          </a:solidFill>
                          <a:latin typeface="Cambria Math"/>
                          <a:ea typeface="+mn-ea"/>
                        </a:rPr>
                        <m:t>拒绝域</m:t>
                      </m:r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/>
                          <a:ea typeface="+mn-ea"/>
                        </a:rPr>
                        <m:t> </m:t>
                      </m:r>
                      <m:r>
                        <a:rPr lang="en-US" altLang="zh-CN" sz="2400" i="1" dirty="0">
                          <a:solidFill>
                            <a:srgbClr val="000000"/>
                          </a:solidFill>
                          <a:latin typeface="Cambria Math"/>
                          <a:ea typeface="+mn-ea"/>
                        </a:rPr>
                        <m:t>𝑊</m:t>
                      </m:r>
                      <m:r>
                        <a:rPr lang="en-US" altLang="zh-CN" sz="2400" i="1" dirty="0">
                          <a:solidFill>
                            <a:srgbClr val="000000"/>
                          </a:solidFill>
                          <a:latin typeface="Cambria Math"/>
                          <a:ea typeface="+mn-ea"/>
                        </a:rPr>
                        <m:t>=</m:t>
                      </m:r>
                      <m:d>
                        <m:dPr>
                          <m:ctrlPr>
                            <a:rPr lang="en-US" altLang="zh-CN" sz="2400" i="1" dirty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−∞,−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dirty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+mn-ea"/>
                                </a:rPr>
                                <m:t>𝑢</m:t>
                              </m:r>
                            </m:e>
                            <m:sub>
                              <m:f>
                                <m:fPr>
                                  <m:type m:val="skw"/>
                                  <m:ctrlPr>
                                    <a:rPr lang="en-US" altLang="zh-CN" sz="2400" i="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+mn-ea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400" i="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+mn-ea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CN" sz="2400" i="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+mn-ea"/>
                                    </a:rPr>
                                    <m:t>2</m:t>
                                  </m:r>
                                </m:den>
                              </m:f>
                            </m:sub>
                          </m:sSub>
                        </m:e>
                      </m:d>
                      <m:r>
                        <a:rPr lang="en-US" altLang="zh-CN" sz="2400" i="1" dirty="0">
                          <a:solidFill>
                            <a:srgbClr val="000000"/>
                          </a:solidFill>
                          <a:latin typeface="Cambria Math"/>
                          <a:ea typeface="+mn-ea"/>
                        </a:rPr>
                        <m:t>∪</m:t>
                      </m:r>
                      <m:d>
                        <m:dPr>
                          <m:ctrlPr>
                            <a:rPr lang="en-US" altLang="zh-CN" sz="2400" i="1" dirty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 dirty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dirty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+mn-ea"/>
                                </a:rPr>
                                <m:t>𝑢</m:t>
                              </m:r>
                            </m:e>
                            <m:sub>
                              <m:f>
                                <m:fPr>
                                  <m:type m:val="skw"/>
                                  <m:ctrlPr>
                                    <a:rPr lang="en-US" altLang="zh-CN" sz="2400" i="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+mn-ea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400" i="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+mn-ea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CN" sz="2400" i="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+mn-ea"/>
                                    </a:rPr>
                                    <m:t>2</m:t>
                                  </m:r>
                                </m:den>
                              </m:f>
                            </m:sub>
                          </m:sSub>
                          <m:r>
                            <a:rPr lang="en-US" altLang="zh-CN" sz="2400" i="1" dirty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,+∞</m:t>
                          </m:r>
                        </m:e>
                      </m:d>
                    </m:oMath>
                  </m:oMathPara>
                </a14:m>
                <a:endParaRPr lang="en-US" altLang="zh-CN" sz="2400" dirty="0" smtClean="0">
                  <a:latin typeface="+mn-ea"/>
                  <a:ea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dirty="0" smtClean="0">
                    <a:latin typeface="+mn-ea"/>
                    <a:ea typeface="+mn-ea"/>
                  </a:rPr>
                  <a:t/>
                </a:r>
                <a:r>
                  <a:rPr lang="en-US" altLang="zh-CN" sz="2400" dirty="0" smtClean="0">
                    <a:solidFill>
                      <a:srgbClr val="000000"/>
                    </a:solidFill>
                    <a:ea typeface="宋体"/>
                  </a:rPr>
                  <a:t/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/>
                        <a:ea typeface="+mn-ea"/>
                      </a:rPr>
                      <m:t>=</m:t>
                    </m:r>
                    <m:d>
                      <m:dPr>
                        <m:ctrlP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−∞,</m:t>
                        </m:r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  −1.96</m:t>
                        </m:r>
                      </m:e>
                    </m:d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/>
                        <a:ea typeface="+mn-ea"/>
                      </a:rPr>
                      <m:t>∪</m:t>
                    </m:r>
                    <m:d>
                      <m:dPr>
                        <m:ctrlP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</m:ctrlPr>
                      </m:dPr>
                      <m:e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1.96</m:t>
                        </m:r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,</m:t>
                        </m:r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  </m:t>
                        </m:r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+∞</m:t>
                        </m:r>
                      </m:e>
                    </m:d>
                  </m:oMath>
                </a14:m>
                <a:endParaRPr lang="en-US" altLang="zh-CN" sz="2400" dirty="0" smtClean="0">
                  <a:latin typeface="+mn-ea"/>
                  <a:ea typeface="+mn-ea"/>
                </a:endParaRPr>
              </a:p>
              <a:p>
                <a:endParaRPr lang="zh-CN" altLang="en-US" sz="2400" dirty="0">
                  <a:solidFill>
                    <a:srgbClr val="FF0000"/>
                  </a:solidFill>
                  <a:latin typeface="+mn-ea"/>
                  <a:ea typeface="+mn-ea"/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96" y="5141632"/>
                <a:ext cx="7488832" cy="184473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1653774533"/>
              </p:ext>
            </p:extLst>
          </p:nvPr>
        </p:nvGraphicFramePr>
        <p:xfrm>
          <a:off x="1239118" y="3229819"/>
          <a:ext cx="5081588" cy="488950"/>
        </p:xfrm>
        <a:graphic>
          <a:graphicData uri="http://schemas.openxmlformats.org/presentationml/2006/ole">
            <p:oleObj spid="_x0000_s2153" name="Equation" r:id="rId8" imgW="2514600" imgH="2412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1688557977"/>
              </p:ext>
            </p:extLst>
          </p:nvPr>
        </p:nvGraphicFramePr>
        <p:xfrm>
          <a:off x="1547664" y="332656"/>
          <a:ext cx="2465782" cy="432048"/>
        </p:xfrm>
        <a:graphic>
          <a:graphicData uri="http://schemas.openxmlformats.org/presentationml/2006/ole">
            <p:oleObj spid="_x0000_s10292" name="Equation" r:id="rId3" imgW="914400" imgH="177480" progId="Equation.DSMT4">
              <p:embed/>
            </p:oleObj>
          </a:graphicData>
        </a:graphic>
      </p:graphicFrame>
      <p:sp>
        <p:nvSpPr>
          <p:cNvPr id="7" name="矩形 6"/>
          <p:cNvSpPr/>
          <p:nvPr/>
        </p:nvSpPr>
        <p:spPr>
          <a:xfrm>
            <a:off x="701824" y="692696"/>
            <a:ext cx="783061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2800" b="1" kern="0" dirty="0" smtClean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拒绝      ，即甲</a:t>
            </a:r>
            <a:r>
              <a:rPr lang="zh-CN" altLang="en-US" sz="2800" b="1" kern="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、乙两厂生产的钢丝的</a:t>
            </a:r>
            <a:r>
              <a:rPr lang="zh-CN" altLang="en-US" sz="2800" b="1" kern="0" dirty="0" smtClean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抗拉强度有</a:t>
            </a:r>
            <a:r>
              <a:rPr lang="zh-CN" altLang="en-US" sz="2800" b="1" kern="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显著的</a:t>
            </a:r>
            <a:r>
              <a:rPr lang="zh-CN" altLang="en-US" sz="2800" b="1" kern="0" dirty="0" smtClean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差别</a:t>
            </a:r>
            <a:r>
              <a:rPr lang="en-US" altLang="zh-CN" sz="2800" b="1" kern="0" dirty="0" smtClean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endParaRPr lang="zh-CN" altLang="en-US" sz="2400" b="1" dirty="0">
              <a:solidFill>
                <a:prstClr val="black"/>
              </a:solidFill>
              <a:latin typeface="宋体"/>
              <a:ea typeface="宋体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2819620530"/>
              </p:ext>
            </p:extLst>
          </p:nvPr>
        </p:nvGraphicFramePr>
        <p:xfrm>
          <a:off x="1259632" y="856503"/>
          <a:ext cx="812800" cy="493713"/>
        </p:xfrm>
        <a:graphic>
          <a:graphicData uri="http://schemas.openxmlformats.org/presentationml/2006/ole">
            <p:oleObj spid="_x0000_s10293" name="Equation" r:id="rId4" imgW="368280" imgH="228600" progId="Equation.DSMT4">
              <p:embed/>
            </p:oleObj>
          </a:graphicData>
        </a:graphic>
      </p:graphicFrame>
      <mc:AlternateContent xmlns:mc="http://schemas.openxmlformats.org/markup-compatibility/2006">
        <mc:Choice xmlns=""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341536" y="2060848"/>
                <a:ext cx="7758855" cy="1139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400" b="1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2.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/>
                            <a:ea typeface="+mn-ea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zh-CN" altLang="en-US" sz="2400" b="1" i="1">
                                <a:solidFill>
                                  <a:srgbClr val="FF0000"/>
                                </a:solidFill>
                                <a:latin typeface="Cambria Math"/>
                                <a:ea typeface="+mn-ea"/>
                              </a:rPr>
                              <m:t>𝝈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/>
                                <a:ea typeface="+mn-ea"/>
                              </a:rPr>
                              <m:t>𝟏</m:t>
                            </m:r>
                          </m:sub>
                        </m:sSub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/>
                            <a:ea typeface="+mn-ea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zh-CN" altLang="en-US" sz="2400" b="1" dirty="0">
                    <a:solidFill>
                      <a:srgbClr val="FF0000"/>
                    </a:solidFill>
                    <a:latin typeface="+mn-ea"/>
                    <a:ea typeface="+mn-ea"/>
                  </a:rPr>
                  <a:t>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/>
                            <a:ea typeface="+mn-ea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zh-CN" altLang="en-US" sz="2400" b="1" i="1">
                                <a:solidFill>
                                  <a:srgbClr val="FF0000"/>
                                </a:solidFill>
                                <a:latin typeface="Cambria Math"/>
                                <a:ea typeface="+mn-ea"/>
                              </a:rPr>
                              <m:t>𝝈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/>
                                <a:ea typeface="+mn-ea"/>
                              </a:rPr>
                              <m:t>𝟐</m:t>
                            </m:r>
                          </m:sub>
                        </m:sSub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/>
                            <a:ea typeface="+mn-ea"/>
                          </a:rPr>
                          <m:t>𝟐</m:t>
                        </m:r>
                      </m:sup>
                    </m:sSup>
                    <m:r>
                      <a:rPr lang="zh-CN" altLang="en-US" sz="2400" b="1" i="1" smtClean="0">
                        <a:solidFill>
                          <a:srgbClr val="FF0000"/>
                        </a:solidFill>
                        <a:latin typeface="Cambria Math"/>
                        <a:ea typeface="+mn-ea"/>
                      </a:rPr>
                      <m:t>未</m:t>
                    </m:r>
                  </m:oMath>
                </a14:m>
                <a:r>
                  <a:rPr lang="zh-CN" altLang="en-US" sz="2400" b="1" dirty="0">
                    <a:solidFill>
                      <a:srgbClr val="FF0000"/>
                    </a:solidFill>
                    <a:latin typeface="+mn-ea"/>
                    <a:ea typeface="+mn-ea"/>
                  </a:rPr>
                  <a:t>知</a:t>
                </a:r>
                <a:r>
                  <a:rPr lang="zh-CN" altLang="en-US" sz="2400" b="1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但相等</a:t>
                </a:r>
                <a:r>
                  <a:rPr lang="en-US" altLang="zh-CN" sz="2400" b="1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.</a:t>
                </a:r>
                <a:endParaRPr lang="en-US" altLang="zh-CN" sz="2400" b="1" dirty="0" smtClean="0">
                  <a:solidFill>
                    <a:srgbClr val="000000"/>
                  </a:solidFill>
                  <a:latin typeface="+mn-ea"/>
                  <a:ea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b="1" kern="0" dirty="0" smtClean="0">
                    <a:solidFill>
                      <a:srgbClr val="000000"/>
                    </a:solidFill>
                    <a:latin typeface="+mn-ea"/>
                    <a:ea typeface="+mn-ea"/>
                  </a:rPr>
                  <a:t>由于在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𝑯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2400" b="1" kern="0" dirty="0" smtClean="0">
                    <a:solidFill>
                      <a:srgbClr val="000000"/>
                    </a:solidFill>
                    <a:latin typeface="+mn-ea"/>
                    <a:ea typeface="+mn-ea"/>
                  </a:rPr>
                  <a:t>成立时，</a:t>
                </a:r>
                <a:r>
                  <a:rPr lang="zh-CN" altLang="en-US" sz="2400" b="1" kern="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统计量</a:t>
                </a:r>
                <a:endParaRPr lang="en-US" altLang="zh-CN" sz="2400" b="1" kern="0" dirty="0" smtClean="0">
                  <a:solidFill>
                    <a:srgbClr val="FF0000"/>
                  </a:solidFill>
                  <a:latin typeface="+mn-ea"/>
                  <a:ea typeface="+mn-ea"/>
                </a:endParaRP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536" y="2060848"/>
                <a:ext cx="7758855" cy="1139799"/>
              </a:xfrm>
              <a:prstGeom prst="rect">
                <a:avLst/>
              </a:prstGeom>
              <a:blipFill rotWithShape="1">
                <a:blip r:embed="rId5"/>
                <a:stretch>
                  <a:fillRect l="-1178" b="-101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1491177303"/>
              </p:ext>
            </p:extLst>
          </p:nvPr>
        </p:nvGraphicFramePr>
        <p:xfrm>
          <a:off x="1141939" y="3356992"/>
          <a:ext cx="6727825" cy="936625"/>
        </p:xfrm>
        <a:graphic>
          <a:graphicData uri="http://schemas.openxmlformats.org/presentationml/2006/ole">
            <p:oleObj spid="_x0000_s10294" name="Equation" r:id="rId6" imgW="3924000" imgH="545760" progId="Equation.DSMT4">
              <p:embed/>
            </p:oleObj>
          </a:graphicData>
        </a:graphic>
      </p:graphicFrame>
      <mc:AlternateContent xmlns:mc="http://schemas.openxmlformats.org/markup-compatibility/2006">
        <mc:Choice xmlns=""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113364" y="3933056"/>
                <a:ext cx="8784976" cy="22140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lnSpc>
                    <a:spcPct val="150000"/>
                  </a:lnSpc>
                </a:pPr>
                <a:r>
                  <a:rPr lang="zh-CN" altLang="en-US" sz="2800" b="1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拒绝域</a:t>
                </a:r>
                <a14:m>
                  <m:oMath xmlns:m="http://schemas.openxmlformats.org/officeDocument/2006/math">
                    <m:r>
                      <a:rPr lang="en-US" altLang="zh-CN" sz="2400" b="1" i="0" dirty="0" smtClean="0">
                        <a:solidFill>
                          <a:srgbClr val="000000"/>
                        </a:solidFill>
                        <a:latin typeface="Cambria Math"/>
                        <a:ea typeface="宋体"/>
                      </a:rPr>
                      <m:t>𝐖</m:t>
                    </m:r>
                    <m:r>
                      <a:rPr lang="en-US" altLang="zh-CN" sz="2400" b="1" i="1" dirty="0" smtClean="0">
                        <a:solidFill>
                          <a:srgbClr val="000000"/>
                        </a:solidFill>
                        <a:latin typeface="Cambria Math"/>
                        <a:ea typeface="宋体"/>
                      </a:rPr>
                      <m:t>=</m:t>
                    </m:r>
                    <m:d>
                      <m:dPr>
                        <m:ctrlPr>
                          <a:rPr lang="en-US" altLang="zh-CN" sz="2400" b="1" i="1" dirty="0">
                            <a:solidFill>
                              <a:srgbClr val="000000"/>
                            </a:solidFill>
                            <a:latin typeface="Cambria Math"/>
                            <a:ea typeface="宋体"/>
                          </a:rPr>
                        </m:ctrlPr>
                      </m:dPr>
                      <m:e>
                        <m:r>
                          <a:rPr lang="en-US" altLang="zh-CN" sz="2400" b="1" i="1" dirty="0">
                            <a:solidFill>
                              <a:srgbClr val="000000"/>
                            </a:solidFill>
                            <a:latin typeface="Cambria Math"/>
                            <a:ea typeface="宋体"/>
                          </a:rPr>
                          <m:t>−</m:t>
                        </m:r>
                        <m:r>
                          <a:rPr lang="en-US" altLang="zh-CN" sz="2400" b="1" i="1" dirty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∞,−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𝒕</m:t>
                            </m:r>
                          </m:e>
                          <m:sub>
                            <m:f>
                              <m:fPr>
                                <m:type m:val="skw"/>
                                <m:ctrlPr>
                                  <a:rPr lang="en-US" altLang="zh-CN" sz="2400" b="1" i="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2400" b="1" i="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𝜶</m:t>
                                </m:r>
                              </m:num>
                              <m:den>
                                <m:r>
                                  <a:rPr lang="en-US" altLang="zh-CN" sz="2400" b="1" i="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𝟐</m:t>
                                </m:r>
                              </m:den>
                            </m:f>
                          </m:sub>
                        </m:sSub>
                        <m:d>
                          <m:dPr>
                            <m:ctrlPr>
                              <a:rPr lang="en-US" altLang="zh-CN" sz="2400" b="1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b="1" i="1" dirty="0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𝒏</m:t>
                                </m:r>
                              </m:e>
                              <m:sub>
                                <m:r>
                                  <a:rPr lang="en-US" altLang="zh-CN" sz="2400" b="1" i="1" dirty="0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sz="2400" b="1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2400" b="1" i="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𝒏</m:t>
                                </m:r>
                              </m:e>
                              <m:sub>
                                <m:r>
                                  <a:rPr lang="en-US" altLang="zh-CN" sz="2400" b="1" i="1" dirty="0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sz="2400" b="1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−</m:t>
                            </m:r>
                            <m:r>
                              <a:rPr lang="en-US" altLang="zh-CN" sz="2400" b="1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𝟐</m:t>
                            </m:r>
                          </m:e>
                        </m:d>
                      </m:e>
                    </m:d>
                    <m:r>
                      <a:rPr lang="en-US" altLang="zh-CN" sz="2400" b="1" i="1" dirty="0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∪</m:t>
                    </m:r>
                    <m:d>
                      <m:dPr>
                        <m:ctrlPr>
                          <a:rPr lang="en-US" altLang="zh-CN" sz="2400" b="1" i="1" dirty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𝒕</m:t>
                            </m:r>
                          </m:e>
                          <m:sub>
                            <m:f>
                              <m:fPr>
                                <m:type m:val="skw"/>
                                <m:ctrlPr>
                                  <a:rPr lang="en-US" altLang="zh-CN" sz="2400" b="1" i="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2400" b="1" i="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𝜶</m:t>
                                </m:r>
                              </m:num>
                              <m:den>
                                <m:r>
                                  <a:rPr lang="en-US" altLang="zh-CN" sz="2400" b="1" i="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𝟐</m:t>
                                </m:r>
                              </m:den>
                            </m:f>
                          </m:sub>
                        </m:sSub>
                        <m:d>
                          <m:dPr>
                            <m:ctrlPr>
                              <a:rPr lang="en-US" altLang="zh-CN" sz="24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b="1" i="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𝒏</m:t>
                                </m:r>
                              </m:e>
                              <m:sub>
                                <m:r>
                                  <a:rPr lang="en-US" altLang="zh-CN" sz="2400" b="1" i="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sz="24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2400" b="1" i="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𝒏</m:t>
                                </m:r>
                              </m:e>
                              <m:sub>
                                <m:r>
                                  <a:rPr lang="en-US" altLang="zh-CN" sz="2400" b="1" i="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sz="24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−</m:t>
                            </m:r>
                            <m:r>
                              <a:rPr lang="en-US" altLang="zh-CN" sz="24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𝟐</m:t>
                            </m:r>
                          </m:e>
                        </m:d>
                        <m:r>
                          <a:rPr lang="en-US" altLang="zh-CN" sz="2400" b="1" i="1" dirty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,+∞</m:t>
                        </m:r>
                      </m:e>
                    </m:d>
                  </m:oMath>
                </a14:m>
                <a:r>
                  <a:rPr lang="en-US" altLang="zh-CN" sz="2400" b="1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  <a:endParaRPr lang="en-US" altLang="zh-CN" sz="2400" b="1" dirty="0" smtClean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lvl="0">
                  <a:lnSpc>
                    <a:spcPct val="150000"/>
                  </a:lnSpc>
                </a:pPr>
                <a:r>
                  <a:rPr lang="zh-CN" altLang="en-US" sz="2800" b="1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检验统计量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000000"/>
                        </a:solidFill>
                        <a:latin typeface="Cambria Math"/>
                      </a:rPr>
                      <m:t>𝑻</m:t>
                    </m:r>
                    <m:r>
                      <a:rPr lang="en-US" altLang="zh-CN" sz="2800" b="1" i="1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~</m:t>
                    </m:r>
                    <m:r>
                      <a:rPr lang="en-US" altLang="zh-CN" sz="2800" b="1" i="1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𝒕</m:t>
                    </m:r>
                    <m:d>
                      <m:dPr>
                        <m:ctrlPr>
                          <a:rPr lang="en-US" altLang="zh-CN" sz="2800" b="1" i="1" dirty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altLang="zh-CN" sz="28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𝒏</m:t>
                            </m:r>
                          </m:e>
                          <m:sub>
                            <m:r>
                              <a:rPr lang="en-US" altLang="zh-CN" sz="28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800" b="1" i="1" dirty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8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altLang="zh-CN" sz="28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𝒏</m:t>
                            </m:r>
                          </m:e>
                          <m:sub>
                            <m:r>
                              <a:rPr lang="en-US" altLang="zh-CN" sz="28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800" b="1" i="1" dirty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en-US" altLang="zh-CN" sz="2800" b="1" i="1" dirty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𝟐</m:t>
                        </m:r>
                      </m:e>
                    </m:d>
                  </m:oMath>
                </a14:m>
                <a:r>
                  <a:rPr lang="en-US" altLang="zh-CN" sz="2800" b="1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2800" b="1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故此检验</a:t>
                </a:r>
                <a:r>
                  <a:rPr lang="zh-CN" altLang="en-US" sz="2800" b="1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法也称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𝒕</m:t>
                    </m:r>
                  </m:oMath>
                </a14:m>
                <a:r>
                  <a:rPr lang="zh-CN" altLang="en-US" sz="2800" b="1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检验</a:t>
                </a:r>
                <a:r>
                  <a:rPr lang="zh-CN" altLang="en-US" sz="2800" b="1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法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  <a:endParaRPr lang="zh-CN" altLang="en-US" sz="2800" b="1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364" y="3933056"/>
                <a:ext cx="8784976" cy="2214068"/>
              </a:xfrm>
              <a:prstGeom prst="rect">
                <a:avLst/>
              </a:prstGeom>
              <a:blipFill rotWithShape="1">
                <a:blip r:embed="rId7"/>
                <a:stretch>
                  <a:fillRect l="-1457" b="-3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="" xmlns:p14="http://schemas.microsoft.com/office/powerpoint/2010/main" val="2510494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=""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179512" y="44624"/>
                <a:ext cx="8424935" cy="16677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sz="2400" b="1" kern="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例</a:t>
                </a:r>
                <a:r>
                  <a:rPr lang="en-US" altLang="zh-CN" sz="2400" b="1" kern="0" dirty="0">
                    <a:solidFill>
                      <a:srgbClr val="FF0000"/>
                    </a:solidFill>
                    <a:latin typeface="+mn-ea"/>
                    <a:ea typeface="+mn-ea"/>
                  </a:rPr>
                  <a:t>3</a:t>
                </a:r>
                <a:r>
                  <a:rPr lang="en-US" altLang="zh-CN" sz="2400" b="1" kern="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/>
                </a:r>
                <a:r>
                  <a:rPr lang="zh-CN" altLang="en-US" sz="2400" b="1" kern="0" dirty="0" smtClean="0">
                    <a:solidFill>
                      <a:srgbClr val="000000"/>
                    </a:solidFill>
                    <a:latin typeface="+mn-ea"/>
                    <a:ea typeface="+mn-ea"/>
                  </a:rPr>
                  <a:t>在漂白工艺中考察温度对针织品断裂强度的影响，今在</a:t>
                </a:r>
                <a:r>
                  <a:rPr lang="en-US" altLang="zh-CN" sz="2400" b="1" kern="0" dirty="0" smtClean="0">
                    <a:solidFill>
                      <a:srgbClr val="000000"/>
                    </a:solidFill>
                    <a:latin typeface="+mn-ea"/>
                    <a:ea typeface="+mn-ea"/>
                  </a:rPr>
                  <a:t>70</a:t>
                </a:r>
                <a14:m>
                  <m:oMath xmlns:m="http://schemas.openxmlformats.org/officeDocument/2006/math">
                    <m:r>
                      <a:rPr lang="en-US" altLang="zh-CN" sz="2400" b="1" i="1" kern="0" smtClean="0">
                        <a:solidFill>
                          <a:srgbClr val="000000"/>
                        </a:solidFill>
                        <a:latin typeface="Cambria Math"/>
                        <a:ea typeface="+mn-ea"/>
                      </a:rPr>
                      <m:t>℃</m:t>
                    </m:r>
                    <m:r>
                      <a:rPr lang="zh-CN" altLang="en-US" sz="2400" b="1" i="1" kern="0" smtClean="0">
                        <a:solidFill>
                          <a:srgbClr val="000000"/>
                        </a:solidFill>
                        <a:latin typeface="Cambria Math"/>
                        <a:ea typeface="+mn-ea"/>
                      </a:rPr>
                      <m:t>和</m:t>
                    </m:r>
                  </m:oMath>
                </a14:m>
                <a:r>
                  <a:rPr lang="en-US" altLang="zh-CN" sz="2400" b="1" kern="0" dirty="0" smtClean="0">
                    <a:solidFill>
                      <a:srgbClr val="000000"/>
                    </a:solidFill>
                    <a:latin typeface="+mn-ea"/>
                    <a:ea typeface="+mn-ea"/>
                  </a:rPr>
                  <a:t>80</a:t>
                </a:r>
                <a14:m>
                  <m:oMath xmlns:m="http://schemas.openxmlformats.org/officeDocument/2006/math">
                    <m:r>
                      <a:rPr lang="en-US" altLang="zh-CN" sz="2400" b="1" i="1" kern="0" smtClean="0">
                        <a:solidFill>
                          <a:srgbClr val="000000"/>
                        </a:solidFill>
                        <a:latin typeface="Cambria Math"/>
                        <a:ea typeface="+mn-ea"/>
                      </a:rPr>
                      <m:t>℃</m:t>
                    </m:r>
                  </m:oMath>
                </a14:m>
                <a:r>
                  <a:rPr lang="zh-CN" altLang="en-US" sz="2400" b="1" kern="0" dirty="0" smtClean="0">
                    <a:solidFill>
                      <a:srgbClr val="000000"/>
                    </a:solidFill>
                    <a:latin typeface="+mn-ea"/>
                    <a:ea typeface="+mn-ea"/>
                  </a:rPr>
                  <a:t>分别作</a:t>
                </a:r>
                <a:r>
                  <a:rPr lang="en-US" altLang="zh-CN" sz="2400" b="1" kern="0" dirty="0" smtClean="0">
                    <a:solidFill>
                      <a:srgbClr val="000000"/>
                    </a:solidFill>
                    <a:latin typeface="+mn-ea"/>
                    <a:ea typeface="+mn-ea"/>
                  </a:rPr>
                  <a:t>8</a:t>
                </a:r>
                <a:r>
                  <a:rPr lang="zh-CN" altLang="en-US" sz="2400" b="1" kern="0" dirty="0" smtClean="0">
                    <a:solidFill>
                      <a:srgbClr val="000000"/>
                    </a:solidFill>
                    <a:latin typeface="+mn-ea"/>
                    <a:ea typeface="+mn-ea"/>
                  </a:rPr>
                  <a:t>次和</a:t>
                </a:r>
                <a:r>
                  <a:rPr lang="en-US" altLang="zh-CN" sz="2400" b="1" kern="0" dirty="0" smtClean="0">
                    <a:solidFill>
                      <a:srgbClr val="000000"/>
                    </a:solidFill>
                    <a:latin typeface="+mn-ea"/>
                    <a:ea typeface="+mn-ea"/>
                  </a:rPr>
                  <a:t>6</a:t>
                </a:r>
                <a:r>
                  <a:rPr lang="zh-CN" altLang="en-US" sz="2400" b="1" kern="0" dirty="0" smtClean="0">
                    <a:solidFill>
                      <a:srgbClr val="000000"/>
                    </a:solidFill>
                    <a:latin typeface="+mn-ea"/>
                    <a:ea typeface="+mn-ea"/>
                  </a:rPr>
                  <a:t>次试验，测得各自的断裂强度</a:t>
                </a:r>
                <a14:m>
                  <m:oMath xmlns:m="http://schemas.openxmlformats.org/officeDocument/2006/math">
                    <m:r>
                      <a:rPr lang="en-US" altLang="zh-CN" sz="2400" b="1" i="1" kern="0">
                        <a:solidFill>
                          <a:srgbClr val="000000"/>
                        </a:solidFill>
                        <a:latin typeface="Cambria Math"/>
                        <a:ea typeface="+mn-ea"/>
                      </a:rPr>
                      <m:t>𝑿</m:t>
                    </m:r>
                    <m:r>
                      <a:rPr lang="zh-CN" altLang="en-US" sz="2400" b="1" i="1" kern="0" smtClean="0">
                        <a:solidFill>
                          <a:srgbClr val="000000"/>
                        </a:solidFill>
                        <a:latin typeface="Cambria Math"/>
                        <a:ea typeface="+mn-ea"/>
                      </a:rPr>
                      <m:t>和</m:t>
                    </m:r>
                    <m:r>
                      <a:rPr lang="en-US" altLang="zh-CN" sz="2400" b="1" i="1" kern="0">
                        <a:solidFill>
                          <a:srgbClr val="000000"/>
                        </a:solidFill>
                        <a:latin typeface="Cambria Math"/>
                        <a:ea typeface="+mn-ea"/>
                      </a:rPr>
                      <m:t>𝒀</m:t>
                    </m:r>
                  </m:oMath>
                </a14:m>
                <a:r>
                  <a:rPr lang="zh-CN" altLang="en-US" sz="2400" b="1" kern="0" dirty="0" smtClean="0">
                    <a:solidFill>
                      <a:srgbClr val="000000"/>
                    </a:solidFill>
                    <a:latin typeface="+mn-ea"/>
                    <a:ea typeface="+mn-ea"/>
                  </a:rPr>
                  <a:t>的观测值</a:t>
                </a:r>
                <a:r>
                  <a:rPr lang="en-US" altLang="zh-CN" sz="2400" b="1" kern="0" dirty="0" smtClean="0">
                    <a:solidFill>
                      <a:srgbClr val="000000"/>
                    </a:solidFill>
                    <a:latin typeface="+mn-ea"/>
                    <a:ea typeface="+mn-ea"/>
                  </a:rPr>
                  <a:t>.</a:t>
                </a:r>
                <a:r>
                  <a:rPr lang="zh-CN" altLang="en-US" sz="2400" b="1" kern="0" dirty="0" smtClean="0">
                    <a:solidFill>
                      <a:srgbClr val="000000"/>
                    </a:solidFill>
                    <a:latin typeface="+mn-ea"/>
                    <a:ea typeface="+mn-ea"/>
                  </a:rPr>
                  <a:t>经计算得</a:t>
                </a:r>
                <a:endParaRPr lang="en-US" altLang="zh-CN" sz="2400" b="1" kern="0" dirty="0" smtClean="0">
                  <a:solidFill>
                    <a:srgbClr val="000000"/>
                  </a:solidFill>
                  <a:latin typeface="+mn-ea"/>
                  <a:ea typeface="+mn-ea"/>
                </a:endParaRP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44624"/>
                <a:ext cx="8424935" cy="1667764"/>
              </a:xfrm>
              <a:prstGeom prst="rect">
                <a:avLst/>
              </a:prstGeom>
              <a:blipFill rotWithShape="1">
                <a:blip r:embed="rId3"/>
                <a:stretch>
                  <a:fillRect l="-1085" b="-72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3836303420"/>
              </p:ext>
            </p:extLst>
          </p:nvPr>
        </p:nvGraphicFramePr>
        <p:xfrm>
          <a:off x="1187624" y="1765506"/>
          <a:ext cx="6048672" cy="490216"/>
        </p:xfrm>
        <a:graphic>
          <a:graphicData uri="http://schemas.openxmlformats.org/presentationml/2006/ole">
            <p:oleObj spid="_x0000_s3220" name="Equation" r:id="rId4" imgW="2793960" imgH="241200" progId="Equation.DSMT4">
              <p:embed/>
            </p:oleObj>
          </a:graphicData>
        </a:graphic>
      </p:graphicFrame>
      <mc:AlternateContent xmlns:mc="http://schemas.openxmlformats.org/markup-compatibility/2006">
        <mc:Choice xmlns=""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341537" y="2276872"/>
                <a:ext cx="8138073" cy="16677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b="1" dirty="0" smtClean="0">
                    <a:latin typeface="+mn-ea"/>
                    <a:ea typeface="+mn-ea"/>
                  </a:rPr>
                  <a:t>根据以往的经验，可以认为</a:t>
                </a:r>
                <a14:m>
                  <m:oMath xmlns:m="http://schemas.openxmlformats.org/officeDocument/2006/math">
                    <m:r>
                      <a:rPr lang="en-US" altLang="zh-CN" sz="2400" b="1" i="1" kern="0">
                        <a:solidFill>
                          <a:srgbClr val="000000"/>
                        </a:solidFill>
                        <a:latin typeface="Cambria Math"/>
                        <a:ea typeface="+mn-ea"/>
                      </a:rPr>
                      <m:t>𝑿</m:t>
                    </m:r>
                    <m:r>
                      <a:rPr lang="zh-CN" altLang="en-US" sz="2400" b="1" i="1" kern="0">
                        <a:solidFill>
                          <a:srgbClr val="000000"/>
                        </a:solidFill>
                        <a:latin typeface="Cambria Math"/>
                        <a:ea typeface="+mn-ea"/>
                      </a:rPr>
                      <m:t>和</m:t>
                    </m:r>
                    <m:r>
                      <a:rPr lang="en-US" altLang="zh-CN" sz="2400" b="1" i="1" kern="0">
                        <a:solidFill>
                          <a:srgbClr val="000000"/>
                        </a:solidFill>
                        <a:latin typeface="Cambria Math"/>
                        <a:ea typeface="+mn-ea"/>
                      </a:rPr>
                      <m:t>𝒀</m:t>
                    </m:r>
                  </m:oMath>
                </a14:m>
                <a:r>
                  <a:rPr lang="zh-CN" altLang="en-US" sz="2400" b="1" dirty="0" smtClean="0">
                    <a:latin typeface="+mn-ea"/>
                    <a:ea typeface="+mn-ea"/>
                  </a:rPr>
                  <a:t>均服从正态分布，且方差相等，在给定</a:t>
                </a:r>
                <a14:m>
                  <m:oMath xmlns:m="http://schemas.openxmlformats.org/officeDocument/2006/math">
                    <m:r>
                      <a:rPr lang="zh-CN" altLang="en-US" sz="2400" b="1" i="1" smtClean="0">
                        <a:latin typeface="Cambria Math"/>
                        <a:ea typeface="+mn-ea"/>
                      </a:rPr>
                      <m:t>𝜶</m:t>
                    </m:r>
                    <m:r>
                      <a:rPr lang="en-US" altLang="zh-CN" sz="2400" b="1" i="1" smtClean="0">
                        <a:latin typeface="Cambria Math"/>
                        <a:ea typeface="+mn-ea"/>
                      </a:rPr>
                      <m:t>=</m:t>
                    </m:r>
                    <m:r>
                      <a:rPr lang="en-US" altLang="zh-CN" sz="2400" b="1" i="1" smtClean="0">
                        <a:latin typeface="Cambria Math"/>
                        <a:ea typeface="+mn-ea"/>
                      </a:rPr>
                      <m:t>𝟎</m:t>
                    </m:r>
                    <m:r>
                      <a:rPr lang="en-US" altLang="zh-CN" sz="2400" b="1" i="1" smtClean="0">
                        <a:latin typeface="Cambria Math"/>
                        <a:ea typeface="+mn-ea"/>
                      </a:rPr>
                      <m:t>.</m:t>
                    </m:r>
                    <m:r>
                      <a:rPr lang="en-US" altLang="zh-CN" sz="2400" b="1" i="1" smtClean="0">
                        <a:latin typeface="Cambria Math"/>
                        <a:ea typeface="+mn-ea"/>
                      </a:rPr>
                      <m:t>𝟏𝟎</m:t>
                    </m:r>
                  </m:oMath>
                </a14:m>
                <a:r>
                  <a:rPr lang="zh-CN" altLang="en-US" sz="2400" b="1" dirty="0" smtClean="0">
                    <a:latin typeface="+mn-ea"/>
                    <a:ea typeface="+mn-ea"/>
                  </a:rPr>
                  <a:t>时，问</a:t>
                </a:r>
                <a:r>
                  <a:rPr lang="en-US" altLang="zh-CN" sz="2400" b="1" kern="0" dirty="0">
                    <a:solidFill>
                      <a:srgbClr val="000000"/>
                    </a:solidFill>
                    <a:latin typeface="+mn-ea"/>
                    <a:ea typeface="+mn-ea"/>
                  </a:rPr>
                  <a:t>70</a:t>
                </a:r>
                <a14:m>
                  <m:oMath xmlns:m="http://schemas.openxmlformats.org/officeDocument/2006/math">
                    <m:r>
                      <a:rPr lang="en-US" altLang="zh-CN" sz="2400" b="1" i="1" kern="0">
                        <a:solidFill>
                          <a:srgbClr val="000000"/>
                        </a:solidFill>
                        <a:latin typeface="Cambria Math"/>
                        <a:ea typeface="+mn-ea"/>
                      </a:rPr>
                      <m:t>℃</m:t>
                    </m:r>
                    <m:r>
                      <a:rPr lang="zh-CN" altLang="en-US" sz="2400" b="1" i="1" kern="0">
                        <a:solidFill>
                          <a:srgbClr val="000000"/>
                        </a:solidFill>
                        <a:latin typeface="Cambria Math"/>
                        <a:ea typeface="+mn-ea"/>
                      </a:rPr>
                      <m:t>和</m:t>
                    </m:r>
                  </m:oMath>
                </a14:m>
                <a:r>
                  <a:rPr lang="en-US" altLang="zh-CN" sz="2400" b="1" kern="0" dirty="0">
                    <a:solidFill>
                      <a:srgbClr val="000000"/>
                    </a:solidFill>
                    <a:latin typeface="+mn-ea"/>
                    <a:ea typeface="+mn-ea"/>
                  </a:rPr>
                  <a:t>80</a:t>
                </a:r>
                <a14:m>
                  <m:oMath xmlns:m="http://schemas.openxmlformats.org/officeDocument/2006/math">
                    <m:r>
                      <a:rPr lang="en-US" altLang="zh-CN" sz="2400" b="1" i="1" kern="0">
                        <a:solidFill>
                          <a:srgbClr val="000000"/>
                        </a:solidFill>
                        <a:latin typeface="Cambria Math"/>
                        <a:ea typeface="+mn-ea"/>
                      </a:rPr>
                      <m:t>℃</m:t>
                    </m:r>
                  </m:oMath>
                </a14:m>
                <a:r>
                  <a:rPr lang="zh-CN" altLang="en-US" sz="2400" b="1" dirty="0" smtClean="0">
                    <a:latin typeface="+mn-ea"/>
                    <a:ea typeface="+mn-ea"/>
                  </a:rPr>
                  <a:t>对断裂强度有无明显差异？</a:t>
                </a:r>
                <a:endParaRPr lang="zh-CN" altLang="en-US" sz="2400" b="1" dirty="0">
                  <a:latin typeface="+mn-ea"/>
                  <a:ea typeface="+mn-ea"/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537" y="2276872"/>
                <a:ext cx="8138073" cy="1667764"/>
              </a:xfrm>
              <a:prstGeom prst="rect">
                <a:avLst/>
              </a:prstGeom>
              <a:blipFill rotWithShape="1">
                <a:blip r:embed="rId5"/>
                <a:stretch>
                  <a:fillRect l="-1124" r="-1199"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1716695132"/>
              </p:ext>
            </p:extLst>
          </p:nvPr>
        </p:nvGraphicFramePr>
        <p:xfrm>
          <a:off x="1619672" y="4077072"/>
          <a:ext cx="4441825" cy="461962"/>
        </p:xfrm>
        <a:graphic>
          <a:graphicData uri="http://schemas.openxmlformats.org/presentationml/2006/ole">
            <p:oleObj spid="_x0000_s3221" name="Equation" r:id="rId6" imgW="2197080" imgH="228600" progId="Equation.DSMT4">
              <p:embed/>
            </p:oleObj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1011971983"/>
              </p:ext>
            </p:extLst>
          </p:nvPr>
        </p:nvGraphicFramePr>
        <p:xfrm>
          <a:off x="611560" y="4841899"/>
          <a:ext cx="6467475" cy="1395413"/>
        </p:xfrm>
        <a:graphic>
          <a:graphicData uri="http://schemas.openxmlformats.org/presentationml/2006/ole">
            <p:oleObj spid="_x0000_s3222" name="Equation" r:id="rId7" imgW="3771720" imgH="81252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=""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323528" y="908720"/>
                <a:ext cx="100811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1" i="1" dirty="0" smtClean="0">
                          <a:solidFill>
                            <a:srgbClr val="000000"/>
                          </a:solidFill>
                          <a:latin typeface="Cambria Math"/>
                          <a:ea typeface="宋体"/>
                        </a:rPr>
                        <m:t>拒绝域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908720"/>
                <a:ext cx="1008112" cy="461665"/>
              </a:xfrm>
              <a:prstGeom prst="rect">
                <a:avLst/>
              </a:prstGeom>
              <a:blipFill rotWithShape="1">
                <a:blip r:embed="rId3"/>
                <a:stretch>
                  <a:fillRect l="-4848" r="-14545" b="-118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1497077276"/>
              </p:ext>
            </p:extLst>
          </p:nvPr>
        </p:nvGraphicFramePr>
        <p:xfrm>
          <a:off x="1062038" y="3060700"/>
          <a:ext cx="2560637" cy="431800"/>
        </p:xfrm>
        <a:graphic>
          <a:graphicData uri="http://schemas.openxmlformats.org/presentationml/2006/ole">
            <p:oleObj spid="_x0000_s11294" name="Equation" r:id="rId4" imgW="952200" imgH="177480" progId="Equation.DSMT4">
              <p:embed/>
            </p:oleObj>
          </a:graphicData>
        </a:graphic>
      </p:graphicFrame>
      <mc:AlternateContent xmlns:mc="http://schemas.openxmlformats.org/markup-compatibility/2006">
        <mc:Choice xmlns="" xmlns:a14="http://schemas.microsoft.com/office/drawing/2010/main" Requires="a14">
          <p:sp>
            <p:nvSpPr>
              <p:cNvPr id="8" name="矩形 7"/>
              <p:cNvSpPr/>
              <p:nvPr/>
            </p:nvSpPr>
            <p:spPr>
              <a:xfrm>
                <a:off x="475928" y="1196752"/>
                <a:ext cx="8416552" cy="9214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dirty="0">
                        <a:solidFill>
                          <a:srgbClr val="000000"/>
                        </a:solidFill>
                        <a:latin typeface="Cambria Math"/>
                        <a:ea typeface="宋体"/>
                      </a:rPr>
                      <m:t>𝐖</m:t>
                    </m:r>
                    <m:r>
                      <a:rPr lang="en-US" altLang="zh-CN" sz="2400" b="1" i="1" dirty="0">
                        <a:solidFill>
                          <a:srgbClr val="000000"/>
                        </a:solidFill>
                        <a:latin typeface="Cambria Math"/>
                        <a:ea typeface="宋体"/>
                      </a:rPr>
                      <m:t>=</m:t>
                    </m:r>
                    <m:d>
                      <m:dPr>
                        <m:ctrlPr>
                          <a:rPr lang="en-US" altLang="zh-CN" sz="2400" b="1" i="1" dirty="0">
                            <a:solidFill>
                              <a:srgbClr val="000000"/>
                            </a:solidFill>
                            <a:latin typeface="Cambria Math"/>
                            <a:ea typeface="宋体"/>
                          </a:rPr>
                        </m:ctrlPr>
                      </m:dPr>
                      <m:e>
                        <m:r>
                          <a:rPr lang="en-US" altLang="zh-CN" sz="2400" b="1" i="1" dirty="0">
                            <a:solidFill>
                              <a:srgbClr val="000000"/>
                            </a:solidFill>
                            <a:latin typeface="Cambria Math"/>
                            <a:ea typeface="宋体"/>
                          </a:rPr>
                          <m:t>−</m:t>
                        </m:r>
                        <m:r>
                          <a:rPr lang="en-US" altLang="zh-CN" sz="2400" b="1" i="1" dirty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∞,−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𝒕</m:t>
                            </m:r>
                          </m:e>
                          <m:sub>
                            <m:f>
                              <m:fPr>
                                <m:type m:val="skw"/>
                                <m:ctrlPr>
                                  <a:rPr lang="en-US" altLang="zh-CN" sz="2400" b="1" i="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2400" b="1" i="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𝜶</m:t>
                                </m:r>
                              </m:num>
                              <m:den>
                                <m:r>
                                  <a:rPr lang="en-US" altLang="zh-CN" sz="2400" b="1" i="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𝟐</m:t>
                                </m:r>
                              </m:den>
                            </m:f>
                          </m:sub>
                        </m:sSub>
                        <m:d>
                          <m:dPr>
                            <m:ctrlPr>
                              <a:rPr lang="en-US" altLang="zh-CN" sz="24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b="1" i="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𝒏</m:t>
                                </m:r>
                              </m:e>
                              <m:sub>
                                <m:r>
                                  <a:rPr lang="en-US" altLang="zh-CN" sz="2400" b="1" i="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sz="24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2400" b="1" i="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𝒏</m:t>
                                </m:r>
                              </m:e>
                              <m:sub>
                                <m:r>
                                  <a:rPr lang="en-US" altLang="zh-CN" sz="2400" b="1" i="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sz="24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−</m:t>
                            </m:r>
                            <m:r>
                              <a:rPr lang="en-US" altLang="zh-CN" sz="24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𝟐</m:t>
                            </m:r>
                          </m:e>
                        </m:d>
                      </m:e>
                    </m:d>
                    <m:r>
                      <a:rPr lang="en-US" altLang="zh-CN" sz="2400" b="1" i="1" dirty="0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∪</m:t>
                    </m:r>
                    <m:d>
                      <m:dPr>
                        <m:ctrlPr>
                          <a:rPr lang="en-US" altLang="zh-CN" sz="2400" b="1" i="1" dirty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𝒕</m:t>
                            </m:r>
                          </m:e>
                          <m:sub>
                            <m:f>
                              <m:fPr>
                                <m:type m:val="skw"/>
                                <m:ctrlPr>
                                  <a:rPr lang="en-US" altLang="zh-CN" sz="2400" b="1" i="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2400" b="1" i="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𝜶</m:t>
                                </m:r>
                              </m:num>
                              <m:den>
                                <m:r>
                                  <a:rPr lang="en-US" altLang="zh-CN" sz="2400" b="1" i="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𝟐</m:t>
                                </m:r>
                              </m:den>
                            </m:f>
                          </m:sub>
                        </m:sSub>
                        <m:d>
                          <m:dPr>
                            <m:ctrlPr>
                              <a:rPr lang="en-US" altLang="zh-CN" sz="24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b="1" i="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𝒏</m:t>
                                </m:r>
                              </m:e>
                              <m:sub>
                                <m:r>
                                  <a:rPr lang="en-US" altLang="zh-CN" sz="2400" b="1" i="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sz="24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2400" b="1" i="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𝒏</m:t>
                                </m:r>
                              </m:e>
                              <m:sub>
                                <m:r>
                                  <a:rPr lang="en-US" altLang="zh-CN" sz="2400" b="1" i="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sz="24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−</m:t>
                            </m:r>
                            <m:r>
                              <a:rPr lang="en-US" altLang="zh-CN" sz="24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𝟐</m:t>
                            </m:r>
                          </m:e>
                        </m:d>
                        <m:r>
                          <a:rPr lang="en-US" altLang="zh-CN" sz="2400" b="1" i="1" dirty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,+∞</m:t>
                        </m:r>
                      </m:e>
                    </m:d>
                  </m:oMath>
                </a14:m>
                <a:r>
                  <a:rPr lang="en-US" altLang="zh-CN" sz="2400" b="1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928" y="1196752"/>
                <a:ext cx="8416552" cy="921406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="" xmlns:a14="http://schemas.microsoft.com/office/drawing/2010/main" Requires="a14">
          <p:sp>
            <p:nvSpPr>
              <p:cNvPr id="11" name="矩形 10"/>
              <p:cNvSpPr/>
              <p:nvPr/>
            </p:nvSpPr>
            <p:spPr>
              <a:xfrm>
                <a:off x="628328" y="2003538"/>
                <a:ext cx="8416552" cy="59157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 dirty="0">
                        <a:solidFill>
                          <a:srgbClr val="000000"/>
                        </a:solidFill>
                        <a:latin typeface="Cambria Math"/>
                        <a:ea typeface="宋体"/>
                      </a:rPr>
                      <m:t>=</m:t>
                    </m:r>
                    <m:d>
                      <m:dPr>
                        <m:ctrlPr>
                          <a:rPr lang="en-US" altLang="zh-CN" sz="2400" b="1" i="1" dirty="0">
                            <a:solidFill>
                              <a:srgbClr val="000000"/>
                            </a:solidFill>
                            <a:latin typeface="Cambria Math"/>
                            <a:ea typeface="宋体"/>
                          </a:rPr>
                        </m:ctrlPr>
                      </m:dPr>
                      <m:e>
                        <m:r>
                          <a:rPr lang="en-US" altLang="zh-CN" sz="2400" b="1" i="1" dirty="0">
                            <a:solidFill>
                              <a:srgbClr val="000000"/>
                            </a:solidFill>
                            <a:latin typeface="Cambria Math"/>
                            <a:ea typeface="宋体"/>
                          </a:rPr>
                          <m:t>−</m:t>
                        </m:r>
                        <m:r>
                          <a:rPr lang="en-US" altLang="zh-CN" sz="2400" b="1" i="1" dirty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∞,−</m:t>
                        </m:r>
                        <m:r>
                          <a:rPr lang="en-US" altLang="zh-CN" sz="2400" b="1" i="1" dirty="0" smtClean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𝟏</m:t>
                        </m:r>
                        <m:r>
                          <a:rPr lang="en-US" altLang="zh-CN" sz="2400" b="1" i="1" dirty="0" smtClean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.</m:t>
                        </m:r>
                        <m:r>
                          <a:rPr lang="en-US" altLang="zh-CN" sz="2400" b="1" i="1" dirty="0" smtClean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𝟕𝟖𝟐</m:t>
                        </m:r>
                      </m:e>
                    </m:d>
                    <m:r>
                      <a:rPr lang="en-US" altLang="zh-CN" sz="2400" b="1" i="1" dirty="0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∪</m:t>
                    </m:r>
                    <m:d>
                      <m:dPr>
                        <m:ctrlPr>
                          <a:rPr lang="en-US" altLang="zh-CN" sz="2400" b="1" i="1" dirty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sz="2400" b="1" i="1" dirty="0" smtClean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𝟏</m:t>
                        </m:r>
                        <m:r>
                          <a:rPr lang="en-US" altLang="zh-CN" sz="2400" b="1" i="1" dirty="0" smtClean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.</m:t>
                        </m:r>
                        <m:r>
                          <a:rPr lang="en-US" altLang="zh-CN" sz="2400" b="1" i="1" dirty="0" smtClean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𝟕𝟖𝟐</m:t>
                        </m:r>
                        <m:r>
                          <a:rPr lang="en-US" altLang="zh-CN" sz="2400" b="1" i="1" dirty="0" smtClean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,   +∞</m:t>
                        </m:r>
                      </m:e>
                    </m:d>
                  </m:oMath>
                </a14:m>
                <a:r>
                  <a:rPr lang="en-US" altLang="zh-CN" sz="2400" b="1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</a:p>
            </p:txBody>
          </p:sp>
        </mc:Choice>
        <mc:Fallback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328" y="2003538"/>
                <a:ext cx="8416552" cy="591572"/>
              </a:xfrm>
              <a:prstGeom prst="rect">
                <a:avLst/>
              </a:prstGeom>
              <a:blipFill rotWithShape="1">
                <a:blip r:embed="rId6"/>
                <a:stretch>
                  <a:fillRect b="-237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/>
          <p:cNvSpPr/>
          <p:nvPr/>
        </p:nvSpPr>
        <p:spPr>
          <a:xfrm>
            <a:off x="475928" y="3557915"/>
            <a:ext cx="8128520" cy="6687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2800" b="1" kern="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拒绝      </a:t>
            </a:r>
            <a:r>
              <a:rPr lang="en-US" altLang="zh-CN" sz="2800" b="1" kern="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endParaRPr lang="zh-CN" altLang="en-US" sz="2400" b="1" dirty="0">
              <a:solidFill>
                <a:prstClr val="black"/>
              </a:solidFill>
              <a:latin typeface="宋体"/>
              <a:ea typeface="宋体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1222296153"/>
              </p:ext>
            </p:extLst>
          </p:nvPr>
        </p:nvGraphicFramePr>
        <p:xfrm>
          <a:off x="925240" y="3756699"/>
          <a:ext cx="812800" cy="493713"/>
        </p:xfrm>
        <a:graphic>
          <a:graphicData uri="http://schemas.openxmlformats.org/presentationml/2006/ole">
            <p:oleObj spid="_x0000_s11295" name="Equation" r:id="rId7" imgW="368280" imgH="228600" progId="Equation.DSMT4">
              <p:embed/>
            </p:oleObj>
          </a:graphicData>
        </a:graphic>
      </p:graphicFrame>
      <mc:AlternateContent xmlns:mc="http://schemas.openxmlformats.org/markup-compatibility/2006">
        <mc:Choice xmlns="" xmlns:a14="http://schemas.microsoft.com/office/drawing/2010/main" Requires="a14">
          <p:sp>
            <p:nvSpPr>
              <p:cNvPr id="14" name="矩形 13"/>
              <p:cNvSpPr/>
              <p:nvPr/>
            </p:nvSpPr>
            <p:spPr>
              <a:xfrm>
                <a:off x="2123728" y="3668831"/>
                <a:ext cx="6921152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50000"/>
                  </a:lnSpc>
                </a:pPr>
                <a:r>
                  <a:rPr lang="zh-CN" altLang="en-US" sz="2400" b="1" dirty="0" smtClean="0">
                    <a:solidFill>
                      <a:prstClr val="black"/>
                    </a:solidFill>
                    <a:latin typeface="宋体"/>
                    <a:ea typeface="宋体"/>
                  </a:rPr>
                  <a:t>即</a:t>
                </a:r>
                <a:r>
                  <a:rPr lang="en-US" altLang="zh-CN" sz="2400" b="1" kern="0" dirty="0" smtClean="0">
                    <a:solidFill>
                      <a:srgbClr val="000000"/>
                    </a:solidFill>
                    <a:latin typeface="宋体"/>
                    <a:ea typeface="宋体"/>
                  </a:rPr>
                  <a:t>70</a:t>
                </a:r>
                <a14:m>
                  <m:oMath xmlns:m="http://schemas.openxmlformats.org/officeDocument/2006/math">
                    <m:r>
                      <a:rPr lang="en-US" altLang="zh-CN" sz="2400" b="1" i="1" kern="0">
                        <a:solidFill>
                          <a:srgbClr val="000000"/>
                        </a:solidFill>
                        <a:latin typeface="Cambria Math"/>
                        <a:ea typeface="+mn-ea"/>
                      </a:rPr>
                      <m:t>℃</m:t>
                    </m:r>
                    <m:r>
                      <a:rPr lang="zh-CN" altLang="en-US" sz="2400" b="1" i="1" kern="0" smtClean="0">
                        <a:solidFill>
                          <a:srgbClr val="000000"/>
                        </a:solidFill>
                        <a:latin typeface="Cambria Math"/>
                        <a:ea typeface="+mn-ea"/>
                      </a:rPr>
                      <m:t>与</m:t>
                    </m:r>
                  </m:oMath>
                </a14:m>
                <a:r>
                  <a:rPr lang="en-US" altLang="zh-CN" sz="2400" b="1" kern="0" dirty="0">
                    <a:solidFill>
                      <a:srgbClr val="000000"/>
                    </a:solidFill>
                    <a:latin typeface="宋体"/>
                    <a:ea typeface="宋体"/>
                  </a:rPr>
                  <a:t>80</a:t>
                </a:r>
                <a14:m>
                  <m:oMath xmlns:m="http://schemas.openxmlformats.org/officeDocument/2006/math">
                    <m:r>
                      <a:rPr lang="en-US" altLang="zh-CN" sz="2400" b="1" i="1" kern="0">
                        <a:solidFill>
                          <a:srgbClr val="000000"/>
                        </a:solidFill>
                        <a:latin typeface="Cambria Math"/>
                        <a:ea typeface="+mn-ea"/>
                      </a:rPr>
                      <m:t>℃</m:t>
                    </m:r>
                    <m:r>
                      <a:rPr lang="zh-CN" altLang="en-US" sz="2400" b="0" i="1" kern="0" smtClean="0">
                        <a:solidFill>
                          <a:srgbClr val="000000"/>
                        </a:solidFill>
                        <a:latin typeface="Cambria Math"/>
                        <a:ea typeface="+mn-ea"/>
                      </a:rPr>
                      <m:t>的</m:t>
                    </m:r>
                  </m:oMath>
                </a14:m>
                <a:r>
                  <a:rPr lang="zh-CN" altLang="en-US" sz="2400" b="1" dirty="0">
                    <a:solidFill>
                      <a:prstClr val="black"/>
                    </a:solidFill>
                    <a:latin typeface="宋体"/>
                    <a:ea typeface="宋体"/>
                  </a:rPr>
                  <a:t>断裂强度</a:t>
                </a:r>
                <a:r>
                  <a:rPr lang="zh-CN" altLang="en-US" sz="2400" b="1" dirty="0" smtClean="0">
                    <a:solidFill>
                      <a:prstClr val="black"/>
                    </a:solidFill>
                    <a:latin typeface="宋体"/>
                    <a:ea typeface="宋体"/>
                  </a:rPr>
                  <a:t>有明显差异</a:t>
                </a:r>
                <a:r>
                  <a:rPr lang="en-US" altLang="zh-CN" sz="2400" b="1" dirty="0" smtClean="0">
                    <a:solidFill>
                      <a:prstClr val="black"/>
                    </a:solidFill>
                    <a:latin typeface="宋体"/>
                    <a:ea typeface="宋体"/>
                  </a:rPr>
                  <a:t>.</a:t>
                </a:r>
                <a:endParaRPr lang="zh-CN" altLang="en-US" sz="2400" b="1" dirty="0">
                  <a:solidFill>
                    <a:prstClr val="black"/>
                  </a:solidFill>
                  <a:latin typeface="宋体"/>
                  <a:ea typeface="宋体"/>
                </a:endParaRPr>
              </a:p>
            </p:txBody>
          </p:sp>
        </mc:Choice>
        <mc:Fallback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3668831"/>
                <a:ext cx="6921152" cy="646331"/>
              </a:xfrm>
              <a:prstGeom prst="rect">
                <a:avLst/>
              </a:prstGeom>
              <a:blipFill rotWithShape="1">
                <a:blip r:embed="rId8"/>
                <a:stretch>
                  <a:fillRect l="-1320" b="-75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="" xmlns:p14="http://schemas.microsoft.com/office/powerpoint/2010/main" val="627974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theme/theme1.xml><?xml version="1.0" encoding="utf-8"?>
<a:theme xmlns:a="http://schemas.openxmlformats.org/drawingml/2006/main" name="6_Notebook">
  <a:themeElements>
    <a:clrScheme name="6_Notebook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6_Notebook">
      <a:majorFont>
        <a:latin typeface="Times New Roman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6_Notebook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Notebook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Notebook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Notebook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Notebook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Notebook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Notebook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Notebook 8">
        <a:dk1>
          <a:srgbClr val="000000"/>
        </a:dk1>
        <a:lt1>
          <a:srgbClr val="FFFFFF"/>
        </a:lt1>
        <a:dk2>
          <a:srgbClr val="A50021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Notebook 9">
        <a:dk1>
          <a:srgbClr val="A50021"/>
        </a:dk1>
        <a:lt1>
          <a:srgbClr val="FFFFFF"/>
        </a:lt1>
        <a:dk2>
          <a:srgbClr val="A50021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8C001B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Notebook 10">
        <a:dk1>
          <a:srgbClr val="A50021"/>
        </a:dk1>
        <a:lt1>
          <a:srgbClr val="FFFFFF"/>
        </a:lt1>
        <a:dk2>
          <a:srgbClr val="A50021"/>
        </a:dk2>
        <a:lt2>
          <a:srgbClr val="808080"/>
        </a:lt2>
        <a:accent1>
          <a:srgbClr val="BBE0E3"/>
        </a:accent1>
        <a:accent2>
          <a:srgbClr val="3333CC"/>
        </a:accent2>
        <a:accent3>
          <a:srgbClr val="FFFFFF"/>
        </a:accent3>
        <a:accent4>
          <a:srgbClr val="8C001B"/>
        </a:accent4>
        <a:accent5>
          <a:srgbClr val="DAEDEF"/>
        </a:accent5>
        <a:accent6>
          <a:srgbClr val="2D2DB9"/>
        </a:accent6>
        <a:hlink>
          <a:srgbClr val="CCCCFF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Notebook 11">
        <a:dk1>
          <a:srgbClr val="000000"/>
        </a:dk1>
        <a:lt1>
          <a:srgbClr val="FFFFFF"/>
        </a:lt1>
        <a:dk2>
          <a:srgbClr val="A50021"/>
        </a:dk2>
        <a:lt2>
          <a:srgbClr val="808080"/>
        </a:lt2>
        <a:accent1>
          <a:srgbClr val="BBE0E3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B9"/>
        </a:accent6>
        <a:hlink>
          <a:srgbClr val="009999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龙腾四海">
  <a:themeElements>
    <a:clrScheme name="龙腾四海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龙腾四海">
      <a:majorFont>
        <a:latin typeface="Maiandra GD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중고딕"/>
        <a:font script="Hans" typeface="隶书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ambria"/>
        <a:ea typeface=""/>
        <a:cs typeface=""/>
        <a:font script="Jpan" typeface="ＭＳ Ｐ明朝"/>
        <a:font script="Hang" typeface="HY견명조"/>
        <a:font script="Hans" typeface="华文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龙腾四海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2519</TotalTime>
  <Words>79</Words>
  <Application>Microsoft Office PowerPoint</Application>
  <PresentationFormat>全屏显示(4:3)</PresentationFormat>
  <Paragraphs>39</Paragraphs>
  <Slides>11</Slides>
  <Notes>2</Notes>
  <HiddenSlides>0</HiddenSlides>
  <MMClips>0</MMClips>
  <ScaleCrop>false</ScaleCrop>
  <HeadingPairs>
    <vt:vector size="6" baseType="variant">
      <vt:variant>
        <vt:lpstr>主题</vt:lpstr>
      </vt:variant>
      <vt:variant>
        <vt:i4>3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6_Notebook</vt:lpstr>
      <vt:lpstr>1_Office 主题​​</vt:lpstr>
      <vt:lpstr>龙腾四海</vt:lpstr>
      <vt:lpstr>Equation</vt:lpstr>
      <vt:lpstr>MathType 6.0 Equation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郑伟</dc:creator>
  <cp:lastModifiedBy>dell</cp:lastModifiedBy>
  <cp:revision>334</cp:revision>
  <dcterms:modified xsi:type="dcterms:W3CDTF">2022-05-17T03:19:30Z</dcterms:modified>
</cp:coreProperties>
</file>