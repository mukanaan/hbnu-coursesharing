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udio/unknown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16"/>
  </p:notesMasterIdLst>
  <p:sldIdLst>
    <p:sldId id="259" r:id="rId3"/>
    <p:sldId id="272" r:id="rId4"/>
    <p:sldId id="280" r:id="rId5"/>
    <p:sldId id="278" r:id="rId6"/>
    <p:sldId id="285" r:id="rId7"/>
    <p:sldId id="266" r:id="rId8"/>
    <p:sldId id="267" r:id="rId9"/>
    <p:sldId id="286" r:id="rId10"/>
    <p:sldId id="281" r:id="rId11"/>
    <p:sldId id="270" r:id="rId12"/>
    <p:sldId id="282" r:id="rId13"/>
    <p:sldId id="284" r:id="rId14"/>
    <p:sldId id="283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944A3"/>
    <a:srgbClr val="202AEC"/>
    <a:srgbClr val="FFCC66"/>
    <a:srgbClr val="FFCCCC"/>
    <a:srgbClr val="E6E48E"/>
    <a:srgbClr val="4E10FC"/>
    <a:srgbClr val="4110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21" autoAdjust="0"/>
    <p:restoredTop sz="90992" autoAdjust="0"/>
  </p:normalViewPr>
  <p:slideViewPr>
    <p:cSldViewPr>
      <p:cViewPr>
        <p:scale>
          <a:sx n="70" d="100"/>
          <a:sy n="70" d="100"/>
        </p:scale>
        <p:origin x="-1572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2190996-90B4-4C5B-B55B-F9C5A167F032}" type="datetimeFigureOut">
              <a:rPr lang="zh-CN" altLang="en-US"/>
              <a:pPr>
                <a:defRPr/>
              </a:pPr>
              <a:t>2021-11-15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2A2EFE2-0780-46E8-A324-701C3E367E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007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8546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85464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111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474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113337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581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0616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8169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0654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297693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423444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6951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0009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1DF6C85-580E-49AA-8C0F-7282E851D184}" type="datetimeFigureOut">
              <a:rPr lang="en-US" smtClean="0"/>
              <a:pPr eaLnBrk="1" latinLnBrk="0" hangingPunct="1"/>
              <a:t>11/15/2021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434A-1094-4C26-ADA4-1AB6210859AE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DRLC03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 descr="BJ1180"/>
          <p:cNvSpPr>
            <a:spLocks noChangeArrowheads="1"/>
          </p:cNvSpPr>
          <p:nvPr/>
        </p:nvSpPr>
        <p:spPr bwMode="auto">
          <a:xfrm>
            <a:off x="479425" y="131763"/>
            <a:ext cx="8450263" cy="655320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8" name="Rectangle 4" descr="BJ1180"/>
          <p:cNvSpPr>
            <a:spLocks noChangeArrowheads="1"/>
          </p:cNvSpPr>
          <p:nvPr/>
        </p:nvSpPr>
        <p:spPr bwMode="auto">
          <a:xfrm>
            <a:off x="331788" y="136525"/>
            <a:ext cx="150812" cy="15875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9" name="Rectangle 5" descr="BJ1180"/>
          <p:cNvSpPr>
            <a:spLocks noChangeArrowheads="1"/>
          </p:cNvSpPr>
          <p:nvPr/>
        </p:nvSpPr>
        <p:spPr bwMode="auto">
          <a:xfrm>
            <a:off x="323850" y="519113"/>
            <a:ext cx="150813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0" name="Rectangle 6" descr="BJ1180"/>
          <p:cNvSpPr>
            <a:spLocks noChangeArrowheads="1"/>
          </p:cNvSpPr>
          <p:nvPr/>
        </p:nvSpPr>
        <p:spPr bwMode="auto">
          <a:xfrm>
            <a:off x="323850" y="11207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1" name="Rectangle 7" descr="BJ1180"/>
          <p:cNvSpPr>
            <a:spLocks noChangeArrowheads="1"/>
          </p:cNvSpPr>
          <p:nvPr/>
        </p:nvSpPr>
        <p:spPr bwMode="auto">
          <a:xfrm>
            <a:off x="323850" y="2292350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2" name="Rectangle 8" descr="BJ1180"/>
          <p:cNvSpPr>
            <a:spLocks noChangeArrowheads="1"/>
          </p:cNvSpPr>
          <p:nvPr/>
        </p:nvSpPr>
        <p:spPr bwMode="auto">
          <a:xfrm>
            <a:off x="325438" y="28860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3" name="Rectangle 9" descr="BJ1180"/>
          <p:cNvSpPr>
            <a:spLocks noChangeArrowheads="1"/>
          </p:cNvSpPr>
          <p:nvPr/>
        </p:nvSpPr>
        <p:spPr bwMode="auto">
          <a:xfrm>
            <a:off x="325438" y="3479800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4" name="Rectangle 10" descr="BJ1180"/>
          <p:cNvSpPr>
            <a:spLocks noChangeArrowheads="1"/>
          </p:cNvSpPr>
          <p:nvPr/>
        </p:nvSpPr>
        <p:spPr bwMode="auto">
          <a:xfrm>
            <a:off x="325438" y="465613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5" name="Rectangle 11" descr="BJ1180"/>
          <p:cNvSpPr>
            <a:spLocks noChangeArrowheads="1"/>
          </p:cNvSpPr>
          <p:nvPr/>
        </p:nvSpPr>
        <p:spPr bwMode="auto">
          <a:xfrm>
            <a:off x="320675" y="52482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6" name="Rectangle 12" descr="BJ1180"/>
          <p:cNvSpPr>
            <a:spLocks noChangeArrowheads="1"/>
          </p:cNvSpPr>
          <p:nvPr/>
        </p:nvSpPr>
        <p:spPr bwMode="auto">
          <a:xfrm>
            <a:off x="319088" y="58451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7" name="Rectangle 13" descr="BJ1180"/>
          <p:cNvSpPr>
            <a:spLocks noChangeArrowheads="1"/>
          </p:cNvSpPr>
          <p:nvPr/>
        </p:nvSpPr>
        <p:spPr bwMode="auto">
          <a:xfrm>
            <a:off x="323850" y="6419850"/>
            <a:ext cx="150813" cy="269875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8" name="Rectangle 14" descr="BJ1180"/>
          <p:cNvSpPr>
            <a:spLocks noChangeArrowheads="1"/>
          </p:cNvSpPr>
          <p:nvPr/>
        </p:nvSpPr>
        <p:spPr bwMode="auto">
          <a:xfrm>
            <a:off x="331788" y="406558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9" name="Rectangle 15" descr="BJ1180"/>
          <p:cNvSpPr>
            <a:spLocks noChangeArrowheads="1"/>
          </p:cNvSpPr>
          <p:nvPr/>
        </p:nvSpPr>
        <p:spPr bwMode="auto">
          <a:xfrm>
            <a:off x="323850" y="1698625"/>
            <a:ext cx="150813" cy="36671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7696200" cy="114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6586538" y="63119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2" name="Picture 18">
            <a:hlinkClick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2798" b="-66667"/>
          <a:stretch>
            <a:fillRect/>
          </a:stretch>
        </p:blipFill>
        <p:spPr bwMode="auto">
          <a:xfrm>
            <a:off x="6483350" y="6286500"/>
            <a:ext cx="4651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20"/>
          <p:cNvSpPr>
            <a:spLocks noChangeArrowheads="1"/>
          </p:cNvSpPr>
          <p:nvPr/>
        </p:nvSpPr>
        <p:spPr bwMode="auto">
          <a:xfrm>
            <a:off x="6986588" y="633412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4" name="Rectangle 21"/>
          <p:cNvSpPr>
            <a:spLocks noChangeArrowheads="1"/>
          </p:cNvSpPr>
          <p:nvPr/>
        </p:nvSpPr>
        <p:spPr bwMode="auto">
          <a:xfrm>
            <a:off x="7362825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5" name="Rectangle 22"/>
          <p:cNvSpPr>
            <a:spLocks noChangeArrowheads="1"/>
          </p:cNvSpPr>
          <p:nvPr/>
        </p:nvSpPr>
        <p:spPr bwMode="auto">
          <a:xfrm>
            <a:off x="7747000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6" name="Rectangle 23"/>
          <p:cNvSpPr>
            <a:spLocks noChangeArrowheads="1"/>
          </p:cNvSpPr>
          <p:nvPr/>
        </p:nvSpPr>
        <p:spPr bwMode="auto">
          <a:xfrm>
            <a:off x="8154988" y="63500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7" name="Rectangle 24"/>
          <p:cNvSpPr>
            <a:spLocks noChangeArrowheads="1"/>
          </p:cNvSpPr>
          <p:nvPr/>
        </p:nvSpPr>
        <p:spPr bwMode="auto">
          <a:xfrm>
            <a:off x="8515350" y="63658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8" name="Picture 25">
            <a:hlinkClick r:id="" action="ppaction://hlinkshowjump?jump=lastslideviewed" highlightClick="1"/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7678" b="-69908"/>
          <a:stretch>
            <a:fillRect/>
          </a:stretch>
        </p:blipFill>
        <p:spPr bwMode="auto">
          <a:xfrm>
            <a:off x="7642225" y="6275388"/>
            <a:ext cx="38576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9" name="Picture 26">
            <a:hlinkClick r:id="" action="ppaction://hlinkshowjump?jump=endshow" highlightClick="1"/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1548" b="-71297"/>
          <a:stretch>
            <a:fillRect/>
          </a:stretch>
        </p:blipFill>
        <p:spPr bwMode="auto">
          <a:xfrm>
            <a:off x="8023225" y="6270625"/>
            <a:ext cx="365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0" name="Picture 27">
            <a:hlinkClick r:id="" action="ppaction://hlinkshowjump?jump=nextslide" highlightClick="1"/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3810" b="-69908"/>
          <a:stretch>
            <a:fillRect/>
          </a:stretch>
        </p:blipFill>
        <p:spPr bwMode="auto">
          <a:xfrm>
            <a:off x="7261225" y="6275388"/>
            <a:ext cx="406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1" name="Picture 28">
            <a:hlinkClick r:id="" action="ppaction://hlinkshowjump?jump=previousslide" highlightClick="1"/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9048" b="-70833"/>
          <a:stretch>
            <a:fillRect/>
          </a:stretch>
        </p:blipFill>
        <p:spPr bwMode="auto">
          <a:xfrm>
            <a:off x="6877050" y="6272213"/>
            <a:ext cx="431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2" name="Picture 29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-71759"/>
          <a:stretch>
            <a:fillRect/>
          </a:stretch>
        </p:blipFill>
        <p:spPr bwMode="auto">
          <a:xfrm>
            <a:off x="8396288" y="6269038"/>
            <a:ext cx="352425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2987-CD27-4AB6-B5EE-BBB2825D6C9B}" type="datetimeFigureOut">
              <a:rPr lang="en-US" smtClean="0"/>
              <a:pPr/>
              <a:t>11/15/2021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6937C-4296-4F09-BFBF-208432D16C49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&#27010;&#29575;&#31532;&#19968;&#31456;/&#27010;&#29575;1-1.ppt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&#27010;&#29575;&#31532;&#19968;&#31456;/&#27010;&#29575;1-5.ppt" TargetMode="External"/><Relationship Id="rId4" Type="http://schemas.openxmlformats.org/officeDocument/2006/relationships/hyperlink" Target="&#27010;&#29575;&#31532;&#19968;&#31456;/&#27010;&#29575;1-3.pp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6" descr="f010">
            <a:hlinkClick r:id="rId2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" y="2405063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785813" y="620713"/>
            <a:ext cx="807243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4000" b="1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第八章  假设检验</a:t>
            </a:r>
          </a:p>
        </p:txBody>
      </p:sp>
      <p:pic>
        <p:nvPicPr>
          <p:cNvPr id="8197" name="Picture 31" descr="f010">
            <a:hlinkClick r:id="rId4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" y="3071813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33" descr="f010">
            <a:hlinkClick r:id="rId5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" y="4500563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灯片编号占位符 15"/>
          <p:cNvSpPr>
            <a:spLocks noGrp="1"/>
          </p:cNvSpPr>
          <p:nvPr>
            <p:ph type="sldNum" sz="quarter" idx="12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20242CD-21A6-4B80-AAE7-02543FCB43B1}" type="slidenum">
              <a:rPr lang="zh-CN" altLang="en-US"/>
              <a:pPr eaLnBrk="1" hangingPunct="1"/>
              <a:t>1</a:t>
            </a:fld>
            <a:endParaRPr lang="zh-CN" altLang="en-US"/>
          </a:p>
        </p:txBody>
      </p:sp>
      <p:pic>
        <p:nvPicPr>
          <p:cNvPr id="8202" name="Picture 33" descr="f010">
            <a:hlinkClick r:id="rId5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" y="3786188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1187450" y="2205038"/>
            <a:ext cx="733425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b="1" dirty="0">
                <a:latin typeface="华文新魏" pitchFamily="2" charset="-122"/>
                <a:ea typeface="华文新魏" pitchFamily="2" charset="-122"/>
              </a:rPr>
              <a:t>第一节  参数假设检验的问题与方法</a:t>
            </a:r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1187450" y="2924175"/>
            <a:ext cx="6872288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b="1" dirty="0">
                <a:latin typeface="华文新魏" pitchFamily="2" charset="-122"/>
                <a:ea typeface="华文新魏" pitchFamily="2" charset="-122"/>
              </a:rPr>
              <a:t>第二节  正态总体均值的假设检验</a:t>
            </a:r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1187450" y="3644900"/>
            <a:ext cx="6872288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b="1" dirty="0">
                <a:latin typeface="华文新魏" pitchFamily="2" charset="-122"/>
                <a:ea typeface="华文新魏" pitchFamily="2" charset="-122"/>
              </a:rPr>
              <a:t>第三节  正态总体方差的假设检验</a:t>
            </a:r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1187450" y="4437063"/>
            <a:ext cx="364013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b="1" dirty="0">
                <a:latin typeface="华文新魏" pitchFamily="2" charset="-122"/>
                <a:ea typeface="华文新魏" pitchFamily="2" charset="-122"/>
              </a:rPr>
              <a:t>第四节  单边检验</a:t>
            </a:r>
            <a:endParaRPr lang="en-US" altLang="zh-CN" sz="3600" b="1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/>
      <p:bldP spid="8208" grpId="0"/>
      <p:bldP spid="8210" grpId="0"/>
      <p:bldP spid="82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41886" y="463697"/>
            <a:ext cx="7537649" cy="132343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      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统计推断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包含两种类型的问题：参数估计和假设检验，这一章我们讨论假设检验的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问题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.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081" name="Text Box 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00715" y="1844824"/>
            <a:ext cx="7344816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 smtClean="0">
                <a:latin typeface="+mn-ea"/>
                <a:ea typeface="+mn-ea"/>
              </a:rPr>
              <a:t>   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为了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推断总体的某些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性质，提出关于总体的各种假设称为统计假设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假设检验就是根据样本提供的信息对所提出的假设做出判断：是接受，还是拒绝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假设检验如果是对总体参数提出的，称为参数假设检验，否则称为非参数假设检验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98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584561" y="1628800"/>
                <a:ext cx="7993508" cy="4464496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eaLnBrk="1" hangingPunct="1">
                  <a:lnSpc>
                    <a:spcPct val="160000"/>
                  </a:lnSpc>
                  <a:spcBef>
                    <a:spcPts val="0"/>
                  </a:spcBef>
                  <a:buFontTx/>
                  <a:buNone/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引例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味精厂用一台包装机自动包装味精，包得的袋装味精重量服从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𝑵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r>
                      <a:rPr lang="zh-CN" altLang="en-US" sz="2800" b="1" i="1" smtClean="0">
                        <a:latin typeface="Cambria Math"/>
                      </a:rPr>
                      <m:t>𝝁</m:t>
                    </m:r>
                    <m:r>
                      <a:rPr lang="en-US" altLang="zh-CN" sz="2800" b="1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zh-CN" altLang="en-US" sz="2800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 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当机器正常时，其均值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  <m:r>
                      <a:rPr lang="en-US" altLang="zh-CN" sz="2800" b="1" i="1" smtClean="0">
                        <a:latin typeface="Cambria Math"/>
                      </a:rPr>
                      <m:t>.</m:t>
                    </m:r>
                    <m:r>
                      <a:rPr lang="en-US" altLang="zh-CN" sz="2800" b="1" i="1" smtClean="0">
                        <a:latin typeface="Cambria Math"/>
                      </a:rPr>
                      <m:t>𝟓</m:t>
                    </m:r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Kg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，标准差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  <m:r>
                      <a:rPr lang="en-US" altLang="zh-CN" sz="2800" b="1" i="1" smtClean="0">
                        <a:latin typeface="Cambria Math"/>
                      </a:rPr>
                      <m:t>.</m:t>
                    </m:r>
                    <m:r>
                      <a:rPr lang="en-US" altLang="zh-CN" sz="2800" b="1" i="1" smtClean="0">
                        <a:latin typeface="Cambria Math"/>
                      </a:rPr>
                      <m:t>𝟎𝟏𝟓</m:t>
                    </m:r>
                    <m:r>
                      <m:rPr>
                        <m:nor/>
                      </m:rPr>
                      <a:rPr lang="en-US" altLang="zh-CN" sz="2800" b="1" dirty="0" smtClean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Kg</m:t>
                    </m:r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某日开工后随机地抽取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9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袋味精，称得重量（单位：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b="1" dirty="0" smtClean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Kg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）为：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0.497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0.506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0.518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0.524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0.498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0.511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0.520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0.515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0.512.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问这台包装机是否正常？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indent="0" eaLnBrk="1" hangingPunct="1">
                  <a:lnSpc>
                    <a:spcPct val="160000"/>
                  </a:lnSpc>
                  <a:buFontTx/>
                  <a:buNone/>
                </a:pPr>
                <a:r>
                  <a:rPr lang="zh-CN" altLang="en-US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 indent="0" eaLnBrk="1" hangingPunct="1">
                  <a:lnSpc>
                    <a:spcPct val="160000"/>
                  </a:lnSpc>
                  <a:buFontTx/>
                  <a:buNone/>
                </a:pPr>
                <a:r>
                  <a:rPr lang="en-US" altLang="zh-CN" sz="28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zh-CN" altLang="en-US" sz="2800" b="0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40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84561" y="1628800"/>
                <a:ext cx="7993508" cy="4464496"/>
              </a:xfrm>
              <a:blipFill rotWithShape="1">
                <a:blip r:embed="rId2"/>
                <a:stretch>
                  <a:fillRect l="-1602" r="-1526" b="-13506"/>
                </a:stretch>
              </a:blipFill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169218" y="476672"/>
            <a:ext cx="6734175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第一节  参数假设检验的问题与方法</a:t>
            </a:r>
            <a:endParaRPr lang="zh-CN" altLang="en-US" sz="32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467544" y="1340768"/>
            <a:ext cx="81375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3796" name="Text Box 4"/>
              <p:cNvSpPr txBox="1">
                <a:spLocks noChangeArrowheads="1"/>
              </p:cNvSpPr>
              <p:nvPr/>
            </p:nvSpPr>
            <p:spPr bwMode="auto">
              <a:xfrm>
                <a:off x="755650" y="890131"/>
                <a:ext cx="7416750" cy="455509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kumimoji="1" lang="zh-CN" altLang="en-US" sz="2400" b="1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/>
                </a: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现在的问题是，如何根据样本观测值来判断总体均值</a:t>
                </a:r>
                <a14:m>
                  <m:oMath xmlns:m="http://schemas.openxmlformats.org/officeDocument/2006/math">
                    <m:r>
                      <a:rPr kumimoji="1" lang="zh-CN" altLang="en-US" sz="2800" b="1" i="1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𝝁</m:t>
                    </m:r>
                  </m:oMath>
                </a14:m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𝟎</m:t>
                    </m:r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altLang="zh-CN" sz="2800" b="1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Kg</a:t>
                </a:r>
                <a:r>
                  <a:rPr lang="zh-CN" altLang="en-US" sz="2800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为此，我们提出假设</a:t>
                </a:r>
                <a:r>
                  <a:rPr lang="en-US" altLang="zh-CN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sSubPr>
                      <m:e>
                        <m:r>
                          <a:rPr lang="en-US" altLang="zh-CN" sz="28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kern="0" smtClean="0">
                        <a:solidFill>
                          <a:srgbClr val="000000"/>
                        </a:solidFill>
                        <a:latin typeface="Cambria Math"/>
                      </a:rPr>
                      <m:t>𝝁</m:t>
                    </m:r>
                    <m:r>
                      <a:rPr lang="en-US" altLang="zh-CN" sz="2800" b="1" i="1" kern="0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𝟎</m:t>
                    </m:r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称它为</a:t>
                </a:r>
                <a:r>
                  <a:rPr kumimoji="1"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原假设</a:t>
                </a: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或零假设</a:t>
                </a:r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与这个假设相对应的假设是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800" b="1" i="1" dirty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𝝁</m:t>
                    </m:r>
                    <m:r>
                      <a:rPr kumimoji="1" lang="zh-CN" altLang="en-US" sz="2800" b="1" i="1" dirty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≠</m:t>
                    </m:r>
                    <m:sSub>
                      <m:sSubPr>
                        <m:ctrlPr>
                          <a:rPr kumimoji="1"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zh-CN" altLang="en-US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𝝁</m:t>
                        </m:r>
                      </m:e>
                      <m:sub>
                        <m:r>
                          <a:rPr kumimoji="1"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，称它为</a:t>
                </a:r>
                <a:r>
                  <a:rPr kumimoji="1"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备择假设</a:t>
                </a:r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于是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问题转化</a:t>
                </a: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是否为真</a:t>
                </a:r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为真，则认为机器正常，否则认为机器不正常</a:t>
                </a:r>
                <a:r>
                  <a:rPr kumimoji="1"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kumimoji="1" lang="zh-CN" altLang="en-US" sz="2800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379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650" y="890131"/>
                <a:ext cx="7416750" cy="4555093"/>
              </a:xfrm>
              <a:prstGeom prst="rect">
                <a:avLst/>
              </a:prstGeom>
              <a:blipFill rotWithShape="1">
                <a:blip r:embed="rId3"/>
                <a:stretch>
                  <a:fillRect l="-1726" r="-1233" b="-2811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nimBg="1"/>
      <p:bldP spid="3379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733946" y="1196752"/>
                <a:ext cx="7416750" cy="39087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 smtClean="0">
                    <a:latin typeface="+mn-ea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我们的任务就是根据样本对假设做出判断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为真时，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𝑿</m:t>
                        </m:r>
                      </m:e>
                    </m:acc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观测值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/>
                          </a:rPr>
                          <m:t>𝒙</m:t>
                        </m:r>
                      </m:e>
                    </m:acc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应落在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的附近，偏差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US" altLang="zh-CN" sz="2800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应很小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过分大时，我们就应当怀疑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不正确而拒绝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如何给出一个明确的数量界限，以便确认偏差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是否过大呢？</a:t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6" y="1196752"/>
                <a:ext cx="7416750" cy="3908762"/>
              </a:xfrm>
              <a:prstGeom prst="rect">
                <a:avLst/>
              </a:prstGeom>
              <a:blipFill rotWithShape="1">
                <a:blip r:embed="rId3"/>
                <a:stretch>
                  <a:fillRect l="-1643" r="-1890" b="-32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02296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899592" y="1149381"/>
                <a:ext cx="7488832" cy="5159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为真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时，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𝑿</m:t>
                        </m:r>
                      </m:e>
                    </m:acc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~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𝑵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𝝈</m:t>
                                </m:r>
                              </m:e>
                              <m:sup>
                                <m: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den>
                        </m:f>
                      </m:e>
                    </m:d>
                    <m:r>
                      <a:rPr lang="zh-CN" altLang="en-US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400" i="1" dirty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zh-CN" altLang="en-US" sz="2400" i="1" dirty="0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都是已知常数，所以统计量</a:t>
                </a:r>
                <a:endParaRPr lang="en-US" altLang="zh-CN" sz="24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~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𝑁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(0,1)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zh-CN" altLang="en-US" sz="2400" dirty="0" smtClean="0"/>
                  <a:t>给定实数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</a:rPr>
                      <m:t>𝛼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0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zh-CN" altLang="en-US" sz="2400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&lt;1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zh-CN" altLang="en-US" sz="2400" b="0" dirty="0" smtClean="0">
                    <a:ea typeface="Cambria Math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𝑢</m:t>
                        </m:r>
                      </m:e>
                      <m:sub>
                        <m:r>
                          <a:rPr lang="zh-CN" altLang="en-US" sz="2400" b="0" i="1" dirty="0" smtClean="0">
                            <a:latin typeface="Cambria Math"/>
                            <a:ea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400" b="0" dirty="0" smtClean="0">
                    <a:ea typeface="Cambria Math"/>
                  </a:rPr>
                  <a:t>为标准正态分布的上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zh-CN" altLang="en-US" sz="2400" b="0" dirty="0" smtClean="0">
                    <a:ea typeface="Cambria Math"/>
                  </a:rPr>
                  <a:t>分位数，则</a:t>
                </a:r>
                <a:endParaRPr lang="en-US" altLang="zh-CN" sz="2400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zh-CN" altLang="en-US" sz="2400" b="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,</m:t>
                      </m:r>
                    </m:oMath>
                  </m:oMathPara>
                </a14:m>
                <a:endParaRPr lang="en-US" altLang="zh-CN" sz="2400" b="0" dirty="0" smtClean="0">
                  <a:ea typeface="Cambria Math"/>
                </a:endParaRPr>
              </a:p>
              <a:p>
                <a:r>
                  <a:rPr lang="zh-CN" altLang="en-US" sz="2400" dirty="0">
                    <a:ea typeface="Cambria Math"/>
                  </a:rPr>
                  <a:t>由于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zh-CN" altLang="en-US" sz="2400" b="0" dirty="0" smtClean="0">
                    <a:ea typeface="Cambria Math"/>
                  </a:rPr>
                  <a:t>通常是一个较小的数，所以事件</a:t>
                </a:r>
                <a:endParaRPr lang="en-US" altLang="zh-CN" sz="2400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0" dirty="0" smtClean="0">
                  <a:ea typeface="Cambria Math"/>
                </a:endParaRPr>
              </a:p>
              <a:p>
                <a:endParaRPr lang="en-US" altLang="zh-CN" sz="2400" b="0" dirty="0" smtClean="0">
                  <a:ea typeface="Cambria Math"/>
                </a:endParaRPr>
              </a:p>
              <a:p>
                <a:endParaRPr lang="en-US" altLang="zh-CN" sz="2400" dirty="0" smtClean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149381"/>
                <a:ext cx="7488832" cy="5159939"/>
              </a:xfrm>
              <a:prstGeom prst="rect">
                <a:avLst/>
              </a:prstGeom>
              <a:blipFill rotWithShape="1">
                <a:blip r:embed="rId2"/>
                <a:stretch>
                  <a:fillRect l="-1303" r="-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TextBox 11"/>
              <p:cNvSpPr txBox="1"/>
              <p:nvPr/>
            </p:nvSpPr>
            <p:spPr>
              <a:xfrm>
                <a:off x="827584" y="1305639"/>
                <a:ext cx="7776864" cy="4787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是一个由样本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构成的小概率事件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就是根据样本观测值确认小概率事件是否已发生的数量界限</a:t>
                </a:r>
                <a:r>
                  <a:rPr lang="en-US" altLang="zh-CN" sz="2400" dirty="0" smtClean="0">
                    <a:solidFill>
                      <a:prstClr val="black"/>
                    </a:solidFill>
                    <a:ea typeface="Cambria Math"/>
                  </a:rPr>
                  <a:t>.</a:t>
                </a:r>
              </a:p>
              <a:p>
                <a:pPr lvl="0"/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将统计量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𝑼</m:t>
                    </m:r>
                    <m:r>
                      <a:rPr lang="zh-CN" altLang="en-US" sz="2800" b="1" i="1" smtClean="0">
                        <a:latin typeface="Cambria Math"/>
                      </a:rPr>
                      <m:t>的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观测值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/>
                      </a:rPr>
                      <m:t>𝒖</m:t>
                    </m:r>
                    <m:r>
                      <a:rPr lang="en-US" altLang="zh-CN" sz="2800" b="1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rad>
                      </m:num>
                      <m:den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𝝈</m:t>
                        </m:r>
                      </m:den>
                    </m:f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</a:rPr>
                      <m:t>与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相比较，当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altLang="zh-CN" sz="2800" b="1" i="1" smtClean="0">
                        <a:latin typeface="Cambria Math"/>
                        <a:ea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时，说明小概率事件在一次试验中发生了，这就与小概率事件在一次试验中不可能发生的原理相矛盾，因而认为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不真而拒绝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；若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，则一次试验的结果与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为真并无矛盾，因此没有理由拒绝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，于是接受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2800" b="1" i="0" kern="0" smtClea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altLang="zh-CN" sz="2800" b="1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305639"/>
                <a:ext cx="7776864" cy="4787657"/>
              </a:xfrm>
              <a:prstGeom prst="rect">
                <a:avLst/>
              </a:prstGeom>
              <a:blipFill rotWithShape="1">
                <a:blip r:embed="rId2"/>
                <a:stretch>
                  <a:fillRect l="-1647" t="-1272" r="-6196" b="-2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TextBox 12"/>
              <p:cNvSpPr txBox="1"/>
              <p:nvPr/>
            </p:nvSpPr>
            <p:spPr>
              <a:xfrm>
                <a:off x="843831" y="1124744"/>
                <a:ext cx="7976641" cy="5219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b="1" dirty="0" smtClean="0"/>
                  <a:t>引例中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accPr>
                      <m:e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=0.511,</a:t>
                </a:r>
                <a:r>
                  <a:rPr lang="zh-CN" altLang="en-US" sz="2400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14:m>
                  <m:oMath xmlns:m="http://schemas.openxmlformats.org/officeDocument/2006/math">
                    <m:r>
                      <a:rPr lang="zh-CN" altLang="en-US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𝜶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𝟎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.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𝟎𝟓</m:t>
                    </m:r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，</a:t>
                </a:r>
                <a:r>
                  <a:rPr lang="en-US" altLang="zh-CN" sz="2400" b="1" dirty="0">
                    <a:solidFill>
                      <a:srgbClr val="000000"/>
                    </a:solidFill>
                    <a:ea typeface="Cambria Math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CN" altLang="en-US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=1.96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𝒏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𝟗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,</m:t>
                    </m:r>
                    <m:r>
                      <a:rPr lang="zh-CN" altLang="en-US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𝝈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𝟎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.</m:t>
                    </m:r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𝟎𝟏𝟓</m:t>
                    </m:r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因而</a:t>
                </a:r>
                <a:endParaRPr lang="en-US" altLang="zh-CN" sz="2400" b="1" kern="0" dirty="0" smtClean="0">
                  <a:solidFill>
                    <a:srgbClr val="000000"/>
                  </a:solidFill>
                  <a:latin typeface="+mn-lt"/>
                  <a:ea typeface="宋体"/>
                </a:endParaRP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400" b="1" kern="0" dirty="0">
                    <a:solidFill>
                      <a:srgbClr val="000000"/>
                    </a:solidFill>
                    <a:latin typeface="+mn-lt"/>
                    <a:ea typeface="宋体"/>
                  </a:rPr>
                  <a:t/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/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e>
                            </m:rad>
                          </m:num>
                          <m:den>
                            <m:r>
                              <a:rPr lang="zh-CN" altLang="en-US" sz="24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𝝈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1" i="1" kern="0" dirty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fPr>
                          <m:num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𝟎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.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𝟓𝟏𝟏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−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𝟎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.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𝟎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.</m:t>
                            </m:r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𝟎𝟏𝟓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 kern="0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𝟗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=2.2</a:t>
                </a:r>
                <a14:m>
                  <m:oMath xmlns:m="http://schemas.openxmlformats.org/officeDocument/2006/math">
                    <m:r>
                      <a:rPr lang="en-US" altLang="zh-CN" sz="2400" b="1" i="1" kern="0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&gt;</m:t>
                    </m:r>
                    <m:r>
                      <a:rPr lang="en-US" altLang="zh-CN" sz="2400" b="1" i="1" kern="0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altLang="zh-CN" sz="2400" b="1" i="1" kern="0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zh-CN" sz="2400" b="1" i="1" kern="0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𝟗𝟔</m:t>
                    </m:r>
                    <m:r>
                      <a:rPr lang="en-US" altLang="zh-CN" sz="2400" b="1" i="1" kern="0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CN" altLang="en-US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，</a:t>
                </a:r>
                <a:endParaRPr lang="en-US" altLang="zh-CN" sz="2400" b="1" kern="0" dirty="0">
                  <a:solidFill>
                    <a:srgbClr val="000000"/>
                  </a:solidFill>
                  <a:latin typeface="+mn-lt"/>
                  <a:ea typeface="宋体"/>
                </a:endParaRP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小概率事件居然发生了，这与实际推断原理相矛盾，</a:t>
                </a:r>
                <a:endParaRPr lang="en-US" altLang="zh-CN" sz="2400" b="1" kern="0" dirty="0" smtClean="0">
                  <a:solidFill>
                    <a:srgbClr val="000000"/>
                  </a:solidFill>
                  <a:latin typeface="+mn-lt"/>
                  <a:ea typeface="宋体"/>
                </a:endParaRP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故拒绝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，即认为抽取的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9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lt"/>
                    <a:ea typeface="宋体"/>
                  </a:rPr>
                  <a:t>袋味精不是来自正态总体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𝑵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𝟎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𝟓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𝟎𝟏𝟓</m:t>
                        </m:r>
                      </m:e>
                      <m:sup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，这天包装机工作不正常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. </a:t>
                </a:r>
                <a:endParaRPr lang="en-US" altLang="zh-CN" sz="2400" b="1" kern="0" dirty="0" smtClean="0">
                  <a:solidFill>
                    <a:srgbClr val="000000"/>
                  </a:solidFill>
                  <a:latin typeface="+mn-lt"/>
                  <a:ea typeface="宋体"/>
                </a:endParaRPr>
              </a:p>
              <a:p>
                <a:pPr marL="342900" lvl="0" indent="-342900">
                  <a:spcBef>
                    <a:spcPct val="20000"/>
                  </a:spcBef>
                </a:pPr>
                <a:endParaRPr lang="en-US" altLang="zh-CN" sz="2400" b="1" kern="0" dirty="0" smtClean="0">
                  <a:solidFill>
                    <a:srgbClr val="000000"/>
                  </a:solidFill>
                  <a:latin typeface="+mn-lt"/>
                  <a:ea typeface="宋体"/>
                </a:endParaRPr>
              </a:p>
              <a:p>
                <a:pPr marL="342900" lvl="0" indent="-342900">
                  <a:spcBef>
                    <a:spcPct val="20000"/>
                  </a:spcBef>
                </a:pPr>
                <a:endParaRPr lang="en-US" altLang="zh-CN" sz="2400" b="1" kern="0" dirty="0">
                  <a:solidFill>
                    <a:srgbClr val="000000"/>
                  </a:solidFill>
                  <a:latin typeface="+mn-lt"/>
                  <a:ea typeface="宋体"/>
                </a:endParaRPr>
              </a:p>
              <a:p>
                <a:endParaRPr lang="zh-CN" altLang="en-US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31" y="1124744"/>
                <a:ext cx="7976641" cy="5219442"/>
              </a:xfrm>
              <a:prstGeom prst="rect">
                <a:avLst/>
              </a:prstGeom>
              <a:blipFill rotWithShape="1"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88759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/>
              <p:cNvSpPr txBox="1"/>
              <p:nvPr/>
            </p:nvSpPr>
            <p:spPr>
              <a:xfrm>
                <a:off x="899592" y="116632"/>
                <a:ext cx="7416824" cy="455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/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构造小概率事件用的统计量称为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当统计量的观测值取某个区域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中的值时，我们拒绝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，则称区域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，拒绝域的边界点称为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临界点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在检验中确立小概率事件的数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称为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显著性水平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或简称水平，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通常取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0.1,0.05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0.01.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值得注意的是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取不同的值，检验结果可能不同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16632"/>
                <a:ext cx="7416824" cy="4555093"/>
              </a:xfrm>
              <a:prstGeom prst="rect">
                <a:avLst/>
              </a:prstGeom>
              <a:blipFill rotWithShape="1">
                <a:blip r:embed="rId2"/>
                <a:stretch>
                  <a:fillRect l="-1727" r="-1480" b="-2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912316" y="4581128"/>
                <a:ext cx="7488832" cy="1967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/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是在假设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之间做选择，拒绝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，意味着接受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，表示拒绝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通常称这类检验为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的检验</a:t>
                </a:r>
                <a:r>
                  <a:rPr lang="en-US" altLang="zh-CN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16" y="4581128"/>
                <a:ext cx="7488832" cy="1967398"/>
              </a:xfrm>
              <a:prstGeom prst="rect">
                <a:avLst/>
              </a:prstGeom>
              <a:blipFill rotWithShape="1">
                <a:blip r:embed="rId3"/>
                <a:stretch>
                  <a:fillRect l="-1710" r="-6352" b="-7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TextBox 1"/>
              <p:cNvSpPr txBox="1"/>
              <p:nvPr/>
            </p:nvSpPr>
            <p:spPr>
              <a:xfrm>
                <a:off x="1115616" y="188640"/>
                <a:ext cx="7200800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>
                    <a:latin typeface="+mj-ea"/>
                    <a:ea typeface="+mj-ea"/>
                  </a:rPr>
                  <a:t>假设检验的基本步骤</a:t>
                </a:r>
                <a:endParaRPr lang="en-US" altLang="zh-CN" sz="2800" b="1" dirty="0" smtClean="0"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假设检验</a:t>
                </a: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的步骤大体可归结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为：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(1)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根据实际问题的要求提出原假设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和备择假设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(2)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构造适当的检验统计量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𝑱</m:t>
                    </m:r>
                    <m:r>
                      <a:rPr lang="en-US" altLang="zh-CN" sz="2800" b="1" i="1" smtClean="0">
                        <a:latin typeface="Cambria Math"/>
                      </a:rPr>
                      <m:t>,</m:t>
                    </m:r>
                    <m:r>
                      <a:rPr lang="zh-CN" altLang="en-US" sz="2800" b="1" i="1" smtClean="0">
                        <a:latin typeface="Cambria Math"/>
                      </a:rPr>
                      <m:t>在</m:t>
                    </m:r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为真时，它的分布是已知的；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(3)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对给定水平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，确定拒绝域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的形式；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(4)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根据统计量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的观测值确定是拒绝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，还是接受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88640"/>
                <a:ext cx="7200800" cy="6247864"/>
              </a:xfrm>
              <a:prstGeom prst="rect">
                <a:avLst/>
              </a:prstGeom>
              <a:blipFill rotWithShape="1">
                <a:blip r:embed="rId2"/>
                <a:stretch>
                  <a:fillRect l="-1693" t="-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588691" y="186888"/>
                <a:ext cx="7848872" cy="698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根据检验法则做出拒绝或接受假设的推断依据是样本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由于样本的随机性和局限性，有时难免会导致错误的推断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这种可能犯的错误有两类：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(1)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的确成立时，由样本构造的小概率事件在一次试验中还是可能发生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若果真发生了，这时依检验法则拒绝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便发生了错误，这类错误叫做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第一类错误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“弃真”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错误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犯这类错误的概率就是小概率事件发生的概率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，即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2800" b="1" i="1">
                            <a:latin typeface="Cambria Math"/>
                          </a:rPr>
                          <m:t>拒绝</m:t>
                        </m:r>
                        <m:sSub>
                          <m:sSubPr>
                            <m:ctrlP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sz="2800" b="1" i="1" kern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ker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ker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altLang="zh-CN" sz="2800" b="1" i="1" ker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为真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</a:p>
              <a:p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(2)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不成立时，检验中小概率事件又没有发生，这时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依检验法则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便发生了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错误，这种错误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叫做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第二类错误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“存伪”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错误，犯第二类错误的概率记为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</a:rPr>
                      <m:t>𝜷</m:t>
                    </m:r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</a:rPr>
                      <m:t>，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接受</m:t>
                        </m:r>
                        <m:sSub>
                          <m:sSubPr>
                            <m:ctrlP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sz="2800" b="1" i="1" ker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ker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ker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altLang="zh-CN" sz="2800" b="1" i="1" ker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800" b="1" i="1" kern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不</m:t>
                        </m:r>
                        <m:r>
                          <a:rPr lang="zh-CN" altLang="en-US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真</m:t>
                        </m:r>
                      </m:e>
                    </m:d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00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=</m:t>
                    </m:r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ctr"/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91" y="186888"/>
                <a:ext cx="7848872" cy="6986528"/>
              </a:xfrm>
              <a:prstGeom prst="rect">
                <a:avLst/>
              </a:prstGeom>
              <a:blipFill rotWithShape="1">
                <a:blip r:embed="rId3"/>
                <a:stretch>
                  <a:fillRect l="-1632" t="-873" r="-4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10000">
    <p:sndAc>
      <p:stSnd>
        <p:snd r:embed="rId2" name="TYPE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TextBox 1"/>
              <p:cNvSpPr txBox="1"/>
              <p:nvPr/>
            </p:nvSpPr>
            <p:spPr>
              <a:xfrm>
                <a:off x="1043608" y="1412776"/>
                <a:ext cx="712879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由于抽样的随机性，在检验时，不论得到什么结论，都可能犯错误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当然，对一个检验法则来说，犯两类错误的概率越小，检验就越好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然而，当样本容量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固定时，犯两类错误的概率是相互制约的，同时减小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</a:rPr>
                      <m:t>𝜶</m:t>
                    </m:r>
                    <m:r>
                      <a:rPr lang="zh-CN" altLang="en-US" sz="2800" b="1" i="1" smtClean="0">
                        <a:latin typeface="Cambria Math"/>
                      </a:rPr>
                      <m:t>，</m:t>
                    </m:r>
                    <m:r>
                      <a:rPr lang="zh-CN" altLang="en-US" sz="2800" b="1" i="1" smtClean="0">
                        <a:latin typeface="Cambria Math"/>
                      </a:rPr>
                      <m:t>𝜷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是不可能的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若要使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𝜶</m:t>
                    </m:r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，</m:t>
                    </m:r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同时减小，只有增大样本容量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因此做检验时，通常是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控制犯第一类错误的概率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，而不考虑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犯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第二类错误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的概率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，这样的检验通常称为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显著性检验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412776"/>
                <a:ext cx="7128792" cy="3970318"/>
              </a:xfrm>
              <a:prstGeom prst="rect">
                <a:avLst/>
              </a:prstGeom>
              <a:blipFill rotWithShape="1">
                <a:blip r:embed="rId2"/>
                <a:stretch>
                  <a:fillRect l="-1709" t="-1536" r="-1709" b="-3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20851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827584" y="830317"/>
                <a:ext cx="705678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</a:t>
                </a: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实际问题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中，由于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显著性检验仅仅控制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犯第一类错误的概率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，那么在选用哪个假设为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时，必须谨慎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一般的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原则有三条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一、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是当我们的目的是希望从样本观测值取得对某一论断强有力的支持，把这论断的否定作为原假设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sz="2800" b="1" i="1" kern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en-US" altLang="zh-CN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二、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是尽量使后果严重的错误成为犯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第一类错误；</a:t>
                </a:r>
                <a:endParaRPr lang="en-US" altLang="zh-CN" sz="2800" b="1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三、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是把历史资料所提供的论断作为原假设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r>
                  <a:rPr lang="en-US" altLang="zh-CN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zh-CN" altLang="en-US" sz="2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830317"/>
                <a:ext cx="7056784" cy="5262979"/>
              </a:xfrm>
              <a:prstGeom prst="rect">
                <a:avLst/>
              </a:prstGeom>
              <a:blipFill rotWithShape="1">
                <a:blip r:embed="rId2"/>
                <a:stretch>
                  <a:fillRect l="-1815" t="-1157" r="-1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84475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6_Notebook">
  <a:themeElements>
    <a:clrScheme name="6_Noteboo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_Notebook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6_Noteboo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Noteboo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8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9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0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DAEDEF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1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B9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1969</TotalTime>
  <Words>118</Words>
  <Application>Microsoft Office PowerPoint</Application>
  <PresentationFormat>全屏显示(4:3)</PresentationFormat>
  <Paragraphs>23</Paragraphs>
  <Slides>13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6_Notebook</vt:lpstr>
      <vt:lpstr>龙腾四海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郑伟</dc:creator>
  <cp:lastModifiedBy>dell</cp:lastModifiedBy>
  <cp:revision>266</cp:revision>
  <dcterms:modified xsi:type="dcterms:W3CDTF">2021-11-15T13:27:10Z</dcterms:modified>
</cp:coreProperties>
</file>