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16" r:id="rId2"/>
    <p:sldMasterId id="2147483828" r:id="rId3"/>
  </p:sldMasterIdLst>
  <p:notesMasterIdLst>
    <p:notesMasterId r:id="rId15"/>
  </p:notesMasterIdLst>
  <p:sldIdLst>
    <p:sldId id="259" r:id="rId4"/>
    <p:sldId id="284" r:id="rId5"/>
    <p:sldId id="292" r:id="rId6"/>
    <p:sldId id="293" r:id="rId7"/>
    <p:sldId id="272" r:id="rId8"/>
    <p:sldId id="294" r:id="rId9"/>
    <p:sldId id="295" r:id="rId10"/>
    <p:sldId id="296" r:id="rId11"/>
    <p:sldId id="297" r:id="rId12"/>
    <p:sldId id="298" r:id="rId13"/>
    <p:sldId id="299" r:id="rId1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944A3"/>
    <a:srgbClr val="202AEC"/>
    <a:srgbClr val="FFCC66"/>
    <a:srgbClr val="FFCCCC"/>
    <a:srgbClr val="E6E48E"/>
    <a:srgbClr val="4E10FC"/>
    <a:srgbClr val="4110B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21" autoAdjust="0"/>
    <p:restoredTop sz="91992" autoAdjust="0"/>
  </p:normalViewPr>
  <p:slideViewPr>
    <p:cSldViewPr>
      <p:cViewPr>
        <p:scale>
          <a:sx n="70" d="100"/>
          <a:sy n="70" d="100"/>
        </p:scale>
        <p:origin x="-1572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2190996-90B4-4C5B-B55B-F9C5A167F032}" type="datetimeFigureOut">
              <a:rPr lang="zh-CN" altLang="en-US"/>
              <a:pPr>
                <a:defRPr/>
              </a:pPr>
              <a:t>2021-11-20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2A2EFE2-0780-46E8-A324-701C3E367E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90077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246239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205183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3092337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05183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9233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051833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09233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05183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21115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94747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113337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5812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06168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8169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06542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297693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4234449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36951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5165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516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000094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4534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607447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91452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69317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98581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89574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1458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84596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132838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795960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11/20/2021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1285748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2021-11-20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2021-11-20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2021-11-20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2021-11-20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2021-11-20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2021-11-20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2021-11-20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2021-11-20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2021-11-20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2021-11-20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E3B4E-09A0-4CC9-8F0B-18FEE1492D66}" type="datetimeFigureOut">
              <a:rPr lang="zh-CN" altLang="en-US" smtClean="0"/>
              <a:pPr/>
              <a:t>2021-11-20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24331-EEF4-49F4-A340-7A7F1CEFFEB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DRLC03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 descr="BJ1180"/>
          <p:cNvSpPr>
            <a:spLocks noChangeArrowheads="1"/>
          </p:cNvSpPr>
          <p:nvPr/>
        </p:nvSpPr>
        <p:spPr bwMode="auto">
          <a:xfrm>
            <a:off x="479425" y="131763"/>
            <a:ext cx="8450263" cy="6553200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28" name="Rectangle 4" descr="BJ1180"/>
          <p:cNvSpPr>
            <a:spLocks noChangeArrowheads="1"/>
          </p:cNvSpPr>
          <p:nvPr/>
        </p:nvSpPr>
        <p:spPr bwMode="auto">
          <a:xfrm>
            <a:off x="331788" y="136525"/>
            <a:ext cx="150812" cy="158750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29" name="Rectangle 5" descr="BJ1180"/>
          <p:cNvSpPr>
            <a:spLocks noChangeArrowheads="1"/>
          </p:cNvSpPr>
          <p:nvPr/>
        </p:nvSpPr>
        <p:spPr bwMode="auto">
          <a:xfrm>
            <a:off x="323850" y="519113"/>
            <a:ext cx="150813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0" name="Rectangle 6" descr="BJ1180"/>
          <p:cNvSpPr>
            <a:spLocks noChangeArrowheads="1"/>
          </p:cNvSpPr>
          <p:nvPr/>
        </p:nvSpPr>
        <p:spPr bwMode="auto">
          <a:xfrm>
            <a:off x="323850" y="1120775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1" name="Rectangle 7" descr="BJ1180"/>
          <p:cNvSpPr>
            <a:spLocks noChangeArrowheads="1"/>
          </p:cNvSpPr>
          <p:nvPr/>
        </p:nvSpPr>
        <p:spPr bwMode="auto">
          <a:xfrm>
            <a:off x="323850" y="2292350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2" name="Rectangle 8" descr="BJ1180"/>
          <p:cNvSpPr>
            <a:spLocks noChangeArrowheads="1"/>
          </p:cNvSpPr>
          <p:nvPr/>
        </p:nvSpPr>
        <p:spPr bwMode="auto">
          <a:xfrm>
            <a:off x="325438" y="2886075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3" name="Rectangle 9" descr="BJ1180"/>
          <p:cNvSpPr>
            <a:spLocks noChangeArrowheads="1"/>
          </p:cNvSpPr>
          <p:nvPr/>
        </p:nvSpPr>
        <p:spPr bwMode="auto">
          <a:xfrm>
            <a:off x="325438" y="3479800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4" name="Rectangle 10" descr="BJ1180"/>
          <p:cNvSpPr>
            <a:spLocks noChangeArrowheads="1"/>
          </p:cNvSpPr>
          <p:nvPr/>
        </p:nvSpPr>
        <p:spPr bwMode="auto">
          <a:xfrm>
            <a:off x="325438" y="4656138"/>
            <a:ext cx="150812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5" name="Rectangle 11" descr="BJ1180"/>
          <p:cNvSpPr>
            <a:spLocks noChangeArrowheads="1"/>
          </p:cNvSpPr>
          <p:nvPr/>
        </p:nvSpPr>
        <p:spPr bwMode="auto">
          <a:xfrm>
            <a:off x="320675" y="5248275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6" name="Rectangle 12" descr="BJ1180"/>
          <p:cNvSpPr>
            <a:spLocks noChangeArrowheads="1"/>
          </p:cNvSpPr>
          <p:nvPr/>
        </p:nvSpPr>
        <p:spPr bwMode="auto">
          <a:xfrm>
            <a:off x="319088" y="5845175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7" name="Rectangle 13" descr="BJ1180"/>
          <p:cNvSpPr>
            <a:spLocks noChangeArrowheads="1"/>
          </p:cNvSpPr>
          <p:nvPr/>
        </p:nvSpPr>
        <p:spPr bwMode="auto">
          <a:xfrm>
            <a:off x="323850" y="6419850"/>
            <a:ext cx="150813" cy="269875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8" name="Rectangle 14" descr="BJ1180"/>
          <p:cNvSpPr>
            <a:spLocks noChangeArrowheads="1"/>
          </p:cNvSpPr>
          <p:nvPr/>
        </p:nvSpPr>
        <p:spPr bwMode="auto">
          <a:xfrm>
            <a:off x="331788" y="4065588"/>
            <a:ext cx="150812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9" name="Rectangle 15" descr="BJ1180"/>
          <p:cNvSpPr>
            <a:spLocks noChangeArrowheads="1"/>
          </p:cNvSpPr>
          <p:nvPr/>
        </p:nvSpPr>
        <p:spPr bwMode="auto">
          <a:xfrm>
            <a:off x="323850" y="1698625"/>
            <a:ext cx="150813" cy="36671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7696200" cy="114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6586538" y="6311900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pic>
        <p:nvPicPr>
          <p:cNvPr id="1042" name="Picture 18">
            <a:hlinkClick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2798" b="-66667"/>
          <a:stretch>
            <a:fillRect/>
          </a:stretch>
        </p:blipFill>
        <p:spPr bwMode="auto">
          <a:xfrm>
            <a:off x="6483350" y="6286500"/>
            <a:ext cx="4651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3" name="Rectangle 20"/>
          <p:cNvSpPr>
            <a:spLocks noChangeArrowheads="1"/>
          </p:cNvSpPr>
          <p:nvPr/>
        </p:nvSpPr>
        <p:spPr bwMode="auto">
          <a:xfrm>
            <a:off x="6986588" y="633412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4" name="Rectangle 21"/>
          <p:cNvSpPr>
            <a:spLocks noChangeArrowheads="1"/>
          </p:cNvSpPr>
          <p:nvPr/>
        </p:nvSpPr>
        <p:spPr bwMode="auto">
          <a:xfrm>
            <a:off x="7362825" y="63404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5" name="Rectangle 22"/>
          <p:cNvSpPr>
            <a:spLocks noChangeArrowheads="1"/>
          </p:cNvSpPr>
          <p:nvPr/>
        </p:nvSpPr>
        <p:spPr bwMode="auto">
          <a:xfrm>
            <a:off x="7747000" y="63404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6" name="Rectangle 23"/>
          <p:cNvSpPr>
            <a:spLocks noChangeArrowheads="1"/>
          </p:cNvSpPr>
          <p:nvPr/>
        </p:nvSpPr>
        <p:spPr bwMode="auto">
          <a:xfrm>
            <a:off x="8154988" y="6350000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7" name="Rectangle 24"/>
          <p:cNvSpPr>
            <a:spLocks noChangeArrowheads="1"/>
          </p:cNvSpPr>
          <p:nvPr/>
        </p:nvSpPr>
        <p:spPr bwMode="auto">
          <a:xfrm>
            <a:off x="8515350" y="63658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pic>
        <p:nvPicPr>
          <p:cNvPr id="1048" name="Picture 25">
            <a:hlinkClick r:id="" action="ppaction://hlinkshowjump?jump=lastslideviewed" highlightClick="1"/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27678" b="-69908"/>
          <a:stretch>
            <a:fillRect/>
          </a:stretch>
        </p:blipFill>
        <p:spPr bwMode="auto">
          <a:xfrm>
            <a:off x="7642225" y="6275388"/>
            <a:ext cx="38576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9" name="Picture 26">
            <a:hlinkClick r:id="" action="ppaction://hlinkshowjump?jump=endshow" highlightClick="1"/>
          </p:cNvPr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31548" b="-71297"/>
          <a:stretch>
            <a:fillRect/>
          </a:stretch>
        </p:blipFill>
        <p:spPr bwMode="auto">
          <a:xfrm>
            <a:off x="8023225" y="6270625"/>
            <a:ext cx="3651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0" name="Picture 27">
            <a:hlinkClick r:id="" action="ppaction://hlinkshowjump?jump=nextslide" highlightClick="1"/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23810" b="-69908"/>
          <a:stretch>
            <a:fillRect/>
          </a:stretch>
        </p:blipFill>
        <p:spPr bwMode="auto">
          <a:xfrm>
            <a:off x="7261225" y="6275388"/>
            <a:ext cx="406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1" name="Picture 28">
            <a:hlinkClick r:id="" action="ppaction://hlinkshowjump?jump=previousslide" highlightClick="1"/>
          </p:cNvPr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9048" b="-70833"/>
          <a:stretch>
            <a:fillRect/>
          </a:stretch>
        </p:blipFill>
        <p:spPr bwMode="auto">
          <a:xfrm>
            <a:off x="6877050" y="6272213"/>
            <a:ext cx="4318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2" name="Picture 29"/>
          <p:cNvPicPr>
            <a:picLocks noChangeAspect="1" noChangeArrowheads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-71759"/>
          <a:stretch>
            <a:fillRect/>
          </a:stretch>
        </p:blipFill>
        <p:spPr bwMode="auto">
          <a:xfrm>
            <a:off x="8396288" y="6269038"/>
            <a:ext cx="352425" cy="58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D29482-6391-4C19-9678-BBF4D59465D8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2021-11-20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255DD-BAEE-4E32-A972-95B332C98870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653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22987-CD27-4AB6-B5EE-BBB2825D6C9B}" type="datetimeFigureOut">
              <a:rPr lang="en-US" smtClean="0"/>
              <a:pPr/>
              <a:t>11/20/2021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6937C-4296-4F09-BFBF-208432D16C49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slide" Target="slide1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1.png"/><Relationship Id="rId10" Type="http://schemas.openxmlformats.org/officeDocument/2006/relationships/oleObject" Target="../embeddings/oleObject5.bin"/><Relationship Id="rId4" Type="http://schemas.openxmlformats.org/officeDocument/2006/relationships/image" Target="../media/image20.png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5" Type="http://schemas.openxmlformats.org/officeDocument/2006/relationships/oleObject" Target="../embeddings/oleObject7.bin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0.png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7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35496" y="116632"/>
            <a:ext cx="8072437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 sz="3600" b="1" dirty="0" smtClean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8.4</a:t>
            </a:r>
            <a:r>
              <a:rPr lang="zh-CN" altLang="en-US" sz="3600" b="1" dirty="0" smtClean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   单边检验</a:t>
            </a:r>
            <a:endParaRPr lang="zh-CN" altLang="en-US" sz="3600" b="1" dirty="0">
              <a:solidFill>
                <a:schemeClr val="tx2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055" name="灯片编号占位符 15"/>
          <p:cNvSpPr>
            <a:spLocks noGrp="1"/>
          </p:cNvSpPr>
          <p:nvPr>
            <p:ph type="sldNum" sz="quarter" idx="12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420242CD-21A6-4B80-AAE7-02543FCB43B1}" type="slidenum">
              <a:rPr lang="zh-CN" altLang="en-US"/>
              <a:pPr eaLnBrk="1" hangingPunct="1"/>
              <a:t>1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208" name="Rectangle 16"/>
              <p:cNvSpPr>
                <a:spLocks noChangeArrowheads="1"/>
              </p:cNvSpPr>
              <p:nvPr/>
            </p:nvSpPr>
            <p:spPr bwMode="auto">
              <a:xfrm>
                <a:off x="246197" y="1052736"/>
                <a:ext cx="8286243" cy="286232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1"/>
                  </a:buClr>
                  <a:buFont typeface="Wingdings" pitchFamily="2" charset="2"/>
                  <a:buNone/>
                </a:pPr>
                <a:r>
                  <a:rPr lang="zh-CN" altLang="en-US" sz="3600" dirty="0" smtClean="0">
                    <a:latin typeface="华文新魏" pitchFamily="2" charset="-122"/>
                    <a:ea typeface="华文新魏" pitchFamily="2" charset="-122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在假设检验中，有时我们只关心均值是否增大，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0" eaLnBrk="1" hangingPunct="1">
                  <a:lnSpc>
                    <a:spcPct val="150000"/>
                  </a:lnSpc>
                  <a:spcBef>
                    <a:spcPts val="0"/>
                  </a:spcBef>
                  <a:buClr>
                    <a:srgbClr val="4F81BD"/>
                  </a:buClr>
                </a:pP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需要检验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假设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0" eaLnBrk="1" hangingPunct="1">
                  <a:lnSpc>
                    <a:spcPct val="150000"/>
                  </a:lnSpc>
                  <a:spcBef>
                    <a:spcPts val="0"/>
                  </a:spcBef>
                  <a:buClr>
                    <a:srgbClr val="4F81BD"/>
                  </a:buClr>
                </a:pPr>
                <a:r>
                  <a:rPr lang="en-US" altLang="zh-CN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zh-CN" altLang="en-US" sz="2800" b="1" i="1" dirty="0" smtClean="0">
                        <a:solidFill>
                          <a:srgbClr val="FF0000"/>
                        </a:solidFill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zh-CN" altLang="en-US" sz="2800" b="1" i="1" dirty="0" smtClean="0">
                        <a:solidFill>
                          <a:srgbClr val="FF0000"/>
                        </a:solidFill>
                        <a:latin typeface="Cambria Math"/>
                        <a:ea typeface="华文楷体" panose="02010600040101010101" pitchFamily="2" charset="-122"/>
                      </a:rPr>
                      <m:t>≤</m:t>
                    </m:r>
                    <m:sSub>
                      <m:sSubPr>
                        <m:ctrlP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28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; </a:t>
                </a:r>
                <a:r>
                  <a:rPr lang="en-US" altLang="zh-CN" sz="2800" b="1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zh-CN" altLang="en-US" sz="2800" b="1" i="1" dirty="0">
                        <a:solidFill>
                          <a:srgbClr val="FF0000"/>
                        </a:solidFill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  <a:ea typeface="华文楷体" panose="02010600040101010101" pitchFamily="2" charset="-122"/>
                      </a:rPr>
                      <m:t>&gt;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2800" b="1" i="1" dirty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dirty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;</a:t>
                </a:r>
                <a:endParaRPr lang="zh-CN" altLang="en-US" sz="28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hangingPunct="1">
                  <a:lnSpc>
                    <a:spcPct val="150000"/>
                  </a:lnSpc>
                  <a:spcBef>
                    <a:spcPts val="0"/>
                  </a:spcBef>
                  <a:buClr>
                    <a:schemeClr val="accent1"/>
                  </a:buClr>
                  <a:buFont typeface="Wingdings" pitchFamily="2" charset="2"/>
                  <a:buNone/>
                </a:pPr>
                <a:endParaRPr lang="zh-CN" altLang="en-US" sz="28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8208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197" y="1052736"/>
                <a:ext cx="8286243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1471" r="-7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6"/>
          <p:cNvSpPr>
            <a:spLocks noChangeArrowheads="1"/>
          </p:cNvSpPr>
          <p:nvPr/>
        </p:nvSpPr>
        <p:spPr bwMode="auto">
          <a:xfrm>
            <a:off x="398597" y="3073023"/>
            <a:ext cx="3786614" cy="844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     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称为右边检验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. 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类似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1" name="Rectangle 16"/>
          <p:cNvSpPr>
            <a:spLocks noChangeArrowheads="1"/>
          </p:cNvSpPr>
          <p:nvPr/>
        </p:nvSpPr>
        <p:spPr bwMode="auto">
          <a:xfrm>
            <a:off x="323528" y="4653136"/>
            <a:ext cx="297870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     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称为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左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边检验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795872" y="5570656"/>
            <a:ext cx="600837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2800" b="1" dirty="0" smtClean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右边检验和左边检验统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称为单边检验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矩形 3"/>
              <p:cNvSpPr/>
              <p:nvPr/>
            </p:nvSpPr>
            <p:spPr>
              <a:xfrm>
                <a:off x="1763688" y="3988221"/>
                <a:ext cx="4572000" cy="138499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0"/>
                  </a:spcBef>
                  <a:buClr>
                    <a:srgbClr val="4F81BD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zh-CN" altLang="en-US" sz="2800" b="1" i="1" dirty="0">
                        <a:solidFill>
                          <a:srgbClr val="FF0000"/>
                        </a:solidFill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≥</m:t>
                    </m:r>
                    <m:sSub>
                      <m:sSubPr>
                        <m:ctrlP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zh-CN" altLang="en-US" sz="28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dirty="0" smtClean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;</a:t>
                </a:r>
                <a:r>
                  <a:rPr lang="en-US" altLang="zh-CN" sz="2800" b="1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/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zh-CN" altLang="en-US" sz="2800" b="1" i="1" dirty="0">
                        <a:solidFill>
                          <a:srgbClr val="FF0000"/>
                        </a:solidFill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en-US" altLang="zh-CN" sz="2800" b="1" i="1" dirty="0" smtClean="0">
                        <a:solidFill>
                          <a:srgbClr val="FF0000"/>
                        </a:solidFill>
                        <a:latin typeface="Cambria Math"/>
                        <a:ea typeface="华文楷体" panose="02010600040101010101" pitchFamily="2" charset="-122"/>
                      </a:rPr>
                      <m:t>&lt;</m:t>
                    </m:r>
                    <m:sSub>
                      <m:sSubPr>
                        <m:ctrlPr>
                          <a:rPr lang="en-US" altLang="zh-CN" sz="2800" b="1" i="1" dirty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2800" b="1" i="1" dirty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dirty="0">
                            <a:solidFill>
                              <a:srgbClr val="FF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;</a:t>
                </a:r>
                <a:endParaRPr lang="zh-CN" altLang="en-US" sz="28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0">
                  <a:lnSpc>
                    <a:spcPct val="150000"/>
                  </a:lnSpc>
                  <a:spcBef>
                    <a:spcPts val="0"/>
                  </a:spcBef>
                  <a:buClr>
                    <a:srgbClr val="4F81BD"/>
                  </a:buClr>
                </a:pPr>
                <a:endParaRPr lang="zh-CN" altLang="en-US" sz="28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3988221"/>
                <a:ext cx="4572000" cy="13849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081" name="Text Box 4">
                <a:hlinkClick r:id="rId3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546945" y="332656"/>
                <a:ext cx="7950995" cy="24768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 dirty="0" smtClean="0">
                    <a:latin typeface="+mn-ea"/>
                    <a:ea typeface="+mn-ea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设总体</a:t>
                </a:r>
                <a:r>
                  <a:rPr lang="zh-CN" altLang="en-US" sz="24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服从正态分布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/>
                        <a:ea typeface="+mn-ea"/>
                      </a:rPr>
                      <m:t>𝑵</m:t>
                    </m:r>
                    <m:d>
                      <m:dPr>
                        <m:ctrlPr>
                          <a:rPr lang="en-US" altLang="zh-CN" sz="2400" b="1" i="1" smtClean="0">
                            <a:latin typeface="Cambria Math"/>
                            <a:ea typeface="+mn-ea"/>
                          </a:rPr>
                        </m:ctrlPr>
                      </m:dPr>
                      <m:e>
                        <m:r>
                          <a:rPr lang="zh-CN" altLang="en-US" sz="2400" b="1" i="1" smtClean="0">
                            <a:latin typeface="Cambria Math"/>
                            <a:ea typeface="+mn-ea"/>
                          </a:rPr>
                          <m:t>𝝁</m:t>
                        </m:r>
                        <m:r>
                          <a:rPr lang="en-US" altLang="zh-CN" sz="2400" b="1" i="1" smtClean="0">
                            <a:latin typeface="Cambria Math"/>
                            <a:ea typeface="+mn-ea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400" b="1" i="1" smtClean="0">
                                <a:latin typeface="Cambria Math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lang="zh-CN" altLang="en-US" sz="2400" b="1" i="1" smtClean="0">
                                <a:latin typeface="Cambria Math"/>
                                <a:ea typeface="+mn-ea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latin typeface="Cambria Math"/>
                                <a:ea typeface="+mn-ea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4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 </a:t>
                </a:r>
              </a:p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为总体    的一个样本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  <a:p>
                <a:pPr lvl="0" eaLnBrk="1" hangingPunct="1">
                  <a:spcBef>
                    <a:spcPct val="500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   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𝒄𝒂𝒔𝒆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𝟏</m:t>
                        </m:r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.    </m:t>
                        </m:r>
                        <m:r>
                          <a:rPr lang="zh-CN" altLang="en-US" sz="28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已知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检验假设：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081" name="Text Box 4">
                <a:hlinkClick r:id="rId3" action="ppaction://hlinksldjump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945" y="332656"/>
                <a:ext cx="7950995" cy="2476832"/>
              </a:xfrm>
              <a:prstGeom prst="rect">
                <a:avLst/>
              </a:prstGeom>
              <a:blipFill rotWithShape="1">
                <a:blip r:embed="rId4"/>
                <a:stretch>
                  <a:fillRect t="-2463" b="-59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TextBox 2"/>
              <p:cNvSpPr txBox="1"/>
              <p:nvPr/>
            </p:nvSpPr>
            <p:spPr>
              <a:xfrm>
                <a:off x="669364" y="2996952"/>
                <a:ext cx="7706155" cy="20313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分析：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/>
                        <a:ea typeface="华文楷体" panose="02010600040101010101" pitchFamily="2" charset="-122"/>
                      </a:rPr>
                      <m:t>𝑬</m:t>
                    </m:r>
                    <m:acc>
                      <m:accPr>
                        <m:chr m:val="̅"/>
                        <m:ctrlP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altLang="zh-CN" sz="28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2800" b="1" i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EX</a:t>
                </a:r>
                <a:r>
                  <a:rPr lang="en-US" altLang="zh-CN" sz="28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solidFill>
                          <a:srgbClr val="000000"/>
                        </a:solidFill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/>
                        <a:ea typeface="华文楷体" panose="02010600040101010101" pitchFamily="2" charset="-122"/>
                      </a:rPr>
                      <m:t>,</m:t>
                    </m:r>
                  </m:oMath>
                </a14:m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成立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𝑿</m:t>
                        </m:r>
                      </m:e>
                    </m:acc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取值大于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的可能性增大，因此可以认为当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𝑿</m:t>
                        </m:r>
                      </m:e>
                    </m:acc>
                    <m:r>
                      <a:rPr lang="zh-CN" altLang="en-US" sz="2800" b="0" i="1" smtClean="0">
                        <a:solidFill>
                          <a:srgbClr val="000000"/>
                        </a:solidFill>
                        <a:latin typeface="Cambria Math"/>
                        <a:ea typeface="华文楷体" panose="02010600040101010101" pitchFamily="2" charset="-122"/>
                      </a:rPr>
                      <m:t>比</m:t>
                    </m:r>
                    <m:sSub>
                      <m:sSub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2800" b="1" i="1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大得多时拒绝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endPara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64" y="2996952"/>
                <a:ext cx="7706155" cy="2031325"/>
              </a:xfrm>
              <a:prstGeom prst="rect">
                <a:avLst/>
              </a:prstGeom>
              <a:blipFill rotWithShape="1">
                <a:blip r:embed="rId5"/>
                <a:stretch>
                  <a:fillRect l="-1661" b="-45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10550324"/>
              </p:ext>
            </p:extLst>
          </p:nvPr>
        </p:nvGraphicFramePr>
        <p:xfrm>
          <a:off x="5364088" y="415008"/>
          <a:ext cx="2239962" cy="493712"/>
        </p:xfrm>
        <a:graphic>
          <a:graphicData uri="http://schemas.openxmlformats.org/presentationml/2006/ole">
            <p:oleObj spid="_x0000_s7597" name="Equation" r:id="rId6" imgW="1015920" imgH="228600" progId="Equation.DSMT4">
              <p:embed/>
            </p:oleObj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725321719"/>
              </p:ext>
            </p:extLst>
          </p:nvPr>
        </p:nvGraphicFramePr>
        <p:xfrm>
          <a:off x="1619672" y="1052736"/>
          <a:ext cx="700088" cy="357188"/>
        </p:xfrm>
        <a:graphic>
          <a:graphicData uri="http://schemas.openxmlformats.org/presentationml/2006/ole">
            <p:oleObj spid="_x0000_s7598" name="Equation" r:id="rId7" imgW="317160" imgH="164880" progId="Equation.DSMT4">
              <p:embed/>
            </p:oleObj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21766346"/>
              </p:ext>
            </p:extLst>
          </p:nvPr>
        </p:nvGraphicFramePr>
        <p:xfrm>
          <a:off x="1619672" y="404664"/>
          <a:ext cx="700088" cy="357187"/>
        </p:xfrm>
        <a:graphic>
          <a:graphicData uri="http://schemas.openxmlformats.org/presentationml/2006/ole">
            <p:oleObj spid="_x0000_s7599" name="Equation" r:id="rId8" imgW="317087" imgH="164885" progId="Equation.DSMT4">
              <p:embed/>
            </p:oleObj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96064835"/>
              </p:ext>
            </p:extLst>
          </p:nvPr>
        </p:nvGraphicFramePr>
        <p:xfrm>
          <a:off x="2195736" y="5157193"/>
          <a:ext cx="2958647" cy="864095"/>
        </p:xfrm>
        <a:graphic>
          <a:graphicData uri="http://schemas.openxmlformats.org/presentationml/2006/ole">
            <p:oleObj spid="_x0000_s7600" name="Equation" r:id="rId9" imgW="1447560" imgH="431640" progId="Equation.DSMT4">
              <p:embed/>
            </p:oleObj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338493691"/>
              </p:ext>
            </p:extLst>
          </p:nvPr>
        </p:nvGraphicFramePr>
        <p:xfrm>
          <a:off x="2627784" y="2318966"/>
          <a:ext cx="3081338" cy="461962"/>
        </p:xfrm>
        <a:graphic>
          <a:graphicData uri="http://schemas.openxmlformats.org/presentationml/2006/ole">
            <p:oleObj spid="_x0000_s7601" name="Equation" r:id="rId10" imgW="152388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50746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26221809"/>
              </p:ext>
            </p:extLst>
          </p:nvPr>
        </p:nvGraphicFramePr>
        <p:xfrm>
          <a:off x="1331640" y="260648"/>
          <a:ext cx="3312368" cy="1055218"/>
        </p:xfrm>
        <a:graphic>
          <a:graphicData uri="http://schemas.openxmlformats.org/presentationml/2006/ole">
            <p:oleObj spid="_x0000_s14461" name="Equation" r:id="rId3" imgW="1562040" imgH="507960" progId="Equation.DSMT4">
              <p:embed/>
            </p:oleObj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TextBox 8"/>
              <p:cNvSpPr txBox="1"/>
              <p:nvPr/>
            </p:nvSpPr>
            <p:spPr>
              <a:xfrm>
                <a:off x="669365" y="1412776"/>
                <a:ext cx="5126772" cy="76706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srgbClr val="000000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成立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zh-CN" altLang="en-US" sz="2800" b="1" i="1" smtClean="0">
                        <a:latin typeface="Cambria Math"/>
                        <a:ea typeface="华文楷体" panose="02010600040101010101" pitchFamily="2" charset="-122"/>
                      </a:rPr>
                      <m:t>≤</m:t>
                    </m:r>
                    <m:sSub>
                      <m:sSubPr>
                        <m:ctrlPr>
                          <a:rPr lang="en-US" altLang="zh-CN" sz="2800" b="1" i="1" smtClean="0"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zh-CN" altLang="en-US" sz="2800" b="1" i="1" smtClean="0">
                            <a:latin typeface="Cambria Math"/>
                            <a:ea typeface="华文楷体" panose="02010600040101010101" pitchFamily="2" charset="-122"/>
                          </a:rPr>
                          <m:t>𝝁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  <m:r>
                          <a:rPr lang="en-US" altLang="zh-CN" sz="2800" b="1" i="1" smtClean="0">
                            <a:latin typeface="Cambria Math"/>
                            <a:ea typeface="华文楷体" panose="02010600040101010101" pitchFamily="2" charset="-122"/>
                          </a:rPr>
                          <m:t>,</m:t>
                        </m:r>
                      </m:sub>
                    </m:sSub>
                  </m:oMath>
                </a14:m>
                <a:endPara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365" y="1412776"/>
                <a:ext cx="5126772" cy="767069"/>
              </a:xfrm>
              <a:prstGeom prst="rect">
                <a:avLst/>
              </a:prstGeom>
              <a:blipFill rotWithShape="1">
                <a:blip r:embed="rId4"/>
                <a:stretch>
                  <a:fillRect l="-2497" b="-119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5744817"/>
              </p:ext>
            </p:extLst>
          </p:nvPr>
        </p:nvGraphicFramePr>
        <p:xfrm>
          <a:off x="1475657" y="2564904"/>
          <a:ext cx="3456384" cy="892513"/>
        </p:xfrm>
        <a:graphic>
          <a:graphicData uri="http://schemas.openxmlformats.org/presentationml/2006/ole">
            <p:oleObj spid="_x0000_s14462" name="Equation" r:id="rId5" imgW="1638000" imgH="431640" progId="Equation.DSMT4">
              <p:embed/>
            </p:oleObj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63211511"/>
              </p:ext>
            </p:extLst>
          </p:nvPr>
        </p:nvGraphicFramePr>
        <p:xfrm>
          <a:off x="1135063" y="3860800"/>
          <a:ext cx="5362575" cy="1035050"/>
        </p:xfrm>
        <a:graphic>
          <a:graphicData uri="http://schemas.openxmlformats.org/presentationml/2006/ole">
            <p:oleObj spid="_x0000_s14463" name="Equation" r:id="rId6" imgW="2577960" imgH="507960" progId="Equation.DSMT4">
              <p:embed/>
            </p:oleObj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47774637"/>
              </p:ext>
            </p:extLst>
          </p:nvPr>
        </p:nvGraphicFramePr>
        <p:xfrm>
          <a:off x="755576" y="5229200"/>
          <a:ext cx="6264696" cy="1027179"/>
        </p:xfrm>
        <a:graphic>
          <a:graphicData uri="http://schemas.openxmlformats.org/presentationml/2006/ole">
            <p:oleObj spid="_x0000_s14464" name="Equation" r:id="rId7" imgW="3035160" imgH="50796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796230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14430" y="116632"/>
            <a:ext cx="2055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检验统计量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43608" y="1268760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拒绝域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2339752" y="499447"/>
                <a:ext cx="2473818" cy="8413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solidFill>
                            <a:prstClr val="black"/>
                          </a:solidFill>
                          <a:latin typeface="Cambria Math"/>
                        </a:rPr>
                        <m:t>𝑼</m:t>
                      </m:r>
                      <m:r>
                        <a:rPr lang="en-US" altLang="zh-CN" sz="2400" b="1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</m:acc>
                          <m:r>
                            <a:rPr lang="en-US" altLang="zh-CN" sz="2400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 dirty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1" i="1" dirty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2400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1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e>
                          </m:rad>
                        </m:num>
                        <m:den>
                          <m:r>
                            <m:rPr>
                              <m:nor/>
                            </m:rPr>
                            <a:rPr lang="en-US" altLang="zh-CN" sz="2400" kern="0" dirty="0">
                              <a:solidFill>
                                <a:prstClr val="black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m:t> </m:t>
                          </m:r>
                          <m:r>
                            <a:rPr lang="zh-CN" altLang="en-US" sz="2400" i="1" kern="0" dirty="0" smtClean="0">
                              <a:solidFill>
                                <a:prstClr val="black"/>
                              </a:solidFill>
                              <a:latin typeface="Cambria Math"/>
                              <a:ea typeface="华文楷体" panose="02010600040101010101" pitchFamily="2" charset="-122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499447"/>
                <a:ext cx="2473818" cy="84132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2" name="矩形 11"/>
              <p:cNvSpPr/>
              <p:nvPr/>
            </p:nvSpPr>
            <p:spPr>
              <a:xfrm>
                <a:off x="1331640" y="1844824"/>
                <a:ext cx="460851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solidFill>
                            <a:srgbClr val="000000"/>
                          </a:solidFill>
                          <a:latin typeface="Cambria Math"/>
                        </a:rPr>
                        <m:t>𝑾</m:t>
                      </m:r>
                      <m:r>
                        <a:rPr lang="en-US" altLang="zh-CN" sz="2400" b="1" i="1" dirty="0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 dirty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zh-CN" altLang="en-US" sz="2400" b="1" i="1" dirty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𝜶</m:t>
                              </m:r>
                            </m:sub>
                          </m:sSub>
                          <m:r>
                            <a:rPr lang="en-US" altLang="zh-CN" sz="2400" b="1" i="1" dirty="0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,+∞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0" y="1844824"/>
                <a:ext cx="4608512" cy="461665"/>
              </a:xfrm>
              <a:prstGeom prst="rect">
                <a:avLst/>
              </a:prstGeom>
              <a:blipFill rotWithShape="1"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54691240"/>
              </p:ext>
            </p:extLst>
          </p:nvPr>
        </p:nvGraphicFramePr>
        <p:xfrm>
          <a:off x="2772941" y="2626161"/>
          <a:ext cx="3081337" cy="461963"/>
        </p:xfrm>
        <a:graphic>
          <a:graphicData uri="http://schemas.openxmlformats.org/presentationml/2006/ole">
            <p:oleObj spid="_x0000_s15393" name="Equation" r:id="rId5" imgW="1523880" imgH="228600" progId="Equation.DSMT4">
              <p:embed/>
            </p:oleObj>
          </a:graphicData>
        </a:graphic>
      </p:graphicFrame>
      <p:sp>
        <p:nvSpPr>
          <p:cNvPr id="4" name="矩形 3"/>
          <p:cNvSpPr/>
          <p:nvPr/>
        </p:nvSpPr>
        <p:spPr>
          <a:xfrm>
            <a:off x="827584" y="2564904"/>
            <a:ext cx="194535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50000"/>
              </a:spcBef>
            </a:pPr>
            <a:r>
              <a:rPr lang="zh-CN" altLang="en-US" sz="2800" b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检验假设：</a:t>
            </a:r>
            <a:endParaRPr lang="en-US" altLang="zh-CN" sz="2800" b="1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1600" y="3409836"/>
            <a:ext cx="2055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检验统计量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4" name="矩形 13"/>
              <p:cNvSpPr/>
              <p:nvPr/>
            </p:nvSpPr>
            <p:spPr>
              <a:xfrm>
                <a:off x="2267744" y="4027839"/>
                <a:ext cx="2473818" cy="8413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solidFill>
                            <a:prstClr val="black"/>
                          </a:solidFill>
                          <a:latin typeface="Cambria Math"/>
                        </a:rPr>
                        <m:t>𝑼</m:t>
                      </m:r>
                      <m:r>
                        <a:rPr lang="en-US" altLang="zh-CN" sz="2400" b="1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zh-CN" sz="2400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𝑿</m:t>
                              </m:r>
                            </m:e>
                          </m:acc>
                          <m:r>
                            <a:rPr lang="en-US" altLang="zh-CN" sz="2400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 dirty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1" i="1" dirty="0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altLang="zh-CN" sz="2400" b="1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1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𝒏</m:t>
                              </m:r>
                            </m:e>
                          </m:rad>
                        </m:num>
                        <m:den>
                          <m:r>
                            <m:rPr>
                              <m:nor/>
                            </m:rPr>
                            <a:rPr lang="en-US" altLang="zh-CN" sz="2400" kern="0" dirty="0">
                              <a:solidFill>
                                <a:prstClr val="black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m:t> </m:t>
                          </m:r>
                          <m:r>
                            <a:rPr lang="zh-CN" altLang="en-US" sz="2400" i="1" kern="0" dirty="0" smtClean="0">
                              <a:solidFill>
                                <a:prstClr val="black"/>
                              </a:solidFill>
                              <a:latin typeface="Cambria Math"/>
                              <a:ea typeface="华文楷体" panose="02010600040101010101" pitchFamily="2" charset="-122"/>
                            </a:rPr>
                            <m:t>𝝈</m:t>
                          </m:r>
                        </m:den>
                      </m:f>
                    </m:oMath>
                  </m:oMathPara>
                </a14:m>
                <a:endParaRPr lang="zh-CN" altLang="en-US" sz="24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4027839"/>
                <a:ext cx="2473818" cy="84132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196008" y="4922004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拒绝域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16" name="矩形 15"/>
              <p:cNvSpPr/>
              <p:nvPr/>
            </p:nvSpPr>
            <p:spPr>
              <a:xfrm>
                <a:off x="2339752" y="5631631"/>
                <a:ext cx="242399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/>
                        </a:rPr>
                        <m:t>𝑾</m:t>
                      </m:r>
                      <m:r>
                        <a:rPr lang="en-US" altLang="zh-CN" sz="2400" b="1" i="1" dirty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altLang="zh-CN" sz="2400" b="1" i="1" dirty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∞,−</m:t>
                          </m:r>
                          <m:sSub>
                            <m:sSubPr>
                              <m:ctrlPr>
                                <a:rPr lang="en-US" altLang="zh-CN" sz="2400" b="1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zh-CN" altLang="en-US" sz="2400" b="1" i="1" dirty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𝜶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5631631"/>
                <a:ext cx="2423997" cy="46166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3902997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6" grpId="0" animBg="1"/>
      <p:bldP spid="12" grpId="0" animBg="1"/>
      <p:bldP spid="4" grpId="0"/>
      <p:bldP spid="13" grpId="0"/>
      <p:bldP spid="14" grpId="0" animBg="1"/>
      <p:bldP spid="15" grpId="0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/>
              <p:cNvSpPr txBox="1"/>
              <p:nvPr/>
            </p:nvSpPr>
            <p:spPr>
              <a:xfrm>
                <a:off x="827584" y="332656"/>
                <a:ext cx="8316416" cy="7218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𝒄𝒂𝒔𝒆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  <m:r>
                          <a:rPr lang="en-US" altLang="zh-CN" sz="2800" b="1" i="1" smtClean="0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.    </m:t>
                        </m:r>
                        <m:r>
                          <a:rPr lang="zh-CN" altLang="en-US" sz="28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FF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p>
                    </m:sSup>
                    <m:r>
                      <a:rPr lang="zh-CN" altLang="en-US" sz="2800" b="1" i="1" smtClean="0">
                        <a:solidFill>
                          <a:srgbClr val="FF0000"/>
                        </a:solidFill>
                        <a:latin typeface="Cambria Math"/>
                        <a:ea typeface="+mn-ea"/>
                      </a:rPr>
                      <m:t>未</m:t>
                    </m:r>
                  </m:oMath>
                </a14:m>
                <a:r>
                  <a:rPr lang="zh-CN" altLang="en-US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知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用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r>
                          <a:rPr lang="zh-CN" altLang="en-US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的无偏估计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𝑺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去替代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pPr>
                      <m:e>
                        <m:r>
                          <a:rPr lang="zh-CN" altLang="en-US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𝝈</m:t>
                        </m:r>
                      </m:e>
                      <m:sup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</a:p>
              <a:p>
                <a:pPr lvl="0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</a:t>
                </a:r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假设：</a:t>
                </a:r>
                <a:endParaRPr lang="en-US" altLang="zh-CN" sz="28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检验统计量</a:t>
                </a:r>
                <a14:m>
                  <m:oMath xmlns:m="http://schemas.openxmlformats.org/officeDocument/2006/math">
                    <m:r>
                      <a:rPr lang="en-US" altLang="zh-CN" sz="3200" b="1" i="0" smtClean="0">
                        <a:solidFill>
                          <a:schemeClr val="tx1"/>
                        </a:solidFill>
                        <a:latin typeface="Cambria Math"/>
                      </a:rPr>
                      <m:t>  </m:t>
                    </m:r>
                    <m:r>
                      <a:rPr lang="en-US" altLang="zh-CN" sz="3200" b="1" i="1" smtClean="0">
                        <a:solidFill>
                          <a:schemeClr val="tx1"/>
                        </a:solidFill>
                        <a:latin typeface="Cambria Math"/>
                      </a:rPr>
                      <m:t>𝑻</m:t>
                    </m:r>
                    <m:r>
                      <a:rPr lang="en-US" altLang="zh-CN" sz="3200" b="1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zh-CN" sz="3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sz="3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3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rad>
                      </m:num>
                      <m:den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𝑺</m:t>
                        </m:r>
                      </m:den>
                    </m:f>
                  </m:oMath>
                </a14:m>
                <a:endParaRPr lang="en-US" altLang="zh-CN" sz="3200" b="1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拒绝域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𝑾</m:t>
                    </m:r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d>
                      <m:d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r>
                              <a:rPr lang="zh-CN" altLang="en-US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𝜶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𝒏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,+∞</m:t>
                        </m:r>
                      </m:e>
                    </m:d>
                    <m:r>
                      <a:rPr lang="en-US" altLang="zh-CN" sz="2800" b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altLang="zh-CN" sz="2800" b="1" dirty="0" smtClean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  <a:p>
                <a:pPr lvl="0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检验假设：</a:t>
                </a:r>
                <a:endParaRPr lang="en-US" altLang="zh-CN" sz="28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检验统计量</a:t>
                </a:r>
                <a14:m>
                  <m:oMath xmlns:m="http://schemas.openxmlformats.org/officeDocument/2006/math">
                    <m:r>
                      <a:rPr lang="en-US" altLang="zh-CN" sz="3200" b="1">
                        <a:solidFill>
                          <a:prstClr val="black"/>
                        </a:solidFill>
                        <a:latin typeface="Cambria Math"/>
                      </a:rPr>
                      <m:t>  </m:t>
                    </m:r>
                    <m:r>
                      <a:rPr lang="en-US" altLang="zh-CN" sz="3200" b="1" i="1">
                        <a:solidFill>
                          <a:prstClr val="black"/>
                        </a:solidFill>
                        <a:latin typeface="Cambria Math"/>
                      </a:rPr>
                      <m:t>𝑻</m:t>
                    </m:r>
                    <m:r>
                      <a:rPr lang="en-US" altLang="zh-CN" sz="3200" b="1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rad>
                      </m:num>
                      <m:den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𝑺</m:t>
                        </m:r>
                      </m:den>
                    </m:f>
                  </m:oMath>
                </a14:m>
                <a:endParaRPr lang="en-US" altLang="zh-CN" sz="3200" b="1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拒绝域</a:t>
                </a: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𝑾</m:t>
                    </m:r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d>
                      <m:d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∞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,−</m:t>
                            </m:r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r>
                              <a:rPr lang="zh-CN" altLang="en-US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𝜶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𝒏</m:t>
                            </m:r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e>
                        </m:d>
                      </m:e>
                    </m:d>
                    <m:r>
                      <a:rPr lang="en-US" altLang="zh-CN" sz="2800" b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altLang="zh-CN" sz="2800" b="1" dirty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b="0" dirty="0" smtClean="0">
                  <a:solidFill>
                    <a:srgbClr val="000000"/>
                  </a:solidFill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solidFill>
                    <a:srgbClr val="000000"/>
                  </a:solidFill>
                  <a:ea typeface="+mn-ea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32656"/>
                <a:ext cx="8316416" cy="7218515"/>
              </a:xfrm>
              <a:prstGeom prst="rect">
                <a:avLst/>
              </a:prstGeom>
              <a:blipFill rotWithShape="1">
                <a:blip r:embed="rId4"/>
                <a:stretch>
                  <a:fillRect l="-1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71163959"/>
              </p:ext>
            </p:extLst>
          </p:nvPr>
        </p:nvGraphicFramePr>
        <p:xfrm>
          <a:off x="2699792" y="1412776"/>
          <a:ext cx="3081337" cy="461962"/>
        </p:xfrm>
        <a:graphic>
          <a:graphicData uri="http://schemas.openxmlformats.org/presentationml/2006/ole">
            <p:oleObj spid="_x0000_s6267" name="Equation" r:id="rId5" imgW="1523880" imgH="228600" progId="Equation.DSMT4">
              <p:embed/>
            </p:oleObj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49998200"/>
              </p:ext>
            </p:extLst>
          </p:nvPr>
        </p:nvGraphicFramePr>
        <p:xfrm>
          <a:off x="2699792" y="4047157"/>
          <a:ext cx="3081337" cy="461963"/>
        </p:xfrm>
        <a:graphic>
          <a:graphicData uri="http://schemas.openxmlformats.org/presentationml/2006/ole">
            <p:oleObj spid="_x0000_s6268" name="Equation" r:id="rId6" imgW="1523880" imgH="228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4098" name="Rectangle 2"/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11560" y="1017133"/>
                <a:ext cx="7993509" cy="4644115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marL="0" indent="0" eaLnBrk="1" hangingPunct="1">
                  <a:lnSpc>
                    <a:spcPct val="170000"/>
                  </a:lnSpc>
                  <a:spcBef>
                    <a:spcPts val="0"/>
                  </a:spcBef>
                  <a:buFontTx/>
                  <a:buNone/>
                </a:pPr>
                <a:r>
                  <a:rPr lang="zh-CN" altLang="en-US" sz="112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例</a:t>
                </a:r>
                <a:r>
                  <a:rPr lang="en-US" altLang="zh-CN" sz="112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  </a:t>
                </a:r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将某种农药施入农田中，防治病虫害，经三个月后土壤中如有</a:t>
                </a:r>
                <a:r>
                  <a:rPr lang="en-US" altLang="zh-CN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5</a:t>
                </a:r>
                <a14:m>
                  <m:oMath xmlns:m="http://schemas.openxmlformats.org/officeDocument/2006/math">
                    <m:r>
                      <a:rPr lang="en-US" altLang="zh-CN" sz="11200" b="1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US" altLang="zh-CN" sz="11200" b="1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11200" b="1" i="1" smtClean="0">
                            <a:latin typeface="Cambria Math"/>
                            <a:ea typeface="Cambria Math"/>
                          </a:rPr>
                          <m:t>𝟏𝟎</m:t>
                        </m:r>
                      </m:e>
                      <m:sup>
                        <m:r>
                          <a:rPr lang="en-US" altLang="zh-CN" sz="11200" b="1" i="1" smtClean="0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sz="112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以上的浓度时，认为仍有残效</a:t>
                </a:r>
                <a:r>
                  <a:rPr lang="en-US" altLang="zh-CN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在一块已施药的农田中随机取</a:t>
                </a:r>
                <a:r>
                  <a:rPr lang="en-US" altLang="zh-CN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10</a:t>
                </a:r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个土样进行分析，其浓度为：</a:t>
                </a:r>
                <a:endParaRPr lang="en-US" altLang="zh-CN" sz="112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lnSpc>
                    <a:spcPct val="170000"/>
                  </a:lnSpc>
                  <a:spcBef>
                    <a:spcPts val="0"/>
                  </a:spcBef>
                  <a:buNone/>
                </a:pPr>
                <a:r>
                  <a:rPr lang="en-US" altLang="zh-CN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4.8, 3.2, 2.6, 6.0, 5.4, 7.6, 2.1, 2.5, 3.1, 3.5</a:t>
                </a:r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（单位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12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112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𝟏𝟎</m:t>
                        </m:r>
                      </m:e>
                      <m:sup>
                        <m:r>
                          <a:rPr lang="en-US" altLang="zh-CN" sz="112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sz="11200" b="1" i="1">
                            <a:solidFill>
                              <a:prstClr val="black"/>
                            </a:solidFill>
                            <a:latin typeface="Cambria Math"/>
                            <a:ea typeface="Cambria Math"/>
                          </a:rPr>
                          <m:t>𝟔</m:t>
                        </m:r>
                      </m:sup>
                    </m:sSup>
                  </m:oMath>
                </a14:m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</a:t>
                </a:r>
                <a:endParaRPr lang="en-US" altLang="zh-CN" sz="112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 eaLnBrk="1" hangingPunct="1">
                  <a:lnSpc>
                    <a:spcPct val="170000"/>
                  </a:lnSpc>
                  <a:spcBef>
                    <a:spcPts val="0"/>
                  </a:spcBef>
                  <a:buFontTx/>
                  <a:buNone/>
                </a:pPr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问该农药经三个月后是否仍有残效（土壤残余农药浓度服从正态分布，显著性水平</a:t>
                </a:r>
                <a14:m>
                  <m:oMath xmlns:m="http://schemas.openxmlformats.org/officeDocument/2006/math">
                    <m:r>
                      <a:rPr lang="zh-CN" altLang="en-US" sz="11200" b="1" i="1" smtClean="0">
                        <a:latin typeface="Cambria Math"/>
                      </a:rPr>
                      <m:t>𝜶</m:t>
                    </m:r>
                    <m:r>
                      <a:rPr lang="en-US" altLang="zh-CN" sz="11200" b="1" i="1" smtClean="0">
                        <a:latin typeface="Cambria Math"/>
                      </a:rPr>
                      <m:t>=</m:t>
                    </m:r>
                    <m:r>
                      <a:rPr lang="en-US" altLang="zh-CN" sz="11200" b="1" i="1" smtClean="0">
                        <a:latin typeface="Cambria Math"/>
                      </a:rPr>
                      <m:t>𝟎</m:t>
                    </m:r>
                    <m:r>
                      <a:rPr lang="en-US" altLang="zh-CN" sz="11200" b="1" i="1" smtClean="0">
                        <a:latin typeface="Cambria Math"/>
                      </a:rPr>
                      <m:t>.</m:t>
                    </m:r>
                    <m:r>
                      <a:rPr lang="en-US" altLang="zh-CN" sz="11200" b="1" i="1" smtClean="0">
                        <a:latin typeface="Cambria Math"/>
                      </a:rPr>
                      <m:t>𝟎𝟓</m:t>
                    </m:r>
                  </m:oMath>
                </a14:m>
                <a:r>
                  <a:rPr lang="zh-CN" altLang="en-US" sz="112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</a:t>
                </a:r>
                <a:endParaRPr lang="en-US" altLang="zh-CN" sz="112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hangingPunct="1">
                  <a:buFontTx/>
                  <a:buNone/>
                </a:pPr>
                <a:r>
                  <a:rPr lang="zh-CN" altLang="en-US" sz="45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endParaRPr lang="en-US" altLang="zh-CN" sz="45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hangingPunct="1">
                  <a:buFontTx/>
                  <a:buNone/>
                </a:pPr>
                <a:r>
                  <a:rPr lang="en-US" altLang="zh-CN" b="1" dirty="0"/>
                  <a:t/>
                </a:r>
                <a:r>
                  <a:rPr lang="en-US" altLang="zh-CN" b="1" dirty="0" smtClean="0"/>
                  <a:t/>
                </a:r>
                <a:endParaRPr lang="zh-CN" altLang="en-US" b="1" dirty="0" smtClean="0"/>
              </a:p>
            </p:txBody>
          </p:sp>
        </mc:Choice>
        <mc:Fallback>
          <p:sp>
            <p:nvSpPr>
              <p:cNvPr id="409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11560" y="1017133"/>
                <a:ext cx="7993509" cy="4644115"/>
              </a:xfrm>
              <a:blipFill rotWithShape="1">
                <a:blip r:embed="rId3"/>
                <a:stretch>
                  <a:fillRect l="-1524" r="-5945" b="-1444"/>
                </a:stretch>
              </a:blipFill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467544" y="1340768"/>
            <a:ext cx="813752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36332331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/>
              <p:cNvSpPr txBox="1"/>
              <p:nvPr/>
            </p:nvSpPr>
            <p:spPr>
              <a:xfrm>
                <a:off x="827584" y="332656"/>
                <a:ext cx="5688632" cy="38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</a:t>
                </a:r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假设</a:t>
                </a:r>
                <a:r>
                  <a:rPr lang="zh-CN" altLang="en-US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:</m:t>
                        </m:r>
                      </m:sub>
                    </m:sSub>
                    <m:r>
                      <a:rPr lang="zh-CN" altLang="en-US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zh-CN" altLang="en-US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≥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𝟓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;</m:t>
                    </m:r>
                  </m:oMath>
                </a14:m>
                <a:r>
                  <a:rPr lang="en-US" altLang="zh-CN" sz="2800" b="1" dirty="0">
                    <a:solidFill>
                      <a:prstClr val="black"/>
                    </a:solidFill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𝟏</m:t>
                        </m:r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:</m:t>
                        </m:r>
                      </m:sub>
                    </m:sSub>
                    <m:r>
                      <a:rPr lang="zh-CN" altLang="en-US" sz="2800" b="1" i="1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&lt;</m:t>
                    </m:r>
                    <m:r>
                      <a:rPr lang="en-US" altLang="zh-CN" sz="2800" b="1" i="1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𝟓</m:t>
                    </m:r>
                  </m:oMath>
                </a14:m>
                <a:endParaRPr lang="en-US" altLang="zh-CN" sz="28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检验统计量</a:t>
                </a:r>
                <a14:m>
                  <m:oMath xmlns:m="http://schemas.openxmlformats.org/officeDocument/2006/math">
                    <m:r>
                      <a:rPr lang="en-US" altLang="zh-CN" sz="3200" b="1" smtClean="0">
                        <a:solidFill>
                          <a:prstClr val="black"/>
                        </a:solidFill>
                        <a:latin typeface="Cambria Math"/>
                      </a:rPr>
                      <m:t>  </m:t>
                    </m:r>
                    <m:r>
                      <a:rPr lang="en-US" altLang="zh-CN" sz="3200" b="1" i="1" smtClean="0">
                        <a:solidFill>
                          <a:prstClr val="black"/>
                        </a:solidFill>
                        <a:latin typeface="Cambria Math"/>
                      </a:rPr>
                      <m:t>𝑻</m:t>
                    </m:r>
                    <m:r>
                      <a:rPr lang="en-US" altLang="zh-CN" sz="3200" b="1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rad>
                      </m:num>
                      <m:den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𝑺</m:t>
                        </m:r>
                      </m:den>
                    </m:f>
                  </m:oMath>
                </a14:m>
                <a:endParaRPr lang="en-US" altLang="zh-CN" sz="3200" b="1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拒绝域 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𝑾</m:t>
                    </m:r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d>
                      <m:d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∞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,−</m:t>
                            </m:r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r>
                              <a:rPr lang="zh-CN" altLang="en-US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𝜶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𝒏</m:t>
                            </m:r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𝟏</m:t>
                            </m:r>
                          </m:e>
                        </m:d>
                      </m:e>
                    </m:d>
                    <m:r>
                      <a:rPr lang="en-US" altLang="zh-CN" sz="2800" b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altLang="zh-CN" sz="2800" b="1" dirty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solidFill>
                    <a:srgbClr val="000000"/>
                  </a:solidFill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solidFill>
                    <a:srgbClr val="000000"/>
                  </a:solidFill>
                  <a:ea typeface="宋体"/>
                </a:endParaRPr>
              </a:p>
              <a:p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32656"/>
                <a:ext cx="5688632" cy="3829895"/>
              </a:xfrm>
              <a:prstGeom prst="rect">
                <a:avLst/>
              </a:prstGeom>
              <a:blipFill rotWithShape="1">
                <a:blip r:embed="rId4"/>
                <a:stretch>
                  <a:fillRect l="-22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矩形 2"/>
              <p:cNvSpPr/>
              <p:nvPr/>
            </p:nvSpPr>
            <p:spPr>
              <a:xfrm>
                <a:off x="899592" y="3202156"/>
                <a:ext cx="194764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𝒕</m:t>
                      </m:r>
                      <m:r>
                        <a:rPr lang="en-US" altLang="zh-CN" sz="2800" b="1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.</m:t>
                      </m:r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𝟔𝟐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202156"/>
                <a:ext cx="1947648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矩形 4"/>
              <p:cNvSpPr/>
              <p:nvPr/>
            </p:nvSpPr>
            <p:spPr>
              <a:xfrm>
                <a:off x="35496" y="3916213"/>
                <a:ext cx="4572000" cy="7386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𝑾</m:t>
                      </m:r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=(−∞,−</m:t>
                      </m:r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𝟖𝟑</m:t>
                      </m:r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)</m:t>
                      </m:r>
                    </m:oMath>
                  </m:oMathPara>
                </a14:m>
                <a:endParaRPr lang="en-US" altLang="zh-CN" sz="2800" b="1" dirty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3916213"/>
                <a:ext cx="4572000" cy="73866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52111405"/>
              </p:ext>
            </p:extLst>
          </p:nvPr>
        </p:nvGraphicFramePr>
        <p:xfrm>
          <a:off x="4175448" y="4038811"/>
          <a:ext cx="864096" cy="493468"/>
        </p:xfrm>
        <a:graphic>
          <a:graphicData uri="http://schemas.openxmlformats.org/presentationml/2006/ole">
            <p:oleObj spid="_x0000_s16408" name="Equation" r:id="rId7" imgW="355320" imgH="203040" progId="Equation.DSMT4">
              <p:embed/>
            </p:oleObj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9" name="矩形 8"/>
              <p:cNvSpPr/>
              <p:nvPr/>
            </p:nvSpPr>
            <p:spPr>
              <a:xfrm>
                <a:off x="539552" y="4924325"/>
                <a:ext cx="860444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接受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  <m:r>
                      <a:rPr lang="zh-CN" altLang="en-US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，</m:t>
                    </m:r>
                    <m:r>
                      <a:rPr lang="zh-CN" altLang="en-US" sz="2800" b="0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即</m:t>
                    </m:r>
                    <m:r>
                      <a:rPr lang="zh-CN" altLang="en-US" sz="2800" b="0" i="1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在显著性水平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𝟎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.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𝟎𝟓</m:t>
                    </m:r>
                    <m:r>
                      <a:rPr lang="zh-CN" altLang="en-US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下</m:t>
                    </m:r>
                    <m:r>
                      <a:rPr lang="zh-CN" altLang="en-US" sz="2800" b="0" i="1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认为农药仍有残效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.</m:t>
                    </m:r>
                  </m:oMath>
                </a14:m>
                <a:endParaRPr lang="en-US" altLang="zh-CN" sz="28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924325"/>
                <a:ext cx="8604448" cy="738664"/>
              </a:xfrm>
              <a:prstGeom prst="rect">
                <a:avLst/>
              </a:prstGeom>
              <a:blipFill rotWithShape="1">
                <a:blip r:embed="rId8"/>
                <a:stretch>
                  <a:fillRect l="-1488" b="-140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7044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  <p:bldP spid="5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4098" name="Rectangle 2"/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11560" y="1017133"/>
                <a:ext cx="7993509" cy="4644115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pPr marL="0" indent="0" eaLnBrk="1" hangingPunct="1">
                  <a:lnSpc>
                    <a:spcPct val="170000"/>
                  </a:lnSpc>
                  <a:spcBef>
                    <a:spcPts val="0"/>
                  </a:spcBef>
                  <a:buFontTx/>
                  <a:buNone/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例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 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一</a:t>
                </a:r>
                <a:r>
                  <a:rPr lang="zh-CN" altLang="en-US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批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木头，卖者称其小头直径不低于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12cm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，已知小头直径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/>
                        <a:ea typeface="华文楷体" panose="02010600040101010101" pitchFamily="2" charset="-122"/>
                      </a:rPr>
                      <m:t>𝑿</m:t>
                    </m:r>
                    <m:r>
                      <a:rPr lang="en-US" altLang="zh-CN" sz="2800" b="1" i="1" smtClean="0">
                        <a:latin typeface="Cambria Math"/>
                        <a:ea typeface="Cambria Math"/>
                      </a:rPr>
                      <m:t>~</m:t>
                    </m:r>
                    <m:r>
                      <a:rPr lang="en-US" altLang="zh-CN" sz="2800" b="1" i="1" smtClean="0">
                        <a:latin typeface="Cambria Math"/>
                        <a:ea typeface="Cambria Math"/>
                      </a:rPr>
                      <m:t>𝑵</m:t>
                    </m:r>
                    <m:r>
                      <a:rPr lang="en-US" altLang="zh-CN" sz="2800" b="1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zh-CN" altLang="en-US" sz="2800" b="1" i="1" smtClean="0">
                        <a:latin typeface="Cambria Math"/>
                        <a:ea typeface="Cambria Math"/>
                      </a:rPr>
                      <m:t>𝝁</m:t>
                    </m:r>
                    <m:r>
                      <a:rPr lang="en-US" altLang="zh-CN" sz="2800" b="1" i="1" smtClean="0">
                        <a:latin typeface="Cambria Math"/>
                        <a:ea typeface="Cambria Math"/>
                      </a:rPr>
                      <m:t>,</m:t>
                    </m:r>
                    <m:sSup>
                      <m:sSupPr>
                        <m:ctrlPr>
                          <a:rPr lang="en-US" altLang="zh-CN" sz="2800" b="1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latin typeface="Cambria Math"/>
                            <a:ea typeface="Cambria Math"/>
                          </a:rPr>
                          <m:t>𝟐</m:t>
                        </m:r>
                        <m:r>
                          <a:rPr lang="en-US" altLang="zh-CN" sz="2800" b="1" i="1" smtClean="0">
                            <a:latin typeface="Cambria Math"/>
                            <a:ea typeface="Cambria Math"/>
                          </a:rPr>
                          <m:t>.</m:t>
                        </m:r>
                        <m:r>
                          <a:rPr lang="en-US" altLang="zh-CN" sz="2800" b="1" i="1" smtClean="0">
                            <a:latin typeface="Cambria Math"/>
                            <a:ea typeface="Cambria Math"/>
                          </a:rPr>
                          <m:t>𝟔</m:t>
                        </m:r>
                      </m:e>
                      <m:sup>
                        <m:r>
                          <a:rPr lang="en-US" altLang="zh-CN" sz="2800" b="1" i="1" smtClean="0">
                            <a:latin typeface="Cambria Math"/>
                            <a:ea typeface="Cambria Math"/>
                          </a:rPr>
                          <m:t>𝟐</m:t>
                        </m:r>
                      </m:sup>
                    </m:sSup>
                    <m:r>
                      <a:rPr lang="en-US" altLang="zh-CN" sz="2800" b="1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在这批木材中抽取了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100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根，测其直径，得到样本均值为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11.2cm,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问在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/>
                        <a:ea typeface="华文楷体" panose="02010600040101010101" pitchFamily="2" charset="-122"/>
                      </a:rPr>
                      <m:t>𝜶</m:t>
                    </m:r>
                    <m:r>
                      <a:rPr lang="en-US" altLang="zh-CN" sz="2800" b="1" i="1" smtClean="0">
                        <a:latin typeface="Cambria Math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/>
                        <a:ea typeface="华文楷体" panose="02010600040101010101" pitchFamily="2" charset="-122"/>
                      </a:rPr>
                      <m:t>𝟎</m:t>
                    </m:r>
                    <m:r>
                      <a:rPr lang="en-US" altLang="zh-CN" sz="2800" b="1" i="1" smtClean="0">
                        <a:latin typeface="Cambria Math"/>
                        <a:ea typeface="华文楷体" panose="02010600040101010101" pitchFamily="2" charset="-122"/>
                      </a:rPr>
                      <m:t>.</m:t>
                    </m:r>
                    <m:r>
                      <a:rPr lang="en-US" altLang="zh-CN" sz="2800" b="1" i="1" smtClean="0">
                        <a:latin typeface="Cambria Math"/>
                        <a:ea typeface="华文楷体" panose="02010600040101010101" pitchFamily="2" charset="-122"/>
                      </a:rPr>
                      <m:t>𝟎𝟓</m:t>
                    </m:r>
                    <m:r>
                      <a:rPr lang="zh-CN" altLang="en-US" sz="2800" b="1" i="1" smtClean="0">
                        <a:latin typeface="Cambria Math"/>
                        <a:ea typeface="华文楷体" panose="02010600040101010101" pitchFamily="2" charset="-122"/>
                      </a:rPr>
                      <m:t>下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，能否认为该批木料小头直径的平均直径低于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12cm?</a:t>
                </a:r>
              </a:p>
              <a:p>
                <a:pPr eaLnBrk="1" hangingPunct="1">
                  <a:buFontTx/>
                  <a:buNone/>
                </a:pPr>
                <a:r>
                  <a:rPr lang="en-US" altLang="zh-CN" b="1" dirty="0"/>
                  <a:t/>
                </a:r>
                <a:r>
                  <a:rPr lang="en-US" altLang="zh-CN" b="1" dirty="0" smtClean="0"/>
                  <a:t/>
                </a:r>
                <a:endParaRPr lang="zh-CN" altLang="en-US" b="1" dirty="0" smtClean="0"/>
              </a:p>
            </p:txBody>
          </p:sp>
        </mc:Choice>
        <mc:Fallback>
          <p:sp>
            <p:nvSpPr>
              <p:cNvPr id="409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11560" y="1017133"/>
                <a:ext cx="7993509" cy="4644115"/>
              </a:xfrm>
              <a:blipFill rotWithShape="1">
                <a:blip r:embed="rId3"/>
                <a:stretch>
                  <a:fillRect l="-1524" r="-1220"/>
                </a:stretch>
              </a:blipFill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395536" y="1052736"/>
            <a:ext cx="813752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95858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/>
              <p:cNvSpPr txBox="1"/>
              <p:nvPr/>
            </p:nvSpPr>
            <p:spPr>
              <a:xfrm>
                <a:off x="827584" y="332656"/>
                <a:ext cx="5688632" cy="3829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</a:t>
                </a:r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假设</a:t>
                </a:r>
                <a:r>
                  <a:rPr lang="zh-CN" altLang="en-US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:</m:t>
                        </m:r>
                      </m:sub>
                    </m:sSub>
                    <m:r>
                      <a:rPr lang="zh-CN" altLang="en-US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zh-CN" altLang="en-US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≥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𝟏𝟐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;</m:t>
                    </m:r>
                  </m:oMath>
                </a14:m>
                <a:r>
                  <a:rPr lang="en-US" altLang="zh-CN" sz="2800" b="1" dirty="0">
                    <a:solidFill>
                      <a:prstClr val="black"/>
                    </a:solidFill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𝟏</m:t>
                        </m:r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:</m:t>
                        </m:r>
                      </m:sub>
                    </m:sSub>
                    <m:r>
                      <a:rPr lang="zh-CN" altLang="en-US" sz="2800" b="1" i="1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&lt;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𝟏𝟐</m:t>
                    </m:r>
                  </m:oMath>
                </a14:m>
                <a:endParaRPr lang="en-US" altLang="zh-CN" sz="28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检验统计量</a:t>
                </a:r>
                <a14:m>
                  <m:oMath xmlns:m="http://schemas.openxmlformats.org/officeDocument/2006/math">
                    <m:r>
                      <a:rPr lang="en-US" altLang="zh-CN" sz="3200" b="1" smtClean="0">
                        <a:solidFill>
                          <a:prstClr val="black"/>
                        </a:solidFill>
                        <a:latin typeface="Cambria Math"/>
                      </a:rPr>
                      <m:t>  </m:t>
                    </m:r>
                    <m:r>
                      <a:rPr lang="en-US" altLang="zh-CN" sz="3200" b="1" i="1" smtClean="0">
                        <a:solidFill>
                          <a:prstClr val="black"/>
                        </a:solidFill>
                        <a:latin typeface="Cambria Math"/>
                      </a:rPr>
                      <m:t>𝑼</m:t>
                    </m:r>
                    <m:r>
                      <a:rPr lang="en-US" altLang="zh-CN" sz="3200" b="1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rad>
                      </m:num>
                      <m:den>
                        <m:r>
                          <a:rPr lang="zh-CN" altLang="en-US" sz="3200" b="1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𝝈</m:t>
                        </m:r>
                      </m:den>
                    </m:f>
                  </m:oMath>
                </a14:m>
                <a:endParaRPr lang="en-US" altLang="zh-CN" sz="3200" b="1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拒绝域 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𝑾</m:t>
                    </m:r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d>
                      <m:d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∞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,−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𝒖</m:t>
                            </m:r>
                          </m:e>
                          <m:sub>
                            <m:r>
                              <a:rPr lang="zh-CN" altLang="en-US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𝜶</m:t>
                            </m:r>
                          </m:sub>
                        </m:sSub>
                      </m:e>
                    </m:d>
                    <m:r>
                      <a:rPr lang="en-US" altLang="zh-CN" sz="2800" b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altLang="zh-CN" sz="2800" b="1" dirty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solidFill>
                    <a:srgbClr val="000000"/>
                  </a:solidFill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solidFill>
                    <a:srgbClr val="000000"/>
                  </a:solidFill>
                  <a:ea typeface="宋体"/>
                </a:endParaRPr>
              </a:p>
              <a:p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32656"/>
                <a:ext cx="5688632" cy="3829895"/>
              </a:xfrm>
              <a:prstGeom prst="rect">
                <a:avLst/>
              </a:prstGeom>
              <a:blipFill rotWithShape="1">
                <a:blip r:embed="rId3"/>
                <a:stretch>
                  <a:fillRect l="-22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矩形 2"/>
              <p:cNvSpPr/>
              <p:nvPr/>
            </p:nvSpPr>
            <p:spPr>
              <a:xfrm>
                <a:off x="899592" y="3789040"/>
                <a:ext cx="280602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𝒖</m:t>
                      </m:r>
                      <m:r>
                        <a:rPr lang="en-US" altLang="zh-CN" sz="2800" b="1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−</m:t>
                      </m:r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.</m:t>
                      </m:r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</a:rPr>
                        <m:t>𝟎𝟖</m:t>
                      </m:r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altLang="zh-CN" sz="2800" b="1" i="1" smtClean="0">
                          <a:solidFill>
                            <a:prstClr val="black"/>
                          </a:solidFill>
                          <a:latin typeface="Cambria Math"/>
                          <a:ea typeface="Cambria Math"/>
                        </a:rPr>
                        <m:t>𝑾</m:t>
                      </m:r>
                    </m:oMath>
                  </m:oMathPara>
                </a14:m>
                <a:endParaRPr lang="zh-CN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789040"/>
                <a:ext cx="2806025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矩形 4"/>
              <p:cNvSpPr/>
              <p:nvPr/>
            </p:nvSpPr>
            <p:spPr>
              <a:xfrm>
                <a:off x="252536" y="2852936"/>
                <a:ext cx="4607496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𝑾</m:t>
                      </m:r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=(−∞,−</m:t>
                      </m:r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.</m:t>
                      </m:r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𝟔𝟒𝟓</m:t>
                      </m:r>
                      <m:r>
                        <a:rPr lang="en-US" altLang="zh-CN" sz="2800" b="1" i="1" dirty="0" smtClean="0">
                          <a:solidFill>
                            <a:srgbClr val="000000"/>
                          </a:solidFill>
                          <a:latin typeface="Cambria Math"/>
                          <a:ea typeface="宋体"/>
                        </a:rPr>
                        <m:t>)</m:t>
                      </m:r>
                    </m:oMath>
                  </m:oMathPara>
                </a14:m>
                <a:endParaRPr lang="en-US" altLang="zh-CN" sz="2800" b="1" dirty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36" y="2852936"/>
                <a:ext cx="4607496" cy="73866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矩形 7"/>
              <p:cNvSpPr/>
              <p:nvPr/>
            </p:nvSpPr>
            <p:spPr>
              <a:xfrm>
                <a:off x="791580" y="4319923"/>
                <a:ext cx="7668852" cy="15573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fontAlgn="auto">
                  <a:lnSpc>
                    <a:spcPct val="1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  <m:r>
                      <a:rPr lang="zh-CN" altLang="en-US" sz="2800" b="1" i="1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，</m:t>
                    </m:r>
                  </m:oMath>
                </a14:m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即</a:t>
                </a:r>
                <a:r>
                  <a:rPr lang="zh-CN" altLang="en-US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可以认为</a:t>
                </a:r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该批木料小头直径的平均直径低于</a:t>
                </a:r>
                <a:r>
                  <a:rPr lang="en-US" altLang="zh-CN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12cm.</a:t>
                </a:r>
                <a:endParaRPr lang="en-US" altLang="zh-CN" sz="28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80" y="4319923"/>
                <a:ext cx="7668852" cy="1557349"/>
              </a:xfrm>
              <a:prstGeom prst="rect">
                <a:avLst/>
              </a:prstGeom>
              <a:blipFill rotWithShape="1">
                <a:blip r:embed="rId6"/>
                <a:stretch>
                  <a:fillRect l="-1669" b="-47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60174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4098" name="Rectangle 2"/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11560" y="1017133"/>
                <a:ext cx="7993509" cy="4644115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eaLnBrk="1" hangingPunct="1">
                  <a:lnSpc>
                    <a:spcPct val="170000"/>
                  </a:lnSpc>
                  <a:spcBef>
                    <a:spcPts val="0"/>
                  </a:spcBef>
                  <a:buFontTx/>
                  <a:buNone/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练习</a:t>
                </a:r>
                <a:r>
                  <a:rPr lang="en-US" altLang="zh-CN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已知某发动机使用一升柴油的运转时间服从正态分布，现随机抽取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9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台发动机的运转时间（分钟），算得样本均值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 smtClean="0"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accPr>
                      <m:e>
                        <m:r>
                          <a:rPr lang="en-US" altLang="zh-CN" sz="2800" b="1" i="1" smtClean="0">
                            <a:latin typeface="Cambria Math"/>
                            <a:ea typeface="华文楷体" panose="02010600040101010101" pitchFamily="2" charset="-122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altLang="zh-CN" sz="2800" b="1" dirty="0" smtClean="0"/>
                  <a:t>=29</a:t>
                </a:r>
                <a:r>
                  <a:rPr lang="zh-CN" altLang="en-US" sz="2800" b="1" dirty="0" smtClean="0"/>
                  <a:t>，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样本标准差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s=1.4,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按设计要求，平均每升运转应在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30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分钟以上，根据测试结果，在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/>
                        <a:ea typeface="华文楷体" panose="02010600040101010101" pitchFamily="2" charset="-122"/>
                      </a:rPr>
                      <m:t>𝜶</m:t>
                    </m:r>
                    <m:r>
                      <a:rPr lang="en-US" altLang="zh-CN" sz="2800" b="1" i="1" smtClean="0">
                        <a:latin typeface="Cambria Math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2800" b="1" i="1" smtClean="0">
                        <a:latin typeface="Cambria Math"/>
                        <a:ea typeface="华文楷体" panose="02010600040101010101" pitchFamily="2" charset="-122"/>
                      </a:rPr>
                      <m:t>𝟎</m:t>
                    </m:r>
                    <m:r>
                      <a:rPr lang="en-US" altLang="zh-CN" sz="2800" b="1" i="1" smtClean="0">
                        <a:latin typeface="Cambria Math"/>
                        <a:ea typeface="华文楷体" panose="02010600040101010101" pitchFamily="2" charset="-122"/>
                      </a:rPr>
                      <m:t>.</m:t>
                    </m:r>
                    <m:r>
                      <a:rPr lang="en-US" altLang="zh-CN" sz="2800" b="1" i="1" smtClean="0">
                        <a:latin typeface="Cambria Math"/>
                        <a:ea typeface="华文楷体" panose="02010600040101010101" pitchFamily="2" charset="-122"/>
                      </a:rPr>
                      <m:t>𝟎𝟓</m:t>
                    </m:r>
                    <m:r>
                      <a:rPr lang="zh-CN" altLang="en-US" sz="2800" b="1" i="1" smtClean="0">
                        <a:latin typeface="Cambria Math"/>
                        <a:ea typeface="华文楷体" panose="02010600040101010101" pitchFamily="2" charset="-122"/>
                      </a:rPr>
                      <m:t>下，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检验发动机是否符合要求？</a:t>
                </a:r>
              </a:p>
            </p:txBody>
          </p:sp>
        </mc:Choice>
        <mc:Fallback>
          <p:sp>
            <p:nvSpPr>
              <p:cNvPr id="409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11560" y="1017133"/>
                <a:ext cx="7993509" cy="4644115"/>
              </a:xfrm>
              <a:blipFill rotWithShape="1">
                <a:blip r:embed="rId3"/>
                <a:stretch>
                  <a:fillRect l="-1524" r="-5945"/>
                </a:stretch>
              </a:blipFill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395536" y="1052736"/>
            <a:ext cx="8137525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7530135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TextBox 6"/>
              <p:cNvSpPr txBox="1"/>
              <p:nvPr/>
            </p:nvSpPr>
            <p:spPr>
              <a:xfrm>
                <a:off x="827584" y="332656"/>
                <a:ext cx="5688632" cy="36865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</a:t>
                </a:r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假设</a:t>
                </a:r>
                <a:r>
                  <a:rPr lang="zh-CN" altLang="en-US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:</m:t>
                        </m:r>
                      </m:sub>
                    </m:sSub>
                    <m:r>
                      <a:rPr lang="zh-CN" altLang="en-US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zh-CN" altLang="en-US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≥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𝟑𝟎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;</m:t>
                    </m:r>
                  </m:oMath>
                </a14:m>
                <a:r>
                  <a:rPr lang="en-US" altLang="zh-CN" sz="2800" b="1" dirty="0">
                    <a:solidFill>
                      <a:prstClr val="black"/>
                    </a:solidFill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 smtClean="0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𝟏</m:t>
                        </m:r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:</m:t>
                        </m:r>
                      </m:sub>
                    </m:sSub>
                    <m:r>
                      <a:rPr lang="zh-CN" altLang="en-US" sz="2800" b="1" i="1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𝝁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&lt;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𝟑𝟎</m:t>
                    </m:r>
                  </m:oMath>
                </a14:m>
                <a:endParaRPr lang="en-US" altLang="zh-CN" sz="28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检验统计量</a:t>
                </a:r>
                <a14:m>
                  <m:oMath xmlns:m="http://schemas.openxmlformats.org/officeDocument/2006/math">
                    <m:r>
                      <a:rPr lang="en-US" altLang="zh-CN" sz="3200" b="1" smtClean="0">
                        <a:solidFill>
                          <a:prstClr val="black"/>
                        </a:solidFill>
                        <a:latin typeface="Cambria Math"/>
                      </a:rPr>
                      <m:t>  </m:t>
                    </m:r>
                    <m:r>
                      <a:rPr lang="en-US" altLang="zh-CN" sz="3200" b="1" i="1" smtClean="0">
                        <a:solidFill>
                          <a:prstClr val="black"/>
                        </a:solidFill>
                        <a:latin typeface="Cambria Math"/>
                      </a:rPr>
                      <m:t>𝑻</m:t>
                    </m:r>
                    <m:r>
                      <a:rPr lang="en-US" altLang="zh-CN" sz="3200" b="1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(</m:t>
                        </m:r>
                        <m:acc>
                          <m:accPr>
                            <m:chr m:val="̅"/>
                            <m:ctrlP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𝑿</m:t>
                            </m:r>
                          </m:e>
                        </m:acc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zh-CN" altLang="en-US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3200" b="1" i="1" dirty="0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3200" b="1" i="1">
                            <a:solidFill>
                              <a:prstClr val="black"/>
                            </a:solidFill>
                            <a:latin typeface="Cambria Math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3200" b="1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𝒏</m:t>
                            </m:r>
                          </m:e>
                        </m:rad>
                      </m:num>
                      <m:den>
                        <m:r>
                          <a:rPr lang="en-US" altLang="zh-CN" sz="3200" b="1" i="1" smtClean="0">
                            <a:solidFill>
                              <a:prstClr val="black"/>
                            </a:solidFill>
                            <a:latin typeface="Cambria Math"/>
                          </a:rPr>
                          <m:t>𝒔</m:t>
                        </m:r>
                      </m:den>
                    </m:f>
                  </m:oMath>
                </a14:m>
                <a:endParaRPr lang="en-US" altLang="zh-CN" sz="3200" b="1" dirty="0">
                  <a:solidFill>
                    <a:prstClr val="black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 smtClean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拒绝域 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𝑾</m:t>
                    </m:r>
                    <m:r>
                      <a:rPr lang="en-US" altLang="zh-CN" sz="2800" b="1" i="1" dirty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</m:t>
                    </m:r>
                    <m:d>
                      <m:dPr>
                        <m:ctrlPr>
                          <a:rPr lang="en-US" altLang="zh-CN" sz="2800" b="1" i="1" dirty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en-US" altLang="zh-CN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∞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,−</m:t>
                            </m:r>
                            <m:r>
                              <a:rPr lang="en-US" altLang="zh-CN" sz="2800" b="1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𝒕</m:t>
                            </m:r>
                          </m:e>
                          <m:sub>
                            <m:r>
                              <a:rPr lang="zh-CN" altLang="en-US" sz="2800" b="1" i="1" dirty="0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</a:rPr>
                              <m:t>𝜶</m:t>
                            </m:r>
                          </m:sub>
                        </m:sSub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𝒏</m:t>
                        </m:r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𝟏</m:t>
                        </m:r>
                        <m:r>
                          <a:rPr lang="en-US" altLang="zh-CN" sz="2800" b="1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d>
                    <m:r>
                      <a:rPr lang="en-US" altLang="zh-CN" sz="2800" b="1" dirty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endParaRPr lang="en-US" altLang="zh-CN" sz="2800" b="1" dirty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dirty="0" smtClean="0">
                  <a:solidFill>
                    <a:srgbClr val="000000"/>
                  </a:solidFill>
                  <a:ea typeface="Cambria Math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2000" dirty="0" smtClean="0">
                  <a:solidFill>
                    <a:srgbClr val="000000"/>
                  </a:solidFill>
                  <a:ea typeface="宋体"/>
                </a:endParaRPr>
              </a:p>
              <a:p>
                <a:endParaRPr lang="zh-CN" altLang="en-US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32656"/>
                <a:ext cx="5688632" cy="3686587"/>
              </a:xfrm>
              <a:prstGeom prst="rect">
                <a:avLst/>
              </a:prstGeom>
              <a:blipFill rotWithShape="1">
                <a:blip r:embed="rId3"/>
                <a:stretch>
                  <a:fillRect l="-22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矩形 2"/>
              <p:cNvSpPr/>
              <p:nvPr/>
            </p:nvSpPr>
            <p:spPr>
              <a:xfrm>
                <a:off x="899592" y="3933056"/>
                <a:ext cx="270946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b="1" dirty="0" smtClean="0">
                    <a:solidFill>
                      <a:prstClr val="black"/>
                    </a:solidFill>
                  </a:rPr>
                  <a:t>t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</a:rPr>
                      <m:t>−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</a:rPr>
                      <m:t>𝟐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</a:rPr>
                      <m:t>.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</a:rPr>
                      <m:t>𝟏𝟒𝟑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altLang="zh-CN" sz="2800" b="1" i="1" smtClean="0">
                        <a:solidFill>
                          <a:prstClr val="black"/>
                        </a:solidFill>
                        <a:latin typeface="Cambria Math"/>
                        <a:ea typeface="Cambria Math"/>
                      </a:rPr>
                      <m:t>𝑾</m:t>
                    </m:r>
                  </m:oMath>
                </a14:m>
                <a:endParaRPr lang="zh-CN" altLang="en-US" sz="2800" dirty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3933056"/>
                <a:ext cx="2709460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4730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5" name="矩形 4"/>
              <p:cNvSpPr/>
              <p:nvPr/>
            </p:nvSpPr>
            <p:spPr>
              <a:xfrm>
                <a:off x="252536" y="2924944"/>
                <a:ext cx="669572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800" b="1" dirty="0" smtClean="0">
                    <a:solidFill>
                      <a:srgbClr val="000000"/>
                    </a:solidFill>
                    <a:ea typeface="宋体"/>
                  </a:rPr>
                  <a:t/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=(−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∞,−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𝟏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.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Cambria Math"/>
                      </a:rPr>
                      <m:t>𝟖𝟓𝟗𝟓</m:t>
                    </m:r>
                    <m:r>
                      <a:rPr lang="en-US" altLang="zh-CN" sz="2800" b="1" i="1" dirty="0" smtClean="0">
                        <a:solidFill>
                          <a:srgbClr val="000000"/>
                        </a:solidFill>
                        <a:latin typeface="Cambria Math"/>
                        <a:ea typeface="宋体"/>
                      </a:rPr>
                      <m:t>)</m:t>
                    </m:r>
                  </m:oMath>
                </a14:m>
                <a:endParaRPr lang="en-US" altLang="zh-CN" sz="2800" b="1" dirty="0">
                  <a:solidFill>
                    <a:srgbClr val="000000"/>
                  </a:solidFill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36" y="2924944"/>
                <a:ext cx="6695728" cy="73866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矩形 7"/>
              <p:cNvSpPr/>
              <p:nvPr/>
            </p:nvSpPr>
            <p:spPr>
              <a:xfrm>
                <a:off x="791580" y="4607955"/>
                <a:ext cx="7668852" cy="8248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auto">
                  <a:lnSpc>
                    <a:spcPct val="17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800" b="1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拒绝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prstClr val="black"/>
                            </a:solidFill>
                            <a:latin typeface="Cambria Math"/>
                            <a:ea typeface="华文楷体" panose="02010600040101010101" pitchFamily="2" charset="-122"/>
                          </a:rPr>
                          <m:t>𝟎</m:t>
                        </m:r>
                      </m:sub>
                    </m:sSub>
                    <m:r>
                      <a:rPr lang="zh-CN" altLang="en-US" sz="2800" b="1" i="1">
                        <a:solidFill>
                          <a:prstClr val="black"/>
                        </a:solidFill>
                        <a:latin typeface="Cambria Math"/>
                        <a:ea typeface="华文楷体" panose="02010600040101010101" pitchFamily="2" charset="-122"/>
                      </a:rPr>
                      <m:t>，</m:t>
                    </m:r>
                  </m:oMath>
                </a14:m>
                <a:r>
                  <a:rPr lang="zh-CN" altLang="en-US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即发动机不符合要求</a:t>
                </a:r>
                <a:r>
                  <a:rPr lang="en-US" altLang="zh-CN" sz="2800" b="1" dirty="0" smtClean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.</a:t>
                </a:r>
                <a:endParaRPr lang="en-US" altLang="zh-CN" sz="2800" b="1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80" y="4607955"/>
                <a:ext cx="7668852" cy="824841"/>
              </a:xfrm>
              <a:prstGeom prst="rect">
                <a:avLst/>
              </a:prstGeom>
              <a:blipFill rotWithShape="1">
                <a:blip r:embed="rId6"/>
                <a:stretch>
                  <a:fillRect l="-1669" b="-9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264412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6_Notebook">
  <a:themeElements>
    <a:clrScheme name="6_Notebook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6_Notebook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6_Notebook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Notebook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8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9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8C001B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10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8C001B"/>
        </a:accent4>
        <a:accent5>
          <a:srgbClr val="DAEDEF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11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B9"/>
        </a:accent6>
        <a:hlink>
          <a:srgbClr val="0099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2606</TotalTime>
  <Words>40</Words>
  <Application>Microsoft Office PowerPoint</Application>
  <PresentationFormat>全屏显示(4:3)</PresentationFormat>
  <Paragraphs>43</Paragraphs>
  <Slides>11</Slides>
  <Notes>8</Notes>
  <HiddenSlides>0</HiddenSlides>
  <MMClips>0</MMClips>
  <ScaleCrop>false</ScaleCrop>
  <HeadingPairs>
    <vt:vector size="6" baseType="variant"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6_Notebook</vt:lpstr>
      <vt:lpstr>1_Office 主题​​</vt:lpstr>
      <vt:lpstr>龙腾四海</vt:lpstr>
      <vt:lpstr>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郑伟</dc:creator>
  <cp:lastModifiedBy>dell</cp:lastModifiedBy>
  <cp:revision>367</cp:revision>
  <dcterms:modified xsi:type="dcterms:W3CDTF">2021-11-20T14:29:35Z</dcterms:modified>
</cp:coreProperties>
</file>