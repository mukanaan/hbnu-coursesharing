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129"/>
  </p:notesMasterIdLst>
  <p:sldIdLst>
    <p:sldId id="595" r:id="rId2"/>
    <p:sldId id="594" r:id="rId3"/>
    <p:sldId id="593" r:id="rId4"/>
    <p:sldId id="596" r:id="rId5"/>
    <p:sldId id="598" r:id="rId6"/>
    <p:sldId id="599" r:id="rId7"/>
    <p:sldId id="600" r:id="rId8"/>
    <p:sldId id="601" r:id="rId9"/>
    <p:sldId id="602" r:id="rId10"/>
    <p:sldId id="603" r:id="rId11"/>
    <p:sldId id="604" r:id="rId12"/>
    <p:sldId id="605" r:id="rId13"/>
    <p:sldId id="606" r:id="rId14"/>
    <p:sldId id="607" r:id="rId15"/>
    <p:sldId id="608" r:id="rId16"/>
    <p:sldId id="609" r:id="rId17"/>
    <p:sldId id="610" r:id="rId18"/>
    <p:sldId id="611" r:id="rId19"/>
    <p:sldId id="612" r:id="rId20"/>
    <p:sldId id="613" r:id="rId21"/>
    <p:sldId id="614" r:id="rId22"/>
    <p:sldId id="615" r:id="rId23"/>
    <p:sldId id="616" r:id="rId24"/>
    <p:sldId id="617" r:id="rId25"/>
    <p:sldId id="618" r:id="rId26"/>
    <p:sldId id="619" r:id="rId27"/>
    <p:sldId id="620" r:id="rId28"/>
    <p:sldId id="621" r:id="rId29"/>
    <p:sldId id="622" r:id="rId30"/>
    <p:sldId id="624" r:id="rId31"/>
    <p:sldId id="623" r:id="rId32"/>
    <p:sldId id="625" r:id="rId33"/>
    <p:sldId id="626" r:id="rId34"/>
    <p:sldId id="627" r:id="rId35"/>
    <p:sldId id="628" r:id="rId36"/>
    <p:sldId id="629" r:id="rId37"/>
    <p:sldId id="630" r:id="rId38"/>
    <p:sldId id="631" r:id="rId39"/>
    <p:sldId id="634" r:id="rId40"/>
    <p:sldId id="635" r:id="rId41"/>
    <p:sldId id="636" r:id="rId42"/>
    <p:sldId id="637" r:id="rId43"/>
    <p:sldId id="638" r:id="rId44"/>
    <p:sldId id="639" r:id="rId45"/>
    <p:sldId id="640" r:id="rId46"/>
    <p:sldId id="641" r:id="rId47"/>
    <p:sldId id="504" r:id="rId48"/>
    <p:sldId id="532" r:id="rId49"/>
    <p:sldId id="368" r:id="rId50"/>
    <p:sldId id="531" r:id="rId51"/>
    <p:sldId id="533" r:id="rId52"/>
    <p:sldId id="505" r:id="rId53"/>
    <p:sldId id="294" r:id="rId54"/>
    <p:sldId id="534" r:id="rId55"/>
    <p:sldId id="535" r:id="rId56"/>
    <p:sldId id="506" r:id="rId57"/>
    <p:sldId id="474" r:id="rId58"/>
    <p:sldId id="537" r:id="rId59"/>
    <p:sldId id="538" r:id="rId60"/>
    <p:sldId id="539" r:id="rId61"/>
    <p:sldId id="540" r:id="rId62"/>
    <p:sldId id="462" r:id="rId63"/>
    <p:sldId id="464" r:id="rId64"/>
    <p:sldId id="541" r:id="rId65"/>
    <p:sldId id="465" r:id="rId66"/>
    <p:sldId id="467" r:id="rId67"/>
    <p:sldId id="463" r:id="rId68"/>
    <p:sldId id="542" r:id="rId69"/>
    <p:sldId id="543" r:id="rId70"/>
    <p:sldId id="546" r:id="rId71"/>
    <p:sldId id="468" r:id="rId72"/>
    <p:sldId id="469" r:id="rId73"/>
    <p:sldId id="544" r:id="rId74"/>
    <p:sldId id="470" r:id="rId75"/>
    <p:sldId id="545" r:id="rId76"/>
    <p:sldId id="472" r:id="rId77"/>
    <p:sldId id="507" r:id="rId78"/>
    <p:sldId id="476" r:id="rId79"/>
    <p:sldId id="548" r:id="rId80"/>
    <p:sldId id="549" r:id="rId81"/>
    <p:sldId id="550" r:id="rId82"/>
    <p:sldId id="551" r:id="rId83"/>
    <p:sldId id="552" r:id="rId84"/>
    <p:sldId id="553" r:id="rId85"/>
    <p:sldId id="554" r:id="rId86"/>
    <p:sldId id="555" r:id="rId87"/>
    <p:sldId id="556" r:id="rId88"/>
    <p:sldId id="557" r:id="rId89"/>
    <p:sldId id="564" r:id="rId90"/>
    <p:sldId id="643" r:id="rId91"/>
    <p:sldId id="644" r:id="rId92"/>
    <p:sldId id="645" r:id="rId93"/>
    <p:sldId id="646" r:id="rId94"/>
    <p:sldId id="647" r:id="rId95"/>
    <p:sldId id="648" r:id="rId96"/>
    <p:sldId id="565" r:id="rId97"/>
    <p:sldId id="566" r:id="rId98"/>
    <p:sldId id="567" r:id="rId99"/>
    <p:sldId id="568" r:id="rId100"/>
    <p:sldId id="569" r:id="rId101"/>
    <p:sldId id="570" r:id="rId102"/>
    <p:sldId id="571" r:id="rId103"/>
    <p:sldId id="572" r:id="rId104"/>
    <p:sldId id="573" r:id="rId105"/>
    <p:sldId id="574" r:id="rId106"/>
    <p:sldId id="575" r:id="rId107"/>
    <p:sldId id="576" r:id="rId108"/>
    <p:sldId id="577" r:id="rId109"/>
    <p:sldId id="578" r:id="rId110"/>
    <p:sldId id="579" r:id="rId111"/>
    <p:sldId id="580" r:id="rId112"/>
    <p:sldId id="581" r:id="rId113"/>
    <p:sldId id="582" r:id="rId114"/>
    <p:sldId id="583" r:id="rId115"/>
    <p:sldId id="584" r:id="rId116"/>
    <p:sldId id="585" r:id="rId117"/>
    <p:sldId id="563" r:id="rId118"/>
    <p:sldId id="479" r:id="rId119"/>
    <p:sldId id="586" r:id="rId120"/>
    <p:sldId id="587" r:id="rId121"/>
    <p:sldId id="588" r:id="rId122"/>
    <p:sldId id="589" r:id="rId123"/>
    <p:sldId id="590" r:id="rId124"/>
    <p:sldId id="592" r:id="rId125"/>
    <p:sldId id="355" r:id="rId126"/>
    <p:sldId id="356" r:id="rId127"/>
    <p:sldId id="487" r:id="rId128"/>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D6E5BD"/>
    <a:srgbClr val="4D4D4D"/>
    <a:srgbClr val="333399"/>
    <a:srgbClr val="000066"/>
    <a:srgbClr val="EA169E"/>
    <a:srgbClr val="D62A2E"/>
    <a:srgbClr val="EAC9C8"/>
    <a:srgbClr val="D98981"/>
    <a:srgbClr val="C550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15" autoAdjust="0"/>
    <p:restoredTop sz="87746" autoAdjust="0"/>
  </p:normalViewPr>
  <p:slideViewPr>
    <p:cSldViewPr>
      <p:cViewPr>
        <p:scale>
          <a:sx n="100" d="100"/>
          <a:sy n="100" d="100"/>
        </p:scale>
        <p:origin x="-804" y="-114"/>
      </p:cViewPr>
      <p:guideLst>
        <p:guide orient="horz" pos="2160"/>
        <p:guide pos="3840"/>
      </p:guideLst>
    </p:cSldViewPr>
  </p:slideViewPr>
  <p:outlineViewPr>
    <p:cViewPr>
      <p:scale>
        <a:sx n="33" d="100"/>
        <a:sy n="33" d="100"/>
      </p:scale>
      <p:origin x="60" y="3804"/>
    </p:cViewPr>
  </p:outlineViewPr>
  <p:notesTextViewPr>
    <p:cViewPr>
      <p:scale>
        <a:sx n="100" d="100"/>
        <a:sy n="100" d="100"/>
      </p:scale>
      <p:origin x="0" y="0"/>
    </p:cViewPr>
  </p:notesTextViewPr>
  <p:sorterViewPr>
    <p:cViewPr>
      <p:scale>
        <a:sx n="66" d="100"/>
        <a:sy n="66" d="100"/>
      </p:scale>
      <p:origin x="0" y="13554"/>
    </p:cViewPr>
  </p:sorterViewPr>
  <p:notesViewPr>
    <p:cSldViewPr>
      <p:cViewPr varScale="1">
        <p:scale>
          <a:sx n="87" d="100"/>
          <a:sy n="87" d="100"/>
        </p:scale>
        <p:origin x="-38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4CBFA2-7D01-4658-BF3B-5CD9243144FF}" type="doc">
      <dgm:prSet loTypeId="urn:microsoft.com/office/officeart/2005/8/layout/arrow2" loCatId="process" qsTypeId="urn:microsoft.com/office/officeart/2005/8/quickstyle/simple1#3" qsCatId="simple" csTypeId="urn:microsoft.com/office/officeart/2005/8/colors/accent1_2#3" csCatId="accent1" phldr="1"/>
      <dgm:spPr/>
    </dgm:pt>
    <dgm:pt modelId="{FEB623C7-3B66-4CA3-864E-2CA623F641FB}">
      <dgm:prSet phldrT="[Text]" custT="1"/>
      <dgm:spPr/>
      <dgm:t>
        <a:bodyPr/>
        <a:lstStyle/>
        <a:p>
          <a:r>
            <a:rPr lang="en-US" sz="2400" b="1" dirty="0" smtClean="0">
              <a:solidFill>
                <a:srgbClr val="1C1C1C"/>
              </a:solidFill>
              <a:latin typeface="微软雅黑" pitchFamily="34" charset="-122"/>
              <a:ea typeface="微软雅黑" pitchFamily="34" charset="-122"/>
            </a:rPr>
            <a:t>1</a:t>
          </a:r>
          <a:r>
            <a:rPr lang="en-US" sz="2400" b="1" baseline="30000" dirty="0" smtClean="0">
              <a:solidFill>
                <a:srgbClr val="1C1C1C"/>
              </a:solidFill>
              <a:latin typeface="微软雅黑" pitchFamily="34" charset="-122"/>
              <a:ea typeface="微软雅黑" pitchFamily="34" charset="-122"/>
            </a:rPr>
            <a:t>st</a:t>
          </a:r>
          <a:r>
            <a:rPr lang="en-US" sz="2400" b="1" dirty="0" smtClean="0">
              <a:solidFill>
                <a:srgbClr val="1C1C1C"/>
              </a:solidFill>
              <a:latin typeface="微软雅黑" pitchFamily="34" charset="-122"/>
              <a:ea typeface="微软雅黑" pitchFamily="34" charset="-122"/>
            </a:rPr>
            <a:t>:1969 </a:t>
          </a:r>
          <a:r>
            <a:rPr lang="en-US" altLang="zh-CN" sz="2400" b="1" dirty="0" smtClean="0">
              <a:solidFill>
                <a:srgbClr val="1C1C1C"/>
              </a:solidFill>
              <a:latin typeface="微软雅黑" pitchFamily="34" charset="-122"/>
              <a:ea typeface="微软雅黑" pitchFamily="34" charset="-122"/>
            </a:rPr>
            <a:t>- 1990</a:t>
          </a:r>
          <a:endParaRPr lang="en-US" altLang="zh-CN" sz="2400" b="1" dirty="0">
            <a:solidFill>
              <a:srgbClr val="1C1C1C"/>
            </a:solidFill>
            <a:latin typeface="微软雅黑" pitchFamily="34" charset="-122"/>
            <a:ea typeface="微软雅黑" pitchFamily="34" charset="-122"/>
          </a:endParaRPr>
        </a:p>
        <a:p>
          <a:r>
            <a:rPr lang="zh-CN" altLang="en-US" sz="2400" b="1" dirty="0" smtClean="0">
              <a:solidFill>
                <a:srgbClr val="1C1C1C"/>
              </a:solidFill>
              <a:latin typeface="微软雅黑" pitchFamily="34" charset="-122"/>
              <a:ea typeface="微软雅黑" pitchFamily="34" charset="-122"/>
              <a:cs typeface="Times New Roman" pitchFamily="18" charset="0"/>
            </a:rPr>
            <a:t>从单个网络</a:t>
          </a:r>
          <a:r>
            <a:rPr lang="en-US" sz="2400" b="1" dirty="0" smtClean="0">
              <a:solidFill>
                <a:srgbClr val="1C1C1C"/>
              </a:solidFill>
              <a:latin typeface="微软雅黑" pitchFamily="34" charset="-122"/>
              <a:ea typeface="微软雅黑" pitchFamily="34" charset="-122"/>
              <a:cs typeface="Times New Roman" pitchFamily="18" charset="0"/>
            </a:rPr>
            <a:t>ARPANET </a:t>
          </a:r>
          <a:r>
            <a:rPr lang="zh-CN" altLang="en-US" sz="2400" b="1" dirty="0" smtClean="0">
              <a:solidFill>
                <a:srgbClr val="1C1C1C"/>
              </a:solidFill>
              <a:latin typeface="微软雅黑" pitchFamily="34" charset="-122"/>
              <a:ea typeface="微软雅黑" pitchFamily="34" charset="-122"/>
            </a:rPr>
            <a:t>向互连网发展</a:t>
          </a:r>
          <a:endParaRPr lang="en-US" sz="2400" b="1" dirty="0">
            <a:solidFill>
              <a:srgbClr val="1C1C1C"/>
            </a:solidFill>
            <a:latin typeface="微软雅黑" pitchFamily="34" charset="-122"/>
            <a:ea typeface="微软雅黑" pitchFamily="34" charset="-122"/>
          </a:endParaRPr>
        </a:p>
      </dgm:t>
    </dgm:pt>
    <dgm:pt modelId="{51EB9899-528C-4CD8-B289-680F980BEA98}" type="parTrans" cxnId="{A5FC1FE9-6F6E-4D02-81B0-24B1F93C8F10}">
      <dgm:prSet/>
      <dgm:spPr/>
      <dgm:t>
        <a:bodyPr/>
        <a:lstStyle/>
        <a:p>
          <a:endParaRPr lang="en-US"/>
        </a:p>
      </dgm:t>
    </dgm:pt>
    <dgm:pt modelId="{3780314D-44F4-4318-BADE-636D086BACC4}" type="sibTrans" cxnId="{A5FC1FE9-6F6E-4D02-81B0-24B1F93C8F10}">
      <dgm:prSet/>
      <dgm:spPr/>
      <dgm:t>
        <a:bodyPr/>
        <a:lstStyle/>
        <a:p>
          <a:endParaRPr lang="en-US"/>
        </a:p>
      </dgm:t>
    </dgm:pt>
    <dgm:pt modelId="{96F4F3D7-69FB-4FD3-8615-1739AD29C722}">
      <dgm:prSet phldrT="[Text]" custT="1"/>
      <dgm:spPr/>
      <dgm:t>
        <a:bodyPr/>
        <a:lstStyle/>
        <a:p>
          <a:r>
            <a:rPr lang="en-US" sz="2400" b="1" dirty="0" smtClean="0">
              <a:solidFill>
                <a:srgbClr val="1C1C1C"/>
              </a:solidFill>
              <a:latin typeface="微软雅黑" pitchFamily="34" charset="-122"/>
              <a:ea typeface="微软雅黑" pitchFamily="34" charset="-122"/>
            </a:rPr>
            <a:t>2</a:t>
          </a:r>
          <a:r>
            <a:rPr lang="en-US" sz="2400" b="1" baseline="30000" dirty="0" smtClean="0">
              <a:solidFill>
                <a:srgbClr val="1C1C1C"/>
              </a:solidFill>
              <a:latin typeface="微软雅黑" pitchFamily="34" charset="-122"/>
              <a:ea typeface="微软雅黑" pitchFamily="34" charset="-122"/>
            </a:rPr>
            <a:t>nd</a:t>
          </a:r>
          <a:r>
            <a:rPr lang="en-US" sz="2400" b="1" dirty="0" smtClean="0">
              <a:solidFill>
                <a:srgbClr val="1C1C1C"/>
              </a:solidFill>
              <a:latin typeface="微软雅黑" pitchFamily="34" charset="-122"/>
              <a:ea typeface="微软雅黑" pitchFamily="34" charset="-122"/>
            </a:rPr>
            <a:t>:1985 </a:t>
          </a:r>
          <a:r>
            <a:rPr lang="en-US" altLang="zh-CN" sz="2400" b="1" dirty="0" smtClean="0">
              <a:solidFill>
                <a:srgbClr val="1C1C1C"/>
              </a:solidFill>
              <a:latin typeface="微软雅黑" pitchFamily="34" charset="-122"/>
              <a:ea typeface="微软雅黑" pitchFamily="34" charset="-122"/>
            </a:rPr>
            <a:t>- 1993</a:t>
          </a:r>
          <a:r>
            <a:rPr lang="en-US" sz="2400" b="1" dirty="0" smtClean="0">
              <a:solidFill>
                <a:srgbClr val="1C1C1C"/>
              </a:solidFill>
              <a:latin typeface="微软雅黑" pitchFamily="34" charset="-122"/>
              <a:ea typeface="微软雅黑" pitchFamily="34" charset="-122"/>
            </a:rPr>
            <a:t> </a:t>
          </a:r>
          <a:endParaRPr lang="en-US" sz="2400" b="1" dirty="0">
            <a:solidFill>
              <a:srgbClr val="1C1C1C"/>
            </a:solidFill>
            <a:latin typeface="微软雅黑" pitchFamily="34" charset="-122"/>
            <a:ea typeface="微软雅黑" pitchFamily="34" charset="-122"/>
          </a:endParaRPr>
        </a:p>
        <a:p>
          <a:r>
            <a:rPr lang="zh-CN" altLang="en-US" sz="2400" b="1" dirty="0" smtClean="0">
              <a:solidFill>
                <a:srgbClr val="1C1C1C"/>
              </a:solidFill>
              <a:latin typeface="微软雅黑" pitchFamily="34" charset="-122"/>
              <a:ea typeface="微软雅黑" pitchFamily="34" charset="-122"/>
            </a:rPr>
            <a:t>建成了三级结构</a:t>
          </a:r>
          <a:r>
            <a:rPr lang="zh-CN" altLang="en-US" sz="2400" b="1" dirty="0">
              <a:solidFill>
                <a:srgbClr val="1C1C1C"/>
              </a:solidFill>
              <a:latin typeface="微软雅黑" pitchFamily="34" charset="-122"/>
              <a:ea typeface="微软雅黑" pitchFamily="34" charset="-122"/>
            </a:rPr>
            <a:t>的互联网</a:t>
          </a:r>
          <a:endParaRPr lang="en-US" sz="2400" b="1" u="sng" dirty="0">
            <a:solidFill>
              <a:srgbClr val="1C1C1C"/>
            </a:solidFill>
            <a:latin typeface="微软雅黑" pitchFamily="34" charset="-122"/>
            <a:ea typeface="微软雅黑" pitchFamily="34" charset="-122"/>
          </a:endParaRPr>
        </a:p>
      </dgm:t>
    </dgm:pt>
    <dgm:pt modelId="{877C3CC9-E5F7-4CE5-84B4-CFA5320B1DB9}" type="parTrans" cxnId="{26091B05-0448-453E-AC44-06E167063227}">
      <dgm:prSet/>
      <dgm:spPr/>
      <dgm:t>
        <a:bodyPr/>
        <a:lstStyle/>
        <a:p>
          <a:endParaRPr lang="en-US"/>
        </a:p>
      </dgm:t>
    </dgm:pt>
    <dgm:pt modelId="{DD91F613-F072-490F-A831-25E3058A08D9}" type="sibTrans" cxnId="{26091B05-0448-453E-AC44-06E167063227}">
      <dgm:prSet/>
      <dgm:spPr/>
      <dgm:t>
        <a:bodyPr/>
        <a:lstStyle/>
        <a:p>
          <a:endParaRPr lang="en-US"/>
        </a:p>
      </dgm:t>
    </dgm:pt>
    <dgm:pt modelId="{75FD905F-0ABD-4277-95BA-2EA7D1050908}">
      <dgm:prSet phldrT="[Text]" custT="1"/>
      <dgm:spPr/>
      <dgm:t>
        <a:bodyPr/>
        <a:lstStyle/>
        <a:p>
          <a:r>
            <a:rPr lang="en-US" sz="2400" b="1" dirty="0" smtClean="0">
              <a:solidFill>
                <a:srgbClr val="1C1C1C"/>
              </a:solidFill>
              <a:latin typeface="微软雅黑" pitchFamily="34" charset="-122"/>
              <a:ea typeface="微软雅黑" pitchFamily="34" charset="-122"/>
            </a:rPr>
            <a:t>3</a:t>
          </a:r>
          <a:r>
            <a:rPr lang="en-US" sz="2400" b="1" baseline="30000" dirty="0" smtClean="0">
              <a:solidFill>
                <a:srgbClr val="1C1C1C"/>
              </a:solidFill>
              <a:latin typeface="微软雅黑" pitchFamily="34" charset="-122"/>
              <a:ea typeface="微软雅黑" pitchFamily="34" charset="-122"/>
            </a:rPr>
            <a:t>rd</a:t>
          </a:r>
          <a:r>
            <a:rPr lang="en-US" sz="2400" b="1" dirty="0" smtClean="0">
              <a:solidFill>
                <a:srgbClr val="1C1C1C"/>
              </a:solidFill>
              <a:latin typeface="微软雅黑" pitchFamily="34" charset="-122"/>
              <a:ea typeface="微软雅黑" pitchFamily="34" charset="-122"/>
            </a:rPr>
            <a:t>:1993 </a:t>
          </a:r>
          <a:r>
            <a:rPr lang="en-US" altLang="zh-CN" sz="2400" b="1" dirty="0" smtClean="0">
              <a:solidFill>
                <a:srgbClr val="1C1C1C"/>
              </a:solidFill>
              <a:latin typeface="微软雅黑" pitchFamily="34" charset="-122"/>
              <a:ea typeface="微软雅黑" pitchFamily="34" charset="-122"/>
            </a:rPr>
            <a:t>- </a:t>
          </a:r>
          <a:r>
            <a:rPr lang="zh-CN" altLang="en-US" sz="2400" b="1" dirty="0" smtClean="0">
              <a:solidFill>
                <a:srgbClr val="1C1C1C"/>
              </a:solidFill>
              <a:latin typeface="微软雅黑" pitchFamily="34" charset="-122"/>
              <a:ea typeface="微软雅黑" pitchFamily="34" charset="-122"/>
            </a:rPr>
            <a:t>现在</a:t>
          </a:r>
          <a:r>
            <a:rPr lang="en-US" sz="2400" b="1" dirty="0" smtClean="0">
              <a:solidFill>
                <a:srgbClr val="1C1C1C"/>
              </a:solidFill>
              <a:latin typeface="微软雅黑" pitchFamily="34" charset="-122"/>
              <a:ea typeface="微软雅黑" pitchFamily="34" charset="-122"/>
            </a:rPr>
            <a:t> </a:t>
          </a:r>
          <a:endParaRPr lang="en-US" sz="2400" b="1" dirty="0">
            <a:solidFill>
              <a:srgbClr val="1C1C1C"/>
            </a:solidFill>
            <a:latin typeface="微软雅黑" pitchFamily="34" charset="-122"/>
            <a:ea typeface="微软雅黑" pitchFamily="34" charset="-122"/>
          </a:endParaRPr>
        </a:p>
        <a:p>
          <a:r>
            <a:rPr lang="zh-CN" altLang="en-US" sz="2400" b="1" dirty="0" smtClean="0">
              <a:solidFill>
                <a:srgbClr val="1C1C1C"/>
              </a:solidFill>
              <a:latin typeface="微软雅黑" pitchFamily="34" charset="-122"/>
              <a:ea typeface="微软雅黑" pitchFamily="34" charset="-122"/>
            </a:rPr>
            <a:t>多层次 </a:t>
          </a:r>
          <a:r>
            <a:rPr lang="en-US" altLang="zh-CN" sz="2400" b="1" dirty="0" smtClean="0">
              <a:solidFill>
                <a:srgbClr val="1C1C1C"/>
              </a:solidFill>
              <a:latin typeface="微软雅黑" pitchFamily="34" charset="-122"/>
              <a:ea typeface="微软雅黑" pitchFamily="34" charset="-122"/>
            </a:rPr>
            <a:t>ISP </a:t>
          </a:r>
          <a:r>
            <a:rPr lang="zh-CN" altLang="en-US" sz="2400" b="1" dirty="0" smtClean="0">
              <a:solidFill>
                <a:srgbClr val="1C1C1C"/>
              </a:solidFill>
              <a:latin typeface="微软雅黑" pitchFamily="34" charset="-122"/>
              <a:ea typeface="微软雅黑" pitchFamily="34" charset="-122"/>
            </a:rPr>
            <a:t>结构</a:t>
          </a:r>
          <a:r>
            <a:rPr lang="zh-CN" altLang="en-US" sz="2400" b="1" dirty="0">
              <a:solidFill>
                <a:srgbClr val="1C1C1C"/>
              </a:solidFill>
              <a:latin typeface="微软雅黑" pitchFamily="34" charset="-122"/>
              <a:ea typeface="微软雅黑" pitchFamily="34" charset="-122"/>
            </a:rPr>
            <a:t>的互联网</a:t>
          </a:r>
          <a:endParaRPr lang="en-US" sz="2400" b="1" dirty="0">
            <a:solidFill>
              <a:srgbClr val="1C1C1C"/>
            </a:solidFill>
            <a:latin typeface="微软雅黑" pitchFamily="34" charset="-122"/>
            <a:ea typeface="微软雅黑" pitchFamily="34" charset="-122"/>
          </a:endParaRPr>
        </a:p>
      </dgm:t>
    </dgm:pt>
    <dgm:pt modelId="{F06C7ECB-CBCE-41F9-9085-309AC7411C05}" type="parTrans" cxnId="{EC373999-A8BA-4859-938C-4499C45CAFC1}">
      <dgm:prSet/>
      <dgm:spPr/>
      <dgm:t>
        <a:bodyPr/>
        <a:lstStyle/>
        <a:p>
          <a:endParaRPr lang="en-US"/>
        </a:p>
      </dgm:t>
    </dgm:pt>
    <dgm:pt modelId="{93E65F72-D8C4-4337-BCA6-AA4596329C20}" type="sibTrans" cxnId="{EC373999-A8BA-4859-938C-4499C45CAFC1}">
      <dgm:prSet/>
      <dgm:spPr/>
      <dgm:t>
        <a:bodyPr/>
        <a:lstStyle/>
        <a:p>
          <a:endParaRPr lang="en-US"/>
        </a:p>
      </dgm:t>
    </dgm:pt>
    <dgm:pt modelId="{3C1227FD-07FA-48C4-9D70-6FD5D698C14F}" type="pres">
      <dgm:prSet presAssocID="{B04CBFA2-7D01-4658-BF3B-5CD9243144FF}" presName="arrowDiagram" presStyleCnt="0">
        <dgm:presLayoutVars>
          <dgm:chMax val="5"/>
          <dgm:dir/>
          <dgm:resizeHandles val="exact"/>
        </dgm:presLayoutVars>
      </dgm:prSet>
      <dgm:spPr/>
    </dgm:pt>
    <dgm:pt modelId="{8D32F684-F8C8-437E-B0A8-BE8DC3576303}" type="pres">
      <dgm:prSet presAssocID="{B04CBFA2-7D01-4658-BF3B-5CD9243144FF}" presName="arrow" presStyleLbl="bgShp" presStyleIdx="0" presStyleCnt="1" custScaleX="116937" custLinFactNeighborY="-6620"/>
      <dgm:spPr/>
    </dgm:pt>
    <dgm:pt modelId="{16827596-E859-4A9D-8169-A518427A8C21}" type="pres">
      <dgm:prSet presAssocID="{B04CBFA2-7D01-4658-BF3B-5CD9243144FF}" presName="arrowDiagram3" presStyleCnt="0"/>
      <dgm:spPr/>
    </dgm:pt>
    <dgm:pt modelId="{A7C84F37-7DF4-4BB5-A99D-C96FCB6335DE}" type="pres">
      <dgm:prSet presAssocID="{FEB623C7-3B66-4CA3-864E-2CA623F641FB}" presName="bullet3a" presStyleLbl="node1" presStyleIdx="0" presStyleCnt="3" custLinFactX="-10788" custLinFactNeighborX="-100000" custLinFactNeighborY="-61277"/>
      <dgm:spPr/>
    </dgm:pt>
    <dgm:pt modelId="{BDBB0A62-FCDA-47AA-A90A-D0690FF0DF0D}" type="pres">
      <dgm:prSet presAssocID="{FEB623C7-3B66-4CA3-864E-2CA623F641FB}" presName="textBox3a" presStyleLbl="revTx" presStyleIdx="0" presStyleCnt="3" custScaleX="127282" custScaleY="46176" custLinFactNeighborX="4406" custLinFactNeighborY="-52050">
        <dgm:presLayoutVars>
          <dgm:bulletEnabled val="1"/>
        </dgm:presLayoutVars>
      </dgm:prSet>
      <dgm:spPr/>
      <dgm:t>
        <a:bodyPr/>
        <a:lstStyle/>
        <a:p>
          <a:endParaRPr lang="zh-CN" altLang="en-US"/>
        </a:p>
      </dgm:t>
    </dgm:pt>
    <dgm:pt modelId="{1CF21B6C-97F9-43F8-AF65-9C520DFFC656}" type="pres">
      <dgm:prSet presAssocID="{96F4F3D7-69FB-4FD3-8615-1739AD29C722}" presName="bullet3b" presStyleLbl="node1" presStyleIdx="1" presStyleCnt="3" custLinFactNeighborX="-7239" custLinFactNeighborY="-9103"/>
      <dgm:spPr/>
    </dgm:pt>
    <dgm:pt modelId="{35CAA33D-16C2-4AAF-B3C1-A309ADACA524}" type="pres">
      <dgm:prSet presAssocID="{96F4F3D7-69FB-4FD3-8615-1739AD29C722}" presName="textBox3b" presStyleLbl="revTx" presStyleIdx="1" presStyleCnt="3" custScaleX="149531" custLinFactNeighborX="29836" custLinFactNeighborY="-9291">
        <dgm:presLayoutVars>
          <dgm:bulletEnabled val="1"/>
        </dgm:presLayoutVars>
      </dgm:prSet>
      <dgm:spPr/>
      <dgm:t>
        <a:bodyPr/>
        <a:lstStyle/>
        <a:p>
          <a:endParaRPr lang="zh-CN" altLang="en-US"/>
        </a:p>
      </dgm:t>
    </dgm:pt>
    <dgm:pt modelId="{11F228A5-A788-47F2-BA24-4F904CDD1994}" type="pres">
      <dgm:prSet presAssocID="{75FD905F-0ABD-4277-95BA-2EA7D1050908}" presName="bullet3c" presStyleLbl="node1" presStyleIdx="2" presStyleCnt="3" custLinFactX="14552" custLinFactNeighborX="100000" custLinFactNeighborY="6245"/>
      <dgm:spPr/>
    </dgm:pt>
    <dgm:pt modelId="{E14C2FCC-0679-45B3-AB7E-3DF331706005}" type="pres">
      <dgm:prSet presAssocID="{75FD905F-0ABD-4277-95BA-2EA7D1050908}" presName="textBox3c" presStyleLbl="revTx" presStyleIdx="2" presStyleCnt="3" custScaleX="126782" custLinFactNeighborX="46934" custLinFactNeighborY="-5263">
        <dgm:presLayoutVars>
          <dgm:bulletEnabled val="1"/>
        </dgm:presLayoutVars>
      </dgm:prSet>
      <dgm:spPr/>
      <dgm:t>
        <a:bodyPr/>
        <a:lstStyle/>
        <a:p>
          <a:endParaRPr lang="zh-CN" altLang="en-US"/>
        </a:p>
      </dgm:t>
    </dgm:pt>
  </dgm:ptLst>
  <dgm:cxnLst>
    <dgm:cxn modelId="{26091B05-0448-453E-AC44-06E167063227}" srcId="{B04CBFA2-7D01-4658-BF3B-5CD9243144FF}" destId="{96F4F3D7-69FB-4FD3-8615-1739AD29C722}" srcOrd="1" destOrd="0" parTransId="{877C3CC9-E5F7-4CE5-84B4-CFA5320B1DB9}" sibTransId="{DD91F613-F072-490F-A831-25E3058A08D9}"/>
    <dgm:cxn modelId="{5FD37B27-A757-47CA-8CD4-D66CEFF96039}" type="presOf" srcId="{B04CBFA2-7D01-4658-BF3B-5CD9243144FF}" destId="{3C1227FD-07FA-48C4-9D70-6FD5D698C14F}" srcOrd="0" destOrd="0" presId="urn:microsoft.com/office/officeart/2005/8/layout/arrow2"/>
    <dgm:cxn modelId="{EC373999-A8BA-4859-938C-4499C45CAFC1}" srcId="{B04CBFA2-7D01-4658-BF3B-5CD9243144FF}" destId="{75FD905F-0ABD-4277-95BA-2EA7D1050908}" srcOrd="2" destOrd="0" parTransId="{F06C7ECB-CBCE-41F9-9085-309AC7411C05}" sibTransId="{93E65F72-D8C4-4337-BCA6-AA4596329C20}"/>
    <dgm:cxn modelId="{C30DC17B-B315-4A41-894E-2A6C5CFB1333}" type="presOf" srcId="{96F4F3D7-69FB-4FD3-8615-1739AD29C722}" destId="{35CAA33D-16C2-4AAF-B3C1-A309ADACA524}" srcOrd="0" destOrd="0" presId="urn:microsoft.com/office/officeart/2005/8/layout/arrow2"/>
    <dgm:cxn modelId="{A5FC1FE9-6F6E-4D02-81B0-24B1F93C8F10}" srcId="{B04CBFA2-7D01-4658-BF3B-5CD9243144FF}" destId="{FEB623C7-3B66-4CA3-864E-2CA623F641FB}" srcOrd="0" destOrd="0" parTransId="{51EB9899-528C-4CD8-B289-680F980BEA98}" sibTransId="{3780314D-44F4-4318-BADE-636D086BACC4}"/>
    <dgm:cxn modelId="{76F31E5F-570B-4877-8765-A1706342DE56}" type="presOf" srcId="{FEB623C7-3B66-4CA3-864E-2CA623F641FB}" destId="{BDBB0A62-FCDA-47AA-A90A-D0690FF0DF0D}" srcOrd="0" destOrd="0" presId="urn:microsoft.com/office/officeart/2005/8/layout/arrow2"/>
    <dgm:cxn modelId="{E494D77A-D29E-4510-8FB2-EE0C0BD29E48}" type="presOf" srcId="{75FD905F-0ABD-4277-95BA-2EA7D1050908}" destId="{E14C2FCC-0679-45B3-AB7E-3DF331706005}" srcOrd="0" destOrd="0" presId="urn:microsoft.com/office/officeart/2005/8/layout/arrow2"/>
    <dgm:cxn modelId="{1809AF85-07B0-4259-B6F3-9939B05B5421}" type="presParOf" srcId="{3C1227FD-07FA-48C4-9D70-6FD5D698C14F}" destId="{8D32F684-F8C8-437E-B0A8-BE8DC3576303}" srcOrd="0" destOrd="0" presId="urn:microsoft.com/office/officeart/2005/8/layout/arrow2"/>
    <dgm:cxn modelId="{C365D5F8-9027-4634-87FC-FDF987F80CEE}" type="presParOf" srcId="{3C1227FD-07FA-48C4-9D70-6FD5D698C14F}" destId="{16827596-E859-4A9D-8169-A518427A8C21}" srcOrd="1" destOrd="0" presId="urn:microsoft.com/office/officeart/2005/8/layout/arrow2"/>
    <dgm:cxn modelId="{8EC638DF-8B91-4CA6-A61D-16DC83C87130}" type="presParOf" srcId="{16827596-E859-4A9D-8169-A518427A8C21}" destId="{A7C84F37-7DF4-4BB5-A99D-C96FCB6335DE}" srcOrd="0" destOrd="0" presId="urn:microsoft.com/office/officeart/2005/8/layout/arrow2"/>
    <dgm:cxn modelId="{CBA4DE4F-D2D5-4F0F-BCDA-8AF9C7B07E83}" type="presParOf" srcId="{16827596-E859-4A9D-8169-A518427A8C21}" destId="{BDBB0A62-FCDA-47AA-A90A-D0690FF0DF0D}" srcOrd="1" destOrd="0" presId="urn:microsoft.com/office/officeart/2005/8/layout/arrow2"/>
    <dgm:cxn modelId="{6226954C-33BE-4C9D-BC94-E778132D9D4E}" type="presParOf" srcId="{16827596-E859-4A9D-8169-A518427A8C21}" destId="{1CF21B6C-97F9-43F8-AF65-9C520DFFC656}" srcOrd="2" destOrd="0" presId="urn:microsoft.com/office/officeart/2005/8/layout/arrow2"/>
    <dgm:cxn modelId="{D99D8C54-12EB-452E-A19E-63680A173861}" type="presParOf" srcId="{16827596-E859-4A9D-8169-A518427A8C21}" destId="{35CAA33D-16C2-4AAF-B3C1-A309ADACA524}" srcOrd="3" destOrd="0" presId="urn:microsoft.com/office/officeart/2005/8/layout/arrow2"/>
    <dgm:cxn modelId="{E3E97750-FE1A-4036-A11B-5929C0A2F7C6}" type="presParOf" srcId="{16827596-E859-4A9D-8169-A518427A8C21}" destId="{11F228A5-A788-47F2-BA24-4F904CDD1994}" srcOrd="4" destOrd="0" presId="urn:microsoft.com/office/officeart/2005/8/layout/arrow2"/>
    <dgm:cxn modelId="{3272AE40-810C-4A38-B2DA-68693D17DAB1}" type="presParOf" srcId="{16827596-E859-4A9D-8169-A518427A8C21}" destId="{E14C2FCC-0679-45B3-AB7E-3DF331706005}"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A9B5D2-AFBA-46B2-B4AE-3AC19D52734B}" type="doc">
      <dgm:prSet loTypeId="urn:microsoft.com/office/officeart/2005/8/layout/hList1" loCatId="list" qsTypeId="urn:microsoft.com/office/officeart/2005/8/quickstyle/simple4" qsCatId="simple" csTypeId="urn:microsoft.com/office/officeart/2005/8/colors/colorful5" csCatId="colorful" phldr="1"/>
      <dgm:spPr/>
      <dgm:t>
        <a:bodyPr/>
        <a:lstStyle/>
        <a:p>
          <a:endParaRPr lang="zh-CN" altLang="en-US"/>
        </a:p>
      </dgm:t>
    </dgm:pt>
    <dgm:pt modelId="{66ACC874-3CFB-4E6F-B294-E9398EAEDB9E}">
      <dgm:prSet phldrT="[文本]" custT="1"/>
      <dgm:spPr/>
      <dgm:t>
        <a:bodyPr/>
        <a:lstStyle/>
        <a:p>
          <a:r>
            <a:rPr lang="en-US" altLang="en-US" sz="2400" b="1" dirty="0" smtClean="0">
              <a:solidFill>
                <a:srgbClr val="1C1C1C"/>
              </a:solidFill>
              <a:latin typeface="微软雅黑" panose="020B0503020204020204" pitchFamily="34" charset="-122"/>
              <a:ea typeface="微软雅黑" panose="020B0503020204020204" pitchFamily="34" charset="-122"/>
            </a:rPr>
            <a:t>Client / Server </a:t>
          </a:r>
          <a:r>
            <a:rPr lang="zh-CN" altLang="en-US" sz="2400" b="1" dirty="0" smtClean="0">
              <a:solidFill>
                <a:srgbClr val="1C1C1C"/>
              </a:solidFill>
              <a:latin typeface="微软雅黑" panose="020B0503020204020204" pitchFamily="34" charset="-122"/>
              <a:ea typeface="微软雅黑" panose="020B0503020204020204" pitchFamily="34" charset="-122"/>
            </a:rPr>
            <a:t>方式</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6A394396-6A48-4F17-8404-6B2104EEDAB0}" type="parTrans" cxnId="{51DB97CB-0180-46DE-8CF9-5E1303ED8C09}">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B15956E1-824E-41F5-9DF1-25E02085E01C}" type="sibTrans" cxnId="{51DB97CB-0180-46DE-8CF9-5E1303ED8C09}">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2D71A16D-6D3A-432C-834D-94D94C96E66D}">
      <dgm:prSet phldrT="[文本]" custT="1"/>
      <dgm:spPr/>
      <dgm:t>
        <a:bodyPr/>
        <a:lstStyle/>
        <a:p>
          <a:r>
            <a:rPr lang="en-US" altLang="en-US" sz="2400" b="1" dirty="0" smtClean="0">
              <a:solidFill>
                <a:srgbClr val="1C1C1C"/>
              </a:solidFill>
              <a:latin typeface="微软雅黑" panose="020B0503020204020204" pitchFamily="34" charset="-122"/>
              <a:ea typeface="微软雅黑" panose="020B0503020204020204" pitchFamily="34" charset="-122"/>
            </a:rPr>
            <a:t>Peer to Peer </a:t>
          </a:r>
          <a:r>
            <a:rPr lang="zh-CN" altLang="en-US" sz="2400" b="1" dirty="0" smtClean="0">
              <a:solidFill>
                <a:srgbClr val="1C1C1C"/>
              </a:solidFill>
              <a:latin typeface="微软雅黑" panose="020B0503020204020204" pitchFamily="34" charset="-122"/>
              <a:ea typeface="微软雅黑" panose="020B0503020204020204" pitchFamily="34" charset="-122"/>
            </a:rPr>
            <a:t>方式</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7FD95283-8E1D-47B9-BD8A-E52B4440FDE3}" type="parTrans" cxnId="{F8EE973F-005E-49D9-8A55-BF2936ACABED}">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C72C4A89-BFFB-461D-811A-EE97C8509A5E}" type="sibTrans" cxnId="{F8EE973F-005E-49D9-8A55-BF2936ACABED}">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C7E39CD3-0DC4-4012-92DA-90224624ADFF}">
      <dgm:prSet phldrT="[文本]" custT="1"/>
      <dgm:spPr>
        <a:solidFill>
          <a:srgbClr val="A5C25E"/>
        </a:solidFill>
      </dgm:spPr>
      <dgm:t>
        <a:bodyPr/>
        <a:lstStyle/>
        <a:p>
          <a:pPr algn="ctr">
            <a:lnSpc>
              <a:spcPct val="100000"/>
            </a:lnSpc>
            <a:spcAft>
              <a:spcPts val="0"/>
            </a:spcAft>
          </a:pPr>
          <a:r>
            <a:rPr lang="zh-CN" altLang="en-US" sz="2400" b="1" dirty="0" smtClean="0">
              <a:latin typeface="微软雅黑" panose="020B0503020204020204" pitchFamily="34" charset="-122"/>
              <a:ea typeface="微软雅黑" panose="020B0503020204020204" pitchFamily="34" charset="-122"/>
            </a:rPr>
            <a:t>客户</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服务器方式</a:t>
          </a:r>
          <a:endParaRPr lang="en-US" altLang="zh-CN" sz="2400" b="1" dirty="0" smtClean="0">
            <a:latin typeface="微软雅黑" panose="020B0503020204020204" pitchFamily="34" charset="-122"/>
            <a:ea typeface="微软雅黑" panose="020B0503020204020204" pitchFamily="34" charset="-122"/>
          </a:endParaRPr>
        </a:p>
      </dgm:t>
    </dgm:pt>
    <dgm:pt modelId="{F415174C-1935-4310-A6E6-FE62B21E5B87}" type="sibTrans" cxnId="{0543E9C2-E2BE-425C-B0CB-EAE585D6F38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5451DC01-4D36-438B-AAEB-01B61AACDBAB}" type="parTrans" cxnId="{0543E9C2-E2BE-425C-B0CB-EAE585D6F38A}">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C1620A8E-C4A5-4821-82B1-9A6EE4F894AA}">
      <dgm:prSet phldrT="[文本]" custT="1"/>
      <dgm:spPr/>
      <dgm:t>
        <a:bodyPr/>
        <a:lstStyle/>
        <a:p>
          <a:pPr>
            <a:lnSpc>
              <a:spcPct val="100000"/>
            </a:lnSpc>
            <a:spcAft>
              <a:spcPts val="0"/>
            </a:spcAft>
          </a:pPr>
          <a:r>
            <a:rPr lang="zh-CN" altLang="en-US" sz="2400" b="1" dirty="0" smtClean="0">
              <a:latin typeface="微软雅黑" panose="020B0503020204020204" pitchFamily="34" charset="-122"/>
              <a:ea typeface="微软雅黑" panose="020B0503020204020204" pitchFamily="34" charset="-122"/>
            </a:rPr>
            <a:t>对等方式</a:t>
          </a:r>
          <a:endParaRPr lang="en-US" altLang="zh-CN" sz="2400" b="1" dirty="0" smtClean="0">
            <a:latin typeface="微软雅黑" panose="020B0503020204020204" pitchFamily="34" charset="-122"/>
            <a:ea typeface="微软雅黑" panose="020B0503020204020204" pitchFamily="34" charset="-122"/>
          </a:endParaRPr>
        </a:p>
      </dgm:t>
    </dgm:pt>
    <dgm:pt modelId="{966FE29F-1530-487E-8BF1-E706AA499996}" type="sibTrans" cxnId="{419CC096-94B7-4869-8BB1-1F1886A1C7DB}">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6BE4650C-F7E6-4DB4-9284-332FE113FE55}" type="parTrans" cxnId="{419CC096-94B7-4869-8BB1-1F1886A1C7DB}">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EB17A82-9752-4BB8-A0BB-5F5C56F2C0A1}">
      <dgm:prSet phldrT="[文本]" custT="1"/>
      <dgm:spPr/>
      <dgm:t>
        <a:bodyPr/>
        <a:lstStyle/>
        <a:p>
          <a:r>
            <a:rPr lang="zh-CN" altLang="en-US" sz="2400" b="1" dirty="0" smtClean="0">
              <a:solidFill>
                <a:srgbClr val="1C1C1C"/>
              </a:solidFill>
              <a:latin typeface="微软雅黑" panose="020B0503020204020204" pitchFamily="34" charset="-122"/>
              <a:ea typeface="微软雅黑" panose="020B0503020204020204" pitchFamily="34" charset="-122"/>
            </a:rPr>
            <a:t>简称为 </a:t>
          </a:r>
          <a:r>
            <a:rPr lang="en-US" altLang="en-US" sz="2400" b="1" dirty="0" smtClean="0">
              <a:solidFill>
                <a:srgbClr val="1C1C1C"/>
              </a:solidFill>
              <a:latin typeface="微软雅黑" panose="020B0503020204020204" pitchFamily="34" charset="-122"/>
              <a:ea typeface="微软雅黑" panose="020B0503020204020204" pitchFamily="34" charset="-122"/>
            </a:rPr>
            <a:t>C/S </a:t>
          </a:r>
          <a:r>
            <a:rPr lang="zh-CN" altLang="en-US" sz="2400" b="1" dirty="0" smtClean="0">
              <a:solidFill>
                <a:srgbClr val="1C1C1C"/>
              </a:solidFill>
              <a:latin typeface="微软雅黑" panose="020B0503020204020204" pitchFamily="34" charset="-122"/>
              <a:ea typeface="微软雅黑" panose="020B0503020204020204" pitchFamily="34" charset="-122"/>
            </a:rPr>
            <a:t>方式</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5F48F131-5791-4AB7-9B60-6558004A049B}" type="parTrans" cxnId="{C5632FAF-2983-4105-8D68-C4D4F75E308C}">
      <dgm:prSet/>
      <dgm:spPr/>
      <dgm:t>
        <a:bodyPr/>
        <a:lstStyle/>
        <a:p>
          <a:endParaRPr lang="zh-CN" altLang="en-US" sz="2000"/>
        </a:p>
      </dgm:t>
    </dgm:pt>
    <dgm:pt modelId="{37F47257-8A82-4074-AE1E-99FA89BF3F55}" type="sibTrans" cxnId="{C5632FAF-2983-4105-8D68-C4D4F75E308C}">
      <dgm:prSet/>
      <dgm:spPr/>
      <dgm:t>
        <a:bodyPr/>
        <a:lstStyle/>
        <a:p>
          <a:endParaRPr lang="zh-CN" altLang="en-US" sz="2000"/>
        </a:p>
      </dgm:t>
    </dgm:pt>
    <dgm:pt modelId="{82CB24EB-F3B8-4313-8A4C-46A4A6C6E31A}">
      <dgm:prSet phldrT="[文本]" custT="1"/>
      <dgm:spPr/>
      <dgm:t>
        <a:bodyPr/>
        <a:lstStyle/>
        <a:p>
          <a:r>
            <a:rPr lang="zh-CN" altLang="en-US" sz="2400" b="1" dirty="0" smtClean="0">
              <a:solidFill>
                <a:srgbClr val="1C1C1C"/>
              </a:solidFill>
              <a:latin typeface="微软雅黑" panose="020B0503020204020204" pitchFamily="34" charset="-122"/>
              <a:ea typeface="微软雅黑" panose="020B0503020204020204" pitchFamily="34" charset="-122"/>
            </a:rPr>
            <a:t>简称为 </a:t>
          </a:r>
          <a:r>
            <a:rPr lang="en-US" altLang="en-US" sz="2400" b="1" dirty="0" smtClean="0">
              <a:solidFill>
                <a:srgbClr val="1C1C1C"/>
              </a:solidFill>
              <a:latin typeface="微软雅黑" panose="020B0503020204020204" pitchFamily="34" charset="-122"/>
              <a:ea typeface="微软雅黑" panose="020B0503020204020204" pitchFamily="34" charset="-122"/>
            </a:rPr>
            <a:t>P2P </a:t>
          </a:r>
          <a:r>
            <a:rPr lang="zh-CN" altLang="en-US" sz="2400" b="1" dirty="0" smtClean="0">
              <a:solidFill>
                <a:srgbClr val="1C1C1C"/>
              </a:solidFill>
              <a:latin typeface="微软雅黑" panose="020B0503020204020204" pitchFamily="34" charset="-122"/>
              <a:ea typeface="微软雅黑" panose="020B0503020204020204" pitchFamily="34" charset="-122"/>
            </a:rPr>
            <a:t>方式</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F964AE57-1F6D-4E2E-92C0-B117F9D585B8}" type="parTrans" cxnId="{CF299708-4E6C-4B0C-B710-9F1B0A9E0DE0}">
      <dgm:prSet/>
      <dgm:spPr/>
      <dgm:t>
        <a:bodyPr/>
        <a:lstStyle/>
        <a:p>
          <a:endParaRPr lang="zh-CN" altLang="en-US" sz="2000"/>
        </a:p>
      </dgm:t>
    </dgm:pt>
    <dgm:pt modelId="{68FADE7E-F584-4933-80D1-051383411362}" type="sibTrans" cxnId="{CF299708-4E6C-4B0C-B710-9F1B0A9E0DE0}">
      <dgm:prSet/>
      <dgm:spPr/>
      <dgm:t>
        <a:bodyPr/>
        <a:lstStyle/>
        <a:p>
          <a:endParaRPr lang="zh-CN" altLang="en-US" sz="2000"/>
        </a:p>
      </dgm:t>
    </dgm:pt>
    <dgm:pt modelId="{D5AF80AA-414F-4474-ABC9-E635DD32C12D}" type="pres">
      <dgm:prSet presAssocID="{32A9B5D2-AFBA-46B2-B4AE-3AC19D52734B}" presName="Name0" presStyleCnt="0">
        <dgm:presLayoutVars>
          <dgm:dir/>
          <dgm:animLvl val="lvl"/>
          <dgm:resizeHandles val="exact"/>
        </dgm:presLayoutVars>
      </dgm:prSet>
      <dgm:spPr/>
      <dgm:t>
        <a:bodyPr/>
        <a:lstStyle/>
        <a:p>
          <a:endParaRPr lang="zh-CN" altLang="en-US"/>
        </a:p>
      </dgm:t>
    </dgm:pt>
    <dgm:pt modelId="{E980AAEC-D744-4F45-AA9F-C138C0A71A0E}" type="pres">
      <dgm:prSet presAssocID="{C7E39CD3-0DC4-4012-92DA-90224624ADFF}" presName="composite" presStyleCnt="0"/>
      <dgm:spPr/>
    </dgm:pt>
    <dgm:pt modelId="{8F17F835-55F0-4C61-A2A3-44AE2ED9D7FE}" type="pres">
      <dgm:prSet presAssocID="{C7E39CD3-0DC4-4012-92DA-90224624ADFF}" presName="parTx" presStyleLbl="alignNode1" presStyleIdx="0" presStyleCnt="2">
        <dgm:presLayoutVars>
          <dgm:chMax val="0"/>
          <dgm:chPref val="0"/>
          <dgm:bulletEnabled val="1"/>
        </dgm:presLayoutVars>
      </dgm:prSet>
      <dgm:spPr/>
      <dgm:t>
        <a:bodyPr/>
        <a:lstStyle/>
        <a:p>
          <a:endParaRPr lang="zh-CN" altLang="en-US"/>
        </a:p>
      </dgm:t>
    </dgm:pt>
    <dgm:pt modelId="{ACB976F2-8BF8-4A70-91C5-C91BC345A4AF}" type="pres">
      <dgm:prSet presAssocID="{C7E39CD3-0DC4-4012-92DA-90224624ADFF}" presName="desTx" presStyleLbl="alignAccFollowNode1" presStyleIdx="0" presStyleCnt="2">
        <dgm:presLayoutVars>
          <dgm:bulletEnabled val="1"/>
        </dgm:presLayoutVars>
      </dgm:prSet>
      <dgm:spPr/>
      <dgm:t>
        <a:bodyPr/>
        <a:lstStyle/>
        <a:p>
          <a:endParaRPr lang="zh-CN" altLang="en-US"/>
        </a:p>
      </dgm:t>
    </dgm:pt>
    <dgm:pt modelId="{9B6C0EE2-67AE-4432-B5BF-6CE7E326E53F}" type="pres">
      <dgm:prSet presAssocID="{F415174C-1935-4310-A6E6-FE62B21E5B87}" presName="space" presStyleCnt="0"/>
      <dgm:spPr/>
    </dgm:pt>
    <dgm:pt modelId="{7E449BE8-A2E6-4157-904D-55985C924B0E}" type="pres">
      <dgm:prSet presAssocID="{C1620A8E-C4A5-4821-82B1-9A6EE4F894AA}" presName="composite" presStyleCnt="0"/>
      <dgm:spPr/>
    </dgm:pt>
    <dgm:pt modelId="{FD082DEC-BD21-4E00-AA12-CC0ED5CBCB32}" type="pres">
      <dgm:prSet presAssocID="{C1620A8E-C4A5-4821-82B1-9A6EE4F894AA}" presName="parTx" presStyleLbl="alignNode1" presStyleIdx="1" presStyleCnt="2">
        <dgm:presLayoutVars>
          <dgm:chMax val="0"/>
          <dgm:chPref val="0"/>
          <dgm:bulletEnabled val="1"/>
        </dgm:presLayoutVars>
      </dgm:prSet>
      <dgm:spPr/>
      <dgm:t>
        <a:bodyPr/>
        <a:lstStyle/>
        <a:p>
          <a:endParaRPr lang="zh-CN" altLang="en-US"/>
        </a:p>
      </dgm:t>
    </dgm:pt>
    <dgm:pt modelId="{B62719DE-8DA5-4764-8561-2A4AB2C96331}" type="pres">
      <dgm:prSet presAssocID="{C1620A8E-C4A5-4821-82B1-9A6EE4F894AA}" presName="desTx" presStyleLbl="alignAccFollowNode1" presStyleIdx="1" presStyleCnt="2">
        <dgm:presLayoutVars>
          <dgm:bulletEnabled val="1"/>
        </dgm:presLayoutVars>
      </dgm:prSet>
      <dgm:spPr/>
      <dgm:t>
        <a:bodyPr/>
        <a:lstStyle/>
        <a:p>
          <a:endParaRPr lang="zh-CN" altLang="en-US"/>
        </a:p>
      </dgm:t>
    </dgm:pt>
  </dgm:ptLst>
  <dgm:cxnLst>
    <dgm:cxn modelId="{51DB97CB-0180-46DE-8CF9-5E1303ED8C09}" srcId="{C7E39CD3-0DC4-4012-92DA-90224624ADFF}" destId="{66ACC874-3CFB-4E6F-B294-E9398EAEDB9E}" srcOrd="0" destOrd="0" parTransId="{6A394396-6A48-4F17-8404-6B2104EEDAB0}" sibTransId="{B15956E1-824E-41F5-9DF1-25E02085E01C}"/>
    <dgm:cxn modelId="{78A99848-6925-4FF0-AECF-BD25AED0344E}" type="presOf" srcId="{32A9B5D2-AFBA-46B2-B4AE-3AC19D52734B}" destId="{D5AF80AA-414F-4474-ABC9-E635DD32C12D}" srcOrd="0" destOrd="0" presId="urn:microsoft.com/office/officeart/2005/8/layout/hList1"/>
    <dgm:cxn modelId="{C5632FAF-2983-4105-8D68-C4D4F75E308C}" srcId="{C7E39CD3-0DC4-4012-92DA-90224624ADFF}" destId="{4EB17A82-9752-4BB8-A0BB-5F5C56F2C0A1}" srcOrd="1" destOrd="0" parTransId="{5F48F131-5791-4AB7-9B60-6558004A049B}" sibTransId="{37F47257-8A82-4074-AE1E-99FA89BF3F55}"/>
    <dgm:cxn modelId="{F8EE973F-005E-49D9-8A55-BF2936ACABED}" srcId="{C1620A8E-C4A5-4821-82B1-9A6EE4F894AA}" destId="{2D71A16D-6D3A-432C-834D-94D94C96E66D}" srcOrd="0" destOrd="0" parTransId="{7FD95283-8E1D-47B9-BD8A-E52B4440FDE3}" sibTransId="{C72C4A89-BFFB-461D-811A-EE97C8509A5E}"/>
    <dgm:cxn modelId="{CF299708-4E6C-4B0C-B710-9F1B0A9E0DE0}" srcId="{C1620A8E-C4A5-4821-82B1-9A6EE4F894AA}" destId="{82CB24EB-F3B8-4313-8A4C-46A4A6C6E31A}" srcOrd="1" destOrd="0" parTransId="{F964AE57-1F6D-4E2E-92C0-B117F9D585B8}" sibTransId="{68FADE7E-F584-4933-80D1-051383411362}"/>
    <dgm:cxn modelId="{79E1AF0B-D786-4C0A-B035-3428B80BABDA}" type="presOf" srcId="{66ACC874-3CFB-4E6F-B294-E9398EAEDB9E}" destId="{ACB976F2-8BF8-4A70-91C5-C91BC345A4AF}" srcOrd="0" destOrd="0" presId="urn:microsoft.com/office/officeart/2005/8/layout/hList1"/>
    <dgm:cxn modelId="{722E4B5A-5B31-4EEA-9E08-6C7FD054BC0B}" type="presOf" srcId="{C7E39CD3-0DC4-4012-92DA-90224624ADFF}" destId="{8F17F835-55F0-4C61-A2A3-44AE2ED9D7FE}" srcOrd="0" destOrd="0" presId="urn:microsoft.com/office/officeart/2005/8/layout/hList1"/>
    <dgm:cxn modelId="{A41A99D5-FC8D-4A3A-89AB-399BC0DF130A}" type="presOf" srcId="{4EB17A82-9752-4BB8-A0BB-5F5C56F2C0A1}" destId="{ACB976F2-8BF8-4A70-91C5-C91BC345A4AF}" srcOrd="0" destOrd="1" presId="urn:microsoft.com/office/officeart/2005/8/layout/hList1"/>
    <dgm:cxn modelId="{06B0ADCA-EA45-4E8A-9286-90F56749DBA5}" type="presOf" srcId="{82CB24EB-F3B8-4313-8A4C-46A4A6C6E31A}" destId="{B62719DE-8DA5-4764-8561-2A4AB2C96331}" srcOrd="0" destOrd="1" presId="urn:microsoft.com/office/officeart/2005/8/layout/hList1"/>
    <dgm:cxn modelId="{4E6D8799-3178-414C-9C01-35E2A10F05D6}" type="presOf" srcId="{C1620A8E-C4A5-4821-82B1-9A6EE4F894AA}" destId="{FD082DEC-BD21-4E00-AA12-CC0ED5CBCB32}" srcOrd="0" destOrd="0" presId="urn:microsoft.com/office/officeart/2005/8/layout/hList1"/>
    <dgm:cxn modelId="{41A2B63C-9C39-4698-9D1A-0FE6B56E4286}" type="presOf" srcId="{2D71A16D-6D3A-432C-834D-94D94C96E66D}" destId="{B62719DE-8DA5-4764-8561-2A4AB2C96331}" srcOrd="0" destOrd="0" presId="urn:microsoft.com/office/officeart/2005/8/layout/hList1"/>
    <dgm:cxn modelId="{419CC096-94B7-4869-8BB1-1F1886A1C7DB}" srcId="{32A9B5D2-AFBA-46B2-B4AE-3AC19D52734B}" destId="{C1620A8E-C4A5-4821-82B1-9A6EE4F894AA}" srcOrd="1" destOrd="0" parTransId="{6BE4650C-F7E6-4DB4-9284-332FE113FE55}" sibTransId="{966FE29F-1530-487E-8BF1-E706AA499996}"/>
    <dgm:cxn modelId="{0543E9C2-E2BE-425C-B0CB-EAE585D6F38A}" srcId="{32A9B5D2-AFBA-46B2-B4AE-3AC19D52734B}" destId="{C7E39CD3-0DC4-4012-92DA-90224624ADFF}" srcOrd="0" destOrd="0" parTransId="{5451DC01-4D36-438B-AAEB-01B61AACDBAB}" sibTransId="{F415174C-1935-4310-A6E6-FE62B21E5B87}"/>
    <dgm:cxn modelId="{A45FEBFD-69BB-4F28-9DC9-0E677B9567D8}" type="presParOf" srcId="{D5AF80AA-414F-4474-ABC9-E635DD32C12D}" destId="{E980AAEC-D744-4F45-AA9F-C138C0A71A0E}" srcOrd="0" destOrd="0" presId="urn:microsoft.com/office/officeart/2005/8/layout/hList1"/>
    <dgm:cxn modelId="{26D03D16-33A4-4501-87C7-5288B2BB8C44}" type="presParOf" srcId="{E980AAEC-D744-4F45-AA9F-C138C0A71A0E}" destId="{8F17F835-55F0-4C61-A2A3-44AE2ED9D7FE}" srcOrd="0" destOrd="0" presId="urn:microsoft.com/office/officeart/2005/8/layout/hList1"/>
    <dgm:cxn modelId="{93993F14-6CB8-4D58-8E78-FFC85442AED5}" type="presParOf" srcId="{E980AAEC-D744-4F45-AA9F-C138C0A71A0E}" destId="{ACB976F2-8BF8-4A70-91C5-C91BC345A4AF}" srcOrd="1" destOrd="0" presId="urn:microsoft.com/office/officeart/2005/8/layout/hList1"/>
    <dgm:cxn modelId="{12A2C645-E248-452C-8AE4-750A857EC34A}" type="presParOf" srcId="{D5AF80AA-414F-4474-ABC9-E635DD32C12D}" destId="{9B6C0EE2-67AE-4432-B5BF-6CE7E326E53F}" srcOrd="1" destOrd="0" presId="urn:microsoft.com/office/officeart/2005/8/layout/hList1"/>
    <dgm:cxn modelId="{7E38D189-BAE1-4701-AEB2-3065EEFDB788}" type="presParOf" srcId="{D5AF80AA-414F-4474-ABC9-E635DD32C12D}" destId="{7E449BE8-A2E6-4157-904D-55985C924B0E}" srcOrd="2" destOrd="0" presId="urn:microsoft.com/office/officeart/2005/8/layout/hList1"/>
    <dgm:cxn modelId="{45607F98-DEA6-41EF-BD38-6ADAAD28185C}" type="presParOf" srcId="{7E449BE8-A2E6-4157-904D-55985C924B0E}" destId="{FD082DEC-BD21-4E00-AA12-CC0ED5CBCB32}" srcOrd="0" destOrd="0" presId="urn:microsoft.com/office/officeart/2005/8/layout/hList1"/>
    <dgm:cxn modelId="{B8D76CB0-2517-4EE3-BA42-FB939B7E662B}" type="presParOf" srcId="{7E449BE8-A2E6-4157-904D-55985C924B0E}" destId="{B62719DE-8DA5-4764-8561-2A4AB2C9633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9E9E56-CD28-47BC-8AD2-94CCE5B81474}" type="doc">
      <dgm:prSet loTypeId="urn:microsoft.com/office/officeart/2005/8/layout/hList1" loCatId="list" qsTypeId="urn:microsoft.com/office/officeart/2005/8/quickstyle/simple1#8" qsCatId="simple" csTypeId="urn:microsoft.com/office/officeart/2005/8/colors/accent1_2#8" csCatId="accent1" phldr="1"/>
      <dgm:spPr/>
      <dgm:t>
        <a:bodyPr/>
        <a:lstStyle/>
        <a:p>
          <a:endParaRPr lang="en-US"/>
        </a:p>
      </dgm:t>
    </dgm:pt>
    <dgm:pt modelId="{C8CF1B3D-656A-46DB-89D8-D3D398B76B3B}">
      <dgm:prSet phldrT="[Text]" custT="1"/>
      <dgm:spPr/>
      <dgm:t>
        <a:bodyPr/>
        <a:lstStyle/>
        <a:p>
          <a:r>
            <a:rPr lang="zh-CN" altLang="en-US" sz="2400" b="1" dirty="0">
              <a:solidFill>
                <a:srgbClr val="000000"/>
              </a:solidFill>
            </a:rPr>
            <a:t>作用范围</a:t>
          </a:r>
          <a:endParaRPr lang="en-US" sz="2400" b="1" dirty="0">
            <a:solidFill>
              <a:srgbClr val="000000"/>
            </a:solidFill>
          </a:endParaRPr>
        </a:p>
      </dgm:t>
    </dgm:pt>
    <dgm:pt modelId="{BC4337CF-853B-4BFF-AFA8-31D2AC9F589F}" type="parTrans" cxnId="{1B304E6C-11A2-4E91-BFDF-D3461B463E1C}">
      <dgm:prSet/>
      <dgm:spPr/>
      <dgm:t>
        <a:bodyPr/>
        <a:lstStyle/>
        <a:p>
          <a:endParaRPr lang="en-US" b="1"/>
        </a:p>
      </dgm:t>
    </dgm:pt>
    <dgm:pt modelId="{A378AAC3-AE16-4C0D-921A-0A5BFBF331D0}" type="sibTrans" cxnId="{1B304E6C-11A2-4E91-BFDF-D3461B463E1C}">
      <dgm:prSet/>
      <dgm:spPr/>
      <dgm:t>
        <a:bodyPr/>
        <a:lstStyle/>
        <a:p>
          <a:endParaRPr lang="en-US" b="1"/>
        </a:p>
      </dgm:t>
    </dgm:pt>
    <dgm:pt modelId="{C0D33F85-F979-4824-9397-4971FD7C58CB}">
      <dgm:prSet phldrT="[Text]"/>
      <dgm:spPr/>
      <dgm:t>
        <a:bodyPr/>
        <a:lstStyle/>
        <a:p>
          <a:r>
            <a:rPr lang="zh-CN" altLang="en-US" b="1" dirty="0" smtClean="0">
              <a:solidFill>
                <a:srgbClr val="1C1C1C"/>
              </a:solidFill>
            </a:rPr>
            <a:t>广域网</a:t>
          </a:r>
          <a:r>
            <a:rPr lang="en-US" altLang="zh-CN" b="1" dirty="0" smtClean="0">
              <a:solidFill>
                <a:srgbClr val="1C1C1C"/>
              </a:solidFill>
            </a:rPr>
            <a:t>(WAN)</a:t>
          </a:r>
          <a:endParaRPr lang="en-US" b="1" dirty="0">
            <a:solidFill>
              <a:srgbClr val="1C1C1C"/>
            </a:solidFill>
          </a:endParaRPr>
        </a:p>
      </dgm:t>
    </dgm:pt>
    <dgm:pt modelId="{91C693B9-A8B1-4F24-A004-9CA38F7FA1C5}" type="parTrans" cxnId="{7DD852B8-15FB-44DD-AF97-ACA829321692}">
      <dgm:prSet/>
      <dgm:spPr/>
      <dgm:t>
        <a:bodyPr/>
        <a:lstStyle/>
        <a:p>
          <a:endParaRPr lang="en-US" b="1"/>
        </a:p>
      </dgm:t>
    </dgm:pt>
    <dgm:pt modelId="{6CE93C0D-F701-4A5C-A0AC-E5651E477444}" type="sibTrans" cxnId="{7DD852B8-15FB-44DD-AF97-ACA829321692}">
      <dgm:prSet/>
      <dgm:spPr/>
      <dgm:t>
        <a:bodyPr/>
        <a:lstStyle/>
        <a:p>
          <a:endParaRPr lang="en-US" b="1"/>
        </a:p>
      </dgm:t>
    </dgm:pt>
    <dgm:pt modelId="{BDC55AF7-FF02-49EA-905C-817D236D7F03}">
      <dgm:prSet phldrT="[Text]"/>
      <dgm:spPr/>
      <dgm:t>
        <a:bodyPr/>
        <a:lstStyle/>
        <a:p>
          <a:r>
            <a:rPr lang="zh-CN" altLang="en-US" b="1" dirty="0" smtClean="0">
              <a:solidFill>
                <a:srgbClr val="1C1C1C"/>
              </a:solidFill>
            </a:rPr>
            <a:t>城域网</a:t>
          </a:r>
          <a:r>
            <a:rPr lang="en-US" altLang="zh-CN" b="1" dirty="0" smtClean="0">
              <a:solidFill>
                <a:srgbClr val="1C1C1C"/>
              </a:solidFill>
            </a:rPr>
            <a:t>(MAN)</a:t>
          </a:r>
          <a:endParaRPr lang="en-US" b="1" dirty="0">
            <a:solidFill>
              <a:srgbClr val="1C1C1C"/>
            </a:solidFill>
          </a:endParaRPr>
        </a:p>
      </dgm:t>
    </dgm:pt>
    <dgm:pt modelId="{5E083D87-2EB7-4D01-8D32-DA34247EC54D}" type="parTrans" cxnId="{A60B6CCC-A252-4F77-AA4F-B63DFF007FDD}">
      <dgm:prSet/>
      <dgm:spPr/>
      <dgm:t>
        <a:bodyPr/>
        <a:lstStyle/>
        <a:p>
          <a:endParaRPr lang="en-US" b="1"/>
        </a:p>
      </dgm:t>
    </dgm:pt>
    <dgm:pt modelId="{6FFB3985-3679-406E-B2B9-EC25409577AA}" type="sibTrans" cxnId="{A60B6CCC-A252-4F77-AA4F-B63DFF007FDD}">
      <dgm:prSet/>
      <dgm:spPr/>
      <dgm:t>
        <a:bodyPr/>
        <a:lstStyle/>
        <a:p>
          <a:endParaRPr lang="en-US" b="1"/>
        </a:p>
      </dgm:t>
    </dgm:pt>
    <dgm:pt modelId="{E96A7A80-DF39-4D11-9024-47875F321068}">
      <dgm:prSet phldrT="[Text]" custT="1"/>
      <dgm:spPr/>
      <dgm:t>
        <a:bodyPr/>
        <a:lstStyle/>
        <a:p>
          <a:r>
            <a:rPr lang="zh-CN" altLang="en-US" sz="2400" b="1" dirty="0">
              <a:solidFill>
                <a:srgbClr val="000000"/>
              </a:solidFill>
            </a:rPr>
            <a:t>使用者</a:t>
          </a:r>
          <a:endParaRPr lang="en-US" sz="2400" b="1" dirty="0">
            <a:solidFill>
              <a:srgbClr val="000000"/>
            </a:solidFill>
          </a:endParaRPr>
        </a:p>
      </dgm:t>
    </dgm:pt>
    <dgm:pt modelId="{47E72AD1-13D9-4F59-BCDD-192407E234F0}" type="parTrans" cxnId="{E8CB9A1B-35DC-4542-A591-E1AD9433A652}">
      <dgm:prSet/>
      <dgm:spPr/>
      <dgm:t>
        <a:bodyPr/>
        <a:lstStyle/>
        <a:p>
          <a:endParaRPr lang="en-US" b="1"/>
        </a:p>
      </dgm:t>
    </dgm:pt>
    <dgm:pt modelId="{ECAA00A5-5253-4A5D-B30D-F83E04400C50}" type="sibTrans" cxnId="{E8CB9A1B-35DC-4542-A591-E1AD9433A652}">
      <dgm:prSet/>
      <dgm:spPr/>
      <dgm:t>
        <a:bodyPr/>
        <a:lstStyle/>
        <a:p>
          <a:endParaRPr lang="en-US" b="1"/>
        </a:p>
      </dgm:t>
    </dgm:pt>
    <dgm:pt modelId="{395BB8A5-F52B-4600-B9AC-99166116D6B7}">
      <dgm:prSet phldrT="[Text]"/>
      <dgm:spPr/>
      <dgm:t>
        <a:bodyPr/>
        <a:lstStyle/>
        <a:p>
          <a:r>
            <a:rPr lang="zh-CN" altLang="en-US" b="1" dirty="0" smtClean="0">
              <a:solidFill>
                <a:srgbClr val="1C1C1C"/>
              </a:solidFill>
            </a:rPr>
            <a:t>公用网</a:t>
          </a:r>
          <a:r>
            <a:rPr lang="en-US" altLang="zh-CN" b="1" dirty="0" smtClean="0">
              <a:solidFill>
                <a:srgbClr val="1C1C1C"/>
              </a:solidFill>
            </a:rPr>
            <a:t>(Public Network)</a:t>
          </a:r>
          <a:endParaRPr lang="en-US" b="1" dirty="0">
            <a:solidFill>
              <a:srgbClr val="1C1C1C"/>
            </a:solidFill>
          </a:endParaRPr>
        </a:p>
      </dgm:t>
    </dgm:pt>
    <dgm:pt modelId="{B6038D5E-DD40-4A62-B433-885A470F9566}" type="parTrans" cxnId="{665AA43C-6B1D-47CA-ACEE-853D6C5CE220}">
      <dgm:prSet/>
      <dgm:spPr/>
      <dgm:t>
        <a:bodyPr/>
        <a:lstStyle/>
        <a:p>
          <a:endParaRPr lang="en-US" b="1"/>
        </a:p>
      </dgm:t>
    </dgm:pt>
    <dgm:pt modelId="{523F37B8-F2D9-44CF-9CEF-79933DA91876}" type="sibTrans" cxnId="{665AA43C-6B1D-47CA-ACEE-853D6C5CE220}">
      <dgm:prSet/>
      <dgm:spPr/>
      <dgm:t>
        <a:bodyPr/>
        <a:lstStyle/>
        <a:p>
          <a:endParaRPr lang="en-US" b="1"/>
        </a:p>
      </dgm:t>
    </dgm:pt>
    <dgm:pt modelId="{E4BE1D1A-98AF-40A6-AA94-FC1DB3D143EC}">
      <dgm:prSet phldrT="[Text]" custT="1"/>
      <dgm:spPr/>
      <dgm:t>
        <a:bodyPr/>
        <a:lstStyle/>
        <a:p>
          <a:r>
            <a:rPr lang="zh-CN" altLang="en-US" sz="2400" b="1" dirty="0">
              <a:solidFill>
                <a:srgbClr val="000000"/>
              </a:solidFill>
            </a:rPr>
            <a:t>拓扑结构</a:t>
          </a:r>
          <a:endParaRPr lang="en-US" sz="2400" b="1" dirty="0">
            <a:solidFill>
              <a:srgbClr val="000000"/>
            </a:solidFill>
          </a:endParaRPr>
        </a:p>
      </dgm:t>
    </dgm:pt>
    <dgm:pt modelId="{9C08B2AC-C2D6-4C16-8568-6DEEFF02E2BE}" type="parTrans" cxnId="{FD51DFB7-E355-48A6-A81C-1DA11E4EA991}">
      <dgm:prSet/>
      <dgm:spPr/>
      <dgm:t>
        <a:bodyPr/>
        <a:lstStyle/>
        <a:p>
          <a:endParaRPr lang="en-US" b="1"/>
        </a:p>
      </dgm:t>
    </dgm:pt>
    <dgm:pt modelId="{7E1F9AA0-B286-4051-9ED8-E7ABBF9095C5}" type="sibTrans" cxnId="{FD51DFB7-E355-48A6-A81C-1DA11E4EA991}">
      <dgm:prSet/>
      <dgm:spPr/>
      <dgm:t>
        <a:bodyPr/>
        <a:lstStyle/>
        <a:p>
          <a:endParaRPr lang="en-US" b="1"/>
        </a:p>
      </dgm:t>
    </dgm:pt>
    <dgm:pt modelId="{01F6E2BA-0A25-4776-8825-45DFC3B3802C}">
      <dgm:prSet phldrT="[Text]"/>
      <dgm:spPr/>
      <dgm:t>
        <a:bodyPr/>
        <a:lstStyle/>
        <a:p>
          <a:r>
            <a:rPr lang="zh-CN" altLang="en-US" b="1" dirty="0" smtClean="0">
              <a:solidFill>
                <a:srgbClr val="1C1C1C"/>
              </a:solidFill>
            </a:rPr>
            <a:t>总线形</a:t>
          </a:r>
          <a:endParaRPr lang="en-US" b="1" dirty="0">
            <a:solidFill>
              <a:srgbClr val="1C1C1C"/>
            </a:solidFill>
          </a:endParaRPr>
        </a:p>
      </dgm:t>
    </dgm:pt>
    <dgm:pt modelId="{8A7EF5C5-5CC9-409F-94E3-751131B106F3}" type="parTrans" cxnId="{CF7BF4DF-F130-4004-B30F-2043DBA8B41E}">
      <dgm:prSet/>
      <dgm:spPr/>
      <dgm:t>
        <a:bodyPr/>
        <a:lstStyle/>
        <a:p>
          <a:endParaRPr lang="en-US" b="1"/>
        </a:p>
      </dgm:t>
    </dgm:pt>
    <dgm:pt modelId="{2F1E50EC-7238-4172-B005-EB7649B76336}" type="sibTrans" cxnId="{CF7BF4DF-F130-4004-B30F-2043DBA8B41E}">
      <dgm:prSet/>
      <dgm:spPr/>
      <dgm:t>
        <a:bodyPr/>
        <a:lstStyle/>
        <a:p>
          <a:endParaRPr lang="en-US" b="1"/>
        </a:p>
      </dgm:t>
    </dgm:pt>
    <dgm:pt modelId="{F72C42DC-0B94-4619-9678-D62BDDCD9421}">
      <dgm:prSet phldrT="[Text]"/>
      <dgm:spPr/>
      <dgm:t>
        <a:bodyPr/>
        <a:lstStyle/>
        <a:p>
          <a:r>
            <a:rPr lang="zh-CN" altLang="en-US" b="1" dirty="0" smtClean="0">
              <a:solidFill>
                <a:srgbClr val="1C1C1C"/>
              </a:solidFill>
            </a:rPr>
            <a:t>星形</a:t>
          </a:r>
          <a:endParaRPr lang="en-US" b="1" dirty="0">
            <a:solidFill>
              <a:srgbClr val="1C1C1C"/>
            </a:solidFill>
          </a:endParaRPr>
        </a:p>
      </dgm:t>
    </dgm:pt>
    <dgm:pt modelId="{C0D527B8-4D29-4205-BC99-4159AD4B8601}" type="parTrans" cxnId="{EAA6FA44-3B40-4A92-AB4F-015337936405}">
      <dgm:prSet/>
      <dgm:spPr/>
      <dgm:t>
        <a:bodyPr/>
        <a:lstStyle/>
        <a:p>
          <a:endParaRPr lang="en-US" b="1"/>
        </a:p>
      </dgm:t>
    </dgm:pt>
    <dgm:pt modelId="{89D36CC8-680D-4CEE-9425-0FD796119E90}" type="sibTrans" cxnId="{EAA6FA44-3B40-4A92-AB4F-015337936405}">
      <dgm:prSet/>
      <dgm:spPr/>
      <dgm:t>
        <a:bodyPr/>
        <a:lstStyle/>
        <a:p>
          <a:endParaRPr lang="en-US" b="1"/>
        </a:p>
      </dgm:t>
    </dgm:pt>
    <dgm:pt modelId="{70909D5A-7D8B-416D-A37A-7979F9AF02F8}">
      <dgm:prSet phldrT="[Text]"/>
      <dgm:spPr/>
      <dgm:t>
        <a:bodyPr/>
        <a:lstStyle/>
        <a:p>
          <a:r>
            <a:rPr lang="zh-CN" altLang="en-US" b="1" dirty="0" smtClean="0">
              <a:solidFill>
                <a:srgbClr val="1C1C1C"/>
              </a:solidFill>
            </a:rPr>
            <a:t>局域网</a:t>
          </a:r>
          <a:r>
            <a:rPr lang="en-US" altLang="zh-CN" b="1" dirty="0" smtClean="0">
              <a:solidFill>
                <a:srgbClr val="1C1C1C"/>
              </a:solidFill>
            </a:rPr>
            <a:t>(LAN)</a:t>
          </a:r>
          <a:endParaRPr lang="en-US" b="1" dirty="0">
            <a:solidFill>
              <a:srgbClr val="1C1C1C"/>
            </a:solidFill>
          </a:endParaRPr>
        </a:p>
      </dgm:t>
    </dgm:pt>
    <dgm:pt modelId="{C5ACFB93-4543-4666-868A-6F7610277B5F}" type="parTrans" cxnId="{BF220F31-1D81-4F52-83FA-8216AF2B9324}">
      <dgm:prSet/>
      <dgm:spPr/>
      <dgm:t>
        <a:bodyPr/>
        <a:lstStyle/>
        <a:p>
          <a:endParaRPr lang="en-US" b="1"/>
        </a:p>
      </dgm:t>
    </dgm:pt>
    <dgm:pt modelId="{4A13F2E2-86AA-45C5-AB7B-F7EB5B76544E}" type="sibTrans" cxnId="{BF220F31-1D81-4F52-83FA-8216AF2B9324}">
      <dgm:prSet/>
      <dgm:spPr/>
      <dgm:t>
        <a:bodyPr/>
        <a:lstStyle/>
        <a:p>
          <a:endParaRPr lang="en-US" b="1"/>
        </a:p>
      </dgm:t>
    </dgm:pt>
    <dgm:pt modelId="{A431572F-4924-4297-AE1E-8E4813FEE4F9}">
      <dgm:prSet phldrT="[Text]"/>
      <dgm:spPr/>
      <dgm:t>
        <a:bodyPr/>
        <a:lstStyle/>
        <a:p>
          <a:r>
            <a:rPr lang="zh-CN" altLang="en-US" b="1" dirty="0">
              <a:solidFill>
                <a:srgbClr val="1C1C1C"/>
              </a:solidFill>
            </a:rPr>
            <a:t>个人区域</a:t>
          </a:r>
          <a:r>
            <a:rPr lang="zh-CN" altLang="en-US" b="1" dirty="0" smtClean="0">
              <a:solidFill>
                <a:srgbClr val="1C1C1C"/>
              </a:solidFill>
            </a:rPr>
            <a:t>网</a:t>
          </a:r>
          <a:r>
            <a:rPr lang="en-US" altLang="zh-CN" b="1" dirty="0" smtClean="0">
              <a:solidFill>
                <a:srgbClr val="1C1C1C"/>
              </a:solidFill>
            </a:rPr>
            <a:t>(PAN)</a:t>
          </a:r>
          <a:endParaRPr lang="en-US" b="1" dirty="0">
            <a:solidFill>
              <a:srgbClr val="1C1C1C"/>
            </a:solidFill>
          </a:endParaRPr>
        </a:p>
      </dgm:t>
    </dgm:pt>
    <dgm:pt modelId="{8BE8B087-B9F9-4E47-8B1C-35CE70E6D863}" type="parTrans" cxnId="{958269DA-0FB0-43DB-B2C5-3FB590E2090C}">
      <dgm:prSet/>
      <dgm:spPr/>
      <dgm:t>
        <a:bodyPr/>
        <a:lstStyle/>
        <a:p>
          <a:endParaRPr lang="en-US" b="1"/>
        </a:p>
      </dgm:t>
    </dgm:pt>
    <dgm:pt modelId="{B22CC02F-57C1-4D80-84EF-6E3190A6024F}" type="sibTrans" cxnId="{958269DA-0FB0-43DB-B2C5-3FB590E2090C}">
      <dgm:prSet/>
      <dgm:spPr/>
      <dgm:t>
        <a:bodyPr/>
        <a:lstStyle/>
        <a:p>
          <a:endParaRPr lang="en-US" b="1"/>
        </a:p>
      </dgm:t>
    </dgm:pt>
    <dgm:pt modelId="{52BA543E-16B4-4D79-8DE1-6F3F9E94BD24}">
      <dgm:prSet phldrT="[Text]"/>
      <dgm:spPr/>
      <dgm:t>
        <a:bodyPr/>
        <a:lstStyle/>
        <a:p>
          <a:r>
            <a:rPr lang="zh-CN" altLang="en-US" b="1" dirty="0" smtClean="0">
              <a:solidFill>
                <a:srgbClr val="1C1C1C"/>
              </a:solidFill>
            </a:rPr>
            <a:t>树形</a:t>
          </a:r>
          <a:endParaRPr lang="en-US" b="1" dirty="0">
            <a:solidFill>
              <a:srgbClr val="1C1C1C"/>
            </a:solidFill>
          </a:endParaRPr>
        </a:p>
      </dgm:t>
    </dgm:pt>
    <dgm:pt modelId="{60EF63E6-A7E7-46E5-A1FE-48B998448742}" type="parTrans" cxnId="{1DE41CF3-76D6-40FC-847C-2F3C4071964B}">
      <dgm:prSet/>
      <dgm:spPr/>
      <dgm:t>
        <a:bodyPr/>
        <a:lstStyle/>
        <a:p>
          <a:endParaRPr lang="en-US" b="1"/>
        </a:p>
      </dgm:t>
    </dgm:pt>
    <dgm:pt modelId="{7AFB795D-37BC-4A79-A3FF-6E90A2ABE32E}" type="sibTrans" cxnId="{1DE41CF3-76D6-40FC-847C-2F3C4071964B}">
      <dgm:prSet/>
      <dgm:spPr/>
      <dgm:t>
        <a:bodyPr/>
        <a:lstStyle/>
        <a:p>
          <a:endParaRPr lang="en-US" b="1"/>
        </a:p>
      </dgm:t>
    </dgm:pt>
    <dgm:pt modelId="{D6A58AE9-71D6-4D6A-8645-6AA563ABE81B}">
      <dgm:prSet phldrT="[Text]"/>
      <dgm:spPr/>
      <dgm:t>
        <a:bodyPr/>
        <a:lstStyle/>
        <a:p>
          <a:r>
            <a:rPr lang="zh-CN" altLang="en-US" b="1" dirty="0">
              <a:solidFill>
                <a:srgbClr val="1C1C1C"/>
              </a:solidFill>
            </a:rPr>
            <a:t>网状</a:t>
          </a:r>
          <a:endParaRPr lang="en-US" b="1" dirty="0">
            <a:solidFill>
              <a:srgbClr val="1C1C1C"/>
            </a:solidFill>
          </a:endParaRPr>
        </a:p>
      </dgm:t>
    </dgm:pt>
    <dgm:pt modelId="{5CA67F78-8ECB-4A7A-93AA-F06C3C9B6CCA}" type="parTrans" cxnId="{33D318A6-9A69-4356-A01F-F4E22AEA7664}">
      <dgm:prSet/>
      <dgm:spPr/>
      <dgm:t>
        <a:bodyPr/>
        <a:lstStyle/>
        <a:p>
          <a:endParaRPr lang="en-US" b="1"/>
        </a:p>
      </dgm:t>
    </dgm:pt>
    <dgm:pt modelId="{5A4807ED-4822-4B7A-81A4-2D6AD3374ED3}" type="sibTrans" cxnId="{33D318A6-9A69-4356-A01F-F4E22AEA7664}">
      <dgm:prSet/>
      <dgm:spPr/>
      <dgm:t>
        <a:bodyPr/>
        <a:lstStyle/>
        <a:p>
          <a:endParaRPr lang="en-US" b="1"/>
        </a:p>
      </dgm:t>
    </dgm:pt>
    <dgm:pt modelId="{C3DEDA4A-2192-4FC0-9427-473C7113E807}">
      <dgm:prSet phldrT="[Text]"/>
      <dgm:spPr/>
      <dgm:t>
        <a:bodyPr/>
        <a:lstStyle/>
        <a:p>
          <a:r>
            <a:rPr lang="zh-CN" altLang="en-US" b="1" dirty="0" smtClean="0">
              <a:solidFill>
                <a:srgbClr val="1C1C1C"/>
              </a:solidFill>
            </a:rPr>
            <a:t>环形</a:t>
          </a:r>
          <a:endParaRPr lang="en-US" b="1" dirty="0">
            <a:solidFill>
              <a:srgbClr val="1C1C1C"/>
            </a:solidFill>
          </a:endParaRPr>
        </a:p>
      </dgm:t>
    </dgm:pt>
    <dgm:pt modelId="{6913917B-9D65-43C9-9996-299E3F8F4A9B}" type="parTrans" cxnId="{144785A1-45E2-4379-AA97-20FD7F2ED785}">
      <dgm:prSet/>
      <dgm:spPr/>
      <dgm:t>
        <a:bodyPr/>
        <a:lstStyle/>
        <a:p>
          <a:endParaRPr lang="zh-CN" altLang="en-US" b="1"/>
        </a:p>
      </dgm:t>
    </dgm:pt>
    <dgm:pt modelId="{028EC784-5F54-4C0D-8A1C-4E153ABA5355}" type="sibTrans" cxnId="{144785A1-45E2-4379-AA97-20FD7F2ED785}">
      <dgm:prSet/>
      <dgm:spPr/>
      <dgm:t>
        <a:bodyPr/>
        <a:lstStyle/>
        <a:p>
          <a:endParaRPr lang="zh-CN" altLang="en-US" b="1"/>
        </a:p>
      </dgm:t>
    </dgm:pt>
    <dgm:pt modelId="{26E85D8C-6F3B-4C19-9888-0B25D7858CCC}">
      <dgm:prSet phldrT="[Text]"/>
      <dgm:spPr/>
      <dgm:t>
        <a:bodyPr/>
        <a:lstStyle/>
        <a:p>
          <a:r>
            <a:rPr lang="zh-CN" altLang="en-US" b="1" dirty="0" smtClean="0">
              <a:solidFill>
                <a:srgbClr val="1C1C1C"/>
              </a:solidFill>
            </a:rPr>
            <a:t>专用网</a:t>
          </a:r>
          <a:r>
            <a:rPr lang="en-US" altLang="zh-CN" b="1" dirty="0" smtClean="0">
              <a:solidFill>
                <a:srgbClr val="1C1C1C"/>
              </a:solidFill>
            </a:rPr>
            <a:t>(Private Network)</a:t>
          </a:r>
          <a:endParaRPr lang="en-US" b="1" dirty="0">
            <a:solidFill>
              <a:srgbClr val="1C1C1C"/>
            </a:solidFill>
          </a:endParaRPr>
        </a:p>
      </dgm:t>
    </dgm:pt>
    <dgm:pt modelId="{E354CCF6-03B3-4BF3-AA3E-AE2E3331E94A}" type="parTrans" cxnId="{02F5656F-270A-4BB2-943E-E77BB2AE0A14}">
      <dgm:prSet/>
      <dgm:spPr/>
      <dgm:t>
        <a:bodyPr/>
        <a:lstStyle/>
        <a:p>
          <a:endParaRPr lang="zh-CN" altLang="en-US" b="1"/>
        </a:p>
      </dgm:t>
    </dgm:pt>
    <dgm:pt modelId="{35BBBF0A-26EB-4CF0-8305-6EBB93B88745}" type="sibTrans" cxnId="{02F5656F-270A-4BB2-943E-E77BB2AE0A14}">
      <dgm:prSet/>
      <dgm:spPr/>
      <dgm:t>
        <a:bodyPr/>
        <a:lstStyle/>
        <a:p>
          <a:endParaRPr lang="zh-CN" altLang="en-US" b="1"/>
        </a:p>
      </dgm:t>
    </dgm:pt>
    <dgm:pt modelId="{78E77A06-7047-4AA8-99BF-2CA27AD4A096}" type="pres">
      <dgm:prSet presAssocID="{D69E9E56-CD28-47BC-8AD2-94CCE5B81474}" presName="Name0" presStyleCnt="0">
        <dgm:presLayoutVars>
          <dgm:dir/>
          <dgm:animLvl val="lvl"/>
          <dgm:resizeHandles val="exact"/>
        </dgm:presLayoutVars>
      </dgm:prSet>
      <dgm:spPr/>
      <dgm:t>
        <a:bodyPr/>
        <a:lstStyle/>
        <a:p>
          <a:endParaRPr lang="zh-CN" altLang="en-US"/>
        </a:p>
      </dgm:t>
    </dgm:pt>
    <dgm:pt modelId="{9CAEEEFE-1E8A-43BA-9540-B70CC5A39675}" type="pres">
      <dgm:prSet presAssocID="{C8CF1B3D-656A-46DB-89D8-D3D398B76B3B}" presName="composite" presStyleCnt="0"/>
      <dgm:spPr/>
    </dgm:pt>
    <dgm:pt modelId="{883C5943-61D5-485A-9891-B758B3F09D39}" type="pres">
      <dgm:prSet presAssocID="{C8CF1B3D-656A-46DB-89D8-D3D398B76B3B}" presName="parTx" presStyleLbl="alignNode1" presStyleIdx="0" presStyleCnt="3">
        <dgm:presLayoutVars>
          <dgm:chMax val="0"/>
          <dgm:chPref val="0"/>
          <dgm:bulletEnabled val="1"/>
        </dgm:presLayoutVars>
      </dgm:prSet>
      <dgm:spPr/>
      <dgm:t>
        <a:bodyPr/>
        <a:lstStyle/>
        <a:p>
          <a:endParaRPr lang="zh-CN" altLang="en-US"/>
        </a:p>
      </dgm:t>
    </dgm:pt>
    <dgm:pt modelId="{5D82DD90-54D1-49DF-A1B8-A311C9697F62}" type="pres">
      <dgm:prSet presAssocID="{C8CF1B3D-656A-46DB-89D8-D3D398B76B3B}" presName="desTx" presStyleLbl="alignAccFollowNode1" presStyleIdx="0" presStyleCnt="3">
        <dgm:presLayoutVars>
          <dgm:bulletEnabled val="1"/>
        </dgm:presLayoutVars>
      </dgm:prSet>
      <dgm:spPr/>
      <dgm:t>
        <a:bodyPr/>
        <a:lstStyle/>
        <a:p>
          <a:endParaRPr lang="zh-CN" altLang="en-US"/>
        </a:p>
      </dgm:t>
    </dgm:pt>
    <dgm:pt modelId="{A7523CA3-F033-40DF-BAD3-A4E15B3694C8}" type="pres">
      <dgm:prSet presAssocID="{A378AAC3-AE16-4C0D-921A-0A5BFBF331D0}" presName="space" presStyleCnt="0"/>
      <dgm:spPr/>
    </dgm:pt>
    <dgm:pt modelId="{2DDD3EA2-1AA4-4BCA-82A1-294226361DE9}" type="pres">
      <dgm:prSet presAssocID="{E96A7A80-DF39-4D11-9024-47875F321068}" presName="composite" presStyleCnt="0"/>
      <dgm:spPr/>
    </dgm:pt>
    <dgm:pt modelId="{325FA873-426E-4262-B205-C791949E3AB8}" type="pres">
      <dgm:prSet presAssocID="{E96A7A80-DF39-4D11-9024-47875F321068}" presName="parTx" presStyleLbl="alignNode1" presStyleIdx="1" presStyleCnt="3">
        <dgm:presLayoutVars>
          <dgm:chMax val="0"/>
          <dgm:chPref val="0"/>
          <dgm:bulletEnabled val="1"/>
        </dgm:presLayoutVars>
      </dgm:prSet>
      <dgm:spPr/>
      <dgm:t>
        <a:bodyPr/>
        <a:lstStyle/>
        <a:p>
          <a:endParaRPr lang="zh-CN" altLang="en-US"/>
        </a:p>
      </dgm:t>
    </dgm:pt>
    <dgm:pt modelId="{1DDA55A3-B9CE-456B-8F25-C5F2FA1FD984}" type="pres">
      <dgm:prSet presAssocID="{E96A7A80-DF39-4D11-9024-47875F321068}" presName="desTx" presStyleLbl="alignAccFollowNode1" presStyleIdx="1" presStyleCnt="3">
        <dgm:presLayoutVars>
          <dgm:bulletEnabled val="1"/>
        </dgm:presLayoutVars>
      </dgm:prSet>
      <dgm:spPr/>
      <dgm:t>
        <a:bodyPr/>
        <a:lstStyle/>
        <a:p>
          <a:endParaRPr lang="zh-CN" altLang="en-US"/>
        </a:p>
      </dgm:t>
    </dgm:pt>
    <dgm:pt modelId="{E02B9F08-D10D-4BC7-8C95-7B898889A8B0}" type="pres">
      <dgm:prSet presAssocID="{ECAA00A5-5253-4A5D-B30D-F83E04400C50}" presName="space" presStyleCnt="0"/>
      <dgm:spPr/>
    </dgm:pt>
    <dgm:pt modelId="{D088CA15-F9D8-4938-9C2A-12F36365C260}" type="pres">
      <dgm:prSet presAssocID="{E4BE1D1A-98AF-40A6-AA94-FC1DB3D143EC}" presName="composite" presStyleCnt="0"/>
      <dgm:spPr/>
    </dgm:pt>
    <dgm:pt modelId="{6B2935F3-35B9-4C1C-B822-D120D549A27C}" type="pres">
      <dgm:prSet presAssocID="{E4BE1D1A-98AF-40A6-AA94-FC1DB3D143EC}" presName="parTx" presStyleLbl="alignNode1" presStyleIdx="2" presStyleCnt="3">
        <dgm:presLayoutVars>
          <dgm:chMax val="0"/>
          <dgm:chPref val="0"/>
          <dgm:bulletEnabled val="1"/>
        </dgm:presLayoutVars>
      </dgm:prSet>
      <dgm:spPr/>
      <dgm:t>
        <a:bodyPr/>
        <a:lstStyle/>
        <a:p>
          <a:endParaRPr lang="zh-CN" altLang="en-US"/>
        </a:p>
      </dgm:t>
    </dgm:pt>
    <dgm:pt modelId="{BBE5CFC9-BB25-4E6B-B7D5-3365F87F4707}" type="pres">
      <dgm:prSet presAssocID="{E4BE1D1A-98AF-40A6-AA94-FC1DB3D143EC}" presName="desTx" presStyleLbl="alignAccFollowNode1" presStyleIdx="2" presStyleCnt="3">
        <dgm:presLayoutVars>
          <dgm:bulletEnabled val="1"/>
        </dgm:presLayoutVars>
      </dgm:prSet>
      <dgm:spPr/>
      <dgm:t>
        <a:bodyPr/>
        <a:lstStyle/>
        <a:p>
          <a:endParaRPr lang="zh-CN" altLang="en-US"/>
        </a:p>
      </dgm:t>
    </dgm:pt>
  </dgm:ptLst>
  <dgm:cxnLst>
    <dgm:cxn modelId="{EE6F08E7-096A-4183-B66D-5B07B1C3FC88}" type="presOf" srcId="{D6A58AE9-71D6-4D6A-8645-6AA563ABE81B}" destId="{BBE5CFC9-BB25-4E6B-B7D5-3365F87F4707}" srcOrd="0" destOrd="4" presId="urn:microsoft.com/office/officeart/2005/8/layout/hList1"/>
    <dgm:cxn modelId="{BF220F31-1D81-4F52-83FA-8216AF2B9324}" srcId="{C8CF1B3D-656A-46DB-89D8-D3D398B76B3B}" destId="{70909D5A-7D8B-416D-A37A-7979F9AF02F8}" srcOrd="2" destOrd="0" parTransId="{C5ACFB93-4543-4666-868A-6F7610277B5F}" sibTransId="{4A13F2E2-86AA-45C5-AB7B-F7EB5B76544E}"/>
    <dgm:cxn modelId="{3D266921-7DA2-4786-8541-C4A3D2FB7130}" type="presOf" srcId="{E4BE1D1A-98AF-40A6-AA94-FC1DB3D143EC}" destId="{6B2935F3-35B9-4C1C-B822-D120D549A27C}" srcOrd="0" destOrd="0" presId="urn:microsoft.com/office/officeart/2005/8/layout/hList1"/>
    <dgm:cxn modelId="{6FDE00DA-D0DC-4662-8A7D-3D700D9E9E95}" type="presOf" srcId="{52BA543E-16B4-4D79-8DE1-6F3F9E94BD24}" destId="{BBE5CFC9-BB25-4E6B-B7D5-3365F87F4707}" srcOrd="0" destOrd="3" presId="urn:microsoft.com/office/officeart/2005/8/layout/hList1"/>
    <dgm:cxn modelId="{FCED68CE-01B5-4B67-95DF-B131D6951865}" type="presOf" srcId="{01F6E2BA-0A25-4776-8825-45DFC3B3802C}" destId="{BBE5CFC9-BB25-4E6B-B7D5-3365F87F4707}" srcOrd="0" destOrd="0" presId="urn:microsoft.com/office/officeart/2005/8/layout/hList1"/>
    <dgm:cxn modelId="{1DE41CF3-76D6-40FC-847C-2F3C4071964B}" srcId="{E4BE1D1A-98AF-40A6-AA94-FC1DB3D143EC}" destId="{52BA543E-16B4-4D79-8DE1-6F3F9E94BD24}" srcOrd="3" destOrd="0" parTransId="{60EF63E6-A7E7-46E5-A1FE-48B998448742}" sibTransId="{7AFB795D-37BC-4A79-A3FF-6E90A2ABE32E}"/>
    <dgm:cxn modelId="{665AA43C-6B1D-47CA-ACEE-853D6C5CE220}" srcId="{E96A7A80-DF39-4D11-9024-47875F321068}" destId="{395BB8A5-F52B-4600-B9AC-99166116D6B7}" srcOrd="0" destOrd="0" parTransId="{B6038D5E-DD40-4A62-B433-885A470F9566}" sibTransId="{523F37B8-F2D9-44CF-9CEF-79933DA91876}"/>
    <dgm:cxn modelId="{E8CB9A1B-35DC-4542-A591-E1AD9433A652}" srcId="{D69E9E56-CD28-47BC-8AD2-94CCE5B81474}" destId="{E96A7A80-DF39-4D11-9024-47875F321068}" srcOrd="1" destOrd="0" parTransId="{47E72AD1-13D9-4F59-BCDD-192407E234F0}" sibTransId="{ECAA00A5-5253-4A5D-B30D-F83E04400C50}"/>
    <dgm:cxn modelId="{02F5656F-270A-4BB2-943E-E77BB2AE0A14}" srcId="{E96A7A80-DF39-4D11-9024-47875F321068}" destId="{26E85D8C-6F3B-4C19-9888-0B25D7858CCC}" srcOrd="1" destOrd="0" parTransId="{E354CCF6-03B3-4BF3-AA3E-AE2E3331E94A}" sibTransId="{35BBBF0A-26EB-4CF0-8305-6EBB93B88745}"/>
    <dgm:cxn modelId="{7DD852B8-15FB-44DD-AF97-ACA829321692}" srcId="{C8CF1B3D-656A-46DB-89D8-D3D398B76B3B}" destId="{C0D33F85-F979-4824-9397-4971FD7C58CB}" srcOrd="0" destOrd="0" parTransId="{91C693B9-A8B1-4F24-A004-9CA38F7FA1C5}" sibTransId="{6CE93C0D-F701-4A5C-A0AC-E5651E477444}"/>
    <dgm:cxn modelId="{1B304E6C-11A2-4E91-BFDF-D3461B463E1C}" srcId="{D69E9E56-CD28-47BC-8AD2-94CCE5B81474}" destId="{C8CF1B3D-656A-46DB-89D8-D3D398B76B3B}" srcOrd="0" destOrd="0" parTransId="{BC4337CF-853B-4BFF-AFA8-31D2AC9F589F}" sibTransId="{A378AAC3-AE16-4C0D-921A-0A5BFBF331D0}"/>
    <dgm:cxn modelId="{FD51DFB7-E355-48A6-A81C-1DA11E4EA991}" srcId="{D69E9E56-CD28-47BC-8AD2-94CCE5B81474}" destId="{E4BE1D1A-98AF-40A6-AA94-FC1DB3D143EC}" srcOrd="2" destOrd="0" parTransId="{9C08B2AC-C2D6-4C16-8568-6DEEFF02E2BE}" sibTransId="{7E1F9AA0-B286-4051-9ED8-E7ABBF9095C5}"/>
    <dgm:cxn modelId="{4691D420-018A-4E31-84CD-95FBB3C884F0}" type="presOf" srcId="{BDC55AF7-FF02-49EA-905C-817D236D7F03}" destId="{5D82DD90-54D1-49DF-A1B8-A311C9697F62}" srcOrd="0" destOrd="1" presId="urn:microsoft.com/office/officeart/2005/8/layout/hList1"/>
    <dgm:cxn modelId="{AC92B60C-10A0-4643-966A-74EB7BE9B040}" type="presOf" srcId="{E96A7A80-DF39-4D11-9024-47875F321068}" destId="{325FA873-426E-4262-B205-C791949E3AB8}" srcOrd="0" destOrd="0" presId="urn:microsoft.com/office/officeart/2005/8/layout/hList1"/>
    <dgm:cxn modelId="{144785A1-45E2-4379-AA97-20FD7F2ED785}" srcId="{E4BE1D1A-98AF-40A6-AA94-FC1DB3D143EC}" destId="{C3DEDA4A-2192-4FC0-9427-473C7113E807}" srcOrd="1" destOrd="0" parTransId="{6913917B-9D65-43C9-9996-299E3F8F4A9B}" sibTransId="{028EC784-5F54-4C0D-8A1C-4E153ABA5355}"/>
    <dgm:cxn modelId="{5CC94F19-AB53-43B4-87B0-6A6B32DB343E}" type="presOf" srcId="{395BB8A5-F52B-4600-B9AC-99166116D6B7}" destId="{1DDA55A3-B9CE-456B-8F25-C5F2FA1FD984}" srcOrd="0" destOrd="0" presId="urn:microsoft.com/office/officeart/2005/8/layout/hList1"/>
    <dgm:cxn modelId="{67EC801D-B858-4A7B-AFCE-A84613AB2D2C}" type="presOf" srcId="{A431572F-4924-4297-AE1E-8E4813FEE4F9}" destId="{5D82DD90-54D1-49DF-A1B8-A311C9697F62}" srcOrd="0" destOrd="3" presId="urn:microsoft.com/office/officeart/2005/8/layout/hList1"/>
    <dgm:cxn modelId="{CD4B834E-7A2B-49CB-A919-FEEDDC48D4CE}" type="presOf" srcId="{D69E9E56-CD28-47BC-8AD2-94CCE5B81474}" destId="{78E77A06-7047-4AA8-99BF-2CA27AD4A096}" srcOrd="0" destOrd="0" presId="urn:microsoft.com/office/officeart/2005/8/layout/hList1"/>
    <dgm:cxn modelId="{958269DA-0FB0-43DB-B2C5-3FB590E2090C}" srcId="{C8CF1B3D-656A-46DB-89D8-D3D398B76B3B}" destId="{A431572F-4924-4297-AE1E-8E4813FEE4F9}" srcOrd="3" destOrd="0" parTransId="{8BE8B087-B9F9-4E47-8B1C-35CE70E6D863}" sibTransId="{B22CC02F-57C1-4D80-84EF-6E3190A6024F}"/>
    <dgm:cxn modelId="{7B455BE6-0D4C-4F9B-AF34-C2B16AF1C4E0}" type="presOf" srcId="{F72C42DC-0B94-4619-9678-D62BDDCD9421}" destId="{BBE5CFC9-BB25-4E6B-B7D5-3365F87F4707}" srcOrd="0" destOrd="2" presId="urn:microsoft.com/office/officeart/2005/8/layout/hList1"/>
    <dgm:cxn modelId="{FA1A0F40-C0EF-4075-AE80-61C13238F6D5}" type="presOf" srcId="{C0D33F85-F979-4824-9397-4971FD7C58CB}" destId="{5D82DD90-54D1-49DF-A1B8-A311C9697F62}" srcOrd="0" destOrd="0" presId="urn:microsoft.com/office/officeart/2005/8/layout/hList1"/>
    <dgm:cxn modelId="{0EFFE35F-0798-4E91-970B-A78FA4916A5F}" type="presOf" srcId="{70909D5A-7D8B-416D-A37A-7979F9AF02F8}" destId="{5D82DD90-54D1-49DF-A1B8-A311C9697F62}" srcOrd="0" destOrd="2" presId="urn:microsoft.com/office/officeart/2005/8/layout/hList1"/>
    <dgm:cxn modelId="{CF7BF4DF-F130-4004-B30F-2043DBA8B41E}" srcId="{E4BE1D1A-98AF-40A6-AA94-FC1DB3D143EC}" destId="{01F6E2BA-0A25-4776-8825-45DFC3B3802C}" srcOrd="0" destOrd="0" parTransId="{8A7EF5C5-5CC9-409F-94E3-751131B106F3}" sibTransId="{2F1E50EC-7238-4172-B005-EB7649B76336}"/>
    <dgm:cxn modelId="{70A695B1-F853-4F34-AC6D-BAFAFC247EB1}" type="presOf" srcId="{C8CF1B3D-656A-46DB-89D8-D3D398B76B3B}" destId="{883C5943-61D5-485A-9891-B758B3F09D39}" srcOrd="0" destOrd="0" presId="urn:microsoft.com/office/officeart/2005/8/layout/hList1"/>
    <dgm:cxn modelId="{A60B6CCC-A252-4F77-AA4F-B63DFF007FDD}" srcId="{C8CF1B3D-656A-46DB-89D8-D3D398B76B3B}" destId="{BDC55AF7-FF02-49EA-905C-817D236D7F03}" srcOrd="1" destOrd="0" parTransId="{5E083D87-2EB7-4D01-8D32-DA34247EC54D}" sibTransId="{6FFB3985-3679-406E-B2B9-EC25409577AA}"/>
    <dgm:cxn modelId="{EAA6FA44-3B40-4A92-AB4F-015337936405}" srcId="{E4BE1D1A-98AF-40A6-AA94-FC1DB3D143EC}" destId="{F72C42DC-0B94-4619-9678-D62BDDCD9421}" srcOrd="2" destOrd="0" parTransId="{C0D527B8-4D29-4205-BC99-4159AD4B8601}" sibTransId="{89D36CC8-680D-4CEE-9425-0FD796119E90}"/>
    <dgm:cxn modelId="{33D318A6-9A69-4356-A01F-F4E22AEA7664}" srcId="{E4BE1D1A-98AF-40A6-AA94-FC1DB3D143EC}" destId="{D6A58AE9-71D6-4D6A-8645-6AA563ABE81B}" srcOrd="4" destOrd="0" parTransId="{5CA67F78-8ECB-4A7A-93AA-F06C3C9B6CCA}" sibTransId="{5A4807ED-4822-4B7A-81A4-2D6AD3374ED3}"/>
    <dgm:cxn modelId="{54375794-BA6F-47C5-AC90-CD50B7E8DE60}" type="presOf" srcId="{C3DEDA4A-2192-4FC0-9427-473C7113E807}" destId="{BBE5CFC9-BB25-4E6B-B7D5-3365F87F4707}" srcOrd="0" destOrd="1" presId="urn:microsoft.com/office/officeart/2005/8/layout/hList1"/>
    <dgm:cxn modelId="{9E3AFFCD-6C4B-4C84-83CF-5C38A9578C95}" type="presOf" srcId="{26E85D8C-6F3B-4C19-9888-0B25D7858CCC}" destId="{1DDA55A3-B9CE-456B-8F25-C5F2FA1FD984}" srcOrd="0" destOrd="1" presId="urn:microsoft.com/office/officeart/2005/8/layout/hList1"/>
    <dgm:cxn modelId="{BA7FEFA1-802B-4717-B68A-6285E1194884}" type="presParOf" srcId="{78E77A06-7047-4AA8-99BF-2CA27AD4A096}" destId="{9CAEEEFE-1E8A-43BA-9540-B70CC5A39675}" srcOrd="0" destOrd="0" presId="urn:microsoft.com/office/officeart/2005/8/layout/hList1"/>
    <dgm:cxn modelId="{32D18E5D-FAFF-42DE-A21B-CB8C20CE2694}" type="presParOf" srcId="{9CAEEEFE-1E8A-43BA-9540-B70CC5A39675}" destId="{883C5943-61D5-485A-9891-B758B3F09D39}" srcOrd="0" destOrd="0" presId="urn:microsoft.com/office/officeart/2005/8/layout/hList1"/>
    <dgm:cxn modelId="{EDAC108B-3C56-4F98-920E-DCD64D372EDA}" type="presParOf" srcId="{9CAEEEFE-1E8A-43BA-9540-B70CC5A39675}" destId="{5D82DD90-54D1-49DF-A1B8-A311C9697F62}" srcOrd="1" destOrd="0" presId="urn:microsoft.com/office/officeart/2005/8/layout/hList1"/>
    <dgm:cxn modelId="{77B7BB0D-0A94-49A3-BCDB-33792A7C5B1B}" type="presParOf" srcId="{78E77A06-7047-4AA8-99BF-2CA27AD4A096}" destId="{A7523CA3-F033-40DF-BAD3-A4E15B3694C8}" srcOrd="1" destOrd="0" presId="urn:microsoft.com/office/officeart/2005/8/layout/hList1"/>
    <dgm:cxn modelId="{2D95A893-524A-40C7-91F0-B2F7050B73AD}" type="presParOf" srcId="{78E77A06-7047-4AA8-99BF-2CA27AD4A096}" destId="{2DDD3EA2-1AA4-4BCA-82A1-294226361DE9}" srcOrd="2" destOrd="0" presId="urn:microsoft.com/office/officeart/2005/8/layout/hList1"/>
    <dgm:cxn modelId="{C5CDD180-C67A-4C75-9FB4-7EBD528AD03D}" type="presParOf" srcId="{2DDD3EA2-1AA4-4BCA-82A1-294226361DE9}" destId="{325FA873-426E-4262-B205-C791949E3AB8}" srcOrd="0" destOrd="0" presId="urn:microsoft.com/office/officeart/2005/8/layout/hList1"/>
    <dgm:cxn modelId="{9885A790-B589-493F-89B7-36884779076F}" type="presParOf" srcId="{2DDD3EA2-1AA4-4BCA-82A1-294226361DE9}" destId="{1DDA55A3-B9CE-456B-8F25-C5F2FA1FD984}" srcOrd="1" destOrd="0" presId="urn:microsoft.com/office/officeart/2005/8/layout/hList1"/>
    <dgm:cxn modelId="{8FA22214-4588-44A8-9E6F-E857EE66C043}" type="presParOf" srcId="{78E77A06-7047-4AA8-99BF-2CA27AD4A096}" destId="{E02B9F08-D10D-4BC7-8C95-7B898889A8B0}" srcOrd="3" destOrd="0" presId="urn:microsoft.com/office/officeart/2005/8/layout/hList1"/>
    <dgm:cxn modelId="{E8383EAE-E982-4E4C-AD32-1C3ABBEA09FF}" type="presParOf" srcId="{78E77A06-7047-4AA8-99BF-2CA27AD4A096}" destId="{D088CA15-F9D8-4938-9C2A-12F36365C260}" srcOrd="4" destOrd="0" presId="urn:microsoft.com/office/officeart/2005/8/layout/hList1"/>
    <dgm:cxn modelId="{B2C3165E-0391-43ED-9AEC-58419FDBF24C}" type="presParOf" srcId="{D088CA15-F9D8-4938-9C2A-12F36365C260}" destId="{6B2935F3-35B9-4C1C-B822-D120D549A27C}" srcOrd="0" destOrd="0" presId="urn:microsoft.com/office/officeart/2005/8/layout/hList1"/>
    <dgm:cxn modelId="{E1DFCBF5-2220-4630-BFC5-33023A5658CC}" type="presParOf" srcId="{D088CA15-F9D8-4938-9C2A-12F36365C260}" destId="{BBE5CFC9-BB25-4E6B-B7D5-3365F87F470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ABF8CED-7C6D-47BA-9902-295C9B10C26E}" type="doc">
      <dgm:prSet loTypeId="urn:microsoft.com/office/officeart/2005/8/layout/radial3" loCatId="cycle" qsTypeId="urn:microsoft.com/office/officeart/2005/8/quickstyle/simple1#9" qsCatId="simple" csTypeId="urn:microsoft.com/office/officeart/2005/8/colors/accent1_2#9" csCatId="accent1" phldr="1"/>
      <dgm:spPr/>
      <dgm:t>
        <a:bodyPr/>
        <a:lstStyle/>
        <a:p>
          <a:endParaRPr lang="en-US"/>
        </a:p>
      </dgm:t>
    </dgm:pt>
    <dgm:pt modelId="{868AB5D1-003A-4DC8-9569-91EB8736C4BA}">
      <dgm:prSet phldrT="[Text]"/>
      <dgm:spPr/>
      <dgm:t>
        <a:bodyPr/>
        <a:lstStyle/>
        <a:p>
          <a:r>
            <a:rPr lang="zh-CN" altLang="en-US" b="1" dirty="0">
              <a:solidFill>
                <a:srgbClr val="000000"/>
              </a:solidFill>
            </a:rPr>
            <a:t>性能指标</a:t>
          </a:r>
          <a:endParaRPr lang="en-US" b="1" dirty="0">
            <a:solidFill>
              <a:srgbClr val="000000"/>
            </a:solidFill>
          </a:endParaRPr>
        </a:p>
      </dgm:t>
    </dgm:pt>
    <dgm:pt modelId="{7AB30D2A-1E72-4DF1-B302-9C2A8360CC99}" type="parTrans" cxnId="{0A213B1A-ECAB-45A1-92A9-1346B75BD710}">
      <dgm:prSet/>
      <dgm:spPr/>
      <dgm:t>
        <a:bodyPr/>
        <a:lstStyle/>
        <a:p>
          <a:endParaRPr lang="en-US" b="1"/>
        </a:p>
      </dgm:t>
    </dgm:pt>
    <dgm:pt modelId="{C37A7A25-BB3F-4D2C-995C-4189094C93CC}" type="sibTrans" cxnId="{0A213B1A-ECAB-45A1-92A9-1346B75BD710}">
      <dgm:prSet/>
      <dgm:spPr/>
      <dgm:t>
        <a:bodyPr/>
        <a:lstStyle/>
        <a:p>
          <a:endParaRPr lang="en-US" b="1"/>
        </a:p>
      </dgm:t>
    </dgm:pt>
    <dgm:pt modelId="{5136F8FE-3D40-4751-BFFA-C8F3A57BB7D1}">
      <dgm:prSet phldrT="[Text]"/>
      <dgm:spPr/>
      <dgm:t>
        <a:bodyPr/>
        <a:lstStyle/>
        <a:p>
          <a:r>
            <a:rPr lang="en-US" altLang="zh-CN" b="1" dirty="0">
              <a:solidFill>
                <a:srgbClr val="000000"/>
              </a:solidFill>
            </a:rPr>
            <a:t>1.</a:t>
          </a:r>
          <a:r>
            <a:rPr lang="zh-CN" altLang="en-US" b="1" dirty="0">
              <a:solidFill>
                <a:srgbClr val="000000"/>
              </a:solidFill>
            </a:rPr>
            <a:t>速率</a:t>
          </a:r>
          <a:endParaRPr lang="en-US" b="1" dirty="0">
            <a:solidFill>
              <a:srgbClr val="000000"/>
            </a:solidFill>
          </a:endParaRPr>
        </a:p>
      </dgm:t>
    </dgm:pt>
    <dgm:pt modelId="{789233E8-1DC7-4278-B62D-199A1018DF1B}" type="parTrans" cxnId="{8983CE38-145B-469C-96EB-F88C40B0F564}">
      <dgm:prSet/>
      <dgm:spPr/>
      <dgm:t>
        <a:bodyPr/>
        <a:lstStyle/>
        <a:p>
          <a:endParaRPr lang="en-US" b="1"/>
        </a:p>
      </dgm:t>
    </dgm:pt>
    <dgm:pt modelId="{102AD870-FDE8-45FB-B043-E6033DBFB5FE}" type="sibTrans" cxnId="{8983CE38-145B-469C-96EB-F88C40B0F564}">
      <dgm:prSet/>
      <dgm:spPr/>
      <dgm:t>
        <a:bodyPr/>
        <a:lstStyle/>
        <a:p>
          <a:endParaRPr lang="en-US" b="1"/>
        </a:p>
      </dgm:t>
    </dgm:pt>
    <dgm:pt modelId="{41A814FB-807B-45D3-8053-0A77830C26C1}">
      <dgm:prSet phldrT="[Text]"/>
      <dgm:spPr/>
      <dgm:t>
        <a:bodyPr/>
        <a:lstStyle/>
        <a:p>
          <a:r>
            <a:rPr lang="en-US" altLang="zh-CN" b="1" dirty="0">
              <a:solidFill>
                <a:srgbClr val="000000"/>
              </a:solidFill>
            </a:rPr>
            <a:t>3.</a:t>
          </a:r>
          <a:r>
            <a:rPr lang="zh-CN" altLang="en-US" b="1" dirty="0">
              <a:solidFill>
                <a:srgbClr val="000000"/>
              </a:solidFill>
            </a:rPr>
            <a:t>吞吐量</a:t>
          </a:r>
          <a:endParaRPr lang="en-US" b="1" dirty="0">
            <a:solidFill>
              <a:srgbClr val="000000"/>
            </a:solidFill>
          </a:endParaRPr>
        </a:p>
      </dgm:t>
    </dgm:pt>
    <dgm:pt modelId="{E17E8916-7F51-4301-B907-FB1FEA4C67DF}" type="parTrans" cxnId="{CF7AF490-4F01-4B15-B4E8-A45D77466F7D}">
      <dgm:prSet/>
      <dgm:spPr/>
      <dgm:t>
        <a:bodyPr/>
        <a:lstStyle/>
        <a:p>
          <a:endParaRPr lang="en-US" b="1"/>
        </a:p>
      </dgm:t>
    </dgm:pt>
    <dgm:pt modelId="{985962CB-1AD6-43FA-9A4C-92A1D1A156ED}" type="sibTrans" cxnId="{CF7AF490-4F01-4B15-B4E8-A45D77466F7D}">
      <dgm:prSet/>
      <dgm:spPr/>
      <dgm:t>
        <a:bodyPr/>
        <a:lstStyle/>
        <a:p>
          <a:endParaRPr lang="en-US" b="1"/>
        </a:p>
      </dgm:t>
    </dgm:pt>
    <dgm:pt modelId="{9F11FA86-8299-4743-BF71-9997781EDD16}">
      <dgm:prSet phldrT="[Text]"/>
      <dgm:spPr/>
      <dgm:t>
        <a:bodyPr/>
        <a:lstStyle/>
        <a:p>
          <a:r>
            <a:rPr lang="en-US" altLang="zh-CN" b="1" dirty="0">
              <a:solidFill>
                <a:srgbClr val="000000"/>
              </a:solidFill>
            </a:rPr>
            <a:t>4.</a:t>
          </a:r>
          <a:r>
            <a:rPr lang="zh-CN" altLang="en-US" b="1" dirty="0">
              <a:solidFill>
                <a:srgbClr val="000000"/>
              </a:solidFill>
            </a:rPr>
            <a:t>时延</a:t>
          </a:r>
          <a:endParaRPr lang="en-US" b="1" dirty="0">
            <a:solidFill>
              <a:srgbClr val="000000"/>
            </a:solidFill>
          </a:endParaRPr>
        </a:p>
      </dgm:t>
    </dgm:pt>
    <dgm:pt modelId="{74D954DB-2570-43E9-A640-2DB1829BC79A}" type="parTrans" cxnId="{F2145EB5-1EC5-4621-9765-0F29DFFBA54E}">
      <dgm:prSet/>
      <dgm:spPr/>
      <dgm:t>
        <a:bodyPr/>
        <a:lstStyle/>
        <a:p>
          <a:endParaRPr lang="en-US" b="1"/>
        </a:p>
      </dgm:t>
    </dgm:pt>
    <dgm:pt modelId="{2055C36A-62D1-4511-8003-860C75BC3D5C}" type="sibTrans" cxnId="{F2145EB5-1EC5-4621-9765-0F29DFFBA54E}">
      <dgm:prSet/>
      <dgm:spPr/>
      <dgm:t>
        <a:bodyPr/>
        <a:lstStyle/>
        <a:p>
          <a:endParaRPr lang="en-US" b="1"/>
        </a:p>
      </dgm:t>
    </dgm:pt>
    <dgm:pt modelId="{E3579182-1DC9-4B4D-8F64-7040FDDEC70D}">
      <dgm:prSet phldrT="[Text]"/>
      <dgm:spPr/>
      <dgm:t>
        <a:bodyPr/>
        <a:lstStyle/>
        <a:p>
          <a:r>
            <a:rPr lang="en-US" altLang="zh-CN" b="1" dirty="0">
              <a:solidFill>
                <a:srgbClr val="000000"/>
              </a:solidFill>
            </a:rPr>
            <a:t>5.</a:t>
          </a:r>
          <a:r>
            <a:rPr lang="zh-CN" altLang="en-US" b="1" dirty="0">
              <a:solidFill>
                <a:srgbClr val="000000"/>
              </a:solidFill>
            </a:rPr>
            <a:t>时延带宽积</a:t>
          </a:r>
          <a:endParaRPr lang="en-US" b="1" dirty="0">
            <a:solidFill>
              <a:srgbClr val="000000"/>
            </a:solidFill>
          </a:endParaRPr>
        </a:p>
      </dgm:t>
    </dgm:pt>
    <dgm:pt modelId="{0B561236-D4CF-403D-81AA-AED49811C425}" type="parTrans" cxnId="{4D6E4748-1ACE-4048-9144-955AFB4D3272}">
      <dgm:prSet/>
      <dgm:spPr/>
      <dgm:t>
        <a:bodyPr/>
        <a:lstStyle/>
        <a:p>
          <a:endParaRPr lang="en-US" b="1"/>
        </a:p>
      </dgm:t>
    </dgm:pt>
    <dgm:pt modelId="{AB4CB67A-FB23-4B34-B870-A7FCA40C569E}" type="sibTrans" cxnId="{4D6E4748-1ACE-4048-9144-955AFB4D3272}">
      <dgm:prSet/>
      <dgm:spPr/>
      <dgm:t>
        <a:bodyPr/>
        <a:lstStyle/>
        <a:p>
          <a:endParaRPr lang="en-US" b="1"/>
        </a:p>
      </dgm:t>
    </dgm:pt>
    <dgm:pt modelId="{686B9B23-3317-4CAA-A976-150F0E43B706}">
      <dgm:prSet phldrT="[Text]"/>
      <dgm:spPr/>
      <dgm:t>
        <a:bodyPr/>
        <a:lstStyle/>
        <a:p>
          <a:r>
            <a:rPr lang="en-US" altLang="zh-CN" b="1" dirty="0">
              <a:solidFill>
                <a:srgbClr val="000000"/>
              </a:solidFill>
            </a:rPr>
            <a:t>6.</a:t>
          </a:r>
          <a:r>
            <a:rPr lang="zh-CN" altLang="en-US" b="1" dirty="0" smtClean="0">
              <a:solidFill>
                <a:srgbClr val="000000"/>
              </a:solidFill>
            </a:rPr>
            <a:t>往返时间</a:t>
          </a:r>
          <a:endParaRPr lang="en-US" b="1" dirty="0">
            <a:solidFill>
              <a:srgbClr val="000000"/>
            </a:solidFill>
          </a:endParaRPr>
        </a:p>
      </dgm:t>
    </dgm:pt>
    <dgm:pt modelId="{C4145DA8-26D4-4282-A3E0-67F7DD77EA68}" type="parTrans" cxnId="{3488EE43-308B-4C84-BC90-7134ADEEA021}">
      <dgm:prSet/>
      <dgm:spPr/>
      <dgm:t>
        <a:bodyPr/>
        <a:lstStyle/>
        <a:p>
          <a:endParaRPr lang="en-US" b="1"/>
        </a:p>
      </dgm:t>
    </dgm:pt>
    <dgm:pt modelId="{8BF6788F-AF76-42B4-920F-57974C2C6091}" type="sibTrans" cxnId="{3488EE43-308B-4C84-BC90-7134ADEEA021}">
      <dgm:prSet/>
      <dgm:spPr/>
      <dgm:t>
        <a:bodyPr/>
        <a:lstStyle/>
        <a:p>
          <a:endParaRPr lang="en-US" b="1"/>
        </a:p>
      </dgm:t>
    </dgm:pt>
    <dgm:pt modelId="{1187BEA8-9E81-40F9-90E4-7446D1C5EDBB}">
      <dgm:prSet phldrT="[Text]"/>
      <dgm:spPr/>
      <dgm:t>
        <a:bodyPr/>
        <a:lstStyle/>
        <a:p>
          <a:r>
            <a:rPr lang="en-US" altLang="zh-CN" b="1" dirty="0">
              <a:solidFill>
                <a:srgbClr val="000000"/>
              </a:solidFill>
            </a:rPr>
            <a:t>7.</a:t>
          </a:r>
          <a:r>
            <a:rPr lang="zh-CN" altLang="en-US" b="1" dirty="0">
              <a:solidFill>
                <a:srgbClr val="000000"/>
              </a:solidFill>
            </a:rPr>
            <a:t>利用率</a:t>
          </a:r>
          <a:endParaRPr lang="en-US" b="1" dirty="0">
            <a:solidFill>
              <a:srgbClr val="000000"/>
            </a:solidFill>
          </a:endParaRPr>
        </a:p>
      </dgm:t>
    </dgm:pt>
    <dgm:pt modelId="{DF88BFC7-95FD-4B24-92BC-427C188D45BC}" type="parTrans" cxnId="{17C703B4-4963-4127-912A-6D280AABC136}">
      <dgm:prSet/>
      <dgm:spPr/>
      <dgm:t>
        <a:bodyPr/>
        <a:lstStyle/>
        <a:p>
          <a:endParaRPr lang="en-US" b="1"/>
        </a:p>
      </dgm:t>
    </dgm:pt>
    <dgm:pt modelId="{2D2F8B3D-E984-4515-AB53-F19339B13576}" type="sibTrans" cxnId="{17C703B4-4963-4127-912A-6D280AABC136}">
      <dgm:prSet/>
      <dgm:spPr/>
      <dgm:t>
        <a:bodyPr/>
        <a:lstStyle/>
        <a:p>
          <a:endParaRPr lang="en-US" b="1"/>
        </a:p>
      </dgm:t>
    </dgm:pt>
    <dgm:pt modelId="{5F756A12-3677-4C18-8350-A9BCA8AE376A}">
      <dgm:prSet phldrT="[Text]"/>
      <dgm:spPr/>
      <dgm:t>
        <a:bodyPr/>
        <a:lstStyle/>
        <a:p>
          <a:r>
            <a:rPr lang="en-US" altLang="zh-CN" b="1" dirty="0">
              <a:solidFill>
                <a:srgbClr val="000000"/>
              </a:solidFill>
            </a:rPr>
            <a:t>2.</a:t>
          </a:r>
          <a:r>
            <a:rPr lang="zh-CN" altLang="en-US" b="1" dirty="0">
              <a:solidFill>
                <a:srgbClr val="000000"/>
              </a:solidFill>
            </a:rPr>
            <a:t>带宽</a:t>
          </a:r>
          <a:endParaRPr lang="en-US" b="1" dirty="0">
            <a:solidFill>
              <a:srgbClr val="000000"/>
            </a:solidFill>
          </a:endParaRPr>
        </a:p>
      </dgm:t>
    </dgm:pt>
    <dgm:pt modelId="{AAF4A139-CE01-4DAB-ADDB-A6C66656A12A}" type="sibTrans" cxnId="{2123948F-1F22-48BF-B39B-2E6D256F1CF1}">
      <dgm:prSet/>
      <dgm:spPr/>
      <dgm:t>
        <a:bodyPr/>
        <a:lstStyle/>
        <a:p>
          <a:endParaRPr lang="en-US" b="1"/>
        </a:p>
      </dgm:t>
    </dgm:pt>
    <dgm:pt modelId="{FA985B0F-3B59-4BBA-BB86-88727089884C}" type="parTrans" cxnId="{2123948F-1F22-48BF-B39B-2E6D256F1CF1}">
      <dgm:prSet/>
      <dgm:spPr/>
      <dgm:t>
        <a:bodyPr/>
        <a:lstStyle/>
        <a:p>
          <a:endParaRPr lang="en-US" b="1"/>
        </a:p>
      </dgm:t>
    </dgm:pt>
    <dgm:pt modelId="{9E85676F-EE29-441F-967C-69BE915ABDD8}" type="pres">
      <dgm:prSet presAssocID="{8ABF8CED-7C6D-47BA-9902-295C9B10C26E}" presName="composite" presStyleCnt="0">
        <dgm:presLayoutVars>
          <dgm:chMax val="1"/>
          <dgm:dir/>
          <dgm:resizeHandles val="exact"/>
        </dgm:presLayoutVars>
      </dgm:prSet>
      <dgm:spPr/>
      <dgm:t>
        <a:bodyPr/>
        <a:lstStyle/>
        <a:p>
          <a:endParaRPr lang="zh-CN" altLang="en-US"/>
        </a:p>
      </dgm:t>
    </dgm:pt>
    <dgm:pt modelId="{D3859A95-7026-4FD2-B0EA-F2FCC73AE703}" type="pres">
      <dgm:prSet presAssocID="{8ABF8CED-7C6D-47BA-9902-295C9B10C26E}" presName="radial" presStyleCnt="0">
        <dgm:presLayoutVars>
          <dgm:animLvl val="ctr"/>
        </dgm:presLayoutVars>
      </dgm:prSet>
      <dgm:spPr/>
    </dgm:pt>
    <dgm:pt modelId="{E17BA1F3-0C00-4FF2-9653-EF94BAD62031}" type="pres">
      <dgm:prSet presAssocID="{868AB5D1-003A-4DC8-9569-91EB8736C4BA}" presName="centerShape" presStyleLbl="vennNode1" presStyleIdx="0" presStyleCnt="8"/>
      <dgm:spPr/>
      <dgm:t>
        <a:bodyPr/>
        <a:lstStyle/>
        <a:p>
          <a:endParaRPr lang="zh-CN" altLang="en-US"/>
        </a:p>
      </dgm:t>
    </dgm:pt>
    <dgm:pt modelId="{4D03A9D2-67CF-4808-96EF-9297EA14CE09}" type="pres">
      <dgm:prSet presAssocID="{5136F8FE-3D40-4751-BFFA-C8F3A57BB7D1}" presName="node" presStyleLbl="vennNode1" presStyleIdx="1" presStyleCnt="8">
        <dgm:presLayoutVars>
          <dgm:bulletEnabled val="1"/>
        </dgm:presLayoutVars>
      </dgm:prSet>
      <dgm:spPr/>
      <dgm:t>
        <a:bodyPr/>
        <a:lstStyle/>
        <a:p>
          <a:endParaRPr lang="zh-CN" altLang="en-US"/>
        </a:p>
      </dgm:t>
    </dgm:pt>
    <dgm:pt modelId="{BA6FE0CA-EB44-4F00-B718-59FB70CF0E2F}" type="pres">
      <dgm:prSet presAssocID="{5F756A12-3677-4C18-8350-A9BCA8AE376A}" presName="node" presStyleLbl="vennNode1" presStyleIdx="2" presStyleCnt="8">
        <dgm:presLayoutVars>
          <dgm:bulletEnabled val="1"/>
        </dgm:presLayoutVars>
      </dgm:prSet>
      <dgm:spPr/>
      <dgm:t>
        <a:bodyPr/>
        <a:lstStyle/>
        <a:p>
          <a:endParaRPr lang="zh-CN" altLang="en-US"/>
        </a:p>
      </dgm:t>
    </dgm:pt>
    <dgm:pt modelId="{81032F12-6115-4CF6-BD28-A946DC8033FB}" type="pres">
      <dgm:prSet presAssocID="{41A814FB-807B-45D3-8053-0A77830C26C1}" presName="node" presStyleLbl="vennNode1" presStyleIdx="3" presStyleCnt="8">
        <dgm:presLayoutVars>
          <dgm:bulletEnabled val="1"/>
        </dgm:presLayoutVars>
      </dgm:prSet>
      <dgm:spPr/>
      <dgm:t>
        <a:bodyPr/>
        <a:lstStyle/>
        <a:p>
          <a:endParaRPr lang="zh-CN" altLang="en-US"/>
        </a:p>
      </dgm:t>
    </dgm:pt>
    <dgm:pt modelId="{A28A57A1-E220-4BF2-A9D3-4B40BBCA990F}" type="pres">
      <dgm:prSet presAssocID="{9F11FA86-8299-4743-BF71-9997781EDD16}" presName="node" presStyleLbl="vennNode1" presStyleIdx="4" presStyleCnt="8">
        <dgm:presLayoutVars>
          <dgm:bulletEnabled val="1"/>
        </dgm:presLayoutVars>
      </dgm:prSet>
      <dgm:spPr/>
      <dgm:t>
        <a:bodyPr/>
        <a:lstStyle/>
        <a:p>
          <a:endParaRPr lang="zh-CN" altLang="en-US"/>
        </a:p>
      </dgm:t>
    </dgm:pt>
    <dgm:pt modelId="{DC2DCB21-22C7-43C8-82AB-FF7A48818FEA}" type="pres">
      <dgm:prSet presAssocID="{E3579182-1DC9-4B4D-8F64-7040FDDEC70D}" presName="node" presStyleLbl="vennNode1" presStyleIdx="5" presStyleCnt="8">
        <dgm:presLayoutVars>
          <dgm:bulletEnabled val="1"/>
        </dgm:presLayoutVars>
      </dgm:prSet>
      <dgm:spPr/>
      <dgm:t>
        <a:bodyPr/>
        <a:lstStyle/>
        <a:p>
          <a:endParaRPr lang="zh-CN" altLang="en-US"/>
        </a:p>
      </dgm:t>
    </dgm:pt>
    <dgm:pt modelId="{20C5FD5C-AEBC-4784-919E-650738A1B2F6}" type="pres">
      <dgm:prSet presAssocID="{686B9B23-3317-4CAA-A976-150F0E43B706}" presName="node" presStyleLbl="vennNode1" presStyleIdx="6" presStyleCnt="8">
        <dgm:presLayoutVars>
          <dgm:bulletEnabled val="1"/>
        </dgm:presLayoutVars>
      </dgm:prSet>
      <dgm:spPr/>
      <dgm:t>
        <a:bodyPr/>
        <a:lstStyle/>
        <a:p>
          <a:endParaRPr lang="zh-CN" altLang="en-US"/>
        </a:p>
      </dgm:t>
    </dgm:pt>
    <dgm:pt modelId="{DEF8B780-5F84-4F41-80B1-20BD9982DF50}" type="pres">
      <dgm:prSet presAssocID="{1187BEA8-9E81-40F9-90E4-7446D1C5EDBB}" presName="node" presStyleLbl="vennNode1" presStyleIdx="7" presStyleCnt="8">
        <dgm:presLayoutVars>
          <dgm:bulletEnabled val="1"/>
        </dgm:presLayoutVars>
      </dgm:prSet>
      <dgm:spPr/>
      <dgm:t>
        <a:bodyPr/>
        <a:lstStyle/>
        <a:p>
          <a:endParaRPr lang="zh-CN" altLang="en-US"/>
        </a:p>
      </dgm:t>
    </dgm:pt>
  </dgm:ptLst>
  <dgm:cxnLst>
    <dgm:cxn modelId="{C88D9F17-C815-4E29-991A-E19B635895B0}" type="presOf" srcId="{5136F8FE-3D40-4751-BFFA-C8F3A57BB7D1}" destId="{4D03A9D2-67CF-4808-96EF-9297EA14CE09}" srcOrd="0" destOrd="0" presId="urn:microsoft.com/office/officeart/2005/8/layout/radial3"/>
    <dgm:cxn modelId="{0A213B1A-ECAB-45A1-92A9-1346B75BD710}" srcId="{8ABF8CED-7C6D-47BA-9902-295C9B10C26E}" destId="{868AB5D1-003A-4DC8-9569-91EB8736C4BA}" srcOrd="0" destOrd="0" parTransId="{7AB30D2A-1E72-4DF1-B302-9C2A8360CC99}" sibTransId="{C37A7A25-BB3F-4D2C-995C-4189094C93CC}"/>
    <dgm:cxn modelId="{F88D761A-8537-4E33-90D6-7B6697A7C709}" type="presOf" srcId="{9F11FA86-8299-4743-BF71-9997781EDD16}" destId="{A28A57A1-E220-4BF2-A9D3-4B40BBCA990F}" srcOrd="0" destOrd="0" presId="urn:microsoft.com/office/officeart/2005/8/layout/radial3"/>
    <dgm:cxn modelId="{6E82B09E-40B1-47B4-AE86-A935A536F072}" type="presOf" srcId="{41A814FB-807B-45D3-8053-0A77830C26C1}" destId="{81032F12-6115-4CF6-BD28-A946DC8033FB}" srcOrd="0" destOrd="0" presId="urn:microsoft.com/office/officeart/2005/8/layout/radial3"/>
    <dgm:cxn modelId="{52508056-26EE-48CD-A9C6-9BBED187ED84}" type="presOf" srcId="{868AB5D1-003A-4DC8-9569-91EB8736C4BA}" destId="{E17BA1F3-0C00-4FF2-9653-EF94BAD62031}" srcOrd="0" destOrd="0" presId="urn:microsoft.com/office/officeart/2005/8/layout/radial3"/>
    <dgm:cxn modelId="{17C703B4-4963-4127-912A-6D280AABC136}" srcId="{868AB5D1-003A-4DC8-9569-91EB8736C4BA}" destId="{1187BEA8-9E81-40F9-90E4-7446D1C5EDBB}" srcOrd="6" destOrd="0" parTransId="{DF88BFC7-95FD-4B24-92BC-427C188D45BC}" sibTransId="{2D2F8B3D-E984-4515-AB53-F19339B13576}"/>
    <dgm:cxn modelId="{4D6E4748-1ACE-4048-9144-955AFB4D3272}" srcId="{868AB5D1-003A-4DC8-9569-91EB8736C4BA}" destId="{E3579182-1DC9-4B4D-8F64-7040FDDEC70D}" srcOrd="4" destOrd="0" parTransId="{0B561236-D4CF-403D-81AA-AED49811C425}" sibTransId="{AB4CB67A-FB23-4B34-B870-A7FCA40C569E}"/>
    <dgm:cxn modelId="{8983CE38-145B-469C-96EB-F88C40B0F564}" srcId="{868AB5D1-003A-4DC8-9569-91EB8736C4BA}" destId="{5136F8FE-3D40-4751-BFFA-C8F3A57BB7D1}" srcOrd="0" destOrd="0" parTransId="{789233E8-1DC7-4278-B62D-199A1018DF1B}" sibTransId="{102AD870-FDE8-45FB-B043-E6033DBFB5FE}"/>
    <dgm:cxn modelId="{3488EE43-308B-4C84-BC90-7134ADEEA021}" srcId="{868AB5D1-003A-4DC8-9569-91EB8736C4BA}" destId="{686B9B23-3317-4CAA-A976-150F0E43B706}" srcOrd="5" destOrd="0" parTransId="{C4145DA8-26D4-4282-A3E0-67F7DD77EA68}" sibTransId="{8BF6788F-AF76-42B4-920F-57974C2C6091}"/>
    <dgm:cxn modelId="{2123948F-1F22-48BF-B39B-2E6D256F1CF1}" srcId="{868AB5D1-003A-4DC8-9569-91EB8736C4BA}" destId="{5F756A12-3677-4C18-8350-A9BCA8AE376A}" srcOrd="1" destOrd="0" parTransId="{FA985B0F-3B59-4BBA-BB86-88727089884C}" sibTransId="{AAF4A139-CE01-4DAB-ADDB-A6C66656A12A}"/>
    <dgm:cxn modelId="{4E90CB5C-D065-4A73-996A-AD3A9A520E31}" type="presOf" srcId="{686B9B23-3317-4CAA-A976-150F0E43B706}" destId="{20C5FD5C-AEBC-4784-919E-650738A1B2F6}" srcOrd="0" destOrd="0" presId="urn:microsoft.com/office/officeart/2005/8/layout/radial3"/>
    <dgm:cxn modelId="{F2145EB5-1EC5-4621-9765-0F29DFFBA54E}" srcId="{868AB5D1-003A-4DC8-9569-91EB8736C4BA}" destId="{9F11FA86-8299-4743-BF71-9997781EDD16}" srcOrd="3" destOrd="0" parTransId="{74D954DB-2570-43E9-A640-2DB1829BC79A}" sibTransId="{2055C36A-62D1-4511-8003-860C75BC3D5C}"/>
    <dgm:cxn modelId="{B15B193B-9A13-45A6-9F7C-2836A69E4839}" type="presOf" srcId="{1187BEA8-9E81-40F9-90E4-7446D1C5EDBB}" destId="{DEF8B780-5F84-4F41-80B1-20BD9982DF50}" srcOrd="0" destOrd="0" presId="urn:microsoft.com/office/officeart/2005/8/layout/radial3"/>
    <dgm:cxn modelId="{9C6D09B0-2F8F-4E54-B27D-C696F887C236}" type="presOf" srcId="{E3579182-1DC9-4B4D-8F64-7040FDDEC70D}" destId="{DC2DCB21-22C7-43C8-82AB-FF7A48818FEA}" srcOrd="0" destOrd="0" presId="urn:microsoft.com/office/officeart/2005/8/layout/radial3"/>
    <dgm:cxn modelId="{CF7AF490-4F01-4B15-B4E8-A45D77466F7D}" srcId="{868AB5D1-003A-4DC8-9569-91EB8736C4BA}" destId="{41A814FB-807B-45D3-8053-0A77830C26C1}" srcOrd="2" destOrd="0" parTransId="{E17E8916-7F51-4301-B907-FB1FEA4C67DF}" sibTransId="{985962CB-1AD6-43FA-9A4C-92A1D1A156ED}"/>
    <dgm:cxn modelId="{F49166C3-77F0-4EE1-A3D3-8A045AE099CB}" type="presOf" srcId="{5F756A12-3677-4C18-8350-A9BCA8AE376A}" destId="{BA6FE0CA-EB44-4F00-B718-59FB70CF0E2F}" srcOrd="0" destOrd="0" presId="urn:microsoft.com/office/officeart/2005/8/layout/radial3"/>
    <dgm:cxn modelId="{8C054DDC-969C-4A8C-966E-ADB66BF9A60D}" type="presOf" srcId="{8ABF8CED-7C6D-47BA-9902-295C9B10C26E}" destId="{9E85676F-EE29-441F-967C-69BE915ABDD8}" srcOrd="0" destOrd="0" presId="urn:microsoft.com/office/officeart/2005/8/layout/radial3"/>
    <dgm:cxn modelId="{BBB0C285-C572-4756-9ECD-5D600C29FA91}" type="presParOf" srcId="{9E85676F-EE29-441F-967C-69BE915ABDD8}" destId="{D3859A95-7026-4FD2-B0EA-F2FCC73AE703}" srcOrd="0" destOrd="0" presId="urn:microsoft.com/office/officeart/2005/8/layout/radial3"/>
    <dgm:cxn modelId="{1CCFB6D7-A373-40C2-B5E9-2055F99FF833}" type="presParOf" srcId="{D3859A95-7026-4FD2-B0EA-F2FCC73AE703}" destId="{E17BA1F3-0C00-4FF2-9653-EF94BAD62031}" srcOrd="0" destOrd="0" presId="urn:microsoft.com/office/officeart/2005/8/layout/radial3"/>
    <dgm:cxn modelId="{7C597AEE-F56B-46DE-AB58-D6E6F83454C4}" type="presParOf" srcId="{D3859A95-7026-4FD2-B0EA-F2FCC73AE703}" destId="{4D03A9D2-67CF-4808-96EF-9297EA14CE09}" srcOrd="1" destOrd="0" presId="urn:microsoft.com/office/officeart/2005/8/layout/radial3"/>
    <dgm:cxn modelId="{A8AC666A-68FB-44B8-BFD4-7909C9D7AC4E}" type="presParOf" srcId="{D3859A95-7026-4FD2-B0EA-F2FCC73AE703}" destId="{BA6FE0CA-EB44-4F00-B718-59FB70CF0E2F}" srcOrd="2" destOrd="0" presId="urn:microsoft.com/office/officeart/2005/8/layout/radial3"/>
    <dgm:cxn modelId="{CC53B232-D8D0-4906-82FD-EE8C91E9EAAD}" type="presParOf" srcId="{D3859A95-7026-4FD2-B0EA-F2FCC73AE703}" destId="{81032F12-6115-4CF6-BD28-A946DC8033FB}" srcOrd="3" destOrd="0" presId="urn:microsoft.com/office/officeart/2005/8/layout/radial3"/>
    <dgm:cxn modelId="{8B5A3147-C0DC-4E3C-845B-1CF328C1F387}" type="presParOf" srcId="{D3859A95-7026-4FD2-B0EA-F2FCC73AE703}" destId="{A28A57A1-E220-4BF2-A9D3-4B40BBCA990F}" srcOrd="4" destOrd="0" presId="urn:microsoft.com/office/officeart/2005/8/layout/radial3"/>
    <dgm:cxn modelId="{BC083A00-2077-4DC2-B6D6-F74B9B10A50D}" type="presParOf" srcId="{D3859A95-7026-4FD2-B0EA-F2FCC73AE703}" destId="{DC2DCB21-22C7-43C8-82AB-FF7A48818FEA}" srcOrd="5" destOrd="0" presId="urn:microsoft.com/office/officeart/2005/8/layout/radial3"/>
    <dgm:cxn modelId="{8DFB4E20-3058-455B-83FB-13989DFB7997}" type="presParOf" srcId="{D3859A95-7026-4FD2-B0EA-F2FCC73AE703}" destId="{20C5FD5C-AEBC-4784-919E-650738A1B2F6}" srcOrd="6" destOrd="0" presId="urn:microsoft.com/office/officeart/2005/8/layout/radial3"/>
    <dgm:cxn modelId="{36AA46C6-004B-4ED8-B26B-AD8064714092}" type="presParOf" srcId="{D3859A95-7026-4FD2-B0EA-F2FCC73AE703}" destId="{DEF8B780-5F84-4F41-80B1-20BD9982DF50}" srcOrd="7"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9AB813C-B06A-4F31-AE41-5FBC08019F61}" type="doc">
      <dgm:prSet loTypeId="urn:microsoft.com/office/officeart/2005/8/layout/vList5" loCatId="list" qsTypeId="urn:microsoft.com/office/officeart/2005/8/quickstyle/simple1" qsCatId="simple" csTypeId="urn:microsoft.com/office/officeart/2005/8/colors/colorful1#4" csCatId="colorful" phldr="1"/>
      <dgm:spPr/>
      <dgm:t>
        <a:bodyPr/>
        <a:lstStyle/>
        <a:p>
          <a:endParaRPr lang="zh-CN" altLang="en-US"/>
        </a:p>
      </dgm:t>
    </dgm:pt>
    <dgm:pt modelId="{050A098E-265C-4391-8A02-18D41C9ACEF7}">
      <dgm:prSet phldrT="[文本]" custT="1"/>
      <dgm:spPr>
        <a:solidFill>
          <a:srgbClr val="C55047"/>
        </a:solidFill>
      </dgm:spPr>
      <dgm:t>
        <a:bodyPr/>
        <a:lstStyle/>
        <a:p>
          <a:pPr>
            <a:lnSpc>
              <a:spcPts val="2400"/>
            </a:lnSpc>
            <a:spcBef>
              <a:spcPts val="0"/>
            </a:spcBef>
            <a:spcAft>
              <a:spcPts val="0"/>
            </a:spcAft>
          </a:pPr>
          <a:r>
            <a:rPr lang="zh-CN" altLang="en-US" sz="1800" b="1" dirty="0" smtClean="0">
              <a:solidFill>
                <a:schemeClr val="bg1"/>
              </a:solidFill>
              <a:latin typeface="微软雅黑" panose="020B0503020204020204" pitchFamily="34" charset="-122"/>
              <a:ea typeface="微软雅黑" panose="020B0503020204020204" pitchFamily="34" charset="-122"/>
            </a:rPr>
            <a:t>频域</a:t>
          </a:r>
          <a:endParaRPr lang="zh-CN" altLang="en-US" sz="1800" b="1" dirty="0">
            <a:solidFill>
              <a:schemeClr val="bg1"/>
            </a:solidFill>
            <a:latin typeface="微软雅黑" panose="020B0503020204020204" pitchFamily="34" charset="-122"/>
            <a:ea typeface="微软雅黑" panose="020B0503020204020204" pitchFamily="34" charset="-122"/>
          </a:endParaRPr>
        </a:p>
      </dgm:t>
    </dgm:pt>
    <dgm:pt modelId="{A6F7A116-B107-4EA4-9066-73D7E647AB1E}" type="par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CB1832-21C9-4CED-A453-F89D918E8026}" type="sibTrans" cxnId="{EC4EA4BE-F7E1-4328-B1DB-6A0D15C7F420}">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FEF4933F-9CB0-4FCB-8C1E-9CB99A07B49E}">
      <dgm:prSet phldrT="[文本]" custT="1"/>
      <dgm:spPr>
        <a:solidFill>
          <a:srgbClr val="EAC9C8">
            <a:alpha val="89804"/>
          </a:srgbClr>
        </a:solidFill>
      </dgm:spPr>
      <dgm:t>
        <a:bodyPr/>
        <a:lstStyle/>
        <a:p>
          <a:pPr>
            <a:lnSpc>
              <a:spcPts val="2400"/>
            </a:lnSpc>
            <a:spcBef>
              <a:spcPts val="0"/>
            </a:spcBef>
            <a:spcAft>
              <a:spcPts val="0"/>
            </a:spcAft>
          </a:pPr>
          <a:r>
            <a:rPr lang="zh-CN" altLang="en-US" sz="1600" b="1" dirty="0" smtClean="0">
              <a:solidFill>
                <a:srgbClr val="1C1C1C"/>
              </a:solidFill>
              <a:latin typeface="微软雅黑" panose="020B0503020204020204" pitchFamily="34" charset="-122"/>
              <a:ea typeface="微软雅黑" panose="020B0503020204020204" pitchFamily="34" charset="-122"/>
            </a:rPr>
            <a:t>某个信号具有的</a:t>
          </a:r>
          <a:r>
            <a:rPr lang="zh-CN" altLang="en-US" sz="1600" b="1" dirty="0" smtClean="0">
              <a:solidFill>
                <a:srgbClr val="0000FF"/>
              </a:solidFill>
              <a:latin typeface="微软雅黑" panose="020B0503020204020204" pitchFamily="34" charset="-122"/>
              <a:ea typeface="微软雅黑" panose="020B0503020204020204" pitchFamily="34" charset="-122"/>
            </a:rPr>
            <a:t>频带宽度，</a:t>
          </a:r>
          <a:r>
            <a:rPr lang="zh-CN" altLang="en-US" sz="1600" b="1" dirty="0" smtClean="0">
              <a:solidFill>
                <a:srgbClr val="1C1C1C"/>
              </a:solidFill>
              <a:latin typeface="微软雅黑" panose="020B0503020204020204" pitchFamily="34" charset="-122"/>
              <a:ea typeface="微软雅黑" panose="020B0503020204020204" pitchFamily="34" charset="-122"/>
            </a:rPr>
            <a:t>即该信号所占据的频率范围。例如模拟电话信号的频率范围是 </a:t>
          </a:r>
          <a:r>
            <a:rPr lang="en-US" altLang="zh-CN" sz="1600" b="1" dirty="0" smtClean="0">
              <a:solidFill>
                <a:srgbClr val="1C1C1C"/>
              </a:solidFill>
              <a:latin typeface="微软雅黑" panose="020B0503020204020204" pitchFamily="34" charset="-122"/>
              <a:ea typeface="微软雅黑" panose="020B0503020204020204" pitchFamily="34" charset="-122"/>
            </a:rPr>
            <a:t>300 Hz </a:t>
          </a:r>
          <a:r>
            <a:rPr lang="zh-CN" altLang="en-US" sz="1600" b="1" dirty="0" smtClean="0">
              <a:solidFill>
                <a:srgbClr val="1C1C1C"/>
              </a:solidFill>
              <a:latin typeface="微软雅黑" panose="020B0503020204020204" pitchFamily="34" charset="-122"/>
              <a:ea typeface="微软雅黑" panose="020B0503020204020204" pitchFamily="34" charset="-122"/>
            </a:rPr>
            <a:t>到 </a:t>
          </a:r>
          <a:r>
            <a:rPr lang="en-US" altLang="zh-CN" sz="1600" b="1" dirty="0" smtClean="0">
              <a:solidFill>
                <a:srgbClr val="1C1C1C"/>
              </a:solidFill>
              <a:latin typeface="微软雅黑" panose="020B0503020204020204" pitchFamily="34" charset="-122"/>
              <a:ea typeface="微软雅黑" panose="020B0503020204020204" pitchFamily="34" charset="-122"/>
            </a:rPr>
            <a:t>3.4 kHz</a:t>
          </a:r>
          <a:r>
            <a:rPr lang="zh-CN" altLang="en-US" sz="1600" b="1" dirty="0" smtClean="0">
              <a:solidFill>
                <a:srgbClr val="1C1C1C"/>
              </a:solidFill>
              <a:latin typeface="微软雅黑" panose="020B0503020204020204" pitchFamily="34" charset="-122"/>
              <a:ea typeface="微软雅黑" panose="020B0503020204020204" pitchFamily="34" charset="-122"/>
            </a:rPr>
            <a:t>，带宽是 </a:t>
          </a:r>
          <a:r>
            <a:rPr lang="en-US" altLang="zh-CN" sz="1600" b="1" dirty="0" smtClean="0">
              <a:solidFill>
                <a:srgbClr val="1C1C1C"/>
              </a:solidFill>
              <a:latin typeface="微软雅黑" panose="020B0503020204020204" pitchFamily="34" charset="-122"/>
              <a:ea typeface="微软雅黑" panose="020B0503020204020204" pitchFamily="34" charset="-122"/>
            </a:rPr>
            <a:t>3.1 kHz</a:t>
          </a:r>
          <a:r>
            <a:rPr lang="zh-CN" altLang="en-US" sz="1600" b="1" dirty="0" smtClean="0">
              <a:solidFill>
                <a:srgbClr val="1C1C1C"/>
              </a:solidFill>
              <a:latin typeface="微软雅黑" panose="020B0503020204020204" pitchFamily="34" charset="-122"/>
              <a:ea typeface="微软雅黑" panose="020B0503020204020204" pitchFamily="34" charset="-122"/>
            </a:rPr>
            <a:t>。</a:t>
          </a:r>
          <a:endParaRPr lang="zh-CN" altLang="en-US" sz="1600" b="1" dirty="0">
            <a:solidFill>
              <a:srgbClr val="1C1C1C"/>
            </a:solidFill>
            <a:latin typeface="微软雅黑" panose="020B0503020204020204" pitchFamily="34" charset="-122"/>
            <a:ea typeface="微软雅黑" panose="020B0503020204020204" pitchFamily="34" charset="-122"/>
          </a:endParaRPr>
        </a:p>
      </dgm:t>
    </dgm:pt>
    <dgm:pt modelId="{496C612B-0359-4353-8637-BF1552A99E99}" type="par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18C0578-B49C-4E15-96F8-93E15DFFC7F1}" type="sibTrans" cxnId="{83A05107-00D7-4222-B7C2-A60E72976CB4}">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0C3747A4-6E14-4B4D-B352-09BA88A76C46}">
      <dgm:prSet phldrT="[文本]" custT="1"/>
      <dgm:spPr>
        <a:solidFill>
          <a:srgbClr val="EAC9C8">
            <a:alpha val="89804"/>
          </a:srgbClr>
        </a:solidFill>
      </dgm:spPr>
      <dgm:t>
        <a:bodyPr/>
        <a:lstStyle/>
        <a:p>
          <a:pPr>
            <a:lnSpc>
              <a:spcPts val="2400"/>
            </a:lnSpc>
            <a:spcBef>
              <a:spcPts val="0"/>
            </a:spcBef>
            <a:spcAft>
              <a:spcPts val="0"/>
            </a:spcAft>
          </a:pPr>
          <a:r>
            <a:rPr lang="zh-CN" altLang="en-US" sz="1600" b="1" dirty="0" smtClean="0">
              <a:solidFill>
                <a:srgbClr val="1C1C1C"/>
              </a:solidFill>
              <a:latin typeface="微软雅黑" panose="020B0503020204020204" pitchFamily="34" charset="-122"/>
              <a:ea typeface="微软雅黑" panose="020B0503020204020204" pitchFamily="34" charset="-122"/>
            </a:rPr>
            <a:t>单位是</a:t>
          </a:r>
          <a:r>
            <a:rPr lang="zh-CN" altLang="en-US" sz="1600" b="1" dirty="0" smtClean="0">
              <a:solidFill>
                <a:srgbClr val="0000FF"/>
              </a:solidFill>
              <a:latin typeface="微软雅黑" panose="020B0503020204020204" pitchFamily="34" charset="-122"/>
              <a:ea typeface="微软雅黑" panose="020B0503020204020204" pitchFamily="34" charset="-122"/>
            </a:rPr>
            <a:t>赫</a:t>
          </a:r>
          <a:r>
            <a:rPr lang="zh-CN" altLang="en-US" sz="1600" b="1" dirty="0" smtClean="0">
              <a:solidFill>
                <a:srgbClr val="1C1C1C"/>
              </a:solidFill>
              <a:latin typeface="微软雅黑" panose="020B0503020204020204" pitchFamily="34" charset="-122"/>
              <a:ea typeface="微软雅黑" panose="020B0503020204020204" pitchFamily="34" charset="-122"/>
            </a:rPr>
            <a:t>（或千赫、兆赫、吉赫等）。</a:t>
          </a:r>
          <a:endParaRPr lang="zh-CN" altLang="en-US" sz="1600" b="1" dirty="0">
            <a:solidFill>
              <a:srgbClr val="1C1C1C"/>
            </a:solidFill>
            <a:latin typeface="微软雅黑" panose="020B0503020204020204" pitchFamily="34" charset="-122"/>
            <a:ea typeface="微软雅黑" panose="020B0503020204020204" pitchFamily="34" charset="-122"/>
          </a:endParaRPr>
        </a:p>
      </dgm:t>
    </dgm:pt>
    <dgm:pt modelId="{9C1E3CB2-E8C8-49AB-965B-AFC0CD4F794D}" type="par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78D8998-D0E8-4832-B8F9-C32C7B518B9A}" type="sibTrans" cxnId="{1165B027-3233-4387-BD43-758F7EC8C9C7}">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7D7D28CE-69F5-49A1-B14F-3045EE4444C5}">
      <dgm:prSet phldrT="[文本]" custT="1"/>
      <dgm:spPr>
        <a:solidFill>
          <a:srgbClr val="A5C25E"/>
        </a:solidFill>
      </dgm:spPr>
      <dgm:t>
        <a:bodyPr/>
        <a:lstStyle/>
        <a:p>
          <a:pPr>
            <a:lnSpc>
              <a:spcPts val="2400"/>
            </a:lnSpc>
            <a:spcBef>
              <a:spcPts val="0"/>
            </a:spcBef>
            <a:spcAft>
              <a:spcPts val="0"/>
            </a:spcAft>
          </a:pPr>
          <a:r>
            <a:rPr lang="zh-CN" altLang="en-US" sz="1800" b="1" dirty="0" smtClean="0">
              <a:solidFill>
                <a:srgbClr val="1C1C1C"/>
              </a:solidFill>
              <a:latin typeface="微软雅黑" panose="020B0503020204020204" pitchFamily="34" charset="-122"/>
              <a:ea typeface="微软雅黑" panose="020B0503020204020204" pitchFamily="34" charset="-122"/>
            </a:rPr>
            <a:t>时域</a:t>
          </a:r>
          <a:endParaRPr lang="zh-CN" altLang="en-US" sz="1800" b="1" dirty="0">
            <a:solidFill>
              <a:srgbClr val="1C1C1C"/>
            </a:solidFill>
            <a:latin typeface="微软雅黑" panose="020B0503020204020204" pitchFamily="34" charset="-122"/>
            <a:ea typeface="微软雅黑" panose="020B0503020204020204" pitchFamily="34" charset="-122"/>
          </a:endParaRPr>
        </a:p>
      </dgm:t>
    </dgm:pt>
    <dgm:pt modelId="{7BA8DCB6-F2BF-48A1-AE72-20D033A4AB32}" type="par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56A15820-9812-4C8B-9CED-F317235A9064}" type="sibTrans" cxnId="{60735D4F-A4F3-476D-AE58-8AE4EDAE2412}">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0DB3CE6-D371-46C6-BF5C-43B59AB6EDE2}">
      <dgm:prSet phldrT="[文本]" custT="1"/>
      <dgm:spPr>
        <a:solidFill>
          <a:srgbClr val="D6E5BD">
            <a:alpha val="89804"/>
          </a:srgbClr>
        </a:solidFill>
      </dgm:spPr>
      <dgm:t>
        <a:bodyPr/>
        <a:lstStyle/>
        <a:p>
          <a:pPr>
            <a:lnSpc>
              <a:spcPts val="2400"/>
            </a:lnSpc>
            <a:spcBef>
              <a:spcPts val="0"/>
            </a:spcBef>
            <a:spcAft>
              <a:spcPts val="0"/>
            </a:spcAft>
          </a:pPr>
          <a:r>
            <a:rPr lang="zh-CN" altLang="en-US" sz="1600" b="1" dirty="0" smtClean="0">
              <a:solidFill>
                <a:srgbClr val="1C1C1C"/>
              </a:solidFill>
              <a:latin typeface="微软雅黑" panose="020B0503020204020204" pitchFamily="34" charset="-122"/>
              <a:ea typeface="微软雅黑" panose="020B0503020204020204" pitchFamily="34" charset="-122"/>
            </a:rPr>
            <a:t>网络中某通道传送数据的能力，即在单位时间内网络中的某信道所能通过的</a:t>
          </a:r>
          <a:r>
            <a:rPr lang="zh-CN" altLang="en-US" sz="1600" b="1" dirty="0" smtClean="0">
              <a:solidFill>
                <a:srgbClr val="0000FF"/>
              </a:solidFill>
              <a:latin typeface="微软雅黑" panose="020B0503020204020204" pitchFamily="34" charset="-122"/>
              <a:ea typeface="微软雅黑" panose="020B0503020204020204" pitchFamily="34" charset="-122"/>
            </a:rPr>
            <a:t>“最高数据率”。</a:t>
          </a:r>
          <a:endParaRPr lang="zh-CN" altLang="en-US" sz="1600" b="1" dirty="0">
            <a:solidFill>
              <a:srgbClr val="0000FF"/>
            </a:solidFill>
            <a:latin typeface="微软雅黑" panose="020B0503020204020204" pitchFamily="34" charset="-122"/>
            <a:ea typeface="微软雅黑" panose="020B0503020204020204" pitchFamily="34" charset="-122"/>
          </a:endParaRPr>
        </a:p>
      </dgm:t>
    </dgm:pt>
    <dgm:pt modelId="{EF117184-0A6B-450A-9F46-59148824F74C}" type="par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ECD476C-4C81-48A0-A49D-D9F381D723F0}" type="sibTrans" cxnId="{F099BD6E-6DE6-4DC8-8916-951CC33D3D91}">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679FA712-BCAA-459B-A818-2FEE70636A61}">
      <dgm:prSet phldrT="[文本]" custT="1"/>
      <dgm:spPr>
        <a:solidFill>
          <a:srgbClr val="D6E5BD">
            <a:alpha val="89804"/>
          </a:srgbClr>
        </a:solidFill>
      </dgm:spPr>
      <dgm:t>
        <a:bodyPr/>
        <a:lstStyle/>
        <a:p>
          <a:pPr>
            <a:lnSpc>
              <a:spcPts val="2400"/>
            </a:lnSpc>
            <a:spcBef>
              <a:spcPts val="0"/>
            </a:spcBef>
            <a:spcAft>
              <a:spcPts val="0"/>
            </a:spcAft>
          </a:pPr>
          <a:r>
            <a:rPr lang="zh-CN" altLang="en-US" sz="1600" b="1" dirty="0" smtClean="0">
              <a:solidFill>
                <a:srgbClr val="1C1C1C"/>
              </a:solidFill>
              <a:latin typeface="微软雅黑" panose="020B0503020204020204" pitchFamily="34" charset="-122"/>
              <a:ea typeface="微软雅黑" panose="020B0503020204020204" pitchFamily="34" charset="-122"/>
            </a:rPr>
            <a:t>单位就是数据率的单位 </a:t>
          </a:r>
          <a:r>
            <a:rPr lang="en-US" altLang="en-US" sz="1600" b="1" dirty="0" smtClean="0">
              <a:solidFill>
                <a:srgbClr val="1C1C1C"/>
              </a:solidFill>
              <a:latin typeface="微软雅黑" panose="020B0503020204020204" pitchFamily="34" charset="-122"/>
              <a:ea typeface="微软雅黑" panose="020B0503020204020204" pitchFamily="34" charset="-122"/>
            </a:rPr>
            <a:t>bit/s</a:t>
          </a:r>
          <a:r>
            <a:rPr lang="zh-CN" altLang="en-US" sz="1600" b="1" dirty="0" smtClean="0">
              <a:solidFill>
                <a:srgbClr val="1C1C1C"/>
              </a:solidFill>
              <a:latin typeface="微软雅黑" panose="020B0503020204020204" pitchFamily="34" charset="-122"/>
              <a:ea typeface="微软雅黑" panose="020B0503020204020204" pitchFamily="34" charset="-122"/>
            </a:rPr>
            <a:t>。</a:t>
          </a:r>
          <a:endParaRPr lang="zh-CN" altLang="en-US" sz="1600" b="1" dirty="0">
            <a:solidFill>
              <a:srgbClr val="1C1C1C"/>
            </a:solidFill>
            <a:latin typeface="微软雅黑" panose="020B0503020204020204" pitchFamily="34" charset="-122"/>
            <a:ea typeface="微软雅黑" panose="020B0503020204020204" pitchFamily="34" charset="-122"/>
          </a:endParaRPr>
        </a:p>
      </dgm:t>
    </dgm:pt>
    <dgm:pt modelId="{0A4C7176-71C6-4DA2-A49E-1FBD36EA537F}" type="par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C008DC61-DEEE-4E2B-8DE7-4B2E6EECC852}" type="sibTrans" cxnId="{2E444A85-2D22-48A3-8A02-211B5B9A1B48}">
      <dgm:prSet/>
      <dgm:spPr/>
      <dgm:t>
        <a:bodyPr/>
        <a:lstStyle/>
        <a:p>
          <a:pPr>
            <a:lnSpc>
              <a:spcPts val="24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B66B706-D603-46A5-9883-124C05B8E875}">
      <dgm:prSet phldrT="[文本]" custT="1"/>
      <dgm:spPr>
        <a:solidFill>
          <a:srgbClr val="EAC9C8">
            <a:alpha val="89804"/>
          </a:srgbClr>
        </a:solidFill>
      </dgm:spPr>
      <dgm:t>
        <a:bodyPr/>
        <a:lstStyle/>
        <a:p>
          <a:pPr>
            <a:lnSpc>
              <a:spcPts val="2400"/>
            </a:lnSpc>
            <a:spcBef>
              <a:spcPts val="0"/>
            </a:spcBef>
            <a:spcAft>
              <a:spcPts val="0"/>
            </a:spcAft>
          </a:pPr>
          <a:r>
            <a:rPr lang="zh-CN" altLang="en-US" sz="1600" b="1" dirty="0" smtClean="0">
              <a:solidFill>
                <a:srgbClr val="1C1C1C"/>
              </a:solidFill>
              <a:latin typeface="微软雅黑" panose="020B0503020204020204" pitchFamily="34" charset="-122"/>
              <a:ea typeface="微软雅黑" panose="020B0503020204020204" pitchFamily="34" charset="-122"/>
            </a:rPr>
            <a:t>某信道允许通过的信号频带范围称为该</a:t>
          </a:r>
          <a:r>
            <a:rPr lang="zh-CN" altLang="en-US" sz="1600" b="1" dirty="0" smtClean="0">
              <a:solidFill>
                <a:srgbClr val="0000FF"/>
              </a:solidFill>
              <a:latin typeface="微软雅黑" panose="020B0503020204020204" pitchFamily="34" charset="-122"/>
              <a:ea typeface="微软雅黑" panose="020B0503020204020204" pitchFamily="34" charset="-122"/>
            </a:rPr>
            <a:t>信道的带宽</a:t>
          </a:r>
          <a:r>
            <a:rPr lang="zh-CN" altLang="en-US" sz="1600" b="1" dirty="0" smtClean="0">
              <a:solidFill>
                <a:srgbClr val="1C1C1C"/>
              </a:solidFill>
              <a:latin typeface="微软雅黑" panose="020B0503020204020204" pitchFamily="34" charset="-122"/>
              <a:ea typeface="微软雅黑" panose="020B0503020204020204" pitchFamily="34" charset="-122"/>
            </a:rPr>
            <a:t>（或通频带）。</a:t>
          </a:r>
          <a:endParaRPr lang="zh-CN" altLang="en-US" sz="1600" b="1" dirty="0">
            <a:solidFill>
              <a:srgbClr val="1C1C1C"/>
            </a:solidFill>
            <a:latin typeface="微软雅黑" panose="020B0503020204020204" pitchFamily="34" charset="-122"/>
            <a:ea typeface="微软雅黑" panose="020B0503020204020204" pitchFamily="34" charset="-122"/>
          </a:endParaRPr>
        </a:p>
      </dgm:t>
    </dgm:pt>
    <dgm:pt modelId="{89BD7969-E47A-44A1-A228-64CDDE384D58}" type="parTrans" cxnId="{DC942A3B-33E6-4C36-96EA-7BED92D7AD9D}">
      <dgm:prSet/>
      <dgm:spPr/>
      <dgm:t>
        <a:bodyPr/>
        <a:lstStyle/>
        <a:p>
          <a:endParaRPr lang="zh-CN" altLang="en-US"/>
        </a:p>
      </dgm:t>
    </dgm:pt>
    <dgm:pt modelId="{CF6155F8-E999-4B3A-9320-1784222FDB2A}" type="sibTrans" cxnId="{DC942A3B-33E6-4C36-96EA-7BED92D7AD9D}">
      <dgm:prSet/>
      <dgm:spPr/>
      <dgm:t>
        <a:bodyPr/>
        <a:lstStyle/>
        <a:p>
          <a:endParaRPr lang="zh-CN" altLang="en-US"/>
        </a:p>
      </dgm:t>
    </dgm:pt>
    <dgm:pt modelId="{40E63CE6-BCF0-4D31-BF79-E0110AFBC97D}" type="pres">
      <dgm:prSet presAssocID="{F9AB813C-B06A-4F31-AE41-5FBC08019F61}" presName="Name0" presStyleCnt="0">
        <dgm:presLayoutVars>
          <dgm:dir/>
          <dgm:animLvl val="lvl"/>
          <dgm:resizeHandles val="exact"/>
        </dgm:presLayoutVars>
      </dgm:prSet>
      <dgm:spPr/>
      <dgm:t>
        <a:bodyPr/>
        <a:lstStyle/>
        <a:p>
          <a:endParaRPr lang="zh-CN" altLang="en-US"/>
        </a:p>
      </dgm:t>
    </dgm:pt>
    <dgm:pt modelId="{A816BD0E-3B05-4D80-8D09-86E69DADF94A}" type="pres">
      <dgm:prSet presAssocID="{050A098E-265C-4391-8A02-18D41C9ACEF7}" presName="linNode" presStyleCnt="0"/>
      <dgm:spPr/>
    </dgm:pt>
    <dgm:pt modelId="{12490A3D-6938-465D-B09D-05FD246C6E9E}" type="pres">
      <dgm:prSet presAssocID="{050A098E-265C-4391-8A02-18D41C9ACEF7}" presName="parentText" presStyleLbl="node1" presStyleIdx="0" presStyleCnt="2" custScaleX="41980">
        <dgm:presLayoutVars>
          <dgm:chMax val="1"/>
          <dgm:bulletEnabled val="1"/>
        </dgm:presLayoutVars>
      </dgm:prSet>
      <dgm:spPr/>
      <dgm:t>
        <a:bodyPr/>
        <a:lstStyle/>
        <a:p>
          <a:endParaRPr lang="zh-CN" altLang="en-US"/>
        </a:p>
      </dgm:t>
    </dgm:pt>
    <dgm:pt modelId="{D8322834-D555-4278-B09F-615875E565CE}" type="pres">
      <dgm:prSet presAssocID="{050A098E-265C-4391-8A02-18D41C9ACEF7}" presName="descendantText" presStyleLbl="alignAccFollowNode1" presStyleIdx="0" presStyleCnt="2" custScaleX="132256" custScaleY="150859">
        <dgm:presLayoutVars>
          <dgm:bulletEnabled val="1"/>
        </dgm:presLayoutVars>
      </dgm:prSet>
      <dgm:spPr/>
      <dgm:t>
        <a:bodyPr/>
        <a:lstStyle/>
        <a:p>
          <a:endParaRPr lang="zh-CN" altLang="en-US"/>
        </a:p>
      </dgm:t>
    </dgm:pt>
    <dgm:pt modelId="{D083337A-8E07-459D-A053-9228C089A47E}" type="pres">
      <dgm:prSet presAssocID="{1BCB1832-21C9-4CED-A453-F89D918E8026}" presName="sp" presStyleCnt="0"/>
      <dgm:spPr/>
    </dgm:pt>
    <dgm:pt modelId="{795B2B64-5D71-4F73-BF51-C77D11A4D022}" type="pres">
      <dgm:prSet presAssocID="{7D7D28CE-69F5-49A1-B14F-3045EE4444C5}" presName="linNode" presStyleCnt="0"/>
      <dgm:spPr/>
    </dgm:pt>
    <dgm:pt modelId="{90C011AE-3F91-416D-B2FD-433B35EC17A6}" type="pres">
      <dgm:prSet presAssocID="{7D7D28CE-69F5-49A1-B14F-3045EE4444C5}" presName="parentText" presStyleLbl="node1" presStyleIdx="1" presStyleCnt="2" custScaleX="41980" custLinFactNeighborY="-2899">
        <dgm:presLayoutVars>
          <dgm:chMax val="1"/>
          <dgm:bulletEnabled val="1"/>
        </dgm:presLayoutVars>
      </dgm:prSet>
      <dgm:spPr/>
      <dgm:t>
        <a:bodyPr/>
        <a:lstStyle/>
        <a:p>
          <a:endParaRPr lang="zh-CN" altLang="en-US"/>
        </a:p>
      </dgm:t>
    </dgm:pt>
    <dgm:pt modelId="{4EADB46F-8684-4B72-97FE-D18AEB647819}" type="pres">
      <dgm:prSet presAssocID="{7D7D28CE-69F5-49A1-B14F-3045EE4444C5}" presName="descendantText" presStyleLbl="alignAccFollowNode1" presStyleIdx="1" presStyleCnt="2" custScaleX="132370" custScaleY="130447" custLinFactNeighborY="-3622">
        <dgm:presLayoutVars>
          <dgm:bulletEnabled val="1"/>
        </dgm:presLayoutVars>
      </dgm:prSet>
      <dgm:spPr/>
      <dgm:t>
        <a:bodyPr/>
        <a:lstStyle/>
        <a:p>
          <a:endParaRPr lang="zh-CN" altLang="en-US"/>
        </a:p>
      </dgm:t>
    </dgm:pt>
  </dgm:ptLst>
  <dgm:cxnLst>
    <dgm:cxn modelId="{FFFED87E-494E-4204-9F73-2ABE24A6D921}" type="presOf" srcId="{1B66B706-D603-46A5-9883-124C05B8E875}" destId="{D8322834-D555-4278-B09F-615875E565CE}" srcOrd="0" destOrd="2" presId="urn:microsoft.com/office/officeart/2005/8/layout/vList5"/>
    <dgm:cxn modelId="{EC4EA4BE-F7E1-4328-B1DB-6A0D15C7F420}" srcId="{F9AB813C-B06A-4F31-AE41-5FBC08019F61}" destId="{050A098E-265C-4391-8A02-18D41C9ACEF7}" srcOrd="0" destOrd="0" parTransId="{A6F7A116-B107-4EA4-9066-73D7E647AB1E}" sibTransId="{1BCB1832-21C9-4CED-A453-F89D918E8026}"/>
    <dgm:cxn modelId="{52E97D6D-3074-4FA3-A163-94E891233EC6}" type="presOf" srcId="{E0DB3CE6-D371-46C6-BF5C-43B59AB6EDE2}" destId="{4EADB46F-8684-4B72-97FE-D18AEB647819}" srcOrd="0" destOrd="0" presId="urn:microsoft.com/office/officeart/2005/8/layout/vList5"/>
    <dgm:cxn modelId="{61B50ED9-F9C2-40D1-9153-01C8F5DE2A67}" type="presOf" srcId="{FEF4933F-9CB0-4FCB-8C1E-9CB99A07B49E}" destId="{D8322834-D555-4278-B09F-615875E565CE}" srcOrd="0" destOrd="0" presId="urn:microsoft.com/office/officeart/2005/8/layout/vList5"/>
    <dgm:cxn modelId="{DC942A3B-33E6-4C36-96EA-7BED92D7AD9D}" srcId="{050A098E-265C-4391-8A02-18D41C9ACEF7}" destId="{1B66B706-D603-46A5-9883-124C05B8E875}" srcOrd="2" destOrd="0" parTransId="{89BD7969-E47A-44A1-A228-64CDDE384D58}" sibTransId="{CF6155F8-E999-4B3A-9320-1784222FDB2A}"/>
    <dgm:cxn modelId="{60735D4F-A4F3-476D-AE58-8AE4EDAE2412}" srcId="{F9AB813C-B06A-4F31-AE41-5FBC08019F61}" destId="{7D7D28CE-69F5-49A1-B14F-3045EE4444C5}" srcOrd="1" destOrd="0" parTransId="{7BA8DCB6-F2BF-48A1-AE72-20D033A4AB32}" sibTransId="{56A15820-9812-4C8B-9CED-F317235A9064}"/>
    <dgm:cxn modelId="{F099BD6E-6DE6-4DC8-8916-951CC33D3D91}" srcId="{7D7D28CE-69F5-49A1-B14F-3045EE4444C5}" destId="{E0DB3CE6-D371-46C6-BF5C-43B59AB6EDE2}" srcOrd="0" destOrd="0" parTransId="{EF117184-0A6B-450A-9F46-59148824F74C}" sibTransId="{3ECD476C-4C81-48A0-A49D-D9F381D723F0}"/>
    <dgm:cxn modelId="{6146DCB1-62CF-4E78-8FCB-E9264796E338}" type="presOf" srcId="{679FA712-BCAA-459B-A818-2FEE70636A61}" destId="{4EADB46F-8684-4B72-97FE-D18AEB647819}" srcOrd="0" destOrd="1" presId="urn:microsoft.com/office/officeart/2005/8/layout/vList5"/>
    <dgm:cxn modelId="{2E444A85-2D22-48A3-8A02-211B5B9A1B48}" srcId="{7D7D28CE-69F5-49A1-B14F-3045EE4444C5}" destId="{679FA712-BCAA-459B-A818-2FEE70636A61}" srcOrd="1" destOrd="0" parTransId="{0A4C7176-71C6-4DA2-A49E-1FBD36EA537F}" sibTransId="{C008DC61-DEEE-4E2B-8DE7-4B2E6EECC852}"/>
    <dgm:cxn modelId="{A8EF7F0F-0658-44F4-B622-50E7C67A77F3}" type="presOf" srcId="{0C3747A4-6E14-4B4D-B352-09BA88A76C46}" destId="{D8322834-D555-4278-B09F-615875E565CE}" srcOrd="0" destOrd="1" presId="urn:microsoft.com/office/officeart/2005/8/layout/vList5"/>
    <dgm:cxn modelId="{5556D55C-D312-4EC3-AF75-034370C3F062}" type="presOf" srcId="{7D7D28CE-69F5-49A1-B14F-3045EE4444C5}" destId="{90C011AE-3F91-416D-B2FD-433B35EC17A6}" srcOrd="0" destOrd="0" presId="urn:microsoft.com/office/officeart/2005/8/layout/vList5"/>
    <dgm:cxn modelId="{AE1886A5-C41A-4E41-88DC-8BD2D6CCB3BA}" type="presOf" srcId="{F9AB813C-B06A-4F31-AE41-5FBC08019F61}" destId="{40E63CE6-BCF0-4D31-BF79-E0110AFBC97D}" srcOrd="0" destOrd="0" presId="urn:microsoft.com/office/officeart/2005/8/layout/vList5"/>
    <dgm:cxn modelId="{81619469-DEC7-4753-8D66-6DFA681A327B}" type="presOf" srcId="{050A098E-265C-4391-8A02-18D41C9ACEF7}" destId="{12490A3D-6938-465D-B09D-05FD246C6E9E}" srcOrd="0" destOrd="0" presId="urn:microsoft.com/office/officeart/2005/8/layout/vList5"/>
    <dgm:cxn modelId="{83A05107-00D7-4222-B7C2-A60E72976CB4}" srcId="{050A098E-265C-4391-8A02-18D41C9ACEF7}" destId="{FEF4933F-9CB0-4FCB-8C1E-9CB99A07B49E}" srcOrd="0" destOrd="0" parTransId="{496C612B-0359-4353-8637-BF1552A99E99}" sibTransId="{E18C0578-B49C-4E15-96F8-93E15DFFC7F1}"/>
    <dgm:cxn modelId="{1165B027-3233-4387-BD43-758F7EC8C9C7}" srcId="{050A098E-265C-4391-8A02-18D41C9ACEF7}" destId="{0C3747A4-6E14-4B4D-B352-09BA88A76C46}" srcOrd="1" destOrd="0" parTransId="{9C1E3CB2-E8C8-49AB-965B-AFC0CD4F794D}" sibTransId="{B78D8998-D0E8-4832-B8F9-C32C7B518B9A}"/>
    <dgm:cxn modelId="{4A52D9D4-F1F3-469D-A6FF-FEF9625FA638}" type="presParOf" srcId="{40E63CE6-BCF0-4D31-BF79-E0110AFBC97D}" destId="{A816BD0E-3B05-4D80-8D09-86E69DADF94A}" srcOrd="0" destOrd="0" presId="urn:microsoft.com/office/officeart/2005/8/layout/vList5"/>
    <dgm:cxn modelId="{6D1A38AF-96F3-4D0B-9181-2F6F94801359}" type="presParOf" srcId="{A816BD0E-3B05-4D80-8D09-86E69DADF94A}" destId="{12490A3D-6938-465D-B09D-05FD246C6E9E}" srcOrd="0" destOrd="0" presId="urn:microsoft.com/office/officeart/2005/8/layout/vList5"/>
    <dgm:cxn modelId="{79C65FB9-C732-4410-B6CA-3F0ACB004443}" type="presParOf" srcId="{A816BD0E-3B05-4D80-8D09-86E69DADF94A}" destId="{D8322834-D555-4278-B09F-615875E565CE}" srcOrd="1" destOrd="0" presId="urn:microsoft.com/office/officeart/2005/8/layout/vList5"/>
    <dgm:cxn modelId="{FA3E6249-EE64-4AEF-AECF-571D5A10FCFA}" type="presParOf" srcId="{40E63CE6-BCF0-4D31-BF79-E0110AFBC97D}" destId="{D083337A-8E07-459D-A053-9228C089A47E}" srcOrd="1" destOrd="0" presId="urn:microsoft.com/office/officeart/2005/8/layout/vList5"/>
    <dgm:cxn modelId="{5EE53741-C5A9-4129-818C-B9006B7631A2}" type="presParOf" srcId="{40E63CE6-BCF0-4D31-BF79-E0110AFBC97D}" destId="{795B2B64-5D71-4F73-BF51-C77D11A4D022}" srcOrd="2" destOrd="0" presId="urn:microsoft.com/office/officeart/2005/8/layout/vList5"/>
    <dgm:cxn modelId="{9C91107C-F827-4395-90CE-97AD417322EB}" type="presParOf" srcId="{795B2B64-5D71-4F73-BF51-C77D11A4D022}" destId="{90C011AE-3F91-416D-B2FD-433B35EC17A6}" srcOrd="0" destOrd="0" presId="urn:microsoft.com/office/officeart/2005/8/layout/vList5"/>
    <dgm:cxn modelId="{ED4A2069-5EE1-4E6B-82B0-F66CB3ACBF9D}" type="presParOf" srcId="{795B2B64-5D71-4F73-BF51-C77D11A4D022}" destId="{4EADB46F-8684-4B72-97FE-D18AEB64781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5A083A4-2D37-4B0B-9255-D685588C0943}" type="doc">
      <dgm:prSet loTypeId="urn:microsoft.com/office/officeart/2005/8/layout/orgChart1" loCatId="hierarchy" qsTypeId="urn:microsoft.com/office/officeart/2005/8/quickstyle/simple1#10" qsCatId="simple" csTypeId="urn:microsoft.com/office/officeart/2005/8/colors/accent1_2#10" csCatId="accent1" phldr="1"/>
      <dgm:spPr/>
      <dgm:t>
        <a:bodyPr/>
        <a:lstStyle/>
        <a:p>
          <a:endParaRPr lang="en-US"/>
        </a:p>
      </dgm:t>
    </dgm:pt>
    <dgm:pt modelId="{B07AA598-7EF9-4FD0-83F9-B2DFEE3EAF97}">
      <dgm:prSet phldrT="[Text]"/>
      <dgm:spPr/>
      <dgm:t>
        <a:bodyPr/>
        <a:lstStyle/>
        <a:p>
          <a:r>
            <a:rPr lang="en-US" altLang="zh-CN" dirty="0">
              <a:solidFill>
                <a:srgbClr val="000000"/>
              </a:solidFill>
            </a:rPr>
            <a:t>*</a:t>
          </a:r>
          <a:r>
            <a:rPr lang="zh-CN" altLang="en-US" dirty="0">
              <a:solidFill>
                <a:srgbClr val="000000"/>
              </a:solidFill>
            </a:rPr>
            <a:t>发送时延</a:t>
          </a:r>
          <a:endParaRPr lang="en-US" dirty="0">
            <a:solidFill>
              <a:srgbClr val="000000"/>
            </a:solidFill>
          </a:endParaRPr>
        </a:p>
      </dgm:t>
    </dgm:pt>
    <dgm:pt modelId="{46BCD4FB-C6E5-4C7B-967D-3107BCE2E057}" type="parTrans" cxnId="{E669A823-B0D6-450B-AA70-34617715EE84}">
      <dgm:prSet/>
      <dgm:spPr/>
      <dgm:t>
        <a:bodyPr/>
        <a:lstStyle/>
        <a:p>
          <a:endParaRPr lang="en-US"/>
        </a:p>
      </dgm:t>
    </dgm:pt>
    <dgm:pt modelId="{21079A83-9308-4A56-8929-0CDCF7F6F500}" type="sibTrans" cxnId="{E669A823-B0D6-450B-AA70-34617715EE84}">
      <dgm:prSet/>
      <dgm:spPr/>
      <dgm:t>
        <a:bodyPr/>
        <a:lstStyle/>
        <a:p>
          <a:endParaRPr lang="en-US"/>
        </a:p>
      </dgm:t>
    </dgm:pt>
    <dgm:pt modelId="{EDD5BF15-8EA9-4214-B250-B8301FB41681}">
      <dgm:prSet phldrT="[Text]"/>
      <dgm:spPr/>
      <dgm:t>
        <a:bodyPr/>
        <a:lstStyle/>
        <a:p>
          <a:r>
            <a:rPr lang="en-US" altLang="zh-CN" dirty="0">
              <a:solidFill>
                <a:srgbClr val="000000"/>
              </a:solidFill>
            </a:rPr>
            <a:t>*</a:t>
          </a:r>
          <a:r>
            <a:rPr lang="zh-CN" altLang="en-US" dirty="0">
              <a:solidFill>
                <a:srgbClr val="000000"/>
              </a:solidFill>
            </a:rPr>
            <a:t>传播时延</a:t>
          </a:r>
          <a:endParaRPr lang="en-US" dirty="0">
            <a:solidFill>
              <a:srgbClr val="000000"/>
            </a:solidFill>
          </a:endParaRPr>
        </a:p>
      </dgm:t>
    </dgm:pt>
    <dgm:pt modelId="{76EF6518-1EC8-4071-8359-D41F8325FEC0}" type="parTrans" cxnId="{951709B5-FA41-4F73-8475-1DC29BB735C5}">
      <dgm:prSet/>
      <dgm:spPr/>
      <dgm:t>
        <a:bodyPr/>
        <a:lstStyle/>
        <a:p>
          <a:endParaRPr lang="en-US"/>
        </a:p>
      </dgm:t>
    </dgm:pt>
    <dgm:pt modelId="{5CDD0D1A-727C-48E7-83A9-60249713B981}" type="sibTrans" cxnId="{951709B5-FA41-4F73-8475-1DC29BB735C5}">
      <dgm:prSet/>
      <dgm:spPr/>
      <dgm:t>
        <a:bodyPr/>
        <a:lstStyle/>
        <a:p>
          <a:endParaRPr lang="en-US"/>
        </a:p>
      </dgm:t>
    </dgm:pt>
    <dgm:pt modelId="{C158E602-1FC6-4587-891A-F909CACCFD99}">
      <dgm:prSet phldrT="[Text]"/>
      <dgm:spPr/>
      <dgm:t>
        <a:bodyPr/>
        <a:lstStyle/>
        <a:p>
          <a:r>
            <a:rPr lang="zh-CN" altLang="en-US" dirty="0">
              <a:solidFill>
                <a:srgbClr val="000000"/>
              </a:solidFill>
            </a:rPr>
            <a:t>处理时延</a:t>
          </a:r>
          <a:endParaRPr lang="en-US" dirty="0">
            <a:solidFill>
              <a:srgbClr val="000000"/>
            </a:solidFill>
          </a:endParaRPr>
        </a:p>
      </dgm:t>
    </dgm:pt>
    <dgm:pt modelId="{0375B441-57BB-46E3-A499-37F7B3374879}" type="parTrans" cxnId="{FDABB649-7ED3-425B-AC66-6072E714EE3A}">
      <dgm:prSet/>
      <dgm:spPr/>
      <dgm:t>
        <a:bodyPr/>
        <a:lstStyle/>
        <a:p>
          <a:endParaRPr lang="en-US"/>
        </a:p>
      </dgm:t>
    </dgm:pt>
    <dgm:pt modelId="{CAD6F472-A148-46EF-97D2-08CB676A1BCB}" type="sibTrans" cxnId="{FDABB649-7ED3-425B-AC66-6072E714EE3A}">
      <dgm:prSet/>
      <dgm:spPr/>
      <dgm:t>
        <a:bodyPr/>
        <a:lstStyle/>
        <a:p>
          <a:endParaRPr lang="en-US"/>
        </a:p>
      </dgm:t>
    </dgm:pt>
    <dgm:pt modelId="{35146C74-DA57-49FC-9182-97EB5BA3E4A0}">
      <dgm:prSet phldrT="[Text]"/>
      <dgm:spPr/>
      <dgm:t>
        <a:bodyPr/>
        <a:lstStyle/>
        <a:p>
          <a:r>
            <a:rPr lang="zh-CN" altLang="en-US" dirty="0">
              <a:solidFill>
                <a:srgbClr val="000000"/>
              </a:solidFill>
            </a:rPr>
            <a:t>排队时延</a:t>
          </a:r>
          <a:endParaRPr lang="en-US" dirty="0">
            <a:solidFill>
              <a:srgbClr val="000000"/>
            </a:solidFill>
          </a:endParaRPr>
        </a:p>
      </dgm:t>
    </dgm:pt>
    <dgm:pt modelId="{4E91DFEB-5C92-4ED8-940A-E95BBBA50EF0}" type="parTrans" cxnId="{CB43B795-8996-4022-AB46-9F78A703B0A7}">
      <dgm:prSet/>
      <dgm:spPr/>
      <dgm:t>
        <a:bodyPr/>
        <a:lstStyle/>
        <a:p>
          <a:endParaRPr lang="en-US"/>
        </a:p>
      </dgm:t>
    </dgm:pt>
    <dgm:pt modelId="{FAA98112-723B-4EF6-9306-FDCBB9CE9FA5}" type="sibTrans" cxnId="{CB43B795-8996-4022-AB46-9F78A703B0A7}">
      <dgm:prSet/>
      <dgm:spPr/>
      <dgm:t>
        <a:bodyPr/>
        <a:lstStyle/>
        <a:p>
          <a:endParaRPr lang="en-US"/>
        </a:p>
      </dgm:t>
    </dgm:pt>
    <dgm:pt modelId="{8C5A759D-8758-442E-AAA5-9D18181A1918}">
      <dgm:prSet phldrT="[Text]" custT="1"/>
      <dgm:spPr/>
      <dgm:t>
        <a:bodyPr/>
        <a:lstStyle/>
        <a:p>
          <a:r>
            <a:rPr lang="zh-CN" altLang="en-US" sz="3200" dirty="0" smtClean="0">
              <a:solidFill>
                <a:srgbClr val="000000"/>
              </a:solidFill>
            </a:rPr>
            <a:t>时延</a:t>
          </a:r>
          <a:endParaRPr lang="en-US" sz="3200" dirty="0">
            <a:solidFill>
              <a:srgbClr val="000000"/>
            </a:solidFill>
          </a:endParaRPr>
        </a:p>
      </dgm:t>
    </dgm:pt>
    <dgm:pt modelId="{4BA7D174-BBCC-4C7B-97BE-FC9DDF55AF0F}" type="sibTrans" cxnId="{EAD252EB-94BB-47D7-BA40-21CD18F82EF4}">
      <dgm:prSet/>
      <dgm:spPr/>
      <dgm:t>
        <a:bodyPr/>
        <a:lstStyle/>
        <a:p>
          <a:endParaRPr lang="en-US"/>
        </a:p>
      </dgm:t>
    </dgm:pt>
    <dgm:pt modelId="{155EFF51-8C79-4C7C-BFC6-A750768BAE70}" type="parTrans" cxnId="{EAD252EB-94BB-47D7-BA40-21CD18F82EF4}">
      <dgm:prSet/>
      <dgm:spPr/>
      <dgm:t>
        <a:bodyPr/>
        <a:lstStyle/>
        <a:p>
          <a:endParaRPr lang="en-US"/>
        </a:p>
      </dgm:t>
    </dgm:pt>
    <dgm:pt modelId="{BBBAD7E8-32BD-4551-BF67-A169696FB868}" type="pres">
      <dgm:prSet presAssocID="{75A083A4-2D37-4B0B-9255-D685588C0943}" presName="hierChild1" presStyleCnt="0">
        <dgm:presLayoutVars>
          <dgm:orgChart val="1"/>
          <dgm:chPref val="1"/>
          <dgm:dir/>
          <dgm:animOne val="branch"/>
          <dgm:animLvl val="lvl"/>
          <dgm:resizeHandles/>
        </dgm:presLayoutVars>
      </dgm:prSet>
      <dgm:spPr/>
      <dgm:t>
        <a:bodyPr/>
        <a:lstStyle/>
        <a:p>
          <a:endParaRPr lang="zh-CN" altLang="en-US"/>
        </a:p>
      </dgm:t>
    </dgm:pt>
    <dgm:pt modelId="{B6089E60-EFE6-4FF0-ACBF-7C0DA216B0BC}" type="pres">
      <dgm:prSet presAssocID="{8C5A759D-8758-442E-AAA5-9D18181A1918}" presName="hierRoot1" presStyleCnt="0">
        <dgm:presLayoutVars>
          <dgm:hierBranch val="init"/>
        </dgm:presLayoutVars>
      </dgm:prSet>
      <dgm:spPr/>
    </dgm:pt>
    <dgm:pt modelId="{5F27B3C6-B363-40AB-A7AE-6928F261DB17}" type="pres">
      <dgm:prSet presAssocID="{8C5A759D-8758-442E-AAA5-9D18181A1918}" presName="rootComposite1" presStyleCnt="0"/>
      <dgm:spPr/>
    </dgm:pt>
    <dgm:pt modelId="{5577373F-6A35-4E99-800C-3E3838126B2F}" type="pres">
      <dgm:prSet presAssocID="{8C5A759D-8758-442E-AAA5-9D18181A1918}" presName="rootText1" presStyleLbl="node0" presStyleIdx="0" presStyleCnt="1" custScaleX="133979" custScaleY="120274" custLinFactNeighborY="-78596">
        <dgm:presLayoutVars>
          <dgm:chPref val="3"/>
        </dgm:presLayoutVars>
      </dgm:prSet>
      <dgm:spPr>
        <a:prstGeom prst="ellipse">
          <a:avLst/>
        </a:prstGeom>
      </dgm:spPr>
      <dgm:t>
        <a:bodyPr/>
        <a:lstStyle/>
        <a:p>
          <a:endParaRPr lang="zh-CN" altLang="en-US"/>
        </a:p>
      </dgm:t>
    </dgm:pt>
    <dgm:pt modelId="{01D515FD-99E9-48F0-8366-6A803C5B7D7C}" type="pres">
      <dgm:prSet presAssocID="{8C5A759D-8758-442E-AAA5-9D18181A1918}" presName="rootConnector1" presStyleLbl="node1" presStyleIdx="0" presStyleCnt="0"/>
      <dgm:spPr/>
      <dgm:t>
        <a:bodyPr/>
        <a:lstStyle/>
        <a:p>
          <a:endParaRPr lang="zh-CN" altLang="en-US"/>
        </a:p>
      </dgm:t>
    </dgm:pt>
    <dgm:pt modelId="{A92175FF-4AF5-4328-9EAE-FBC7569A7F58}" type="pres">
      <dgm:prSet presAssocID="{8C5A759D-8758-442E-AAA5-9D18181A1918}" presName="hierChild2" presStyleCnt="0"/>
      <dgm:spPr/>
    </dgm:pt>
    <dgm:pt modelId="{A1760BB4-E99C-40B1-88FA-AF71DBC82B79}" type="pres">
      <dgm:prSet presAssocID="{46BCD4FB-C6E5-4C7B-967D-3107BCE2E057}" presName="Name37" presStyleLbl="parChTrans1D2" presStyleIdx="0" presStyleCnt="4"/>
      <dgm:spPr/>
      <dgm:t>
        <a:bodyPr/>
        <a:lstStyle/>
        <a:p>
          <a:endParaRPr lang="zh-CN" altLang="en-US"/>
        </a:p>
      </dgm:t>
    </dgm:pt>
    <dgm:pt modelId="{CB375C58-30E7-4F0E-96D2-B0B77BF09F73}" type="pres">
      <dgm:prSet presAssocID="{B07AA598-7EF9-4FD0-83F9-B2DFEE3EAF97}" presName="hierRoot2" presStyleCnt="0">
        <dgm:presLayoutVars>
          <dgm:hierBranch val="init"/>
        </dgm:presLayoutVars>
      </dgm:prSet>
      <dgm:spPr/>
    </dgm:pt>
    <dgm:pt modelId="{36477285-C406-4F5D-982F-BB24AB1C2BD6}" type="pres">
      <dgm:prSet presAssocID="{B07AA598-7EF9-4FD0-83F9-B2DFEE3EAF97}" presName="rootComposite" presStyleCnt="0"/>
      <dgm:spPr/>
    </dgm:pt>
    <dgm:pt modelId="{02D8927B-468C-48C7-B616-9BBFC1B59F11}" type="pres">
      <dgm:prSet presAssocID="{B07AA598-7EF9-4FD0-83F9-B2DFEE3EAF97}" presName="rootText" presStyleLbl="node2" presStyleIdx="0" presStyleCnt="4" custLinFactNeighborY="-78596">
        <dgm:presLayoutVars>
          <dgm:chPref val="3"/>
        </dgm:presLayoutVars>
      </dgm:prSet>
      <dgm:spPr/>
      <dgm:t>
        <a:bodyPr/>
        <a:lstStyle/>
        <a:p>
          <a:endParaRPr lang="zh-CN" altLang="en-US"/>
        </a:p>
      </dgm:t>
    </dgm:pt>
    <dgm:pt modelId="{E0D0D56B-A6D1-4D0E-8753-C3CEED07E960}" type="pres">
      <dgm:prSet presAssocID="{B07AA598-7EF9-4FD0-83F9-B2DFEE3EAF97}" presName="rootConnector" presStyleLbl="node2" presStyleIdx="0" presStyleCnt="4"/>
      <dgm:spPr/>
      <dgm:t>
        <a:bodyPr/>
        <a:lstStyle/>
        <a:p>
          <a:endParaRPr lang="zh-CN" altLang="en-US"/>
        </a:p>
      </dgm:t>
    </dgm:pt>
    <dgm:pt modelId="{8DA98542-9807-426E-A71E-74413C3B77D8}" type="pres">
      <dgm:prSet presAssocID="{B07AA598-7EF9-4FD0-83F9-B2DFEE3EAF97}" presName="hierChild4" presStyleCnt="0"/>
      <dgm:spPr/>
    </dgm:pt>
    <dgm:pt modelId="{F1CEE673-4F48-4BAD-9CAB-353EB4DB15A2}" type="pres">
      <dgm:prSet presAssocID="{B07AA598-7EF9-4FD0-83F9-B2DFEE3EAF97}" presName="hierChild5" presStyleCnt="0"/>
      <dgm:spPr/>
    </dgm:pt>
    <dgm:pt modelId="{770D9E2B-EA18-4B36-A1BD-BD1665D2A336}" type="pres">
      <dgm:prSet presAssocID="{76EF6518-1EC8-4071-8359-D41F8325FEC0}" presName="Name37" presStyleLbl="parChTrans1D2" presStyleIdx="1" presStyleCnt="4"/>
      <dgm:spPr/>
      <dgm:t>
        <a:bodyPr/>
        <a:lstStyle/>
        <a:p>
          <a:endParaRPr lang="zh-CN" altLang="en-US"/>
        </a:p>
      </dgm:t>
    </dgm:pt>
    <dgm:pt modelId="{FA2125F8-3026-4680-9939-9D1B413A096A}" type="pres">
      <dgm:prSet presAssocID="{EDD5BF15-8EA9-4214-B250-B8301FB41681}" presName="hierRoot2" presStyleCnt="0">
        <dgm:presLayoutVars>
          <dgm:hierBranch val="init"/>
        </dgm:presLayoutVars>
      </dgm:prSet>
      <dgm:spPr/>
    </dgm:pt>
    <dgm:pt modelId="{EC63478E-E864-490D-B29D-5EB702E76047}" type="pres">
      <dgm:prSet presAssocID="{EDD5BF15-8EA9-4214-B250-B8301FB41681}" presName="rootComposite" presStyleCnt="0"/>
      <dgm:spPr/>
    </dgm:pt>
    <dgm:pt modelId="{BD95AFED-3005-4840-8619-7A92C665843C}" type="pres">
      <dgm:prSet presAssocID="{EDD5BF15-8EA9-4214-B250-B8301FB41681}" presName="rootText" presStyleLbl="node2" presStyleIdx="1" presStyleCnt="4" custLinFactNeighborY="-78596">
        <dgm:presLayoutVars>
          <dgm:chPref val="3"/>
        </dgm:presLayoutVars>
      </dgm:prSet>
      <dgm:spPr/>
      <dgm:t>
        <a:bodyPr/>
        <a:lstStyle/>
        <a:p>
          <a:endParaRPr lang="zh-CN" altLang="en-US"/>
        </a:p>
      </dgm:t>
    </dgm:pt>
    <dgm:pt modelId="{4868349A-7D65-4F02-9EE7-23B255ABC1DA}" type="pres">
      <dgm:prSet presAssocID="{EDD5BF15-8EA9-4214-B250-B8301FB41681}" presName="rootConnector" presStyleLbl="node2" presStyleIdx="1" presStyleCnt="4"/>
      <dgm:spPr/>
      <dgm:t>
        <a:bodyPr/>
        <a:lstStyle/>
        <a:p>
          <a:endParaRPr lang="zh-CN" altLang="en-US"/>
        </a:p>
      </dgm:t>
    </dgm:pt>
    <dgm:pt modelId="{403BF939-B976-49E6-A350-067D9F1C45DE}" type="pres">
      <dgm:prSet presAssocID="{EDD5BF15-8EA9-4214-B250-B8301FB41681}" presName="hierChild4" presStyleCnt="0"/>
      <dgm:spPr/>
    </dgm:pt>
    <dgm:pt modelId="{C7477EAB-48AF-403C-B74D-7086971DBF7D}" type="pres">
      <dgm:prSet presAssocID="{EDD5BF15-8EA9-4214-B250-B8301FB41681}" presName="hierChild5" presStyleCnt="0"/>
      <dgm:spPr/>
    </dgm:pt>
    <dgm:pt modelId="{F34D7894-C98B-4D52-BBF2-D4954739F3C8}" type="pres">
      <dgm:prSet presAssocID="{0375B441-57BB-46E3-A499-37F7B3374879}" presName="Name37" presStyleLbl="parChTrans1D2" presStyleIdx="2" presStyleCnt="4"/>
      <dgm:spPr/>
      <dgm:t>
        <a:bodyPr/>
        <a:lstStyle/>
        <a:p>
          <a:endParaRPr lang="zh-CN" altLang="en-US"/>
        </a:p>
      </dgm:t>
    </dgm:pt>
    <dgm:pt modelId="{85A25F6D-4A97-4011-ADF5-4B778581140E}" type="pres">
      <dgm:prSet presAssocID="{C158E602-1FC6-4587-891A-F909CACCFD99}" presName="hierRoot2" presStyleCnt="0">
        <dgm:presLayoutVars>
          <dgm:hierBranch val="init"/>
        </dgm:presLayoutVars>
      </dgm:prSet>
      <dgm:spPr/>
    </dgm:pt>
    <dgm:pt modelId="{BDFE4A88-B3B4-4DCC-ABB4-B6F567BD3B68}" type="pres">
      <dgm:prSet presAssocID="{C158E602-1FC6-4587-891A-F909CACCFD99}" presName="rootComposite" presStyleCnt="0"/>
      <dgm:spPr/>
    </dgm:pt>
    <dgm:pt modelId="{854D2305-F4EE-4AD6-92DB-D95F41DA9781}" type="pres">
      <dgm:prSet presAssocID="{C158E602-1FC6-4587-891A-F909CACCFD99}" presName="rootText" presStyleLbl="node2" presStyleIdx="2" presStyleCnt="4" custLinFactNeighborY="-78596">
        <dgm:presLayoutVars>
          <dgm:chPref val="3"/>
        </dgm:presLayoutVars>
      </dgm:prSet>
      <dgm:spPr/>
      <dgm:t>
        <a:bodyPr/>
        <a:lstStyle/>
        <a:p>
          <a:endParaRPr lang="zh-CN" altLang="en-US"/>
        </a:p>
      </dgm:t>
    </dgm:pt>
    <dgm:pt modelId="{5C04A865-1E06-411D-A557-2B6D89918437}" type="pres">
      <dgm:prSet presAssocID="{C158E602-1FC6-4587-891A-F909CACCFD99}" presName="rootConnector" presStyleLbl="node2" presStyleIdx="2" presStyleCnt="4"/>
      <dgm:spPr/>
      <dgm:t>
        <a:bodyPr/>
        <a:lstStyle/>
        <a:p>
          <a:endParaRPr lang="zh-CN" altLang="en-US"/>
        </a:p>
      </dgm:t>
    </dgm:pt>
    <dgm:pt modelId="{D6269778-EDAD-4413-96CC-1E49EB2E7A22}" type="pres">
      <dgm:prSet presAssocID="{C158E602-1FC6-4587-891A-F909CACCFD99}" presName="hierChild4" presStyleCnt="0"/>
      <dgm:spPr/>
    </dgm:pt>
    <dgm:pt modelId="{61BA350F-D02D-4812-8DC3-C2FAA9CAD329}" type="pres">
      <dgm:prSet presAssocID="{C158E602-1FC6-4587-891A-F909CACCFD99}" presName="hierChild5" presStyleCnt="0"/>
      <dgm:spPr/>
    </dgm:pt>
    <dgm:pt modelId="{13495EE3-26FA-4AD6-8572-6D18709F3237}" type="pres">
      <dgm:prSet presAssocID="{4E91DFEB-5C92-4ED8-940A-E95BBBA50EF0}" presName="Name37" presStyleLbl="parChTrans1D2" presStyleIdx="3" presStyleCnt="4"/>
      <dgm:spPr/>
      <dgm:t>
        <a:bodyPr/>
        <a:lstStyle/>
        <a:p>
          <a:endParaRPr lang="zh-CN" altLang="en-US"/>
        </a:p>
      </dgm:t>
    </dgm:pt>
    <dgm:pt modelId="{5615943B-F503-40B9-B871-861971EA9426}" type="pres">
      <dgm:prSet presAssocID="{35146C74-DA57-49FC-9182-97EB5BA3E4A0}" presName="hierRoot2" presStyleCnt="0">
        <dgm:presLayoutVars>
          <dgm:hierBranch val="init"/>
        </dgm:presLayoutVars>
      </dgm:prSet>
      <dgm:spPr/>
    </dgm:pt>
    <dgm:pt modelId="{103565DE-45D6-48DA-B9CE-7FD002FCAC7B}" type="pres">
      <dgm:prSet presAssocID="{35146C74-DA57-49FC-9182-97EB5BA3E4A0}" presName="rootComposite" presStyleCnt="0"/>
      <dgm:spPr/>
    </dgm:pt>
    <dgm:pt modelId="{A360E26B-3CC0-44BC-8E53-1904E2B78396}" type="pres">
      <dgm:prSet presAssocID="{35146C74-DA57-49FC-9182-97EB5BA3E4A0}" presName="rootText" presStyleLbl="node2" presStyleIdx="3" presStyleCnt="4" custLinFactNeighborY="-78596">
        <dgm:presLayoutVars>
          <dgm:chPref val="3"/>
        </dgm:presLayoutVars>
      </dgm:prSet>
      <dgm:spPr/>
      <dgm:t>
        <a:bodyPr/>
        <a:lstStyle/>
        <a:p>
          <a:endParaRPr lang="zh-CN" altLang="en-US"/>
        </a:p>
      </dgm:t>
    </dgm:pt>
    <dgm:pt modelId="{BE76C1B3-8CD5-47B0-82D0-126FB2B80EE4}" type="pres">
      <dgm:prSet presAssocID="{35146C74-DA57-49FC-9182-97EB5BA3E4A0}" presName="rootConnector" presStyleLbl="node2" presStyleIdx="3" presStyleCnt="4"/>
      <dgm:spPr/>
      <dgm:t>
        <a:bodyPr/>
        <a:lstStyle/>
        <a:p>
          <a:endParaRPr lang="zh-CN" altLang="en-US"/>
        </a:p>
      </dgm:t>
    </dgm:pt>
    <dgm:pt modelId="{E0FC616F-3902-49C3-BD11-77FEC347FB36}" type="pres">
      <dgm:prSet presAssocID="{35146C74-DA57-49FC-9182-97EB5BA3E4A0}" presName="hierChild4" presStyleCnt="0"/>
      <dgm:spPr/>
    </dgm:pt>
    <dgm:pt modelId="{72B2F569-AEF6-4A2B-818D-9EE2FC74C6CC}" type="pres">
      <dgm:prSet presAssocID="{35146C74-DA57-49FC-9182-97EB5BA3E4A0}" presName="hierChild5" presStyleCnt="0"/>
      <dgm:spPr/>
    </dgm:pt>
    <dgm:pt modelId="{FAA2FA0E-2CE1-4D48-9424-56A03A017D0B}" type="pres">
      <dgm:prSet presAssocID="{8C5A759D-8758-442E-AAA5-9D18181A1918}" presName="hierChild3" presStyleCnt="0"/>
      <dgm:spPr/>
    </dgm:pt>
  </dgm:ptLst>
  <dgm:cxnLst>
    <dgm:cxn modelId="{EAD252EB-94BB-47D7-BA40-21CD18F82EF4}" srcId="{75A083A4-2D37-4B0B-9255-D685588C0943}" destId="{8C5A759D-8758-442E-AAA5-9D18181A1918}" srcOrd="0" destOrd="0" parTransId="{155EFF51-8C79-4C7C-BFC6-A750768BAE70}" sibTransId="{4BA7D174-BBCC-4C7B-97BE-FC9DDF55AF0F}"/>
    <dgm:cxn modelId="{9049055E-FEF3-4CB8-9EA4-295D023AB91B}" type="presOf" srcId="{35146C74-DA57-49FC-9182-97EB5BA3E4A0}" destId="{A360E26B-3CC0-44BC-8E53-1904E2B78396}" srcOrd="0" destOrd="0" presId="urn:microsoft.com/office/officeart/2005/8/layout/orgChart1"/>
    <dgm:cxn modelId="{FDABB649-7ED3-425B-AC66-6072E714EE3A}" srcId="{8C5A759D-8758-442E-AAA5-9D18181A1918}" destId="{C158E602-1FC6-4587-891A-F909CACCFD99}" srcOrd="2" destOrd="0" parTransId="{0375B441-57BB-46E3-A499-37F7B3374879}" sibTransId="{CAD6F472-A148-46EF-97D2-08CB676A1BCB}"/>
    <dgm:cxn modelId="{CE24515E-23C2-436C-8EE1-FE0A1CC17E81}" type="presOf" srcId="{75A083A4-2D37-4B0B-9255-D685588C0943}" destId="{BBBAD7E8-32BD-4551-BF67-A169696FB868}" srcOrd="0" destOrd="0" presId="urn:microsoft.com/office/officeart/2005/8/layout/orgChart1"/>
    <dgm:cxn modelId="{3B1A3BE1-E0B8-450D-944F-BEE5A3584F5F}" type="presOf" srcId="{8C5A759D-8758-442E-AAA5-9D18181A1918}" destId="{01D515FD-99E9-48F0-8366-6A803C5B7D7C}" srcOrd="1" destOrd="0" presId="urn:microsoft.com/office/officeart/2005/8/layout/orgChart1"/>
    <dgm:cxn modelId="{E704F857-CB0D-44EB-B28F-2E02B531BAAE}" type="presOf" srcId="{8C5A759D-8758-442E-AAA5-9D18181A1918}" destId="{5577373F-6A35-4E99-800C-3E3838126B2F}" srcOrd="0" destOrd="0" presId="urn:microsoft.com/office/officeart/2005/8/layout/orgChart1"/>
    <dgm:cxn modelId="{6BA106FD-12BE-44D5-AF73-AB850D85CF99}" type="presOf" srcId="{76EF6518-1EC8-4071-8359-D41F8325FEC0}" destId="{770D9E2B-EA18-4B36-A1BD-BD1665D2A336}" srcOrd="0" destOrd="0" presId="urn:microsoft.com/office/officeart/2005/8/layout/orgChart1"/>
    <dgm:cxn modelId="{51A3DC9B-114F-4AE0-A1AE-E9F45FFFA040}" type="presOf" srcId="{EDD5BF15-8EA9-4214-B250-B8301FB41681}" destId="{BD95AFED-3005-4840-8619-7A92C665843C}" srcOrd="0" destOrd="0" presId="urn:microsoft.com/office/officeart/2005/8/layout/orgChart1"/>
    <dgm:cxn modelId="{23805EB5-2BAB-4F49-BB45-38E3DC6674A4}" type="presOf" srcId="{46BCD4FB-C6E5-4C7B-967D-3107BCE2E057}" destId="{A1760BB4-E99C-40B1-88FA-AF71DBC82B79}" srcOrd="0" destOrd="0" presId="urn:microsoft.com/office/officeart/2005/8/layout/orgChart1"/>
    <dgm:cxn modelId="{E669A823-B0D6-450B-AA70-34617715EE84}" srcId="{8C5A759D-8758-442E-AAA5-9D18181A1918}" destId="{B07AA598-7EF9-4FD0-83F9-B2DFEE3EAF97}" srcOrd="0" destOrd="0" parTransId="{46BCD4FB-C6E5-4C7B-967D-3107BCE2E057}" sibTransId="{21079A83-9308-4A56-8929-0CDCF7F6F500}"/>
    <dgm:cxn modelId="{CB43B795-8996-4022-AB46-9F78A703B0A7}" srcId="{8C5A759D-8758-442E-AAA5-9D18181A1918}" destId="{35146C74-DA57-49FC-9182-97EB5BA3E4A0}" srcOrd="3" destOrd="0" parTransId="{4E91DFEB-5C92-4ED8-940A-E95BBBA50EF0}" sibTransId="{FAA98112-723B-4EF6-9306-FDCBB9CE9FA5}"/>
    <dgm:cxn modelId="{5BA62920-BDC3-44BD-AD9F-6E517750776A}" type="presOf" srcId="{B07AA598-7EF9-4FD0-83F9-B2DFEE3EAF97}" destId="{E0D0D56B-A6D1-4D0E-8753-C3CEED07E960}" srcOrd="1" destOrd="0" presId="urn:microsoft.com/office/officeart/2005/8/layout/orgChart1"/>
    <dgm:cxn modelId="{951709B5-FA41-4F73-8475-1DC29BB735C5}" srcId="{8C5A759D-8758-442E-AAA5-9D18181A1918}" destId="{EDD5BF15-8EA9-4214-B250-B8301FB41681}" srcOrd="1" destOrd="0" parTransId="{76EF6518-1EC8-4071-8359-D41F8325FEC0}" sibTransId="{5CDD0D1A-727C-48E7-83A9-60249713B981}"/>
    <dgm:cxn modelId="{82A4A0C0-82E2-4C89-A7CC-6BAF538E533D}" type="presOf" srcId="{4E91DFEB-5C92-4ED8-940A-E95BBBA50EF0}" destId="{13495EE3-26FA-4AD6-8572-6D18709F3237}" srcOrd="0" destOrd="0" presId="urn:microsoft.com/office/officeart/2005/8/layout/orgChart1"/>
    <dgm:cxn modelId="{38501F3D-4E53-4002-BCCB-52CABCAD9BD8}" type="presOf" srcId="{C158E602-1FC6-4587-891A-F909CACCFD99}" destId="{5C04A865-1E06-411D-A557-2B6D89918437}" srcOrd="1" destOrd="0" presId="urn:microsoft.com/office/officeart/2005/8/layout/orgChart1"/>
    <dgm:cxn modelId="{F9897B07-E49D-450D-8C29-4F8819D1FFAB}" type="presOf" srcId="{C158E602-1FC6-4587-891A-F909CACCFD99}" destId="{854D2305-F4EE-4AD6-92DB-D95F41DA9781}" srcOrd="0" destOrd="0" presId="urn:microsoft.com/office/officeart/2005/8/layout/orgChart1"/>
    <dgm:cxn modelId="{BA777C37-0BB6-48E8-BB05-05A8CE9E3FEF}" type="presOf" srcId="{EDD5BF15-8EA9-4214-B250-B8301FB41681}" destId="{4868349A-7D65-4F02-9EE7-23B255ABC1DA}" srcOrd="1" destOrd="0" presId="urn:microsoft.com/office/officeart/2005/8/layout/orgChart1"/>
    <dgm:cxn modelId="{818A6E94-1C44-4730-B25B-D155B55A57E2}" type="presOf" srcId="{B07AA598-7EF9-4FD0-83F9-B2DFEE3EAF97}" destId="{02D8927B-468C-48C7-B616-9BBFC1B59F11}" srcOrd="0" destOrd="0" presId="urn:microsoft.com/office/officeart/2005/8/layout/orgChart1"/>
    <dgm:cxn modelId="{6514E1A6-6DCB-4B66-B4C5-D55A042AF574}" type="presOf" srcId="{35146C74-DA57-49FC-9182-97EB5BA3E4A0}" destId="{BE76C1B3-8CD5-47B0-82D0-126FB2B80EE4}" srcOrd="1" destOrd="0" presId="urn:microsoft.com/office/officeart/2005/8/layout/orgChart1"/>
    <dgm:cxn modelId="{A2CEF8C3-73C5-4692-812A-29DC69D41268}" type="presOf" srcId="{0375B441-57BB-46E3-A499-37F7B3374879}" destId="{F34D7894-C98B-4D52-BBF2-D4954739F3C8}" srcOrd="0" destOrd="0" presId="urn:microsoft.com/office/officeart/2005/8/layout/orgChart1"/>
    <dgm:cxn modelId="{622E8EBA-852B-44EF-9649-88F81A881689}" type="presParOf" srcId="{BBBAD7E8-32BD-4551-BF67-A169696FB868}" destId="{B6089E60-EFE6-4FF0-ACBF-7C0DA216B0BC}" srcOrd="0" destOrd="0" presId="urn:microsoft.com/office/officeart/2005/8/layout/orgChart1"/>
    <dgm:cxn modelId="{38273C0A-9F37-4B7A-9AC8-4460F28E64FA}" type="presParOf" srcId="{B6089E60-EFE6-4FF0-ACBF-7C0DA216B0BC}" destId="{5F27B3C6-B363-40AB-A7AE-6928F261DB17}" srcOrd="0" destOrd="0" presId="urn:microsoft.com/office/officeart/2005/8/layout/orgChart1"/>
    <dgm:cxn modelId="{DD9D0870-1CF5-4AD1-87A8-005138F4BB66}" type="presParOf" srcId="{5F27B3C6-B363-40AB-A7AE-6928F261DB17}" destId="{5577373F-6A35-4E99-800C-3E3838126B2F}" srcOrd="0" destOrd="0" presId="urn:microsoft.com/office/officeart/2005/8/layout/orgChart1"/>
    <dgm:cxn modelId="{B6A7A98B-A158-4FD5-A1F5-E0CEDB828C6B}" type="presParOf" srcId="{5F27B3C6-B363-40AB-A7AE-6928F261DB17}" destId="{01D515FD-99E9-48F0-8366-6A803C5B7D7C}" srcOrd="1" destOrd="0" presId="urn:microsoft.com/office/officeart/2005/8/layout/orgChart1"/>
    <dgm:cxn modelId="{4EA96376-0ADC-46A9-83C3-7BF23CACB811}" type="presParOf" srcId="{B6089E60-EFE6-4FF0-ACBF-7C0DA216B0BC}" destId="{A92175FF-4AF5-4328-9EAE-FBC7569A7F58}" srcOrd="1" destOrd="0" presId="urn:microsoft.com/office/officeart/2005/8/layout/orgChart1"/>
    <dgm:cxn modelId="{8F0C887F-D9B8-49CA-AFBE-227AFE7E63FA}" type="presParOf" srcId="{A92175FF-4AF5-4328-9EAE-FBC7569A7F58}" destId="{A1760BB4-E99C-40B1-88FA-AF71DBC82B79}" srcOrd="0" destOrd="0" presId="urn:microsoft.com/office/officeart/2005/8/layout/orgChart1"/>
    <dgm:cxn modelId="{890D09FC-5DC6-4F1F-8515-34AD47969466}" type="presParOf" srcId="{A92175FF-4AF5-4328-9EAE-FBC7569A7F58}" destId="{CB375C58-30E7-4F0E-96D2-B0B77BF09F73}" srcOrd="1" destOrd="0" presId="urn:microsoft.com/office/officeart/2005/8/layout/orgChart1"/>
    <dgm:cxn modelId="{4A6381EA-2C1B-410F-B994-640E830AAD26}" type="presParOf" srcId="{CB375C58-30E7-4F0E-96D2-B0B77BF09F73}" destId="{36477285-C406-4F5D-982F-BB24AB1C2BD6}" srcOrd="0" destOrd="0" presId="urn:microsoft.com/office/officeart/2005/8/layout/orgChart1"/>
    <dgm:cxn modelId="{31418E86-BED8-4864-BFC2-BBA3AC9A7263}" type="presParOf" srcId="{36477285-C406-4F5D-982F-BB24AB1C2BD6}" destId="{02D8927B-468C-48C7-B616-9BBFC1B59F11}" srcOrd="0" destOrd="0" presId="urn:microsoft.com/office/officeart/2005/8/layout/orgChart1"/>
    <dgm:cxn modelId="{D8E03A49-AFD6-483F-9E90-77570B9E70D9}" type="presParOf" srcId="{36477285-C406-4F5D-982F-BB24AB1C2BD6}" destId="{E0D0D56B-A6D1-4D0E-8753-C3CEED07E960}" srcOrd="1" destOrd="0" presId="urn:microsoft.com/office/officeart/2005/8/layout/orgChart1"/>
    <dgm:cxn modelId="{CAEA08B9-731C-40B5-861A-525E318C2CFB}" type="presParOf" srcId="{CB375C58-30E7-4F0E-96D2-B0B77BF09F73}" destId="{8DA98542-9807-426E-A71E-74413C3B77D8}" srcOrd="1" destOrd="0" presId="urn:microsoft.com/office/officeart/2005/8/layout/orgChart1"/>
    <dgm:cxn modelId="{BD53AE93-58DB-422B-A095-A98699F36E82}" type="presParOf" srcId="{CB375C58-30E7-4F0E-96D2-B0B77BF09F73}" destId="{F1CEE673-4F48-4BAD-9CAB-353EB4DB15A2}" srcOrd="2" destOrd="0" presId="urn:microsoft.com/office/officeart/2005/8/layout/orgChart1"/>
    <dgm:cxn modelId="{F5185AA9-D4CF-465F-B868-DF1C251E1EAC}" type="presParOf" srcId="{A92175FF-4AF5-4328-9EAE-FBC7569A7F58}" destId="{770D9E2B-EA18-4B36-A1BD-BD1665D2A336}" srcOrd="2" destOrd="0" presId="urn:microsoft.com/office/officeart/2005/8/layout/orgChart1"/>
    <dgm:cxn modelId="{A6695C2E-5911-4DF5-AFEF-6CC9B65B54FE}" type="presParOf" srcId="{A92175FF-4AF5-4328-9EAE-FBC7569A7F58}" destId="{FA2125F8-3026-4680-9939-9D1B413A096A}" srcOrd="3" destOrd="0" presId="urn:microsoft.com/office/officeart/2005/8/layout/orgChart1"/>
    <dgm:cxn modelId="{319B0A19-8076-4812-9F21-40ECAB1111C3}" type="presParOf" srcId="{FA2125F8-3026-4680-9939-9D1B413A096A}" destId="{EC63478E-E864-490D-B29D-5EB702E76047}" srcOrd="0" destOrd="0" presId="urn:microsoft.com/office/officeart/2005/8/layout/orgChart1"/>
    <dgm:cxn modelId="{EACFA39B-E409-4748-8DAF-C7990ED15F79}" type="presParOf" srcId="{EC63478E-E864-490D-B29D-5EB702E76047}" destId="{BD95AFED-3005-4840-8619-7A92C665843C}" srcOrd="0" destOrd="0" presId="urn:microsoft.com/office/officeart/2005/8/layout/orgChart1"/>
    <dgm:cxn modelId="{F8EBC48D-9896-46B9-853F-02A4C75243A6}" type="presParOf" srcId="{EC63478E-E864-490D-B29D-5EB702E76047}" destId="{4868349A-7D65-4F02-9EE7-23B255ABC1DA}" srcOrd="1" destOrd="0" presId="urn:microsoft.com/office/officeart/2005/8/layout/orgChart1"/>
    <dgm:cxn modelId="{07A41EC7-79DC-41C1-B55C-FDE8487B772F}" type="presParOf" srcId="{FA2125F8-3026-4680-9939-9D1B413A096A}" destId="{403BF939-B976-49E6-A350-067D9F1C45DE}" srcOrd="1" destOrd="0" presId="urn:microsoft.com/office/officeart/2005/8/layout/orgChart1"/>
    <dgm:cxn modelId="{7D72588B-4301-4A14-9849-B8B8C17A395D}" type="presParOf" srcId="{FA2125F8-3026-4680-9939-9D1B413A096A}" destId="{C7477EAB-48AF-403C-B74D-7086971DBF7D}" srcOrd="2" destOrd="0" presId="urn:microsoft.com/office/officeart/2005/8/layout/orgChart1"/>
    <dgm:cxn modelId="{0045FFF2-7860-4AEE-995C-7B8A205885EF}" type="presParOf" srcId="{A92175FF-4AF5-4328-9EAE-FBC7569A7F58}" destId="{F34D7894-C98B-4D52-BBF2-D4954739F3C8}" srcOrd="4" destOrd="0" presId="urn:microsoft.com/office/officeart/2005/8/layout/orgChart1"/>
    <dgm:cxn modelId="{B5210A05-3AC4-4F89-9D7C-CC390B00BFD1}" type="presParOf" srcId="{A92175FF-4AF5-4328-9EAE-FBC7569A7F58}" destId="{85A25F6D-4A97-4011-ADF5-4B778581140E}" srcOrd="5" destOrd="0" presId="urn:microsoft.com/office/officeart/2005/8/layout/orgChart1"/>
    <dgm:cxn modelId="{9A687842-B7FD-4F2E-96C0-ED2691C21B57}" type="presParOf" srcId="{85A25F6D-4A97-4011-ADF5-4B778581140E}" destId="{BDFE4A88-B3B4-4DCC-ABB4-B6F567BD3B68}" srcOrd="0" destOrd="0" presId="urn:microsoft.com/office/officeart/2005/8/layout/orgChart1"/>
    <dgm:cxn modelId="{F456DFC8-77FE-404B-AFAE-7BA99C8336F4}" type="presParOf" srcId="{BDFE4A88-B3B4-4DCC-ABB4-B6F567BD3B68}" destId="{854D2305-F4EE-4AD6-92DB-D95F41DA9781}" srcOrd="0" destOrd="0" presId="urn:microsoft.com/office/officeart/2005/8/layout/orgChart1"/>
    <dgm:cxn modelId="{C89751AB-689E-43B3-83B7-2331AF78ED6E}" type="presParOf" srcId="{BDFE4A88-B3B4-4DCC-ABB4-B6F567BD3B68}" destId="{5C04A865-1E06-411D-A557-2B6D89918437}" srcOrd="1" destOrd="0" presId="urn:microsoft.com/office/officeart/2005/8/layout/orgChart1"/>
    <dgm:cxn modelId="{F3E89527-50EF-423C-8E72-AC72CC627BAB}" type="presParOf" srcId="{85A25F6D-4A97-4011-ADF5-4B778581140E}" destId="{D6269778-EDAD-4413-96CC-1E49EB2E7A22}" srcOrd="1" destOrd="0" presId="urn:microsoft.com/office/officeart/2005/8/layout/orgChart1"/>
    <dgm:cxn modelId="{8D47BC02-7644-42DA-8F2D-4D3136B59DC9}" type="presParOf" srcId="{85A25F6D-4A97-4011-ADF5-4B778581140E}" destId="{61BA350F-D02D-4812-8DC3-C2FAA9CAD329}" srcOrd="2" destOrd="0" presId="urn:microsoft.com/office/officeart/2005/8/layout/orgChart1"/>
    <dgm:cxn modelId="{343AE9F9-3689-4E3F-B157-413DDF1A5094}" type="presParOf" srcId="{A92175FF-4AF5-4328-9EAE-FBC7569A7F58}" destId="{13495EE3-26FA-4AD6-8572-6D18709F3237}" srcOrd="6" destOrd="0" presId="urn:microsoft.com/office/officeart/2005/8/layout/orgChart1"/>
    <dgm:cxn modelId="{F5C1F45C-BD8C-43DA-BE94-54AF58E9B7CC}" type="presParOf" srcId="{A92175FF-4AF5-4328-9EAE-FBC7569A7F58}" destId="{5615943B-F503-40B9-B871-861971EA9426}" srcOrd="7" destOrd="0" presId="urn:microsoft.com/office/officeart/2005/8/layout/orgChart1"/>
    <dgm:cxn modelId="{71179C2F-802E-4167-A3DE-ECCA15E63080}" type="presParOf" srcId="{5615943B-F503-40B9-B871-861971EA9426}" destId="{103565DE-45D6-48DA-B9CE-7FD002FCAC7B}" srcOrd="0" destOrd="0" presId="urn:microsoft.com/office/officeart/2005/8/layout/orgChart1"/>
    <dgm:cxn modelId="{AC728AEC-A273-4A41-AEA0-48CDF37F9EA6}" type="presParOf" srcId="{103565DE-45D6-48DA-B9CE-7FD002FCAC7B}" destId="{A360E26B-3CC0-44BC-8E53-1904E2B78396}" srcOrd="0" destOrd="0" presId="urn:microsoft.com/office/officeart/2005/8/layout/orgChart1"/>
    <dgm:cxn modelId="{7762B331-7033-4B7B-A553-15B11F3C5BEE}" type="presParOf" srcId="{103565DE-45D6-48DA-B9CE-7FD002FCAC7B}" destId="{BE76C1B3-8CD5-47B0-82D0-126FB2B80EE4}" srcOrd="1" destOrd="0" presId="urn:microsoft.com/office/officeart/2005/8/layout/orgChart1"/>
    <dgm:cxn modelId="{1AC7D958-0762-434E-99A8-1813DF201790}" type="presParOf" srcId="{5615943B-F503-40B9-B871-861971EA9426}" destId="{E0FC616F-3902-49C3-BD11-77FEC347FB36}" srcOrd="1" destOrd="0" presId="urn:microsoft.com/office/officeart/2005/8/layout/orgChart1"/>
    <dgm:cxn modelId="{03F4414D-6CA8-4E3A-B253-6395FC3CFE6A}" type="presParOf" srcId="{5615943B-F503-40B9-B871-861971EA9426}" destId="{72B2F569-AEF6-4A2B-818D-9EE2FC74C6CC}" srcOrd="2" destOrd="0" presId="urn:microsoft.com/office/officeart/2005/8/layout/orgChart1"/>
    <dgm:cxn modelId="{039FB974-7B8A-4A30-B264-02CACD68D258}" type="presParOf" srcId="{B6089E60-EFE6-4FF0-ACBF-7C0DA216B0BC}" destId="{FAA2FA0E-2CE1-4D48-9424-56A03A017D0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5A083A4-2D37-4B0B-9255-D685588C0943}" type="doc">
      <dgm:prSet loTypeId="urn:microsoft.com/office/officeart/2005/8/layout/orgChart1" loCatId="hierarchy" qsTypeId="urn:microsoft.com/office/officeart/2005/8/quickstyle/simple1#11" qsCatId="simple" csTypeId="urn:microsoft.com/office/officeart/2005/8/colors/accent1_2#11" csCatId="accent1" phldr="1"/>
      <dgm:spPr/>
      <dgm:t>
        <a:bodyPr/>
        <a:lstStyle/>
        <a:p>
          <a:endParaRPr lang="en-US"/>
        </a:p>
      </dgm:t>
    </dgm:pt>
    <dgm:pt modelId="{8C5A759D-8758-442E-AAA5-9D18181A1918}">
      <dgm:prSet phldrT="[Text]" custT="1"/>
      <dgm:spPr/>
      <dgm:t>
        <a:bodyPr/>
        <a:lstStyle/>
        <a:p>
          <a:r>
            <a:rPr lang="zh-CN" altLang="en-US" sz="3200" dirty="0" smtClean="0">
              <a:solidFill>
                <a:srgbClr val="000000"/>
              </a:solidFill>
            </a:rPr>
            <a:t>时延</a:t>
          </a:r>
          <a:endParaRPr lang="en-US" sz="3200" dirty="0">
            <a:solidFill>
              <a:srgbClr val="000000"/>
            </a:solidFill>
          </a:endParaRPr>
        </a:p>
      </dgm:t>
    </dgm:pt>
    <dgm:pt modelId="{155EFF51-8C79-4C7C-BFC6-A750768BAE70}" type="parTrans" cxnId="{EAD252EB-94BB-47D7-BA40-21CD18F82EF4}">
      <dgm:prSet/>
      <dgm:spPr/>
      <dgm:t>
        <a:bodyPr/>
        <a:lstStyle/>
        <a:p>
          <a:endParaRPr lang="en-US"/>
        </a:p>
      </dgm:t>
    </dgm:pt>
    <dgm:pt modelId="{4BA7D174-BBCC-4C7B-97BE-FC9DDF55AF0F}" type="sibTrans" cxnId="{EAD252EB-94BB-47D7-BA40-21CD18F82EF4}">
      <dgm:prSet/>
      <dgm:spPr/>
      <dgm:t>
        <a:bodyPr/>
        <a:lstStyle/>
        <a:p>
          <a:endParaRPr lang="en-US"/>
        </a:p>
      </dgm:t>
    </dgm:pt>
    <dgm:pt modelId="{B07AA598-7EF9-4FD0-83F9-B2DFEE3EAF97}">
      <dgm:prSet phldrT="[Text]"/>
      <dgm:spPr/>
      <dgm:t>
        <a:bodyPr/>
        <a:lstStyle/>
        <a:p>
          <a:r>
            <a:rPr lang="en-US" altLang="zh-CN" dirty="0">
              <a:solidFill>
                <a:srgbClr val="000000"/>
              </a:solidFill>
            </a:rPr>
            <a:t>*</a:t>
          </a:r>
          <a:r>
            <a:rPr lang="zh-CN" altLang="en-US" dirty="0">
              <a:solidFill>
                <a:srgbClr val="000000"/>
              </a:solidFill>
            </a:rPr>
            <a:t>发送时延</a:t>
          </a:r>
          <a:endParaRPr lang="en-US" dirty="0">
            <a:solidFill>
              <a:srgbClr val="000000"/>
            </a:solidFill>
          </a:endParaRPr>
        </a:p>
      </dgm:t>
    </dgm:pt>
    <dgm:pt modelId="{46BCD4FB-C6E5-4C7B-967D-3107BCE2E057}" type="parTrans" cxnId="{E669A823-B0D6-450B-AA70-34617715EE84}">
      <dgm:prSet/>
      <dgm:spPr/>
      <dgm:t>
        <a:bodyPr/>
        <a:lstStyle/>
        <a:p>
          <a:endParaRPr lang="en-US"/>
        </a:p>
      </dgm:t>
    </dgm:pt>
    <dgm:pt modelId="{21079A83-9308-4A56-8929-0CDCF7F6F500}" type="sibTrans" cxnId="{E669A823-B0D6-450B-AA70-34617715EE84}">
      <dgm:prSet/>
      <dgm:spPr/>
      <dgm:t>
        <a:bodyPr/>
        <a:lstStyle/>
        <a:p>
          <a:endParaRPr lang="en-US"/>
        </a:p>
      </dgm:t>
    </dgm:pt>
    <dgm:pt modelId="{EDD5BF15-8EA9-4214-B250-B8301FB41681}">
      <dgm:prSet phldrT="[Text]"/>
      <dgm:spPr/>
      <dgm:t>
        <a:bodyPr/>
        <a:lstStyle/>
        <a:p>
          <a:r>
            <a:rPr lang="en-US" altLang="zh-CN" dirty="0">
              <a:solidFill>
                <a:srgbClr val="000000"/>
              </a:solidFill>
            </a:rPr>
            <a:t>*</a:t>
          </a:r>
          <a:r>
            <a:rPr lang="zh-CN" altLang="en-US" dirty="0">
              <a:solidFill>
                <a:srgbClr val="000000"/>
              </a:solidFill>
            </a:rPr>
            <a:t>传播时延</a:t>
          </a:r>
          <a:endParaRPr lang="en-US" dirty="0">
            <a:solidFill>
              <a:srgbClr val="000000"/>
            </a:solidFill>
          </a:endParaRPr>
        </a:p>
      </dgm:t>
    </dgm:pt>
    <dgm:pt modelId="{76EF6518-1EC8-4071-8359-D41F8325FEC0}" type="parTrans" cxnId="{951709B5-FA41-4F73-8475-1DC29BB735C5}">
      <dgm:prSet/>
      <dgm:spPr/>
      <dgm:t>
        <a:bodyPr/>
        <a:lstStyle/>
        <a:p>
          <a:endParaRPr lang="en-US"/>
        </a:p>
      </dgm:t>
    </dgm:pt>
    <dgm:pt modelId="{5CDD0D1A-727C-48E7-83A9-60249713B981}" type="sibTrans" cxnId="{951709B5-FA41-4F73-8475-1DC29BB735C5}">
      <dgm:prSet/>
      <dgm:spPr/>
      <dgm:t>
        <a:bodyPr/>
        <a:lstStyle/>
        <a:p>
          <a:endParaRPr lang="en-US"/>
        </a:p>
      </dgm:t>
    </dgm:pt>
    <dgm:pt modelId="{C158E602-1FC6-4587-891A-F909CACCFD99}">
      <dgm:prSet phldrT="[Text]"/>
      <dgm:spPr/>
      <dgm:t>
        <a:bodyPr/>
        <a:lstStyle/>
        <a:p>
          <a:r>
            <a:rPr lang="zh-CN" altLang="en-US" dirty="0">
              <a:solidFill>
                <a:srgbClr val="000000"/>
              </a:solidFill>
            </a:rPr>
            <a:t>处理时延</a:t>
          </a:r>
          <a:endParaRPr lang="en-US" dirty="0">
            <a:solidFill>
              <a:srgbClr val="000000"/>
            </a:solidFill>
          </a:endParaRPr>
        </a:p>
      </dgm:t>
    </dgm:pt>
    <dgm:pt modelId="{0375B441-57BB-46E3-A499-37F7B3374879}" type="parTrans" cxnId="{FDABB649-7ED3-425B-AC66-6072E714EE3A}">
      <dgm:prSet/>
      <dgm:spPr/>
      <dgm:t>
        <a:bodyPr/>
        <a:lstStyle/>
        <a:p>
          <a:endParaRPr lang="en-US"/>
        </a:p>
      </dgm:t>
    </dgm:pt>
    <dgm:pt modelId="{CAD6F472-A148-46EF-97D2-08CB676A1BCB}" type="sibTrans" cxnId="{FDABB649-7ED3-425B-AC66-6072E714EE3A}">
      <dgm:prSet/>
      <dgm:spPr/>
      <dgm:t>
        <a:bodyPr/>
        <a:lstStyle/>
        <a:p>
          <a:endParaRPr lang="en-US"/>
        </a:p>
      </dgm:t>
    </dgm:pt>
    <dgm:pt modelId="{35146C74-DA57-49FC-9182-97EB5BA3E4A0}">
      <dgm:prSet phldrT="[Text]"/>
      <dgm:spPr/>
      <dgm:t>
        <a:bodyPr/>
        <a:lstStyle/>
        <a:p>
          <a:r>
            <a:rPr lang="zh-CN" altLang="en-US" dirty="0">
              <a:solidFill>
                <a:srgbClr val="000000"/>
              </a:solidFill>
            </a:rPr>
            <a:t>排队时延</a:t>
          </a:r>
          <a:endParaRPr lang="en-US" dirty="0">
            <a:solidFill>
              <a:srgbClr val="000000"/>
            </a:solidFill>
          </a:endParaRPr>
        </a:p>
      </dgm:t>
    </dgm:pt>
    <dgm:pt modelId="{4E91DFEB-5C92-4ED8-940A-E95BBBA50EF0}" type="parTrans" cxnId="{CB43B795-8996-4022-AB46-9F78A703B0A7}">
      <dgm:prSet/>
      <dgm:spPr/>
      <dgm:t>
        <a:bodyPr/>
        <a:lstStyle/>
        <a:p>
          <a:endParaRPr lang="en-US"/>
        </a:p>
      </dgm:t>
    </dgm:pt>
    <dgm:pt modelId="{FAA98112-723B-4EF6-9306-FDCBB9CE9FA5}" type="sibTrans" cxnId="{CB43B795-8996-4022-AB46-9F78A703B0A7}">
      <dgm:prSet/>
      <dgm:spPr/>
      <dgm:t>
        <a:bodyPr/>
        <a:lstStyle/>
        <a:p>
          <a:endParaRPr lang="en-US"/>
        </a:p>
      </dgm:t>
    </dgm:pt>
    <dgm:pt modelId="{BBBAD7E8-32BD-4551-BF67-A169696FB868}" type="pres">
      <dgm:prSet presAssocID="{75A083A4-2D37-4B0B-9255-D685588C0943}" presName="hierChild1" presStyleCnt="0">
        <dgm:presLayoutVars>
          <dgm:orgChart val="1"/>
          <dgm:chPref val="1"/>
          <dgm:dir/>
          <dgm:animOne val="branch"/>
          <dgm:animLvl val="lvl"/>
          <dgm:resizeHandles/>
        </dgm:presLayoutVars>
      </dgm:prSet>
      <dgm:spPr/>
      <dgm:t>
        <a:bodyPr/>
        <a:lstStyle/>
        <a:p>
          <a:endParaRPr lang="zh-CN" altLang="en-US"/>
        </a:p>
      </dgm:t>
    </dgm:pt>
    <dgm:pt modelId="{B6089E60-EFE6-4FF0-ACBF-7C0DA216B0BC}" type="pres">
      <dgm:prSet presAssocID="{8C5A759D-8758-442E-AAA5-9D18181A1918}" presName="hierRoot1" presStyleCnt="0">
        <dgm:presLayoutVars>
          <dgm:hierBranch val="init"/>
        </dgm:presLayoutVars>
      </dgm:prSet>
      <dgm:spPr/>
    </dgm:pt>
    <dgm:pt modelId="{5F27B3C6-B363-40AB-A7AE-6928F261DB17}" type="pres">
      <dgm:prSet presAssocID="{8C5A759D-8758-442E-AAA5-9D18181A1918}" presName="rootComposite1" presStyleCnt="0"/>
      <dgm:spPr/>
    </dgm:pt>
    <dgm:pt modelId="{5577373F-6A35-4E99-800C-3E3838126B2F}" type="pres">
      <dgm:prSet presAssocID="{8C5A759D-8758-442E-AAA5-9D18181A1918}" presName="rootText1" presStyleLbl="node0" presStyleIdx="0" presStyleCnt="1" custScaleX="133979" custScaleY="120274">
        <dgm:presLayoutVars>
          <dgm:chPref val="3"/>
        </dgm:presLayoutVars>
      </dgm:prSet>
      <dgm:spPr>
        <a:prstGeom prst="ellipse">
          <a:avLst/>
        </a:prstGeom>
      </dgm:spPr>
      <dgm:t>
        <a:bodyPr/>
        <a:lstStyle/>
        <a:p>
          <a:endParaRPr lang="zh-CN" altLang="en-US"/>
        </a:p>
      </dgm:t>
    </dgm:pt>
    <dgm:pt modelId="{01D515FD-99E9-48F0-8366-6A803C5B7D7C}" type="pres">
      <dgm:prSet presAssocID="{8C5A759D-8758-442E-AAA5-9D18181A1918}" presName="rootConnector1" presStyleLbl="node1" presStyleIdx="0" presStyleCnt="0"/>
      <dgm:spPr/>
      <dgm:t>
        <a:bodyPr/>
        <a:lstStyle/>
        <a:p>
          <a:endParaRPr lang="zh-CN" altLang="en-US"/>
        </a:p>
      </dgm:t>
    </dgm:pt>
    <dgm:pt modelId="{A92175FF-4AF5-4328-9EAE-FBC7569A7F58}" type="pres">
      <dgm:prSet presAssocID="{8C5A759D-8758-442E-AAA5-9D18181A1918}" presName="hierChild2" presStyleCnt="0"/>
      <dgm:spPr/>
    </dgm:pt>
    <dgm:pt modelId="{A1760BB4-E99C-40B1-88FA-AF71DBC82B79}" type="pres">
      <dgm:prSet presAssocID="{46BCD4FB-C6E5-4C7B-967D-3107BCE2E057}" presName="Name37" presStyleLbl="parChTrans1D2" presStyleIdx="0" presStyleCnt="4"/>
      <dgm:spPr/>
      <dgm:t>
        <a:bodyPr/>
        <a:lstStyle/>
        <a:p>
          <a:endParaRPr lang="zh-CN" altLang="en-US"/>
        </a:p>
      </dgm:t>
    </dgm:pt>
    <dgm:pt modelId="{CB375C58-30E7-4F0E-96D2-B0B77BF09F73}" type="pres">
      <dgm:prSet presAssocID="{B07AA598-7EF9-4FD0-83F9-B2DFEE3EAF97}" presName="hierRoot2" presStyleCnt="0">
        <dgm:presLayoutVars>
          <dgm:hierBranch val="init"/>
        </dgm:presLayoutVars>
      </dgm:prSet>
      <dgm:spPr/>
    </dgm:pt>
    <dgm:pt modelId="{36477285-C406-4F5D-982F-BB24AB1C2BD6}" type="pres">
      <dgm:prSet presAssocID="{B07AA598-7EF9-4FD0-83F9-B2DFEE3EAF97}" presName="rootComposite" presStyleCnt="0"/>
      <dgm:spPr/>
    </dgm:pt>
    <dgm:pt modelId="{02D8927B-468C-48C7-B616-9BBFC1B59F11}" type="pres">
      <dgm:prSet presAssocID="{B07AA598-7EF9-4FD0-83F9-B2DFEE3EAF97}" presName="rootText" presStyleLbl="node2" presStyleIdx="0" presStyleCnt="4">
        <dgm:presLayoutVars>
          <dgm:chPref val="3"/>
        </dgm:presLayoutVars>
      </dgm:prSet>
      <dgm:spPr/>
      <dgm:t>
        <a:bodyPr/>
        <a:lstStyle/>
        <a:p>
          <a:endParaRPr lang="zh-CN" altLang="en-US"/>
        </a:p>
      </dgm:t>
    </dgm:pt>
    <dgm:pt modelId="{E0D0D56B-A6D1-4D0E-8753-C3CEED07E960}" type="pres">
      <dgm:prSet presAssocID="{B07AA598-7EF9-4FD0-83F9-B2DFEE3EAF97}" presName="rootConnector" presStyleLbl="node2" presStyleIdx="0" presStyleCnt="4"/>
      <dgm:spPr/>
      <dgm:t>
        <a:bodyPr/>
        <a:lstStyle/>
        <a:p>
          <a:endParaRPr lang="zh-CN" altLang="en-US"/>
        </a:p>
      </dgm:t>
    </dgm:pt>
    <dgm:pt modelId="{8DA98542-9807-426E-A71E-74413C3B77D8}" type="pres">
      <dgm:prSet presAssocID="{B07AA598-7EF9-4FD0-83F9-B2DFEE3EAF97}" presName="hierChild4" presStyleCnt="0"/>
      <dgm:spPr/>
    </dgm:pt>
    <dgm:pt modelId="{F1CEE673-4F48-4BAD-9CAB-353EB4DB15A2}" type="pres">
      <dgm:prSet presAssocID="{B07AA598-7EF9-4FD0-83F9-B2DFEE3EAF97}" presName="hierChild5" presStyleCnt="0"/>
      <dgm:spPr/>
    </dgm:pt>
    <dgm:pt modelId="{770D9E2B-EA18-4B36-A1BD-BD1665D2A336}" type="pres">
      <dgm:prSet presAssocID="{76EF6518-1EC8-4071-8359-D41F8325FEC0}" presName="Name37" presStyleLbl="parChTrans1D2" presStyleIdx="1" presStyleCnt="4"/>
      <dgm:spPr/>
      <dgm:t>
        <a:bodyPr/>
        <a:lstStyle/>
        <a:p>
          <a:endParaRPr lang="zh-CN" altLang="en-US"/>
        </a:p>
      </dgm:t>
    </dgm:pt>
    <dgm:pt modelId="{FA2125F8-3026-4680-9939-9D1B413A096A}" type="pres">
      <dgm:prSet presAssocID="{EDD5BF15-8EA9-4214-B250-B8301FB41681}" presName="hierRoot2" presStyleCnt="0">
        <dgm:presLayoutVars>
          <dgm:hierBranch val="init"/>
        </dgm:presLayoutVars>
      </dgm:prSet>
      <dgm:spPr/>
    </dgm:pt>
    <dgm:pt modelId="{EC63478E-E864-490D-B29D-5EB702E76047}" type="pres">
      <dgm:prSet presAssocID="{EDD5BF15-8EA9-4214-B250-B8301FB41681}" presName="rootComposite" presStyleCnt="0"/>
      <dgm:spPr/>
    </dgm:pt>
    <dgm:pt modelId="{BD95AFED-3005-4840-8619-7A92C665843C}" type="pres">
      <dgm:prSet presAssocID="{EDD5BF15-8EA9-4214-B250-B8301FB41681}" presName="rootText" presStyleLbl="node2" presStyleIdx="1" presStyleCnt="4">
        <dgm:presLayoutVars>
          <dgm:chPref val="3"/>
        </dgm:presLayoutVars>
      </dgm:prSet>
      <dgm:spPr/>
      <dgm:t>
        <a:bodyPr/>
        <a:lstStyle/>
        <a:p>
          <a:endParaRPr lang="zh-CN" altLang="en-US"/>
        </a:p>
      </dgm:t>
    </dgm:pt>
    <dgm:pt modelId="{4868349A-7D65-4F02-9EE7-23B255ABC1DA}" type="pres">
      <dgm:prSet presAssocID="{EDD5BF15-8EA9-4214-B250-B8301FB41681}" presName="rootConnector" presStyleLbl="node2" presStyleIdx="1" presStyleCnt="4"/>
      <dgm:spPr/>
      <dgm:t>
        <a:bodyPr/>
        <a:lstStyle/>
        <a:p>
          <a:endParaRPr lang="zh-CN" altLang="en-US"/>
        </a:p>
      </dgm:t>
    </dgm:pt>
    <dgm:pt modelId="{403BF939-B976-49E6-A350-067D9F1C45DE}" type="pres">
      <dgm:prSet presAssocID="{EDD5BF15-8EA9-4214-B250-B8301FB41681}" presName="hierChild4" presStyleCnt="0"/>
      <dgm:spPr/>
    </dgm:pt>
    <dgm:pt modelId="{C7477EAB-48AF-403C-B74D-7086971DBF7D}" type="pres">
      <dgm:prSet presAssocID="{EDD5BF15-8EA9-4214-B250-B8301FB41681}" presName="hierChild5" presStyleCnt="0"/>
      <dgm:spPr/>
    </dgm:pt>
    <dgm:pt modelId="{F34D7894-C98B-4D52-BBF2-D4954739F3C8}" type="pres">
      <dgm:prSet presAssocID="{0375B441-57BB-46E3-A499-37F7B3374879}" presName="Name37" presStyleLbl="parChTrans1D2" presStyleIdx="2" presStyleCnt="4"/>
      <dgm:spPr/>
      <dgm:t>
        <a:bodyPr/>
        <a:lstStyle/>
        <a:p>
          <a:endParaRPr lang="zh-CN" altLang="en-US"/>
        </a:p>
      </dgm:t>
    </dgm:pt>
    <dgm:pt modelId="{85A25F6D-4A97-4011-ADF5-4B778581140E}" type="pres">
      <dgm:prSet presAssocID="{C158E602-1FC6-4587-891A-F909CACCFD99}" presName="hierRoot2" presStyleCnt="0">
        <dgm:presLayoutVars>
          <dgm:hierBranch val="init"/>
        </dgm:presLayoutVars>
      </dgm:prSet>
      <dgm:spPr/>
    </dgm:pt>
    <dgm:pt modelId="{BDFE4A88-B3B4-4DCC-ABB4-B6F567BD3B68}" type="pres">
      <dgm:prSet presAssocID="{C158E602-1FC6-4587-891A-F909CACCFD99}" presName="rootComposite" presStyleCnt="0"/>
      <dgm:spPr/>
    </dgm:pt>
    <dgm:pt modelId="{854D2305-F4EE-4AD6-92DB-D95F41DA9781}" type="pres">
      <dgm:prSet presAssocID="{C158E602-1FC6-4587-891A-F909CACCFD99}" presName="rootText" presStyleLbl="node2" presStyleIdx="2" presStyleCnt="4">
        <dgm:presLayoutVars>
          <dgm:chPref val="3"/>
        </dgm:presLayoutVars>
      </dgm:prSet>
      <dgm:spPr/>
      <dgm:t>
        <a:bodyPr/>
        <a:lstStyle/>
        <a:p>
          <a:endParaRPr lang="zh-CN" altLang="en-US"/>
        </a:p>
      </dgm:t>
    </dgm:pt>
    <dgm:pt modelId="{5C04A865-1E06-411D-A557-2B6D89918437}" type="pres">
      <dgm:prSet presAssocID="{C158E602-1FC6-4587-891A-F909CACCFD99}" presName="rootConnector" presStyleLbl="node2" presStyleIdx="2" presStyleCnt="4"/>
      <dgm:spPr/>
      <dgm:t>
        <a:bodyPr/>
        <a:lstStyle/>
        <a:p>
          <a:endParaRPr lang="zh-CN" altLang="en-US"/>
        </a:p>
      </dgm:t>
    </dgm:pt>
    <dgm:pt modelId="{D6269778-EDAD-4413-96CC-1E49EB2E7A22}" type="pres">
      <dgm:prSet presAssocID="{C158E602-1FC6-4587-891A-F909CACCFD99}" presName="hierChild4" presStyleCnt="0"/>
      <dgm:spPr/>
    </dgm:pt>
    <dgm:pt modelId="{61BA350F-D02D-4812-8DC3-C2FAA9CAD329}" type="pres">
      <dgm:prSet presAssocID="{C158E602-1FC6-4587-891A-F909CACCFD99}" presName="hierChild5" presStyleCnt="0"/>
      <dgm:spPr/>
    </dgm:pt>
    <dgm:pt modelId="{13495EE3-26FA-4AD6-8572-6D18709F3237}" type="pres">
      <dgm:prSet presAssocID="{4E91DFEB-5C92-4ED8-940A-E95BBBA50EF0}" presName="Name37" presStyleLbl="parChTrans1D2" presStyleIdx="3" presStyleCnt="4"/>
      <dgm:spPr/>
      <dgm:t>
        <a:bodyPr/>
        <a:lstStyle/>
        <a:p>
          <a:endParaRPr lang="zh-CN" altLang="en-US"/>
        </a:p>
      </dgm:t>
    </dgm:pt>
    <dgm:pt modelId="{5615943B-F503-40B9-B871-861971EA9426}" type="pres">
      <dgm:prSet presAssocID="{35146C74-DA57-49FC-9182-97EB5BA3E4A0}" presName="hierRoot2" presStyleCnt="0">
        <dgm:presLayoutVars>
          <dgm:hierBranch val="init"/>
        </dgm:presLayoutVars>
      </dgm:prSet>
      <dgm:spPr/>
    </dgm:pt>
    <dgm:pt modelId="{103565DE-45D6-48DA-B9CE-7FD002FCAC7B}" type="pres">
      <dgm:prSet presAssocID="{35146C74-DA57-49FC-9182-97EB5BA3E4A0}" presName="rootComposite" presStyleCnt="0"/>
      <dgm:spPr/>
    </dgm:pt>
    <dgm:pt modelId="{A360E26B-3CC0-44BC-8E53-1904E2B78396}" type="pres">
      <dgm:prSet presAssocID="{35146C74-DA57-49FC-9182-97EB5BA3E4A0}" presName="rootText" presStyleLbl="node2" presStyleIdx="3" presStyleCnt="4">
        <dgm:presLayoutVars>
          <dgm:chPref val="3"/>
        </dgm:presLayoutVars>
      </dgm:prSet>
      <dgm:spPr/>
      <dgm:t>
        <a:bodyPr/>
        <a:lstStyle/>
        <a:p>
          <a:endParaRPr lang="zh-CN" altLang="en-US"/>
        </a:p>
      </dgm:t>
    </dgm:pt>
    <dgm:pt modelId="{BE76C1B3-8CD5-47B0-82D0-126FB2B80EE4}" type="pres">
      <dgm:prSet presAssocID="{35146C74-DA57-49FC-9182-97EB5BA3E4A0}" presName="rootConnector" presStyleLbl="node2" presStyleIdx="3" presStyleCnt="4"/>
      <dgm:spPr/>
      <dgm:t>
        <a:bodyPr/>
        <a:lstStyle/>
        <a:p>
          <a:endParaRPr lang="zh-CN" altLang="en-US"/>
        </a:p>
      </dgm:t>
    </dgm:pt>
    <dgm:pt modelId="{E0FC616F-3902-49C3-BD11-77FEC347FB36}" type="pres">
      <dgm:prSet presAssocID="{35146C74-DA57-49FC-9182-97EB5BA3E4A0}" presName="hierChild4" presStyleCnt="0"/>
      <dgm:spPr/>
    </dgm:pt>
    <dgm:pt modelId="{72B2F569-AEF6-4A2B-818D-9EE2FC74C6CC}" type="pres">
      <dgm:prSet presAssocID="{35146C74-DA57-49FC-9182-97EB5BA3E4A0}" presName="hierChild5" presStyleCnt="0"/>
      <dgm:spPr/>
    </dgm:pt>
    <dgm:pt modelId="{FAA2FA0E-2CE1-4D48-9424-56A03A017D0B}" type="pres">
      <dgm:prSet presAssocID="{8C5A759D-8758-442E-AAA5-9D18181A1918}" presName="hierChild3" presStyleCnt="0"/>
      <dgm:spPr/>
    </dgm:pt>
  </dgm:ptLst>
  <dgm:cxnLst>
    <dgm:cxn modelId="{EAD252EB-94BB-47D7-BA40-21CD18F82EF4}" srcId="{75A083A4-2D37-4B0B-9255-D685588C0943}" destId="{8C5A759D-8758-442E-AAA5-9D18181A1918}" srcOrd="0" destOrd="0" parTransId="{155EFF51-8C79-4C7C-BFC6-A750768BAE70}" sibTransId="{4BA7D174-BBCC-4C7B-97BE-FC9DDF55AF0F}"/>
    <dgm:cxn modelId="{8A9150C3-F7AB-4970-B443-51A6B85E689A}" type="presOf" srcId="{B07AA598-7EF9-4FD0-83F9-B2DFEE3EAF97}" destId="{02D8927B-468C-48C7-B616-9BBFC1B59F11}" srcOrd="0" destOrd="0" presId="urn:microsoft.com/office/officeart/2005/8/layout/orgChart1"/>
    <dgm:cxn modelId="{5A125C97-6A17-4BCD-A3B8-CD74BDD2E61D}" type="presOf" srcId="{EDD5BF15-8EA9-4214-B250-B8301FB41681}" destId="{BD95AFED-3005-4840-8619-7A92C665843C}" srcOrd="0" destOrd="0" presId="urn:microsoft.com/office/officeart/2005/8/layout/orgChart1"/>
    <dgm:cxn modelId="{FDABB649-7ED3-425B-AC66-6072E714EE3A}" srcId="{8C5A759D-8758-442E-AAA5-9D18181A1918}" destId="{C158E602-1FC6-4587-891A-F909CACCFD99}" srcOrd="2" destOrd="0" parTransId="{0375B441-57BB-46E3-A499-37F7B3374879}" sibTransId="{CAD6F472-A148-46EF-97D2-08CB676A1BCB}"/>
    <dgm:cxn modelId="{FC75ED3F-835E-463D-8632-E8229305C216}" type="presOf" srcId="{76EF6518-1EC8-4071-8359-D41F8325FEC0}" destId="{770D9E2B-EA18-4B36-A1BD-BD1665D2A336}" srcOrd="0" destOrd="0" presId="urn:microsoft.com/office/officeart/2005/8/layout/orgChart1"/>
    <dgm:cxn modelId="{20E08599-3939-4D26-8A5E-65290805547E}" type="presOf" srcId="{8C5A759D-8758-442E-AAA5-9D18181A1918}" destId="{5577373F-6A35-4E99-800C-3E3838126B2F}" srcOrd="0" destOrd="0" presId="urn:microsoft.com/office/officeart/2005/8/layout/orgChart1"/>
    <dgm:cxn modelId="{BC1FFB20-E205-4C6F-B2BE-8C7E75E99730}" type="presOf" srcId="{EDD5BF15-8EA9-4214-B250-B8301FB41681}" destId="{4868349A-7D65-4F02-9EE7-23B255ABC1DA}" srcOrd="1" destOrd="0" presId="urn:microsoft.com/office/officeart/2005/8/layout/orgChart1"/>
    <dgm:cxn modelId="{FE146F40-965B-47C5-B0B5-833DDB5A2E5C}" type="presOf" srcId="{8C5A759D-8758-442E-AAA5-9D18181A1918}" destId="{01D515FD-99E9-48F0-8366-6A803C5B7D7C}" srcOrd="1" destOrd="0" presId="urn:microsoft.com/office/officeart/2005/8/layout/orgChart1"/>
    <dgm:cxn modelId="{397B48E0-F2C6-4784-B94C-D39272270B86}" type="presOf" srcId="{0375B441-57BB-46E3-A499-37F7B3374879}" destId="{F34D7894-C98B-4D52-BBF2-D4954739F3C8}" srcOrd="0" destOrd="0" presId="urn:microsoft.com/office/officeart/2005/8/layout/orgChart1"/>
    <dgm:cxn modelId="{9F09F4B2-1BF3-4E1D-923B-8ED99F9F1BD0}" type="presOf" srcId="{C158E602-1FC6-4587-891A-F909CACCFD99}" destId="{854D2305-F4EE-4AD6-92DB-D95F41DA9781}" srcOrd="0" destOrd="0" presId="urn:microsoft.com/office/officeart/2005/8/layout/orgChart1"/>
    <dgm:cxn modelId="{E669A823-B0D6-450B-AA70-34617715EE84}" srcId="{8C5A759D-8758-442E-AAA5-9D18181A1918}" destId="{B07AA598-7EF9-4FD0-83F9-B2DFEE3EAF97}" srcOrd="0" destOrd="0" parTransId="{46BCD4FB-C6E5-4C7B-967D-3107BCE2E057}" sibTransId="{21079A83-9308-4A56-8929-0CDCF7F6F500}"/>
    <dgm:cxn modelId="{CB43B795-8996-4022-AB46-9F78A703B0A7}" srcId="{8C5A759D-8758-442E-AAA5-9D18181A1918}" destId="{35146C74-DA57-49FC-9182-97EB5BA3E4A0}" srcOrd="3" destOrd="0" parTransId="{4E91DFEB-5C92-4ED8-940A-E95BBBA50EF0}" sibTransId="{FAA98112-723B-4EF6-9306-FDCBB9CE9FA5}"/>
    <dgm:cxn modelId="{B733EE85-2254-4CEA-A6D9-D8EB7470BECB}" type="presOf" srcId="{75A083A4-2D37-4B0B-9255-D685588C0943}" destId="{BBBAD7E8-32BD-4551-BF67-A169696FB868}" srcOrd="0" destOrd="0" presId="urn:microsoft.com/office/officeart/2005/8/layout/orgChart1"/>
    <dgm:cxn modelId="{951709B5-FA41-4F73-8475-1DC29BB735C5}" srcId="{8C5A759D-8758-442E-AAA5-9D18181A1918}" destId="{EDD5BF15-8EA9-4214-B250-B8301FB41681}" srcOrd="1" destOrd="0" parTransId="{76EF6518-1EC8-4071-8359-D41F8325FEC0}" sibTransId="{5CDD0D1A-727C-48E7-83A9-60249713B981}"/>
    <dgm:cxn modelId="{75EF9C72-4EF4-4260-AB48-1238F6B2F388}" type="presOf" srcId="{4E91DFEB-5C92-4ED8-940A-E95BBBA50EF0}" destId="{13495EE3-26FA-4AD6-8572-6D18709F3237}" srcOrd="0" destOrd="0" presId="urn:microsoft.com/office/officeart/2005/8/layout/orgChart1"/>
    <dgm:cxn modelId="{6402D667-C941-4ABD-B5DD-240111261246}" type="presOf" srcId="{B07AA598-7EF9-4FD0-83F9-B2DFEE3EAF97}" destId="{E0D0D56B-A6D1-4D0E-8753-C3CEED07E960}" srcOrd="1" destOrd="0" presId="urn:microsoft.com/office/officeart/2005/8/layout/orgChart1"/>
    <dgm:cxn modelId="{0F21B3C7-0D79-4232-87A3-793B477F7ACD}" type="presOf" srcId="{46BCD4FB-C6E5-4C7B-967D-3107BCE2E057}" destId="{A1760BB4-E99C-40B1-88FA-AF71DBC82B79}" srcOrd="0" destOrd="0" presId="urn:microsoft.com/office/officeart/2005/8/layout/orgChart1"/>
    <dgm:cxn modelId="{B9C40DB9-2A41-44A3-ABDB-04F59A2FB6CD}" type="presOf" srcId="{C158E602-1FC6-4587-891A-F909CACCFD99}" destId="{5C04A865-1E06-411D-A557-2B6D89918437}" srcOrd="1" destOrd="0" presId="urn:microsoft.com/office/officeart/2005/8/layout/orgChart1"/>
    <dgm:cxn modelId="{E3B06393-AA73-426B-9673-4CB2A80483BD}" type="presOf" srcId="{35146C74-DA57-49FC-9182-97EB5BA3E4A0}" destId="{BE76C1B3-8CD5-47B0-82D0-126FB2B80EE4}" srcOrd="1" destOrd="0" presId="urn:microsoft.com/office/officeart/2005/8/layout/orgChart1"/>
    <dgm:cxn modelId="{262CDB63-DA9C-4694-9215-91C065D307FB}" type="presOf" srcId="{35146C74-DA57-49FC-9182-97EB5BA3E4A0}" destId="{A360E26B-3CC0-44BC-8E53-1904E2B78396}" srcOrd="0" destOrd="0" presId="urn:microsoft.com/office/officeart/2005/8/layout/orgChart1"/>
    <dgm:cxn modelId="{7F539B66-48D0-426D-9765-DC462BC88577}" type="presParOf" srcId="{BBBAD7E8-32BD-4551-BF67-A169696FB868}" destId="{B6089E60-EFE6-4FF0-ACBF-7C0DA216B0BC}" srcOrd="0" destOrd="0" presId="urn:microsoft.com/office/officeart/2005/8/layout/orgChart1"/>
    <dgm:cxn modelId="{C8F50465-C324-49D4-B5D8-64A2EBA0F6E8}" type="presParOf" srcId="{B6089E60-EFE6-4FF0-ACBF-7C0DA216B0BC}" destId="{5F27B3C6-B363-40AB-A7AE-6928F261DB17}" srcOrd="0" destOrd="0" presId="urn:microsoft.com/office/officeart/2005/8/layout/orgChart1"/>
    <dgm:cxn modelId="{88387F5A-EE24-41AF-A033-CDD73D5CBB3A}" type="presParOf" srcId="{5F27B3C6-B363-40AB-A7AE-6928F261DB17}" destId="{5577373F-6A35-4E99-800C-3E3838126B2F}" srcOrd="0" destOrd="0" presId="urn:microsoft.com/office/officeart/2005/8/layout/orgChart1"/>
    <dgm:cxn modelId="{B7DAFD00-C9F5-4200-BA62-590A747FF402}" type="presParOf" srcId="{5F27B3C6-B363-40AB-A7AE-6928F261DB17}" destId="{01D515FD-99E9-48F0-8366-6A803C5B7D7C}" srcOrd="1" destOrd="0" presId="urn:microsoft.com/office/officeart/2005/8/layout/orgChart1"/>
    <dgm:cxn modelId="{4CEC76D6-3FCE-4A8D-8910-F9E4A786BA30}" type="presParOf" srcId="{B6089E60-EFE6-4FF0-ACBF-7C0DA216B0BC}" destId="{A92175FF-4AF5-4328-9EAE-FBC7569A7F58}" srcOrd="1" destOrd="0" presId="urn:microsoft.com/office/officeart/2005/8/layout/orgChart1"/>
    <dgm:cxn modelId="{BD6175BA-F259-4E4A-B40C-4CE62EA65F3E}" type="presParOf" srcId="{A92175FF-4AF5-4328-9EAE-FBC7569A7F58}" destId="{A1760BB4-E99C-40B1-88FA-AF71DBC82B79}" srcOrd="0" destOrd="0" presId="urn:microsoft.com/office/officeart/2005/8/layout/orgChart1"/>
    <dgm:cxn modelId="{CA881E60-B613-40D1-9011-83CFA47FAF37}" type="presParOf" srcId="{A92175FF-4AF5-4328-9EAE-FBC7569A7F58}" destId="{CB375C58-30E7-4F0E-96D2-B0B77BF09F73}" srcOrd="1" destOrd="0" presId="urn:microsoft.com/office/officeart/2005/8/layout/orgChart1"/>
    <dgm:cxn modelId="{8A6C0486-654B-4EDC-AC45-3564BE255911}" type="presParOf" srcId="{CB375C58-30E7-4F0E-96D2-B0B77BF09F73}" destId="{36477285-C406-4F5D-982F-BB24AB1C2BD6}" srcOrd="0" destOrd="0" presId="urn:microsoft.com/office/officeart/2005/8/layout/orgChart1"/>
    <dgm:cxn modelId="{98E6DE77-E434-42B5-9A6F-29B1870A0FD7}" type="presParOf" srcId="{36477285-C406-4F5D-982F-BB24AB1C2BD6}" destId="{02D8927B-468C-48C7-B616-9BBFC1B59F11}" srcOrd="0" destOrd="0" presId="urn:microsoft.com/office/officeart/2005/8/layout/orgChart1"/>
    <dgm:cxn modelId="{9C6DC5CA-0E31-4BB5-9E54-1FC201D3777B}" type="presParOf" srcId="{36477285-C406-4F5D-982F-BB24AB1C2BD6}" destId="{E0D0D56B-A6D1-4D0E-8753-C3CEED07E960}" srcOrd="1" destOrd="0" presId="urn:microsoft.com/office/officeart/2005/8/layout/orgChart1"/>
    <dgm:cxn modelId="{BD9DC43C-35DF-4275-9101-547414914962}" type="presParOf" srcId="{CB375C58-30E7-4F0E-96D2-B0B77BF09F73}" destId="{8DA98542-9807-426E-A71E-74413C3B77D8}" srcOrd="1" destOrd="0" presId="urn:microsoft.com/office/officeart/2005/8/layout/orgChart1"/>
    <dgm:cxn modelId="{7B6A6E58-1F73-4D43-8EA9-79E457113C72}" type="presParOf" srcId="{CB375C58-30E7-4F0E-96D2-B0B77BF09F73}" destId="{F1CEE673-4F48-4BAD-9CAB-353EB4DB15A2}" srcOrd="2" destOrd="0" presId="urn:microsoft.com/office/officeart/2005/8/layout/orgChart1"/>
    <dgm:cxn modelId="{9F155CA3-9E50-4976-84CC-7296C24A6ADD}" type="presParOf" srcId="{A92175FF-4AF5-4328-9EAE-FBC7569A7F58}" destId="{770D9E2B-EA18-4B36-A1BD-BD1665D2A336}" srcOrd="2" destOrd="0" presId="urn:microsoft.com/office/officeart/2005/8/layout/orgChart1"/>
    <dgm:cxn modelId="{C0CDEAF1-D1CB-4881-B632-D4E7D5667FF0}" type="presParOf" srcId="{A92175FF-4AF5-4328-9EAE-FBC7569A7F58}" destId="{FA2125F8-3026-4680-9939-9D1B413A096A}" srcOrd="3" destOrd="0" presId="urn:microsoft.com/office/officeart/2005/8/layout/orgChart1"/>
    <dgm:cxn modelId="{2FA12023-056A-483F-A4C8-2CD7E1D9D91D}" type="presParOf" srcId="{FA2125F8-3026-4680-9939-9D1B413A096A}" destId="{EC63478E-E864-490D-B29D-5EB702E76047}" srcOrd="0" destOrd="0" presId="urn:microsoft.com/office/officeart/2005/8/layout/orgChart1"/>
    <dgm:cxn modelId="{3F5036D1-6275-4D55-A5A4-60BE1A8B70D6}" type="presParOf" srcId="{EC63478E-E864-490D-B29D-5EB702E76047}" destId="{BD95AFED-3005-4840-8619-7A92C665843C}" srcOrd="0" destOrd="0" presId="urn:microsoft.com/office/officeart/2005/8/layout/orgChart1"/>
    <dgm:cxn modelId="{5CD85446-A39C-4AC8-B7B3-6B8813506849}" type="presParOf" srcId="{EC63478E-E864-490D-B29D-5EB702E76047}" destId="{4868349A-7D65-4F02-9EE7-23B255ABC1DA}" srcOrd="1" destOrd="0" presId="urn:microsoft.com/office/officeart/2005/8/layout/orgChart1"/>
    <dgm:cxn modelId="{607C5ABE-7F94-4456-99D2-3976F0ADB7D1}" type="presParOf" srcId="{FA2125F8-3026-4680-9939-9D1B413A096A}" destId="{403BF939-B976-49E6-A350-067D9F1C45DE}" srcOrd="1" destOrd="0" presId="urn:microsoft.com/office/officeart/2005/8/layout/orgChart1"/>
    <dgm:cxn modelId="{3034D0CD-9B36-4663-96A4-763A881E44FF}" type="presParOf" srcId="{FA2125F8-3026-4680-9939-9D1B413A096A}" destId="{C7477EAB-48AF-403C-B74D-7086971DBF7D}" srcOrd="2" destOrd="0" presId="urn:microsoft.com/office/officeart/2005/8/layout/orgChart1"/>
    <dgm:cxn modelId="{D1AA881E-0D02-4646-BC14-141FA49A0982}" type="presParOf" srcId="{A92175FF-4AF5-4328-9EAE-FBC7569A7F58}" destId="{F34D7894-C98B-4D52-BBF2-D4954739F3C8}" srcOrd="4" destOrd="0" presId="urn:microsoft.com/office/officeart/2005/8/layout/orgChart1"/>
    <dgm:cxn modelId="{1E36CA2D-DF2A-4501-B9EB-BC31C9F95171}" type="presParOf" srcId="{A92175FF-4AF5-4328-9EAE-FBC7569A7F58}" destId="{85A25F6D-4A97-4011-ADF5-4B778581140E}" srcOrd="5" destOrd="0" presId="urn:microsoft.com/office/officeart/2005/8/layout/orgChart1"/>
    <dgm:cxn modelId="{C697A475-224D-477C-91C4-A6E6A5592A6F}" type="presParOf" srcId="{85A25F6D-4A97-4011-ADF5-4B778581140E}" destId="{BDFE4A88-B3B4-4DCC-ABB4-B6F567BD3B68}" srcOrd="0" destOrd="0" presId="urn:microsoft.com/office/officeart/2005/8/layout/orgChart1"/>
    <dgm:cxn modelId="{17EDD23F-BF9D-4DA3-915E-59C4C3DB94A5}" type="presParOf" srcId="{BDFE4A88-B3B4-4DCC-ABB4-B6F567BD3B68}" destId="{854D2305-F4EE-4AD6-92DB-D95F41DA9781}" srcOrd="0" destOrd="0" presId="urn:microsoft.com/office/officeart/2005/8/layout/orgChart1"/>
    <dgm:cxn modelId="{63100322-6AA9-4378-AA04-8D61D71BA6E1}" type="presParOf" srcId="{BDFE4A88-B3B4-4DCC-ABB4-B6F567BD3B68}" destId="{5C04A865-1E06-411D-A557-2B6D89918437}" srcOrd="1" destOrd="0" presId="urn:microsoft.com/office/officeart/2005/8/layout/orgChart1"/>
    <dgm:cxn modelId="{5CBC797A-6495-4251-A972-F60F35EE8C49}" type="presParOf" srcId="{85A25F6D-4A97-4011-ADF5-4B778581140E}" destId="{D6269778-EDAD-4413-96CC-1E49EB2E7A22}" srcOrd="1" destOrd="0" presId="urn:microsoft.com/office/officeart/2005/8/layout/orgChart1"/>
    <dgm:cxn modelId="{CE28B6BD-2601-4799-B4B0-F108C2CCC5CB}" type="presParOf" srcId="{85A25F6D-4A97-4011-ADF5-4B778581140E}" destId="{61BA350F-D02D-4812-8DC3-C2FAA9CAD329}" srcOrd="2" destOrd="0" presId="urn:microsoft.com/office/officeart/2005/8/layout/orgChart1"/>
    <dgm:cxn modelId="{07827AD3-7607-482A-90FE-5271BA6A5816}" type="presParOf" srcId="{A92175FF-4AF5-4328-9EAE-FBC7569A7F58}" destId="{13495EE3-26FA-4AD6-8572-6D18709F3237}" srcOrd="6" destOrd="0" presId="urn:microsoft.com/office/officeart/2005/8/layout/orgChart1"/>
    <dgm:cxn modelId="{6C2C4AE7-C227-471F-8DC4-AF0D6D62E61C}" type="presParOf" srcId="{A92175FF-4AF5-4328-9EAE-FBC7569A7F58}" destId="{5615943B-F503-40B9-B871-861971EA9426}" srcOrd="7" destOrd="0" presId="urn:microsoft.com/office/officeart/2005/8/layout/orgChart1"/>
    <dgm:cxn modelId="{ED4C8D2F-3BFC-4063-AE48-3F0F4BFACB08}" type="presParOf" srcId="{5615943B-F503-40B9-B871-861971EA9426}" destId="{103565DE-45D6-48DA-B9CE-7FD002FCAC7B}" srcOrd="0" destOrd="0" presId="urn:microsoft.com/office/officeart/2005/8/layout/orgChart1"/>
    <dgm:cxn modelId="{AEAAF95A-51B9-4E70-9F9C-D48AF3D37EDB}" type="presParOf" srcId="{103565DE-45D6-48DA-B9CE-7FD002FCAC7B}" destId="{A360E26B-3CC0-44BC-8E53-1904E2B78396}" srcOrd="0" destOrd="0" presId="urn:microsoft.com/office/officeart/2005/8/layout/orgChart1"/>
    <dgm:cxn modelId="{E1D16FFA-2C2A-487A-92CA-B8F2B3E91E1B}" type="presParOf" srcId="{103565DE-45D6-48DA-B9CE-7FD002FCAC7B}" destId="{BE76C1B3-8CD5-47B0-82D0-126FB2B80EE4}" srcOrd="1" destOrd="0" presId="urn:microsoft.com/office/officeart/2005/8/layout/orgChart1"/>
    <dgm:cxn modelId="{D7A6DA77-BB84-4770-B3B1-3C3EF5F32DA0}" type="presParOf" srcId="{5615943B-F503-40B9-B871-861971EA9426}" destId="{E0FC616F-3902-49C3-BD11-77FEC347FB36}" srcOrd="1" destOrd="0" presId="urn:microsoft.com/office/officeart/2005/8/layout/orgChart1"/>
    <dgm:cxn modelId="{F44192E5-995D-400C-9E2B-CF5D08B7F308}" type="presParOf" srcId="{5615943B-F503-40B9-B871-861971EA9426}" destId="{72B2F569-AEF6-4A2B-818D-9EE2FC74C6CC}" srcOrd="2" destOrd="0" presId="urn:microsoft.com/office/officeart/2005/8/layout/orgChart1"/>
    <dgm:cxn modelId="{1CBB6520-9441-4CFE-8656-42AAC690EBEC}" type="presParOf" srcId="{B6089E60-EFE6-4FF0-ACBF-7C0DA216B0BC}" destId="{FAA2FA0E-2CE1-4D48-9424-56A03A017D0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5A083A4-2D37-4B0B-9255-D685588C0943}" type="doc">
      <dgm:prSet loTypeId="urn:microsoft.com/office/officeart/2005/8/layout/orgChart1" loCatId="hierarchy" qsTypeId="urn:microsoft.com/office/officeart/2005/8/quickstyle/simple1#11" qsCatId="simple" csTypeId="urn:microsoft.com/office/officeart/2005/8/colors/accent1_2#11" csCatId="accent1" phldr="1"/>
      <dgm:spPr/>
      <dgm:t>
        <a:bodyPr/>
        <a:lstStyle/>
        <a:p>
          <a:endParaRPr lang="en-US"/>
        </a:p>
      </dgm:t>
    </dgm:pt>
    <dgm:pt modelId="{8C5A759D-8758-442E-AAA5-9D18181A1918}">
      <dgm:prSet phldrT="[Text]" custT="1"/>
      <dgm:spPr/>
      <dgm:t>
        <a:bodyPr/>
        <a:lstStyle/>
        <a:p>
          <a:r>
            <a:rPr lang="zh-CN" altLang="en-US" sz="3200" dirty="0" smtClean="0">
              <a:solidFill>
                <a:srgbClr val="000000"/>
              </a:solidFill>
            </a:rPr>
            <a:t>时延</a:t>
          </a:r>
          <a:endParaRPr lang="en-US" sz="3200" dirty="0">
            <a:solidFill>
              <a:srgbClr val="000000"/>
            </a:solidFill>
          </a:endParaRPr>
        </a:p>
      </dgm:t>
    </dgm:pt>
    <dgm:pt modelId="{155EFF51-8C79-4C7C-BFC6-A750768BAE70}" type="parTrans" cxnId="{EAD252EB-94BB-47D7-BA40-21CD18F82EF4}">
      <dgm:prSet/>
      <dgm:spPr/>
      <dgm:t>
        <a:bodyPr/>
        <a:lstStyle/>
        <a:p>
          <a:endParaRPr lang="en-US"/>
        </a:p>
      </dgm:t>
    </dgm:pt>
    <dgm:pt modelId="{4BA7D174-BBCC-4C7B-97BE-FC9DDF55AF0F}" type="sibTrans" cxnId="{EAD252EB-94BB-47D7-BA40-21CD18F82EF4}">
      <dgm:prSet/>
      <dgm:spPr/>
      <dgm:t>
        <a:bodyPr/>
        <a:lstStyle/>
        <a:p>
          <a:endParaRPr lang="en-US"/>
        </a:p>
      </dgm:t>
    </dgm:pt>
    <dgm:pt modelId="{B07AA598-7EF9-4FD0-83F9-B2DFEE3EAF97}">
      <dgm:prSet phldrT="[Text]"/>
      <dgm:spPr/>
      <dgm:t>
        <a:bodyPr/>
        <a:lstStyle/>
        <a:p>
          <a:r>
            <a:rPr lang="en-US" altLang="zh-CN" dirty="0">
              <a:solidFill>
                <a:srgbClr val="000000"/>
              </a:solidFill>
            </a:rPr>
            <a:t>*</a:t>
          </a:r>
          <a:r>
            <a:rPr lang="zh-CN" altLang="en-US" dirty="0">
              <a:solidFill>
                <a:srgbClr val="000000"/>
              </a:solidFill>
            </a:rPr>
            <a:t>发送时延</a:t>
          </a:r>
          <a:endParaRPr lang="en-US" dirty="0">
            <a:solidFill>
              <a:srgbClr val="000000"/>
            </a:solidFill>
          </a:endParaRPr>
        </a:p>
      </dgm:t>
    </dgm:pt>
    <dgm:pt modelId="{46BCD4FB-C6E5-4C7B-967D-3107BCE2E057}" type="parTrans" cxnId="{E669A823-B0D6-450B-AA70-34617715EE84}">
      <dgm:prSet/>
      <dgm:spPr/>
      <dgm:t>
        <a:bodyPr/>
        <a:lstStyle/>
        <a:p>
          <a:endParaRPr lang="en-US"/>
        </a:p>
      </dgm:t>
    </dgm:pt>
    <dgm:pt modelId="{21079A83-9308-4A56-8929-0CDCF7F6F500}" type="sibTrans" cxnId="{E669A823-B0D6-450B-AA70-34617715EE84}">
      <dgm:prSet/>
      <dgm:spPr/>
      <dgm:t>
        <a:bodyPr/>
        <a:lstStyle/>
        <a:p>
          <a:endParaRPr lang="en-US"/>
        </a:p>
      </dgm:t>
    </dgm:pt>
    <dgm:pt modelId="{EDD5BF15-8EA9-4214-B250-B8301FB41681}">
      <dgm:prSet phldrT="[Text]"/>
      <dgm:spPr/>
      <dgm:t>
        <a:bodyPr/>
        <a:lstStyle/>
        <a:p>
          <a:r>
            <a:rPr lang="en-US" altLang="zh-CN" dirty="0">
              <a:solidFill>
                <a:srgbClr val="000000"/>
              </a:solidFill>
            </a:rPr>
            <a:t>*</a:t>
          </a:r>
          <a:r>
            <a:rPr lang="zh-CN" altLang="en-US" dirty="0">
              <a:solidFill>
                <a:srgbClr val="000000"/>
              </a:solidFill>
            </a:rPr>
            <a:t>传播时延</a:t>
          </a:r>
          <a:endParaRPr lang="en-US" dirty="0">
            <a:solidFill>
              <a:srgbClr val="000000"/>
            </a:solidFill>
          </a:endParaRPr>
        </a:p>
      </dgm:t>
    </dgm:pt>
    <dgm:pt modelId="{76EF6518-1EC8-4071-8359-D41F8325FEC0}" type="parTrans" cxnId="{951709B5-FA41-4F73-8475-1DC29BB735C5}">
      <dgm:prSet/>
      <dgm:spPr/>
      <dgm:t>
        <a:bodyPr/>
        <a:lstStyle/>
        <a:p>
          <a:endParaRPr lang="en-US"/>
        </a:p>
      </dgm:t>
    </dgm:pt>
    <dgm:pt modelId="{5CDD0D1A-727C-48E7-83A9-60249713B981}" type="sibTrans" cxnId="{951709B5-FA41-4F73-8475-1DC29BB735C5}">
      <dgm:prSet/>
      <dgm:spPr/>
      <dgm:t>
        <a:bodyPr/>
        <a:lstStyle/>
        <a:p>
          <a:endParaRPr lang="en-US"/>
        </a:p>
      </dgm:t>
    </dgm:pt>
    <dgm:pt modelId="{C158E602-1FC6-4587-891A-F909CACCFD99}">
      <dgm:prSet phldrT="[Text]"/>
      <dgm:spPr/>
      <dgm:t>
        <a:bodyPr/>
        <a:lstStyle/>
        <a:p>
          <a:r>
            <a:rPr lang="zh-CN" altLang="en-US" dirty="0">
              <a:solidFill>
                <a:srgbClr val="000000"/>
              </a:solidFill>
            </a:rPr>
            <a:t>处理时延</a:t>
          </a:r>
          <a:endParaRPr lang="en-US" dirty="0">
            <a:solidFill>
              <a:srgbClr val="000000"/>
            </a:solidFill>
          </a:endParaRPr>
        </a:p>
      </dgm:t>
    </dgm:pt>
    <dgm:pt modelId="{0375B441-57BB-46E3-A499-37F7B3374879}" type="parTrans" cxnId="{FDABB649-7ED3-425B-AC66-6072E714EE3A}">
      <dgm:prSet/>
      <dgm:spPr/>
      <dgm:t>
        <a:bodyPr/>
        <a:lstStyle/>
        <a:p>
          <a:endParaRPr lang="en-US"/>
        </a:p>
      </dgm:t>
    </dgm:pt>
    <dgm:pt modelId="{CAD6F472-A148-46EF-97D2-08CB676A1BCB}" type="sibTrans" cxnId="{FDABB649-7ED3-425B-AC66-6072E714EE3A}">
      <dgm:prSet/>
      <dgm:spPr/>
      <dgm:t>
        <a:bodyPr/>
        <a:lstStyle/>
        <a:p>
          <a:endParaRPr lang="en-US"/>
        </a:p>
      </dgm:t>
    </dgm:pt>
    <dgm:pt modelId="{35146C74-DA57-49FC-9182-97EB5BA3E4A0}">
      <dgm:prSet phldrT="[Text]"/>
      <dgm:spPr/>
      <dgm:t>
        <a:bodyPr/>
        <a:lstStyle/>
        <a:p>
          <a:r>
            <a:rPr lang="zh-CN" altLang="en-US" dirty="0">
              <a:solidFill>
                <a:srgbClr val="000000"/>
              </a:solidFill>
            </a:rPr>
            <a:t>排队时延</a:t>
          </a:r>
          <a:endParaRPr lang="en-US" dirty="0">
            <a:solidFill>
              <a:srgbClr val="000000"/>
            </a:solidFill>
          </a:endParaRPr>
        </a:p>
      </dgm:t>
    </dgm:pt>
    <dgm:pt modelId="{4E91DFEB-5C92-4ED8-940A-E95BBBA50EF0}" type="parTrans" cxnId="{CB43B795-8996-4022-AB46-9F78A703B0A7}">
      <dgm:prSet/>
      <dgm:spPr/>
      <dgm:t>
        <a:bodyPr/>
        <a:lstStyle/>
        <a:p>
          <a:endParaRPr lang="en-US"/>
        </a:p>
      </dgm:t>
    </dgm:pt>
    <dgm:pt modelId="{FAA98112-723B-4EF6-9306-FDCBB9CE9FA5}" type="sibTrans" cxnId="{CB43B795-8996-4022-AB46-9F78A703B0A7}">
      <dgm:prSet/>
      <dgm:spPr/>
      <dgm:t>
        <a:bodyPr/>
        <a:lstStyle/>
        <a:p>
          <a:endParaRPr lang="en-US"/>
        </a:p>
      </dgm:t>
    </dgm:pt>
    <dgm:pt modelId="{BBBAD7E8-32BD-4551-BF67-A169696FB868}" type="pres">
      <dgm:prSet presAssocID="{75A083A4-2D37-4B0B-9255-D685588C0943}" presName="hierChild1" presStyleCnt="0">
        <dgm:presLayoutVars>
          <dgm:orgChart val="1"/>
          <dgm:chPref val="1"/>
          <dgm:dir/>
          <dgm:animOne val="branch"/>
          <dgm:animLvl val="lvl"/>
          <dgm:resizeHandles/>
        </dgm:presLayoutVars>
      </dgm:prSet>
      <dgm:spPr/>
      <dgm:t>
        <a:bodyPr/>
        <a:lstStyle/>
        <a:p>
          <a:endParaRPr lang="zh-CN" altLang="en-US"/>
        </a:p>
      </dgm:t>
    </dgm:pt>
    <dgm:pt modelId="{B6089E60-EFE6-4FF0-ACBF-7C0DA216B0BC}" type="pres">
      <dgm:prSet presAssocID="{8C5A759D-8758-442E-AAA5-9D18181A1918}" presName="hierRoot1" presStyleCnt="0">
        <dgm:presLayoutVars>
          <dgm:hierBranch val="init"/>
        </dgm:presLayoutVars>
      </dgm:prSet>
      <dgm:spPr/>
    </dgm:pt>
    <dgm:pt modelId="{5F27B3C6-B363-40AB-A7AE-6928F261DB17}" type="pres">
      <dgm:prSet presAssocID="{8C5A759D-8758-442E-AAA5-9D18181A1918}" presName="rootComposite1" presStyleCnt="0"/>
      <dgm:spPr/>
    </dgm:pt>
    <dgm:pt modelId="{5577373F-6A35-4E99-800C-3E3838126B2F}" type="pres">
      <dgm:prSet presAssocID="{8C5A759D-8758-442E-AAA5-9D18181A1918}" presName="rootText1" presStyleLbl="node0" presStyleIdx="0" presStyleCnt="1" custScaleX="133979" custScaleY="120274">
        <dgm:presLayoutVars>
          <dgm:chPref val="3"/>
        </dgm:presLayoutVars>
      </dgm:prSet>
      <dgm:spPr>
        <a:prstGeom prst="ellipse">
          <a:avLst/>
        </a:prstGeom>
      </dgm:spPr>
      <dgm:t>
        <a:bodyPr/>
        <a:lstStyle/>
        <a:p>
          <a:endParaRPr lang="zh-CN" altLang="en-US"/>
        </a:p>
      </dgm:t>
    </dgm:pt>
    <dgm:pt modelId="{01D515FD-99E9-48F0-8366-6A803C5B7D7C}" type="pres">
      <dgm:prSet presAssocID="{8C5A759D-8758-442E-AAA5-9D18181A1918}" presName="rootConnector1" presStyleLbl="node1" presStyleIdx="0" presStyleCnt="0"/>
      <dgm:spPr/>
      <dgm:t>
        <a:bodyPr/>
        <a:lstStyle/>
        <a:p>
          <a:endParaRPr lang="zh-CN" altLang="en-US"/>
        </a:p>
      </dgm:t>
    </dgm:pt>
    <dgm:pt modelId="{A92175FF-4AF5-4328-9EAE-FBC7569A7F58}" type="pres">
      <dgm:prSet presAssocID="{8C5A759D-8758-442E-AAA5-9D18181A1918}" presName="hierChild2" presStyleCnt="0"/>
      <dgm:spPr/>
    </dgm:pt>
    <dgm:pt modelId="{A1760BB4-E99C-40B1-88FA-AF71DBC82B79}" type="pres">
      <dgm:prSet presAssocID="{46BCD4FB-C6E5-4C7B-967D-3107BCE2E057}" presName="Name37" presStyleLbl="parChTrans1D2" presStyleIdx="0" presStyleCnt="4"/>
      <dgm:spPr/>
      <dgm:t>
        <a:bodyPr/>
        <a:lstStyle/>
        <a:p>
          <a:endParaRPr lang="zh-CN" altLang="en-US"/>
        </a:p>
      </dgm:t>
    </dgm:pt>
    <dgm:pt modelId="{CB375C58-30E7-4F0E-96D2-B0B77BF09F73}" type="pres">
      <dgm:prSet presAssocID="{B07AA598-7EF9-4FD0-83F9-B2DFEE3EAF97}" presName="hierRoot2" presStyleCnt="0">
        <dgm:presLayoutVars>
          <dgm:hierBranch val="init"/>
        </dgm:presLayoutVars>
      </dgm:prSet>
      <dgm:spPr/>
    </dgm:pt>
    <dgm:pt modelId="{36477285-C406-4F5D-982F-BB24AB1C2BD6}" type="pres">
      <dgm:prSet presAssocID="{B07AA598-7EF9-4FD0-83F9-B2DFEE3EAF97}" presName="rootComposite" presStyleCnt="0"/>
      <dgm:spPr/>
    </dgm:pt>
    <dgm:pt modelId="{02D8927B-468C-48C7-B616-9BBFC1B59F11}" type="pres">
      <dgm:prSet presAssocID="{B07AA598-7EF9-4FD0-83F9-B2DFEE3EAF97}" presName="rootText" presStyleLbl="node2" presStyleIdx="0" presStyleCnt="4">
        <dgm:presLayoutVars>
          <dgm:chPref val="3"/>
        </dgm:presLayoutVars>
      </dgm:prSet>
      <dgm:spPr/>
      <dgm:t>
        <a:bodyPr/>
        <a:lstStyle/>
        <a:p>
          <a:endParaRPr lang="zh-CN" altLang="en-US"/>
        </a:p>
      </dgm:t>
    </dgm:pt>
    <dgm:pt modelId="{E0D0D56B-A6D1-4D0E-8753-C3CEED07E960}" type="pres">
      <dgm:prSet presAssocID="{B07AA598-7EF9-4FD0-83F9-B2DFEE3EAF97}" presName="rootConnector" presStyleLbl="node2" presStyleIdx="0" presStyleCnt="4"/>
      <dgm:spPr/>
      <dgm:t>
        <a:bodyPr/>
        <a:lstStyle/>
        <a:p>
          <a:endParaRPr lang="zh-CN" altLang="en-US"/>
        </a:p>
      </dgm:t>
    </dgm:pt>
    <dgm:pt modelId="{8DA98542-9807-426E-A71E-74413C3B77D8}" type="pres">
      <dgm:prSet presAssocID="{B07AA598-7EF9-4FD0-83F9-B2DFEE3EAF97}" presName="hierChild4" presStyleCnt="0"/>
      <dgm:spPr/>
    </dgm:pt>
    <dgm:pt modelId="{F1CEE673-4F48-4BAD-9CAB-353EB4DB15A2}" type="pres">
      <dgm:prSet presAssocID="{B07AA598-7EF9-4FD0-83F9-B2DFEE3EAF97}" presName="hierChild5" presStyleCnt="0"/>
      <dgm:spPr/>
    </dgm:pt>
    <dgm:pt modelId="{770D9E2B-EA18-4B36-A1BD-BD1665D2A336}" type="pres">
      <dgm:prSet presAssocID="{76EF6518-1EC8-4071-8359-D41F8325FEC0}" presName="Name37" presStyleLbl="parChTrans1D2" presStyleIdx="1" presStyleCnt="4"/>
      <dgm:spPr/>
      <dgm:t>
        <a:bodyPr/>
        <a:lstStyle/>
        <a:p>
          <a:endParaRPr lang="zh-CN" altLang="en-US"/>
        </a:p>
      </dgm:t>
    </dgm:pt>
    <dgm:pt modelId="{FA2125F8-3026-4680-9939-9D1B413A096A}" type="pres">
      <dgm:prSet presAssocID="{EDD5BF15-8EA9-4214-B250-B8301FB41681}" presName="hierRoot2" presStyleCnt="0">
        <dgm:presLayoutVars>
          <dgm:hierBranch val="init"/>
        </dgm:presLayoutVars>
      </dgm:prSet>
      <dgm:spPr/>
    </dgm:pt>
    <dgm:pt modelId="{EC63478E-E864-490D-B29D-5EB702E76047}" type="pres">
      <dgm:prSet presAssocID="{EDD5BF15-8EA9-4214-B250-B8301FB41681}" presName="rootComposite" presStyleCnt="0"/>
      <dgm:spPr/>
    </dgm:pt>
    <dgm:pt modelId="{BD95AFED-3005-4840-8619-7A92C665843C}" type="pres">
      <dgm:prSet presAssocID="{EDD5BF15-8EA9-4214-B250-B8301FB41681}" presName="rootText" presStyleLbl="node2" presStyleIdx="1" presStyleCnt="4">
        <dgm:presLayoutVars>
          <dgm:chPref val="3"/>
        </dgm:presLayoutVars>
      </dgm:prSet>
      <dgm:spPr/>
      <dgm:t>
        <a:bodyPr/>
        <a:lstStyle/>
        <a:p>
          <a:endParaRPr lang="zh-CN" altLang="en-US"/>
        </a:p>
      </dgm:t>
    </dgm:pt>
    <dgm:pt modelId="{4868349A-7D65-4F02-9EE7-23B255ABC1DA}" type="pres">
      <dgm:prSet presAssocID="{EDD5BF15-8EA9-4214-B250-B8301FB41681}" presName="rootConnector" presStyleLbl="node2" presStyleIdx="1" presStyleCnt="4"/>
      <dgm:spPr/>
      <dgm:t>
        <a:bodyPr/>
        <a:lstStyle/>
        <a:p>
          <a:endParaRPr lang="zh-CN" altLang="en-US"/>
        </a:p>
      </dgm:t>
    </dgm:pt>
    <dgm:pt modelId="{403BF939-B976-49E6-A350-067D9F1C45DE}" type="pres">
      <dgm:prSet presAssocID="{EDD5BF15-8EA9-4214-B250-B8301FB41681}" presName="hierChild4" presStyleCnt="0"/>
      <dgm:spPr/>
    </dgm:pt>
    <dgm:pt modelId="{C7477EAB-48AF-403C-B74D-7086971DBF7D}" type="pres">
      <dgm:prSet presAssocID="{EDD5BF15-8EA9-4214-B250-B8301FB41681}" presName="hierChild5" presStyleCnt="0"/>
      <dgm:spPr/>
    </dgm:pt>
    <dgm:pt modelId="{F34D7894-C98B-4D52-BBF2-D4954739F3C8}" type="pres">
      <dgm:prSet presAssocID="{0375B441-57BB-46E3-A499-37F7B3374879}" presName="Name37" presStyleLbl="parChTrans1D2" presStyleIdx="2" presStyleCnt="4"/>
      <dgm:spPr/>
      <dgm:t>
        <a:bodyPr/>
        <a:lstStyle/>
        <a:p>
          <a:endParaRPr lang="zh-CN" altLang="en-US"/>
        </a:p>
      </dgm:t>
    </dgm:pt>
    <dgm:pt modelId="{85A25F6D-4A97-4011-ADF5-4B778581140E}" type="pres">
      <dgm:prSet presAssocID="{C158E602-1FC6-4587-891A-F909CACCFD99}" presName="hierRoot2" presStyleCnt="0">
        <dgm:presLayoutVars>
          <dgm:hierBranch val="init"/>
        </dgm:presLayoutVars>
      </dgm:prSet>
      <dgm:spPr/>
    </dgm:pt>
    <dgm:pt modelId="{BDFE4A88-B3B4-4DCC-ABB4-B6F567BD3B68}" type="pres">
      <dgm:prSet presAssocID="{C158E602-1FC6-4587-891A-F909CACCFD99}" presName="rootComposite" presStyleCnt="0"/>
      <dgm:spPr/>
    </dgm:pt>
    <dgm:pt modelId="{854D2305-F4EE-4AD6-92DB-D95F41DA9781}" type="pres">
      <dgm:prSet presAssocID="{C158E602-1FC6-4587-891A-F909CACCFD99}" presName="rootText" presStyleLbl="node2" presStyleIdx="2" presStyleCnt="4">
        <dgm:presLayoutVars>
          <dgm:chPref val="3"/>
        </dgm:presLayoutVars>
      </dgm:prSet>
      <dgm:spPr/>
      <dgm:t>
        <a:bodyPr/>
        <a:lstStyle/>
        <a:p>
          <a:endParaRPr lang="zh-CN" altLang="en-US"/>
        </a:p>
      </dgm:t>
    </dgm:pt>
    <dgm:pt modelId="{5C04A865-1E06-411D-A557-2B6D89918437}" type="pres">
      <dgm:prSet presAssocID="{C158E602-1FC6-4587-891A-F909CACCFD99}" presName="rootConnector" presStyleLbl="node2" presStyleIdx="2" presStyleCnt="4"/>
      <dgm:spPr/>
      <dgm:t>
        <a:bodyPr/>
        <a:lstStyle/>
        <a:p>
          <a:endParaRPr lang="zh-CN" altLang="en-US"/>
        </a:p>
      </dgm:t>
    </dgm:pt>
    <dgm:pt modelId="{D6269778-EDAD-4413-96CC-1E49EB2E7A22}" type="pres">
      <dgm:prSet presAssocID="{C158E602-1FC6-4587-891A-F909CACCFD99}" presName="hierChild4" presStyleCnt="0"/>
      <dgm:spPr/>
    </dgm:pt>
    <dgm:pt modelId="{61BA350F-D02D-4812-8DC3-C2FAA9CAD329}" type="pres">
      <dgm:prSet presAssocID="{C158E602-1FC6-4587-891A-F909CACCFD99}" presName="hierChild5" presStyleCnt="0"/>
      <dgm:spPr/>
    </dgm:pt>
    <dgm:pt modelId="{13495EE3-26FA-4AD6-8572-6D18709F3237}" type="pres">
      <dgm:prSet presAssocID="{4E91DFEB-5C92-4ED8-940A-E95BBBA50EF0}" presName="Name37" presStyleLbl="parChTrans1D2" presStyleIdx="3" presStyleCnt="4"/>
      <dgm:spPr/>
      <dgm:t>
        <a:bodyPr/>
        <a:lstStyle/>
        <a:p>
          <a:endParaRPr lang="zh-CN" altLang="en-US"/>
        </a:p>
      </dgm:t>
    </dgm:pt>
    <dgm:pt modelId="{5615943B-F503-40B9-B871-861971EA9426}" type="pres">
      <dgm:prSet presAssocID="{35146C74-DA57-49FC-9182-97EB5BA3E4A0}" presName="hierRoot2" presStyleCnt="0">
        <dgm:presLayoutVars>
          <dgm:hierBranch val="init"/>
        </dgm:presLayoutVars>
      </dgm:prSet>
      <dgm:spPr/>
    </dgm:pt>
    <dgm:pt modelId="{103565DE-45D6-48DA-B9CE-7FD002FCAC7B}" type="pres">
      <dgm:prSet presAssocID="{35146C74-DA57-49FC-9182-97EB5BA3E4A0}" presName="rootComposite" presStyleCnt="0"/>
      <dgm:spPr/>
    </dgm:pt>
    <dgm:pt modelId="{A360E26B-3CC0-44BC-8E53-1904E2B78396}" type="pres">
      <dgm:prSet presAssocID="{35146C74-DA57-49FC-9182-97EB5BA3E4A0}" presName="rootText" presStyleLbl="node2" presStyleIdx="3" presStyleCnt="4">
        <dgm:presLayoutVars>
          <dgm:chPref val="3"/>
        </dgm:presLayoutVars>
      </dgm:prSet>
      <dgm:spPr/>
      <dgm:t>
        <a:bodyPr/>
        <a:lstStyle/>
        <a:p>
          <a:endParaRPr lang="zh-CN" altLang="en-US"/>
        </a:p>
      </dgm:t>
    </dgm:pt>
    <dgm:pt modelId="{BE76C1B3-8CD5-47B0-82D0-126FB2B80EE4}" type="pres">
      <dgm:prSet presAssocID="{35146C74-DA57-49FC-9182-97EB5BA3E4A0}" presName="rootConnector" presStyleLbl="node2" presStyleIdx="3" presStyleCnt="4"/>
      <dgm:spPr/>
      <dgm:t>
        <a:bodyPr/>
        <a:lstStyle/>
        <a:p>
          <a:endParaRPr lang="zh-CN" altLang="en-US"/>
        </a:p>
      </dgm:t>
    </dgm:pt>
    <dgm:pt modelId="{E0FC616F-3902-49C3-BD11-77FEC347FB36}" type="pres">
      <dgm:prSet presAssocID="{35146C74-DA57-49FC-9182-97EB5BA3E4A0}" presName="hierChild4" presStyleCnt="0"/>
      <dgm:spPr/>
    </dgm:pt>
    <dgm:pt modelId="{72B2F569-AEF6-4A2B-818D-9EE2FC74C6CC}" type="pres">
      <dgm:prSet presAssocID="{35146C74-DA57-49FC-9182-97EB5BA3E4A0}" presName="hierChild5" presStyleCnt="0"/>
      <dgm:spPr/>
    </dgm:pt>
    <dgm:pt modelId="{FAA2FA0E-2CE1-4D48-9424-56A03A017D0B}" type="pres">
      <dgm:prSet presAssocID="{8C5A759D-8758-442E-AAA5-9D18181A1918}" presName="hierChild3" presStyleCnt="0"/>
      <dgm:spPr/>
    </dgm:pt>
  </dgm:ptLst>
  <dgm:cxnLst>
    <dgm:cxn modelId="{EAD252EB-94BB-47D7-BA40-21CD18F82EF4}" srcId="{75A083A4-2D37-4B0B-9255-D685588C0943}" destId="{8C5A759D-8758-442E-AAA5-9D18181A1918}" srcOrd="0" destOrd="0" parTransId="{155EFF51-8C79-4C7C-BFC6-A750768BAE70}" sibTransId="{4BA7D174-BBCC-4C7B-97BE-FC9DDF55AF0F}"/>
    <dgm:cxn modelId="{1824D65B-3D61-4C2C-A059-DCC284013DFD}" type="presOf" srcId="{B07AA598-7EF9-4FD0-83F9-B2DFEE3EAF97}" destId="{02D8927B-468C-48C7-B616-9BBFC1B59F11}" srcOrd="0" destOrd="0" presId="urn:microsoft.com/office/officeart/2005/8/layout/orgChart1"/>
    <dgm:cxn modelId="{FDABB649-7ED3-425B-AC66-6072E714EE3A}" srcId="{8C5A759D-8758-442E-AAA5-9D18181A1918}" destId="{C158E602-1FC6-4587-891A-F909CACCFD99}" srcOrd="2" destOrd="0" parTransId="{0375B441-57BB-46E3-A499-37F7B3374879}" sibTransId="{CAD6F472-A148-46EF-97D2-08CB676A1BCB}"/>
    <dgm:cxn modelId="{246A4E05-3924-4E13-AC18-489FE42BCFDA}" type="presOf" srcId="{B07AA598-7EF9-4FD0-83F9-B2DFEE3EAF97}" destId="{E0D0D56B-A6D1-4D0E-8753-C3CEED07E960}" srcOrd="1" destOrd="0" presId="urn:microsoft.com/office/officeart/2005/8/layout/orgChart1"/>
    <dgm:cxn modelId="{82D1B952-9062-42C5-A97D-F167F5F0EF77}" type="presOf" srcId="{EDD5BF15-8EA9-4214-B250-B8301FB41681}" destId="{4868349A-7D65-4F02-9EE7-23B255ABC1DA}" srcOrd="1" destOrd="0" presId="urn:microsoft.com/office/officeart/2005/8/layout/orgChart1"/>
    <dgm:cxn modelId="{586FC065-91CF-4659-88E0-091F32E43B5A}" type="presOf" srcId="{35146C74-DA57-49FC-9182-97EB5BA3E4A0}" destId="{A360E26B-3CC0-44BC-8E53-1904E2B78396}" srcOrd="0" destOrd="0" presId="urn:microsoft.com/office/officeart/2005/8/layout/orgChart1"/>
    <dgm:cxn modelId="{996A3392-3203-43A8-8EAB-E1814AF1B15F}" type="presOf" srcId="{8C5A759D-8758-442E-AAA5-9D18181A1918}" destId="{5577373F-6A35-4E99-800C-3E3838126B2F}" srcOrd="0" destOrd="0" presId="urn:microsoft.com/office/officeart/2005/8/layout/orgChart1"/>
    <dgm:cxn modelId="{CCF0FEC7-313C-4184-A672-7EF8EAC8FFD0}" type="presOf" srcId="{75A083A4-2D37-4B0B-9255-D685588C0943}" destId="{BBBAD7E8-32BD-4551-BF67-A169696FB868}" srcOrd="0" destOrd="0" presId="urn:microsoft.com/office/officeart/2005/8/layout/orgChart1"/>
    <dgm:cxn modelId="{E669A823-B0D6-450B-AA70-34617715EE84}" srcId="{8C5A759D-8758-442E-AAA5-9D18181A1918}" destId="{B07AA598-7EF9-4FD0-83F9-B2DFEE3EAF97}" srcOrd="0" destOrd="0" parTransId="{46BCD4FB-C6E5-4C7B-967D-3107BCE2E057}" sibTransId="{21079A83-9308-4A56-8929-0CDCF7F6F500}"/>
    <dgm:cxn modelId="{CB43B795-8996-4022-AB46-9F78A703B0A7}" srcId="{8C5A759D-8758-442E-AAA5-9D18181A1918}" destId="{35146C74-DA57-49FC-9182-97EB5BA3E4A0}" srcOrd="3" destOrd="0" parTransId="{4E91DFEB-5C92-4ED8-940A-E95BBBA50EF0}" sibTransId="{FAA98112-723B-4EF6-9306-FDCBB9CE9FA5}"/>
    <dgm:cxn modelId="{CCE56D17-4294-467E-89E9-F718ECA13C14}" type="presOf" srcId="{46BCD4FB-C6E5-4C7B-967D-3107BCE2E057}" destId="{A1760BB4-E99C-40B1-88FA-AF71DBC82B79}" srcOrd="0" destOrd="0" presId="urn:microsoft.com/office/officeart/2005/8/layout/orgChart1"/>
    <dgm:cxn modelId="{6D978B4C-1FA5-4B52-90B9-A651C5049D33}" type="presOf" srcId="{0375B441-57BB-46E3-A499-37F7B3374879}" destId="{F34D7894-C98B-4D52-BBF2-D4954739F3C8}" srcOrd="0" destOrd="0" presId="urn:microsoft.com/office/officeart/2005/8/layout/orgChart1"/>
    <dgm:cxn modelId="{F3E2E2C4-1181-4BC3-9C3B-CF52CA2B74B0}" type="presOf" srcId="{EDD5BF15-8EA9-4214-B250-B8301FB41681}" destId="{BD95AFED-3005-4840-8619-7A92C665843C}" srcOrd="0" destOrd="0" presId="urn:microsoft.com/office/officeart/2005/8/layout/orgChart1"/>
    <dgm:cxn modelId="{9E416034-2882-4323-838A-C23ADC97653B}" type="presOf" srcId="{76EF6518-1EC8-4071-8359-D41F8325FEC0}" destId="{770D9E2B-EA18-4B36-A1BD-BD1665D2A336}" srcOrd="0" destOrd="0" presId="urn:microsoft.com/office/officeart/2005/8/layout/orgChart1"/>
    <dgm:cxn modelId="{951709B5-FA41-4F73-8475-1DC29BB735C5}" srcId="{8C5A759D-8758-442E-AAA5-9D18181A1918}" destId="{EDD5BF15-8EA9-4214-B250-B8301FB41681}" srcOrd="1" destOrd="0" parTransId="{76EF6518-1EC8-4071-8359-D41F8325FEC0}" sibTransId="{5CDD0D1A-727C-48E7-83A9-60249713B981}"/>
    <dgm:cxn modelId="{3DF65052-C08B-48AB-AD57-942AB47265C4}" type="presOf" srcId="{C158E602-1FC6-4587-891A-F909CACCFD99}" destId="{5C04A865-1E06-411D-A557-2B6D89918437}" srcOrd="1" destOrd="0" presId="urn:microsoft.com/office/officeart/2005/8/layout/orgChart1"/>
    <dgm:cxn modelId="{D72FEDC2-4988-4B42-8B19-6E549AC5D32D}" type="presOf" srcId="{4E91DFEB-5C92-4ED8-940A-E95BBBA50EF0}" destId="{13495EE3-26FA-4AD6-8572-6D18709F3237}" srcOrd="0" destOrd="0" presId="urn:microsoft.com/office/officeart/2005/8/layout/orgChart1"/>
    <dgm:cxn modelId="{40F77298-71C3-4E85-86A7-D5BAA90F62FF}" type="presOf" srcId="{35146C74-DA57-49FC-9182-97EB5BA3E4A0}" destId="{BE76C1B3-8CD5-47B0-82D0-126FB2B80EE4}" srcOrd="1" destOrd="0" presId="urn:microsoft.com/office/officeart/2005/8/layout/orgChart1"/>
    <dgm:cxn modelId="{4F363EFD-1959-49CA-BDE5-D0B921377FBE}" type="presOf" srcId="{C158E602-1FC6-4587-891A-F909CACCFD99}" destId="{854D2305-F4EE-4AD6-92DB-D95F41DA9781}" srcOrd="0" destOrd="0" presId="urn:microsoft.com/office/officeart/2005/8/layout/orgChart1"/>
    <dgm:cxn modelId="{C1CF141F-9B2D-4A2D-895B-90525A47B1FC}" type="presOf" srcId="{8C5A759D-8758-442E-AAA5-9D18181A1918}" destId="{01D515FD-99E9-48F0-8366-6A803C5B7D7C}" srcOrd="1" destOrd="0" presId="urn:microsoft.com/office/officeart/2005/8/layout/orgChart1"/>
    <dgm:cxn modelId="{D83EABB7-0D87-4BEE-B067-F281FF707AD5}" type="presParOf" srcId="{BBBAD7E8-32BD-4551-BF67-A169696FB868}" destId="{B6089E60-EFE6-4FF0-ACBF-7C0DA216B0BC}" srcOrd="0" destOrd="0" presId="urn:microsoft.com/office/officeart/2005/8/layout/orgChart1"/>
    <dgm:cxn modelId="{E910C329-A8CE-4667-AA38-87D888803A17}" type="presParOf" srcId="{B6089E60-EFE6-4FF0-ACBF-7C0DA216B0BC}" destId="{5F27B3C6-B363-40AB-A7AE-6928F261DB17}" srcOrd="0" destOrd="0" presId="urn:microsoft.com/office/officeart/2005/8/layout/orgChart1"/>
    <dgm:cxn modelId="{0CB337B2-52A1-4787-A0A5-EE86F976F4A4}" type="presParOf" srcId="{5F27B3C6-B363-40AB-A7AE-6928F261DB17}" destId="{5577373F-6A35-4E99-800C-3E3838126B2F}" srcOrd="0" destOrd="0" presId="urn:microsoft.com/office/officeart/2005/8/layout/orgChart1"/>
    <dgm:cxn modelId="{727BAB16-DD57-4C1D-893F-0459AD43F950}" type="presParOf" srcId="{5F27B3C6-B363-40AB-A7AE-6928F261DB17}" destId="{01D515FD-99E9-48F0-8366-6A803C5B7D7C}" srcOrd="1" destOrd="0" presId="urn:microsoft.com/office/officeart/2005/8/layout/orgChart1"/>
    <dgm:cxn modelId="{1B4A86B8-DEFE-4BFC-A4F6-3795EB8C2756}" type="presParOf" srcId="{B6089E60-EFE6-4FF0-ACBF-7C0DA216B0BC}" destId="{A92175FF-4AF5-4328-9EAE-FBC7569A7F58}" srcOrd="1" destOrd="0" presId="urn:microsoft.com/office/officeart/2005/8/layout/orgChart1"/>
    <dgm:cxn modelId="{BEB24431-8A29-4957-9C98-4C3F7B55E4BC}" type="presParOf" srcId="{A92175FF-4AF5-4328-9EAE-FBC7569A7F58}" destId="{A1760BB4-E99C-40B1-88FA-AF71DBC82B79}" srcOrd="0" destOrd="0" presId="urn:microsoft.com/office/officeart/2005/8/layout/orgChart1"/>
    <dgm:cxn modelId="{43EBEC46-9582-46A4-A224-D7C3911E48A3}" type="presParOf" srcId="{A92175FF-4AF5-4328-9EAE-FBC7569A7F58}" destId="{CB375C58-30E7-4F0E-96D2-B0B77BF09F73}" srcOrd="1" destOrd="0" presId="urn:microsoft.com/office/officeart/2005/8/layout/orgChart1"/>
    <dgm:cxn modelId="{861C05D4-CE53-40BE-9851-0091309434C4}" type="presParOf" srcId="{CB375C58-30E7-4F0E-96D2-B0B77BF09F73}" destId="{36477285-C406-4F5D-982F-BB24AB1C2BD6}" srcOrd="0" destOrd="0" presId="urn:microsoft.com/office/officeart/2005/8/layout/orgChart1"/>
    <dgm:cxn modelId="{E90B108B-2D0E-487A-B527-322BFC4E9F47}" type="presParOf" srcId="{36477285-C406-4F5D-982F-BB24AB1C2BD6}" destId="{02D8927B-468C-48C7-B616-9BBFC1B59F11}" srcOrd="0" destOrd="0" presId="urn:microsoft.com/office/officeart/2005/8/layout/orgChart1"/>
    <dgm:cxn modelId="{DEF6D19E-A165-4291-9D11-748F74941899}" type="presParOf" srcId="{36477285-C406-4F5D-982F-BB24AB1C2BD6}" destId="{E0D0D56B-A6D1-4D0E-8753-C3CEED07E960}" srcOrd="1" destOrd="0" presId="urn:microsoft.com/office/officeart/2005/8/layout/orgChart1"/>
    <dgm:cxn modelId="{1E7DCEDF-6E85-49FA-99EA-E4AEA19FBBFC}" type="presParOf" srcId="{CB375C58-30E7-4F0E-96D2-B0B77BF09F73}" destId="{8DA98542-9807-426E-A71E-74413C3B77D8}" srcOrd="1" destOrd="0" presId="urn:microsoft.com/office/officeart/2005/8/layout/orgChart1"/>
    <dgm:cxn modelId="{273EF6E5-2FC6-4DB7-AEDF-3A2056D479A1}" type="presParOf" srcId="{CB375C58-30E7-4F0E-96D2-B0B77BF09F73}" destId="{F1CEE673-4F48-4BAD-9CAB-353EB4DB15A2}" srcOrd="2" destOrd="0" presId="urn:microsoft.com/office/officeart/2005/8/layout/orgChart1"/>
    <dgm:cxn modelId="{80B73918-5B24-42E0-8E19-DF3B8E8CC8F8}" type="presParOf" srcId="{A92175FF-4AF5-4328-9EAE-FBC7569A7F58}" destId="{770D9E2B-EA18-4B36-A1BD-BD1665D2A336}" srcOrd="2" destOrd="0" presId="urn:microsoft.com/office/officeart/2005/8/layout/orgChart1"/>
    <dgm:cxn modelId="{4500E770-6842-4791-8D62-B7BF01535134}" type="presParOf" srcId="{A92175FF-4AF5-4328-9EAE-FBC7569A7F58}" destId="{FA2125F8-3026-4680-9939-9D1B413A096A}" srcOrd="3" destOrd="0" presId="urn:microsoft.com/office/officeart/2005/8/layout/orgChart1"/>
    <dgm:cxn modelId="{734442C0-14AF-48D7-AFDF-E5AFE11F46E5}" type="presParOf" srcId="{FA2125F8-3026-4680-9939-9D1B413A096A}" destId="{EC63478E-E864-490D-B29D-5EB702E76047}" srcOrd="0" destOrd="0" presId="urn:microsoft.com/office/officeart/2005/8/layout/orgChart1"/>
    <dgm:cxn modelId="{15BD943B-D744-40C0-8C7F-C84FA085331E}" type="presParOf" srcId="{EC63478E-E864-490D-B29D-5EB702E76047}" destId="{BD95AFED-3005-4840-8619-7A92C665843C}" srcOrd="0" destOrd="0" presId="urn:microsoft.com/office/officeart/2005/8/layout/orgChart1"/>
    <dgm:cxn modelId="{BD23CE31-95D4-46EF-8D0E-DBEE8694B52D}" type="presParOf" srcId="{EC63478E-E864-490D-B29D-5EB702E76047}" destId="{4868349A-7D65-4F02-9EE7-23B255ABC1DA}" srcOrd="1" destOrd="0" presId="urn:microsoft.com/office/officeart/2005/8/layout/orgChart1"/>
    <dgm:cxn modelId="{0F47F989-660A-48AE-9156-6C9DA970ABF6}" type="presParOf" srcId="{FA2125F8-3026-4680-9939-9D1B413A096A}" destId="{403BF939-B976-49E6-A350-067D9F1C45DE}" srcOrd="1" destOrd="0" presId="urn:microsoft.com/office/officeart/2005/8/layout/orgChart1"/>
    <dgm:cxn modelId="{4A4A3F47-9B3D-4FD9-BC56-097AF4562964}" type="presParOf" srcId="{FA2125F8-3026-4680-9939-9D1B413A096A}" destId="{C7477EAB-48AF-403C-B74D-7086971DBF7D}" srcOrd="2" destOrd="0" presId="urn:microsoft.com/office/officeart/2005/8/layout/orgChart1"/>
    <dgm:cxn modelId="{9EEC4652-084E-42BF-8C90-9FF9C5D1F1CF}" type="presParOf" srcId="{A92175FF-4AF5-4328-9EAE-FBC7569A7F58}" destId="{F34D7894-C98B-4D52-BBF2-D4954739F3C8}" srcOrd="4" destOrd="0" presId="urn:microsoft.com/office/officeart/2005/8/layout/orgChart1"/>
    <dgm:cxn modelId="{CE311B8D-650C-482E-89A3-C04CF62290E1}" type="presParOf" srcId="{A92175FF-4AF5-4328-9EAE-FBC7569A7F58}" destId="{85A25F6D-4A97-4011-ADF5-4B778581140E}" srcOrd="5" destOrd="0" presId="urn:microsoft.com/office/officeart/2005/8/layout/orgChart1"/>
    <dgm:cxn modelId="{F169DFEE-7050-4942-A7C1-CA65A92591D6}" type="presParOf" srcId="{85A25F6D-4A97-4011-ADF5-4B778581140E}" destId="{BDFE4A88-B3B4-4DCC-ABB4-B6F567BD3B68}" srcOrd="0" destOrd="0" presId="urn:microsoft.com/office/officeart/2005/8/layout/orgChart1"/>
    <dgm:cxn modelId="{A81371F4-6BB7-4E5D-AED4-4F8107146FAC}" type="presParOf" srcId="{BDFE4A88-B3B4-4DCC-ABB4-B6F567BD3B68}" destId="{854D2305-F4EE-4AD6-92DB-D95F41DA9781}" srcOrd="0" destOrd="0" presId="urn:microsoft.com/office/officeart/2005/8/layout/orgChart1"/>
    <dgm:cxn modelId="{0AFBF92A-3B26-458D-9BE9-EE4ABC0B41F9}" type="presParOf" srcId="{BDFE4A88-B3B4-4DCC-ABB4-B6F567BD3B68}" destId="{5C04A865-1E06-411D-A557-2B6D89918437}" srcOrd="1" destOrd="0" presId="urn:microsoft.com/office/officeart/2005/8/layout/orgChart1"/>
    <dgm:cxn modelId="{27655BEA-FB81-4362-B00D-5E70AC37981B}" type="presParOf" srcId="{85A25F6D-4A97-4011-ADF5-4B778581140E}" destId="{D6269778-EDAD-4413-96CC-1E49EB2E7A22}" srcOrd="1" destOrd="0" presId="urn:microsoft.com/office/officeart/2005/8/layout/orgChart1"/>
    <dgm:cxn modelId="{ED9FAEDC-E3C0-424B-9CEA-F2341BFD3351}" type="presParOf" srcId="{85A25F6D-4A97-4011-ADF5-4B778581140E}" destId="{61BA350F-D02D-4812-8DC3-C2FAA9CAD329}" srcOrd="2" destOrd="0" presId="urn:microsoft.com/office/officeart/2005/8/layout/orgChart1"/>
    <dgm:cxn modelId="{8CE6C6AF-5918-49AC-9851-7A28AE487F55}" type="presParOf" srcId="{A92175FF-4AF5-4328-9EAE-FBC7569A7F58}" destId="{13495EE3-26FA-4AD6-8572-6D18709F3237}" srcOrd="6" destOrd="0" presId="urn:microsoft.com/office/officeart/2005/8/layout/orgChart1"/>
    <dgm:cxn modelId="{20A833D4-5A88-4AC1-A3BA-98A7F5E14453}" type="presParOf" srcId="{A92175FF-4AF5-4328-9EAE-FBC7569A7F58}" destId="{5615943B-F503-40B9-B871-861971EA9426}" srcOrd="7" destOrd="0" presId="urn:microsoft.com/office/officeart/2005/8/layout/orgChart1"/>
    <dgm:cxn modelId="{D971CF48-58A8-4AF2-B736-E69FBC8943BF}" type="presParOf" srcId="{5615943B-F503-40B9-B871-861971EA9426}" destId="{103565DE-45D6-48DA-B9CE-7FD002FCAC7B}" srcOrd="0" destOrd="0" presId="urn:microsoft.com/office/officeart/2005/8/layout/orgChart1"/>
    <dgm:cxn modelId="{3E7A2A23-C580-4A63-B713-5DF4DD5A5257}" type="presParOf" srcId="{103565DE-45D6-48DA-B9CE-7FD002FCAC7B}" destId="{A360E26B-3CC0-44BC-8E53-1904E2B78396}" srcOrd="0" destOrd="0" presId="urn:microsoft.com/office/officeart/2005/8/layout/orgChart1"/>
    <dgm:cxn modelId="{F80A1E38-D5BF-4EFD-BF21-348148DD5729}" type="presParOf" srcId="{103565DE-45D6-48DA-B9CE-7FD002FCAC7B}" destId="{BE76C1B3-8CD5-47B0-82D0-126FB2B80EE4}" srcOrd="1" destOrd="0" presId="urn:microsoft.com/office/officeart/2005/8/layout/orgChart1"/>
    <dgm:cxn modelId="{9446189F-3560-471C-BB25-BD283ACDA24B}" type="presParOf" srcId="{5615943B-F503-40B9-B871-861971EA9426}" destId="{E0FC616F-3902-49C3-BD11-77FEC347FB36}" srcOrd="1" destOrd="0" presId="urn:microsoft.com/office/officeart/2005/8/layout/orgChart1"/>
    <dgm:cxn modelId="{FEAEDBE3-8EDF-462B-95CD-36BDFFC06EDA}" type="presParOf" srcId="{5615943B-F503-40B9-B871-861971EA9426}" destId="{72B2F569-AEF6-4A2B-818D-9EE2FC74C6CC}" srcOrd="2" destOrd="0" presId="urn:microsoft.com/office/officeart/2005/8/layout/orgChart1"/>
    <dgm:cxn modelId="{154275CF-27F9-4F3D-A234-D1A48C5A3C39}" type="presParOf" srcId="{B6089E60-EFE6-4FF0-ACBF-7C0DA216B0BC}" destId="{FAA2FA0E-2CE1-4D48-9424-56A03A017D0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5A083A4-2D37-4B0B-9255-D685588C0943}" type="doc">
      <dgm:prSet loTypeId="urn:microsoft.com/office/officeart/2005/8/layout/orgChart1" loCatId="hierarchy" qsTypeId="urn:microsoft.com/office/officeart/2005/8/quickstyle/simple1#11" qsCatId="simple" csTypeId="urn:microsoft.com/office/officeart/2005/8/colors/accent1_2#11" csCatId="accent1" phldr="1"/>
      <dgm:spPr/>
      <dgm:t>
        <a:bodyPr/>
        <a:lstStyle/>
        <a:p>
          <a:endParaRPr lang="en-US"/>
        </a:p>
      </dgm:t>
    </dgm:pt>
    <dgm:pt modelId="{8C5A759D-8758-442E-AAA5-9D18181A1918}">
      <dgm:prSet phldrT="[Text]" custT="1"/>
      <dgm:spPr/>
      <dgm:t>
        <a:bodyPr/>
        <a:lstStyle/>
        <a:p>
          <a:r>
            <a:rPr lang="zh-CN" altLang="en-US" sz="3200" dirty="0" smtClean="0">
              <a:solidFill>
                <a:srgbClr val="000000"/>
              </a:solidFill>
            </a:rPr>
            <a:t>时延</a:t>
          </a:r>
          <a:endParaRPr lang="en-US" sz="3200" dirty="0">
            <a:solidFill>
              <a:srgbClr val="000000"/>
            </a:solidFill>
          </a:endParaRPr>
        </a:p>
      </dgm:t>
    </dgm:pt>
    <dgm:pt modelId="{155EFF51-8C79-4C7C-BFC6-A750768BAE70}" type="parTrans" cxnId="{EAD252EB-94BB-47D7-BA40-21CD18F82EF4}">
      <dgm:prSet/>
      <dgm:spPr/>
      <dgm:t>
        <a:bodyPr/>
        <a:lstStyle/>
        <a:p>
          <a:endParaRPr lang="en-US"/>
        </a:p>
      </dgm:t>
    </dgm:pt>
    <dgm:pt modelId="{4BA7D174-BBCC-4C7B-97BE-FC9DDF55AF0F}" type="sibTrans" cxnId="{EAD252EB-94BB-47D7-BA40-21CD18F82EF4}">
      <dgm:prSet/>
      <dgm:spPr/>
      <dgm:t>
        <a:bodyPr/>
        <a:lstStyle/>
        <a:p>
          <a:endParaRPr lang="en-US"/>
        </a:p>
      </dgm:t>
    </dgm:pt>
    <dgm:pt modelId="{B07AA598-7EF9-4FD0-83F9-B2DFEE3EAF97}">
      <dgm:prSet phldrT="[Text]"/>
      <dgm:spPr/>
      <dgm:t>
        <a:bodyPr/>
        <a:lstStyle/>
        <a:p>
          <a:r>
            <a:rPr lang="en-US" altLang="zh-CN" dirty="0">
              <a:solidFill>
                <a:srgbClr val="000000"/>
              </a:solidFill>
            </a:rPr>
            <a:t>*</a:t>
          </a:r>
          <a:r>
            <a:rPr lang="zh-CN" altLang="en-US" dirty="0">
              <a:solidFill>
                <a:srgbClr val="000000"/>
              </a:solidFill>
            </a:rPr>
            <a:t>发送时延</a:t>
          </a:r>
          <a:endParaRPr lang="en-US" dirty="0">
            <a:solidFill>
              <a:srgbClr val="000000"/>
            </a:solidFill>
          </a:endParaRPr>
        </a:p>
      </dgm:t>
    </dgm:pt>
    <dgm:pt modelId="{46BCD4FB-C6E5-4C7B-967D-3107BCE2E057}" type="parTrans" cxnId="{E669A823-B0D6-450B-AA70-34617715EE84}">
      <dgm:prSet/>
      <dgm:spPr/>
      <dgm:t>
        <a:bodyPr/>
        <a:lstStyle/>
        <a:p>
          <a:endParaRPr lang="en-US"/>
        </a:p>
      </dgm:t>
    </dgm:pt>
    <dgm:pt modelId="{21079A83-9308-4A56-8929-0CDCF7F6F500}" type="sibTrans" cxnId="{E669A823-B0D6-450B-AA70-34617715EE84}">
      <dgm:prSet/>
      <dgm:spPr/>
      <dgm:t>
        <a:bodyPr/>
        <a:lstStyle/>
        <a:p>
          <a:endParaRPr lang="en-US"/>
        </a:p>
      </dgm:t>
    </dgm:pt>
    <dgm:pt modelId="{EDD5BF15-8EA9-4214-B250-B8301FB41681}">
      <dgm:prSet phldrT="[Text]"/>
      <dgm:spPr/>
      <dgm:t>
        <a:bodyPr/>
        <a:lstStyle/>
        <a:p>
          <a:r>
            <a:rPr lang="en-US" altLang="zh-CN" dirty="0">
              <a:solidFill>
                <a:srgbClr val="000000"/>
              </a:solidFill>
            </a:rPr>
            <a:t>*</a:t>
          </a:r>
          <a:r>
            <a:rPr lang="zh-CN" altLang="en-US" dirty="0">
              <a:solidFill>
                <a:srgbClr val="000000"/>
              </a:solidFill>
            </a:rPr>
            <a:t>传播时延</a:t>
          </a:r>
          <a:endParaRPr lang="en-US" dirty="0">
            <a:solidFill>
              <a:srgbClr val="000000"/>
            </a:solidFill>
          </a:endParaRPr>
        </a:p>
      </dgm:t>
    </dgm:pt>
    <dgm:pt modelId="{76EF6518-1EC8-4071-8359-D41F8325FEC0}" type="parTrans" cxnId="{951709B5-FA41-4F73-8475-1DC29BB735C5}">
      <dgm:prSet/>
      <dgm:spPr/>
      <dgm:t>
        <a:bodyPr/>
        <a:lstStyle/>
        <a:p>
          <a:endParaRPr lang="en-US"/>
        </a:p>
      </dgm:t>
    </dgm:pt>
    <dgm:pt modelId="{5CDD0D1A-727C-48E7-83A9-60249713B981}" type="sibTrans" cxnId="{951709B5-FA41-4F73-8475-1DC29BB735C5}">
      <dgm:prSet/>
      <dgm:spPr/>
      <dgm:t>
        <a:bodyPr/>
        <a:lstStyle/>
        <a:p>
          <a:endParaRPr lang="en-US"/>
        </a:p>
      </dgm:t>
    </dgm:pt>
    <dgm:pt modelId="{C158E602-1FC6-4587-891A-F909CACCFD99}">
      <dgm:prSet phldrT="[Text]"/>
      <dgm:spPr/>
      <dgm:t>
        <a:bodyPr/>
        <a:lstStyle/>
        <a:p>
          <a:r>
            <a:rPr lang="zh-CN" altLang="en-US" dirty="0">
              <a:solidFill>
                <a:srgbClr val="000000"/>
              </a:solidFill>
            </a:rPr>
            <a:t>处理时延</a:t>
          </a:r>
          <a:endParaRPr lang="en-US" dirty="0">
            <a:solidFill>
              <a:srgbClr val="000000"/>
            </a:solidFill>
          </a:endParaRPr>
        </a:p>
      </dgm:t>
    </dgm:pt>
    <dgm:pt modelId="{0375B441-57BB-46E3-A499-37F7B3374879}" type="parTrans" cxnId="{FDABB649-7ED3-425B-AC66-6072E714EE3A}">
      <dgm:prSet/>
      <dgm:spPr/>
      <dgm:t>
        <a:bodyPr/>
        <a:lstStyle/>
        <a:p>
          <a:endParaRPr lang="en-US"/>
        </a:p>
      </dgm:t>
    </dgm:pt>
    <dgm:pt modelId="{CAD6F472-A148-46EF-97D2-08CB676A1BCB}" type="sibTrans" cxnId="{FDABB649-7ED3-425B-AC66-6072E714EE3A}">
      <dgm:prSet/>
      <dgm:spPr/>
      <dgm:t>
        <a:bodyPr/>
        <a:lstStyle/>
        <a:p>
          <a:endParaRPr lang="en-US"/>
        </a:p>
      </dgm:t>
    </dgm:pt>
    <dgm:pt modelId="{35146C74-DA57-49FC-9182-97EB5BA3E4A0}">
      <dgm:prSet phldrT="[Text]"/>
      <dgm:spPr/>
      <dgm:t>
        <a:bodyPr/>
        <a:lstStyle/>
        <a:p>
          <a:r>
            <a:rPr lang="zh-CN" altLang="en-US" dirty="0">
              <a:solidFill>
                <a:srgbClr val="000000"/>
              </a:solidFill>
            </a:rPr>
            <a:t>排队时延</a:t>
          </a:r>
          <a:endParaRPr lang="en-US" dirty="0">
            <a:solidFill>
              <a:srgbClr val="000000"/>
            </a:solidFill>
          </a:endParaRPr>
        </a:p>
      </dgm:t>
    </dgm:pt>
    <dgm:pt modelId="{4E91DFEB-5C92-4ED8-940A-E95BBBA50EF0}" type="parTrans" cxnId="{CB43B795-8996-4022-AB46-9F78A703B0A7}">
      <dgm:prSet/>
      <dgm:spPr/>
      <dgm:t>
        <a:bodyPr/>
        <a:lstStyle/>
        <a:p>
          <a:endParaRPr lang="en-US"/>
        </a:p>
      </dgm:t>
    </dgm:pt>
    <dgm:pt modelId="{FAA98112-723B-4EF6-9306-FDCBB9CE9FA5}" type="sibTrans" cxnId="{CB43B795-8996-4022-AB46-9F78A703B0A7}">
      <dgm:prSet/>
      <dgm:spPr/>
      <dgm:t>
        <a:bodyPr/>
        <a:lstStyle/>
        <a:p>
          <a:endParaRPr lang="en-US"/>
        </a:p>
      </dgm:t>
    </dgm:pt>
    <dgm:pt modelId="{BBBAD7E8-32BD-4551-BF67-A169696FB868}" type="pres">
      <dgm:prSet presAssocID="{75A083A4-2D37-4B0B-9255-D685588C0943}" presName="hierChild1" presStyleCnt="0">
        <dgm:presLayoutVars>
          <dgm:orgChart val="1"/>
          <dgm:chPref val="1"/>
          <dgm:dir/>
          <dgm:animOne val="branch"/>
          <dgm:animLvl val="lvl"/>
          <dgm:resizeHandles/>
        </dgm:presLayoutVars>
      </dgm:prSet>
      <dgm:spPr/>
      <dgm:t>
        <a:bodyPr/>
        <a:lstStyle/>
        <a:p>
          <a:endParaRPr lang="zh-CN" altLang="en-US"/>
        </a:p>
      </dgm:t>
    </dgm:pt>
    <dgm:pt modelId="{B6089E60-EFE6-4FF0-ACBF-7C0DA216B0BC}" type="pres">
      <dgm:prSet presAssocID="{8C5A759D-8758-442E-AAA5-9D18181A1918}" presName="hierRoot1" presStyleCnt="0">
        <dgm:presLayoutVars>
          <dgm:hierBranch val="init"/>
        </dgm:presLayoutVars>
      </dgm:prSet>
      <dgm:spPr/>
    </dgm:pt>
    <dgm:pt modelId="{5F27B3C6-B363-40AB-A7AE-6928F261DB17}" type="pres">
      <dgm:prSet presAssocID="{8C5A759D-8758-442E-AAA5-9D18181A1918}" presName="rootComposite1" presStyleCnt="0"/>
      <dgm:spPr/>
    </dgm:pt>
    <dgm:pt modelId="{5577373F-6A35-4E99-800C-3E3838126B2F}" type="pres">
      <dgm:prSet presAssocID="{8C5A759D-8758-442E-AAA5-9D18181A1918}" presName="rootText1" presStyleLbl="node0" presStyleIdx="0" presStyleCnt="1" custScaleX="133979" custScaleY="120274">
        <dgm:presLayoutVars>
          <dgm:chPref val="3"/>
        </dgm:presLayoutVars>
      </dgm:prSet>
      <dgm:spPr>
        <a:prstGeom prst="ellipse">
          <a:avLst/>
        </a:prstGeom>
      </dgm:spPr>
      <dgm:t>
        <a:bodyPr/>
        <a:lstStyle/>
        <a:p>
          <a:endParaRPr lang="zh-CN" altLang="en-US"/>
        </a:p>
      </dgm:t>
    </dgm:pt>
    <dgm:pt modelId="{01D515FD-99E9-48F0-8366-6A803C5B7D7C}" type="pres">
      <dgm:prSet presAssocID="{8C5A759D-8758-442E-AAA5-9D18181A1918}" presName="rootConnector1" presStyleLbl="node1" presStyleIdx="0" presStyleCnt="0"/>
      <dgm:spPr/>
      <dgm:t>
        <a:bodyPr/>
        <a:lstStyle/>
        <a:p>
          <a:endParaRPr lang="zh-CN" altLang="en-US"/>
        </a:p>
      </dgm:t>
    </dgm:pt>
    <dgm:pt modelId="{A92175FF-4AF5-4328-9EAE-FBC7569A7F58}" type="pres">
      <dgm:prSet presAssocID="{8C5A759D-8758-442E-AAA5-9D18181A1918}" presName="hierChild2" presStyleCnt="0"/>
      <dgm:spPr/>
    </dgm:pt>
    <dgm:pt modelId="{A1760BB4-E99C-40B1-88FA-AF71DBC82B79}" type="pres">
      <dgm:prSet presAssocID="{46BCD4FB-C6E5-4C7B-967D-3107BCE2E057}" presName="Name37" presStyleLbl="parChTrans1D2" presStyleIdx="0" presStyleCnt="4"/>
      <dgm:spPr/>
      <dgm:t>
        <a:bodyPr/>
        <a:lstStyle/>
        <a:p>
          <a:endParaRPr lang="zh-CN" altLang="en-US"/>
        </a:p>
      </dgm:t>
    </dgm:pt>
    <dgm:pt modelId="{CB375C58-30E7-4F0E-96D2-B0B77BF09F73}" type="pres">
      <dgm:prSet presAssocID="{B07AA598-7EF9-4FD0-83F9-B2DFEE3EAF97}" presName="hierRoot2" presStyleCnt="0">
        <dgm:presLayoutVars>
          <dgm:hierBranch val="init"/>
        </dgm:presLayoutVars>
      </dgm:prSet>
      <dgm:spPr/>
    </dgm:pt>
    <dgm:pt modelId="{36477285-C406-4F5D-982F-BB24AB1C2BD6}" type="pres">
      <dgm:prSet presAssocID="{B07AA598-7EF9-4FD0-83F9-B2DFEE3EAF97}" presName="rootComposite" presStyleCnt="0"/>
      <dgm:spPr/>
    </dgm:pt>
    <dgm:pt modelId="{02D8927B-468C-48C7-B616-9BBFC1B59F11}" type="pres">
      <dgm:prSet presAssocID="{B07AA598-7EF9-4FD0-83F9-B2DFEE3EAF97}" presName="rootText" presStyleLbl="node2" presStyleIdx="0" presStyleCnt="4">
        <dgm:presLayoutVars>
          <dgm:chPref val="3"/>
        </dgm:presLayoutVars>
      </dgm:prSet>
      <dgm:spPr/>
      <dgm:t>
        <a:bodyPr/>
        <a:lstStyle/>
        <a:p>
          <a:endParaRPr lang="zh-CN" altLang="en-US"/>
        </a:p>
      </dgm:t>
    </dgm:pt>
    <dgm:pt modelId="{E0D0D56B-A6D1-4D0E-8753-C3CEED07E960}" type="pres">
      <dgm:prSet presAssocID="{B07AA598-7EF9-4FD0-83F9-B2DFEE3EAF97}" presName="rootConnector" presStyleLbl="node2" presStyleIdx="0" presStyleCnt="4"/>
      <dgm:spPr/>
      <dgm:t>
        <a:bodyPr/>
        <a:lstStyle/>
        <a:p>
          <a:endParaRPr lang="zh-CN" altLang="en-US"/>
        </a:p>
      </dgm:t>
    </dgm:pt>
    <dgm:pt modelId="{8DA98542-9807-426E-A71E-74413C3B77D8}" type="pres">
      <dgm:prSet presAssocID="{B07AA598-7EF9-4FD0-83F9-B2DFEE3EAF97}" presName="hierChild4" presStyleCnt="0"/>
      <dgm:spPr/>
    </dgm:pt>
    <dgm:pt modelId="{F1CEE673-4F48-4BAD-9CAB-353EB4DB15A2}" type="pres">
      <dgm:prSet presAssocID="{B07AA598-7EF9-4FD0-83F9-B2DFEE3EAF97}" presName="hierChild5" presStyleCnt="0"/>
      <dgm:spPr/>
    </dgm:pt>
    <dgm:pt modelId="{770D9E2B-EA18-4B36-A1BD-BD1665D2A336}" type="pres">
      <dgm:prSet presAssocID="{76EF6518-1EC8-4071-8359-D41F8325FEC0}" presName="Name37" presStyleLbl="parChTrans1D2" presStyleIdx="1" presStyleCnt="4"/>
      <dgm:spPr/>
      <dgm:t>
        <a:bodyPr/>
        <a:lstStyle/>
        <a:p>
          <a:endParaRPr lang="zh-CN" altLang="en-US"/>
        </a:p>
      </dgm:t>
    </dgm:pt>
    <dgm:pt modelId="{FA2125F8-3026-4680-9939-9D1B413A096A}" type="pres">
      <dgm:prSet presAssocID="{EDD5BF15-8EA9-4214-B250-B8301FB41681}" presName="hierRoot2" presStyleCnt="0">
        <dgm:presLayoutVars>
          <dgm:hierBranch val="init"/>
        </dgm:presLayoutVars>
      </dgm:prSet>
      <dgm:spPr/>
    </dgm:pt>
    <dgm:pt modelId="{EC63478E-E864-490D-B29D-5EB702E76047}" type="pres">
      <dgm:prSet presAssocID="{EDD5BF15-8EA9-4214-B250-B8301FB41681}" presName="rootComposite" presStyleCnt="0"/>
      <dgm:spPr/>
    </dgm:pt>
    <dgm:pt modelId="{BD95AFED-3005-4840-8619-7A92C665843C}" type="pres">
      <dgm:prSet presAssocID="{EDD5BF15-8EA9-4214-B250-B8301FB41681}" presName="rootText" presStyleLbl="node2" presStyleIdx="1" presStyleCnt="4">
        <dgm:presLayoutVars>
          <dgm:chPref val="3"/>
        </dgm:presLayoutVars>
      </dgm:prSet>
      <dgm:spPr/>
      <dgm:t>
        <a:bodyPr/>
        <a:lstStyle/>
        <a:p>
          <a:endParaRPr lang="zh-CN" altLang="en-US"/>
        </a:p>
      </dgm:t>
    </dgm:pt>
    <dgm:pt modelId="{4868349A-7D65-4F02-9EE7-23B255ABC1DA}" type="pres">
      <dgm:prSet presAssocID="{EDD5BF15-8EA9-4214-B250-B8301FB41681}" presName="rootConnector" presStyleLbl="node2" presStyleIdx="1" presStyleCnt="4"/>
      <dgm:spPr/>
      <dgm:t>
        <a:bodyPr/>
        <a:lstStyle/>
        <a:p>
          <a:endParaRPr lang="zh-CN" altLang="en-US"/>
        </a:p>
      </dgm:t>
    </dgm:pt>
    <dgm:pt modelId="{403BF939-B976-49E6-A350-067D9F1C45DE}" type="pres">
      <dgm:prSet presAssocID="{EDD5BF15-8EA9-4214-B250-B8301FB41681}" presName="hierChild4" presStyleCnt="0"/>
      <dgm:spPr/>
    </dgm:pt>
    <dgm:pt modelId="{C7477EAB-48AF-403C-B74D-7086971DBF7D}" type="pres">
      <dgm:prSet presAssocID="{EDD5BF15-8EA9-4214-B250-B8301FB41681}" presName="hierChild5" presStyleCnt="0"/>
      <dgm:spPr/>
    </dgm:pt>
    <dgm:pt modelId="{F34D7894-C98B-4D52-BBF2-D4954739F3C8}" type="pres">
      <dgm:prSet presAssocID="{0375B441-57BB-46E3-A499-37F7B3374879}" presName="Name37" presStyleLbl="parChTrans1D2" presStyleIdx="2" presStyleCnt="4"/>
      <dgm:spPr/>
      <dgm:t>
        <a:bodyPr/>
        <a:lstStyle/>
        <a:p>
          <a:endParaRPr lang="zh-CN" altLang="en-US"/>
        </a:p>
      </dgm:t>
    </dgm:pt>
    <dgm:pt modelId="{85A25F6D-4A97-4011-ADF5-4B778581140E}" type="pres">
      <dgm:prSet presAssocID="{C158E602-1FC6-4587-891A-F909CACCFD99}" presName="hierRoot2" presStyleCnt="0">
        <dgm:presLayoutVars>
          <dgm:hierBranch val="init"/>
        </dgm:presLayoutVars>
      </dgm:prSet>
      <dgm:spPr/>
    </dgm:pt>
    <dgm:pt modelId="{BDFE4A88-B3B4-4DCC-ABB4-B6F567BD3B68}" type="pres">
      <dgm:prSet presAssocID="{C158E602-1FC6-4587-891A-F909CACCFD99}" presName="rootComposite" presStyleCnt="0"/>
      <dgm:spPr/>
    </dgm:pt>
    <dgm:pt modelId="{854D2305-F4EE-4AD6-92DB-D95F41DA9781}" type="pres">
      <dgm:prSet presAssocID="{C158E602-1FC6-4587-891A-F909CACCFD99}" presName="rootText" presStyleLbl="node2" presStyleIdx="2" presStyleCnt="4">
        <dgm:presLayoutVars>
          <dgm:chPref val="3"/>
        </dgm:presLayoutVars>
      </dgm:prSet>
      <dgm:spPr/>
      <dgm:t>
        <a:bodyPr/>
        <a:lstStyle/>
        <a:p>
          <a:endParaRPr lang="zh-CN" altLang="en-US"/>
        </a:p>
      </dgm:t>
    </dgm:pt>
    <dgm:pt modelId="{5C04A865-1E06-411D-A557-2B6D89918437}" type="pres">
      <dgm:prSet presAssocID="{C158E602-1FC6-4587-891A-F909CACCFD99}" presName="rootConnector" presStyleLbl="node2" presStyleIdx="2" presStyleCnt="4"/>
      <dgm:spPr/>
      <dgm:t>
        <a:bodyPr/>
        <a:lstStyle/>
        <a:p>
          <a:endParaRPr lang="zh-CN" altLang="en-US"/>
        </a:p>
      </dgm:t>
    </dgm:pt>
    <dgm:pt modelId="{D6269778-EDAD-4413-96CC-1E49EB2E7A22}" type="pres">
      <dgm:prSet presAssocID="{C158E602-1FC6-4587-891A-F909CACCFD99}" presName="hierChild4" presStyleCnt="0"/>
      <dgm:spPr/>
    </dgm:pt>
    <dgm:pt modelId="{61BA350F-D02D-4812-8DC3-C2FAA9CAD329}" type="pres">
      <dgm:prSet presAssocID="{C158E602-1FC6-4587-891A-F909CACCFD99}" presName="hierChild5" presStyleCnt="0"/>
      <dgm:spPr/>
    </dgm:pt>
    <dgm:pt modelId="{13495EE3-26FA-4AD6-8572-6D18709F3237}" type="pres">
      <dgm:prSet presAssocID="{4E91DFEB-5C92-4ED8-940A-E95BBBA50EF0}" presName="Name37" presStyleLbl="parChTrans1D2" presStyleIdx="3" presStyleCnt="4"/>
      <dgm:spPr/>
      <dgm:t>
        <a:bodyPr/>
        <a:lstStyle/>
        <a:p>
          <a:endParaRPr lang="zh-CN" altLang="en-US"/>
        </a:p>
      </dgm:t>
    </dgm:pt>
    <dgm:pt modelId="{5615943B-F503-40B9-B871-861971EA9426}" type="pres">
      <dgm:prSet presAssocID="{35146C74-DA57-49FC-9182-97EB5BA3E4A0}" presName="hierRoot2" presStyleCnt="0">
        <dgm:presLayoutVars>
          <dgm:hierBranch val="init"/>
        </dgm:presLayoutVars>
      </dgm:prSet>
      <dgm:spPr/>
    </dgm:pt>
    <dgm:pt modelId="{103565DE-45D6-48DA-B9CE-7FD002FCAC7B}" type="pres">
      <dgm:prSet presAssocID="{35146C74-DA57-49FC-9182-97EB5BA3E4A0}" presName="rootComposite" presStyleCnt="0"/>
      <dgm:spPr/>
    </dgm:pt>
    <dgm:pt modelId="{A360E26B-3CC0-44BC-8E53-1904E2B78396}" type="pres">
      <dgm:prSet presAssocID="{35146C74-DA57-49FC-9182-97EB5BA3E4A0}" presName="rootText" presStyleLbl="node2" presStyleIdx="3" presStyleCnt="4">
        <dgm:presLayoutVars>
          <dgm:chPref val="3"/>
        </dgm:presLayoutVars>
      </dgm:prSet>
      <dgm:spPr/>
      <dgm:t>
        <a:bodyPr/>
        <a:lstStyle/>
        <a:p>
          <a:endParaRPr lang="zh-CN" altLang="en-US"/>
        </a:p>
      </dgm:t>
    </dgm:pt>
    <dgm:pt modelId="{BE76C1B3-8CD5-47B0-82D0-126FB2B80EE4}" type="pres">
      <dgm:prSet presAssocID="{35146C74-DA57-49FC-9182-97EB5BA3E4A0}" presName="rootConnector" presStyleLbl="node2" presStyleIdx="3" presStyleCnt="4"/>
      <dgm:spPr/>
      <dgm:t>
        <a:bodyPr/>
        <a:lstStyle/>
        <a:p>
          <a:endParaRPr lang="zh-CN" altLang="en-US"/>
        </a:p>
      </dgm:t>
    </dgm:pt>
    <dgm:pt modelId="{E0FC616F-3902-49C3-BD11-77FEC347FB36}" type="pres">
      <dgm:prSet presAssocID="{35146C74-DA57-49FC-9182-97EB5BA3E4A0}" presName="hierChild4" presStyleCnt="0"/>
      <dgm:spPr/>
    </dgm:pt>
    <dgm:pt modelId="{72B2F569-AEF6-4A2B-818D-9EE2FC74C6CC}" type="pres">
      <dgm:prSet presAssocID="{35146C74-DA57-49FC-9182-97EB5BA3E4A0}" presName="hierChild5" presStyleCnt="0"/>
      <dgm:spPr/>
    </dgm:pt>
    <dgm:pt modelId="{FAA2FA0E-2CE1-4D48-9424-56A03A017D0B}" type="pres">
      <dgm:prSet presAssocID="{8C5A759D-8758-442E-AAA5-9D18181A1918}" presName="hierChild3" presStyleCnt="0"/>
      <dgm:spPr/>
    </dgm:pt>
  </dgm:ptLst>
  <dgm:cxnLst>
    <dgm:cxn modelId="{57CE80B6-4BA0-4888-879D-7A207630E98B}" type="presOf" srcId="{8C5A759D-8758-442E-AAA5-9D18181A1918}" destId="{5577373F-6A35-4E99-800C-3E3838126B2F}" srcOrd="0" destOrd="0" presId="urn:microsoft.com/office/officeart/2005/8/layout/orgChart1"/>
    <dgm:cxn modelId="{902866FE-66C0-4176-BC20-D474617B8E23}" type="presOf" srcId="{EDD5BF15-8EA9-4214-B250-B8301FB41681}" destId="{BD95AFED-3005-4840-8619-7A92C665843C}" srcOrd="0" destOrd="0" presId="urn:microsoft.com/office/officeart/2005/8/layout/orgChart1"/>
    <dgm:cxn modelId="{C382C06C-5B10-4510-AB5E-BBE77E1C10E1}" type="presOf" srcId="{B07AA598-7EF9-4FD0-83F9-B2DFEE3EAF97}" destId="{E0D0D56B-A6D1-4D0E-8753-C3CEED07E960}" srcOrd="1" destOrd="0" presId="urn:microsoft.com/office/officeart/2005/8/layout/orgChart1"/>
    <dgm:cxn modelId="{CB43B795-8996-4022-AB46-9F78A703B0A7}" srcId="{8C5A759D-8758-442E-AAA5-9D18181A1918}" destId="{35146C74-DA57-49FC-9182-97EB5BA3E4A0}" srcOrd="3" destOrd="0" parTransId="{4E91DFEB-5C92-4ED8-940A-E95BBBA50EF0}" sibTransId="{FAA98112-723B-4EF6-9306-FDCBB9CE9FA5}"/>
    <dgm:cxn modelId="{3EB472AA-82EC-4268-A5D8-7ADB9AC67772}" type="presOf" srcId="{C158E602-1FC6-4587-891A-F909CACCFD99}" destId="{854D2305-F4EE-4AD6-92DB-D95F41DA9781}" srcOrd="0" destOrd="0" presId="urn:microsoft.com/office/officeart/2005/8/layout/orgChart1"/>
    <dgm:cxn modelId="{951709B5-FA41-4F73-8475-1DC29BB735C5}" srcId="{8C5A759D-8758-442E-AAA5-9D18181A1918}" destId="{EDD5BF15-8EA9-4214-B250-B8301FB41681}" srcOrd="1" destOrd="0" parTransId="{76EF6518-1EC8-4071-8359-D41F8325FEC0}" sibTransId="{5CDD0D1A-727C-48E7-83A9-60249713B981}"/>
    <dgm:cxn modelId="{8C071A91-9AD0-4D36-A4DB-26094AF27747}" type="presOf" srcId="{76EF6518-1EC8-4071-8359-D41F8325FEC0}" destId="{770D9E2B-EA18-4B36-A1BD-BD1665D2A336}" srcOrd="0" destOrd="0" presId="urn:microsoft.com/office/officeart/2005/8/layout/orgChart1"/>
    <dgm:cxn modelId="{FDABB649-7ED3-425B-AC66-6072E714EE3A}" srcId="{8C5A759D-8758-442E-AAA5-9D18181A1918}" destId="{C158E602-1FC6-4587-891A-F909CACCFD99}" srcOrd="2" destOrd="0" parTransId="{0375B441-57BB-46E3-A499-37F7B3374879}" sibTransId="{CAD6F472-A148-46EF-97D2-08CB676A1BCB}"/>
    <dgm:cxn modelId="{325EF70F-F8D2-4679-B47E-C762C5C5362C}" type="presOf" srcId="{35146C74-DA57-49FC-9182-97EB5BA3E4A0}" destId="{BE76C1B3-8CD5-47B0-82D0-126FB2B80EE4}" srcOrd="1" destOrd="0" presId="urn:microsoft.com/office/officeart/2005/8/layout/orgChart1"/>
    <dgm:cxn modelId="{6C9493E1-DE59-4129-A8DD-455AB358EAE7}" type="presOf" srcId="{8C5A759D-8758-442E-AAA5-9D18181A1918}" destId="{01D515FD-99E9-48F0-8366-6A803C5B7D7C}" srcOrd="1" destOrd="0" presId="urn:microsoft.com/office/officeart/2005/8/layout/orgChart1"/>
    <dgm:cxn modelId="{3C554952-58C5-432E-B5BE-CB2395CACA2C}" type="presOf" srcId="{0375B441-57BB-46E3-A499-37F7B3374879}" destId="{F34D7894-C98B-4D52-BBF2-D4954739F3C8}" srcOrd="0" destOrd="0" presId="urn:microsoft.com/office/officeart/2005/8/layout/orgChart1"/>
    <dgm:cxn modelId="{1BD61976-4BBF-48B1-BF48-31182AEF5AED}" type="presOf" srcId="{4E91DFEB-5C92-4ED8-940A-E95BBBA50EF0}" destId="{13495EE3-26FA-4AD6-8572-6D18709F3237}" srcOrd="0" destOrd="0" presId="urn:microsoft.com/office/officeart/2005/8/layout/orgChart1"/>
    <dgm:cxn modelId="{A6EB5B18-9AA5-41AD-BF39-9B1AA6D4AFE2}" type="presOf" srcId="{46BCD4FB-C6E5-4C7B-967D-3107BCE2E057}" destId="{A1760BB4-E99C-40B1-88FA-AF71DBC82B79}" srcOrd="0" destOrd="0" presId="urn:microsoft.com/office/officeart/2005/8/layout/orgChart1"/>
    <dgm:cxn modelId="{7CB13E49-25D2-4B4D-8B09-CA90140D6B6F}" type="presOf" srcId="{EDD5BF15-8EA9-4214-B250-B8301FB41681}" destId="{4868349A-7D65-4F02-9EE7-23B255ABC1DA}" srcOrd="1" destOrd="0" presId="urn:microsoft.com/office/officeart/2005/8/layout/orgChart1"/>
    <dgm:cxn modelId="{E25776E6-ED7D-43A2-B734-22B05E717FE9}" type="presOf" srcId="{75A083A4-2D37-4B0B-9255-D685588C0943}" destId="{BBBAD7E8-32BD-4551-BF67-A169696FB868}" srcOrd="0" destOrd="0" presId="urn:microsoft.com/office/officeart/2005/8/layout/orgChart1"/>
    <dgm:cxn modelId="{3F3E3B74-BF92-4DA1-A077-FD0D1B8468AB}" type="presOf" srcId="{35146C74-DA57-49FC-9182-97EB5BA3E4A0}" destId="{A360E26B-3CC0-44BC-8E53-1904E2B78396}" srcOrd="0" destOrd="0" presId="urn:microsoft.com/office/officeart/2005/8/layout/orgChart1"/>
    <dgm:cxn modelId="{2E5E0876-F823-444F-A50D-139789B15438}" type="presOf" srcId="{C158E602-1FC6-4587-891A-F909CACCFD99}" destId="{5C04A865-1E06-411D-A557-2B6D89918437}" srcOrd="1" destOrd="0" presId="urn:microsoft.com/office/officeart/2005/8/layout/orgChart1"/>
    <dgm:cxn modelId="{457C966B-C437-483D-A42C-E364D49BD859}" type="presOf" srcId="{B07AA598-7EF9-4FD0-83F9-B2DFEE3EAF97}" destId="{02D8927B-468C-48C7-B616-9BBFC1B59F11}" srcOrd="0" destOrd="0" presId="urn:microsoft.com/office/officeart/2005/8/layout/orgChart1"/>
    <dgm:cxn modelId="{EAD252EB-94BB-47D7-BA40-21CD18F82EF4}" srcId="{75A083A4-2D37-4B0B-9255-D685588C0943}" destId="{8C5A759D-8758-442E-AAA5-9D18181A1918}" srcOrd="0" destOrd="0" parTransId="{155EFF51-8C79-4C7C-BFC6-A750768BAE70}" sibTransId="{4BA7D174-BBCC-4C7B-97BE-FC9DDF55AF0F}"/>
    <dgm:cxn modelId="{E669A823-B0D6-450B-AA70-34617715EE84}" srcId="{8C5A759D-8758-442E-AAA5-9D18181A1918}" destId="{B07AA598-7EF9-4FD0-83F9-B2DFEE3EAF97}" srcOrd="0" destOrd="0" parTransId="{46BCD4FB-C6E5-4C7B-967D-3107BCE2E057}" sibTransId="{21079A83-9308-4A56-8929-0CDCF7F6F500}"/>
    <dgm:cxn modelId="{6691CAD1-5BA5-42AE-BCB5-88F91A6C7AFC}" type="presParOf" srcId="{BBBAD7E8-32BD-4551-BF67-A169696FB868}" destId="{B6089E60-EFE6-4FF0-ACBF-7C0DA216B0BC}" srcOrd="0" destOrd="0" presId="urn:microsoft.com/office/officeart/2005/8/layout/orgChart1"/>
    <dgm:cxn modelId="{435D3552-6739-4D2C-B941-AC55CBC3859C}" type="presParOf" srcId="{B6089E60-EFE6-4FF0-ACBF-7C0DA216B0BC}" destId="{5F27B3C6-B363-40AB-A7AE-6928F261DB17}" srcOrd="0" destOrd="0" presId="urn:microsoft.com/office/officeart/2005/8/layout/orgChart1"/>
    <dgm:cxn modelId="{28FA3567-6FB5-4E58-9CA7-27D5A9C4039F}" type="presParOf" srcId="{5F27B3C6-B363-40AB-A7AE-6928F261DB17}" destId="{5577373F-6A35-4E99-800C-3E3838126B2F}" srcOrd="0" destOrd="0" presId="urn:microsoft.com/office/officeart/2005/8/layout/orgChart1"/>
    <dgm:cxn modelId="{44C1FB0F-2490-4296-838C-1C2D06B75F2C}" type="presParOf" srcId="{5F27B3C6-B363-40AB-A7AE-6928F261DB17}" destId="{01D515FD-99E9-48F0-8366-6A803C5B7D7C}" srcOrd="1" destOrd="0" presId="urn:microsoft.com/office/officeart/2005/8/layout/orgChart1"/>
    <dgm:cxn modelId="{215CC187-0D15-4D77-A4C0-995DB595E256}" type="presParOf" srcId="{B6089E60-EFE6-4FF0-ACBF-7C0DA216B0BC}" destId="{A92175FF-4AF5-4328-9EAE-FBC7569A7F58}" srcOrd="1" destOrd="0" presId="urn:microsoft.com/office/officeart/2005/8/layout/orgChart1"/>
    <dgm:cxn modelId="{C6FE63AD-6C5E-40B6-A5B3-8F026295D954}" type="presParOf" srcId="{A92175FF-4AF5-4328-9EAE-FBC7569A7F58}" destId="{A1760BB4-E99C-40B1-88FA-AF71DBC82B79}" srcOrd="0" destOrd="0" presId="urn:microsoft.com/office/officeart/2005/8/layout/orgChart1"/>
    <dgm:cxn modelId="{A75B605D-8D4C-4FF0-8D7F-872ABF11A988}" type="presParOf" srcId="{A92175FF-4AF5-4328-9EAE-FBC7569A7F58}" destId="{CB375C58-30E7-4F0E-96D2-B0B77BF09F73}" srcOrd="1" destOrd="0" presId="urn:microsoft.com/office/officeart/2005/8/layout/orgChart1"/>
    <dgm:cxn modelId="{4C5804E5-865E-433B-AEB5-164D4EE0B875}" type="presParOf" srcId="{CB375C58-30E7-4F0E-96D2-B0B77BF09F73}" destId="{36477285-C406-4F5D-982F-BB24AB1C2BD6}" srcOrd="0" destOrd="0" presId="urn:microsoft.com/office/officeart/2005/8/layout/orgChart1"/>
    <dgm:cxn modelId="{72E366C0-F41E-4351-A042-542A13401825}" type="presParOf" srcId="{36477285-C406-4F5D-982F-BB24AB1C2BD6}" destId="{02D8927B-468C-48C7-B616-9BBFC1B59F11}" srcOrd="0" destOrd="0" presId="urn:microsoft.com/office/officeart/2005/8/layout/orgChart1"/>
    <dgm:cxn modelId="{CEC2788B-6ACF-48EA-98F2-BAD7185670F1}" type="presParOf" srcId="{36477285-C406-4F5D-982F-BB24AB1C2BD6}" destId="{E0D0D56B-A6D1-4D0E-8753-C3CEED07E960}" srcOrd="1" destOrd="0" presId="urn:microsoft.com/office/officeart/2005/8/layout/orgChart1"/>
    <dgm:cxn modelId="{10E01BF2-F814-44E9-870B-726458BCE8DC}" type="presParOf" srcId="{CB375C58-30E7-4F0E-96D2-B0B77BF09F73}" destId="{8DA98542-9807-426E-A71E-74413C3B77D8}" srcOrd="1" destOrd="0" presId="urn:microsoft.com/office/officeart/2005/8/layout/orgChart1"/>
    <dgm:cxn modelId="{D36C41F9-A45C-4E17-A00B-31392161A2C2}" type="presParOf" srcId="{CB375C58-30E7-4F0E-96D2-B0B77BF09F73}" destId="{F1CEE673-4F48-4BAD-9CAB-353EB4DB15A2}" srcOrd="2" destOrd="0" presId="urn:microsoft.com/office/officeart/2005/8/layout/orgChart1"/>
    <dgm:cxn modelId="{C3B87918-53DA-41ED-A564-2D2846260481}" type="presParOf" srcId="{A92175FF-4AF5-4328-9EAE-FBC7569A7F58}" destId="{770D9E2B-EA18-4B36-A1BD-BD1665D2A336}" srcOrd="2" destOrd="0" presId="urn:microsoft.com/office/officeart/2005/8/layout/orgChart1"/>
    <dgm:cxn modelId="{80BB6C3E-752B-4064-8161-404158004FBB}" type="presParOf" srcId="{A92175FF-4AF5-4328-9EAE-FBC7569A7F58}" destId="{FA2125F8-3026-4680-9939-9D1B413A096A}" srcOrd="3" destOrd="0" presId="urn:microsoft.com/office/officeart/2005/8/layout/orgChart1"/>
    <dgm:cxn modelId="{F7C71522-31B9-4B27-91B2-221F362D25AC}" type="presParOf" srcId="{FA2125F8-3026-4680-9939-9D1B413A096A}" destId="{EC63478E-E864-490D-B29D-5EB702E76047}" srcOrd="0" destOrd="0" presId="urn:microsoft.com/office/officeart/2005/8/layout/orgChart1"/>
    <dgm:cxn modelId="{FF52F78E-6749-42DF-BA00-82F8C8AAC34A}" type="presParOf" srcId="{EC63478E-E864-490D-B29D-5EB702E76047}" destId="{BD95AFED-3005-4840-8619-7A92C665843C}" srcOrd="0" destOrd="0" presId="urn:microsoft.com/office/officeart/2005/8/layout/orgChart1"/>
    <dgm:cxn modelId="{97D1B69F-136C-43C8-BDEF-AB0F13C4C1F8}" type="presParOf" srcId="{EC63478E-E864-490D-B29D-5EB702E76047}" destId="{4868349A-7D65-4F02-9EE7-23B255ABC1DA}" srcOrd="1" destOrd="0" presId="urn:microsoft.com/office/officeart/2005/8/layout/orgChart1"/>
    <dgm:cxn modelId="{5203CA71-C8F4-4663-8D12-CE245FD0685A}" type="presParOf" srcId="{FA2125F8-3026-4680-9939-9D1B413A096A}" destId="{403BF939-B976-49E6-A350-067D9F1C45DE}" srcOrd="1" destOrd="0" presId="urn:microsoft.com/office/officeart/2005/8/layout/orgChart1"/>
    <dgm:cxn modelId="{12E4FF2A-1508-4F96-B124-2DAFCD9E2778}" type="presParOf" srcId="{FA2125F8-3026-4680-9939-9D1B413A096A}" destId="{C7477EAB-48AF-403C-B74D-7086971DBF7D}" srcOrd="2" destOrd="0" presId="urn:microsoft.com/office/officeart/2005/8/layout/orgChart1"/>
    <dgm:cxn modelId="{A879C00B-ED26-4189-9C48-B12D2BD43099}" type="presParOf" srcId="{A92175FF-4AF5-4328-9EAE-FBC7569A7F58}" destId="{F34D7894-C98B-4D52-BBF2-D4954739F3C8}" srcOrd="4" destOrd="0" presId="urn:microsoft.com/office/officeart/2005/8/layout/orgChart1"/>
    <dgm:cxn modelId="{3C6CFAD4-6C56-48D1-8655-503AC1C0129C}" type="presParOf" srcId="{A92175FF-4AF5-4328-9EAE-FBC7569A7F58}" destId="{85A25F6D-4A97-4011-ADF5-4B778581140E}" srcOrd="5" destOrd="0" presId="urn:microsoft.com/office/officeart/2005/8/layout/orgChart1"/>
    <dgm:cxn modelId="{0A1A818C-EEB6-4181-8B3A-A1DBEBB38AC0}" type="presParOf" srcId="{85A25F6D-4A97-4011-ADF5-4B778581140E}" destId="{BDFE4A88-B3B4-4DCC-ABB4-B6F567BD3B68}" srcOrd="0" destOrd="0" presId="urn:microsoft.com/office/officeart/2005/8/layout/orgChart1"/>
    <dgm:cxn modelId="{08E2D3C2-8275-446D-96A1-BB9DF1BE2A3D}" type="presParOf" srcId="{BDFE4A88-B3B4-4DCC-ABB4-B6F567BD3B68}" destId="{854D2305-F4EE-4AD6-92DB-D95F41DA9781}" srcOrd="0" destOrd="0" presId="urn:microsoft.com/office/officeart/2005/8/layout/orgChart1"/>
    <dgm:cxn modelId="{F6F85B30-74F0-49C4-AD95-17EBB43EEE0F}" type="presParOf" srcId="{BDFE4A88-B3B4-4DCC-ABB4-B6F567BD3B68}" destId="{5C04A865-1E06-411D-A557-2B6D89918437}" srcOrd="1" destOrd="0" presId="urn:microsoft.com/office/officeart/2005/8/layout/orgChart1"/>
    <dgm:cxn modelId="{D22AAA79-6BF5-42DC-964C-9ABD8C49749B}" type="presParOf" srcId="{85A25F6D-4A97-4011-ADF5-4B778581140E}" destId="{D6269778-EDAD-4413-96CC-1E49EB2E7A22}" srcOrd="1" destOrd="0" presId="urn:microsoft.com/office/officeart/2005/8/layout/orgChart1"/>
    <dgm:cxn modelId="{B9180EE8-68F1-4939-BFAF-EDFBD991ADDC}" type="presParOf" srcId="{85A25F6D-4A97-4011-ADF5-4B778581140E}" destId="{61BA350F-D02D-4812-8DC3-C2FAA9CAD329}" srcOrd="2" destOrd="0" presId="urn:microsoft.com/office/officeart/2005/8/layout/orgChart1"/>
    <dgm:cxn modelId="{8CE23339-C7BC-456A-AD73-96E6B646023F}" type="presParOf" srcId="{A92175FF-4AF5-4328-9EAE-FBC7569A7F58}" destId="{13495EE3-26FA-4AD6-8572-6D18709F3237}" srcOrd="6" destOrd="0" presId="urn:microsoft.com/office/officeart/2005/8/layout/orgChart1"/>
    <dgm:cxn modelId="{D899B1DD-7A1E-4F7F-B2CB-E10E95A0CD67}" type="presParOf" srcId="{A92175FF-4AF5-4328-9EAE-FBC7569A7F58}" destId="{5615943B-F503-40B9-B871-861971EA9426}" srcOrd="7" destOrd="0" presId="urn:microsoft.com/office/officeart/2005/8/layout/orgChart1"/>
    <dgm:cxn modelId="{3C1108C4-61A5-47BE-9963-EDADF92410C5}" type="presParOf" srcId="{5615943B-F503-40B9-B871-861971EA9426}" destId="{103565DE-45D6-48DA-B9CE-7FD002FCAC7B}" srcOrd="0" destOrd="0" presId="urn:microsoft.com/office/officeart/2005/8/layout/orgChart1"/>
    <dgm:cxn modelId="{819AE224-9BA9-4829-933D-B1880951CCB6}" type="presParOf" srcId="{103565DE-45D6-48DA-B9CE-7FD002FCAC7B}" destId="{A360E26B-3CC0-44BC-8E53-1904E2B78396}" srcOrd="0" destOrd="0" presId="urn:microsoft.com/office/officeart/2005/8/layout/orgChart1"/>
    <dgm:cxn modelId="{65BB1B5C-2677-4BCF-8055-D054EF329EEA}" type="presParOf" srcId="{103565DE-45D6-48DA-B9CE-7FD002FCAC7B}" destId="{BE76C1B3-8CD5-47B0-82D0-126FB2B80EE4}" srcOrd="1" destOrd="0" presId="urn:microsoft.com/office/officeart/2005/8/layout/orgChart1"/>
    <dgm:cxn modelId="{B25255FB-1293-4A49-B9C7-4CD39096B079}" type="presParOf" srcId="{5615943B-F503-40B9-B871-861971EA9426}" destId="{E0FC616F-3902-49C3-BD11-77FEC347FB36}" srcOrd="1" destOrd="0" presId="urn:microsoft.com/office/officeart/2005/8/layout/orgChart1"/>
    <dgm:cxn modelId="{92F26A04-28EC-40D0-AD32-BA6E5D41925A}" type="presParOf" srcId="{5615943B-F503-40B9-B871-861971EA9426}" destId="{72B2F569-AEF6-4A2B-818D-9EE2FC74C6CC}" srcOrd="2" destOrd="0" presId="urn:microsoft.com/office/officeart/2005/8/layout/orgChart1"/>
    <dgm:cxn modelId="{98A3B375-43ED-4712-850C-D7A51C00F9EE}" type="presParOf" srcId="{B6089E60-EFE6-4FF0-ACBF-7C0DA216B0BC}" destId="{FAA2FA0E-2CE1-4D48-9424-56A03A017D0B}"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8530140-3F55-46BC-848D-A4C14AA8BC1C}" type="doc">
      <dgm:prSet loTypeId="urn:microsoft.com/office/officeart/2005/8/layout/hList1" loCatId="list" qsTypeId="urn:microsoft.com/office/officeart/2005/8/quickstyle/simple5" qsCatId="simple" csTypeId="urn:microsoft.com/office/officeart/2005/8/colors/colorful1#5" csCatId="colorful" phldr="1"/>
      <dgm:spPr/>
      <dgm:t>
        <a:bodyPr/>
        <a:lstStyle/>
        <a:p>
          <a:endParaRPr lang="zh-CN" altLang="en-US"/>
        </a:p>
      </dgm:t>
    </dgm:pt>
    <dgm:pt modelId="{617AE38B-731F-4729-B28F-C30C3037C6EF}">
      <dgm:prSet phldrT="[文本]" custT="1"/>
      <dgm:spPr/>
      <dgm:t>
        <a:bodyPr/>
        <a:lstStyle/>
        <a:p>
          <a:r>
            <a:rPr lang="zh-CN" altLang="en-US" sz="2800" b="1" dirty="0" smtClean="0">
              <a:latin typeface="微软雅黑" panose="020B0503020204020204" pitchFamily="34" charset="-122"/>
              <a:ea typeface="微软雅黑" panose="020B0503020204020204" pitchFamily="34" charset="-122"/>
            </a:rPr>
            <a:t>信道利用率</a:t>
          </a:r>
          <a:endParaRPr lang="zh-CN" altLang="en-US" sz="2800" b="1" dirty="0">
            <a:latin typeface="微软雅黑" panose="020B0503020204020204" pitchFamily="34" charset="-122"/>
            <a:ea typeface="微软雅黑" panose="020B0503020204020204" pitchFamily="34" charset="-122"/>
          </a:endParaRPr>
        </a:p>
      </dgm:t>
    </dgm:pt>
    <dgm:pt modelId="{E59DA53A-3783-4CE4-8AD5-26603DC4E19D}" type="parTrans" cxnId="{A85E3E8F-E7E6-4ECC-A71E-7AC941D62EF2}">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D4789360-920D-40CE-84C5-78110649C9AA}" type="sibTrans" cxnId="{A85E3E8F-E7E6-4ECC-A71E-7AC941D62EF2}">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1EC6DEAD-6406-4DFB-8DEA-CD3C17DC614D}">
      <dgm:prSet phldrT="[文本]" custT="1"/>
      <dgm:spPr/>
      <dgm:t>
        <a:bodyPr/>
        <a:lstStyle/>
        <a:p>
          <a:r>
            <a:rPr lang="zh-CN" altLang="en-US" sz="2400" b="1" dirty="0" smtClean="0">
              <a:solidFill>
                <a:srgbClr val="1C1C1C"/>
              </a:solidFill>
              <a:latin typeface="微软雅黑" panose="020B0503020204020204" pitchFamily="34" charset="-122"/>
              <a:ea typeface="微软雅黑" panose="020B0503020204020204" pitchFamily="34" charset="-122"/>
            </a:rPr>
            <a:t>某信道有百分之几的时间是被利用的（即有数据通过）。</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482F333A-D861-4AA0-A30F-1C931619106C}" type="parTrans" cxnId="{CE89C4F3-23B2-46F4-A4AF-ACF50B7D990F}">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2B14CB4C-25BD-4D3A-91BC-2F5637AA90E5}" type="sibTrans" cxnId="{CE89C4F3-23B2-46F4-A4AF-ACF50B7D990F}">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37820C6F-2839-48A4-95ED-EBDFE872E9B1}">
      <dgm:prSet phldrT="[文本]" custT="1"/>
      <dgm:spPr>
        <a:solidFill>
          <a:srgbClr val="91B042"/>
        </a:solidFill>
      </dgm:spPr>
      <dgm:t>
        <a:bodyPr/>
        <a:lstStyle/>
        <a:p>
          <a:r>
            <a:rPr lang="zh-CN" altLang="en-US" sz="2800" b="1" dirty="0" smtClean="0">
              <a:latin typeface="微软雅黑" panose="020B0503020204020204" pitchFamily="34" charset="-122"/>
              <a:ea typeface="微软雅黑" panose="020B0503020204020204" pitchFamily="34" charset="-122"/>
            </a:rPr>
            <a:t>网络利用率</a:t>
          </a:r>
          <a:endParaRPr lang="zh-CN" altLang="en-US" sz="2800" b="1" dirty="0">
            <a:latin typeface="微软雅黑" panose="020B0503020204020204" pitchFamily="34" charset="-122"/>
            <a:ea typeface="微软雅黑" panose="020B0503020204020204" pitchFamily="34" charset="-122"/>
          </a:endParaRPr>
        </a:p>
      </dgm:t>
    </dgm:pt>
    <dgm:pt modelId="{11E1DEE2-EAF3-490A-A502-3BB3E26556A0}" type="parTrans" cxnId="{19DC375B-E541-4B59-8382-93A56F7F35BD}">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573100A8-454C-4D8A-8DBD-7B32E1030A4A}" type="sibTrans" cxnId="{19DC375B-E541-4B59-8382-93A56F7F35BD}">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7DEA8A1D-B9FF-44AA-B42C-06D817B609F8}">
      <dgm:prSet phldrT="[文本]" custT="1"/>
      <dgm:spPr>
        <a:solidFill>
          <a:srgbClr val="D6E5BD">
            <a:alpha val="90000"/>
          </a:srgbClr>
        </a:solidFill>
      </dgm:spPr>
      <dgm:t>
        <a:bodyPr/>
        <a:lstStyle/>
        <a:p>
          <a:r>
            <a:rPr lang="zh-CN" altLang="en-US" sz="2400" b="1" dirty="0" smtClean="0">
              <a:solidFill>
                <a:srgbClr val="1C1C1C"/>
              </a:solidFill>
              <a:latin typeface="微软雅黑" panose="020B0503020204020204" pitchFamily="34" charset="-122"/>
              <a:ea typeface="微软雅黑" panose="020B0503020204020204" pitchFamily="34" charset="-122"/>
            </a:rPr>
            <a:t>全网络的信道利用率的加权平均值。</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CDC104ED-5DB9-424C-8439-CDDBB0142664}" type="parTrans" cxnId="{9DC2B627-F44A-4C33-82E3-BC9DA9CC6DCC}">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7F73DD2A-CC9B-4D66-A6A1-7EE41BC0E8A4}" type="sibTrans" cxnId="{9DC2B627-F44A-4C33-82E3-BC9DA9CC6DCC}">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300B28D7-2FDD-447A-8655-1C4703F07E1D}">
      <dgm:prSet custT="1"/>
      <dgm:spPr/>
      <dgm:t>
        <a:bodyPr/>
        <a:lstStyle/>
        <a:p>
          <a:r>
            <a:rPr lang="zh-CN" altLang="en-US" sz="2400" b="1" dirty="0" smtClean="0">
              <a:solidFill>
                <a:srgbClr val="1C1C1C"/>
              </a:solidFill>
              <a:latin typeface="微软雅黑" panose="020B0503020204020204" pitchFamily="34" charset="-122"/>
              <a:ea typeface="微软雅黑" panose="020B0503020204020204" pitchFamily="34" charset="-122"/>
            </a:rPr>
            <a:t>完全空闲的信道的利用率是零。</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B4E31D86-E7E7-4DB8-B509-ABC412692A5B}" type="parTrans" cxnId="{C6795FE8-CFE8-4187-A5F2-78B292433606}">
      <dgm:prSet/>
      <dgm:spPr/>
      <dgm:t>
        <a:bodyPr/>
        <a:lstStyle/>
        <a:p>
          <a:endParaRPr lang="zh-CN" altLang="en-US" sz="2400"/>
        </a:p>
      </dgm:t>
    </dgm:pt>
    <dgm:pt modelId="{E056649D-FFB4-45EF-845D-4988E55B5B53}" type="sibTrans" cxnId="{C6795FE8-CFE8-4187-A5F2-78B292433606}">
      <dgm:prSet/>
      <dgm:spPr/>
      <dgm:t>
        <a:bodyPr/>
        <a:lstStyle/>
        <a:p>
          <a:endParaRPr lang="zh-CN" altLang="en-US" sz="2400"/>
        </a:p>
      </dgm:t>
    </dgm:pt>
    <dgm:pt modelId="{88C9F005-020B-4A65-B6DD-91E4B06170CA}" type="pres">
      <dgm:prSet presAssocID="{18530140-3F55-46BC-848D-A4C14AA8BC1C}" presName="Name0" presStyleCnt="0">
        <dgm:presLayoutVars>
          <dgm:dir/>
          <dgm:animLvl val="lvl"/>
          <dgm:resizeHandles val="exact"/>
        </dgm:presLayoutVars>
      </dgm:prSet>
      <dgm:spPr/>
      <dgm:t>
        <a:bodyPr/>
        <a:lstStyle/>
        <a:p>
          <a:endParaRPr lang="zh-CN" altLang="en-US"/>
        </a:p>
      </dgm:t>
    </dgm:pt>
    <dgm:pt modelId="{863441FC-3ED2-454D-AE08-A7529C4F64F0}" type="pres">
      <dgm:prSet presAssocID="{617AE38B-731F-4729-B28F-C30C3037C6EF}" presName="composite" presStyleCnt="0"/>
      <dgm:spPr/>
    </dgm:pt>
    <dgm:pt modelId="{6E98D618-F8FC-4C90-851C-0B5A61F1FAD0}" type="pres">
      <dgm:prSet presAssocID="{617AE38B-731F-4729-B28F-C30C3037C6EF}" presName="parTx" presStyleLbl="alignNode1" presStyleIdx="0" presStyleCnt="2" custScaleX="100096" custScaleY="109435" custLinFactNeighborY="-17980">
        <dgm:presLayoutVars>
          <dgm:chMax val="0"/>
          <dgm:chPref val="0"/>
          <dgm:bulletEnabled val="1"/>
        </dgm:presLayoutVars>
      </dgm:prSet>
      <dgm:spPr/>
      <dgm:t>
        <a:bodyPr/>
        <a:lstStyle/>
        <a:p>
          <a:endParaRPr lang="zh-CN" altLang="en-US"/>
        </a:p>
      </dgm:t>
    </dgm:pt>
    <dgm:pt modelId="{DD1A8C17-AB8B-4CDA-9C06-E3F6B80DFAB1}" type="pres">
      <dgm:prSet presAssocID="{617AE38B-731F-4729-B28F-C30C3037C6EF}" presName="desTx" presStyleLbl="alignAccFollowNode1" presStyleIdx="0" presStyleCnt="2" custLinFactY="116694" custLinFactNeighborY="200000">
        <dgm:presLayoutVars>
          <dgm:bulletEnabled val="1"/>
        </dgm:presLayoutVars>
      </dgm:prSet>
      <dgm:spPr/>
      <dgm:t>
        <a:bodyPr/>
        <a:lstStyle/>
        <a:p>
          <a:endParaRPr lang="zh-CN" altLang="en-US"/>
        </a:p>
      </dgm:t>
    </dgm:pt>
    <dgm:pt modelId="{1CFA901E-33C6-4AF3-BBC3-CCEBB393DC10}" type="pres">
      <dgm:prSet presAssocID="{D4789360-920D-40CE-84C5-78110649C9AA}" presName="space" presStyleCnt="0"/>
      <dgm:spPr/>
    </dgm:pt>
    <dgm:pt modelId="{44F14B2E-25F7-449B-8033-A1851ADFCF28}" type="pres">
      <dgm:prSet presAssocID="{37820C6F-2839-48A4-95ED-EBDFE872E9B1}" presName="composite" presStyleCnt="0"/>
      <dgm:spPr/>
    </dgm:pt>
    <dgm:pt modelId="{95E674E6-30C0-4846-A33C-8435093FF952}" type="pres">
      <dgm:prSet presAssocID="{37820C6F-2839-48A4-95ED-EBDFE872E9B1}" presName="parTx" presStyleLbl="alignNode1" presStyleIdx="1" presStyleCnt="2" custScaleY="109995" custLinFactNeighborY="-17840">
        <dgm:presLayoutVars>
          <dgm:chMax val="0"/>
          <dgm:chPref val="0"/>
          <dgm:bulletEnabled val="1"/>
        </dgm:presLayoutVars>
      </dgm:prSet>
      <dgm:spPr/>
      <dgm:t>
        <a:bodyPr/>
        <a:lstStyle/>
        <a:p>
          <a:endParaRPr lang="zh-CN" altLang="en-US"/>
        </a:p>
      </dgm:t>
    </dgm:pt>
    <dgm:pt modelId="{D5B1C811-7FFB-4E90-B609-AF3320FECF06}" type="pres">
      <dgm:prSet presAssocID="{37820C6F-2839-48A4-95ED-EBDFE872E9B1}" presName="desTx" presStyleLbl="alignAccFollowNode1" presStyleIdx="1" presStyleCnt="2" custLinFactY="100000" custLinFactNeighborY="143995">
        <dgm:presLayoutVars>
          <dgm:bulletEnabled val="1"/>
        </dgm:presLayoutVars>
      </dgm:prSet>
      <dgm:spPr/>
      <dgm:t>
        <a:bodyPr/>
        <a:lstStyle/>
        <a:p>
          <a:endParaRPr lang="zh-CN" altLang="en-US"/>
        </a:p>
      </dgm:t>
    </dgm:pt>
  </dgm:ptLst>
  <dgm:cxnLst>
    <dgm:cxn modelId="{AEDD8CC4-5E27-4290-A01C-8BF8A2D9A963}" type="presOf" srcId="{1EC6DEAD-6406-4DFB-8DEA-CD3C17DC614D}" destId="{DD1A8C17-AB8B-4CDA-9C06-E3F6B80DFAB1}" srcOrd="0" destOrd="0" presId="urn:microsoft.com/office/officeart/2005/8/layout/hList1"/>
    <dgm:cxn modelId="{A85E3E8F-E7E6-4ECC-A71E-7AC941D62EF2}" srcId="{18530140-3F55-46BC-848D-A4C14AA8BC1C}" destId="{617AE38B-731F-4729-B28F-C30C3037C6EF}" srcOrd="0" destOrd="0" parTransId="{E59DA53A-3783-4CE4-8AD5-26603DC4E19D}" sibTransId="{D4789360-920D-40CE-84C5-78110649C9AA}"/>
    <dgm:cxn modelId="{61AE8354-DDDC-4C66-926D-8DD3B68E1377}" type="presOf" srcId="{18530140-3F55-46BC-848D-A4C14AA8BC1C}" destId="{88C9F005-020B-4A65-B6DD-91E4B06170CA}" srcOrd="0" destOrd="0" presId="urn:microsoft.com/office/officeart/2005/8/layout/hList1"/>
    <dgm:cxn modelId="{E8DB6FA7-6D2B-42D0-8C98-92FC8B5E5F94}" type="presOf" srcId="{7DEA8A1D-B9FF-44AA-B42C-06D817B609F8}" destId="{D5B1C811-7FFB-4E90-B609-AF3320FECF06}" srcOrd="0" destOrd="0" presId="urn:microsoft.com/office/officeart/2005/8/layout/hList1"/>
    <dgm:cxn modelId="{C6795FE8-CFE8-4187-A5F2-78B292433606}" srcId="{617AE38B-731F-4729-B28F-C30C3037C6EF}" destId="{300B28D7-2FDD-447A-8655-1C4703F07E1D}" srcOrd="1" destOrd="0" parTransId="{B4E31D86-E7E7-4DB8-B509-ABC412692A5B}" sibTransId="{E056649D-FFB4-45EF-845D-4988E55B5B53}"/>
    <dgm:cxn modelId="{9DC2B627-F44A-4C33-82E3-BC9DA9CC6DCC}" srcId="{37820C6F-2839-48A4-95ED-EBDFE872E9B1}" destId="{7DEA8A1D-B9FF-44AA-B42C-06D817B609F8}" srcOrd="0" destOrd="0" parTransId="{CDC104ED-5DB9-424C-8439-CDDBB0142664}" sibTransId="{7F73DD2A-CC9B-4D66-A6A1-7EE41BC0E8A4}"/>
    <dgm:cxn modelId="{E854EC52-AB17-4721-BD72-EDB712DE509C}" type="presOf" srcId="{617AE38B-731F-4729-B28F-C30C3037C6EF}" destId="{6E98D618-F8FC-4C90-851C-0B5A61F1FAD0}" srcOrd="0" destOrd="0" presId="urn:microsoft.com/office/officeart/2005/8/layout/hList1"/>
    <dgm:cxn modelId="{19DC375B-E541-4B59-8382-93A56F7F35BD}" srcId="{18530140-3F55-46BC-848D-A4C14AA8BC1C}" destId="{37820C6F-2839-48A4-95ED-EBDFE872E9B1}" srcOrd="1" destOrd="0" parTransId="{11E1DEE2-EAF3-490A-A502-3BB3E26556A0}" sibTransId="{573100A8-454C-4D8A-8DBD-7B32E1030A4A}"/>
    <dgm:cxn modelId="{1C98321D-A791-478E-81AE-2795F047C367}" type="presOf" srcId="{37820C6F-2839-48A4-95ED-EBDFE872E9B1}" destId="{95E674E6-30C0-4846-A33C-8435093FF952}" srcOrd="0" destOrd="0" presId="urn:microsoft.com/office/officeart/2005/8/layout/hList1"/>
    <dgm:cxn modelId="{CE89C4F3-23B2-46F4-A4AF-ACF50B7D990F}" srcId="{617AE38B-731F-4729-B28F-C30C3037C6EF}" destId="{1EC6DEAD-6406-4DFB-8DEA-CD3C17DC614D}" srcOrd="0" destOrd="0" parTransId="{482F333A-D861-4AA0-A30F-1C931619106C}" sibTransId="{2B14CB4C-25BD-4D3A-91BC-2F5637AA90E5}"/>
    <dgm:cxn modelId="{B654E612-190D-4FFD-9BA5-291ACA8740ED}" type="presOf" srcId="{300B28D7-2FDD-447A-8655-1C4703F07E1D}" destId="{DD1A8C17-AB8B-4CDA-9C06-E3F6B80DFAB1}" srcOrd="0" destOrd="1" presId="urn:microsoft.com/office/officeart/2005/8/layout/hList1"/>
    <dgm:cxn modelId="{C56A5D90-E23C-403E-9885-E6BA851D14BB}" type="presParOf" srcId="{88C9F005-020B-4A65-B6DD-91E4B06170CA}" destId="{863441FC-3ED2-454D-AE08-A7529C4F64F0}" srcOrd="0" destOrd="0" presId="urn:microsoft.com/office/officeart/2005/8/layout/hList1"/>
    <dgm:cxn modelId="{C48A2638-ABD9-46A3-9ACF-488F84545885}" type="presParOf" srcId="{863441FC-3ED2-454D-AE08-A7529C4F64F0}" destId="{6E98D618-F8FC-4C90-851C-0B5A61F1FAD0}" srcOrd="0" destOrd="0" presId="urn:microsoft.com/office/officeart/2005/8/layout/hList1"/>
    <dgm:cxn modelId="{7A7C93F4-26F0-4264-B2B3-4DF9968A38FA}" type="presParOf" srcId="{863441FC-3ED2-454D-AE08-A7529C4F64F0}" destId="{DD1A8C17-AB8B-4CDA-9C06-E3F6B80DFAB1}" srcOrd="1" destOrd="0" presId="urn:microsoft.com/office/officeart/2005/8/layout/hList1"/>
    <dgm:cxn modelId="{7E47D2E7-532F-4396-A92A-C916ECA42D70}" type="presParOf" srcId="{88C9F005-020B-4A65-B6DD-91E4B06170CA}" destId="{1CFA901E-33C6-4AF3-BBC3-CCEBB393DC10}" srcOrd="1" destOrd="0" presId="urn:microsoft.com/office/officeart/2005/8/layout/hList1"/>
    <dgm:cxn modelId="{9B07609A-5ACB-4EEC-82DB-B06CB58D0179}" type="presParOf" srcId="{88C9F005-020B-4A65-B6DD-91E4B06170CA}" destId="{44F14B2E-25F7-449B-8033-A1851ADFCF28}" srcOrd="2" destOrd="0" presId="urn:microsoft.com/office/officeart/2005/8/layout/hList1"/>
    <dgm:cxn modelId="{F1A41D60-5284-4DA7-AA37-5FA0EDB93462}" type="presParOf" srcId="{44F14B2E-25F7-449B-8033-A1851ADFCF28}" destId="{95E674E6-30C0-4846-A33C-8435093FF952}" srcOrd="0" destOrd="0" presId="urn:microsoft.com/office/officeart/2005/8/layout/hList1"/>
    <dgm:cxn modelId="{72D96B21-EDCA-45F9-B0B8-4747956D1A38}" type="presParOf" srcId="{44F14B2E-25F7-449B-8033-A1851ADFCF28}" destId="{D5B1C811-7FFB-4E90-B609-AF3320FECF0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ABF8CED-7C6D-47BA-9902-295C9B10C26E}" type="doc">
      <dgm:prSet loTypeId="urn:microsoft.com/office/officeart/2005/8/layout/radial3" loCatId="cycle" qsTypeId="urn:microsoft.com/office/officeart/2005/8/quickstyle/simple1#15" qsCatId="simple" csTypeId="urn:microsoft.com/office/officeart/2005/8/colors/accent1_2#15" csCatId="accent1" phldr="1"/>
      <dgm:spPr/>
      <dgm:t>
        <a:bodyPr/>
        <a:lstStyle/>
        <a:p>
          <a:endParaRPr lang="en-US"/>
        </a:p>
      </dgm:t>
    </dgm:pt>
    <dgm:pt modelId="{868AB5D1-003A-4DC8-9569-91EB8736C4BA}">
      <dgm:prSet phldrT="[Text]"/>
      <dgm:spPr>
        <a:solidFill>
          <a:srgbClr val="00B050">
            <a:alpha val="50000"/>
          </a:srgbClr>
        </a:solidFill>
      </dgm:spPr>
      <dgm:t>
        <a:bodyPr/>
        <a:lstStyle/>
        <a:p>
          <a:r>
            <a:rPr lang="zh-CN" altLang="en-US" b="1" dirty="0">
              <a:solidFill>
                <a:srgbClr val="000000"/>
              </a:solidFill>
            </a:rPr>
            <a:t>非</a:t>
          </a:r>
          <a:r>
            <a:rPr lang="zh-CN" altLang="en-US" b="1" dirty="0" smtClean="0">
              <a:solidFill>
                <a:srgbClr val="000000"/>
              </a:solidFill>
            </a:rPr>
            <a:t>性能特征</a:t>
          </a:r>
          <a:endParaRPr lang="en-US" b="1" dirty="0">
            <a:solidFill>
              <a:srgbClr val="000000"/>
            </a:solidFill>
          </a:endParaRPr>
        </a:p>
      </dgm:t>
    </dgm:pt>
    <dgm:pt modelId="{7AB30D2A-1E72-4DF1-B302-9C2A8360CC99}" type="parTrans" cxnId="{0A213B1A-ECAB-45A1-92A9-1346B75BD710}">
      <dgm:prSet/>
      <dgm:spPr/>
      <dgm:t>
        <a:bodyPr/>
        <a:lstStyle/>
        <a:p>
          <a:endParaRPr lang="en-US" b="1"/>
        </a:p>
      </dgm:t>
    </dgm:pt>
    <dgm:pt modelId="{C37A7A25-BB3F-4D2C-995C-4189094C93CC}" type="sibTrans" cxnId="{0A213B1A-ECAB-45A1-92A9-1346B75BD710}">
      <dgm:prSet/>
      <dgm:spPr/>
      <dgm:t>
        <a:bodyPr/>
        <a:lstStyle/>
        <a:p>
          <a:endParaRPr lang="en-US" b="1"/>
        </a:p>
      </dgm:t>
    </dgm:pt>
    <dgm:pt modelId="{5136F8FE-3D40-4751-BFFA-C8F3A57BB7D1}">
      <dgm:prSet phldrT="[Text]" custT="1"/>
      <dgm:spPr>
        <a:solidFill>
          <a:srgbClr val="00B050">
            <a:alpha val="50000"/>
          </a:srgbClr>
        </a:solidFill>
      </dgm:spPr>
      <dgm:t>
        <a:bodyPr/>
        <a:lstStyle/>
        <a:p>
          <a:r>
            <a:rPr lang="en-US" altLang="zh-CN" sz="2200" b="1" dirty="0">
              <a:solidFill>
                <a:srgbClr val="000000"/>
              </a:solidFill>
            </a:rPr>
            <a:t>1.</a:t>
          </a:r>
          <a:r>
            <a:rPr lang="zh-CN" altLang="en-US" sz="2200" b="1" dirty="0">
              <a:solidFill>
                <a:srgbClr val="000000"/>
              </a:solidFill>
            </a:rPr>
            <a:t>费用</a:t>
          </a:r>
          <a:endParaRPr lang="en-US" sz="2200" b="1" dirty="0">
            <a:solidFill>
              <a:srgbClr val="000000"/>
            </a:solidFill>
          </a:endParaRPr>
        </a:p>
      </dgm:t>
    </dgm:pt>
    <dgm:pt modelId="{789233E8-1DC7-4278-B62D-199A1018DF1B}" type="parTrans" cxnId="{8983CE38-145B-469C-96EB-F88C40B0F564}">
      <dgm:prSet/>
      <dgm:spPr/>
      <dgm:t>
        <a:bodyPr/>
        <a:lstStyle/>
        <a:p>
          <a:endParaRPr lang="en-US" b="1"/>
        </a:p>
      </dgm:t>
    </dgm:pt>
    <dgm:pt modelId="{102AD870-FDE8-45FB-B043-E6033DBFB5FE}" type="sibTrans" cxnId="{8983CE38-145B-469C-96EB-F88C40B0F564}">
      <dgm:prSet/>
      <dgm:spPr/>
      <dgm:t>
        <a:bodyPr/>
        <a:lstStyle/>
        <a:p>
          <a:endParaRPr lang="en-US" b="1"/>
        </a:p>
      </dgm:t>
    </dgm:pt>
    <dgm:pt modelId="{5F756A12-3677-4C18-8350-A9BCA8AE376A}">
      <dgm:prSet phldrT="[Text]" custT="1"/>
      <dgm:spPr>
        <a:solidFill>
          <a:srgbClr val="00B050">
            <a:alpha val="50000"/>
          </a:srgbClr>
        </a:solidFill>
      </dgm:spPr>
      <dgm:t>
        <a:bodyPr/>
        <a:lstStyle/>
        <a:p>
          <a:r>
            <a:rPr lang="en-US" altLang="zh-CN" sz="2200" b="1" dirty="0">
              <a:solidFill>
                <a:srgbClr val="000000"/>
              </a:solidFill>
            </a:rPr>
            <a:t>2.</a:t>
          </a:r>
          <a:r>
            <a:rPr lang="zh-CN" altLang="en-US" sz="2200" b="1" dirty="0">
              <a:solidFill>
                <a:srgbClr val="000000"/>
              </a:solidFill>
            </a:rPr>
            <a:t>质量</a:t>
          </a:r>
          <a:endParaRPr lang="en-US" sz="2200" b="1" dirty="0">
            <a:solidFill>
              <a:srgbClr val="000000"/>
            </a:solidFill>
          </a:endParaRPr>
        </a:p>
      </dgm:t>
    </dgm:pt>
    <dgm:pt modelId="{FA985B0F-3B59-4BBA-BB86-88727089884C}" type="parTrans" cxnId="{2123948F-1F22-48BF-B39B-2E6D256F1CF1}">
      <dgm:prSet/>
      <dgm:spPr/>
      <dgm:t>
        <a:bodyPr/>
        <a:lstStyle/>
        <a:p>
          <a:endParaRPr lang="en-US" b="1"/>
        </a:p>
      </dgm:t>
    </dgm:pt>
    <dgm:pt modelId="{AAF4A139-CE01-4DAB-ADDB-A6C66656A12A}" type="sibTrans" cxnId="{2123948F-1F22-48BF-B39B-2E6D256F1CF1}">
      <dgm:prSet/>
      <dgm:spPr/>
      <dgm:t>
        <a:bodyPr/>
        <a:lstStyle/>
        <a:p>
          <a:endParaRPr lang="en-US" b="1"/>
        </a:p>
      </dgm:t>
    </dgm:pt>
    <dgm:pt modelId="{41A814FB-807B-45D3-8053-0A77830C26C1}">
      <dgm:prSet phldrT="[Text]" custT="1"/>
      <dgm:spPr>
        <a:solidFill>
          <a:srgbClr val="00B050">
            <a:alpha val="50000"/>
          </a:srgbClr>
        </a:solidFill>
      </dgm:spPr>
      <dgm:t>
        <a:bodyPr/>
        <a:lstStyle/>
        <a:p>
          <a:r>
            <a:rPr lang="en-US" altLang="zh-CN" sz="2200" b="1" dirty="0">
              <a:solidFill>
                <a:srgbClr val="000000"/>
              </a:solidFill>
            </a:rPr>
            <a:t>3.</a:t>
          </a:r>
          <a:r>
            <a:rPr lang="zh-CN" altLang="en-US" sz="2200" b="1" dirty="0">
              <a:solidFill>
                <a:srgbClr val="000000"/>
              </a:solidFill>
            </a:rPr>
            <a:t>标准化</a:t>
          </a:r>
          <a:endParaRPr lang="en-US" sz="2200" b="1" dirty="0">
            <a:solidFill>
              <a:srgbClr val="000000"/>
            </a:solidFill>
          </a:endParaRPr>
        </a:p>
      </dgm:t>
    </dgm:pt>
    <dgm:pt modelId="{E17E8916-7F51-4301-B907-FB1FEA4C67DF}" type="parTrans" cxnId="{CF7AF490-4F01-4B15-B4E8-A45D77466F7D}">
      <dgm:prSet/>
      <dgm:spPr/>
      <dgm:t>
        <a:bodyPr/>
        <a:lstStyle/>
        <a:p>
          <a:endParaRPr lang="en-US" b="1"/>
        </a:p>
      </dgm:t>
    </dgm:pt>
    <dgm:pt modelId="{985962CB-1AD6-43FA-9A4C-92A1D1A156ED}" type="sibTrans" cxnId="{CF7AF490-4F01-4B15-B4E8-A45D77466F7D}">
      <dgm:prSet/>
      <dgm:spPr/>
      <dgm:t>
        <a:bodyPr/>
        <a:lstStyle/>
        <a:p>
          <a:endParaRPr lang="en-US" b="1"/>
        </a:p>
      </dgm:t>
    </dgm:pt>
    <dgm:pt modelId="{9F11FA86-8299-4743-BF71-9997781EDD16}">
      <dgm:prSet phldrT="[Text]" custT="1"/>
      <dgm:spPr>
        <a:solidFill>
          <a:srgbClr val="00B050">
            <a:alpha val="50000"/>
          </a:srgbClr>
        </a:solidFill>
      </dgm:spPr>
      <dgm:t>
        <a:bodyPr/>
        <a:lstStyle/>
        <a:p>
          <a:r>
            <a:rPr lang="en-US" altLang="zh-CN" sz="2200" b="1" dirty="0">
              <a:solidFill>
                <a:srgbClr val="000000"/>
              </a:solidFill>
            </a:rPr>
            <a:t>4.</a:t>
          </a:r>
          <a:r>
            <a:rPr lang="zh-CN" altLang="en-US" sz="2200" b="1" dirty="0">
              <a:solidFill>
                <a:srgbClr val="000000"/>
              </a:solidFill>
            </a:rPr>
            <a:t>可靠性</a:t>
          </a:r>
          <a:endParaRPr lang="en-US" sz="2200" b="1" dirty="0">
            <a:solidFill>
              <a:srgbClr val="000000"/>
            </a:solidFill>
          </a:endParaRPr>
        </a:p>
      </dgm:t>
    </dgm:pt>
    <dgm:pt modelId="{74D954DB-2570-43E9-A640-2DB1829BC79A}" type="parTrans" cxnId="{F2145EB5-1EC5-4621-9765-0F29DFFBA54E}">
      <dgm:prSet/>
      <dgm:spPr/>
      <dgm:t>
        <a:bodyPr/>
        <a:lstStyle/>
        <a:p>
          <a:endParaRPr lang="en-US" b="1"/>
        </a:p>
      </dgm:t>
    </dgm:pt>
    <dgm:pt modelId="{2055C36A-62D1-4511-8003-860C75BC3D5C}" type="sibTrans" cxnId="{F2145EB5-1EC5-4621-9765-0F29DFFBA54E}">
      <dgm:prSet/>
      <dgm:spPr/>
      <dgm:t>
        <a:bodyPr/>
        <a:lstStyle/>
        <a:p>
          <a:endParaRPr lang="en-US" b="1"/>
        </a:p>
      </dgm:t>
    </dgm:pt>
    <dgm:pt modelId="{E3579182-1DC9-4B4D-8F64-7040FDDEC70D}">
      <dgm:prSet phldrT="[Text]" custT="1"/>
      <dgm:spPr>
        <a:solidFill>
          <a:srgbClr val="00B050">
            <a:alpha val="50000"/>
          </a:srgbClr>
        </a:solidFill>
      </dgm:spPr>
      <dgm:t>
        <a:bodyPr/>
        <a:lstStyle/>
        <a:p>
          <a:r>
            <a:rPr lang="en-US" altLang="zh-CN" sz="2200" b="1" dirty="0" smtClean="0">
              <a:solidFill>
                <a:srgbClr val="000000"/>
              </a:solidFill>
            </a:rPr>
            <a:t>5.</a:t>
          </a:r>
          <a:r>
            <a:rPr lang="zh-CN" altLang="en-US" sz="2200" b="1" dirty="0" smtClean="0">
              <a:solidFill>
                <a:srgbClr val="000000"/>
              </a:solidFill>
            </a:rPr>
            <a:t>可扩展性</a:t>
          </a:r>
          <a:endParaRPr lang="en-US" sz="2200" b="1" dirty="0">
            <a:solidFill>
              <a:srgbClr val="000000"/>
            </a:solidFill>
          </a:endParaRPr>
        </a:p>
      </dgm:t>
    </dgm:pt>
    <dgm:pt modelId="{0B561236-D4CF-403D-81AA-AED49811C425}" type="parTrans" cxnId="{4D6E4748-1ACE-4048-9144-955AFB4D3272}">
      <dgm:prSet/>
      <dgm:spPr/>
      <dgm:t>
        <a:bodyPr/>
        <a:lstStyle/>
        <a:p>
          <a:endParaRPr lang="en-US" b="1"/>
        </a:p>
      </dgm:t>
    </dgm:pt>
    <dgm:pt modelId="{AB4CB67A-FB23-4B34-B870-A7FCA40C569E}" type="sibTrans" cxnId="{4D6E4748-1ACE-4048-9144-955AFB4D3272}">
      <dgm:prSet/>
      <dgm:spPr/>
      <dgm:t>
        <a:bodyPr/>
        <a:lstStyle/>
        <a:p>
          <a:endParaRPr lang="en-US" b="1"/>
        </a:p>
      </dgm:t>
    </dgm:pt>
    <dgm:pt modelId="{686B9B23-3317-4CAA-A976-150F0E43B706}">
      <dgm:prSet phldrT="[Text]" custT="1"/>
      <dgm:spPr>
        <a:solidFill>
          <a:srgbClr val="00B050">
            <a:alpha val="50000"/>
          </a:srgbClr>
        </a:solidFill>
      </dgm:spPr>
      <dgm:t>
        <a:bodyPr/>
        <a:lstStyle/>
        <a:p>
          <a:r>
            <a:rPr lang="en-US" altLang="zh-CN" sz="2200" b="1" dirty="0">
              <a:solidFill>
                <a:srgbClr val="000000"/>
              </a:solidFill>
            </a:rPr>
            <a:t>6.</a:t>
          </a:r>
          <a:r>
            <a:rPr lang="zh-CN" altLang="en-US" sz="2200" b="1" dirty="0">
              <a:solidFill>
                <a:srgbClr val="000000"/>
              </a:solidFill>
            </a:rPr>
            <a:t>可升级性</a:t>
          </a:r>
          <a:endParaRPr lang="en-US" sz="2200" b="1" dirty="0">
            <a:solidFill>
              <a:srgbClr val="000000"/>
            </a:solidFill>
          </a:endParaRPr>
        </a:p>
      </dgm:t>
    </dgm:pt>
    <dgm:pt modelId="{C4145DA8-26D4-4282-A3E0-67F7DD77EA68}" type="parTrans" cxnId="{3488EE43-308B-4C84-BC90-7134ADEEA021}">
      <dgm:prSet/>
      <dgm:spPr/>
      <dgm:t>
        <a:bodyPr/>
        <a:lstStyle/>
        <a:p>
          <a:endParaRPr lang="en-US" b="1"/>
        </a:p>
      </dgm:t>
    </dgm:pt>
    <dgm:pt modelId="{8BF6788F-AF76-42B4-920F-57974C2C6091}" type="sibTrans" cxnId="{3488EE43-308B-4C84-BC90-7134ADEEA021}">
      <dgm:prSet/>
      <dgm:spPr/>
      <dgm:t>
        <a:bodyPr/>
        <a:lstStyle/>
        <a:p>
          <a:endParaRPr lang="en-US" b="1"/>
        </a:p>
      </dgm:t>
    </dgm:pt>
    <dgm:pt modelId="{1187BEA8-9E81-40F9-90E4-7446D1C5EDBB}">
      <dgm:prSet phldrT="[Text]" custT="1"/>
      <dgm:spPr>
        <a:solidFill>
          <a:srgbClr val="00B050">
            <a:alpha val="50000"/>
          </a:srgbClr>
        </a:solidFill>
      </dgm:spPr>
      <dgm:t>
        <a:bodyPr/>
        <a:lstStyle/>
        <a:p>
          <a:r>
            <a:rPr lang="en-US" altLang="zh-CN" sz="2200" b="1" dirty="0">
              <a:solidFill>
                <a:srgbClr val="000000"/>
              </a:solidFill>
            </a:rPr>
            <a:t>7.</a:t>
          </a:r>
          <a:r>
            <a:rPr lang="zh-CN" altLang="en-US" sz="2200" b="1" dirty="0">
              <a:solidFill>
                <a:srgbClr val="000000"/>
              </a:solidFill>
            </a:rPr>
            <a:t>管理与维护</a:t>
          </a:r>
          <a:endParaRPr lang="en-US" sz="2200" b="1" dirty="0">
            <a:solidFill>
              <a:srgbClr val="000000"/>
            </a:solidFill>
          </a:endParaRPr>
        </a:p>
      </dgm:t>
    </dgm:pt>
    <dgm:pt modelId="{DF88BFC7-95FD-4B24-92BC-427C188D45BC}" type="parTrans" cxnId="{17C703B4-4963-4127-912A-6D280AABC136}">
      <dgm:prSet/>
      <dgm:spPr/>
      <dgm:t>
        <a:bodyPr/>
        <a:lstStyle/>
        <a:p>
          <a:endParaRPr lang="en-US" b="1"/>
        </a:p>
      </dgm:t>
    </dgm:pt>
    <dgm:pt modelId="{2D2F8B3D-E984-4515-AB53-F19339B13576}" type="sibTrans" cxnId="{17C703B4-4963-4127-912A-6D280AABC136}">
      <dgm:prSet/>
      <dgm:spPr/>
      <dgm:t>
        <a:bodyPr/>
        <a:lstStyle/>
        <a:p>
          <a:endParaRPr lang="en-US" b="1"/>
        </a:p>
      </dgm:t>
    </dgm:pt>
    <dgm:pt modelId="{9E85676F-EE29-441F-967C-69BE915ABDD8}" type="pres">
      <dgm:prSet presAssocID="{8ABF8CED-7C6D-47BA-9902-295C9B10C26E}" presName="composite" presStyleCnt="0">
        <dgm:presLayoutVars>
          <dgm:chMax val="1"/>
          <dgm:dir/>
          <dgm:resizeHandles val="exact"/>
        </dgm:presLayoutVars>
      </dgm:prSet>
      <dgm:spPr/>
      <dgm:t>
        <a:bodyPr/>
        <a:lstStyle/>
        <a:p>
          <a:endParaRPr lang="zh-CN" altLang="en-US"/>
        </a:p>
      </dgm:t>
    </dgm:pt>
    <dgm:pt modelId="{D3859A95-7026-4FD2-B0EA-F2FCC73AE703}" type="pres">
      <dgm:prSet presAssocID="{8ABF8CED-7C6D-47BA-9902-295C9B10C26E}" presName="radial" presStyleCnt="0">
        <dgm:presLayoutVars>
          <dgm:animLvl val="ctr"/>
        </dgm:presLayoutVars>
      </dgm:prSet>
      <dgm:spPr/>
    </dgm:pt>
    <dgm:pt modelId="{E17BA1F3-0C00-4FF2-9653-EF94BAD62031}" type="pres">
      <dgm:prSet presAssocID="{868AB5D1-003A-4DC8-9569-91EB8736C4BA}" presName="centerShape" presStyleLbl="vennNode1" presStyleIdx="0" presStyleCnt="8"/>
      <dgm:spPr/>
      <dgm:t>
        <a:bodyPr/>
        <a:lstStyle/>
        <a:p>
          <a:endParaRPr lang="zh-CN" altLang="en-US"/>
        </a:p>
      </dgm:t>
    </dgm:pt>
    <dgm:pt modelId="{4D03A9D2-67CF-4808-96EF-9297EA14CE09}" type="pres">
      <dgm:prSet presAssocID="{5136F8FE-3D40-4751-BFFA-C8F3A57BB7D1}" presName="node" presStyleLbl="vennNode1" presStyleIdx="1" presStyleCnt="8">
        <dgm:presLayoutVars>
          <dgm:bulletEnabled val="1"/>
        </dgm:presLayoutVars>
      </dgm:prSet>
      <dgm:spPr/>
      <dgm:t>
        <a:bodyPr/>
        <a:lstStyle/>
        <a:p>
          <a:endParaRPr lang="zh-CN" altLang="en-US"/>
        </a:p>
      </dgm:t>
    </dgm:pt>
    <dgm:pt modelId="{BA6FE0CA-EB44-4F00-B718-59FB70CF0E2F}" type="pres">
      <dgm:prSet presAssocID="{5F756A12-3677-4C18-8350-A9BCA8AE376A}" presName="node" presStyleLbl="vennNode1" presStyleIdx="2" presStyleCnt="8">
        <dgm:presLayoutVars>
          <dgm:bulletEnabled val="1"/>
        </dgm:presLayoutVars>
      </dgm:prSet>
      <dgm:spPr/>
      <dgm:t>
        <a:bodyPr/>
        <a:lstStyle/>
        <a:p>
          <a:endParaRPr lang="zh-CN" altLang="en-US"/>
        </a:p>
      </dgm:t>
    </dgm:pt>
    <dgm:pt modelId="{81032F12-6115-4CF6-BD28-A946DC8033FB}" type="pres">
      <dgm:prSet presAssocID="{41A814FB-807B-45D3-8053-0A77830C26C1}" presName="node" presStyleLbl="vennNode1" presStyleIdx="3" presStyleCnt="8">
        <dgm:presLayoutVars>
          <dgm:bulletEnabled val="1"/>
        </dgm:presLayoutVars>
      </dgm:prSet>
      <dgm:spPr/>
      <dgm:t>
        <a:bodyPr/>
        <a:lstStyle/>
        <a:p>
          <a:endParaRPr lang="zh-CN" altLang="en-US"/>
        </a:p>
      </dgm:t>
    </dgm:pt>
    <dgm:pt modelId="{A28A57A1-E220-4BF2-A9D3-4B40BBCA990F}" type="pres">
      <dgm:prSet presAssocID="{9F11FA86-8299-4743-BF71-9997781EDD16}" presName="node" presStyleLbl="vennNode1" presStyleIdx="4" presStyleCnt="8">
        <dgm:presLayoutVars>
          <dgm:bulletEnabled val="1"/>
        </dgm:presLayoutVars>
      </dgm:prSet>
      <dgm:spPr/>
      <dgm:t>
        <a:bodyPr/>
        <a:lstStyle/>
        <a:p>
          <a:endParaRPr lang="zh-CN" altLang="en-US"/>
        </a:p>
      </dgm:t>
    </dgm:pt>
    <dgm:pt modelId="{DC2DCB21-22C7-43C8-82AB-FF7A48818FEA}" type="pres">
      <dgm:prSet presAssocID="{E3579182-1DC9-4B4D-8F64-7040FDDEC70D}" presName="node" presStyleLbl="vennNode1" presStyleIdx="5" presStyleCnt="8">
        <dgm:presLayoutVars>
          <dgm:bulletEnabled val="1"/>
        </dgm:presLayoutVars>
      </dgm:prSet>
      <dgm:spPr/>
      <dgm:t>
        <a:bodyPr/>
        <a:lstStyle/>
        <a:p>
          <a:endParaRPr lang="zh-CN" altLang="en-US"/>
        </a:p>
      </dgm:t>
    </dgm:pt>
    <dgm:pt modelId="{20C5FD5C-AEBC-4784-919E-650738A1B2F6}" type="pres">
      <dgm:prSet presAssocID="{686B9B23-3317-4CAA-A976-150F0E43B706}" presName="node" presStyleLbl="vennNode1" presStyleIdx="6" presStyleCnt="8">
        <dgm:presLayoutVars>
          <dgm:bulletEnabled val="1"/>
        </dgm:presLayoutVars>
      </dgm:prSet>
      <dgm:spPr/>
      <dgm:t>
        <a:bodyPr/>
        <a:lstStyle/>
        <a:p>
          <a:endParaRPr lang="zh-CN" altLang="en-US"/>
        </a:p>
      </dgm:t>
    </dgm:pt>
    <dgm:pt modelId="{DEF8B780-5F84-4F41-80B1-20BD9982DF50}" type="pres">
      <dgm:prSet presAssocID="{1187BEA8-9E81-40F9-90E4-7446D1C5EDBB}" presName="node" presStyleLbl="vennNode1" presStyleIdx="7" presStyleCnt="8">
        <dgm:presLayoutVars>
          <dgm:bulletEnabled val="1"/>
        </dgm:presLayoutVars>
      </dgm:prSet>
      <dgm:spPr/>
      <dgm:t>
        <a:bodyPr/>
        <a:lstStyle/>
        <a:p>
          <a:endParaRPr lang="zh-CN" altLang="en-US"/>
        </a:p>
      </dgm:t>
    </dgm:pt>
  </dgm:ptLst>
  <dgm:cxnLst>
    <dgm:cxn modelId="{D7FC566E-8008-4EB7-8E9A-83E63A5FA7DE}" type="presOf" srcId="{5136F8FE-3D40-4751-BFFA-C8F3A57BB7D1}" destId="{4D03A9D2-67CF-4808-96EF-9297EA14CE09}" srcOrd="0" destOrd="0" presId="urn:microsoft.com/office/officeart/2005/8/layout/radial3"/>
    <dgm:cxn modelId="{0A213B1A-ECAB-45A1-92A9-1346B75BD710}" srcId="{8ABF8CED-7C6D-47BA-9902-295C9B10C26E}" destId="{868AB5D1-003A-4DC8-9569-91EB8736C4BA}" srcOrd="0" destOrd="0" parTransId="{7AB30D2A-1E72-4DF1-B302-9C2A8360CC99}" sibTransId="{C37A7A25-BB3F-4D2C-995C-4189094C93CC}"/>
    <dgm:cxn modelId="{DD791D0C-8C77-49FF-9D60-20A2E5E4D990}" type="presOf" srcId="{9F11FA86-8299-4743-BF71-9997781EDD16}" destId="{A28A57A1-E220-4BF2-A9D3-4B40BBCA990F}" srcOrd="0" destOrd="0" presId="urn:microsoft.com/office/officeart/2005/8/layout/radial3"/>
    <dgm:cxn modelId="{C610143B-3633-4314-B646-C6F171193A3F}" type="presOf" srcId="{1187BEA8-9E81-40F9-90E4-7446D1C5EDBB}" destId="{DEF8B780-5F84-4F41-80B1-20BD9982DF50}" srcOrd="0" destOrd="0" presId="urn:microsoft.com/office/officeart/2005/8/layout/radial3"/>
    <dgm:cxn modelId="{1C400649-64CB-4F61-A74D-60C2461D2129}" type="presOf" srcId="{5F756A12-3677-4C18-8350-A9BCA8AE376A}" destId="{BA6FE0CA-EB44-4F00-B718-59FB70CF0E2F}" srcOrd="0" destOrd="0" presId="urn:microsoft.com/office/officeart/2005/8/layout/radial3"/>
    <dgm:cxn modelId="{17C703B4-4963-4127-912A-6D280AABC136}" srcId="{868AB5D1-003A-4DC8-9569-91EB8736C4BA}" destId="{1187BEA8-9E81-40F9-90E4-7446D1C5EDBB}" srcOrd="6" destOrd="0" parTransId="{DF88BFC7-95FD-4B24-92BC-427C188D45BC}" sibTransId="{2D2F8B3D-E984-4515-AB53-F19339B13576}"/>
    <dgm:cxn modelId="{4D6E4748-1ACE-4048-9144-955AFB4D3272}" srcId="{868AB5D1-003A-4DC8-9569-91EB8736C4BA}" destId="{E3579182-1DC9-4B4D-8F64-7040FDDEC70D}" srcOrd="4" destOrd="0" parTransId="{0B561236-D4CF-403D-81AA-AED49811C425}" sibTransId="{AB4CB67A-FB23-4B34-B870-A7FCA40C569E}"/>
    <dgm:cxn modelId="{AEB10873-66E3-4B5A-9E62-66C8BE70BC15}" type="presOf" srcId="{8ABF8CED-7C6D-47BA-9902-295C9B10C26E}" destId="{9E85676F-EE29-441F-967C-69BE915ABDD8}" srcOrd="0" destOrd="0" presId="urn:microsoft.com/office/officeart/2005/8/layout/radial3"/>
    <dgm:cxn modelId="{64C9A932-222D-4B02-87ED-1FF2DC792871}" type="presOf" srcId="{E3579182-1DC9-4B4D-8F64-7040FDDEC70D}" destId="{DC2DCB21-22C7-43C8-82AB-FF7A48818FEA}" srcOrd="0" destOrd="0" presId="urn:microsoft.com/office/officeart/2005/8/layout/radial3"/>
    <dgm:cxn modelId="{8983CE38-145B-469C-96EB-F88C40B0F564}" srcId="{868AB5D1-003A-4DC8-9569-91EB8736C4BA}" destId="{5136F8FE-3D40-4751-BFFA-C8F3A57BB7D1}" srcOrd="0" destOrd="0" parTransId="{789233E8-1DC7-4278-B62D-199A1018DF1B}" sibTransId="{102AD870-FDE8-45FB-B043-E6033DBFB5FE}"/>
    <dgm:cxn modelId="{3488EE43-308B-4C84-BC90-7134ADEEA021}" srcId="{868AB5D1-003A-4DC8-9569-91EB8736C4BA}" destId="{686B9B23-3317-4CAA-A976-150F0E43B706}" srcOrd="5" destOrd="0" parTransId="{C4145DA8-26D4-4282-A3E0-67F7DD77EA68}" sibTransId="{8BF6788F-AF76-42B4-920F-57974C2C6091}"/>
    <dgm:cxn modelId="{2123948F-1F22-48BF-B39B-2E6D256F1CF1}" srcId="{868AB5D1-003A-4DC8-9569-91EB8736C4BA}" destId="{5F756A12-3677-4C18-8350-A9BCA8AE376A}" srcOrd="1" destOrd="0" parTransId="{FA985B0F-3B59-4BBA-BB86-88727089884C}" sibTransId="{AAF4A139-CE01-4DAB-ADDB-A6C66656A12A}"/>
    <dgm:cxn modelId="{CE43C526-105E-4EC8-B38A-7DF508AE7D79}" type="presOf" srcId="{41A814FB-807B-45D3-8053-0A77830C26C1}" destId="{81032F12-6115-4CF6-BD28-A946DC8033FB}" srcOrd="0" destOrd="0" presId="urn:microsoft.com/office/officeart/2005/8/layout/radial3"/>
    <dgm:cxn modelId="{F2145EB5-1EC5-4621-9765-0F29DFFBA54E}" srcId="{868AB5D1-003A-4DC8-9569-91EB8736C4BA}" destId="{9F11FA86-8299-4743-BF71-9997781EDD16}" srcOrd="3" destOrd="0" parTransId="{74D954DB-2570-43E9-A640-2DB1829BC79A}" sibTransId="{2055C36A-62D1-4511-8003-860C75BC3D5C}"/>
    <dgm:cxn modelId="{2677BF47-582C-44D7-8E48-DEEC1B5942FB}" type="presOf" srcId="{868AB5D1-003A-4DC8-9569-91EB8736C4BA}" destId="{E17BA1F3-0C00-4FF2-9653-EF94BAD62031}" srcOrd="0" destOrd="0" presId="urn:microsoft.com/office/officeart/2005/8/layout/radial3"/>
    <dgm:cxn modelId="{CF7AF490-4F01-4B15-B4E8-A45D77466F7D}" srcId="{868AB5D1-003A-4DC8-9569-91EB8736C4BA}" destId="{41A814FB-807B-45D3-8053-0A77830C26C1}" srcOrd="2" destOrd="0" parTransId="{E17E8916-7F51-4301-B907-FB1FEA4C67DF}" sibTransId="{985962CB-1AD6-43FA-9A4C-92A1D1A156ED}"/>
    <dgm:cxn modelId="{89A44E4C-44B5-49C8-89CA-32938C159098}" type="presOf" srcId="{686B9B23-3317-4CAA-A976-150F0E43B706}" destId="{20C5FD5C-AEBC-4784-919E-650738A1B2F6}" srcOrd="0" destOrd="0" presId="urn:microsoft.com/office/officeart/2005/8/layout/radial3"/>
    <dgm:cxn modelId="{4EAD5BCC-A7AA-47D6-A303-F1EDAB0E4EA9}" type="presParOf" srcId="{9E85676F-EE29-441F-967C-69BE915ABDD8}" destId="{D3859A95-7026-4FD2-B0EA-F2FCC73AE703}" srcOrd="0" destOrd="0" presId="urn:microsoft.com/office/officeart/2005/8/layout/radial3"/>
    <dgm:cxn modelId="{C67D8296-ABD7-4796-A6C0-CB37A6D7C974}" type="presParOf" srcId="{D3859A95-7026-4FD2-B0EA-F2FCC73AE703}" destId="{E17BA1F3-0C00-4FF2-9653-EF94BAD62031}" srcOrd="0" destOrd="0" presId="urn:microsoft.com/office/officeart/2005/8/layout/radial3"/>
    <dgm:cxn modelId="{60C74CB3-6E73-42C9-8FFC-854F9A91DBCA}" type="presParOf" srcId="{D3859A95-7026-4FD2-B0EA-F2FCC73AE703}" destId="{4D03A9D2-67CF-4808-96EF-9297EA14CE09}" srcOrd="1" destOrd="0" presId="urn:microsoft.com/office/officeart/2005/8/layout/radial3"/>
    <dgm:cxn modelId="{0CAE38DD-CB35-47BB-AA5C-BB182613990A}" type="presParOf" srcId="{D3859A95-7026-4FD2-B0EA-F2FCC73AE703}" destId="{BA6FE0CA-EB44-4F00-B718-59FB70CF0E2F}" srcOrd="2" destOrd="0" presId="urn:microsoft.com/office/officeart/2005/8/layout/radial3"/>
    <dgm:cxn modelId="{D7D1817B-73E1-4B3D-915B-26C0D39BD1C9}" type="presParOf" srcId="{D3859A95-7026-4FD2-B0EA-F2FCC73AE703}" destId="{81032F12-6115-4CF6-BD28-A946DC8033FB}" srcOrd="3" destOrd="0" presId="urn:microsoft.com/office/officeart/2005/8/layout/radial3"/>
    <dgm:cxn modelId="{1C5D9258-417A-40DD-949A-7EDB4167AB07}" type="presParOf" srcId="{D3859A95-7026-4FD2-B0EA-F2FCC73AE703}" destId="{A28A57A1-E220-4BF2-A9D3-4B40BBCA990F}" srcOrd="4" destOrd="0" presId="urn:microsoft.com/office/officeart/2005/8/layout/radial3"/>
    <dgm:cxn modelId="{A56D8BBA-17CF-4917-9BEB-C38D87DAD9CB}" type="presParOf" srcId="{D3859A95-7026-4FD2-B0EA-F2FCC73AE703}" destId="{DC2DCB21-22C7-43C8-82AB-FF7A48818FEA}" srcOrd="5" destOrd="0" presId="urn:microsoft.com/office/officeart/2005/8/layout/radial3"/>
    <dgm:cxn modelId="{0B1F9DF4-2F46-40D1-BC61-976774814C43}" type="presParOf" srcId="{D3859A95-7026-4FD2-B0EA-F2FCC73AE703}" destId="{20C5FD5C-AEBC-4784-919E-650738A1B2F6}" srcOrd="6" destOrd="0" presId="urn:microsoft.com/office/officeart/2005/8/layout/radial3"/>
    <dgm:cxn modelId="{83DEE404-4A73-4083-88B8-ADD080551522}" type="presParOf" srcId="{D3859A95-7026-4FD2-B0EA-F2FCC73AE703}" destId="{DEF8B780-5F84-4F41-80B1-20BD9982DF50}" srcOrd="7"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93CF4F5-3101-49E6-9303-E9DD7296C65D}"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C301BCD6-3F1B-4C9C-800D-CE5CBA0188D2}">
      <dgm:prSet phldrT="[文本]" custT="1"/>
      <dgm:spPr>
        <a:solidFill>
          <a:schemeClr val="accent1">
            <a:lumMod val="75000"/>
          </a:schemeClr>
        </a:solidFill>
      </dgm:spPr>
      <dgm:t>
        <a:bodyPr/>
        <a:lstStyle/>
        <a:p>
          <a:r>
            <a:rPr lang="zh-CN" altLang="en-US" sz="2400" b="1" dirty="0" smtClean="0">
              <a:solidFill>
                <a:schemeClr val="bg1"/>
              </a:solidFill>
              <a:latin typeface="微软雅黑" panose="020B0503020204020204" pitchFamily="34" charset="-122"/>
              <a:ea typeface="微软雅黑" panose="020B0503020204020204" pitchFamily="34" charset="-122"/>
            </a:rPr>
            <a:t>文字描述：便于人来阅读和理解。</a:t>
          </a:r>
          <a:endParaRPr lang="zh-CN" altLang="en-US" sz="2400" b="1" dirty="0">
            <a:solidFill>
              <a:schemeClr val="bg1"/>
            </a:solidFill>
            <a:latin typeface="微软雅黑" panose="020B0503020204020204" pitchFamily="34" charset="-122"/>
            <a:ea typeface="微软雅黑" panose="020B0503020204020204" pitchFamily="34" charset="-122"/>
          </a:endParaRPr>
        </a:p>
      </dgm:t>
    </dgm:pt>
    <dgm:pt modelId="{8F194872-EA8A-420F-BAD5-93D3D974D2CC}" type="parTrans" cxnId="{B535B5F2-0D6A-421E-BFCB-673C3560E397}">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CBA69BCC-ACCA-44EF-AB05-16894BE20C98}" type="sibTrans" cxnId="{B535B5F2-0D6A-421E-BFCB-673C3560E397}">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8A5B5183-B82D-4F95-84A7-0F223402066E}">
      <dgm:prSet phldrT="[文本]" custT="1"/>
      <dgm:spPr>
        <a:solidFill>
          <a:srgbClr val="FFC000"/>
        </a:solidFill>
      </dgm:spPr>
      <dgm:t>
        <a:bodyPr/>
        <a:lstStyle/>
        <a:p>
          <a:r>
            <a:rPr lang="zh-CN" altLang="en-US" sz="2400" b="1" dirty="0" smtClean="0">
              <a:solidFill>
                <a:srgbClr val="000066"/>
              </a:solidFill>
              <a:latin typeface="微软雅黑" panose="020B0503020204020204" pitchFamily="34" charset="-122"/>
              <a:ea typeface="微软雅黑" panose="020B0503020204020204" pitchFamily="34" charset="-122"/>
            </a:rPr>
            <a:t>程序代码：让计算机能够理解。</a:t>
          </a:r>
          <a:endParaRPr lang="zh-CN" altLang="en-US" sz="2400" b="1" dirty="0">
            <a:solidFill>
              <a:srgbClr val="000066"/>
            </a:solidFill>
            <a:latin typeface="微软雅黑" panose="020B0503020204020204" pitchFamily="34" charset="-122"/>
            <a:ea typeface="微软雅黑" panose="020B0503020204020204" pitchFamily="34" charset="-122"/>
          </a:endParaRPr>
        </a:p>
      </dgm:t>
    </dgm:pt>
    <dgm:pt modelId="{3C446E62-0F12-4B57-895F-6C47306C1DC1}" type="parTrans" cxnId="{2166F6B3-E217-4437-B325-B8BA520696B0}">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21AEA954-F48A-4B44-80BF-2C09A5948257}" type="sibTrans" cxnId="{2166F6B3-E217-4437-B325-B8BA520696B0}">
      <dgm:prSet/>
      <dgm:spPr/>
      <dgm:t>
        <a:bodyPr/>
        <a:lstStyle/>
        <a:p>
          <a:endParaRPr lang="zh-CN" altLang="en-US" sz="2400" b="1">
            <a:latin typeface="微软雅黑" panose="020B0503020204020204" pitchFamily="34" charset="-122"/>
            <a:ea typeface="微软雅黑" panose="020B0503020204020204" pitchFamily="34" charset="-122"/>
          </a:endParaRPr>
        </a:p>
      </dgm:t>
    </dgm:pt>
    <dgm:pt modelId="{42C73C4A-F159-4BCB-A072-016D19C6E2B5}" type="pres">
      <dgm:prSet presAssocID="{293CF4F5-3101-49E6-9303-E9DD7296C65D}" presName="linear" presStyleCnt="0">
        <dgm:presLayoutVars>
          <dgm:dir/>
          <dgm:animLvl val="lvl"/>
          <dgm:resizeHandles val="exact"/>
        </dgm:presLayoutVars>
      </dgm:prSet>
      <dgm:spPr/>
      <dgm:t>
        <a:bodyPr/>
        <a:lstStyle/>
        <a:p>
          <a:endParaRPr lang="zh-CN" altLang="en-US"/>
        </a:p>
      </dgm:t>
    </dgm:pt>
    <dgm:pt modelId="{E336CA13-8985-45BE-84B4-56919F1E4296}" type="pres">
      <dgm:prSet presAssocID="{C301BCD6-3F1B-4C9C-800D-CE5CBA0188D2}" presName="parentLin" presStyleCnt="0"/>
      <dgm:spPr/>
    </dgm:pt>
    <dgm:pt modelId="{77F3D1F0-EBBB-48B7-B04C-56372B956B6C}" type="pres">
      <dgm:prSet presAssocID="{C301BCD6-3F1B-4C9C-800D-CE5CBA0188D2}" presName="parentLeftMargin" presStyleLbl="node1" presStyleIdx="0" presStyleCnt="2"/>
      <dgm:spPr/>
      <dgm:t>
        <a:bodyPr/>
        <a:lstStyle/>
        <a:p>
          <a:endParaRPr lang="zh-CN" altLang="en-US"/>
        </a:p>
      </dgm:t>
    </dgm:pt>
    <dgm:pt modelId="{41788D26-F979-4FB7-8A96-4711D82825B8}" type="pres">
      <dgm:prSet presAssocID="{C301BCD6-3F1B-4C9C-800D-CE5CBA0188D2}" presName="parentText" presStyleLbl="node1" presStyleIdx="0" presStyleCnt="2">
        <dgm:presLayoutVars>
          <dgm:chMax val="0"/>
          <dgm:bulletEnabled val="1"/>
        </dgm:presLayoutVars>
      </dgm:prSet>
      <dgm:spPr/>
      <dgm:t>
        <a:bodyPr/>
        <a:lstStyle/>
        <a:p>
          <a:endParaRPr lang="zh-CN" altLang="en-US"/>
        </a:p>
      </dgm:t>
    </dgm:pt>
    <dgm:pt modelId="{446021F4-CA10-46E5-8E3F-26753D3D3985}" type="pres">
      <dgm:prSet presAssocID="{C301BCD6-3F1B-4C9C-800D-CE5CBA0188D2}" presName="negativeSpace" presStyleCnt="0"/>
      <dgm:spPr/>
    </dgm:pt>
    <dgm:pt modelId="{2F355ABF-AFD4-4429-AC0C-B179A1BF75DA}" type="pres">
      <dgm:prSet presAssocID="{C301BCD6-3F1B-4C9C-800D-CE5CBA0188D2}" presName="childText" presStyleLbl="conFgAcc1" presStyleIdx="0" presStyleCnt="2">
        <dgm:presLayoutVars>
          <dgm:bulletEnabled val="1"/>
        </dgm:presLayoutVars>
      </dgm:prSet>
      <dgm:spPr/>
    </dgm:pt>
    <dgm:pt modelId="{A1FE5214-89D9-427A-8B5A-BF786C96D895}" type="pres">
      <dgm:prSet presAssocID="{CBA69BCC-ACCA-44EF-AB05-16894BE20C98}" presName="spaceBetweenRectangles" presStyleCnt="0"/>
      <dgm:spPr/>
    </dgm:pt>
    <dgm:pt modelId="{142A6A81-5624-4ACE-9A3D-B3AFF9382A09}" type="pres">
      <dgm:prSet presAssocID="{8A5B5183-B82D-4F95-84A7-0F223402066E}" presName="parentLin" presStyleCnt="0"/>
      <dgm:spPr/>
    </dgm:pt>
    <dgm:pt modelId="{C238DCB9-6EBC-413B-9D6D-EC93B6F5DDFF}" type="pres">
      <dgm:prSet presAssocID="{8A5B5183-B82D-4F95-84A7-0F223402066E}" presName="parentLeftMargin" presStyleLbl="node1" presStyleIdx="0" presStyleCnt="2"/>
      <dgm:spPr/>
      <dgm:t>
        <a:bodyPr/>
        <a:lstStyle/>
        <a:p>
          <a:endParaRPr lang="zh-CN" altLang="en-US"/>
        </a:p>
      </dgm:t>
    </dgm:pt>
    <dgm:pt modelId="{F367B3BE-A2DF-4CEA-8C18-99C09218A893}" type="pres">
      <dgm:prSet presAssocID="{8A5B5183-B82D-4F95-84A7-0F223402066E}" presName="parentText" presStyleLbl="node1" presStyleIdx="1" presStyleCnt="2">
        <dgm:presLayoutVars>
          <dgm:chMax val="0"/>
          <dgm:bulletEnabled val="1"/>
        </dgm:presLayoutVars>
      </dgm:prSet>
      <dgm:spPr/>
      <dgm:t>
        <a:bodyPr/>
        <a:lstStyle/>
        <a:p>
          <a:endParaRPr lang="zh-CN" altLang="en-US"/>
        </a:p>
      </dgm:t>
    </dgm:pt>
    <dgm:pt modelId="{00FBF154-663A-49D1-BC6E-5A81F86E17D9}" type="pres">
      <dgm:prSet presAssocID="{8A5B5183-B82D-4F95-84A7-0F223402066E}" presName="negativeSpace" presStyleCnt="0"/>
      <dgm:spPr/>
    </dgm:pt>
    <dgm:pt modelId="{3072F165-7A76-46AC-BCC0-0FC97CA5F9F5}" type="pres">
      <dgm:prSet presAssocID="{8A5B5183-B82D-4F95-84A7-0F223402066E}" presName="childText" presStyleLbl="conFgAcc1" presStyleIdx="1" presStyleCnt="2">
        <dgm:presLayoutVars>
          <dgm:bulletEnabled val="1"/>
        </dgm:presLayoutVars>
      </dgm:prSet>
      <dgm:spPr/>
    </dgm:pt>
  </dgm:ptLst>
  <dgm:cxnLst>
    <dgm:cxn modelId="{CC49713B-81F0-4D49-8335-BF74EF9575A9}" type="presOf" srcId="{C301BCD6-3F1B-4C9C-800D-CE5CBA0188D2}" destId="{41788D26-F979-4FB7-8A96-4711D82825B8}" srcOrd="1" destOrd="0" presId="urn:microsoft.com/office/officeart/2005/8/layout/list1"/>
    <dgm:cxn modelId="{523BE8AC-2306-437D-936B-8AD225ED821A}" type="presOf" srcId="{C301BCD6-3F1B-4C9C-800D-CE5CBA0188D2}" destId="{77F3D1F0-EBBB-48B7-B04C-56372B956B6C}" srcOrd="0" destOrd="0" presId="urn:microsoft.com/office/officeart/2005/8/layout/list1"/>
    <dgm:cxn modelId="{2166F6B3-E217-4437-B325-B8BA520696B0}" srcId="{293CF4F5-3101-49E6-9303-E9DD7296C65D}" destId="{8A5B5183-B82D-4F95-84A7-0F223402066E}" srcOrd="1" destOrd="0" parTransId="{3C446E62-0F12-4B57-895F-6C47306C1DC1}" sibTransId="{21AEA954-F48A-4B44-80BF-2C09A5948257}"/>
    <dgm:cxn modelId="{8648C9E3-F04D-43B5-B7C2-C5633E0324F0}" type="presOf" srcId="{8A5B5183-B82D-4F95-84A7-0F223402066E}" destId="{F367B3BE-A2DF-4CEA-8C18-99C09218A893}" srcOrd="1" destOrd="0" presId="urn:microsoft.com/office/officeart/2005/8/layout/list1"/>
    <dgm:cxn modelId="{8E7B7D98-7105-4F99-B0A6-2A1C53DBAED1}" type="presOf" srcId="{8A5B5183-B82D-4F95-84A7-0F223402066E}" destId="{C238DCB9-6EBC-413B-9D6D-EC93B6F5DDFF}" srcOrd="0" destOrd="0" presId="urn:microsoft.com/office/officeart/2005/8/layout/list1"/>
    <dgm:cxn modelId="{B535B5F2-0D6A-421E-BFCB-673C3560E397}" srcId="{293CF4F5-3101-49E6-9303-E9DD7296C65D}" destId="{C301BCD6-3F1B-4C9C-800D-CE5CBA0188D2}" srcOrd="0" destOrd="0" parTransId="{8F194872-EA8A-420F-BAD5-93D3D974D2CC}" sibTransId="{CBA69BCC-ACCA-44EF-AB05-16894BE20C98}"/>
    <dgm:cxn modelId="{7292CFB2-88FD-4C0F-B647-EC1F873E8C02}" type="presOf" srcId="{293CF4F5-3101-49E6-9303-E9DD7296C65D}" destId="{42C73C4A-F159-4BCB-A072-016D19C6E2B5}" srcOrd="0" destOrd="0" presId="urn:microsoft.com/office/officeart/2005/8/layout/list1"/>
    <dgm:cxn modelId="{6D4C003B-FA42-4A18-9362-1CC5C2F820D9}" type="presParOf" srcId="{42C73C4A-F159-4BCB-A072-016D19C6E2B5}" destId="{E336CA13-8985-45BE-84B4-56919F1E4296}" srcOrd="0" destOrd="0" presId="urn:microsoft.com/office/officeart/2005/8/layout/list1"/>
    <dgm:cxn modelId="{4A44408E-4300-4CD8-A36D-AC978F8166B1}" type="presParOf" srcId="{E336CA13-8985-45BE-84B4-56919F1E4296}" destId="{77F3D1F0-EBBB-48B7-B04C-56372B956B6C}" srcOrd="0" destOrd="0" presId="urn:microsoft.com/office/officeart/2005/8/layout/list1"/>
    <dgm:cxn modelId="{C9AD1079-E1FC-421A-8028-9E784163538A}" type="presParOf" srcId="{E336CA13-8985-45BE-84B4-56919F1E4296}" destId="{41788D26-F979-4FB7-8A96-4711D82825B8}" srcOrd="1" destOrd="0" presId="urn:microsoft.com/office/officeart/2005/8/layout/list1"/>
    <dgm:cxn modelId="{C6CD703A-CA58-45AE-96B6-0B161EC2832D}" type="presParOf" srcId="{42C73C4A-F159-4BCB-A072-016D19C6E2B5}" destId="{446021F4-CA10-46E5-8E3F-26753D3D3985}" srcOrd="1" destOrd="0" presId="urn:microsoft.com/office/officeart/2005/8/layout/list1"/>
    <dgm:cxn modelId="{5463E5F0-2CCA-4CD8-A901-E71015E5A172}" type="presParOf" srcId="{42C73C4A-F159-4BCB-A072-016D19C6E2B5}" destId="{2F355ABF-AFD4-4429-AC0C-B179A1BF75DA}" srcOrd="2" destOrd="0" presId="urn:microsoft.com/office/officeart/2005/8/layout/list1"/>
    <dgm:cxn modelId="{AA1444D2-C983-4FA6-8288-D5932E10D59B}" type="presParOf" srcId="{42C73C4A-F159-4BCB-A072-016D19C6E2B5}" destId="{A1FE5214-89D9-427A-8B5A-BF786C96D895}" srcOrd="3" destOrd="0" presId="urn:microsoft.com/office/officeart/2005/8/layout/list1"/>
    <dgm:cxn modelId="{AB78CAFB-E031-42CA-8B34-E372E6DE04A2}" type="presParOf" srcId="{42C73C4A-F159-4BCB-A072-016D19C6E2B5}" destId="{142A6A81-5624-4ACE-9A3D-B3AFF9382A09}" srcOrd="4" destOrd="0" presId="urn:microsoft.com/office/officeart/2005/8/layout/list1"/>
    <dgm:cxn modelId="{91A936AE-FC90-4ACE-81F2-581424DA4CE0}" type="presParOf" srcId="{142A6A81-5624-4ACE-9A3D-B3AFF9382A09}" destId="{C238DCB9-6EBC-413B-9D6D-EC93B6F5DDFF}" srcOrd="0" destOrd="0" presId="urn:microsoft.com/office/officeart/2005/8/layout/list1"/>
    <dgm:cxn modelId="{10CEC755-C05C-4C06-9EEA-F6812491092C}" type="presParOf" srcId="{142A6A81-5624-4ACE-9A3D-B3AFF9382A09}" destId="{F367B3BE-A2DF-4CEA-8C18-99C09218A893}" srcOrd="1" destOrd="0" presId="urn:microsoft.com/office/officeart/2005/8/layout/list1"/>
    <dgm:cxn modelId="{2FB5494E-9478-4442-8135-A123C91068E7}" type="presParOf" srcId="{42C73C4A-F159-4BCB-A072-016D19C6E2B5}" destId="{00FBF154-663A-49D1-BC6E-5A81F86E17D9}" srcOrd="5" destOrd="0" presId="urn:microsoft.com/office/officeart/2005/8/layout/list1"/>
    <dgm:cxn modelId="{4EAAF4BA-38D6-49D6-B89F-96B2513C71F2}" type="presParOf" srcId="{42C73C4A-F159-4BCB-A072-016D19C6E2B5}" destId="{3072F165-7A76-46AC-BCC0-0FC97CA5F9F5}" srcOrd="6" destOrd="0" presId="urn:microsoft.com/office/officeart/2005/8/layout/list1"/>
  </dgm:cxnLst>
  <dgm:bg/>
  <dgm:whole>
    <a:ln w="19050">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5D5085E-9A19-4AAD-9799-233066D76354}" type="doc">
      <dgm:prSet loTypeId="urn:microsoft.com/office/officeart/2009/3/layout/PlusandMinus" loCatId="relationship" qsTypeId="urn:microsoft.com/office/officeart/2005/8/quickstyle/simple1" qsCatId="simple" csTypeId="urn:microsoft.com/office/officeart/2005/8/colors/colorful1#7" csCatId="colorful" phldr="1"/>
      <dgm:spPr/>
      <dgm:t>
        <a:bodyPr/>
        <a:lstStyle/>
        <a:p>
          <a:endParaRPr lang="zh-CN" altLang="en-US"/>
        </a:p>
      </dgm:t>
    </dgm:pt>
    <dgm:pt modelId="{523B5A40-6C88-4E7B-8370-BC3BAD908198}">
      <dgm:prSet phldrT="[文本]" custT="1">
        <dgm:style>
          <a:lnRef idx="1">
            <a:schemeClr val="accent1"/>
          </a:lnRef>
          <a:fillRef idx="2">
            <a:schemeClr val="accent1"/>
          </a:fillRef>
          <a:effectRef idx="1">
            <a:schemeClr val="accent1"/>
          </a:effectRef>
          <a:fontRef idx="minor">
            <a:schemeClr val="dk1"/>
          </a:fontRef>
        </dgm:style>
      </dgm:prSet>
      <dgm:spPr>
        <a:solidFill>
          <a:schemeClr val="accent1">
            <a:lumMod val="20000"/>
            <a:lumOff val="80000"/>
          </a:schemeClr>
        </a:solidFill>
        <a:effectLst/>
      </dgm:spPr>
      <dgm:t>
        <a:bodyPr/>
        <a:lstStyle/>
        <a:p>
          <a:pPr>
            <a:spcAft>
              <a:spcPts val="0"/>
            </a:spcAft>
          </a:pPr>
          <a:r>
            <a:rPr lang="zh-CN" altLang="en-US" sz="2000" b="1" dirty="0" smtClean="0">
              <a:solidFill>
                <a:srgbClr val="1C1C1C"/>
              </a:solidFill>
              <a:latin typeface="微软雅黑" panose="020B0503020204020204" pitchFamily="34" charset="-122"/>
              <a:ea typeface="微软雅黑" panose="020B0503020204020204" pitchFamily="34" charset="-122"/>
            </a:rPr>
            <a:t>各层之间是独立的；</a:t>
          </a:r>
        </a:p>
        <a:p>
          <a:pPr>
            <a:spcAft>
              <a:spcPts val="0"/>
            </a:spcAft>
          </a:pPr>
          <a:r>
            <a:rPr lang="zh-CN" altLang="en-US" sz="2000" b="1" dirty="0" smtClean="0">
              <a:solidFill>
                <a:srgbClr val="1C1C1C"/>
              </a:solidFill>
              <a:latin typeface="微软雅黑" panose="020B0503020204020204" pitchFamily="34" charset="-122"/>
              <a:ea typeface="微软雅黑" panose="020B0503020204020204" pitchFamily="34" charset="-122"/>
            </a:rPr>
            <a:t>灵活性好；</a:t>
          </a:r>
        </a:p>
        <a:p>
          <a:pPr>
            <a:spcAft>
              <a:spcPts val="0"/>
            </a:spcAft>
          </a:pPr>
          <a:r>
            <a:rPr lang="zh-CN" altLang="en-US" sz="2000" b="1" dirty="0" smtClean="0">
              <a:solidFill>
                <a:srgbClr val="1C1C1C"/>
              </a:solidFill>
              <a:latin typeface="微软雅黑" panose="020B0503020204020204" pitchFamily="34" charset="-122"/>
              <a:ea typeface="微软雅黑" panose="020B0503020204020204" pitchFamily="34" charset="-122"/>
            </a:rPr>
            <a:t>结构上可分割开；</a:t>
          </a:r>
        </a:p>
        <a:p>
          <a:pPr>
            <a:spcAft>
              <a:spcPts val="0"/>
            </a:spcAft>
          </a:pPr>
          <a:r>
            <a:rPr lang="zh-CN" altLang="en-US" sz="2000" b="1" dirty="0" smtClean="0">
              <a:solidFill>
                <a:srgbClr val="1C1C1C"/>
              </a:solidFill>
              <a:latin typeface="微软雅黑" panose="020B0503020204020204" pitchFamily="34" charset="-122"/>
              <a:ea typeface="微软雅黑" panose="020B0503020204020204" pitchFamily="34" charset="-122"/>
            </a:rPr>
            <a:t>易于实现和维护；</a:t>
          </a:r>
        </a:p>
        <a:p>
          <a:pPr>
            <a:spcAft>
              <a:spcPts val="0"/>
            </a:spcAft>
          </a:pPr>
          <a:r>
            <a:rPr lang="zh-CN" altLang="en-US" sz="2000" b="1" dirty="0" smtClean="0">
              <a:solidFill>
                <a:srgbClr val="1C1C1C"/>
              </a:solidFill>
              <a:latin typeface="微软雅黑" panose="020B0503020204020204" pitchFamily="34" charset="-122"/>
              <a:ea typeface="微软雅黑" panose="020B0503020204020204" pitchFamily="34" charset="-122"/>
            </a:rPr>
            <a:t>能促进标准化工作。</a:t>
          </a:r>
        </a:p>
      </dgm:t>
    </dgm:pt>
    <dgm:pt modelId="{4A6FE152-9E61-4CEC-9BC4-79E3A424C0D2}" type="par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2A612B14-1FE9-4940-AD60-58D8C13C2F37}" type="sibTrans" cxnId="{BFA2CA4B-6F60-4BAC-85D0-D17D13261D45}">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906CC4F9-16E2-4572-BF0F-2D71D193110F}">
      <dgm:prSet phldrT="[文本]" custT="1">
        <dgm:style>
          <a:lnRef idx="0">
            <a:schemeClr val="accent3"/>
          </a:lnRef>
          <a:fillRef idx="3">
            <a:schemeClr val="accent3"/>
          </a:fillRef>
          <a:effectRef idx="3">
            <a:schemeClr val="accent3"/>
          </a:effectRef>
          <a:fontRef idx="minor">
            <a:schemeClr val="lt1"/>
          </a:fontRef>
        </dgm:style>
      </dgm:prSet>
      <dgm:spPr>
        <a:solidFill>
          <a:srgbClr val="EAC9C8"/>
        </a:solidFill>
        <a:effectLst/>
        <a:scene3d>
          <a:camera prst="orthographicFront">
            <a:rot lat="0" lon="0" rev="0"/>
          </a:camera>
          <a:lightRig rig="threePt" dir="t">
            <a:rot lat="0" lon="0" rev="1200000"/>
          </a:lightRig>
        </a:scene3d>
        <a:sp3d/>
      </dgm:spPr>
      <dgm:t>
        <a:bodyPr/>
        <a:lstStyle/>
        <a:p>
          <a:pPr>
            <a:spcAft>
              <a:spcPts val="0"/>
            </a:spcAft>
          </a:pPr>
          <a:r>
            <a:rPr lang="zh-CN" altLang="en-US" sz="2000" b="1" dirty="0" smtClean="0">
              <a:solidFill>
                <a:srgbClr val="1C1C1C"/>
              </a:solidFill>
              <a:latin typeface="微软雅黑" panose="020B0503020204020204" pitchFamily="34" charset="-122"/>
              <a:ea typeface="微软雅黑" panose="020B0503020204020204" pitchFamily="34" charset="-122"/>
            </a:rPr>
            <a:t>有些功能会重复出现，因而产生了额外开销。</a:t>
          </a:r>
          <a:endParaRPr lang="en-US" altLang="zh-CN" sz="2000" b="1" dirty="0" smtClean="0">
            <a:solidFill>
              <a:srgbClr val="1C1C1C"/>
            </a:solidFill>
            <a:latin typeface="微软雅黑" panose="020B0503020204020204" pitchFamily="34" charset="-122"/>
            <a:ea typeface="微软雅黑" panose="020B0503020204020204" pitchFamily="34" charset="-122"/>
          </a:endParaRPr>
        </a:p>
      </dgm:t>
    </dgm:pt>
    <dgm:pt modelId="{75873D7D-8229-4A50-B8B3-9C809F5F9F2A}" type="par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D297ADB0-BFEE-4AB3-8D8E-293AD20CC74C}" type="sibTrans" cxnId="{52A72C25-C9F8-4E42-AFAE-C29F4D9B1539}">
      <dgm:prSet/>
      <dgm:spPr/>
      <dgm:t>
        <a:bodyPr/>
        <a:lstStyle/>
        <a:p>
          <a:endParaRPr lang="zh-CN" altLang="en-US" sz="1600">
            <a:latin typeface="微软雅黑" panose="020B0503020204020204" pitchFamily="34" charset="-122"/>
            <a:ea typeface="微软雅黑" panose="020B0503020204020204" pitchFamily="34" charset="-122"/>
          </a:endParaRPr>
        </a:p>
      </dgm:t>
    </dgm:pt>
    <dgm:pt modelId="{FB7A98D8-A946-4532-B8CF-383D1065D29C}" type="pres">
      <dgm:prSet presAssocID="{85D5085E-9A19-4AAD-9799-233066D76354}" presName="Name0" presStyleCnt="0">
        <dgm:presLayoutVars>
          <dgm:chMax val="2"/>
          <dgm:chPref val="2"/>
          <dgm:dir/>
          <dgm:animOne/>
          <dgm:resizeHandles val="exact"/>
        </dgm:presLayoutVars>
      </dgm:prSet>
      <dgm:spPr/>
      <dgm:t>
        <a:bodyPr/>
        <a:lstStyle/>
        <a:p>
          <a:endParaRPr lang="zh-CN" altLang="en-US"/>
        </a:p>
      </dgm:t>
    </dgm:pt>
    <dgm:pt modelId="{A6333D2C-A9D6-4FB9-868E-7A2772597538}" type="pres">
      <dgm:prSet presAssocID="{85D5085E-9A19-4AAD-9799-233066D76354}" presName="Background" presStyleLbl="bgImgPlace1" presStyleIdx="0" presStyleCnt="1" custScaleX="150969"/>
      <dgm:spPr>
        <a:solidFill>
          <a:schemeClr val="accent2">
            <a:lumMod val="60000"/>
            <a:lumOff val="40000"/>
          </a:schemeClr>
        </a:solidFill>
      </dgm:spPr>
      <dgm:t>
        <a:bodyPr/>
        <a:lstStyle/>
        <a:p>
          <a:endParaRPr lang="zh-CN" altLang="en-US"/>
        </a:p>
      </dgm:t>
    </dgm:pt>
    <dgm:pt modelId="{9F411F94-BA29-40FB-AB99-7CD7DB1CFA05}" type="pres">
      <dgm:prSet presAssocID="{85D5085E-9A19-4AAD-9799-233066D76354}" presName="ParentText1" presStyleLbl="revTx" presStyleIdx="0" presStyleCnt="2" custScaleX="122941" custLinFactNeighborX="-19358" custLinFactNeighborY="-2168">
        <dgm:presLayoutVars>
          <dgm:chMax val="0"/>
          <dgm:chPref val="0"/>
          <dgm:bulletEnabled val="1"/>
        </dgm:presLayoutVars>
      </dgm:prSet>
      <dgm:spPr/>
      <dgm:t>
        <a:bodyPr/>
        <a:lstStyle/>
        <a:p>
          <a:endParaRPr lang="zh-CN" altLang="en-US"/>
        </a:p>
      </dgm:t>
    </dgm:pt>
    <dgm:pt modelId="{CB7DDDF6-2C8B-4B30-A06C-1EA5DB141FBA}" type="pres">
      <dgm:prSet presAssocID="{85D5085E-9A19-4AAD-9799-233066D76354}" presName="ParentText2" presStyleLbl="revTx" presStyleIdx="1" presStyleCnt="2" custScaleX="124196" custLinFactNeighborX="20121" custLinFactNeighborY="-2285">
        <dgm:presLayoutVars>
          <dgm:chMax val="0"/>
          <dgm:chPref val="0"/>
          <dgm:bulletEnabled val="1"/>
        </dgm:presLayoutVars>
      </dgm:prSet>
      <dgm:spPr/>
      <dgm:t>
        <a:bodyPr/>
        <a:lstStyle/>
        <a:p>
          <a:endParaRPr lang="zh-CN" altLang="en-US"/>
        </a:p>
      </dgm:t>
    </dgm:pt>
    <dgm:pt modelId="{DF706164-FCCA-4F26-8B31-EABB82ABC165}" type="pres">
      <dgm:prSet presAssocID="{85D5085E-9A19-4AAD-9799-233066D76354}" presName="Plus" presStyleLbl="alignNode1" presStyleIdx="0" presStyleCnt="2" custLinFactX="-23859" custLinFactNeighborX="-100000"/>
      <dgm:spPr>
        <a:solidFill>
          <a:srgbClr val="990033"/>
        </a:solidFill>
        <a:ln>
          <a:solidFill>
            <a:srgbClr val="990033"/>
          </a:solidFill>
        </a:ln>
      </dgm:spPr>
    </dgm:pt>
    <dgm:pt modelId="{93B3F9F7-5DFA-451D-8AF0-C886EF2184F0}" type="pres">
      <dgm:prSet presAssocID="{85D5085E-9A19-4AAD-9799-233066D76354}" presName="Minus" presStyleLbl="alignNode1" presStyleIdx="1" presStyleCnt="2" custLinFactX="55058" custLinFactNeighborX="100000" custLinFactNeighborY="-7605"/>
      <dgm:spPr>
        <a:solidFill>
          <a:srgbClr val="000099"/>
        </a:solidFill>
        <a:ln>
          <a:noFill/>
        </a:ln>
      </dgm:spPr>
      <dgm:t>
        <a:bodyPr/>
        <a:lstStyle/>
        <a:p>
          <a:endParaRPr lang="zh-CN" altLang="en-US"/>
        </a:p>
      </dgm:t>
    </dgm:pt>
    <dgm:pt modelId="{5CF821AC-F873-42D9-B901-FF50109FC337}" type="pres">
      <dgm:prSet presAssocID="{85D5085E-9A19-4AAD-9799-233066D76354}" presName="Divider" presStyleLbl="parChTrans1D1" presStyleIdx="0" presStyleCnt="1"/>
      <dgm:spPr>
        <a:ln>
          <a:solidFill>
            <a:srgbClr val="000099"/>
          </a:solidFill>
        </a:ln>
      </dgm:spPr>
    </dgm:pt>
  </dgm:ptLst>
  <dgm:cxnLst>
    <dgm:cxn modelId="{ECA96CB8-823C-4F26-99BC-5D9803DA1F71}" type="presOf" srcId="{906CC4F9-16E2-4572-BF0F-2D71D193110F}" destId="{CB7DDDF6-2C8B-4B30-A06C-1EA5DB141FBA}" srcOrd="0" destOrd="0" presId="urn:microsoft.com/office/officeart/2009/3/layout/PlusandMinus"/>
    <dgm:cxn modelId="{04E4ADF8-4EA9-45A9-BCA9-47C5C762E7EC}" type="presOf" srcId="{85D5085E-9A19-4AAD-9799-233066D76354}" destId="{FB7A98D8-A946-4532-B8CF-383D1065D29C}" srcOrd="0" destOrd="0" presId="urn:microsoft.com/office/officeart/2009/3/layout/PlusandMinus"/>
    <dgm:cxn modelId="{F2DF5447-B0FA-430C-BC62-E5141CAA557B}" type="presOf" srcId="{523B5A40-6C88-4E7B-8370-BC3BAD908198}" destId="{9F411F94-BA29-40FB-AB99-7CD7DB1CFA05}" srcOrd="0" destOrd="0" presId="urn:microsoft.com/office/officeart/2009/3/layout/PlusandMinus"/>
    <dgm:cxn modelId="{BFA2CA4B-6F60-4BAC-85D0-D17D13261D45}" srcId="{85D5085E-9A19-4AAD-9799-233066D76354}" destId="{523B5A40-6C88-4E7B-8370-BC3BAD908198}" srcOrd="0" destOrd="0" parTransId="{4A6FE152-9E61-4CEC-9BC4-79E3A424C0D2}" sibTransId="{2A612B14-1FE9-4940-AD60-58D8C13C2F37}"/>
    <dgm:cxn modelId="{52A72C25-C9F8-4E42-AFAE-C29F4D9B1539}" srcId="{85D5085E-9A19-4AAD-9799-233066D76354}" destId="{906CC4F9-16E2-4572-BF0F-2D71D193110F}" srcOrd="1" destOrd="0" parTransId="{75873D7D-8229-4A50-B8B3-9C809F5F9F2A}" sibTransId="{D297ADB0-BFEE-4AB3-8D8E-293AD20CC74C}"/>
    <dgm:cxn modelId="{C0ED0E3B-6D0A-4E68-A238-35969E1D1460}" type="presParOf" srcId="{FB7A98D8-A946-4532-B8CF-383D1065D29C}" destId="{A6333D2C-A9D6-4FB9-868E-7A2772597538}" srcOrd="0" destOrd="0" presId="urn:microsoft.com/office/officeart/2009/3/layout/PlusandMinus"/>
    <dgm:cxn modelId="{CA1048D4-7752-4EC9-8E27-BD7519A39FCC}" type="presParOf" srcId="{FB7A98D8-A946-4532-B8CF-383D1065D29C}" destId="{9F411F94-BA29-40FB-AB99-7CD7DB1CFA05}" srcOrd="1" destOrd="0" presId="urn:microsoft.com/office/officeart/2009/3/layout/PlusandMinus"/>
    <dgm:cxn modelId="{F0297482-CE8D-4996-971B-8D0370F7097F}" type="presParOf" srcId="{FB7A98D8-A946-4532-B8CF-383D1065D29C}" destId="{CB7DDDF6-2C8B-4B30-A06C-1EA5DB141FBA}" srcOrd="2" destOrd="0" presId="urn:microsoft.com/office/officeart/2009/3/layout/PlusandMinus"/>
    <dgm:cxn modelId="{B40FC1F5-7345-404A-BE54-874A0840B25C}" type="presParOf" srcId="{FB7A98D8-A946-4532-B8CF-383D1065D29C}" destId="{DF706164-FCCA-4F26-8B31-EABB82ABC165}" srcOrd="3" destOrd="0" presId="urn:microsoft.com/office/officeart/2009/3/layout/PlusandMinus"/>
    <dgm:cxn modelId="{A4A76A30-CCE1-4E5A-8DE0-8C49B4AFD2F4}" type="presParOf" srcId="{FB7A98D8-A946-4532-B8CF-383D1065D29C}" destId="{93B3F9F7-5DFA-451D-8AF0-C886EF2184F0}" srcOrd="4" destOrd="0" presId="urn:microsoft.com/office/officeart/2009/3/layout/PlusandMinus"/>
    <dgm:cxn modelId="{A47D1BD9-2B1A-4F4E-B359-AA0FDA527083}" type="presParOf" srcId="{FB7A98D8-A946-4532-B8CF-383D1065D29C}" destId="{5CF821AC-F873-42D9-B901-FF50109FC337}" srcOrd="5" destOrd="0" presId="urn:microsoft.com/office/officeart/2009/3/layout/PlusandMinu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994F04D-6077-4FB2-937D-03324B9DAB34}" type="doc">
      <dgm:prSet loTypeId="urn:microsoft.com/office/officeart/2005/8/layout/hierarchy3" loCatId="relationship" qsTypeId="urn:microsoft.com/office/officeart/2005/8/quickstyle/simple3" qsCatId="simple" csTypeId="urn:microsoft.com/office/officeart/2005/8/colors/colorful1#8" csCatId="colorful" phldr="1"/>
      <dgm:spPr/>
      <dgm:t>
        <a:bodyPr/>
        <a:lstStyle/>
        <a:p>
          <a:endParaRPr lang="zh-CN" altLang="en-US"/>
        </a:p>
      </dgm:t>
    </dgm:pt>
    <dgm:pt modelId="{0DA5C5DE-6D17-4EDE-B920-CE5FB3D41ABA}">
      <dgm:prSet phldrT="[文本]" custT="1"/>
      <dgm:spPr/>
      <dgm:t>
        <a:bodyPr/>
        <a:lstStyle/>
        <a:p>
          <a:r>
            <a:rPr lang="zh-CN" altLang="en-US" sz="3600" b="1" dirty="0" smtClean="0">
              <a:solidFill>
                <a:srgbClr val="1C1C1C"/>
              </a:solidFill>
              <a:latin typeface="微软雅黑" panose="020B0503020204020204" pitchFamily="34" charset="-122"/>
              <a:ea typeface="微软雅黑" panose="020B0503020204020204" pitchFamily="34" charset="-122"/>
            </a:rPr>
            <a:t>协议</a:t>
          </a:r>
          <a:endParaRPr lang="zh-CN" altLang="en-US" sz="3600" b="1" dirty="0">
            <a:solidFill>
              <a:srgbClr val="1C1C1C"/>
            </a:solidFill>
            <a:latin typeface="微软雅黑" panose="020B0503020204020204" pitchFamily="34" charset="-122"/>
            <a:ea typeface="微软雅黑" panose="020B0503020204020204" pitchFamily="34" charset="-122"/>
          </a:endParaRPr>
        </a:p>
      </dgm:t>
    </dgm:pt>
    <dgm:pt modelId="{28418661-558A-435A-8A4F-56BB2E6D2A79}" type="parTrans" cxnId="{3F2313E1-88F4-4D75-80DD-D53E7FA40098}">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3B7799A1-52B3-4216-A827-D62622C7BECB}" type="sibTrans" cxnId="{3F2313E1-88F4-4D75-80DD-D53E7FA40098}">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85ACDDF9-B7B9-4AE3-AEFD-342A1ED3FDD3}">
      <dgm:prSet phldrT="[文本]" custT="1"/>
      <dgm:spPr/>
      <dgm:t>
        <a:bodyPr/>
        <a:lstStyle/>
        <a:p>
          <a:pPr algn="l"/>
          <a:r>
            <a:rPr lang="zh-CN" altLang="en-US" sz="2400" b="1" dirty="0" smtClean="0">
              <a:solidFill>
                <a:srgbClr val="1C1C1C"/>
              </a:solidFill>
              <a:latin typeface="微软雅黑" panose="020B0503020204020204" pitchFamily="34" charset="-122"/>
              <a:ea typeface="微软雅黑" panose="020B0503020204020204" pitchFamily="34" charset="-122"/>
            </a:rPr>
            <a:t>其实现保证了能够向上一层提供服务</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50644C00-718E-45C3-8ABB-FFE825DC5B7F}" type="parTrans" cxnId="{E2F31064-17B6-4A9F-90F0-643AB7AC015D}">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EE9E075A-BD56-47AA-9D15-0D4E098D5773}" type="sibTrans" cxnId="{E2F31064-17B6-4A9F-90F0-643AB7AC015D}">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5E148EBF-2EB5-487C-A84A-08998CD76BB7}">
      <dgm:prSet phldrT="[文本]" custT="1"/>
      <dgm:spPr/>
      <dgm:t>
        <a:bodyPr/>
        <a:lstStyle/>
        <a:p>
          <a:pPr algn="l"/>
          <a:r>
            <a:rPr lang="zh-CN" altLang="en-US" sz="2400" b="1" dirty="0" smtClean="0">
              <a:solidFill>
                <a:srgbClr val="1C1C1C"/>
              </a:solidFill>
              <a:latin typeface="微软雅黑" panose="020B0503020204020204" pitchFamily="34" charset="-122"/>
              <a:ea typeface="微软雅黑" panose="020B0503020204020204" pitchFamily="34" charset="-122"/>
            </a:rPr>
            <a:t>是“水平的”</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21295D08-392E-4BE1-9B14-3F97120CA18B}" type="parTrans" cxnId="{4C25B78B-B570-4056-98CA-440F138F90E1}">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76AFDFB6-ED54-46D5-B15F-407D349B5792}" type="sibTrans" cxnId="{4C25B78B-B570-4056-98CA-440F138F90E1}">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D4E06A52-91F5-4177-AA54-D298036A0598}">
      <dgm:prSet phldrT="[文本]" custT="1"/>
      <dgm:spPr/>
      <dgm:t>
        <a:bodyPr/>
        <a:lstStyle/>
        <a:p>
          <a:pPr algn="l"/>
          <a:r>
            <a:rPr lang="zh-CN" altLang="en-US" sz="2400" b="1" dirty="0" smtClean="0">
              <a:solidFill>
                <a:srgbClr val="1C1C1C"/>
              </a:solidFill>
              <a:latin typeface="微软雅黑" panose="020B0503020204020204" pitchFamily="34" charset="-122"/>
              <a:ea typeface="微软雅黑" panose="020B0503020204020204" pitchFamily="34" charset="-122"/>
            </a:rPr>
            <a:t>上层使用</a:t>
          </a:r>
          <a:r>
            <a:rPr lang="zh-CN" altLang="en-US" sz="2400" b="1" dirty="0" smtClean="0">
              <a:solidFill>
                <a:srgbClr val="C00000"/>
              </a:solidFill>
              <a:latin typeface="微软雅黑" panose="020B0503020204020204" pitchFamily="34" charset="-122"/>
              <a:ea typeface="微软雅黑" panose="020B0503020204020204" pitchFamily="34" charset="-122"/>
            </a:rPr>
            <a:t>服务原语</a:t>
          </a:r>
          <a:r>
            <a:rPr lang="zh-CN" altLang="en-US" sz="2400" b="1" dirty="0" smtClean="0">
              <a:solidFill>
                <a:srgbClr val="1C1C1C"/>
              </a:solidFill>
              <a:latin typeface="微软雅黑" panose="020B0503020204020204" pitchFamily="34" charset="-122"/>
              <a:ea typeface="微软雅黑" panose="020B0503020204020204" pitchFamily="34" charset="-122"/>
            </a:rPr>
            <a:t>获得下层所提供的服务。</a:t>
          </a:r>
        </a:p>
      </dgm:t>
    </dgm:pt>
    <dgm:pt modelId="{730A02EE-39C4-4F26-9573-658C50E91867}" type="parTrans" cxnId="{B342A0AB-0F65-4C75-907F-2694EA5299EC}">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8E8D6502-6A43-42CC-86CF-1ACBA7051209}" type="sibTrans" cxnId="{B342A0AB-0F65-4C75-907F-2694EA5299EC}">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DD4BC036-F4FD-462C-907D-B7F6B229CCE6}">
      <dgm:prSet phldrT="[文本]" custT="1"/>
      <dgm:spPr>
        <a:ln>
          <a:solidFill>
            <a:srgbClr val="FFC000"/>
          </a:solidFill>
        </a:ln>
      </dgm:spPr>
      <dgm:t>
        <a:bodyPr/>
        <a:lstStyle/>
        <a:p>
          <a:pPr algn="l"/>
          <a:r>
            <a:rPr lang="zh-CN" altLang="en-US" sz="2400" b="1" dirty="0" smtClean="0">
              <a:solidFill>
                <a:srgbClr val="1C1C1C"/>
              </a:solidFill>
              <a:latin typeface="微软雅黑" panose="020B0503020204020204" pitchFamily="34" charset="-122"/>
              <a:ea typeface="微软雅黑" panose="020B0503020204020204" pitchFamily="34" charset="-122"/>
            </a:rPr>
            <a:t>上层实体只能看见服务，无法看见下层的协议。</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85967721-5B7F-4D6B-ADDE-3DE6B93A85B9}" type="parTrans" cxnId="{E6AC0D9A-182A-4F10-BA90-83D5595123D1}">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4DE26604-E6BC-447F-9C0B-6472723CCE81}" type="sibTrans" cxnId="{E6AC0D9A-182A-4F10-BA90-83D5595123D1}">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FDE9353F-F89B-4F97-ADC5-22417B99EEF5}">
      <dgm:prSet phldrT="[文本]" custT="1">
        <dgm:style>
          <a:lnRef idx="1">
            <a:schemeClr val="accent1"/>
          </a:lnRef>
          <a:fillRef idx="2">
            <a:schemeClr val="accent1"/>
          </a:fillRef>
          <a:effectRef idx="1">
            <a:schemeClr val="accent1"/>
          </a:effectRef>
          <a:fontRef idx="minor">
            <a:schemeClr val="dk1"/>
          </a:fontRef>
        </dgm:style>
      </dgm:prSet>
      <dgm:spPr/>
      <dgm:t>
        <a:bodyPr/>
        <a:lstStyle/>
        <a:p>
          <a:r>
            <a:rPr lang="zh-CN" altLang="en-US" sz="3600" b="1" dirty="0" smtClean="0">
              <a:solidFill>
                <a:srgbClr val="1C1C1C"/>
              </a:solidFill>
              <a:latin typeface="微软雅黑" panose="020B0503020204020204" pitchFamily="34" charset="-122"/>
              <a:ea typeface="微软雅黑" panose="020B0503020204020204" pitchFamily="34" charset="-122"/>
            </a:rPr>
            <a:t>服务</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B2C123C1-4D4A-4AFA-AAC7-499F5F557CA3}" type="parTrans" cxnId="{98920D84-2D94-4AB0-A8BA-616CE05A6683}">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F5F63407-A2E4-4341-BE61-AC23ED700CB0}" type="sibTrans" cxnId="{98920D84-2D94-4AB0-A8BA-616CE05A6683}">
      <dgm:prSet/>
      <dgm:spPr/>
      <dgm:t>
        <a:bodyPr/>
        <a:lstStyle/>
        <a:p>
          <a:endParaRPr lang="zh-CN" altLang="en-US" sz="3600" b="1">
            <a:latin typeface="微软雅黑" panose="020B0503020204020204" pitchFamily="34" charset="-122"/>
            <a:ea typeface="微软雅黑" panose="020B0503020204020204" pitchFamily="34" charset="-122"/>
          </a:endParaRPr>
        </a:p>
      </dgm:t>
    </dgm:pt>
    <dgm:pt modelId="{1621BA61-E464-4E81-97EC-EDA49E7881F8}">
      <dgm:prSet custT="1"/>
      <dgm:spPr>
        <a:ln>
          <a:solidFill>
            <a:schemeClr val="accent1"/>
          </a:solidFill>
        </a:ln>
      </dgm:spPr>
      <dgm:t>
        <a:bodyPr/>
        <a:lstStyle/>
        <a:p>
          <a:pPr algn="l"/>
          <a:r>
            <a:rPr lang="zh-CN" altLang="en-US" sz="2400" b="1" dirty="0" smtClean="0">
              <a:solidFill>
                <a:srgbClr val="1C1C1C"/>
              </a:solidFill>
              <a:latin typeface="微软雅黑" panose="020B0503020204020204" pitchFamily="34" charset="-122"/>
              <a:ea typeface="微软雅黑" panose="020B0503020204020204" pitchFamily="34" charset="-122"/>
            </a:rPr>
            <a:t>下层协议对上层实体是透明的 </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51AD83D2-E860-474C-AB22-849ADFDF4DBE}" type="parTrans" cxnId="{30A3C7D7-737E-45E4-B2EB-EA198C32BC2B}">
      <dgm:prSet/>
      <dgm:spPr/>
      <dgm:t>
        <a:bodyPr/>
        <a:lstStyle/>
        <a:p>
          <a:endParaRPr lang="zh-CN" altLang="en-US" sz="3200"/>
        </a:p>
      </dgm:t>
    </dgm:pt>
    <dgm:pt modelId="{2E1B2228-FB84-45C7-9335-000068211608}" type="sibTrans" cxnId="{30A3C7D7-737E-45E4-B2EB-EA198C32BC2B}">
      <dgm:prSet/>
      <dgm:spPr/>
      <dgm:t>
        <a:bodyPr/>
        <a:lstStyle/>
        <a:p>
          <a:endParaRPr lang="zh-CN" altLang="en-US" sz="3200"/>
        </a:p>
      </dgm:t>
    </dgm:pt>
    <dgm:pt modelId="{796DC1B7-9303-4BF9-ADBA-2F3A2A3FBE6B}">
      <dgm:prSet custT="1"/>
      <dgm:spPr>
        <a:ln>
          <a:solidFill>
            <a:srgbClr val="D62A2E"/>
          </a:solidFill>
        </a:ln>
      </dgm:spPr>
      <dgm:t>
        <a:bodyPr/>
        <a:lstStyle/>
        <a:p>
          <a:pPr algn="l"/>
          <a:r>
            <a:rPr lang="zh-CN" altLang="en-US" sz="2400" b="1" dirty="0" smtClean="0">
              <a:solidFill>
                <a:srgbClr val="1C1C1C"/>
              </a:solidFill>
              <a:latin typeface="微软雅黑" panose="020B0503020204020204" pitchFamily="34" charset="-122"/>
              <a:ea typeface="微软雅黑" panose="020B0503020204020204" pitchFamily="34" charset="-122"/>
            </a:rPr>
            <a:t>是“垂直的”</a:t>
          </a:r>
          <a:endParaRPr lang="zh-CN" altLang="en-US" sz="2400" b="1" dirty="0">
            <a:solidFill>
              <a:srgbClr val="1C1C1C"/>
            </a:solidFill>
            <a:latin typeface="微软雅黑" panose="020B0503020204020204" pitchFamily="34" charset="-122"/>
            <a:ea typeface="微软雅黑" panose="020B0503020204020204" pitchFamily="34" charset="-122"/>
          </a:endParaRPr>
        </a:p>
      </dgm:t>
    </dgm:pt>
    <dgm:pt modelId="{81F2FDAA-970B-4BD0-9CE1-4DD499C666F7}" type="parTrans" cxnId="{EEB84225-CB6C-4BAC-B1AF-19A26231A51D}">
      <dgm:prSet/>
      <dgm:spPr/>
      <dgm:t>
        <a:bodyPr/>
        <a:lstStyle/>
        <a:p>
          <a:endParaRPr lang="zh-CN" altLang="en-US" sz="3200"/>
        </a:p>
      </dgm:t>
    </dgm:pt>
    <dgm:pt modelId="{5EDF14EE-9165-40CE-AECD-1659094E2CA3}" type="sibTrans" cxnId="{EEB84225-CB6C-4BAC-B1AF-19A26231A51D}">
      <dgm:prSet/>
      <dgm:spPr/>
      <dgm:t>
        <a:bodyPr/>
        <a:lstStyle/>
        <a:p>
          <a:endParaRPr lang="zh-CN" altLang="en-US" sz="3200"/>
        </a:p>
      </dgm:t>
    </dgm:pt>
    <dgm:pt modelId="{220E4BB7-E5A6-4374-B95C-9515D05C4860}" type="pres">
      <dgm:prSet presAssocID="{4994F04D-6077-4FB2-937D-03324B9DAB34}" presName="diagram" presStyleCnt="0">
        <dgm:presLayoutVars>
          <dgm:chPref val="1"/>
          <dgm:dir/>
          <dgm:animOne val="branch"/>
          <dgm:animLvl val="lvl"/>
          <dgm:resizeHandles/>
        </dgm:presLayoutVars>
      </dgm:prSet>
      <dgm:spPr/>
      <dgm:t>
        <a:bodyPr/>
        <a:lstStyle/>
        <a:p>
          <a:endParaRPr lang="zh-CN" altLang="en-US"/>
        </a:p>
      </dgm:t>
    </dgm:pt>
    <dgm:pt modelId="{F20CB88D-283A-40E6-969B-F760513B269C}" type="pres">
      <dgm:prSet presAssocID="{0DA5C5DE-6D17-4EDE-B920-CE5FB3D41ABA}" presName="root" presStyleCnt="0"/>
      <dgm:spPr/>
      <dgm:t>
        <a:bodyPr/>
        <a:lstStyle/>
        <a:p>
          <a:endParaRPr lang="zh-CN" altLang="en-US"/>
        </a:p>
      </dgm:t>
    </dgm:pt>
    <dgm:pt modelId="{16E92C0E-1962-4079-9E86-E1F4B29DC174}" type="pres">
      <dgm:prSet presAssocID="{0DA5C5DE-6D17-4EDE-B920-CE5FB3D41ABA}" presName="rootComposite" presStyleCnt="0"/>
      <dgm:spPr/>
      <dgm:t>
        <a:bodyPr/>
        <a:lstStyle/>
        <a:p>
          <a:endParaRPr lang="zh-CN" altLang="en-US"/>
        </a:p>
      </dgm:t>
    </dgm:pt>
    <dgm:pt modelId="{880F44A1-54FE-446F-9390-56E51903722C}" type="pres">
      <dgm:prSet presAssocID="{0DA5C5DE-6D17-4EDE-B920-CE5FB3D41ABA}" presName="rootText" presStyleLbl="node1" presStyleIdx="0" presStyleCnt="2" custLinFactNeighborX="-58298"/>
      <dgm:spPr/>
      <dgm:t>
        <a:bodyPr/>
        <a:lstStyle/>
        <a:p>
          <a:endParaRPr lang="zh-CN" altLang="en-US"/>
        </a:p>
      </dgm:t>
    </dgm:pt>
    <dgm:pt modelId="{804607B6-F4FB-4B08-9326-1AA34A273A5D}" type="pres">
      <dgm:prSet presAssocID="{0DA5C5DE-6D17-4EDE-B920-CE5FB3D41ABA}" presName="rootConnector" presStyleLbl="node1" presStyleIdx="0" presStyleCnt="2"/>
      <dgm:spPr/>
      <dgm:t>
        <a:bodyPr/>
        <a:lstStyle/>
        <a:p>
          <a:endParaRPr lang="zh-CN" altLang="en-US"/>
        </a:p>
      </dgm:t>
    </dgm:pt>
    <dgm:pt modelId="{4DA6A816-DA95-479C-9A39-3F04BD93D8C4}" type="pres">
      <dgm:prSet presAssocID="{0DA5C5DE-6D17-4EDE-B920-CE5FB3D41ABA}" presName="childShape" presStyleCnt="0"/>
      <dgm:spPr/>
      <dgm:t>
        <a:bodyPr/>
        <a:lstStyle/>
        <a:p>
          <a:endParaRPr lang="zh-CN" altLang="en-US"/>
        </a:p>
      </dgm:t>
    </dgm:pt>
    <dgm:pt modelId="{5F5FD024-96B9-4927-9522-4793C366CCDF}" type="pres">
      <dgm:prSet presAssocID="{50644C00-718E-45C3-8ABB-FFE825DC5B7F}" presName="Name13" presStyleLbl="parChTrans1D2" presStyleIdx="0" presStyleCnt="6"/>
      <dgm:spPr/>
      <dgm:t>
        <a:bodyPr/>
        <a:lstStyle/>
        <a:p>
          <a:endParaRPr lang="zh-CN" altLang="en-US"/>
        </a:p>
      </dgm:t>
    </dgm:pt>
    <dgm:pt modelId="{8271D559-F991-45A8-861F-E02D43E73A7A}" type="pres">
      <dgm:prSet presAssocID="{85ACDDF9-B7B9-4AE3-AEFD-342A1ED3FDD3}" presName="childText" presStyleLbl="bgAcc1" presStyleIdx="0" presStyleCnt="6" custScaleX="378056" custScaleY="141812" custLinFactNeighborX="-61112" custLinFactNeighborY="-5648">
        <dgm:presLayoutVars>
          <dgm:bulletEnabled val="1"/>
        </dgm:presLayoutVars>
      </dgm:prSet>
      <dgm:spPr/>
      <dgm:t>
        <a:bodyPr/>
        <a:lstStyle/>
        <a:p>
          <a:endParaRPr lang="zh-CN" altLang="en-US"/>
        </a:p>
      </dgm:t>
    </dgm:pt>
    <dgm:pt modelId="{D504C716-6CF6-4108-8639-E75778C37519}" type="pres">
      <dgm:prSet presAssocID="{51AD83D2-E860-474C-AB22-849ADFDF4DBE}" presName="Name13" presStyleLbl="parChTrans1D2" presStyleIdx="1" presStyleCnt="6"/>
      <dgm:spPr/>
      <dgm:t>
        <a:bodyPr/>
        <a:lstStyle/>
        <a:p>
          <a:endParaRPr lang="zh-CN" altLang="en-US"/>
        </a:p>
      </dgm:t>
    </dgm:pt>
    <dgm:pt modelId="{B24467C9-0F5C-4007-8028-B7B163F30ADF}" type="pres">
      <dgm:prSet presAssocID="{1621BA61-E464-4E81-97EC-EDA49E7881F8}" presName="childText" presStyleLbl="bgAcc1" presStyleIdx="1" presStyleCnt="6" custScaleX="378056" custScaleY="142780" custLinFactNeighborX="-61112">
        <dgm:presLayoutVars>
          <dgm:bulletEnabled val="1"/>
        </dgm:presLayoutVars>
      </dgm:prSet>
      <dgm:spPr/>
      <dgm:t>
        <a:bodyPr/>
        <a:lstStyle/>
        <a:p>
          <a:endParaRPr lang="zh-CN" altLang="en-US"/>
        </a:p>
      </dgm:t>
    </dgm:pt>
    <dgm:pt modelId="{9164C2E8-A8A5-4BDA-B5B7-3599D5C7C4A2}" type="pres">
      <dgm:prSet presAssocID="{21295D08-392E-4BE1-9B14-3F97120CA18B}" presName="Name13" presStyleLbl="parChTrans1D2" presStyleIdx="2" presStyleCnt="6"/>
      <dgm:spPr/>
      <dgm:t>
        <a:bodyPr/>
        <a:lstStyle/>
        <a:p>
          <a:endParaRPr lang="zh-CN" altLang="en-US"/>
        </a:p>
      </dgm:t>
    </dgm:pt>
    <dgm:pt modelId="{08A735DB-4E1F-4605-8178-66A449AC1BB2}" type="pres">
      <dgm:prSet presAssocID="{5E148EBF-2EB5-487C-A84A-08998CD76BB7}" presName="childText" presStyleLbl="bgAcc1" presStyleIdx="2" presStyleCnt="6" custScaleX="378056" custLinFactNeighborX="-61112">
        <dgm:presLayoutVars>
          <dgm:bulletEnabled val="1"/>
        </dgm:presLayoutVars>
      </dgm:prSet>
      <dgm:spPr/>
      <dgm:t>
        <a:bodyPr/>
        <a:lstStyle/>
        <a:p>
          <a:endParaRPr lang="zh-CN" altLang="en-US"/>
        </a:p>
      </dgm:t>
    </dgm:pt>
    <dgm:pt modelId="{172420C5-C642-4E23-8BCE-E82694121490}" type="pres">
      <dgm:prSet presAssocID="{FDE9353F-F89B-4F97-ADC5-22417B99EEF5}" presName="root" presStyleCnt="0"/>
      <dgm:spPr/>
      <dgm:t>
        <a:bodyPr/>
        <a:lstStyle/>
        <a:p>
          <a:endParaRPr lang="zh-CN" altLang="en-US"/>
        </a:p>
      </dgm:t>
    </dgm:pt>
    <dgm:pt modelId="{34B83B97-08FF-4DC6-919D-1C8742B7576A}" type="pres">
      <dgm:prSet presAssocID="{FDE9353F-F89B-4F97-ADC5-22417B99EEF5}" presName="rootComposite" presStyleCnt="0"/>
      <dgm:spPr/>
      <dgm:t>
        <a:bodyPr/>
        <a:lstStyle/>
        <a:p>
          <a:endParaRPr lang="zh-CN" altLang="en-US"/>
        </a:p>
      </dgm:t>
    </dgm:pt>
    <dgm:pt modelId="{CF6D9EBE-6D4F-45DB-B63C-66E318350665}" type="pres">
      <dgm:prSet presAssocID="{FDE9353F-F89B-4F97-ADC5-22417B99EEF5}" presName="rootText" presStyleLbl="node1" presStyleIdx="1" presStyleCnt="2"/>
      <dgm:spPr/>
      <dgm:t>
        <a:bodyPr/>
        <a:lstStyle/>
        <a:p>
          <a:endParaRPr lang="zh-CN" altLang="en-US"/>
        </a:p>
      </dgm:t>
    </dgm:pt>
    <dgm:pt modelId="{FFFA6021-95BD-4804-A726-42B6E8065B83}" type="pres">
      <dgm:prSet presAssocID="{FDE9353F-F89B-4F97-ADC5-22417B99EEF5}" presName="rootConnector" presStyleLbl="node1" presStyleIdx="1" presStyleCnt="2"/>
      <dgm:spPr/>
      <dgm:t>
        <a:bodyPr/>
        <a:lstStyle/>
        <a:p>
          <a:endParaRPr lang="zh-CN" altLang="en-US"/>
        </a:p>
      </dgm:t>
    </dgm:pt>
    <dgm:pt modelId="{ABF0D8E4-5E93-4122-950B-0287C64E7E00}" type="pres">
      <dgm:prSet presAssocID="{FDE9353F-F89B-4F97-ADC5-22417B99EEF5}" presName="childShape" presStyleCnt="0"/>
      <dgm:spPr/>
      <dgm:t>
        <a:bodyPr/>
        <a:lstStyle/>
        <a:p>
          <a:endParaRPr lang="zh-CN" altLang="en-US"/>
        </a:p>
      </dgm:t>
    </dgm:pt>
    <dgm:pt modelId="{D73DB642-839F-46E4-BEFB-357122DA8B2A}" type="pres">
      <dgm:prSet presAssocID="{730A02EE-39C4-4F26-9573-658C50E91867}" presName="Name13" presStyleLbl="parChTrans1D2" presStyleIdx="3" presStyleCnt="6"/>
      <dgm:spPr/>
      <dgm:t>
        <a:bodyPr/>
        <a:lstStyle/>
        <a:p>
          <a:endParaRPr lang="zh-CN" altLang="en-US"/>
        </a:p>
      </dgm:t>
    </dgm:pt>
    <dgm:pt modelId="{366E8205-074B-465F-84D3-7E9C2A4B087A}" type="pres">
      <dgm:prSet presAssocID="{D4E06A52-91F5-4177-AA54-D298036A0598}" presName="childText" presStyleLbl="bgAcc1" presStyleIdx="3" presStyleCnt="6" custScaleX="378194" custScaleY="142147" custLinFactNeighborX="11750">
        <dgm:presLayoutVars>
          <dgm:bulletEnabled val="1"/>
        </dgm:presLayoutVars>
      </dgm:prSet>
      <dgm:spPr/>
      <dgm:t>
        <a:bodyPr/>
        <a:lstStyle/>
        <a:p>
          <a:endParaRPr lang="zh-CN" altLang="en-US"/>
        </a:p>
      </dgm:t>
    </dgm:pt>
    <dgm:pt modelId="{C7786CBF-29A7-4F46-ACE1-BFAF2ED2906F}" type="pres">
      <dgm:prSet presAssocID="{85967721-5B7F-4D6B-ADDE-3DE6B93A85B9}" presName="Name13" presStyleLbl="parChTrans1D2" presStyleIdx="4" presStyleCnt="6"/>
      <dgm:spPr/>
      <dgm:t>
        <a:bodyPr/>
        <a:lstStyle/>
        <a:p>
          <a:endParaRPr lang="zh-CN" altLang="en-US"/>
        </a:p>
      </dgm:t>
    </dgm:pt>
    <dgm:pt modelId="{D4FAB220-39C0-4BB8-B879-AEB1A16B7CDC}" type="pres">
      <dgm:prSet presAssocID="{DD4BC036-F4FD-462C-907D-B7F6B229CCE6}" presName="childText" presStyleLbl="bgAcc1" presStyleIdx="4" presStyleCnt="6" custScaleX="378194" custScaleY="142780" custLinFactNeighborX="11750">
        <dgm:presLayoutVars>
          <dgm:bulletEnabled val="1"/>
        </dgm:presLayoutVars>
      </dgm:prSet>
      <dgm:spPr/>
      <dgm:t>
        <a:bodyPr/>
        <a:lstStyle/>
        <a:p>
          <a:endParaRPr lang="zh-CN" altLang="en-US"/>
        </a:p>
      </dgm:t>
    </dgm:pt>
    <dgm:pt modelId="{55CE1C91-58A7-4FD4-86EE-26622EF07DF3}" type="pres">
      <dgm:prSet presAssocID="{81F2FDAA-970B-4BD0-9CE1-4DD499C666F7}" presName="Name13" presStyleLbl="parChTrans1D2" presStyleIdx="5" presStyleCnt="6"/>
      <dgm:spPr/>
      <dgm:t>
        <a:bodyPr/>
        <a:lstStyle/>
        <a:p>
          <a:endParaRPr lang="zh-CN" altLang="en-US"/>
        </a:p>
      </dgm:t>
    </dgm:pt>
    <dgm:pt modelId="{2747B9FB-319E-4006-A500-0E79D539374F}" type="pres">
      <dgm:prSet presAssocID="{796DC1B7-9303-4BF9-ADBA-2F3A2A3FBE6B}" presName="childText" presStyleLbl="bgAcc1" presStyleIdx="5" presStyleCnt="6" custScaleX="378194" custLinFactNeighborX="13673">
        <dgm:presLayoutVars>
          <dgm:bulletEnabled val="1"/>
        </dgm:presLayoutVars>
      </dgm:prSet>
      <dgm:spPr/>
      <dgm:t>
        <a:bodyPr/>
        <a:lstStyle/>
        <a:p>
          <a:endParaRPr lang="zh-CN" altLang="en-US"/>
        </a:p>
      </dgm:t>
    </dgm:pt>
  </dgm:ptLst>
  <dgm:cxnLst>
    <dgm:cxn modelId="{98920D84-2D94-4AB0-A8BA-616CE05A6683}" srcId="{4994F04D-6077-4FB2-937D-03324B9DAB34}" destId="{FDE9353F-F89B-4F97-ADC5-22417B99EEF5}" srcOrd="1" destOrd="0" parTransId="{B2C123C1-4D4A-4AFA-AAC7-499F5F557CA3}" sibTransId="{F5F63407-A2E4-4341-BE61-AC23ED700CB0}"/>
    <dgm:cxn modelId="{B28B29D2-CED9-4B28-B02B-78744D11EBA7}" type="presOf" srcId="{0DA5C5DE-6D17-4EDE-B920-CE5FB3D41ABA}" destId="{804607B6-F4FB-4B08-9326-1AA34A273A5D}" srcOrd="1" destOrd="0" presId="urn:microsoft.com/office/officeart/2005/8/layout/hierarchy3"/>
    <dgm:cxn modelId="{7037E5BB-BC5D-4929-AEAD-0857AFAA6FA2}" type="presOf" srcId="{796DC1B7-9303-4BF9-ADBA-2F3A2A3FBE6B}" destId="{2747B9FB-319E-4006-A500-0E79D539374F}" srcOrd="0" destOrd="0" presId="urn:microsoft.com/office/officeart/2005/8/layout/hierarchy3"/>
    <dgm:cxn modelId="{E6AC0D9A-182A-4F10-BA90-83D5595123D1}" srcId="{FDE9353F-F89B-4F97-ADC5-22417B99EEF5}" destId="{DD4BC036-F4FD-462C-907D-B7F6B229CCE6}" srcOrd="1" destOrd="0" parTransId="{85967721-5B7F-4D6B-ADDE-3DE6B93A85B9}" sibTransId="{4DE26604-E6BC-447F-9C0B-6472723CCE81}"/>
    <dgm:cxn modelId="{73BC7AAF-2E07-44A7-8F25-E7ADB8297A76}" type="presOf" srcId="{D4E06A52-91F5-4177-AA54-D298036A0598}" destId="{366E8205-074B-465F-84D3-7E9C2A4B087A}" srcOrd="0" destOrd="0" presId="urn:microsoft.com/office/officeart/2005/8/layout/hierarchy3"/>
    <dgm:cxn modelId="{DBB16D3D-6F2E-4A58-9EF5-4E5020F29F75}" type="presOf" srcId="{4994F04D-6077-4FB2-937D-03324B9DAB34}" destId="{220E4BB7-E5A6-4374-B95C-9515D05C4860}" srcOrd="0" destOrd="0" presId="urn:microsoft.com/office/officeart/2005/8/layout/hierarchy3"/>
    <dgm:cxn modelId="{908733D7-1E70-4CCD-AB36-9763CB0C3C3E}" type="presOf" srcId="{85ACDDF9-B7B9-4AE3-AEFD-342A1ED3FDD3}" destId="{8271D559-F991-45A8-861F-E02D43E73A7A}" srcOrd="0" destOrd="0" presId="urn:microsoft.com/office/officeart/2005/8/layout/hierarchy3"/>
    <dgm:cxn modelId="{3E7DEEE4-8DD7-4694-AF51-6817B537DB3C}" type="presOf" srcId="{50644C00-718E-45C3-8ABB-FFE825DC5B7F}" destId="{5F5FD024-96B9-4927-9522-4793C366CCDF}" srcOrd="0" destOrd="0" presId="urn:microsoft.com/office/officeart/2005/8/layout/hierarchy3"/>
    <dgm:cxn modelId="{90FD42D6-5BCC-4F96-A28F-56B6039869C9}" type="presOf" srcId="{730A02EE-39C4-4F26-9573-658C50E91867}" destId="{D73DB642-839F-46E4-BEFB-357122DA8B2A}" srcOrd="0" destOrd="0" presId="urn:microsoft.com/office/officeart/2005/8/layout/hierarchy3"/>
    <dgm:cxn modelId="{B342A0AB-0F65-4C75-907F-2694EA5299EC}" srcId="{FDE9353F-F89B-4F97-ADC5-22417B99EEF5}" destId="{D4E06A52-91F5-4177-AA54-D298036A0598}" srcOrd="0" destOrd="0" parTransId="{730A02EE-39C4-4F26-9573-658C50E91867}" sibTransId="{8E8D6502-6A43-42CC-86CF-1ACBA7051209}"/>
    <dgm:cxn modelId="{4C25B78B-B570-4056-98CA-440F138F90E1}" srcId="{0DA5C5DE-6D17-4EDE-B920-CE5FB3D41ABA}" destId="{5E148EBF-2EB5-487C-A84A-08998CD76BB7}" srcOrd="2" destOrd="0" parTransId="{21295D08-392E-4BE1-9B14-3F97120CA18B}" sibTransId="{76AFDFB6-ED54-46D5-B15F-407D349B5792}"/>
    <dgm:cxn modelId="{D9B9DB7A-4155-4572-9C5D-047528866598}" type="presOf" srcId="{81F2FDAA-970B-4BD0-9CE1-4DD499C666F7}" destId="{55CE1C91-58A7-4FD4-86EE-26622EF07DF3}" srcOrd="0" destOrd="0" presId="urn:microsoft.com/office/officeart/2005/8/layout/hierarchy3"/>
    <dgm:cxn modelId="{96F65550-CAFE-4A02-80C6-9AB2866BF494}" type="presOf" srcId="{5E148EBF-2EB5-487C-A84A-08998CD76BB7}" destId="{08A735DB-4E1F-4605-8178-66A449AC1BB2}" srcOrd="0" destOrd="0" presId="urn:microsoft.com/office/officeart/2005/8/layout/hierarchy3"/>
    <dgm:cxn modelId="{52018548-525A-42FC-BEE2-139BFFD87717}" type="presOf" srcId="{DD4BC036-F4FD-462C-907D-B7F6B229CCE6}" destId="{D4FAB220-39C0-4BB8-B879-AEB1A16B7CDC}" srcOrd="0" destOrd="0" presId="urn:microsoft.com/office/officeart/2005/8/layout/hierarchy3"/>
    <dgm:cxn modelId="{3F2313E1-88F4-4D75-80DD-D53E7FA40098}" srcId="{4994F04D-6077-4FB2-937D-03324B9DAB34}" destId="{0DA5C5DE-6D17-4EDE-B920-CE5FB3D41ABA}" srcOrd="0" destOrd="0" parTransId="{28418661-558A-435A-8A4F-56BB2E6D2A79}" sibTransId="{3B7799A1-52B3-4216-A827-D62622C7BECB}"/>
    <dgm:cxn modelId="{30A3C7D7-737E-45E4-B2EB-EA198C32BC2B}" srcId="{0DA5C5DE-6D17-4EDE-B920-CE5FB3D41ABA}" destId="{1621BA61-E464-4E81-97EC-EDA49E7881F8}" srcOrd="1" destOrd="0" parTransId="{51AD83D2-E860-474C-AB22-849ADFDF4DBE}" sibTransId="{2E1B2228-FB84-45C7-9335-000068211608}"/>
    <dgm:cxn modelId="{EEB84225-CB6C-4BAC-B1AF-19A26231A51D}" srcId="{FDE9353F-F89B-4F97-ADC5-22417B99EEF5}" destId="{796DC1B7-9303-4BF9-ADBA-2F3A2A3FBE6B}" srcOrd="2" destOrd="0" parTransId="{81F2FDAA-970B-4BD0-9CE1-4DD499C666F7}" sibTransId="{5EDF14EE-9165-40CE-AECD-1659094E2CA3}"/>
    <dgm:cxn modelId="{79629406-490E-4C7B-AC96-16354B5C0F19}" type="presOf" srcId="{85967721-5B7F-4D6B-ADDE-3DE6B93A85B9}" destId="{C7786CBF-29A7-4F46-ACE1-BFAF2ED2906F}" srcOrd="0" destOrd="0" presId="urn:microsoft.com/office/officeart/2005/8/layout/hierarchy3"/>
    <dgm:cxn modelId="{38283482-9ACB-411F-B7BD-26ED673BA8CD}" type="presOf" srcId="{51AD83D2-E860-474C-AB22-849ADFDF4DBE}" destId="{D504C716-6CF6-4108-8639-E75778C37519}" srcOrd="0" destOrd="0" presId="urn:microsoft.com/office/officeart/2005/8/layout/hierarchy3"/>
    <dgm:cxn modelId="{2CB89F36-8935-40E5-9136-BA75F051D8E8}" type="presOf" srcId="{21295D08-392E-4BE1-9B14-3F97120CA18B}" destId="{9164C2E8-A8A5-4BDA-B5B7-3599D5C7C4A2}" srcOrd="0" destOrd="0" presId="urn:microsoft.com/office/officeart/2005/8/layout/hierarchy3"/>
    <dgm:cxn modelId="{F3AD6C74-5651-4AA2-8C76-20285052BC55}" type="presOf" srcId="{FDE9353F-F89B-4F97-ADC5-22417B99EEF5}" destId="{FFFA6021-95BD-4804-A726-42B6E8065B83}" srcOrd="1" destOrd="0" presId="urn:microsoft.com/office/officeart/2005/8/layout/hierarchy3"/>
    <dgm:cxn modelId="{460812F5-EDEE-4337-ADF3-C91B9D670BD8}" type="presOf" srcId="{1621BA61-E464-4E81-97EC-EDA49E7881F8}" destId="{B24467C9-0F5C-4007-8028-B7B163F30ADF}" srcOrd="0" destOrd="0" presId="urn:microsoft.com/office/officeart/2005/8/layout/hierarchy3"/>
    <dgm:cxn modelId="{CB848EF6-2769-44C5-AF36-080A776992FF}" type="presOf" srcId="{0DA5C5DE-6D17-4EDE-B920-CE5FB3D41ABA}" destId="{880F44A1-54FE-446F-9390-56E51903722C}" srcOrd="0" destOrd="0" presId="urn:microsoft.com/office/officeart/2005/8/layout/hierarchy3"/>
    <dgm:cxn modelId="{893AA457-8DE2-4B7D-9E1B-04641C2F24F1}" type="presOf" srcId="{FDE9353F-F89B-4F97-ADC5-22417B99EEF5}" destId="{CF6D9EBE-6D4F-45DB-B63C-66E318350665}" srcOrd="0" destOrd="0" presId="urn:microsoft.com/office/officeart/2005/8/layout/hierarchy3"/>
    <dgm:cxn modelId="{E2F31064-17B6-4A9F-90F0-643AB7AC015D}" srcId="{0DA5C5DE-6D17-4EDE-B920-CE5FB3D41ABA}" destId="{85ACDDF9-B7B9-4AE3-AEFD-342A1ED3FDD3}" srcOrd="0" destOrd="0" parTransId="{50644C00-718E-45C3-8ABB-FFE825DC5B7F}" sibTransId="{EE9E075A-BD56-47AA-9D15-0D4E098D5773}"/>
    <dgm:cxn modelId="{91793077-7603-41EF-9050-C51ABC3DC224}" type="presParOf" srcId="{220E4BB7-E5A6-4374-B95C-9515D05C4860}" destId="{F20CB88D-283A-40E6-969B-F760513B269C}" srcOrd="0" destOrd="0" presId="urn:microsoft.com/office/officeart/2005/8/layout/hierarchy3"/>
    <dgm:cxn modelId="{D176DB4F-13F5-4CF8-837F-B55B3941E5E0}" type="presParOf" srcId="{F20CB88D-283A-40E6-969B-F760513B269C}" destId="{16E92C0E-1962-4079-9E86-E1F4B29DC174}" srcOrd="0" destOrd="0" presId="urn:microsoft.com/office/officeart/2005/8/layout/hierarchy3"/>
    <dgm:cxn modelId="{E128596C-1F00-48C7-9CBE-47B5621B007F}" type="presParOf" srcId="{16E92C0E-1962-4079-9E86-E1F4B29DC174}" destId="{880F44A1-54FE-446F-9390-56E51903722C}" srcOrd="0" destOrd="0" presId="urn:microsoft.com/office/officeart/2005/8/layout/hierarchy3"/>
    <dgm:cxn modelId="{98E8AC47-DB28-446D-BCB5-CBDD56FCD261}" type="presParOf" srcId="{16E92C0E-1962-4079-9E86-E1F4B29DC174}" destId="{804607B6-F4FB-4B08-9326-1AA34A273A5D}" srcOrd="1" destOrd="0" presId="urn:microsoft.com/office/officeart/2005/8/layout/hierarchy3"/>
    <dgm:cxn modelId="{62BF69B9-7567-4AA9-88B0-363573E96C03}" type="presParOf" srcId="{F20CB88D-283A-40E6-969B-F760513B269C}" destId="{4DA6A816-DA95-479C-9A39-3F04BD93D8C4}" srcOrd="1" destOrd="0" presId="urn:microsoft.com/office/officeart/2005/8/layout/hierarchy3"/>
    <dgm:cxn modelId="{E2B9826E-00DF-4F7D-A0B0-5B2CF553F83F}" type="presParOf" srcId="{4DA6A816-DA95-479C-9A39-3F04BD93D8C4}" destId="{5F5FD024-96B9-4927-9522-4793C366CCDF}" srcOrd="0" destOrd="0" presId="urn:microsoft.com/office/officeart/2005/8/layout/hierarchy3"/>
    <dgm:cxn modelId="{125DC325-5D9E-4D71-91A4-5A07BB81AAF4}" type="presParOf" srcId="{4DA6A816-DA95-479C-9A39-3F04BD93D8C4}" destId="{8271D559-F991-45A8-861F-E02D43E73A7A}" srcOrd="1" destOrd="0" presId="urn:microsoft.com/office/officeart/2005/8/layout/hierarchy3"/>
    <dgm:cxn modelId="{DFC6943C-0844-4865-B22B-3ED8BA7412D2}" type="presParOf" srcId="{4DA6A816-DA95-479C-9A39-3F04BD93D8C4}" destId="{D504C716-6CF6-4108-8639-E75778C37519}" srcOrd="2" destOrd="0" presId="urn:microsoft.com/office/officeart/2005/8/layout/hierarchy3"/>
    <dgm:cxn modelId="{9330A5CD-CA00-4581-AB61-627F7F0F6E12}" type="presParOf" srcId="{4DA6A816-DA95-479C-9A39-3F04BD93D8C4}" destId="{B24467C9-0F5C-4007-8028-B7B163F30ADF}" srcOrd="3" destOrd="0" presId="urn:microsoft.com/office/officeart/2005/8/layout/hierarchy3"/>
    <dgm:cxn modelId="{4A1B64EA-3661-48A7-AE73-E3B339C352B7}" type="presParOf" srcId="{4DA6A816-DA95-479C-9A39-3F04BD93D8C4}" destId="{9164C2E8-A8A5-4BDA-B5B7-3599D5C7C4A2}" srcOrd="4" destOrd="0" presId="urn:microsoft.com/office/officeart/2005/8/layout/hierarchy3"/>
    <dgm:cxn modelId="{17547290-C726-4228-AD36-0A3BCE0B61F5}" type="presParOf" srcId="{4DA6A816-DA95-479C-9A39-3F04BD93D8C4}" destId="{08A735DB-4E1F-4605-8178-66A449AC1BB2}" srcOrd="5" destOrd="0" presId="urn:microsoft.com/office/officeart/2005/8/layout/hierarchy3"/>
    <dgm:cxn modelId="{D4FF2AEF-55B6-44B9-AA17-E029190D9307}" type="presParOf" srcId="{220E4BB7-E5A6-4374-B95C-9515D05C4860}" destId="{172420C5-C642-4E23-8BCE-E82694121490}" srcOrd="1" destOrd="0" presId="urn:microsoft.com/office/officeart/2005/8/layout/hierarchy3"/>
    <dgm:cxn modelId="{B6BFC567-4F4A-4682-B7E5-9CDD489D92B8}" type="presParOf" srcId="{172420C5-C642-4E23-8BCE-E82694121490}" destId="{34B83B97-08FF-4DC6-919D-1C8742B7576A}" srcOrd="0" destOrd="0" presId="urn:microsoft.com/office/officeart/2005/8/layout/hierarchy3"/>
    <dgm:cxn modelId="{59F2EC78-8E7E-4F71-BAD9-48395007211D}" type="presParOf" srcId="{34B83B97-08FF-4DC6-919D-1C8742B7576A}" destId="{CF6D9EBE-6D4F-45DB-B63C-66E318350665}" srcOrd="0" destOrd="0" presId="urn:microsoft.com/office/officeart/2005/8/layout/hierarchy3"/>
    <dgm:cxn modelId="{494417E3-04D8-46D1-8A56-B9305733EC6C}" type="presParOf" srcId="{34B83B97-08FF-4DC6-919D-1C8742B7576A}" destId="{FFFA6021-95BD-4804-A726-42B6E8065B83}" srcOrd="1" destOrd="0" presId="urn:microsoft.com/office/officeart/2005/8/layout/hierarchy3"/>
    <dgm:cxn modelId="{A296EB51-797C-400B-B91B-8B4B93E4737F}" type="presParOf" srcId="{172420C5-C642-4E23-8BCE-E82694121490}" destId="{ABF0D8E4-5E93-4122-950B-0287C64E7E00}" srcOrd="1" destOrd="0" presId="urn:microsoft.com/office/officeart/2005/8/layout/hierarchy3"/>
    <dgm:cxn modelId="{77FD1403-3857-4E05-8324-8C0556643A0A}" type="presParOf" srcId="{ABF0D8E4-5E93-4122-950B-0287C64E7E00}" destId="{D73DB642-839F-46E4-BEFB-357122DA8B2A}" srcOrd="0" destOrd="0" presId="urn:microsoft.com/office/officeart/2005/8/layout/hierarchy3"/>
    <dgm:cxn modelId="{6C1D0AB2-CDF5-40A8-9FDF-C734E924436B}" type="presParOf" srcId="{ABF0D8E4-5E93-4122-950B-0287C64E7E00}" destId="{366E8205-074B-465F-84D3-7E9C2A4B087A}" srcOrd="1" destOrd="0" presId="urn:microsoft.com/office/officeart/2005/8/layout/hierarchy3"/>
    <dgm:cxn modelId="{BEAAB050-8D95-4E48-ADB6-52A54C53CAF5}" type="presParOf" srcId="{ABF0D8E4-5E93-4122-950B-0287C64E7E00}" destId="{C7786CBF-29A7-4F46-ACE1-BFAF2ED2906F}" srcOrd="2" destOrd="0" presId="urn:microsoft.com/office/officeart/2005/8/layout/hierarchy3"/>
    <dgm:cxn modelId="{E1D13F6E-3F3C-4DD8-BB2B-D398760095ED}" type="presParOf" srcId="{ABF0D8E4-5E93-4122-950B-0287C64E7E00}" destId="{D4FAB220-39C0-4BB8-B879-AEB1A16B7CDC}" srcOrd="3" destOrd="0" presId="urn:microsoft.com/office/officeart/2005/8/layout/hierarchy3"/>
    <dgm:cxn modelId="{06E833EC-CDE2-4DFB-B2D0-0180F3EF7A09}" type="presParOf" srcId="{ABF0D8E4-5E93-4122-950B-0287C64E7E00}" destId="{55CE1C91-58A7-4FD4-86EE-26622EF07DF3}" srcOrd="4" destOrd="0" presId="urn:microsoft.com/office/officeart/2005/8/layout/hierarchy3"/>
    <dgm:cxn modelId="{EB6DC7B0-5A5F-4C55-874B-5FEBBFC56EA2}" type="presParOf" srcId="{ABF0D8E4-5E93-4122-950B-0287C64E7E00}" destId="{2747B9FB-319E-4006-A500-0E79D539374F}"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32F684-F8C8-437E-B0A8-BE8DC3576303}">
      <dsp:nvSpPr>
        <dsp:cNvPr id="0" name=""/>
        <dsp:cNvSpPr/>
      </dsp:nvSpPr>
      <dsp:spPr>
        <a:xfrm>
          <a:off x="3" y="0"/>
          <a:ext cx="9649064" cy="5157192"/>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C84F37-7DF4-4BB5-A99D-C96FCB6335DE}">
      <dsp:nvSpPr>
        <dsp:cNvPr id="0" name=""/>
        <dsp:cNvSpPr/>
      </dsp:nvSpPr>
      <dsp:spPr>
        <a:xfrm>
          <a:off x="1509040" y="3428030"/>
          <a:ext cx="214539" cy="21453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DBB0A62-FCDA-47AA-A90A-D0690FF0DF0D}">
      <dsp:nvSpPr>
        <dsp:cNvPr id="0" name=""/>
        <dsp:cNvSpPr/>
      </dsp:nvSpPr>
      <dsp:spPr>
        <a:xfrm>
          <a:off x="1676441" y="3292099"/>
          <a:ext cx="2447125" cy="688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680" tIns="0" rIns="0" bIns="0" numCol="1" spcCol="1270" anchor="t" anchorCtr="0">
          <a:noAutofit/>
        </a:bodyPr>
        <a:lstStyle/>
        <a:p>
          <a:pPr lvl="0" algn="l" defTabSz="1066800">
            <a:lnSpc>
              <a:spcPct val="90000"/>
            </a:lnSpc>
            <a:spcBef>
              <a:spcPct val="0"/>
            </a:spcBef>
            <a:spcAft>
              <a:spcPct val="35000"/>
            </a:spcAft>
          </a:pPr>
          <a:r>
            <a:rPr lang="en-US" sz="2400" b="1" kern="1200" dirty="0" smtClean="0">
              <a:solidFill>
                <a:srgbClr val="1C1C1C"/>
              </a:solidFill>
              <a:latin typeface="微软雅黑" pitchFamily="34" charset="-122"/>
              <a:ea typeface="微软雅黑" pitchFamily="34" charset="-122"/>
            </a:rPr>
            <a:t>1</a:t>
          </a:r>
          <a:r>
            <a:rPr lang="en-US" sz="2400" b="1" kern="1200" baseline="30000" dirty="0" smtClean="0">
              <a:solidFill>
                <a:srgbClr val="1C1C1C"/>
              </a:solidFill>
              <a:latin typeface="微软雅黑" pitchFamily="34" charset="-122"/>
              <a:ea typeface="微软雅黑" pitchFamily="34" charset="-122"/>
            </a:rPr>
            <a:t>st</a:t>
          </a:r>
          <a:r>
            <a:rPr lang="en-US" sz="2400" b="1" kern="1200" dirty="0" smtClean="0">
              <a:solidFill>
                <a:srgbClr val="1C1C1C"/>
              </a:solidFill>
              <a:latin typeface="微软雅黑" pitchFamily="34" charset="-122"/>
              <a:ea typeface="微软雅黑" pitchFamily="34" charset="-122"/>
            </a:rPr>
            <a:t>:1969 </a:t>
          </a:r>
          <a:r>
            <a:rPr lang="en-US" altLang="zh-CN" sz="2400" b="1" kern="1200" dirty="0" smtClean="0">
              <a:solidFill>
                <a:srgbClr val="1C1C1C"/>
              </a:solidFill>
              <a:latin typeface="微软雅黑" pitchFamily="34" charset="-122"/>
              <a:ea typeface="微软雅黑" pitchFamily="34" charset="-122"/>
            </a:rPr>
            <a:t>- 1990</a:t>
          </a:r>
          <a:endParaRPr lang="en-US" altLang="zh-CN" sz="2400" b="1" kern="1200" dirty="0">
            <a:solidFill>
              <a:srgbClr val="1C1C1C"/>
            </a:solidFill>
            <a:latin typeface="微软雅黑" pitchFamily="34" charset="-122"/>
            <a:ea typeface="微软雅黑" pitchFamily="34" charset="-122"/>
          </a:endParaRPr>
        </a:p>
        <a:p>
          <a:pPr lvl="0" algn="l" defTabSz="1066800">
            <a:lnSpc>
              <a:spcPct val="90000"/>
            </a:lnSpc>
            <a:spcBef>
              <a:spcPct val="0"/>
            </a:spcBef>
            <a:spcAft>
              <a:spcPct val="35000"/>
            </a:spcAft>
          </a:pPr>
          <a:r>
            <a:rPr lang="zh-CN" altLang="en-US" sz="2400" b="1" kern="1200" dirty="0" smtClean="0">
              <a:solidFill>
                <a:srgbClr val="1C1C1C"/>
              </a:solidFill>
              <a:latin typeface="微软雅黑" pitchFamily="34" charset="-122"/>
              <a:ea typeface="微软雅黑" pitchFamily="34" charset="-122"/>
              <a:cs typeface="Times New Roman" pitchFamily="18" charset="0"/>
            </a:rPr>
            <a:t>从单个网络</a:t>
          </a:r>
          <a:r>
            <a:rPr lang="en-US" sz="2400" b="1" kern="1200" dirty="0" smtClean="0">
              <a:solidFill>
                <a:srgbClr val="1C1C1C"/>
              </a:solidFill>
              <a:latin typeface="微软雅黑" pitchFamily="34" charset="-122"/>
              <a:ea typeface="微软雅黑" pitchFamily="34" charset="-122"/>
              <a:cs typeface="Times New Roman" pitchFamily="18" charset="0"/>
            </a:rPr>
            <a:t>ARPANET </a:t>
          </a:r>
          <a:r>
            <a:rPr lang="zh-CN" altLang="en-US" sz="2400" b="1" kern="1200" dirty="0" smtClean="0">
              <a:solidFill>
                <a:srgbClr val="1C1C1C"/>
              </a:solidFill>
              <a:latin typeface="微软雅黑" pitchFamily="34" charset="-122"/>
              <a:ea typeface="微软雅黑" pitchFamily="34" charset="-122"/>
            </a:rPr>
            <a:t>向互连网发展</a:t>
          </a:r>
          <a:endParaRPr lang="en-US" sz="2400" b="1" kern="1200" dirty="0">
            <a:solidFill>
              <a:srgbClr val="1C1C1C"/>
            </a:solidFill>
            <a:latin typeface="微软雅黑" pitchFamily="34" charset="-122"/>
            <a:ea typeface="微软雅黑" pitchFamily="34" charset="-122"/>
          </a:endParaRPr>
        </a:p>
      </dsp:txBody>
      <dsp:txXfrm>
        <a:off x="1676441" y="3292099"/>
        <a:ext cx="2447125" cy="688220"/>
      </dsp:txXfrm>
    </dsp:sp>
    <dsp:sp modelId="{1CF21B6C-97F9-43F8-AF65-9C520DFFC656}">
      <dsp:nvSpPr>
        <dsp:cNvPr id="0" name=""/>
        <dsp:cNvSpPr/>
      </dsp:nvSpPr>
      <dsp:spPr>
        <a:xfrm>
          <a:off x="3612370" y="2122465"/>
          <a:ext cx="387820" cy="38782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CAA33D-16C2-4AAF-B3C1-A309ADACA524}">
      <dsp:nvSpPr>
        <dsp:cNvPr id="0" name=""/>
        <dsp:cNvSpPr/>
      </dsp:nvSpPr>
      <dsp:spPr>
        <a:xfrm>
          <a:off x="3934769" y="2091019"/>
          <a:ext cx="2961254" cy="2805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5498" tIns="0" rIns="0" bIns="0" numCol="1" spcCol="1270" anchor="t" anchorCtr="0">
          <a:noAutofit/>
        </a:bodyPr>
        <a:lstStyle/>
        <a:p>
          <a:pPr lvl="0" algn="l" defTabSz="1066800">
            <a:lnSpc>
              <a:spcPct val="90000"/>
            </a:lnSpc>
            <a:spcBef>
              <a:spcPct val="0"/>
            </a:spcBef>
            <a:spcAft>
              <a:spcPct val="35000"/>
            </a:spcAft>
          </a:pPr>
          <a:r>
            <a:rPr lang="en-US" sz="2400" b="1" kern="1200" dirty="0" smtClean="0">
              <a:solidFill>
                <a:srgbClr val="1C1C1C"/>
              </a:solidFill>
              <a:latin typeface="微软雅黑" pitchFamily="34" charset="-122"/>
              <a:ea typeface="微软雅黑" pitchFamily="34" charset="-122"/>
            </a:rPr>
            <a:t>2</a:t>
          </a:r>
          <a:r>
            <a:rPr lang="en-US" sz="2400" b="1" kern="1200" baseline="30000" dirty="0" smtClean="0">
              <a:solidFill>
                <a:srgbClr val="1C1C1C"/>
              </a:solidFill>
              <a:latin typeface="微软雅黑" pitchFamily="34" charset="-122"/>
              <a:ea typeface="微软雅黑" pitchFamily="34" charset="-122"/>
            </a:rPr>
            <a:t>nd</a:t>
          </a:r>
          <a:r>
            <a:rPr lang="en-US" sz="2400" b="1" kern="1200" dirty="0" smtClean="0">
              <a:solidFill>
                <a:srgbClr val="1C1C1C"/>
              </a:solidFill>
              <a:latin typeface="微软雅黑" pitchFamily="34" charset="-122"/>
              <a:ea typeface="微软雅黑" pitchFamily="34" charset="-122"/>
            </a:rPr>
            <a:t>:1985 </a:t>
          </a:r>
          <a:r>
            <a:rPr lang="en-US" altLang="zh-CN" sz="2400" b="1" kern="1200" dirty="0" smtClean="0">
              <a:solidFill>
                <a:srgbClr val="1C1C1C"/>
              </a:solidFill>
              <a:latin typeface="微软雅黑" pitchFamily="34" charset="-122"/>
              <a:ea typeface="微软雅黑" pitchFamily="34" charset="-122"/>
            </a:rPr>
            <a:t>- 1993</a:t>
          </a:r>
          <a:r>
            <a:rPr lang="en-US" sz="2400" b="1" kern="1200" dirty="0" smtClean="0">
              <a:solidFill>
                <a:srgbClr val="1C1C1C"/>
              </a:solidFill>
              <a:latin typeface="微软雅黑" pitchFamily="34" charset="-122"/>
              <a:ea typeface="微软雅黑" pitchFamily="34" charset="-122"/>
            </a:rPr>
            <a:t> </a:t>
          </a:r>
          <a:endParaRPr lang="en-US" sz="2400" b="1" kern="1200" dirty="0">
            <a:solidFill>
              <a:srgbClr val="1C1C1C"/>
            </a:solidFill>
            <a:latin typeface="微软雅黑" pitchFamily="34" charset="-122"/>
            <a:ea typeface="微软雅黑" pitchFamily="34" charset="-122"/>
          </a:endParaRPr>
        </a:p>
        <a:p>
          <a:pPr lvl="0" algn="l" defTabSz="1066800">
            <a:lnSpc>
              <a:spcPct val="90000"/>
            </a:lnSpc>
            <a:spcBef>
              <a:spcPct val="0"/>
            </a:spcBef>
            <a:spcAft>
              <a:spcPct val="35000"/>
            </a:spcAft>
          </a:pPr>
          <a:r>
            <a:rPr lang="zh-CN" altLang="en-US" sz="2400" b="1" kern="1200" dirty="0" smtClean="0">
              <a:solidFill>
                <a:srgbClr val="1C1C1C"/>
              </a:solidFill>
              <a:latin typeface="微软雅黑" pitchFamily="34" charset="-122"/>
              <a:ea typeface="微软雅黑" pitchFamily="34" charset="-122"/>
            </a:rPr>
            <a:t>建成了三级结构</a:t>
          </a:r>
          <a:r>
            <a:rPr lang="zh-CN" altLang="en-US" sz="2400" b="1" kern="1200" dirty="0">
              <a:solidFill>
                <a:srgbClr val="1C1C1C"/>
              </a:solidFill>
              <a:latin typeface="微软雅黑" pitchFamily="34" charset="-122"/>
              <a:ea typeface="微软雅黑" pitchFamily="34" charset="-122"/>
            </a:rPr>
            <a:t>的互联网</a:t>
          </a:r>
          <a:endParaRPr lang="en-US" sz="2400" b="1" u="sng" kern="1200" dirty="0">
            <a:solidFill>
              <a:srgbClr val="1C1C1C"/>
            </a:solidFill>
            <a:latin typeface="微软雅黑" pitchFamily="34" charset="-122"/>
            <a:ea typeface="微软雅黑" pitchFamily="34" charset="-122"/>
          </a:endParaRPr>
        </a:p>
      </dsp:txBody>
      <dsp:txXfrm>
        <a:off x="3934769" y="2091019"/>
        <a:ext cx="2961254" cy="2805512"/>
      </dsp:txXfrm>
    </dsp:sp>
    <dsp:sp modelId="{11F228A5-A788-47F2-BA24-4F904CDD1994}">
      <dsp:nvSpPr>
        <dsp:cNvPr id="0" name=""/>
        <dsp:cNvSpPr/>
      </dsp:nvSpPr>
      <dsp:spPr>
        <a:xfrm>
          <a:off x="6532258" y="1338264"/>
          <a:ext cx="536347" cy="53634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4C2FCC-0679-45B3-AB7E-3DF331706005}">
      <dsp:nvSpPr>
        <dsp:cNvPr id="0" name=""/>
        <dsp:cNvSpPr/>
      </dsp:nvSpPr>
      <dsp:spPr>
        <a:xfrm>
          <a:off x="6850307" y="1384304"/>
          <a:ext cx="2510742" cy="3584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4200" tIns="0" rIns="0" bIns="0" numCol="1" spcCol="1270" anchor="t" anchorCtr="0">
          <a:noAutofit/>
        </a:bodyPr>
        <a:lstStyle/>
        <a:p>
          <a:pPr lvl="0" algn="l" defTabSz="1066800">
            <a:lnSpc>
              <a:spcPct val="90000"/>
            </a:lnSpc>
            <a:spcBef>
              <a:spcPct val="0"/>
            </a:spcBef>
            <a:spcAft>
              <a:spcPct val="35000"/>
            </a:spcAft>
          </a:pPr>
          <a:r>
            <a:rPr lang="en-US" sz="2400" b="1" kern="1200" dirty="0" smtClean="0">
              <a:solidFill>
                <a:srgbClr val="1C1C1C"/>
              </a:solidFill>
              <a:latin typeface="微软雅黑" pitchFamily="34" charset="-122"/>
              <a:ea typeface="微软雅黑" pitchFamily="34" charset="-122"/>
            </a:rPr>
            <a:t>3</a:t>
          </a:r>
          <a:r>
            <a:rPr lang="en-US" sz="2400" b="1" kern="1200" baseline="30000" dirty="0" smtClean="0">
              <a:solidFill>
                <a:srgbClr val="1C1C1C"/>
              </a:solidFill>
              <a:latin typeface="微软雅黑" pitchFamily="34" charset="-122"/>
              <a:ea typeface="微软雅黑" pitchFamily="34" charset="-122"/>
            </a:rPr>
            <a:t>rd</a:t>
          </a:r>
          <a:r>
            <a:rPr lang="en-US" sz="2400" b="1" kern="1200" dirty="0" smtClean="0">
              <a:solidFill>
                <a:srgbClr val="1C1C1C"/>
              </a:solidFill>
              <a:latin typeface="微软雅黑" pitchFamily="34" charset="-122"/>
              <a:ea typeface="微软雅黑" pitchFamily="34" charset="-122"/>
            </a:rPr>
            <a:t>:1993 </a:t>
          </a:r>
          <a:r>
            <a:rPr lang="en-US" altLang="zh-CN" sz="2400" b="1" kern="1200" dirty="0" smtClean="0">
              <a:solidFill>
                <a:srgbClr val="1C1C1C"/>
              </a:solidFill>
              <a:latin typeface="微软雅黑" pitchFamily="34" charset="-122"/>
              <a:ea typeface="微软雅黑" pitchFamily="34" charset="-122"/>
            </a:rPr>
            <a:t>- </a:t>
          </a:r>
          <a:r>
            <a:rPr lang="zh-CN" altLang="en-US" sz="2400" b="1" kern="1200" dirty="0" smtClean="0">
              <a:solidFill>
                <a:srgbClr val="1C1C1C"/>
              </a:solidFill>
              <a:latin typeface="微软雅黑" pitchFamily="34" charset="-122"/>
              <a:ea typeface="微软雅黑" pitchFamily="34" charset="-122"/>
            </a:rPr>
            <a:t>现在</a:t>
          </a:r>
          <a:r>
            <a:rPr lang="en-US" sz="2400" b="1" kern="1200" dirty="0" smtClean="0">
              <a:solidFill>
                <a:srgbClr val="1C1C1C"/>
              </a:solidFill>
              <a:latin typeface="微软雅黑" pitchFamily="34" charset="-122"/>
              <a:ea typeface="微软雅黑" pitchFamily="34" charset="-122"/>
            </a:rPr>
            <a:t> </a:t>
          </a:r>
          <a:endParaRPr lang="en-US" sz="2400" b="1" kern="1200" dirty="0">
            <a:solidFill>
              <a:srgbClr val="1C1C1C"/>
            </a:solidFill>
            <a:latin typeface="微软雅黑" pitchFamily="34" charset="-122"/>
            <a:ea typeface="微软雅黑" pitchFamily="34" charset="-122"/>
          </a:endParaRPr>
        </a:p>
        <a:p>
          <a:pPr lvl="0" algn="l" defTabSz="1066800">
            <a:lnSpc>
              <a:spcPct val="90000"/>
            </a:lnSpc>
            <a:spcBef>
              <a:spcPct val="0"/>
            </a:spcBef>
            <a:spcAft>
              <a:spcPct val="35000"/>
            </a:spcAft>
          </a:pPr>
          <a:r>
            <a:rPr lang="zh-CN" altLang="en-US" sz="2400" b="1" kern="1200" dirty="0" smtClean="0">
              <a:solidFill>
                <a:srgbClr val="1C1C1C"/>
              </a:solidFill>
              <a:latin typeface="微软雅黑" pitchFamily="34" charset="-122"/>
              <a:ea typeface="微软雅黑" pitchFamily="34" charset="-122"/>
            </a:rPr>
            <a:t>多层次 </a:t>
          </a:r>
          <a:r>
            <a:rPr lang="en-US" altLang="zh-CN" sz="2400" b="1" kern="1200" dirty="0" smtClean="0">
              <a:solidFill>
                <a:srgbClr val="1C1C1C"/>
              </a:solidFill>
              <a:latin typeface="微软雅黑" pitchFamily="34" charset="-122"/>
              <a:ea typeface="微软雅黑" pitchFamily="34" charset="-122"/>
            </a:rPr>
            <a:t>ISP </a:t>
          </a:r>
          <a:r>
            <a:rPr lang="zh-CN" altLang="en-US" sz="2400" b="1" kern="1200" dirty="0" smtClean="0">
              <a:solidFill>
                <a:srgbClr val="1C1C1C"/>
              </a:solidFill>
              <a:latin typeface="微软雅黑" pitchFamily="34" charset="-122"/>
              <a:ea typeface="微软雅黑" pitchFamily="34" charset="-122"/>
            </a:rPr>
            <a:t>结构</a:t>
          </a:r>
          <a:r>
            <a:rPr lang="zh-CN" altLang="en-US" sz="2400" b="1" kern="1200" dirty="0">
              <a:solidFill>
                <a:srgbClr val="1C1C1C"/>
              </a:solidFill>
              <a:latin typeface="微软雅黑" pitchFamily="34" charset="-122"/>
              <a:ea typeface="微软雅黑" pitchFamily="34" charset="-122"/>
            </a:rPr>
            <a:t>的互联网</a:t>
          </a:r>
          <a:endParaRPr lang="en-US" sz="2400" b="1" kern="1200" dirty="0">
            <a:solidFill>
              <a:srgbClr val="1C1C1C"/>
            </a:solidFill>
            <a:latin typeface="微软雅黑" pitchFamily="34" charset="-122"/>
            <a:ea typeface="微软雅黑" pitchFamily="34" charset="-122"/>
          </a:endParaRPr>
        </a:p>
      </dsp:txBody>
      <dsp:txXfrm>
        <a:off x="6850307" y="1384304"/>
        <a:ext cx="2510742" cy="35842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7F835-55F0-4C61-A2A3-44AE2ED9D7FE}">
      <dsp:nvSpPr>
        <dsp:cNvPr id="0" name=""/>
        <dsp:cNvSpPr/>
      </dsp:nvSpPr>
      <dsp:spPr>
        <a:xfrm>
          <a:off x="40" y="21764"/>
          <a:ext cx="3905121" cy="1152000"/>
        </a:xfrm>
        <a:prstGeom prst="rect">
          <a:avLst/>
        </a:prstGeom>
        <a:solidFill>
          <a:srgbClr val="A5C25E"/>
        </a:soli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100000"/>
            </a:lnSpc>
            <a:spcBef>
              <a:spcPct val="0"/>
            </a:spcBef>
            <a:spcAft>
              <a:spcPts val="0"/>
            </a:spcAft>
          </a:pPr>
          <a:r>
            <a:rPr lang="zh-CN" altLang="en-US" sz="2400" b="1" kern="1200" dirty="0" smtClean="0">
              <a:latin typeface="微软雅黑" panose="020B0503020204020204" pitchFamily="34" charset="-122"/>
              <a:ea typeface="微软雅黑" panose="020B0503020204020204" pitchFamily="34" charset="-122"/>
            </a:rPr>
            <a:t>客户</a:t>
          </a:r>
          <a:r>
            <a:rPr lang="en-US" altLang="zh-CN" sz="2400" b="1" kern="1200" dirty="0" smtClean="0">
              <a:latin typeface="微软雅黑" panose="020B0503020204020204" pitchFamily="34" charset="-122"/>
              <a:ea typeface="微软雅黑" panose="020B0503020204020204" pitchFamily="34" charset="-122"/>
            </a:rPr>
            <a:t>/</a:t>
          </a:r>
          <a:r>
            <a:rPr lang="zh-CN" altLang="en-US" sz="2400" b="1" kern="1200" dirty="0" smtClean="0">
              <a:latin typeface="微软雅黑" panose="020B0503020204020204" pitchFamily="34" charset="-122"/>
              <a:ea typeface="微软雅黑" panose="020B0503020204020204" pitchFamily="34" charset="-122"/>
            </a:rPr>
            <a:t>服务器方式</a:t>
          </a:r>
          <a:endParaRPr lang="en-US" altLang="zh-CN" sz="2400" b="1" kern="1200" dirty="0" smtClean="0">
            <a:latin typeface="微软雅黑" panose="020B0503020204020204" pitchFamily="34" charset="-122"/>
            <a:ea typeface="微软雅黑" panose="020B0503020204020204" pitchFamily="34" charset="-122"/>
          </a:endParaRPr>
        </a:p>
      </dsp:txBody>
      <dsp:txXfrm>
        <a:off x="40" y="21764"/>
        <a:ext cx="3905121" cy="1152000"/>
      </dsp:txXfrm>
    </dsp:sp>
    <dsp:sp modelId="{ACB976F2-8BF8-4A70-91C5-C91BC345A4AF}">
      <dsp:nvSpPr>
        <dsp:cNvPr id="0" name=""/>
        <dsp:cNvSpPr/>
      </dsp:nvSpPr>
      <dsp:spPr>
        <a:xfrm>
          <a:off x="40" y="1173764"/>
          <a:ext cx="3905121" cy="175680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altLang="en-US" sz="2400" b="1" kern="1200" dirty="0" smtClean="0">
              <a:solidFill>
                <a:srgbClr val="1C1C1C"/>
              </a:solidFill>
              <a:latin typeface="微软雅黑" panose="020B0503020204020204" pitchFamily="34" charset="-122"/>
              <a:ea typeface="微软雅黑" panose="020B0503020204020204" pitchFamily="34" charset="-122"/>
            </a:rPr>
            <a:t>Client / Server </a:t>
          </a:r>
          <a:r>
            <a:rPr lang="zh-CN" altLang="en-US" sz="2400" b="1" kern="1200" dirty="0" smtClean="0">
              <a:solidFill>
                <a:srgbClr val="1C1C1C"/>
              </a:solidFill>
              <a:latin typeface="微软雅黑" panose="020B0503020204020204" pitchFamily="34" charset="-122"/>
              <a:ea typeface="微软雅黑" panose="020B0503020204020204" pitchFamily="34" charset="-122"/>
            </a:rPr>
            <a:t>方式</a:t>
          </a:r>
          <a:endParaRPr lang="zh-CN" altLang="en-US" sz="2400" b="1" kern="1200" dirty="0">
            <a:solidFill>
              <a:srgbClr val="1C1C1C"/>
            </a:solidFill>
            <a:latin typeface="微软雅黑" panose="020B0503020204020204" pitchFamily="34" charset="-122"/>
            <a:ea typeface="微软雅黑" panose="020B0503020204020204" pitchFamily="34" charset="-122"/>
          </a:endParaRPr>
        </a:p>
        <a:p>
          <a:pPr marL="228600" lvl="1" indent="-228600" algn="l" defTabSz="1066800">
            <a:lnSpc>
              <a:spcPct val="90000"/>
            </a:lnSpc>
            <a:spcBef>
              <a:spcPct val="0"/>
            </a:spcBef>
            <a:spcAft>
              <a:spcPct val="15000"/>
            </a:spcAft>
            <a:buChar char="••"/>
          </a:pPr>
          <a:r>
            <a:rPr lang="zh-CN" altLang="en-US" sz="2400" b="1" kern="1200" dirty="0" smtClean="0">
              <a:solidFill>
                <a:srgbClr val="1C1C1C"/>
              </a:solidFill>
              <a:latin typeface="微软雅黑" panose="020B0503020204020204" pitchFamily="34" charset="-122"/>
              <a:ea typeface="微软雅黑" panose="020B0503020204020204" pitchFamily="34" charset="-122"/>
            </a:rPr>
            <a:t>简称为 </a:t>
          </a:r>
          <a:r>
            <a:rPr lang="en-US" altLang="en-US" sz="2400" b="1" kern="1200" dirty="0" smtClean="0">
              <a:solidFill>
                <a:srgbClr val="1C1C1C"/>
              </a:solidFill>
              <a:latin typeface="微软雅黑" panose="020B0503020204020204" pitchFamily="34" charset="-122"/>
              <a:ea typeface="微软雅黑" panose="020B0503020204020204" pitchFamily="34" charset="-122"/>
            </a:rPr>
            <a:t>C/S </a:t>
          </a:r>
          <a:r>
            <a:rPr lang="zh-CN" altLang="en-US" sz="2400" b="1" kern="1200" dirty="0" smtClean="0">
              <a:solidFill>
                <a:srgbClr val="1C1C1C"/>
              </a:solidFill>
              <a:latin typeface="微软雅黑" panose="020B0503020204020204" pitchFamily="34" charset="-122"/>
              <a:ea typeface="微软雅黑" panose="020B0503020204020204" pitchFamily="34" charset="-122"/>
            </a:rPr>
            <a:t>方式</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40" y="1173764"/>
        <a:ext cx="3905121" cy="1756800"/>
      </dsp:txXfrm>
    </dsp:sp>
    <dsp:sp modelId="{FD082DEC-BD21-4E00-AA12-CC0ED5CBCB32}">
      <dsp:nvSpPr>
        <dsp:cNvPr id="0" name=""/>
        <dsp:cNvSpPr/>
      </dsp:nvSpPr>
      <dsp:spPr>
        <a:xfrm>
          <a:off x="4451878" y="21764"/>
          <a:ext cx="3905121" cy="1152000"/>
        </a:xfrm>
        <a:prstGeom prst="rect">
          <a:avLst/>
        </a:prstGeom>
        <a:gradFill rotWithShape="0">
          <a:gsLst>
            <a:gs pos="0">
              <a:schemeClr val="accent5">
                <a:hueOff val="2256020"/>
                <a:satOff val="14856"/>
                <a:lumOff val="-25686"/>
                <a:alphaOff val="0"/>
                <a:shade val="51000"/>
                <a:satMod val="130000"/>
              </a:schemeClr>
            </a:gs>
            <a:gs pos="80000">
              <a:schemeClr val="accent5">
                <a:hueOff val="2256020"/>
                <a:satOff val="14856"/>
                <a:lumOff val="-25686"/>
                <a:alphaOff val="0"/>
                <a:shade val="93000"/>
                <a:satMod val="130000"/>
              </a:schemeClr>
            </a:gs>
            <a:gs pos="100000">
              <a:schemeClr val="accent5">
                <a:hueOff val="2256020"/>
                <a:satOff val="14856"/>
                <a:lumOff val="-25686"/>
                <a:alphaOff val="0"/>
                <a:shade val="94000"/>
                <a:satMod val="135000"/>
              </a:schemeClr>
            </a:gs>
          </a:gsLst>
          <a:lin ang="16200000" scaled="0"/>
        </a:gradFill>
        <a:ln w="9525" cap="flat" cmpd="sng" algn="ctr">
          <a:solidFill>
            <a:schemeClr val="accent5">
              <a:hueOff val="2256020"/>
              <a:satOff val="14856"/>
              <a:lumOff val="-25686"/>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100000"/>
            </a:lnSpc>
            <a:spcBef>
              <a:spcPct val="0"/>
            </a:spcBef>
            <a:spcAft>
              <a:spcPts val="0"/>
            </a:spcAft>
          </a:pPr>
          <a:r>
            <a:rPr lang="zh-CN" altLang="en-US" sz="2400" b="1" kern="1200" dirty="0" smtClean="0">
              <a:latin typeface="微软雅黑" panose="020B0503020204020204" pitchFamily="34" charset="-122"/>
              <a:ea typeface="微软雅黑" panose="020B0503020204020204" pitchFamily="34" charset="-122"/>
            </a:rPr>
            <a:t>对等方式</a:t>
          </a:r>
          <a:endParaRPr lang="en-US" altLang="zh-CN" sz="2400" b="1" kern="1200" dirty="0" smtClean="0">
            <a:latin typeface="微软雅黑" panose="020B0503020204020204" pitchFamily="34" charset="-122"/>
            <a:ea typeface="微软雅黑" panose="020B0503020204020204" pitchFamily="34" charset="-122"/>
          </a:endParaRPr>
        </a:p>
      </dsp:txBody>
      <dsp:txXfrm>
        <a:off x="4451878" y="21764"/>
        <a:ext cx="3905121" cy="1152000"/>
      </dsp:txXfrm>
    </dsp:sp>
    <dsp:sp modelId="{B62719DE-8DA5-4764-8561-2A4AB2C96331}">
      <dsp:nvSpPr>
        <dsp:cNvPr id="0" name=""/>
        <dsp:cNvSpPr/>
      </dsp:nvSpPr>
      <dsp:spPr>
        <a:xfrm>
          <a:off x="4451878" y="1173764"/>
          <a:ext cx="3905121" cy="1756800"/>
        </a:xfrm>
        <a:prstGeom prst="rect">
          <a:avLst/>
        </a:prstGeom>
        <a:solidFill>
          <a:schemeClr val="accent5">
            <a:tint val="40000"/>
            <a:alpha val="90000"/>
            <a:hueOff val="2705537"/>
            <a:satOff val="5692"/>
            <a:lumOff val="-5406"/>
            <a:alphaOff val="0"/>
          </a:schemeClr>
        </a:solidFill>
        <a:ln w="9525" cap="flat" cmpd="sng" algn="ctr">
          <a:solidFill>
            <a:schemeClr val="accent5">
              <a:tint val="40000"/>
              <a:alpha val="90000"/>
              <a:hueOff val="2705537"/>
              <a:satOff val="5692"/>
              <a:lumOff val="-540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altLang="en-US" sz="2400" b="1" kern="1200" dirty="0" smtClean="0">
              <a:solidFill>
                <a:srgbClr val="1C1C1C"/>
              </a:solidFill>
              <a:latin typeface="微软雅黑" panose="020B0503020204020204" pitchFamily="34" charset="-122"/>
              <a:ea typeface="微软雅黑" panose="020B0503020204020204" pitchFamily="34" charset="-122"/>
            </a:rPr>
            <a:t>Peer to Peer </a:t>
          </a:r>
          <a:r>
            <a:rPr lang="zh-CN" altLang="en-US" sz="2400" b="1" kern="1200" dirty="0" smtClean="0">
              <a:solidFill>
                <a:srgbClr val="1C1C1C"/>
              </a:solidFill>
              <a:latin typeface="微软雅黑" panose="020B0503020204020204" pitchFamily="34" charset="-122"/>
              <a:ea typeface="微软雅黑" panose="020B0503020204020204" pitchFamily="34" charset="-122"/>
            </a:rPr>
            <a:t>方式</a:t>
          </a:r>
          <a:endParaRPr lang="zh-CN" altLang="en-US" sz="2400" b="1" kern="1200" dirty="0">
            <a:solidFill>
              <a:srgbClr val="1C1C1C"/>
            </a:solidFill>
            <a:latin typeface="微软雅黑" panose="020B0503020204020204" pitchFamily="34" charset="-122"/>
            <a:ea typeface="微软雅黑" panose="020B0503020204020204" pitchFamily="34" charset="-122"/>
          </a:endParaRPr>
        </a:p>
        <a:p>
          <a:pPr marL="228600" lvl="1" indent="-228600" algn="l" defTabSz="1066800">
            <a:lnSpc>
              <a:spcPct val="90000"/>
            </a:lnSpc>
            <a:spcBef>
              <a:spcPct val="0"/>
            </a:spcBef>
            <a:spcAft>
              <a:spcPct val="15000"/>
            </a:spcAft>
            <a:buChar char="••"/>
          </a:pPr>
          <a:r>
            <a:rPr lang="zh-CN" altLang="en-US" sz="2400" b="1" kern="1200" dirty="0" smtClean="0">
              <a:solidFill>
                <a:srgbClr val="1C1C1C"/>
              </a:solidFill>
              <a:latin typeface="微软雅黑" panose="020B0503020204020204" pitchFamily="34" charset="-122"/>
              <a:ea typeface="微软雅黑" panose="020B0503020204020204" pitchFamily="34" charset="-122"/>
            </a:rPr>
            <a:t>简称为 </a:t>
          </a:r>
          <a:r>
            <a:rPr lang="en-US" altLang="en-US" sz="2400" b="1" kern="1200" dirty="0" smtClean="0">
              <a:solidFill>
                <a:srgbClr val="1C1C1C"/>
              </a:solidFill>
              <a:latin typeface="微软雅黑" panose="020B0503020204020204" pitchFamily="34" charset="-122"/>
              <a:ea typeface="微软雅黑" panose="020B0503020204020204" pitchFamily="34" charset="-122"/>
            </a:rPr>
            <a:t>P2P </a:t>
          </a:r>
          <a:r>
            <a:rPr lang="zh-CN" altLang="en-US" sz="2400" b="1" kern="1200" dirty="0" smtClean="0">
              <a:solidFill>
                <a:srgbClr val="1C1C1C"/>
              </a:solidFill>
              <a:latin typeface="微软雅黑" panose="020B0503020204020204" pitchFamily="34" charset="-122"/>
              <a:ea typeface="微软雅黑" panose="020B0503020204020204" pitchFamily="34" charset="-122"/>
            </a:rPr>
            <a:t>方式</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4451878" y="1173764"/>
        <a:ext cx="3905121" cy="17568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3C5943-61D5-485A-9891-B758B3F09D39}">
      <dsp:nvSpPr>
        <dsp:cNvPr id="0" name=""/>
        <dsp:cNvSpPr/>
      </dsp:nvSpPr>
      <dsp:spPr>
        <a:xfrm>
          <a:off x="2767" y="93721"/>
          <a:ext cx="2698612" cy="720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2400" b="1" kern="1200" dirty="0">
              <a:solidFill>
                <a:srgbClr val="000000"/>
              </a:solidFill>
            </a:rPr>
            <a:t>作用范围</a:t>
          </a:r>
          <a:endParaRPr lang="en-US" sz="2400" b="1" kern="1200" dirty="0">
            <a:solidFill>
              <a:srgbClr val="000000"/>
            </a:solidFill>
          </a:endParaRPr>
        </a:p>
      </dsp:txBody>
      <dsp:txXfrm>
        <a:off x="2767" y="93721"/>
        <a:ext cx="2698612" cy="720000"/>
      </dsp:txXfrm>
    </dsp:sp>
    <dsp:sp modelId="{5D82DD90-54D1-49DF-A1B8-A311C9697F62}">
      <dsp:nvSpPr>
        <dsp:cNvPr id="0" name=""/>
        <dsp:cNvSpPr/>
      </dsp:nvSpPr>
      <dsp:spPr>
        <a:xfrm>
          <a:off x="2767" y="813721"/>
          <a:ext cx="2698612" cy="247693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广域网</a:t>
          </a:r>
          <a:r>
            <a:rPr lang="en-US" altLang="zh-CN" sz="2500" b="1" kern="1200" dirty="0" smtClean="0">
              <a:solidFill>
                <a:srgbClr val="1C1C1C"/>
              </a:solidFill>
            </a:rPr>
            <a:t>(WAN)</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城域网</a:t>
          </a:r>
          <a:r>
            <a:rPr lang="en-US" altLang="zh-CN" sz="2500" b="1" kern="1200" dirty="0" smtClean="0">
              <a:solidFill>
                <a:srgbClr val="1C1C1C"/>
              </a:solidFill>
            </a:rPr>
            <a:t>(MAN)</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局域网</a:t>
          </a:r>
          <a:r>
            <a:rPr lang="en-US" altLang="zh-CN" sz="2500" b="1" kern="1200" dirty="0" smtClean="0">
              <a:solidFill>
                <a:srgbClr val="1C1C1C"/>
              </a:solidFill>
            </a:rPr>
            <a:t>(LAN)</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a:solidFill>
                <a:srgbClr val="1C1C1C"/>
              </a:solidFill>
            </a:rPr>
            <a:t>个人区域</a:t>
          </a:r>
          <a:r>
            <a:rPr lang="zh-CN" altLang="en-US" sz="2500" b="1" kern="1200" dirty="0" smtClean="0">
              <a:solidFill>
                <a:srgbClr val="1C1C1C"/>
              </a:solidFill>
            </a:rPr>
            <a:t>网</a:t>
          </a:r>
          <a:r>
            <a:rPr lang="en-US" altLang="zh-CN" sz="2500" b="1" kern="1200" dirty="0" smtClean="0">
              <a:solidFill>
                <a:srgbClr val="1C1C1C"/>
              </a:solidFill>
            </a:rPr>
            <a:t>(PAN)</a:t>
          </a:r>
          <a:endParaRPr lang="en-US" sz="2500" b="1" kern="1200" dirty="0">
            <a:solidFill>
              <a:srgbClr val="1C1C1C"/>
            </a:solidFill>
          </a:endParaRPr>
        </a:p>
      </dsp:txBody>
      <dsp:txXfrm>
        <a:off x="2767" y="813721"/>
        <a:ext cx="2698612" cy="2476933"/>
      </dsp:txXfrm>
    </dsp:sp>
    <dsp:sp modelId="{325FA873-426E-4262-B205-C791949E3AB8}">
      <dsp:nvSpPr>
        <dsp:cNvPr id="0" name=""/>
        <dsp:cNvSpPr/>
      </dsp:nvSpPr>
      <dsp:spPr>
        <a:xfrm>
          <a:off x="3079185" y="93721"/>
          <a:ext cx="2698612" cy="720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2400" b="1" kern="1200" dirty="0">
              <a:solidFill>
                <a:srgbClr val="000000"/>
              </a:solidFill>
            </a:rPr>
            <a:t>使用者</a:t>
          </a:r>
          <a:endParaRPr lang="en-US" sz="2400" b="1" kern="1200" dirty="0">
            <a:solidFill>
              <a:srgbClr val="000000"/>
            </a:solidFill>
          </a:endParaRPr>
        </a:p>
      </dsp:txBody>
      <dsp:txXfrm>
        <a:off x="3079185" y="93721"/>
        <a:ext cx="2698612" cy="720000"/>
      </dsp:txXfrm>
    </dsp:sp>
    <dsp:sp modelId="{1DDA55A3-B9CE-456B-8F25-C5F2FA1FD984}">
      <dsp:nvSpPr>
        <dsp:cNvPr id="0" name=""/>
        <dsp:cNvSpPr/>
      </dsp:nvSpPr>
      <dsp:spPr>
        <a:xfrm>
          <a:off x="3079185" y="813721"/>
          <a:ext cx="2698612" cy="247693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公用网</a:t>
          </a:r>
          <a:r>
            <a:rPr lang="en-US" altLang="zh-CN" sz="2500" b="1" kern="1200" dirty="0" smtClean="0">
              <a:solidFill>
                <a:srgbClr val="1C1C1C"/>
              </a:solidFill>
            </a:rPr>
            <a:t>(Public Network)</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专用网</a:t>
          </a:r>
          <a:r>
            <a:rPr lang="en-US" altLang="zh-CN" sz="2500" b="1" kern="1200" dirty="0" smtClean="0">
              <a:solidFill>
                <a:srgbClr val="1C1C1C"/>
              </a:solidFill>
            </a:rPr>
            <a:t>(Private Network)</a:t>
          </a:r>
          <a:endParaRPr lang="en-US" sz="2500" b="1" kern="1200" dirty="0">
            <a:solidFill>
              <a:srgbClr val="1C1C1C"/>
            </a:solidFill>
          </a:endParaRPr>
        </a:p>
      </dsp:txBody>
      <dsp:txXfrm>
        <a:off x="3079185" y="813721"/>
        <a:ext cx="2698612" cy="2476933"/>
      </dsp:txXfrm>
    </dsp:sp>
    <dsp:sp modelId="{6B2935F3-35B9-4C1C-B822-D120D549A27C}">
      <dsp:nvSpPr>
        <dsp:cNvPr id="0" name=""/>
        <dsp:cNvSpPr/>
      </dsp:nvSpPr>
      <dsp:spPr>
        <a:xfrm>
          <a:off x="6155603" y="93721"/>
          <a:ext cx="2698612" cy="720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zh-CN" altLang="en-US" sz="2400" b="1" kern="1200" dirty="0">
              <a:solidFill>
                <a:srgbClr val="000000"/>
              </a:solidFill>
            </a:rPr>
            <a:t>拓扑结构</a:t>
          </a:r>
          <a:endParaRPr lang="en-US" sz="2400" b="1" kern="1200" dirty="0">
            <a:solidFill>
              <a:srgbClr val="000000"/>
            </a:solidFill>
          </a:endParaRPr>
        </a:p>
      </dsp:txBody>
      <dsp:txXfrm>
        <a:off x="6155603" y="93721"/>
        <a:ext cx="2698612" cy="720000"/>
      </dsp:txXfrm>
    </dsp:sp>
    <dsp:sp modelId="{BBE5CFC9-BB25-4E6B-B7D5-3365F87F4707}">
      <dsp:nvSpPr>
        <dsp:cNvPr id="0" name=""/>
        <dsp:cNvSpPr/>
      </dsp:nvSpPr>
      <dsp:spPr>
        <a:xfrm>
          <a:off x="6155603" y="813721"/>
          <a:ext cx="2698612" cy="2476933"/>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总线形</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环形</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星形</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smtClean="0">
              <a:solidFill>
                <a:srgbClr val="1C1C1C"/>
              </a:solidFill>
            </a:rPr>
            <a:t>树形</a:t>
          </a:r>
          <a:endParaRPr lang="en-US" sz="2500" b="1" kern="1200" dirty="0">
            <a:solidFill>
              <a:srgbClr val="1C1C1C"/>
            </a:solidFill>
          </a:endParaRPr>
        </a:p>
        <a:p>
          <a:pPr marL="228600" lvl="1" indent="-228600" algn="l" defTabSz="1111250">
            <a:lnSpc>
              <a:spcPct val="90000"/>
            </a:lnSpc>
            <a:spcBef>
              <a:spcPct val="0"/>
            </a:spcBef>
            <a:spcAft>
              <a:spcPct val="15000"/>
            </a:spcAft>
            <a:buChar char="••"/>
          </a:pPr>
          <a:r>
            <a:rPr lang="zh-CN" altLang="en-US" sz="2500" b="1" kern="1200" dirty="0">
              <a:solidFill>
                <a:srgbClr val="1C1C1C"/>
              </a:solidFill>
            </a:rPr>
            <a:t>网状</a:t>
          </a:r>
          <a:endParaRPr lang="en-US" sz="2500" b="1" kern="1200" dirty="0">
            <a:solidFill>
              <a:srgbClr val="1C1C1C"/>
            </a:solidFill>
          </a:endParaRPr>
        </a:p>
      </dsp:txBody>
      <dsp:txXfrm>
        <a:off x="6155603" y="813721"/>
        <a:ext cx="2698612" cy="247693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BA1F3-0C00-4FF2-9653-EF94BAD62031}">
      <dsp:nvSpPr>
        <dsp:cNvPr id="0" name=""/>
        <dsp:cNvSpPr/>
      </dsp:nvSpPr>
      <dsp:spPr>
        <a:xfrm>
          <a:off x="4270554" y="1155347"/>
          <a:ext cx="2763477" cy="2763477"/>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76200" tIns="76200" rIns="76200" bIns="76200" numCol="1" spcCol="1270" anchor="ctr" anchorCtr="0">
          <a:noAutofit/>
        </a:bodyPr>
        <a:lstStyle/>
        <a:p>
          <a:pPr lvl="0" algn="ctr" defTabSz="2667000">
            <a:lnSpc>
              <a:spcPct val="90000"/>
            </a:lnSpc>
            <a:spcBef>
              <a:spcPct val="0"/>
            </a:spcBef>
            <a:spcAft>
              <a:spcPct val="35000"/>
            </a:spcAft>
          </a:pPr>
          <a:r>
            <a:rPr lang="zh-CN" altLang="en-US" sz="6000" b="1" kern="1200" dirty="0">
              <a:solidFill>
                <a:srgbClr val="000000"/>
              </a:solidFill>
            </a:rPr>
            <a:t>性能指标</a:t>
          </a:r>
          <a:endParaRPr lang="en-US" sz="6000" b="1" kern="1200" dirty="0">
            <a:solidFill>
              <a:srgbClr val="000000"/>
            </a:solidFill>
          </a:endParaRPr>
        </a:p>
      </dsp:txBody>
      <dsp:txXfrm>
        <a:off x="4675256" y="1560049"/>
        <a:ext cx="1954073" cy="1954073"/>
      </dsp:txXfrm>
    </dsp:sp>
    <dsp:sp modelId="{4D03A9D2-67CF-4808-96EF-9297EA14CE09}">
      <dsp:nvSpPr>
        <dsp:cNvPr id="0" name=""/>
        <dsp:cNvSpPr/>
      </dsp:nvSpPr>
      <dsp:spPr>
        <a:xfrm>
          <a:off x="4961424" y="45541"/>
          <a:ext cx="1381738" cy="13817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r>
            <a:rPr lang="en-US" altLang="zh-CN" sz="2300" b="1" kern="1200" dirty="0">
              <a:solidFill>
                <a:srgbClr val="000000"/>
              </a:solidFill>
            </a:rPr>
            <a:t>1.</a:t>
          </a:r>
          <a:r>
            <a:rPr lang="zh-CN" altLang="en-US" sz="2300" b="1" kern="1200" dirty="0">
              <a:solidFill>
                <a:srgbClr val="000000"/>
              </a:solidFill>
            </a:rPr>
            <a:t>速率</a:t>
          </a:r>
          <a:endParaRPr lang="en-US" sz="2300" b="1" kern="1200" dirty="0">
            <a:solidFill>
              <a:srgbClr val="000000"/>
            </a:solidFill>
          </a:endParaRPr>
        </a:p>
      </dsp:txBody>
      <dsp:txXfrm>
        <a:off x="5163775" y="247892"/>
        <a:ext cx="977036" cy="977036"/>
      </dsp:txXfrm>
    </dsp:sp>
    <dsp:sp modelId="{BA6FE0CA-EB44-4F00-B718-59FB70CF0E2F}">
      <dsp:nvSpPr>
        <dsp:cNvPr id="0" name=""/>
        <dsp:cNvSpPr/>
      </dsp:nvSpPr>
      <dsp:spPr>
        <a:xfrm>
          <a:off x="6369248" y="723514"/>
          <a:ext cx="1381738" cy="13817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r>
            <a:rPr lang="en-US" altLang="zh-CN" sz="2300" b="1" kern="1200" dirty="0">
              <a:solidFill>
                <a:srgbClr val="000000"/>
              </a:solidFill>
            </a:rPr>
            <a:t>2.</a:t>
          </a:r>
          <a:r>
            <a:rPr lang="zh-CN" altLang="en-US" sz="2300" b="1" kern="1200" dirty="0">
              <a:solidFill>
                <a:srgbClr val="000000"/>
              </a:solidFill>
            </a:rPr>
            <a:t>带宽</a:t>
          </a:r>
          <a:endParaRPr lang="en-US" sz="2300" b="1" kern="1200" dirty="0">
            <a:solidFill>
              <a:srgbClr val="000000"/>
            </a:solidFill>
          </a:endParaRPr>
        </a:p>
      </dsp:txBody>
      <dsp:txXfrm>
        <a:off x="6571599" y="925865"/>
        <a:ext cx="977036" cy="977036"/>
      </dsp:txXfrm>
    </dsp:sp>
    <dsp:sp modelId="{81032F12-6115-4CF6-BD28-A946DC8033FB}">
      <dsp:nvSpPr>
        <dsp:cNvPr id="0" name=""/>
        <dsp:cNvSpPr/>
      </dsp:nvSpPr>
      <dsp:spPr>
        <a:xfrm>
          <a:off x="6716952" y="2246904"/>
          <a:ext cx="1381738" cy="13817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r>
            <a:rPr lang="en-US" altLang="zh-CN" sz="2300" b="1" kern="1200" dirty="0">
              <a:solidFill>
                <a:srgbClr val="000000"/>
              </a:solidFill>
            </a:rPr>
            <a:t>3.</a:t>
          </a:r>
          <a:r>
            <a:rPr lang="zh-CN" altLang="en-US" sz="2300" b="1" kern="1200" dirty="0">
              <a:solidFill>
                <a:srgbClr val="000000"/>
              </a:solidFill>
            </a:rPr>
            <a:t>吞吐量</a:t>
          </a:r>
          <a:endParaRPr lang="en-US" sz="2300" b="1" kern="1200" dirty="0">
            <a:solidFill>
              <a:srgbClr val="000000"/>
            </a:solidFill>
          </a:endParaRPr>
        </a:p>
      </dsp:txBody>
      <dsp:txXfrm>
        <a:off x="6919303" y="2449255"/>
        <a:ext cx="977036" cy="977036"/>
      </dsp:txXfrm>
    </dsp:sp>
    <dsp:sp modelId="{A28A57A1-E220-4BF2-A9D3-4B40BBCA990F}">
      <dsp:nvSpPr>
        <dsp:cNvPr id="0" name=""/>
        <dsp:cNvSpPr/>
      </dsp:nvSpPr>
      <dsp:spPr>
        <a:xfrm>
          <a:off x="5742707" y="3468569"/>
          <a:ext cx="1381738" cy="13817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r>
            <a:rPr lang="en-US" altLang="zh-CN" sz="2300" b="1" kern="1200" dirty="0">
              <a:solidFill>
                <a:srgbClr val="000000"/>
              </a:solidFill>
            </a:rPr>
            <a:t>4.</a:t>
          </a:r>
          <a:r>
            <a:rPr lang="zh-CN" altLang="en-US" sz="2300" b="1" kern="1200" dirty="0">
              <a:solidFill>
                <a:srgbClr val="000000"/>
              </a:solidFill>
            </a:rPr>
            <a:t>时延</a:t>
          </a:r>
          <a:endParaRPr lang="en-US" sz="2300" b="1" kern="1200" dirty="0">
            <a:solidFill>
              <a:srgbClr val="000000"/>
            </a:solidFill>
          </a:endParaRPr>
        </a:p>
      </dsp:txBody>
      <dsp:txXfrm>
        <a:off x="5945058" y="3670920"/>
        <a:ext cx="977036" cy="977036"/>
      </dsp:txXfrm>
    </dsp:sp>
    <dsp:sp modelId="{DC2DCB21-22C7-43C8-82AB-FF7A48818FEA}">
      <dsp:nvSpPr>
        <dsp:cNvPr id="0" name=""/>
        <dsp:cNvSpPr/>
      </dsp:nvSpPr>
      <dsp:spPr>
        <a:xfrm>
          <a:off x="4180140" y="3468569"/>
          <a:ext cx="1381738" cy="13817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r>
            <a:rPr lang="en-US" altLang="zh-CN" sz="2300" b="1" kern="1200" dirty="0">
              <a:solidFill>
                <a:srgbClr val="000000"/>
              </a:solidFill>
            </a:rPr>
            <a:t>5.</a:t>
          </a:r>
          <a:r>
            <a:rPr lang="zh-CN" altLang="en-US" sz="2300" b="1" kern="1200" dirty="0">
              <a:solidFill>
                <a:srgbClr val="000000"/>
              </a:solidFill>
            </a:rPr>
            <a:t>时延带宽积</a:t>
          </a:r>
          <a:endParaRPr lang="en-US" sz="2300" b="1" kern="1200" dirty="0">
            <a:solidFill>
              <a:srgbClr val="000000"/>
            </a:solidFill>
          </a:endParaRPr>
        </a:p>
      </dsp:txBody>
      <dsp:txXfrm>
        <a:off x="4382491" y="3670920"/>
        <a:ext cx="977036" cy="977036"/>
      </dsp:txXfrm>
    </dsp:sp>
    <dsp:sp modelId="{20C5FD5C-AEBC-4784-919E-650738A1B2F6}">
      <dsp:nvSpPr>
        <dsp:cNvPr id="0" name=""/>
        <dsp:cNvSpPr/>
      </dsp:nvSpPr>
      <dsp:spPr>
        <a:xfrm>
          <a:off x="3205895" y="2246904"/>
          <a:ext cx="1381738" cy="13817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r>
            <a:rPr lang="en-US" altLang="zh-CN" sz="2300" b="1" kern="1200" dirty="0">
              <a:solidFill>
                <a:srgbClr val="000000"/>
              </a:solidFill>
            </a:rPr>
            <a:t>6.</a:t>
          </a:r>
          <a:r>
            <a:rPr lang="zh-CN" altLang="en-US" sz="2300" b="1" kern="1200" dirty="0" smtClean="0">
              <a:solidFill>
                <a:srgbClr val="000000"/>
              </a:solidFill>
            </a:rPr>
            <a:t>往返时间</a:t>
          </a:r>
          <a:endParaRPr lang="en-US" sz="2300" b="1" kern="1200" dirty="0">
            <a:solidFill>
              <a:srgbClr val="000000"/>
            </a:solidFill>
          </a:endParaRPr>
        </a:p>
      </dsp:txBody>
      <dsp:txXfrm>
        <a:off x="3408246" y="2449255"/>
        <a:ext cx="977036" cy="977036"/>
      </dsp:txXfrm>
    </dsp:sp>
    <dsp:sp modelId="{DEF8B780-5F84-4F41-80B1-20BD9982DF50}">
      <dsp:nvSpPr>
        <dsp:cNvPr id="0" name=""/>
        <dsp:cNvSpPr/>
      </dsp:nvSpPr>
      <dsp:spPr>
        <a:xfrm>
          <a:off x="3553599" y="723514"/>
          <a:ext cx="1381738" cy="138173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9210" tIns="29210" rIns="29210" bIns="29210" numCol="1" spcCol="1270" anchor="ctr" anchorCtr="0">
          <a:noAutofit/>
        </a:bodyPr>
        <a:lstStyle/>
        <a:p>
          <a:pPr lvl="0" algn="ctr" defTabSz="1022350">
            <a:lnSpc>
              <a:spcPct val="90000"/>
            </a:lnSpc>
            <a:spcBef>
              <a:spcPct val="0"/>
            </a:spcBef>
            <a:spcAft>
              <a:spcPct val="35000"/>
            </a:spcAft>
          </a:pPr>
          <a:r>
            <a:rPr lang="en-US" altLang="zh-CN" sz="2300" b="1" kern="1200" dirty="0">
              <a:solidFill>
                <a:srgbClr val="000000"/>
              </a:solidFill>
            </a:rPr>
            <a:t>7.</a:t>
          </a:r>
          <a:r>
            <a:rPr lang="zh-CN" altLang="en-US" sz="2300" b="1" kern="1200" dirty="0">
              <a:solidFill>
                <a:srgbClr val="000000"/>
              </a:solidFill>
            </a:rPr>
            <a:t>利用率</a:t>
          </a:r>
          <a:endParaRPr lang="en-US" sz="2300" b="1" kern="1200" dirty="0">
            <a:solidFill>
              <a:srgbClr val="000000"/>
            </a:solidFill>
          </a:endParaRPr>
        </a:p>
      </dsp:txBody>
      <dsp:txXfrm>
        <a:off x="3755950" y="925865"/>
        <a:ext cx="977036" cy="9770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22834-D555-4278-B09F-615875E565CE}">
      <dsp:nvSpPr>
        <dsp:cNvPr id="0" name=""/>
        <dsp:cNvSpPr/>
      </dsp:nvSpPr>
      <dsp:spPr>
        <a:xfrm rot="5400000">
          <a:off x="3914714" y="-2711238"/>
          <a:ext cx="1256031" cy="6679211"/>
        </a:xfrm>
        <a:prstGeom prst="round2SameRect">
          <a:avLst/>
        </a:prstGeom>
        <a:solidFill>
          <a:srgbClr val="EAC9C8">
            <a:alpha val="89804"/>
          </a:srgb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smtClean="0">
              <a:solidFill>
                <a:srgbClr val="1C1C1C"/>
              </a:solidFill>
              <a:latin typeface="微软雅黑" panose="020B0503020204020204" pitchFamily="34" charset="-122"/>
              <a:ea typeface="微软雅黑" panose="020B0503020204020204" pitchFamily="34" charset="-122"/>
            </a:rPr>
            <a:t>某个信号具有的</a:t>
          </a:r>
          <a:r>
            <a:rPr lang="zh-CN" altLang="en-US" sz="1600" b="1" kern="1200" dirty="0" smtClean="0">
              <a:solidFill>
                <a:srgbClr val="0000FF"/>
              </a:solidFill>
              <a:latin typeface="微软雅黑" panose="020B0503020204020204" pitchFamily="34" charset="-122"/>
              <a:ea typeface="微软雅黑" panose="020B0503020204020204" pitchFamily="34" charset="-122"/>
            </a:rPr>
            <a:t>频带宽度，</a:t>
          </a:r>
          <a:r>
            <a:rPr lang="zh-CN" altLang="en-US" sz="1600" b="1" kern="1200" dirty="0" smtClean="0">
              <a:solidFill>
                <a:srgbClr val="1C1C1C"/>
              </a:solidFill>
              <a:latin typeface="微软雅黑" panose="020B0503020204020204" pitchFamily="34" charset="-122"/>
              <a:ea typeface="微软雅黑" panose="020B0503020204020204" pitchFamily="34" charset="-122"/>
            </a:rPr>
            <a:t>即该信号所占据的频率范围。例如模拟电话信号的频率范围是 </a:t>
          </a:r>
          <a:r>
            <a:rPr lang="en-US" altLang="zh-CN" sz="1600" b="1" kern="1200" dirty="0" smtClean="0">
              <a:solidFill>
                <a:srgbClr val="1C1C1C"/>
              </a:solidFill>
              <a:latin typeface="微软雅黑" panose="020B0503020204020204" pitchFamily="34" charset="-122"/>
              <a:ea typeface="微软雅黑" panose="020B0503020204020204" pitchFamily="34" charset="-122"/>
            </a:rPr>
            <a:t>300 Hz </a:t>
          </a:r>
          <a:r>
            <a:rPr lang="zh-CN" altLang="en-US" sz="1600" b="1" kern="1200" dirty="0" smtClean="0">
              <a:solidFill>
                <a:srgbClr val="1C1C1C"/>
              </a:solidFill>
              <a:latin typeface="微软雅黑" panose="020B0503020204020204" pitchFamily="34" charset="-122"/>
              <a:ea typeface="微软雅黑" panose="020B0503020204020204" pitchFamily="34" charset="-122"/>
            </a:rPr>
            <a:t>到 </a:t>
          </a:r>
          <a:r>
            <a:rPr lang="en-US" altLang="zh-CN" sz="1600" b="1" kern="1200" dirty="0" smtClean="0">
              <a:solidFill>
                <a:srgbClr val="1C1C1C"/>
              </a:solidFill>
              <a:latin typeface="微软雅黑" panose="020B0503020204020204" pitchFamily="34" charset="-122"/>
              <a:ea typeface="微软雅黑" panose="020B0503020204020204" pitchFamily="34" charset="-122"/>
            </a:rPr>
            <a:t>3.4 kHz</a:t>
          </a:r>
          <a:r>
            <a:rPr lang="zh-CN" altLang="en-US" sz="1600" b="1" kern="1200" dirty="0" smtClean="0">
              <a:solidFill>
                <a:srgbClr val="1C1C1C"/>
              </a:solidFill>
              <a:latin typeface="微软雅黑" panose="020B0503020204020204" pitchFamily="34" charset="-122"/>
              <a:ea typeface="微软雅黑" panose="020B0503020204020204" pitchFamily="34" charset="-122"/>
            </a:rPr>
            <a:t>，带宽是 </a:t>
          </a:r>
          <a:r>
            <a:rPr lang="en-US" altLang="zh-CN" sz="1600" b="1" kern="1200" dirty="0" smtClean="0">
              <a:solidFill>
                <a:srgbClr val="1C1C1C"/>
              </a:solidFill>
              <a:latin typeface="微软雅黑" panose="020B0503020204020204" pitchFamily="34" charset="-122"/>
              <a:ea typeface="微软雅黑" panose="020B0503020204020204" pitchFamily="34" charset="-122"/>
            </a:rPr>
            <a:t>3.1 kHz</a:t>
          </a:r>
          <a:r>
            <a:rPr lang="zh-CN" altLang="en-US" sz="1600" b="1" kern="1200" dirty="0" smtClean="0">
              <a:solidFill>
                <a:srgbClr val="1C1C1C"/>
              </a:solidFill>
              <a:latin typeface="微软雅黑" panose="020B0503020204020204" pitchFamily="34" charset="-122"/>
              <a:ea typeface="微软雅黑" panose="020B0503020204020204" pitchFamily="34" charset="-122"/>
            </a:rPr>
            <a:t>。</a:t>
          </a:r>
          <a:endParaRPr lang="zh-CN" altLang="en-US" sz="1600" b="1" kern="1200" dirty="0">
            <a:solidFill>
              <a:srgbClr val="1C1C1C"/>
            </a:solidFill>
            <a:latin typeface="微软雅黑" panose="020B0503020204020204" pitchFamily="34" charset="-122"/>
            <a:ea typeface="微软雅黑" panose="020B0503020204020204" pitchFamily="34" charset="-122"/>
          </a:endParaRPr>
        </a:p>
        <a:p>
          <a:pPr marL="171450" lvl="1" indent="-171450" algn="l" defTabSz="711200">
            <a:lnSpc>
              <a:spcPts val="2400"/>
            </a:lnSpc>
            <a:spcBef>
              <a:spcPct val="0"/>
            </a:spcBef>
            <a:spcAft>
              <a:spcPts val="0"/>
            </a:spcAft>
            <a:buChar char="••"/>
          </a:pPr>
          <a:r>
            <a:rPr lang="zh-CN" altLang="en-US" sz="1600" b="1" kern="1200" dirty="0" smtClean="0">
              <a:solidFill>
                <a:srgbClr val="1C1C1C"/>
              </a:solidFill>
              <a:latin typeface="微软雅黑" panose="020B0503020204020204" pitchFamily="34" charset="-122"/>
              <a:ea typeface="微软雅黑" panose="020B0503020204020204" pitchFamily="34" charset="-122"/>
            </a:rPr>
            <a:t>单位是</a:t>
          </a:r>
          <a:r>
            <a:rPr lang="zh-CN" altLang="en-US" sz="1600" b="1" kern="1200" dirty="0" smtClean="0">
              <a:solidFill>
                <a:srgbClr val="0000FF"/>
              </a:solidFill>
              <a:latin typeface="微软雅黑" panose="020B0503020204020204" pitchFamily="34" charset="-122"/>
              <a:ea typeface="微软雅黑" panose="020B0503020204020204" pitchFamily="34" charset="-122"/>
            </a:rPr>
            <a:t>赫</a:t>
          </a:r>
          <a:r>
            <a:rPr lang="zh-CN" altLang="en-US" sz="1600" b="1" kern="1200" dirty="0" smtClean="0">
              <a:solidFill>
                <a:srgbClr val="1C1C1C"/>
              </a:solidFill>
              <a:latin typeface="微软雅黑" panose="020B0503020204020204" pitchFamily="34" charset="-122"/>
              <a:ea typeface="微软雅黑" panose="020B0503020204020204" pitchFamily="34" charset="-122"/>
            </a:rPr>
            <a:t>（或千赫、兆赫、吉赫等）。</a:t>
          </a:r>
          <a:endParaRPr lang="zh-CN" altLang="en-US" sz="1600" b="1" kern="1200" dirty="0">
            <a:solidFill>
              <a:srgbClr val="1C1C1C"/>
            </a:solidFill>
            <a:latin typeface="微软雅黑" panose="020B0503020204020204" pitchFamily="34" charset="-122"/>
            <a:ea typeface="微软雅黑" panose="020B0503020204020204" pitchFamily="34" charset="-122"/>
          </a:endParaRPr>
        </a:p>
        <a:p>
          <a:pPr marL="171450" lvl="1" indent="-171450" algn="l" defTabSz="711200">
            <a:lnSpc>
              <a:spcPts val="2400"/>
            </a:lnSpc>
            <a:spcBef>
              <a:spcPct val="0"/>
            </a:spcBef>
            <a:spcAft>
              <a:spcPts val="0"/>
            </a:spcAft>
            <a:buChar char="••"/>
          </a:pPr>
          <a:r>
            <a:rPr lang="zh-CN" altLang="en-US" sz="1600" b="1" kern="1200" dirty="0" smtClean="0">
              <a:solidFill>
                <a:srgbClr val="1C1C1C"/>
              </a:solidFill>
              <a:latin typeface="微软雅黑" panose="020B0503020204020204" pitchFamily="34" charset="-122"/>
              <a:ea typeface="微软雅黑" panose="020B0503020204020204" pitchFamily="34" charset="-122"/>
            </a:rPr>
            <a:t>某信道允许通过的信号频带范围称为该</a:t>
          </a:r>
          <a:r>
            <a:rPr lang="zh-CN" altLang="en-US" sz="1600" b="1" kern="1200" dirty="0" smtClean="0">
              <a:solidFill>
                <a:srgbClr val="0000FF"/>
              </a:solidFill>
              <a:latin typeface="微软雅黑" panose="020B0503020204020204" pitchFamily="34" charset="-122"/>
              <a:ea typeface="微软雅黑" panose="020B0503020204020204" pitchFamily="34" charset="-122"/>
            </a:rPr>
            <a:t>信道的带宽</a:t>
          </a:r>
          <a:r>
            <a:rPr lang="zh-CN" altLang="en-US" sz="1600" b="1" kern="1200" dirty="0" smtClean="0">
              <a:solidFill>
                <a:srgbClr val="1C1C1C"/>
              </a:solidFill>
              <a:latin typeface="微软雅黑" panose="020B0503020204020204" pitchFamily="34" charset="-122"/>
              <a:ea typeface="微软雅黑" panose="020B0503020204020204" pitchFamily="34" charset="-122"/>
            </a:rPr>
            <a:t>（或通频带）。</a:t>
          </a:r>
          <a:endParaRPr lang="zh-CN" altLang="en-US" sz="1600" b="1" kern="1200" dirty="0">
            <a:solidFill>
              <a:srgbClr val="1C1C1C"/>
            </a:solidFill>
            <a:latin typeface="微软雅黑" panose="020B0503020204020204" pitchFamily="34" charset="-122"/>
            <a:ea typeface="微软雅黑" panose="020B0503020204020204" pitchFamily="34" charset="-122"/>
          </a:endParaRPr>
        </a:p>
      </dsp:txBody>
      <dsp:txXfrm rot="-5400000">
        <a:off x="1203124" y="61666"/>
        <a:ext cx="6617897" cy="1133403"/>
      </dsp:txXfrm>
    </dsp:sp>
    <dsp:sp modelId="{12490A3D-6938-465D-B09D-05FD246C6E9E}">
      <dsp:nvSpPr>
        <dsp:cNvPr id="0" name=""/>
        <dsp:cNvSpPr/>
      </dsp:nvSpPr>
      <dsp:spPr>
        <a:xfrm>
          <a:off x="10579" y="108000"/>
          <a:ext cx="1192545" cy="1040733"/>
        </a:xfrm>
        <a:prstGeom prst="roundRect">
          <a:avLst/>
        </a:prstGeom>
        <a:solidFill>
          <a:srgbClr val="C5504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ts val="2400"/>
            </a:lnSpc>
            <a:spcBef>
              <a:spcPct val="0"/>
            </a:spcBef>
            <a:spcAft>
              <a:spcPts val="0"/>
            </a:spcAft>
          </a:pPr>
          <a:r>
            <a:rPr lang="zh-CN" altLang="en-US" sz="1800" b="1" kern="1200" dirty="0" smtClean="0">
              <a:solidFill>
                <a:schemeClr val="bg1"/>
              </a:solidFill>
              <a:latin typeface="微软雅黑" panose="020B0503020204020204" pitchFamily="34" charset="-122"/>
              <a:ea typeface="微软雅黑" panose="020B0503020204020204" pitchFamily="34" charset="-122"/>
            </a:rPr>
            <a:t>频域</a:t>
          </a:r>
          <a:endParaRPr lang="zh-CN" altLang="en-US" sz="1800" b="1" kern="1200" dirty="0">
            <a:solidFill>
              <a:schemeClr val="bg1"/>
            </a:solidFill>
            <a:latin typeface="微软雅黑" panose="020B0503020204020204" pitchFamily="34" charset="-122"/>
            <a:ea typeface="微软雅黑" panose="020B0503020204020204" pitchFamily="34" charset="-122"/>
          </a:endParaRPr>
        </a:p>
      </dsp:txBody>
      <dsp:txXfrm>
        <a:off x="61383" y="158804"/>
        <a:ext cx="1090937" cy="939125"/>
      </dsp:txXfrm>
    </dsp:sp>
    <dsp:sp modelId="{4EADB46F-8684-4B72-97FE-D18AEB647819}">
      <dsp:nvSpPr>
        <dsp:cNvPr id="0" name=""/>
        <dsp:cNvSpPr/>
      </dsp:nvSpPr>
      <dsp:spPr>
        <a:xfrm rot="5400000">
          <a:off x="4002567" y="-1521178"/>
          <a:ext cx="1086084" cy="6684969"/>
        </a:xfrm>
        <a:prstGeom prst="round2SameRect">
          <a:avLst/>
        </a:prstGeom>
        <a:solidFill>
          <a:srgbClr val="D6E5BD">
            <a:alpha val="89804"/>
          </a:srgb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ts val="2400"/>
            </a:lnSpc>
            <a:spcBef>
              <a:spcPct val="0"/>
            </a:spcBef>
            <a:spcAft>
              <a:spcPts val="0"/>
            </a:spcAft>
            <a:buChar char="••"/>
          </a:pPr>
          <a:r>
            <a:rPr lang="zh-CN" altLang="en-US" sz="1600" b="1" kern="1200" dirty="0" smtClean="0">
              <a:solidFill>
                <a:srgbClr val="1C1C1C"/>
              </a:solidFill>
              <a:latin typeface="微软雅黑" panose="020B0503020204020204" pitchFamily="34" charset="-122"/>
              <a:ea typeface="微软雅黑" panose="020B0503020204020204" pitchFamily="34" charset="-122"/>
            </a:rPr>
            <a:t>网络中某通道传送数据的能力，即在单位时间内网络中的某信道所能通过的</a:t>
          </a:r>
          <a:r>
            <a:rPr lang="zh-CN" altLang="en-US" sz="1600" b="1" kern="1200" dirty="0" smtClean="0">
              <a:solidFill>
                <a:srgbClr val="0000FF"/>
              </a:solidFill>
              <a:latin typeface="微软雅黑" panose="020B0503020204020204" pitchFamily="34" charset="-122"/>
              <a:ea typeface="微软雅黑" panose="020B0503020204020204" pitchFamily="34" charset="-122"/>
            </a:rPr>
            <a:t>“最高数据率”。</a:t>
          </a:r>
          <a:endParaRPr lang="zh-CN" altLang="en-US" sz="1600" b="1" kern="1200" dirty="0">
            <a:solidFill>
              <a:srgbClr val="0000FF"/>
            </a:solidFill>
            <a:latin typeface="微软雅黑" panose="020B0503020204020204" pitchFamily="34" charset="-122"/>
            <a:ea typeface="微软雅黑" panose="020B0503020204020204" pitchFamily="34" charset="-122"/>
          </a:endParaRPr>
        </a:p>
        <a:p>
          <a:pPr marL="171450" lvl="1" indent="-171450" algn="l" defTabSz="711200">
            <a:lnSpc>
              <a:spcPts val="2400"/>
            </a:lnSpc>
            <a:spcBef>
              <a:spcPct val="0"/>
            </a:spcBef>
            <a:spcAft>
              <a:spcPts val="0"/>
            </a:spcAft>
            <a:buChar char="••"/>
          </a:pPr>
          <a:r>
            <a:rPr lang="zh-CN" altLang="en-US" sz="1600" b="1" kern="1200" dirty="0" smtClean="0">
              <a:solidFill>
                <a:srgbClr val="1C1C1C"/>
              </a:solidFill>
              <a:latin typeface="微软雅黑" panose="020B0503020204020204" pitchFamily="34" charset="-122"/>
              <a:ea typeface="微软雅黑" panose="020B0503020204020204" pitchFamily="34" charset="-122"/>
            </a:rPr>
            <a:t>单位就是数据率的单位 </a:t>
          </a:r>
          <a:r>
            <a:rPr lang="en-US" altLang="en-US" sz="1600" b="1" kern="1200" dirty="0" smtClean="0">
              <a:solidFill>
                <a:srgbClr val="1C1C1C"/>
              </a:solidFill>
              <a:latin typeface="微软雅黑" panose="020B0503020204020204" pitchFamily="34" charset="-122"/>
              <a:ea typeface="微软雅黑" panose="020B0503020204020204" pitchFamily="34" charset="-122"/>
            </a:rPr>
            <a:t>bit/s</a:t>
          </a:r>
          <a:r>
            <a:rPr lang="zh-CN" altLang="en-US" sz="1600" b="1" kern="1200" dirty="0" smtClean="0">
              <a:solidFill>
                <a:srgbClr val="1C1C1C"/>
              </a:solidFill>
              <a:latin typeface="微软雅黑" panose="020B0503020204020204" pitchFamily="34" charset="-122"/>
              <a:ea typeface="微软雅黑" panose="020B0503020204020204" pitchFamily="34" charset="-122"/>
            </a:rPr>
            <a:t>。</a:t>
          </a:r>
          <a:endParaRPr lang="zh-CN" altLang="en-US" sz="1600" b="1" kern="1200" dirty="0">
            <a:solidFill>
              <a:srgbClr val="1C1C1C"/>
            </a:solidFill>
            <a:latin typeface="微软雅黑" panose="020B0503020204020204" pitchFamily="34" charset="-122"/>
            <a:ea typeface="微软雅黑" panose="020B0503020204020204" pitchFamily="34" charset="-122"/>
          </a:endParaRPr>
        </a:p>
      </dsp:txBody>
      <dsp:txXfrm rot="-5400000">
        <a:off x="1203125" y="1331282"/>
        <a:ext cx="6631951" cy="980048"/>
      </dsp:txXfrm>
    </dsp:sp>
    <dsp:sp modelId="{90C011AE-3F91-416D-B2FD-433B35EC17A6}">
      <dsp:nvSpPr>
        <dsp:cNvPr id="0" name=""/>
        <dsp:cNvSpPr/>
      </dsp:nvSpPr>
      <dsp:spPr>
        <a:xfrm>
          <a:off x="10579" y="1300924"/>
          <a:ext cx="1192545" cy="1040733"/>
        </a:xfrm>
        <a:prstGeom prst="roundRect">
          <a:avLst/>
        </a:prstGeom>
        <a:solidFill>
          <a:srgbClr val="A5C25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ts val="2400"/>
            </a:lnSpc>
            <a:spcBef>
              <a:spcPct val="0"/>
            </a:spcBef>
            <a:spcAft>
              <a:spcPts val="0"/>
            </a:spcAft>
          </a:pPr>
          <a:r>
            <a:rPr lang="zh-CN" altLang="en-US" sz="1800" b="1" kern="1200" dirty="0" smtClean="0">
              <a:solidFill>
                <a:srgbClr val="1C1C1C"/>
              </a:solidFill>
              <a:latin typeface="微软雅黑" panose="020B0503020204020204" pitchFamily="34" charset="-122"/>
              <a:ea typeface="微软雅黑" panose="020B0503020204020204" pitchFamily="34" charset="-122"/>
            </a:rPr>
            <a:t>时域</a:t>
          </a:r>
          <a:endParaRPr lang="zh-CN" altLang="en-US" sz="1800" b="1" kern="1200" dirty="0">
            <a:solidFill>
              <a:srgbClr val="1C1C1C"/>
            </a:solidFill>
            <a:latin typeface="微软雅黑" panose="020B0503020204020204" pitchFamily="34" charset="-122"/>
            <a:ea typeface="微软雅黑" panose="020B0503020204020204" pitchFamily="34" charset="-122"/>
          </a:endParaRPr>
        </a:p>
      </dsp:txBody>
      <dsp:txXfrm>
        <a:off x="61383" y="1351728"/>
        <a:ext cx="1090937" cy="93912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95EE3-26FA-4AD6-8572-6D18709F3237}">
      <dsp:nvSpPr>
        <dsp:cNvPr id="0" name=""/>
        <dsp:cNvSpPr/>
      </dsp:nvSpPr>
      <dsp:spPr>
        <a:xfrm>
          <a:off x="3048000" y="840446"/>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4D7894-C98B-4D52-BBF2-D4954739F3C8}">
      <dsp:nvSpPr>
        <dsp:cNvPr id="0" name=""/>
        <dsp:cNvSpPr/>
      </dsp:nvSpPr>
      <dsp:spPr>
        <a:xfrm>
          <a:off x="3048000" y="840446"/>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0D9E2B-EA18-4B36-A1BD-BD1665D2A336}">
      <dsp:nvSpPr>
        <dsp:cNvPr id="0" name=""/>
        <dsp:cNvSpPr/>
      </dsp:nvSpPr>
      <dsp:spPr>
        <a:xfrm>
          <a:off x="2252262" y="840446"/>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760BB4-E99C-40B1-88FA-AF71DBC82B79}">
      <dsp:nvSpPr>
        <dsp:cNvPr id="0" name=""/>
        <dsp:cNvSpPr/>
      </dsp:nvSpPr>
      <dsp:spPr>
        <a:xfrm>
          <a:off x="660787" y="840446"/>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77373F-6A35-4E99-800C-3E3838126B2F}">
      <dsp:nvSpPr>
        <dsp:cNvPr id="0" name=""/>
        <dsp:cNvSpPr/>
      </dsp:nvSpPr>
      <dsp:spPr>
        <a:xfrm>
          <a:off x="2166908" y="49483"/>
          <a:ext cx="1762183" cy="7909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000000"/>
              </a:solidFill>
            </a:rPr>
            <a:t>时延</a:t>
          </a:r>
          <a:endParaRPr lang="en-US" sz="3200" kern="1200" dirty="0">
            <a:solidFill>
              <a:srgbClr val="000000"/>
            </a:solidFill>
          </a:endParaRPr>
        </a:p>
      </dsp:txBody>
      <dsp:txXfrm>
        <a:off x="2424974" y="165317"/>
        <a:ext cx="1246051" cy="559295"/>
      </dsp:txXfrm>
    </dsp:sp>
    <dsp:sp modelId="{02D8927B-468C-48C7-B616-9BBFC1B59F11}">
      <dsp:nvSpPr>
        <dsp:cNvPr id="0" name=""/>
        <dsp:cNvSpPr/>
      </dsp:nvSpPr>
      <dsp:spPr>
        <a:xfrm>
          <a:off x="3153" y="1116653"/>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发送时延</a:t>
          </a:r>
          <a:endParaRPr lang="en-US" sz="2200" kern="1200" dirty="0">
            <a:solidFill>
              <a:srgbClr val="000000"/>
            </a:solidFill>
          </a:endParaRPr>
        </a:p>
      </dsp:txBody>
      <dsp:txXfrm>
        <a:off x="3153" y="1116653"/>
        <a:ext cx="1315268" cy="657634"/>
      </dsp:txXfrm>
    </dsp:sp>
    <dsp:sp modelId="{BD95AFED-3005-4840-8619-7A92C665843C}">
      <dsp:nvSpPr>
        <dsp:cNvPr id="0" name=""/>
        <dsp:cNvSpPr/>
      </dsp:nvSpPr>
      <dsp:spPr>
        <a:xfrm>
          <a:off x="1594628" y="1116653"/>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传播时延</a:t>
          </a:r>
          <a:endParaRPr lang="en-US" sz="2200" kern="1200" dirty="0">
            <a:solidFill>
              <a:srgbClr val="000000"/>
            </a:solidFill>
          </a:endParaRPr>
        </a:p>
      </dsp:txBody>
      <dsp:txXfrm>
        <a:off x="1594628" y="1116653"/>
        <a:ext cx="1315268" cy="657634"/>
      </dsp:txXfrm>
    </dsp:sp>
    <dsp:sp modelId="{854D2305-F4EE-4AD6-92DB-D95F41DA9781}">
      <dsp:nvSpPr>
        <dsp:cNvPr id="0" name=""/>
        <dsp:cNvSpPr/>
      </dsp:nvSpPr>
      <dsp:spPr>
        <a:xfrm>
          <a:off x="3186103" y="1116653"/>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处理时延</a:t>
          </a:r>
          <a:endParaRPr lang="en-US" sz="2200" kern="1200" dirty="0">
            <a:solidFill>
              <a:srgbClr val="000000"/>
            </a:solidFill>
          </a:endParaRPr>
        </a:p>
      </dsp:txBody>
      <dsp:txXfrm>
        <a:off x="3186103" y="1116653"/>
        <a:ext cx="1315268" cy="657634"/>
      </dsp:txXfrm>
    </dsp:sp>
    <dsp:sp modelId="{A360E26B-3CC0-44BC-8E53-1904E2B78396}">
      <dsp:nvSpPr>
        <dsp:cNvPr id="0" name=""/>
        <dsp:cNvSpPr/>
      </dsp:nvSpPr>
      <dsp:spPr>
        <a:xfrm>
          <a:off x="4777578" y="1116653"/>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排队时延</a:t>
          </a:r>
          <a:endParaRPr lang="en-US" sz="2200" kern="1200" dirty="0">
            <a:solidFill>
              <a:srgbClr val="000000"/>
            </a:solidFill>
          </a:endParaRPr>
        </a:p>
      </dsp:txBody>
      <dsp:txXfrm>
        <a:off x="4777578" y="1116653"/>
        <a:ext cx="1315268" cy="6576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95EE3-26FA-4AD6-8572-6D18709F3237}">
      <dsp:nvSpPr>
        <dsp:cNvPr id="0" name=""/>
        <dsp:cNvSpPr/>
      </dsp:nvSpPr>
      <dsp:spPr>
        <a:xfrm>
          <a:off x="3048000" y="135732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4D7894-C98B-4D52-BBF2-D4954739F3C8}">
      <dsp:nvSpPr>
        <dsp:cNvPr id="0" name=""/>
        <dsp:cNvSpPr/>
      </dsp:nvSpPr>
      <dsp:spPr>
        <a:xfrm>
          <a:off x="3048000" y="135732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0D9E2B-EA18-4B36-A1BD-BD1665D2A336}">
      <dsp:nvSpPr>
        <dsp:cNvPr id="0" name=""/>
        <dsp:cNvSpPr/>
      </dsp:nvSpPr>
      <dsp:spPr>
        <a:xfrm>
          <a:off x="2252262" y="135732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760BB4-E99C-40B1-88FA-AF71DBC82B79}">
      <dsp:nvSpPr>
        <dsp:cNvPr id="0" name=""/>
        <dsp:cNvSpPr/>
      </dsp:nvSpPr>
      <dsp:spPr>
        <a:xfrm>
          <a:off x="660787" y="135732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77373F-6A35-4E99-800C-3E3838126B2F}">
      <dsp:nvSpPr>
        <dsp:cNvPr id="0" name=""/>
        <dsp:cNvSpPr/>
      </dsp:nvSpPr>
      <dsp:spPr>
        <a:xfrm>
          <a:off x="2166908" y="566358"/>
          <a:ext cx="1762183" cy="7909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000000"/>
              </a:solidFill>
            </a:rPr>
            <a:t>时延</a:t>
          </a:r>
          <a:endParaRPr lang="en-US" sz="3200" kern="1200" dirty="0">
            <a:solidFill>
              <a:srgbClr val="000000"/>
            </a:solidFill>
          </a:endParaRPr>
        </a:p>
      </dsp:txBody>
      <dsp:txXfrm>
        <a:off x="2424974" y="682192"/>
        <a:ext cx="1246051" cy="559295"/>
      </dsp:txXfrm>
    </dsp:sp>
    <dsp:sp modelId="{02D8927B-468C-48C7-B616-9BBFC1B59F11}">
      <dsp:nvSpPr>
        <dsp:cNvPr id="0" name=""/>
        <dsp:cNvSpPr/>
      </dsp:nvSpPr>
      <dsp:spPr>
        <a:xfrm>
          <a:off x="3153"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发送时延</a:t>
          </a:r>
          <a:endParaRPr lang="en-US" sz="2200" kern="1200" dirty="0">
            <a:solidFill>
              <a:srgbClr val="000000"/>
            </a:solidFill>
          </a:endParaRPr>
        </a:p>
      </dsp:txBody>
      <dsp:txXfrm>
        <a:off x="3153" y="1633527"/>
        <a:ext cx="1315268" cy="657634"/>
      </dsp:txXfrm>
    </dsp:sp>
    <dsp:sp modelId="{BD95AFED-3005-4840-8619-7A92C665843C}">
      <dsp:nvSpPr>
        <dsp:cNvPr id="0" name=""/>
        <dsp:cNvSpPr/>
      </dsp:nvSpPr>
      <dsp:spPr>
        <a:xfrm>
          <a:off x="1594628"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传播时延</a:t>
          </a:r>
          <a:endParaRPr lang="en-US" sz="2200" kern="1200" dirty="0">
            <a:solidFill>
              <a:srgbClr val="000000"/>
            </a:solidFill>
          </a:endParaRPr>
        </a:p>
      </dsp:txBody>
      <dsp:txXfrm>
        <a:off x="1594628" y="1633527"/>
        <a:ext cx="1315268" cy="657634"/>
      </dsp:txXfrm>
    </dsp:sp>
    <dsp:sp modelId="{854D2305-F4EE-4AD6-92DB-D95F41DA9781}">
      <dsp:nvSpPr>
        <dsp:cNvPr id="0" name=""/>
        <dsp:cNvSpPr/>
      </dsp:nvSpPr>
      <dsp:spPr>
        <a:xfrm>
          <a:off x="3186103"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处理时延</a:t>
          </a:r>
          <a:endParaRPr lang="en-US" sz="2200" kern="1200" dirty="0">
            <a:solidFill>
              <a:srgbClr val="000000"/>
            </a:solidFill>
          </a:endParaRPr>
        </a:p>
      </dsp:txBody>
      <dsp:txXfrm>
        <a:off x="3186103" y="1633527"/>
        <a:ext cx="1315268" cy="657634"/>
      </dsp:txXfrm>
    </dsp:sp>
    <dsp:sp modelId="{A360E26B-3CC0-44BC-8E53-1904E2B78396}">
      <dsp:nvSpPr>
        <dsp:cNvPr id="0" name=""/>
        <dsp:cNvSpPr/>
      </dsp:nvSpPr>
      <dsp:spPr>
        <a:xfrm>
          <a:off x="4777578"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排队时延</a:t>
          </a:r>
          <a:endParaRPr lang="en-US" sz="2200" kern="1200" dirty="0">
            <a:solidFill>
              <a:srgbClr val="000000"/>
            </a:solidFill>
          </a:endParaRPr>
        </a:p>
      </dsp:txBody>
      <dsp:txXfrm>
        <a:off x="4777578" y="1633527"/>
        <a:ext cx="1315268" cy="65763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95EE3-26FA-4AD6-8572-6D18709F3237}">
      <dsp:nvSpPr>
        <dsp:cNvPr id="0" name=""/>
        <dsp:cNvSpPr/>
      </dsp:nvSpPr>
      <dsp:spPr>
        <a:xfrm>
          <a:off x="3048000" y="135732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4D7894-C98B-4D52-BBF2-D4954739F3C8}">
      <dsp:nvSpPr>
        <dsp:cNvPr id="0" name=""/>
        <dsp:cNvSpPr/>
      </dsp:nvSpPr>
      <dsp:spPr>
        <a:xfrm>
          <a:off x="3048000" y="135732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0D9E2B-EA18-4B36-A1BD-BD1665D2A336}">
      <dsp:nvSpPr>
        <dsp:cNvPr id="0" name=""/>
        <dsp:cNvSpPr/>
      </dsp:nvSpPr>
      <dsp:spPr>
        <a:xfrm>
          <a:off x="2252262" y="135732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760BB4-E99C-40B1-88FA-AF71DBC82B79}">
      <dsp:nvSpPr>
        <dsp:cNvPr id="0" name=""/>
        <dsp:cNvSpPr/>
      </dsp:nvSpPr>
      <dsp:spPr>
        <a:xfrm>
          <a:off x="660787" y="135732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77373F-6A35-4E99-800C-3E3838126B2F}">
      <dsp:nvSpPr>
        <dsp:cNvPr id="0" name=""/>
        <dsp:cNvSpPr/>
      </dsp:nvSpPr>
      <dsp:spPr>
        <a:xfrm>
          <a:off x="2166908" y="566358"/>
          <a:ext cx="1762183" cy="7909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000000"/>
              </a:solidFill>
            </a:rPr>
            <a:t>时延</a:t>
          </a:r>
          <a:endParaRPr lang="en-US" sz="3200" kern="1200" dirty="0">
            <a:solidFill>
              <a:srgbClr val="000000"/>
            </a:solidFill>
          </a:endParaRPr>
        </a:p>
      </dsp:txBody>
      <dsp:txXfrm>
        <a:off x="2424974" y="682192"/>
        <a:ext cx="1246051" cy="559295"/>
      </dsp:txXfrm>
    </dsp:sp>
    <dsp:sp modelId="{02D8927B-468C-48C7-B616-9BBFC1B59F11}">
      <dsp:nvSpPr>
        <dsp:cNvPr id="0" name=""/>
        <dsp:cNvSpPr/>
      </dsp:nvSpPr>
      <dsp:spPr>
        <a:xfrm>
          <a:off x="3153"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发送时延</a:t>
          </a:r>
          <a:endParaRPr lang="en-US" sz="2200" kern="1200" dirty="0">
            <a:solidFill>
              <a:srgbClr val="000000"/>
            </a:solidFill>
          </a:endParaRPr>
        </a:p>
      </dsp:txBody>
      <dsp:txXfrm>
        <a:off x="3153" y="1633527"/>
        <a:ext cx="1315268" cy="657634"/>
      </dsp:txXfrm>
    </dsp:sp>
    <dsp:sp modelId="{BD95AFED-3005-4840-8619-7A92C665843C}">
      <dsp:nvSpPr>
        <dsp:cNvPr id="0" name=""/>
        <dsp:cNvSpPr/>
      </dsp:nvSpPr>
      <dsp:spPr>
        <a:xfrm>
          <a:off x="1594628"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传播时延</a:t>
          </a:r>
          <a:endParaRPr lang="en-US" sz="2200" kern="1200" dirty="0">
            <a:solidFill>
              <a:srgbClr val="000000"/>
            </a:solidFill>
          </a:endParaRPr>
        </a:p>
      </dsp:txBody>
      <dsp:txXfrm>
        <a:off x="1594628" y="1633527"/>
        <a:ext cx="1315268" cy="657634"/>
      </dsp:txXfrm>
    </dsp:sp>
    <dsp:sp modelId="{854D2305-F4EE-4AD6-92DB-D95F41DA9781}">
      <dsp:nvSpPr>
        <dsp:cNvPr id="0" name=""/>
        <dsp:cNvSpPr/>
      </dsp:nvSpPr>
      <dsp:spPr>
        <a:xfrm>
          <a:off x="3186103"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处理时延</a:t>
          </a:r>
          <a:endParaRPr lang="en-US" sz="2200" kern="1200" dirty="0">
            <a:solidFill>
              <a:srgbClr val="000000"/>
            </a:solidFill>
          </a:endParaRPr>
        </a:p>
      </dsp:txBody>
      <dsp:txXfrm>
        <a:off x="3186103" y="1633527"/>
        <a:ext cx="1315268" cy="657634"/>
      </dsp:txXfrm>
    </dsp:sp>
    <dsp:sp modelId="{A360E26B-3CC0-44BC-8E53-1904E2B78396}">
      <dsp:nvSpPr>
        <dsp:cNvPr id="0" name=""/>
        <dsp:cNvSpPr/>
      </dsp:nvSpPr>
      <dsp:spPr>
        <a:xfrm>
          <a:off x="4777578"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排队时延</a:t>
          </a:r>
          <a:endParaRPr lang="en-US" sz="2200" kern="1200" dirty="0">
            <a:solidFill>
              <a:srgbClr val="000000"/>
            </a:solidFill>
          </a:endParaRPr>
        </a:p>
      </dsp:txBody>
      <dsp:txXfrm>
        <a:off x="4777578" y="1633527"/>
        <a:ext cx="1315268" cy="6576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95EE3-26FA-4AD6-8572-6D18709F3237}">
      <dsp:nvSpPr>
        <dsp:cNvPr id="0" name=""/>
        <dsp:cNvSpPr/>
      </dsp:nvSpPr>
      <dsp:spPr>
        <a:xfrm>
          <a:off x="3048000" y="1357321"/>
          <a:ext cx="2387212" cy="276206"/>
        </a:xfrm>
        <a:custGeom>
          <a:avLst/>
          <a:gdLst/>
          <a:ahLst/>
          <a:cxnLst/>
          <a:rect l="0" t="0" r="0" b="0"/>
          <a:pathLst>
            <a:path>
              <a:moveTo>
                <a:pt x="0" y="0"/>
              </a:moveTo>
              <a:lnTo>
                <a:pt x="0" y="138103"/>
              </a:lnTo>
              <a:lnTo>
                <a:pt x="2387212" y="138103"/>
              </a:lnTo>
              <a:lnTo>
                <a:pt x="2387212"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34D7894-C98B-4D52-BBF2-D4954739F3C8}">
      <dsp:nvSpPr>
        <dsp:cNvPr id="0" name=""/>
        <dsp:cNvSpPr/>
      </dsp:nvSpPr>
      <dsp:spPr>
        <a:xfrm>
          <a:off x="3048000" y="1357321"/>
          <a:ext cx="795737" cy="276206"/>
        </a:xfrm>
        <a:custGeom>
          <a:avLst/>
          <a:gdLst/>
          <a:ahLst/>
          <a:cxnLst/>
          <a:rect l="0" t="0" r="0" b="0"/>
          <a:pathLst>
            <a:path>
              <a:moveTo>
                <a:pt x="0" y="0"/>
              </a:moveTo>
              <a:lnTo>
                <a:pt x="0" y="138103"/>
              </a:lnTo>
              <a:lnTo>
                <a:pt x="795737" y="138103"/>
              </a:lnTo>
              <a:lnTo>
                <a:pt x="795737"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70D9E2B-EA18-4B36-A1BD-BD1665D2A336}">
      <dsp:nvSpPr>
        <dsp:cNvPr id="0" name=""/>
        <dsp:cNvSpPr/>
      </dsp:nvSpPr>
      <dsp:spPr>
        <a:xfrm>
          <a:off x="2252262" y="1357321"/>
          <a:ext cx="795737" cy="276206"/>
        </a:xfrm>
        <a:custGeom>
          <a:avLst/>
          <a:gdLst/>
          <a:ahLst/>
          <a:cxnLst/>
          <a:rect l="0" t="0" r="0" b="0"/>
          <a:pathLst>
            <a:path>
              <a:moveTo>
                <a:pt x="795737" y="0"/>
              </a:moveTo>
              <a:lnTo>
                <a:pt x="795737"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760BB4-E99C-40B1-88FA-AF71DBC82B79}">
      <dsp:nvSpPr>
        <dsp:cNvPr id="0" name=""/>
        <dsp:cNvSpPr/>
      </dsp:nvSpPr>
      <dsp:spPr>
        <a:xfrm>
          <a:off x="660787" y="1357321"/>
          <a:ext cx="2387212" cy="276206"/>
        </a:xfrm>
        <a:custGeom>
          <a:avLst/>
          <a:gdLst/>
          <a:ahLst/>
          <a:cxnLst/>
          <a:rect l="0" t="0" r="0" b="0"/>
          <a:pathLst>
            <a:path>
              <a:moveTo>
                <a:pt x="2387212" y="0"/>
              </a:moveTo>
              <a:lnTo>
                <a:pt x="2387212" y="138103"/>
              </a:lnTo>
              <a:lnTo>
                <a:pt x="0" y="138103"/>
              </a:lnTo>
              <a:lnTo>
                <a:pt x="0" y="2762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77373F-6A35-4E99-800C-3E3838126B2F}">
      <dsp:nvSpPr>
        <dsp:cNvPr id="0" name=""/>
        <dsp:cNvSpPr/>
      </dsp:nvSpPr>
      <dsp:spPr>
        <a:xfrm>
          <a:off x="2166908" y="566358"/>
          <a:ext cx="1762183" cy="7909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000000"/>
              </a:solidFill>
            </a:rPr>
            <a:t>时延</a:t>
          </a:r>
          <a:endParaRPr lang="en-US" sz="3200" kern="1200" dirty="0">
            <a:solidFill>
              <a:srgbClr val="000000"/>
            </a:solidFill>
          </a:endParaRPr>
        </a:p>
      </dsp:txBody>
      <dsp:txXfrm>
        <a:off x="2424974" y="682192"/>
        <a:ext cx="1246051" cy="559295"/>
      </dsp:txXfrm>
    </dsp:sp>
    <dsp:sp modelId="{02D8927B-468C-48C7-B616-9BBFC1B59F11}">
      <dsp:nvSpPr>
        <dsp:cNvPr id="0" name=""/>
        <dsp:cNvSpPr/>
      </dsp:nvSpPr>
      <dsp:spPr>
        <a:xfrm>
          <a:off x="3153"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发送时延</a:t>
          </a:r>
          <a:endParaRPr lang="en-US" sz="2200" kern="1200" dirty="0">
            <a:solidFill>
              <a:srgbClr val="000000"/>
            </a:solidFill>
          </a:endParaRPr>
        </a:p>
      </dsp:txBody>
      <dsp:txXfrm>
        <a:off x="3153" y="1633527"/>
        <a:ext cx="1315268" cy="657634"/>
      </dsp:txXfrm>
    </dsp:sp>
    <dsp:sp modelId="{BD95AFED-3005-4840-8619-7A92C665843C}">
      <dsp:nvSpPr>
        <dsp:cNvPr id="0" name=""/>
        <dsp:cNvSpPr/>
      </dsp:nvSpPr>
      <dsp:spPr>
        <a:xfrm>
          <a:off x="1594628"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altLang="zh-CN" sz="2200" kern="1200" dirty="0">
              <a:solidFill>
                <a:srgbClr val="000000"/>
              </a:solidFill>
            </a:rPr>
            <a:t>*</a:t>
          </a:r>
          <a:r>
            <a:rPr lang="zh-CN" altLang="en-US" sz="2200" kern="1200" dirty="0">
              <a:solidFill>
                <a:srgbClr val="000000"/>
              </a:solidFill>
            </a:rPr>
            <a:t>传播时延</a:t>
          </a:r>
          <a:endParaRPr lang="en-US" sz="2200" kern="1200" dirty="0">
            <a:solidFill>
              <a:srgbClr val="000000"/>
            </a:solidFill>
          </a:endParaRPr>
        </a:p>
      </dsp:txBody>
      <dsp:txXfrm>
        <a:off x="1594628" y="1633527"/>
        <a:ext cx="1315268" cy="657634"/>
      </dsp:txXfrm>
    </dsp:sp>
    <dsp:sp modelId="{854D2305-F4EE-4AD6-92DB-D95F41DA9781}">
      <dsp:nvSpPr>
        <dsp:cNvPr id="0" name=""/>
        <dsp:cNvSpPr/>
      </dsp:nvSpPr>
      <dsp:spPr>
        <a:xfrm>
          <a:off x="3186103"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处理时延</a:t>
          </a:r>
          <a:endParaRPr lang="en-US" sz="2200" kern="1200" dirty="0">
            <a:solidFill>
              <a:srgbClr val="000000"/>
            </a:solidFill>
          </a:endParaRPr>
        </a:p>
      </dsp:txBody>
      <dsp:txXfrm>
        <a:off x="3186103" y="1633527"/>
        <a:ext cx="1315268" cy="657634"/>
      </dsp:txXfrm>
    </dsp:sp>
    <dsp:sp modelId="{A360E26B-3CC0-44BC-8E53-1904E2B78396}">
      <dsp:nvSpPr>
        <dsp:cNvPr id="0" name=""/>
        <dsp:cNvSpPr/>
      </dsp:nvSpPr>
      <dsp:spPr>
        <a:xfrm>
          <a:off x="4777578" y="1633527"/>
          <a:ext cx="1315268" cy="65763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zh-CN" altLang="en-US" sz="2200" kern="1200" dirty="0">
              <a:solidFill>
                <a:srgbClr val="000000"/>
              </a:solidFill>
            </a:rPr>
            <a:t>排队时延</a:t>
          </a:r>
          <a:endParaRPr lang="en-US" sz="2200" kern="1200" dirty="0">
            <a:solidFill>
              <a:srgbClr val="000000"/>
            </a:solidFill>
          </a:endParaRPr>
        </a:p>
      </dsp:txBody>
      <dsp:txXfrm>
        <a:off x="4777578" y="1633527"/>
        <a:ext cx="1315268" cy="6576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8D618-F8FC-4C90-851C-0B5A61F1FAD0}">
      <dsp:nvSpPr>
        <dsp:cNvPr id="0" name=""/>
        <dsp:cNvSpPr/>
      </dsp:nvSpPr>
      <dsp:spPr>
        <a:xfrm>
          <a:off x="2241" y="0"/>
          <a:ext cx="3453942" cy="1373224"/>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CN" altLang="en-US" sz="2800" b="1" kern="1200" dirty="0" smtClean="0">
              <a:latin typeface="微软雅黑" panose="020B0503020204020204" pitchFamily="34" charset="-122"/>
              <a:ea typeface="微软雅黑" panose="020B0503020204020204" pitchFamily="34" charset="-122"/>
            </a:rPr>
            <a:t>信道利用率</a:t>
          </a:r>
          <a:endParaRPr lang="zh-CN" altLang="en-US" sz="2800" b="1" kern="1200" dirty="0">
            <a:latin typeface="微软雅黑" panose="020B0503020204020204" pitchFamily="34" charset="-122"/>
            <a:ea typeface="微软雅黑" panose="020B0503020204020204" pitchFamily="34" charset="-122"/>
          </a:endParaRPr>
        </a:p>
      </dsp:txBody>
      <dsp:txXfrm>
        <a:off x="2241" y="0"/>
        <a:ext cx="3453942" cy="1373224"/>
      </dsp:txXfrm>
    </dsp:sp>
    <dsp:sp modelId="{DD1A8C17-AB8B-4CDA-9C06-E3F6B80DFAB1}">
      <dsp:nvSpPr>
        <dsp:cNvPr id="0" name=""/>
        <dsp:cNvSpPr/>
      </dsp:nvSpPr>
      <dsp:spPr>
        <a:xfrm>
          <a:off x="3898" y="1566681"/>
          <a:ext cx="3450629" cy="285480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b="1" kern="1200" dirty="0" smtClean="0">
              <a:solidFill>
                <a:srgbClr val="1C1C1C"/>
              </a:solidFill>
              <a:latin typeface="微软雅黑" panose="020B0503020204020204" pitchFamily="34" charset="-122"/>
              <a:ea typeface="微软雅黑" panose="020B0503020204020204" pitchFamily="34" charset="-122"/>
            </a:rPr>
            <a:t>某信道有百分之几的时间是被利用的（即有数据通过）。</a:t>
          </a:r>
          <a:endParaRPr lang="zh-CN" altLang="en-US" sz="2400" b="1" kern="1200" dirty="0">
            <a:solidFill>
              <a:srgbClr val="1C1C1C"/>
            </a:solidFill>
            <a:latin typeface="微软雅黑" panose="020B0503020204020204" pitchFamily="34" charset="-122"/>
            <a:ea typeface="微软雅黑" panose="020B0503020204020204" pitchFamily="34" charset="-122"/>
          </a:endParaRPr>
        </a:p>
        <a:p>
          <a:pPr marL="228600" lvl="1" indent="-228600" algn="l" defTabSz="1066800">
            <a:lnSpc>
              <a:spcPct val="90000"/>
            </a:lnSpc>
            <a:spcBef>
              <a:spcPct val="0"/>
            </a:spcBef>
            <a:spcAft>
              <a:spcPct val="15000"/>
            </a:spcAft>
            <a:buChar char="••"/>
          </a:pPr>
          <a:r>
            <a:rPr lang="zh-CN" altLang="en-US" sz="2400" b="1" kern="1200" dirty="0" smtClean="0">
              <a:solidFill>
                <a:srgbClr val="1C1C1C"/>
              </a:solidFill>
              <a:latin typeface="微软雅黑" panose="020B0503020204020204" pitchFamily="34" charset="-122"/>
              <a:ea typeface="微软雅黑" panose="020B0503020204020204" pitchFamily="34" charset="-122"/>
            </a:rPr>
            <a:t>完全空闲的信道的利用率是零。</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3898" y="1566681"/>
        <a:ext cx="3450629" cy="2854800"/>
      </dsp:txXfrm>
    </dsp:sp>
    <dsp:sp modelId="{95E674E6-30C0-4846-A33C-8435093FF952}">
      <dsp:nvSpPr>
        <dsp:cNvPr id="0" name=""/>
        <dsp:cNvSpPr/>
      </dsp:nvSpPr>
      <dsp:spPr>
        <a:xfrm>
          <a:off x="3939272" y="0"/>
          <a:ext cx="3450629" cy="1380251"/>
        </a:xfrm>
        <a:prstGeom prst="rect">
          <a:avLst/>
        </a:prstGeom>
        <a:solidFill>
          <a:srgbClr val="91B042"/>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zh-CN" altLang="en-US" sz="2800" b="1" kern="1200" dirty="0" smtClean="0">
              <a:latin typeface="微软雅黑" panose="020B0503020204020204" pitchFamily="34" charset="-122"/>
              <a:ea typeface="微软雅黑" panose="020B0503020204020204" pitchFamily="34" charset="-122"/>
            </a:rPr>
            <a:t>网络利用率</a:t>
          </a:r>
          <a:endParaRPr lang="zh-CN" altLang="en-US" sz="2800" b="1" kern="1200" dirty="0">
            <a:latin typeface="微软雅黑" panose="020B0503020204020204" pitchFamily="34" charset="-122"/>
            <a:ea typeface="微软雅黑" panose="020B0503020204020204" pitchFamily="34" charset="-122"/>
          </a:endParaRPr>
        </a:p>
      </dsp:txBody>
      <dsp:txXfrm>
        <a:off x="3939272" y="0"/>
        <a:ext cx="3450629" cy="1380251"/>
      </dsp:txXfrm>
    </dsp:sp>
    <dsp:sp modelId="{D5B1C811-7FFB-4E90-B609-AF3320FECF06}">
      <dsp:nvSpPr>
        <dsp:cNvPr id="0" name=""/>
        <dsp:cNvSpPr/>
      </dsp:nvSpPr>
      <dsp:spPr>
        <a:xfrm>
          <a:off x="3939272" y="1566681"/>
          <a:ext cx="3450629" cy="2854800"/>
        </a:xfrm>
        <a:prstGeom prst="rect">
          <a:avLst/>
        </a:prstGeom>
        <a:solidFill>
          <a:srgbClr val="D6E5BD">
            <a:alpha val="90000"/>
          </a:srgb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b="1" kern="1200" dirty="0" smtClean="0">
              <a:solidFill>
                <a:srgbClr val="1C1C1C"/>
              </a:solidFill>
              <a:latin typeface="微软雅黑" panose="020B0503020204020204" pitchFamily="34" charset="-122"/>
              <a:ea typeface="微软雅黑" panose="020B0503020204020204" pitchFamily="34" charset="-122"/>
            </a:rPr>
            <a:t>全网络的信道利用率的加权平均值。</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3939272" y="1566681"/>
        <a:ext cx="3450629" cy="28548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BA1F3-0C00-4FF2-9653-EF94BAD62031}">
      <dsp:nvSpPr>
        <dsp:cNvPr id="0" name=""/>
        <dsp:cNvSpPr/>
      </dsp:nvSpPr>
      <dsp:spPr>
        <a:xfrm>
          <a:off x="2837453" y="1068059"/>
          <a:ext cx="2554693" cy="2554693"/>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55880" tIns="55880" rIns="55880" bIns="55880" numCol="1" spcCol="1270" anchor="ctr" anchorCtr="0">
          <a:noAutofit/>
        </a:bodyPr>
        <a:lstStyle/>
        <a:p>
          <a:pPr lvl="0" algn="ctr" defTabSz="1955800">
            <a:lnSpc>
              <a:spcPct val="90000"/>
            </a:lnSpc>
            <a:spcBef>
              <a:spcPct val="0"/>
            </a:spcBef>
            <a:spcAft>
              <a:spcPct val="35000"/>
            </a:spcAft>
          </a:pPr>
          <a:r>
            <a:rPr lang="zh-CN" altLang="en-US" sz="4400" b="1" kern="1200" dirty="0">
              <a:solidFill>
                <a:srgbClr val="000000"/>
              </a:solidFill>
            </a:rPr>
            <a:t>非</a:t>
          </a:r>
          <a:r>
            <a:rPr lang="zh-CN" altLang="en-US" sz="4400" b="1" kern="1200" dirty="0" smtClean="0">
              <a:solidFill>
                <a:srgbClr val="000000"/>
              </a:solidFill>
            </a:rPr>
            <a:t>性能特征</a:t>
          </a:r>
          <a:endParaRPr lang="en-US" sz="4400" b="1" kern="1200" dirty="0">
            <a:solidFill>
              <a:srgbClr val="000000"/>
            </a:solidFill>
          </a:endParaRPr>
        </a:p>
      </dsp:txBody>
      <dsp:txXfrm>
        <a:off x="3211579" y="1442185"/>
        <a:ext cx="1806441" cy="1806441"/>
      </dsp:txXfrm>
    </dsp:sp>
    <dsp:sp modelId="{4D03A9D2-67CF-4808-96EF-9297EA14CE09}">
      <dsp:nvSpPr>
        <dsp:cNvPr id="0" name=""/>
        <dsp:cNvSpPr/>
      </dsp:nvSpPr>
      <dsp:spPr>
        <a:xfrm>
          <a:off x="3476126" y="42101"/>
          <a:ext cx="1277346" cy="1277346"/>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altLang="zh-CN" sz="2200" b="1" kern="1200" dirty="0">
              <a:solidFill>
                <a:srgbClr val="000000"/>
              </a:solidFill>
            </a:rPr>
            <a:t>1.</a:t>
          </a:r>
          <a:r>
            <a:rPr lang="zh-CN" altLang="en-US" sz="2200" b="1" kern="1200" dirty="0">
              <a:solidFill>
                <a:srgbClr val="000000"/>
              </a:solidFill>
            </a:rPr>
            <a:t>费用</a:t>
          </a:r>
          <a:endParaRPr lang="en-US" sz="2200" b="1" kern="1200" dirty="0">
            <a:solidFill>
              <a:srgbClr val="000000"/>
            </a:solidFill>
          </a:endParaRPr>
        </a:p>
      </dsp:txBody>
      <dsp:txXfrm>
        <a:off x="3663189" y="229164"/>
        <a:ext cx="903220" cy="903220"/>
      </dsp:txXfrm>
    </dsp:sp>
    <dsp:sp modelId="{BA6FE0CA-EB44-4F00-B718-59FB70CF0E2F}">
      <dsp:nvSpPr>
        <dsp:cNvPr id="0" name=""/>
        <dsp:cNvSpPr/>
      </dsp:nvSpPr>
      <dsp:spPr>
        <a:xfrm>
          <a:off x="4777588" y="668851"/>
          <a:ext cx="1277346" cy="1277346"/>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altLang="zh-CN" sz="2200" b="1" kern="1200" dirty="0">
              <a:solidFill>
                <a:srgbClr val="000000"/>
              </a:solidFill>
            </a:rPr>
            <a:t>2.</a:t>
          </a:r>
          <a:r>
            <a:rPr lang="zh-CN" altLang="en-US" sz="2200" b="1" kern="1200" dirty="0">
              <a:solidFill>
                <a:srgbClr val="000000"/>
              </a:solidFill>
            </a:rPr>
            <a:t>质量</a:t>
          </a:r>
          <a:endParaRPr lang="en-US" sz="2200" b="1" kern="1200" dirty="0">
            <a:solidFill>
              <a:srgbClr val="000000"/>
            </a:solidFill>
          </a:endParaRPr>
        </a:p>
      </dsp:txBody>
      <dsp:txXfrm>
        <a:off x="4964651" y="855914"/>
        <a:ext cx="903220" cy="903220"/>
      </dsp:txXfrm>
    </dsp:sp>
    <dsp:sp modelId="{81032F12-6115-4CF6-BD28-A946DC8033FB}">
      <dsp:nvSpPr>
        <dsp:cNvPr id="0" name=""/>
        <dsp:cNvSpPr/>
      </dsp:nvSpPr>
      <dsp:spPr>
        <a:xfrm>
          <a:off x="5099022" y="2077148"/>
          <a:ext cx="1277346" cy="1277346"/>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altLang="zh-CN" sz="2200" b="1" kern="1200" dirty="0">
              <a:solidFill>
                <a:srgbClr val="000000"/>
              </a:solidFill>
            </a:rPr>
            <a:t>3.</a:t>
          </a:r>
          <a:r>
            <a:rPr lang="zh-CN" altLang="en-US" sz="2200" b="1" kern="1200" dirty="0">
              <a:solidFill>
                <a:srgbClr val="000000"/>
              </a:solidFill>
            </a:rPr>
            <a:t>标准化</a:t>
          </a:r>
          <a:endParaRPr lang="en-US" sz="2200" b="1" kern="1200" dirty="0">
            <a:solidFill>
              <a:srgbClr val="000000"/>
            </a:solidFill>
          </a:endParaRPr>
        </a:p>
      </dsp:txBody>
      <dsp:txXfrm>
        <a:off x="5286085" y="2264211"/>
        <a:ext cx="903220" cy="903220"/>
      </dsp:txXfrm>
    </dsp:sp>
    <dsp:sp modelId="{A28A57A1-E220-4BF2-A9D3-4B40BBCA990F}">
      <dsp:nvSpPr>
        <dsp:cNvPr id="0" name=""/>
        <dsp:cNvSpPr/>
      </dsp:nvSpPr>
      <dsp:spPr>
        <a:xfrm>
          <a:off x="4198383" y="3206514"/>
          <a:ext cx="1277346" cy="1277346"/>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altLang="zh-CN" sz="2200" b="1" kern="1200" dirty="0">
              <a:solidFill>
                <a:srgbClr val="000000"/>
              </a:solidFill>
            </a:rPr>
            <a:t>4.</a:t>
          </a:r>
          <a:r>
            <a:rPr lang="zh-CN" altLang="en-US" sz="2200" b="1" kern="1200" dirty="0">
              <a:solidFill>
                <a:srgbClr val="000000"/>
              </a:solidFill>
            </a:rPr>
            <a:t>可靠性</a:t>
          </a:r>
          <a:endParaRPr lang="en-US" sz="2200" b="1" kern="1200" dirty="0">
            <a:solidFill>
              <a:srgbClr val="000000"/>
            </a:solidFill>
          </a:endParaRPr>
        </a:p>
      </dsp:txBody>
      <dsp:txXfrm>
        <a:off x="4385446" y="3393577"/>
        <a:ext cx="903220" cy="903220"/>
      </dsp:txXfrm>
    </dsp:sp>
    <dsp:sp modelId="{DC2DCB21-22C7-43C8-82AB-FF7A48818FEA}">
      <dsp:nvSpPr>
        <dsp:cNvPr id="0" name=""/>
        <dsp:cNvSpPr/>
      </dsp:nvSpPr>
      <dsp:spPr>
        <a:xfrm>
          <a:off x="2753870" y="3206514"/>
          <a:ext cx="1277346" cy="1277346"/>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altLang="zh-CN" sz="2200" b="1" kern="1200" dirty="0" smtClean="0">
              <a:solidFill>
                <a:srgbClr val="000000"/>
              </a:solidFill>
            </a:rPr>
            <a:t>5.</a:t>
          </a:r>
          <a:r>
            <a:rPr lang="zh-CN" altLang="en-US" sz="2200" b="1" kern="1200" dirty="0" smtClean="0">
              <a:solidFill>
                <a:srgbClr val="000000"/>
              </a:solidFill>
            </a:rPr>
            <a:t>可扩展性</a:t>
          </a:r>
          <a:endParaRPr lang="en-US" sz="2200" b="1" kern="1200" dirty="0">
            <a:solidFill>
              <a:srgbClr val="000000"/>
            </a:solidFill>
          </a:endParaRPr>
        </a:p>
      </dsp:txBody>
      <dsp:txXfrm>
        <a:off x="2940933" y="3393577"/>
        <a:ext cx="903220" cy="903220"/>
      </dsp:txXfrm>
    </dsp:sp>
    <dsp:sp modelId="{20C5FD5C-AEBC-4784-919E-650738A1B2F6}">
      <dsp:nvSpPr>
        <dsp:cNvPr id="0" name=""/>
        <dsp:cNvSpPr/>
      </dsp:nvSpPr>
      <dsp:spPr>
        <a:xfrm>
          <a:off x="1853230" y="2077148"/>
          <a:ext cx="1277346" cy="1277346"/>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altLang="zh-CN" sz="2200" b="1" kern="1200" dirty="0">
              <a:solidFill>
                <a:srgbClr val="000000"/>
              </a:solidFill>
            </a:rPr>
            <a:t>6.</a:t>
          </a:r>
          <a:r>
            <a:rPr lang="zh-CN" altLang="en-US" sz="2200" b="1" kern="1200" dirty="0">
              <a:solidFill>
                <a:srgbClr val="000000"/>
              </a:solidFill>
            </a:rPr>
            <a:t>可升级性</a:t>
          </a:r>
          <a:endParaRPr lang="en-US" sz="2200" b="1" kern="1200" dirty="0">
            <a:solidFill>
              <a:srgbClr val="000000"/>
            </a:solidFill>
          </a:endParaRPr>
        </a:p>
      </dsp:txBody>
      <dsp:txXfrm>
        <a:off x="2040293" y="2264211"/>
        <a:ext cx="903220" cy="903220"/>
      </dsp:txXfrm>
    </dsp:sp>
    <dsp:sp modelId="{DEF8B780-5F84-4F41-80B1-20BD9982DF50}">
      <dsp:nvSpPr>
        <dsp:cNvPr id="0" name=""/>
        <dsp:cNvSpPr/>
      </dsp:nvSpPr>
      <dsp:spPr>
        <a:xfrm>
          <a:off x="2174665" y="668851"/>
          <a:ext cx="1277346" cy="1277346"/>
        </a:xfrm>
        <a:prstGeom prst="ellipse">
          <a:avLst/>
        </a:prstGeom>
        <a:solidFill>
          <a:srgbClr val="00B05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7940" tIns="27940" rIns="27940" bIns="27940" numCol="1" spcCol="1270" anchor="ctr" anchorCtr="0">
          <a:noAutofit/>
        </a:bodyPr>
        <a:lstStyle/>
        <a:p>
          <a:pPr lvl="0" algn="ctr" defTabSz="977900">
            <a:lnSpc>
              <a:spcPct val="90000"/>
            </a:lnSpc>
            <a:spcBef>
              <a:spcPct val="0"/>
            </a:spcBef>
            <a:spcAft>
              <a:spcPct val="35000"/>
            </a:spcAft>
          </a:pPr>
          <a:r>
            <a:rPr lang="en-US" altLang="zh-CN" sz="2200" b="1" kern="1200" dirty="0">
              <a:solidFill>
                <a:srgbClr val="000000"/>
              </a:solidFill>
            </a:rPr>
            <a:t>7.</a:t>
          </a:r>
          <a:r>
            <a:rPr lang="zh-CN" altLang="en-US" sz="2200" b="1" kern="1200" dirty="0">
              <a:solidFill>
                <a:srgbClr val="000000"/>
              </a:solidFill>
            </a:rPr>
            <a:t>管理与维护</a:t>
          </a:r>
          <a:endParaRPr lang="en-US" sz="2200" b="1" kern="1200" dirty="0">
            <a:solidFill>
              <a:srgbClr val="000000"/>
            </a:solidFill>
          </a:endParaRPr>
        </a:p>
      </dsp:txBody>
      <dsp:txXfrm>
        <a:off x="2361728" y="855914"/>
        <a:ext cx="903220" cy="9032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55ABF-AFD4-4429-AC0C-B179A1BF75DA}">
      <dsp:nvSpPr>
        <dsp:cNvPr id="0" name=""/>
        <dsp:cNvSpPr/>
      </dsp:nvSpPr>
      <dsp:spPr>
        <a:xfrm>
          <a:off x="0" y="332336"/>
          <a:ext cx="7272808" cy="5040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788D26-F979-4FB7-8A96-4711D82825B8}">
      <dsp:nvSpPr>
        <dsp:cNvPr id="0" name=""/>
        <dsp:cNvSpPr/>
      </dsp:nvSpPr>
      <dsp:spPr>
        <a:xfrm>
          <a:off x="363640" y="37136"/>
          <a:ext cx="5090965" cy="590400"/>
        </a:xfrm>
        <a:prstGeom prst="roundRect">
          <a:avLst/>
        </a:prstGeom>
        <a:solidFill>
          <a:schemeClr val="accent1">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426" tIns="0" rIns="192426" bIns="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chemeClr val="bg1"/>
              </a:solidFill>
              <a:latin typeface="微软雅黑" panose="020B0503020204020204" pitchFamily="34" charset="-122"/>
              <a:ea typeface="微软雅黑" panose="020B0503020204020204" pitchFamily="34" charset="-122"/>
            </a:rPr>
            <a:t>文字描述：便于人来阅读和理解。</a:t>
          </a:r>
          <a:endParaRPr lang="zh-CN" altLang="en-US" sz="2400" b="1" kern="1200" dirty="0">
            <a:solidFill>
              <a:schemeClr val="bg1"/>
            </a:solidFill>
            <a:latin typeface="微软雅黑" panose="020B0503020204020204" pitchFamily="34" charset="-122"/>
            <a:ea typeface="微软雅黑" panose="020B0503020204020204" pitchFamily="34" charset="-122"/>
          </a:endParaRPr>
        </a:p>
      </dsp:txBody>
      <dsp:txXfrm>
        <a:off x="392461" y="65957"/>
        <a:ext cx="5033323" cy="532758"/>
      </dsp:txXfrm>
    </dsp:sp>
    <dsp:sp modelId="{3072F165-7A76-46AC-BCC0-0FC97CA5F9F5}">
      <dsp:nvSpPr>
        <dsp:cNvPr id="0" name=""/>
        <dsp:cNvSpPr/>
      </dsp:nvSpPr>
      <dsp:spPr>
        <a:xfrm>
          <a:off x="0" y="1239536"/>
          <a:ext cx="7272808" cy="504000"/>
        </a:xfrm>
        <a:prstGeom prst="rect">
          <a:avLst/>
        </a:prstGeom>
        <a:solidFill>
          <a:schemeClr val="lt1">
            <a:alpha val="90000"/>
            <a:hueOff val="0"/>
            <a:satOff val="0"/>
            <a:lumOff val="0"/>
            <a:alphaOff val="0"/>
          </a:schemeClr>
        </a:solidFill>
        <a:ln w="25400" cap="flat" cmpd="sng" algn="ctr">
          <a:solidFill>
            <a:schemeClr val="accent5">
              <a:hueOff val="2256020"/>
              <a:satOff val="14856"/>
              <a:lumOff val="-25686"/>
              <a:alphaOff val="0"/>
            </a:schemeClr>
          </a:solidFill>
          <a:prstDash val="solid"/>
        </a:ln>
        <a:effectLst/>
      </dsp:spPr>
      <dsp:style>
        <a:lnRef idx="2">
          <a:scrgbClr r="0" g="0" b="0"/>
        </a:lnRef>
        <a:fillRef idx="1">
          <a:scrgbClr r="0" g="0" b="0"/>
        </a:fillRef>
        <a:effectRef idx="0">
          <a:scrgbClr r="0" g="0" b="0"/>
        </a:effectRef>
        <a:fontRef idx="minor"/>
      </dsp:style>
    </dsp:sp>
    <dsp:sp modelId="{F367B3BE-A2DF-4CEA-8C18-99C09218A893}">
      <dsp:nvSpPr>
        <dsp:cNvPr id="0" name=""/>
        <dsp:cNvSpPr/>
      </dsp:nvSpPr>
      <dsp:spPr>
        <a:xfrm>
          <a:off x="363640" y="944336"/>
          <a:ext cx="5090965" cy="590400"/>
        </a:xfrm>
        <a:prstGeom prst="roundRect">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2426" tIns="0" rIns="192426" bIns="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rgbClr val="000066"/>
              </a:solidFill>
              <a:latin typeface="微软雅黑" panose="020B0503020204020204" pitchFamily="34" charset="-122"/>
              <a:ea typeface="微软雅黑" panose="020B0503020204020204" pitchFamily="34" charset="-122"/>
            </a:rPr>
            <a:t>程序代码：让计算机能够理解。</a:t>
          </a:r>
          <a:endParaRPr lang="zh-CN" altLang="en-US" sz="2400" b="1" kern="1200" dirty="0">
            <a:solidFill>
              <a:srgbClr val="000066"/>
            </a:solidFill>
            <a:latin typeface="微软雅黑" panose="020B0503020204020204" pitchFamily="34" charset="-122"/>
            <a:ea typeface="微软雅黑" panose="020B0503020204020204" pitchFamily="34" charset="-122"/>
          </a:endParaRPr>
        </a:p>
      </dsp:txBody>
      <dsp:txXfrm>
        <a:off x="392461" y="973157"/>
        <a:ext cx="5033323" cy="5327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33D2C-A9D6-4FB9-868E-7A2772597538}">
      <dsp:nvSpPr>
        <dsp:cNvPr id="0" name=""/>
        <dsp:cNvSpPr/>
      </dsp:nvSpPr>
      <dsp:spPr>
        <a:xfrm>
          <a:off x="493968" y="508296"/>
          <a:ext cx="7076958" cy="2422569"/>
        </a:xfrm>
        <a:prstGeom prst="rect">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F411F94-BA29-40FB-AB99-7CD7DB1CFA05}">
      <dsp:nvSpPr>
        <dsp:cNvPr id="0" name=""/>
        <dsp:cNvSpPr/>
      </dsp:nvSpPr>
      <dsp:spPr>
        <a:xfrm>
          <a:off x="1157616" y="746687"/>
          <a:ext cx="2676194" cy="2072478"/>
        </a:xfrm>
        <a:prstGeom prst="rect">
          <a:avLst/>
        </a:prstGeom>
        <a:solidFill>
          <a:schemeClr val="accent1">
            <a:lumMod val="20000"/>
            <a:lumOff val="80000"/>
          </a:schemeClr>
        </a:solidFill>
        <a:ln w="9525" cap="flat" cmpd="sng" algn="ctr">
          <a:solidFill>
            <a:schemeClr val="accent1">
              <a:shade val="95000"/>
              <a:satMod val="105000"/>
            </a:schemeClr>
          </a:solidFill>
          <a:prstDash val="solid"/>
        </a:ln>
        <a:effectLst/>
      </dsp:spPr>
      <dsp:style>
        <a:lnRef idx="1">
          <a:schemeClr val="accent1"/>
        </a:lnRef>
        <a:fillRef idx="2">
          <a:schemeClr val="accent1"/>
        </a:fillRef>
        <a:effectRef idx="1">
          <a:schemeClr val="accent1"/>
        </a:effectRef>
        <a:fontRef idx="minor">
          <a:schemeClr val="dk1"/>
        </a:fontRef>
      </dsp:style>
      <dsp:txBody>
        <a:bodyPr spcFirstLastPara="0" vert="horz" wrap="square" lIns="38100" tIns="38100" rIns="38100" bIns="38100" numCol="1" spcCol="1270" anchor="t" anchorCtr="0">
          <a:noAutofit/>
        </a:bodyPr>
        <a:lstStyle/>
        <a:p>
          <a:pPr lvl="0" algn="l" defTabSz="889000">
            <a:lnSpc>
              <a:spcPct val="90000"/>
            </a:lnSpc>
            <a:spcBef>
              <a:spcPct val="0"/>
            </a:spcBef>
            <a:spcAft>
              <a:spcPts val="0"/>
            </a:spcAft>
          </a:pPr>
          <a:r>
            <a:rPr lang="zh-CN" altLang="en-US" sz="2000" b="1" kern="1200" dirty="0" smtClean="0">
              <a:solidFill>
                <a:srgbClr val="1C1C1C"/>
              </a:solidFill>
              <a:latin typeface="微软雅黑" panose="020B0503020204020204" pitchFamily="34" charset="-122"/>
              <a:ea typeface="微软雅黑" panose="020B0503020204020204" pitchFamily="34" charset="-122"/>
            </a:rPr>
            <a:t>各层之间是独立的；</a:t>
          </a:r>
        </a:p>
        <a:p>
          <a:pPr lvl="0" algn="l" defTabSz="889000">
            <a:lnSpc>
              <a:spcPct val="90000"/>
            </a:lnSpc>
            <a:spcBef>
              <a:spcPct val="0"/>
            </a:spcBef>
            <a:spcAft>
              <a:spcPts val="0"/>
            </a:spcAft>
          </a:pPr>
          <a:r>
            <a:rPr lang="zh-CN" altLang="en-US" sz="2000" b="1" kern="1200" dirty="0" smtClean="0">
              <a:solidFill>
                <a:srgbClr val="1C1C1C"/>
              </a:solidFill>
              <a:latin typeface="微软雅黑" panose="020B0503020204020204" pitchFamily="34" charset="-122"/>
              <a:ea typeface="微软雅黑" panose="020B0503020204020204" pitchFamily="34" charset="-122"/>
            </a:rPr>
            <a:t>灵活性好；</a:t>
          </a:r>
        </a:p>
        <a:p>
          <a:pPr lvl="0" algn="l" defTabSz="889000">
            <a:lnSpc>
              <a:spcPct val="90000"/>
            </a:lnSpc>
            <a:spcBef>
              <a:spcPct val="0"/>
            </a:spcBef>
            <a:spcAft>
              <a:spcPts val="0"/>
            </a:spcAft>
          </a:pPr>
          <a:r>
            <a:rPr lang="zh-CN" altLang="en-US" sz="2000" b="1" kern="1200" dirty="0" smtClean="0">
              <a:solidFill>
                <a:srgbClr val="1C1C1C"/>
              </a:solidFill>
              <a:latin typeface="微软雅黑" panose="020B0503020204020204" pitchFamily="34" charset="-122"/>
              <a:ea typeface="微软雅黑" panose="020B0503020204020204" pitchFamily="34" charset="-122"/>
            </a:rPr>
            <a:t>结构上可分割开；</a:t>
          </a:r>
        </a:p>
        <a:p>
          <a:pPr lvl="0" algn="l" defTabSz="889000">
            <a:lnSpc>
              <a:spcPct val="90000"/>
            </a:lnSpc>
            <a:spcBef>
              <a:spcPct val="0"/>
            </a:spcBef>
            <a:spcAft>
              <a:spcPts val="0"/>
            </a:spcAft>
          </a:pPr>
          <a:r>
            <a:rPr lang="zh-CN" altLang="en-US" sz="2000" b="1" kern="1200" dirty="0" smtClean="0">
              <a:solidFill>
                <a:srgbClr val="1C1C1C"/>
              </a:solidFill>
              <a:latin typeface="微软雅黑" panose="020B0503020204020204" pitchFamily="34" charset="-122"/>
              <a:ea typeface="微软雅黑" panose="020B0503020204020204" pitchFamily="34" charset="-122"/>
            </a:rPr>
            <a:t>易于实现和维护；</a:t>
          </a:r>
        </a:p>
        <a:p>
          <a:pPr lvl="0" algn="l" defTabSz="889000">
            <a:lnSpc>
              <a:spcPct val="90000"/>
            </a:lnSpc>
            <a:spcBef>
              <a:spcPct val="0"/>
            </a:spcBef>
            <a:spcAft>
              <a:spcPts val="0"/>
            </a:spcAft>
          </a:pPr>
          <a:r>
            <a:rPr lang="zh-CN" altLang="en-US" sz="2000" b="1" kern="1200" dirty="0" smtClean="0">
              <a:solidFill>
                <a:srgbClr val="1C1C1C"/>
              </a:solidFill>
              <a:latin typeface="微软雅黑" panose="020B0503020204020204" pitchFamily="34" charset="-122"/>
              <a:ea typeface="微软雅黑" panose="020B0503020204020204" pitchFamily="34" charset="-122"/>
            </a:rPr>
            <a:t>能促进标准化工作。</a:t>
          </a:r>
        </a:p>
      </dsp:txBody>
      <dsp:txXfrm>
        <a:off x="1157616" y="746687"/>
        <a:ext cx="2676194" cy="2072478"/>
      </dsp:txXfrm>
    </dsp:sp>
    <dsp:sp modelId="{CB7DDDF6-2C8B-4B30-A06C-1EA5DB141FBA}">
      <dsp:nvSpPr>
        <dsp:cNvPr id="0" name=""/>
        <dsp:cNvSpPr/>
      </dsp:nvSpPr>
      <dsp:spPr>
        <a:xfrm>
          <a:off x="4228646" y="744262"/>
          <a:ext cx="2703513" cy="2072478"/>
        </a:xfrm>
        <a:prstGeom prst="rect">
          <a:avLst/>
        </a:prstGeom>
        <a:solidFill>
          <a:srgbClr val="EAC9C8"/>
        </a:solidFill>
        <a:ln>
          <a:noFill/>
        </a:ln>
        <a:effectLst/>
        <a:scene3d>
          <a:camera prst="orthographicFront">
            <a:rot lat="0" lon="0" rev="0"/>
          </a:camera>
          <a:lightRig rig="threePt" dir="t">
            <a:rot lat="0" lon="0" rev="1200000"/>
          </a:lightRig>
        </a:scene3d>
        <a:sp3d/>
      </dsp:spPr>
      <dsp:style>
        <a:lnRef idx="0">
          <a:schemeClr val="accent3"/>
        </a:lnRef>
        <a:fillRef idx="3">
          <a:schemeClr val="accent3"/>
        </a:fillRef>
        <a:effectRef idx="3">
          <a:schemeClr val="accent3"/>
        </a:effectRef>
        <a:fontRef idx="minor">
          <a:schemeClr val="lt1"/>
        </a:fontRef>
      </dsp:style>
      <dsp:txBody>
        <a:bodyPr spcFirstLastPara="0" vert="horz" wrap="square" lIns="38100" tIns="38100" rIns="38100" bIns="38100" numCol="1" spcCol="1270" anchor="t" anchorCtr="0">
          <a:noAutofit/>
        </a:bodyPr>
        <a:lstStyle/>
        <a:p>
          <a:pPr lvl="0" algn="l" defTabSz="889000">
            <a:lnSpc>
              <a:spcPct val="90000"/>
            </a:lnSpc>
            <a:spcBef>
              <a:spcPct val="0"/>
            </a:spcBef>
            <a:spcAft>
              <a:spcPts val="0"/>
            </a:spcAft>
          </a:pPr>
          <a:r>
            <a:rPr lang="zh-CN" altLang="en-US" sz="2000" b="1" kern="1200" dirty="0" smtClean="0">
              <a:solidFill>
                <a:srgbClr val="1C1C1C"/>
              </a:solidFill>
              <a:latin typeface="微软雅黑" panose="020B0503020204020204" pitchFamily="34" charset="-122"/>
              <a:ea typeface="微软雅黑" panose="020B0503020204020204" pitchFamily="34" charset="-122"/>
            </a:rPr>
            <a:t>有些功能会重复出现，因而产生了额外开销。</a:t>
          </a:r>
          <a:endParaRPr lang="en-US" altLang="zh-CN" sz="2000" b="1" kern="1200" dirty="0" smtClean="0">
            <a:solidFill>
              <a:srgbClr val="1C1C1C"/>
            </a:solidFill>
            <a:latin typeface="微软雅黑" panose="020B0503020204020204" pitchFamily="34" charset="-122"/>
            <a:ea typeface="微软雅黑" panose="020B0503020204020204" pitchFamily="34" charset="-122"/>
          </a:endParaRPr>
        </a:p>
      </dsp:txBody>
      <dsp:txXfrm>
        <a:off x="4228646" y="744262"/>
        <a:ext cx="2703513" cy="2072478"/>
      </dsp:txXfrm>
    </dsp:sp>
    <dsp:sp modelId="{DF706164-FCCA-4F26-8B31-EABB82ABC165}">
      <dsp:nvSpPr>
        <dsp:cNvPr id="0" name=""/>
        <dsp:cNvSpPr/>
      </dsp:nvSpPr>
      <dsp:spPr>
        <a:xfrm>
          <a:off x="69139" y="23487"/>
          <a:ext cx="915985" cy="915985"/>
        </a:xfrm>
        <a:prstGeom prst="plus">
          <a:avLst>
            <a:gd name="adj" fmla="val 32810"/>
          </a:avLst>
        </a:prstGeom>
        <a:solidFill>
          <a:srgbClr val="990033"/>
        </a:solidFill>
        <a:ln w="25400" cap="flat" cmpd="sng" algn="ctr">
          <a:solidFill>
            <a:srgbClr val="990033"/>
          </a:solidFill>
          <a:prstDash val="solid"/>
        </a:ln>
        <a:effectLst/>
      </dsp:spPr>
      <dsp:style>
        <a:lnRef idx="2">
          <a:scrgbClr r="0" g="0" b="0"/>
        </a:lnRef>
        <a:fillRef idx="1">
          <a:scrgbClr r="0" g="0" b="0"/>
        </a:fillRef>
        <a:effectRef idx="0">
          <a:scrgbClr r="0" g="0" b="0"/>
        </a:effectRef>
        <a:fontRef idx="minor">
          <a:schemeClr val="lt1"/>
        </a:fontRef>
      </dsp:style>
    </dsp:sp>
    <dsp:sp modelId="{93B3F9F7-5DFA-451D-8AF0-C886EF2184F0}">
      <dsp:nvSpPr>
        <dsp:cNvPr id="0" name=""/>
        <dsp:cNvSpPr/>
      </dsp:nvSpPr>
      <dsp:spPr>
        <a:xfrm>
          <a:off x="7066475" y="330429"/>
          <a:ext cx="862103" cy="295435"/>
        </a:xfrm>
        <a:prstGeom prst="rect">
          <a:avLst/>
        </a:prstGeom>
        <a:solidFill>
          <a:srgbClr val="000099"/>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F821AC-F873-42D9-B901-FF50109FC337}">
      <dsp:nvSpPr>
        <dsp:cNvPr id="0" name=""/>
        <dsp:cNvSpPr/>
      </dsp:nvSpPr>
      <dsp:spPr>
        <a:xfrm>
          <a:off x="4032448" y="796050"/>
          <a:ext cx="538" cy="1979416"/>
        </a:xfrm>
        <a:prstGeom prst="line">
          <a:avLst/>
        </a:prstGeom>
        <a:noFill/>
        <a:ln w="25400" cap="flat" cmpd="sng" algn="ctr">
          <a:solidFill>
            <a:srgbClr val="000099"/>
          </a:solidFill>
          <a:prstDash val="solid"/>
        </a:ln>
        <a:effectLst/>
      </dsp:spPr>
      <dsp:style>
        <a:lnRef idx="2">
          <a:scrgbClr r="0" g="0" b="0"/>
        </a:lnRef>
        <a:fillRef idx="0">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0F44A1-54FE-446F-9390-56E51903722C}">
      <dsp:nvSpPr>
        <dsp:cNvPr id="0" name=""/>
        <dsp:cNvSpPr/>
      </dsp:nvSpPr>
      <dsp:spPr>
        <a:xfrm>
          <a:off x="0" y="2564"/>
          <a:ext cx="1275778" cy="637889"/>
        </a:xfrm>
        <a:prstGeom prst="roundRect">
          <a:avLst>
            <a:gd name="adj" fmla="val 10000"/>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45720" rIns="68580" bIns="45720" numCol="1" spcCol="1270" anchor="ctr" anchorCtr="0">
          <a:noAutofit/>
        </a:bodyPr>
        <a:lstStyle/>
        <a:p>
          <a:pPr lvl="0" algn="ctr" defTabSz="1600200">
            <a:lnSpc>
              <a:spcPct val="90000"/>
            </a:lnSpc>
            <a:spcBef>
              <a:spcPct val="0"/>
            </a:spcBef>
            <a:spcAft>
              <a:spcPct val="35000"/>
            </a:spcAft>
          </a:pPr>
          <a:r>
            <a:rPr lang="zh-CN" altLang="en-US" sz="3600" b="1" kern="1200" dirty="0" smtClean="0">
              <a:solidFill>
                <a:srgbClr val="1C1C1C"/>
              </a:solidFill>
              <a:latin typeface="微软雅黑" panose="020B0503020204020204" pitchFamily="34" charset="-122"/>
              <a:ea typeface="微软雅黑" panose="020B0503020204020204" pitchFamily="34" charset="-122"/>
            </a:rPr>
            <a:t>协议</a:t>
          </a:r>
          <a:endParaRPr lang="zh-CN" altLang="en-US" sz="3600" b="1" kern="1200" dirty="0">
            <a:solidFill>
              <a:srgbClr val="1C1C1C"/>
            </a:solidFill>
            <a:latin typeface="微软雅黑" panose="020B0503020204020204" pitchFamily="34" charset="-122"/>
            <a:ea typeface="微软雅黑" panose="020B0503020204020204" pitchFamily="34" charset="-122"/>
          </a:endParaRPr>
        </a:p>
      </dsp:txBody>
      <dsp:txXfrm>
        <a:off x="18683" y="21247"/>
        <a:ext cx="1238412" cy="600523"/>
      </dsp:txXfrm>
    </dsp:sp>
    <dsp:sp modelId="{5F5FD024-96B9-4927-9522-4793C366CCDF}">
      <dsp:nvSpPr>
        <dsp:cNvPr id="0" name=""/>
        <dsp:cNvSpPr/>
      </dsp:nvSpPr>
      <dsp:spPr>
        <a:xfrm>
          <a:off x="81857" y="640453"/>
          <a:ext cx="91440" cy="575746"/>
        </a:xfrm>
        <a:custGeom>
          <a:avLst/>
          <a:gdLst/>
          <a:ahLst/>
          <a:cxnLst/>
          <a:rect l="0" t="0" r="0" b="0"/>
          <a:pathLst>
            <a:path>
              <a:moveTo>
                <a:pt x="45720" y="0"/>
              </a:moveTo>
              <a:lnTo>
                <a:pt x="45720" y="575746"/>
              </a:lnTo>
              <a:lnTo>
                <a:pt x="102565" y="575746"/>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271D559-F991-45A8-861F-E02D43E73A7A}">
      <dsp:nvSpPr>
        <dsp:cNvPr id="0" name=""/>
        <dsp:cNvSpPr/>
      </dsp:nvSpPr>
      <dsp:spPr>
        <a:xfrm>
          <a:off x="184423" y="763897"/>
          <a:ext cx="3858525" cy="904603"/>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rgbClr val="1C1C1C"/>
              </a:solidFill>
              <a:latin typeface="微软雅黑" panose="020B0503020204020204" pitchFamily="34" charset="-122"/>
              <a:ea typeface="微软雅黑" panose="020B0503020204020204" pitchFamily="34" charset="-122"/>
            </a:rPr>
            <a:t>其实现保证了能够向上一层提供服务</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210918" y="790392"/>
        <a:ext cx="3805535" cy="851613"/>
      </dsp:txXfrm>
    </dsp:sp>
    <dsp:sp modelId="{D504C716-6CF6-4108-8639-E75778C37519}">
      <dsp:nvSpPr>
        <dsp:cNvPr id="0" name=""/>
        <dsp:cNvSpPr/>
      </dsp:nvSpPr>
      <dsp:spPr>
        <a:xfrm>
          <a:off x="81857" y="640453"/>
          <a:ext cx="91440" cy="1678937"/>
        </a:xfrm>
        <a:custGeom>
          <a:avLst/>
          <a:gdLst/>
          <a:ahLst/>
          <a:cxnLst/>
          <a:rect l="0" t="0" r="0" b="0"/>
          <a:pathLst>
            <a:path>
              <a:moveTo>
                <a:pt x="45720" y="0"/>
              </a:moveTo>
              <a:lnTo>
                <a:pt x="45720" y="1678937"/>
              </a:lnTo>
              <a:lnTo>
                <a:pt x="102565" y="1678937"/>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24467C9-0F5C-4007-8028-B7B163F30ADF}">
      <dsp:nvSpPr>
        <dsp:cNvPr id="0" name=""/>
        <dsp:cNvSpPr/>
      </dsp:nvSpPr>
      <dsp:spPr>
        <a:xfrm>
          <a:off x="184423" y="1864001"/>
          <a:ext cx="3858525" cy="910778"/>
        </a:xfrm>
        <a:prstGeom prst="roundRect">
          <a:avLst>
            <a:gd name="adj" fmla="val 10000"/>
          </a:avLst>
        </a:prstGeom>
        <a:solidFill>
          <a:schemeClr val="lt1">
            <a:alpha val="9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rgbClr val="1C1C1C"/>
              </a:solidFill>
              <a:latin typeface="微软雅黑" panose="020B0503020204020204" pitchFamily="34" charset="-122"/>
              <a:ea typeface="微软雅黑" panose="020B0503020204020204" pitchFamily="34" charset="-122"/>
            </a:rPr>
            <a:t>下层协议对上层实体是透明的 </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211099" y="1890677"/>
        <a:ext cx="3805173" cy="857426"/>
      </dsp:txXfrm>
    </dsp:sp>
    <dsp:sp modelId="{9164C2E8-A8A5-4BDA-B5B7-3599D5C7C4A2}">
      <dsp:nvSpPr>
        <dsp:cNvPr id="0" name=""/>
        <dsp:cNvSpPr/>
      </dsp:nvSpPr>
      <dsp:spPr>
        <a:xfrm>
          <a:off x="81857" y="640453"/>
          <a:ext cx="91440" cy="2612743"/>
        </a:xfrm>
        <a:custGeom>
          <a:avLst/>
          <a:gdLst/>
          <a:ahLst/>
          <a:cxnLst/>
          <a:rect l="0" t="0" r="0" b="0"/>
          <a:pathLst>
            <a:path>
              <a:moveTo>
                <a:pt x="45720" y="0"/>
              </a:moveTo>
              <a:lnTo>
                <a:pt x="45720" y="2612743"/>
              </a:lnTo>
              <a:lnTo>
                <a:pt x="102565" y="2612743"/>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A735DB-4E1F-4605-8178-66A449AC1BB2}">
      <dsp:nvSpPr>
        <dsp:cNvPr id="0" name=""/>
        <dsp:cNvSpPr/>
      </dsp:nvSpPr>
      <dsp:spPr>
        <a:xfrm>
          <a:off x="184423" y="2934252"/>
          <a:ext cx="3858525" cy="637889"/>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rgbClr val="1C1C1C"/>
              </a:solidFill>
              <a:latin typeface="微软雅黑" panose="020B0503020204020204" pitchFamily="34" charset="-122"/>
              <a:ea typeface="微软雅黑" panose="020B0503020204020204" pitchFamily="34" charset="-122"/>
            </a:rPr>
            <a:t>是“水平的”</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203106" y="2952935"/>
        <a:ext cx="3821159" cy="600523"/>
      </dsp:txXfrm>
    </dsp:sp>
    <dsp:sp modelId="{CF6D9EBE-6D4F-45DB-B63C-66E318350665}">
      <dsp:nvSpPr>
        <dsp:cNvPr id="0" name=""/>
        <dsp:cNvSpPr/>
      </dsp:nvSpPr>
      <dsp:spPr>
        <a:xfrm>
          <a:off x="4730460" y="2564"/>
          <a:ext cx="1275778" cy="637889"/>
        </a:xfrm>
        <a:prstGeom prst="roundRect">
          <a:avLst>
            <a:gd name="adj" fmla="val 10000"/>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1"/>
        </a:lnRef>
        <a:fillRef idx="2">
          <a:schemeClr val="accent1"/>
        </a:fillRef>
        <a:effectRef idx="1">
          <a:schemeClr val="accent1"/>
        </a:effectRef>
        <a:fontRef idx="minor">
          <a:schemeClr val="dk1"/>
        </a:fontRef>
      </dsp:style>
      <dsp:txBody>
        <a:bodyPr spcFirstLastPara="0" vert="horz" wrap="square" lIns="68580" tIns="45720" rIns="68580" bIns="45720" numCol="1" spcCol="1270" anchor="ctr" anchorCtr="0">
          <a:noAutofit/>
        </a:bodyPr>
        <a:lstStyle/>
        <a:p>
          <a:pPr lvl="0" algn="ctr" defTabSz="1600200">
            <a:lnSpc>
              <a:spcPct val="90000"/>
            </a:lnSpc>
            <a:spcBef>
              <a:spcPct val="0"/>
            </a:spcBef>
            <a:spcAft>
              <a:spcPct val="35000"/>
            </a:spcAft>
          </a:pPr>
          <a:r>
            <a:rPr lang="zh-CN" altLang="en-US" sz="3600" b="1" kern="1200" dirty="0" smtClean="0">
              <a:solidFill>
                <a:srgbClr val="1C1C1C"/>
              </a:solidFill>
              <a:latin typeface="微软雅黑" panose="020B0503020204020204" pitchFamily="34" charset="-122"/>
              <a:ea typeface="微软雅黑" panose="020B0503020204020204" pitchFamily="34" charset="-122"/>
            </a:rPr>
            <a:t>服务</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4749143" y="21247"/>
        <a:ext cx="1238412" cy="600523"/>
      </dsp:txXfrm>
    </dsp:sp>
    <dsp:sp modelId="{D73DB642-839F-46E4-BEFB-357122DA8B2A}">
      <dsp:nvSpPr>
        <dsp:cNvPr id="0" name=""/>
        <dsp:cNvSpPr/>
      </dsp:nvSpPr>
      <dsp:spPr>
        <a:xfrm>
          <a:off x="4858038" y="640453"/>
          <a:ext cx="247501" cy="612842"/>
        </a:xfrm>
        <a:custGeom>
          <a:avLst/>
          <a:gdLst/>
          <a:ahLst/>
          <a:cxnLst/>
          <a:rect l="0" t="0" r="0" b="0"/>
          <a:pathLst>
            <a:path>
              <a:moveTo>
                <a:pt x="0" y="0"/>
              </a:moveTo>
              <a:lnTo>
                <a:pt x="0" y="612842"/>
              </a:lnTo>
              <a:lnTo>
                <a:pt x="247501" y="612842"/>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6E8205-074B-465F-84D3-7E9C2A4B087A}">
      <dsp:nvSpPr>
        <dsp:cNvPr id="0" name=""/>
        <dsp:cNvSpPr/>
      </dsp:nvSpPr>
      <dsp:spPr>
        <a:xfrm>
          <a:off x="5105539" y="799925"/>
          <a:ext cx="3859934" cy="906740"/>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rgbClr val="1C1C1C"/>
              </a:solidFill>
              <a:latin typeface="微软雅黑" panose="020B0503020204020204" pitchFamily="34" charset="-122"/>
              <a:ea typeface="微软雅黑" panose="020B0503020204020204" pitchFamily="34" charset="-122"/>
            </a:rPr>
            <a:t>上层使用</a:t>
          </a:r>
          <a:r>
            <a:rPr lang="zh-CN" altLang="en-US" sz="2400" b="1" kern="1200" dirty="0" smtClean="0">
              <a:solidFill>
                <a:srgbClr val="C00000"/>
              </a:solidFill>
              <a:latin typeface="微软雅黑" panose="020B0503020204020204" pitchFamily="34" charset="-122"/>
              <a:ea typeface="微软雅黑" panose="020B0503020204020204" pitchFamily="34" charset="-122"/>
            </a:rPr>
            <a:t>服务原语</a:t>
          </a:r>
          <a:r>
            <a:rPr lang="zh-CN" altLang="en-US" sz="2400" b="1" kern="1200" dirty="0" smtClean="0">
              <a:solidFill>
                <a:srgbClr val="1C1C1C"/>
              </a:solidFill>
              <a:latin typeface="微软雅黑" panose="020B0503020204020204" pitchFamily="34" charset="-122"/>
              <a:ea typeface="微软雅黑" panose="020B0503020204020204" pitchFamily="34" charset="-122"/>
            </a:rPr>
            <a:t>获得下层所提供的服务。</a:t>
          </a:r>
        </a:p>
      </dsp:txBody>
      <dsp:txXfrm>
        <a:off x="5132097" y="826483"/>
        <a:ext cx="3806818" cy="853624"/>
      </dsp:txXfrm>
    </dsp:sp>
    <dsp:sp modelId="{C7786CBF-29A7-4F46-ACE1-BFAF2ED2906F}">
      <dsp:nvSpPr>
        <dsp:cNvPr id="0" name=""/>
        <dsp:cNvSpPr/>
      </dsp:nvSpPr>
      <dsp:spPr>
        <a:xfrm>
          <a:off x="4858038" y="640453"/>
          <a:ext cx="247501" cy="1681074"/>
        </a:xfrm>
        <a:custGeom>
          <a:avLst/>
          <a:gdLst/>
          <a:ahLst/>
          <a:cxnLst/>
          <a:rect l="0" t="0" r="0" b="0"/>
          <a:pathLst>
            <a:path>
              <a:moveTo>
                <a:pt x="0" y="0"/>
              </a:moveTo>
              <a:lnTo>
                <a:pt x="0" y="1681074"/>
              </a:lnTo>
              <a:lnTo>
                <a:pt x="247501" y="168107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FAB220-39C0-4BB8-B879-AEB1A16B7CDC}">
      <dsp:nvSpPr>
        <dsp:cNvPr id="0" name=""/>
        <dsp:cNvSpPr/>
      </dsp:nvSpPr>
      <dsp:spPr>
        <a:xfrm>
          <a:off x="5105539" y="1866138"/>
          <a:ext cx="3859934" cy="910778"/>
        </a:xfrm>
        <a:prstGeom prst="roundRect">
          <a:avLst>
            <a:gd name="adj" fmla="val 10000"/>
          </a:avLst>
        </a:prstGeom>
        <a:solidFill>
          <a:schemeClr val="lt1">
            <a:alpha val="90000"/>
            <a:hueOff val="0"/>
            <a:satOff val="0"/>
            <a:lumOff val="0"/>
            <a:alphaOff val="0"/>
          </a:schemeClr>
        </a:solidFill>
        <a:ln w="9525" cap="flat" cmpd="sng" algn="ctr">
          <a:solidFill>
            <a:srgbClr val="FFC000"/>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rgbClr val="1C1C1C"/>
              </a:solidFill>
              <a:latin typeface="微软雅黑" panose="020B0503020204020204" pitchFamily="34" charset="-122"/>
              <a:ea typeface="微软雅黑" panose="020B0503020204020204" pitchFamily="34" charset="-122"/>
            </a:rPr>
            <a:t>上层实体只能看见服务，无法看见下层的协议。</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5132215" y="1892814"/>
        <a:ext cx="3806582" cy="857426"/>
      </dsp:txXfrm>
    </dsp:sp>
    <dsp:sp modelId="{55CE1C91-58A7-4FD4-86EE-26622EF07DF3}">
      <dsp:nvSpPr>
        <dsp:cNvPr id="0" name=""/>
        <dsp:cNvSpPr/>
      </dsp:nvSpPr>
      <dsp:spPr>
        <a:xfrm>
          <a:off x="4858038" y="640453"/>
          <a:ext cx="267127" cy="2614880"/>
        </a:xfrm>
        <a:custGeom>
          <a:avLst/>
          <a:gdLst/>
          <a:ahLst/>
          <a:cxnLst/>
          <a:rect l="0" t="0" r="0" b="0"/>
          <a:pathLst>
            <a:path>
              <a:moveTo>
                <a:pt x="0" y="0"/>
              </a:moveTo>
              <a:lnTo>
                <a:pt x="0" y="2614880"/>
              </a:lnTo>
              <a:lnTo>
                <a:pt x="267127" y="2614880"/>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47B9FB-319E-4006-A500-0E79D539374F}">
      <dsp:nvSpPr>
        <dsp:cNvPr id="0" name=""/>
        <dsp:cNvSpPr/>
      </dsp:nvSpPr>
      <dsp:spPr>
        <a:xfrm>
          <a:off x="5125166" y="2936389"/>
          <a:ext cx="3859934" cy="637889"/>
        </a:xfrm>
        <a:prstGeom prst="roundRect">
          <a:avLst>
            <a:gd name="adj" fmla="val 10000"/>
          </a:avLst>
        </a:prstGeom>
        <a:solidFill>
          <a:schemeClr val="lt1">
            <a:alpha val="90000"/>
            <a:hueOff val="0"/>
            <a:satOff val="0"/>
            <a:lumOff val="0"/>
            <a:alphaOff val="0"/>
          </a:schemeClr>
        </a:solidFill>
        <a:ln w="9525" cap="flat" cmpd="sng" algn="ctr">
          <a:solidFill>
            <a:srgbClr val="D62A2E"/>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lvl="0" algn="l" defTabSz="1066800">
            <a:lnSpc>
              <a:spcPct val="90000"/>
            </a:lnSpc>
            <a:spcBef>
              <a:spcPct val="0"/>
            </a:spcBef>
            <a:spcAft>
              <a:spcPct val="35000"/>
            </a:spcAft>
          </a:pPr>
          <a:r>
            <a:rPr lang="zh-CN" altLang="en-US" sz="2400" b="1" kern="1200" dirty="0" smtClean="0">
              <a:solidFill>
                <a:srgbClr val="1C1C1C"/>
              </a:solidFill>
              <a:latin typeface="微软雅黑" panose="020B0503020204020204" pitchFamily="34" charset="-122"/>
              <a:ea typeface="微软雅黑" panose="020B0503020204020204" pitchFamily="34" charset="-122"/>
            </a:rPr>
            <a:t>是“垂直的”</a:t>
          </a:r>
          <a:endParaRPr lang="zh-CN" altLang="en-US" sz="2400" b="1" kern="1200" dirty="0">
            <a:solidFill>
              <a:srgbClr val="1C1C1C"/>
            </a:solidFill>
            <a:latin typeface="微软雅黑" panose="020B0503020204020204" pitchFamily="34" charset="-122"/>
            <a:ea typeface="微软雅黑" panose="020B0503020204020204" pitchFamily="34" charset="-122"/>
          </a:endParaRPr>
        </a:p>
      </dsp:txBody>
      <dsp:txXfrm>
        <a:off x="5143849" y="2955072"/>
        <a:ext cx="3822568" cy="600523"/>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1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751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defRPr>
            </a:lvl1pPr>
          </a:lstStyle>
          <a:p>
            <a:pPr>
              <a:defRPr/>
            </a:pPr>
            <a:endParaRPr lang="en-US" altLang="zh-CN"/>
          </a:p>
        </p:txBody>
      </p:sp>
      <p:sp>
        <p:nvSpPr>
          <p:cNvPr id="727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51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defRPr>
            </a:lvl1pPr>
          </a:lstStyle>
          <a:p>
            <a:pPr>
              <a:defRPr/>
            </a:pPr>
            <a:endParaRPr lang="en-US" altLang="zh-CN"/>
          </a:p>
        </p:txBody>
      </p:sp>
      <p:sp>
        <p:nvSpPr>
          <p:cNvPr id="1751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05F9487D-837D-43F3-A721-AEAF176FAF56}" type="slidenum">
              <a:rPr lang="en-US" altLang="zh-CN"/>
              <a:pPr>
                <a:defRPr/>
              </a:pPr>
              <a:t>‹#›</a:t>
            </a:fld>
            <a:endParaRPr lang="en-US" altLang="zh-CN"/>
          </a:p>
        </p:txBody>
      </p:sp>
    </p:spTree>
    <p:extLst>
      <p:ext uri="{BB962C8B-B14F-4D97-AF65-F5344CB8AC3E}">
        <p14:creationId xmlns:p14="http://schemas.microsoft.com/office/powerpoint/2010/main" val="3046258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1</a:t>
            </a:fld>
            <a:endParaRPr lang="en-US" altLang="zh-CN"/>
          </a:p>
        </p:txBody>
      </p:sp>
    </p:spTree>
    <p:extLst>
      <p:ext uri="{BB962C8B-B14F-4D97-AF65-F5344CB8AC3E}">
        <p14:creationId xmlns:p14="http://schemas.microsoft.com/office/powerpoint/2010/main" val="2159380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ChangeArrowheads="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A589D8E-E898-4EBD-9A53-C5BE8D93D7F1}" type="slidenum">
              <a:rPr lang="en-US" altLang="zh-CN"/>
              <a:pPr/>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F4D7D5D-B691-4841-949F-7C8C97E04D4B}" type="slidenum">
              <a:rPr lang="en-US" altLang="zh-CN"/>
              <a:pPr/>
              <a:t>3</a:t>
            </a:fld>
            <a:endParaRPr lang="en-US" altLang="zh-CN"/>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EBE92E-046D-40DD-8DE2-9EA50EA4F212}" type="slidenum">
              <a:rPr lang="en-US" altLang="zh-CN"/>
              <a:pPr/>
              <a:t>4</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现代电信是从</a:t>
            </a:r>
            <a:r>
              <a:rPr lang="en-US" altLang="zh-CN" dirty="0" smtClean="0"/>
              <a:t>1876</a:t>
            </a:r>
            <a:r>
              <a:rPr lang="zh-CN" altLang="en-US" dirty="0" smtClean="0"/>
              <a:t>年贝尔发明电话开始的，在之后的</a:t>
            </a:r>
            <a:r>
              <a:rPr lang="en-US" altLang="zh-CN" dirty="0" smtClean="0"/>
              <a:t>100</a:t>
            </a:r>
            <a:r>
              <a:rPr lang="zh-CN" altLang="en-US" dirty="0" smtClean="0"/>
              <a:t>多年的时间里，真正意义上的电信网络主要是电话网。</a:t>
            </a:r>
            <a:endParaRPr lang="en-US" altLang="zh-CN" dirty="0" smtClean="0"/>
          </a:p>
          <a:p>
            <a:r>
              <a:rPr lang="zh-CN" altLang="en-US" dirty="0" smtClean="0"/>
              <a:t>有线电视网最早出现在</a:t>
            </a:r>
            <a:r>
              <a:rPr lang="en-US" altLang="zh-CN" dirty="0" smtClean="0"/>
              <a:t>20</a:t>
            </a:r>
            <a:r>
              <a:rPr lang="zh-CN" altLang="en-US" dirty="0" smtClean="0"/>
              <a:t>世纪</a:t>
            </a:r>
            <a:r>
              <a:rPr lang="en-US" altLang="zh-CN" dirty="0" smtClean="0"/>
              <a:t>40</a:t>
            </a:r>
            <a:r>
              <a:rPr lang="zh-CN" altLang="en-US" dirty="0" smtClean="0"/>
              <a:t>年代的美国。</a:t>
            </a:r>
            <a:endParaRPr lang="en-US" altLang="zh-CN" dirty="0" smtClean="0"/>
          </a:p>
          <a:p>
            <a:r>
              <a:rPr lang="zh-CN" altLang="en-US" dirty="0" smtClean="0"/>
              <a:t>计算机网络诞生于</a:t>
            </a:r>
            <a:r>
              <a:rPr lang="en-US" altLang="zh-CN" dirty="0" smtClean="0"/>
              <a:t>1969</a:t>
            </a:r>
            <a:r>
              <a:rPr lang="zh-CN" altLang="en-US" dirty="0" smtClean="0"/>
              <a:t>年。</a:t>
            </a:r>
            <a:endParaRPr lang="en-US" altLang="zh-CN" dirty="0" smtClean="0"/>
          </a:p>
          <a:p>
            <a:r>
              <a:rPr lang="zh-CN" altLang="en-US" dirty="0" smtClean="0"/>
              <a:t>三大网络分工明确，各有所长，但随着计算机技术的发展，出现了逐渐融合的趋势。</a:t>
            </a:r>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5</a:t>
            </a:fld>
            <a:endParaRPr lang="en-US" altLang="zh-CN"/>
          </a:p>
        </p:txBody>
      </p:sp>
    </p:spTree>
    <p:extLst>
      <p:ext uri="{BB962C8B-B14F-4D97-AF65-F5344CB8AC3E}">
        <p14:creationId xmlns:p14="http://schemas.microsoft.com/office/powerpoint/2010/main" val="3216905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随着技术的发展，电信网络和有线电视网络都逐渐融入了现代计算机网络的技术，扩大了原有的服务范围；而计算机网络也能够向用户提供电话通信、视频通信以及传送视频节目的服务。从理论上讲，把上述三种网络融合成一种网络就能够提供所有的上述服务，这就是很早以前就提出来的“三网融合”。然而事实并不如此简单，因为这涉及到各方面的经济利益和行政管辖权的问题。</a:t>
            </a:r>
            <a:endParaRPr lang="en-US" altLang="zh-CN" dirty="0" smtClean="0"/>
          </a:p>
          <a:p>
            <a:r>
              <a:rPr lang="zh-CN" altLang="en-US" dirty="0" smtClean="0"/>
              <a:t>直观表现就是：传统的电信运营商（移动、联通、电信）和传统的有线电视运营商（广电）都提供了计算机上网服务，而计算机网络也可以进行语音通话、观看视频节目。</a:t>
            </a:r>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6</a:t>
            </a:fld>
            <a:endParaRPr lang="en-US" altLang="zh-CN"/>
          </a:p>
        </p:txBody>
      </p:sp>
    </p:spTree>
    <p:extLst>
      <p:ext uri="{BB962C8B-B14F-4D97-AF65-F5344CB8AC3E}">
        <p14:creationId xmlns:p14="http://schemas.microsoft.com/office/powerpoint/2010/main" val="3216905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7</a:t>
            </a:fld>
            <a:endParaRPr lang="en-US" altLang="zh-CN"/>
          </a:p>
        </p:txBody>
      </p:sp>
    </p:spTree>
    <p:extLst>
      <p:ext uri="{BB962C8B-B14F-4D97-AF65-F5344CB8AC3E}">
        <p14:creationId xmlns:p14="http://schemas.microsoft.com/office/powerpoint/2010/main" val="3216905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8</a:t>
            </a:fld>
            <a:endParaRPr lang="en-US" altLang="zh-CN"/>
          </a:p>
        </p:txBody>
      </p:sp>
    </p:spTree>
    <p:extLst>
      <p:ext uri="{BB962C8B-B14F-4D97-AF65-F5344CB8AC3E}">
        <p14:creationId xmlns:p14="http://schemas.microsoft.com/office/powerpoint/2010/main" val="3216905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EBE92E-046D-40DD-8DE2-9EA50EA4F212}" type="slidenum">
              <a:rPr lang="en-US" altLang="zh-CN"/>
              <a:pPr/>
              <a:t>9</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439287A-13A7-4C2E-BB4F-A566BBF9A85F}" type="slidenum">
              <a:rPr lang="en-US" altLang="zh-CN"/>
              <a:pPr/>
              <a:t>10</a:t>
            </a:fld>
            <a:endParaRPr lang="en-US" altLang="zh-CN"/>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439287A-13A7-4C2E-BB4F-A566BBF9A85F}" type="slidenum">
              <a:rPr lang="en-US" altLang="zh-CN"/>
              <a:pPr/>
              <a:t>11</a:t>
            </a:fld>
            <a:endParaRPr lang="en-US" altLang="zh-CN"/>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980D037-3055-4589-AA4F-3333C4125E49}" type="slidenum">
              <a:rPr lang="en-US" altLang="zh-CN"/>
              <a:pPr/>
              <a:t>12</a:t>
            </a:fld>
            <a:endParaRPr lang="en-US" altLang="zh-CN"/>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F12D5AE-D3EF-4900-B1FD-D9FFC0B5F038}" type="slidenum">
              <a:rPr lang="en-US" altLang="zh-CN"/>
              <a:pPr/>
              <a:t>13</a:t>
            </a:fld>
            <a:endParaRPr lang="en-US" altLang="zh-CN"/>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UCLA</a:t>
            </a:r>
            <a:r>
              <a:rPr lang="zh-CN" altLang="en-US" dirty="0" smtClean="0"/>
              <a:t>：加利福尼亚大学洛杉矶分校；</a:t>
            </a:r>
            <a:r>
              <a:rPr lang="en-US" altLang="zh-CN" dirty="0" smtClean="0"/>
              <a:t>UCSB</a:t>
            </a:r>
            <a:r>
              <a:rPr lang="zh-CN" altLang="en-US" dirty="0" smtClean="0"/>
              <a:t>：加利福尼亚大学圣塔芭芭拉分校；</a:t>
            </a:r>
            <a:r>
              <a:rPr lang="en-US" altLang="zh-CN" dirty="0" smtClean="0"/>
              <a:t>SRI</a:t>
            </a:r>
            <a:r>
              <a:rPr lang="zh-CN" altLang="en-US" dirty="0" smtClean="0"/>
              <a:t>：斯坦福研究院；</a:t>
            </a:r>
            <a:r>
              <a:rPr lang="en-US" altLang="zh-CN" dirty="0" smtClean="0"/>
              <a:t>UTAH</a:t>
            </a:r>
            <a:r>
              <a:rPr lang="zh-CN" altLang="en-US" dirty="0" smtClean="0"/>
              <a:t>：犹他大学</a:t>
            </a:r>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14</a:t>
            </a:fld>
            <a:endParaRPr lang="en-US" altLang="zh-CN"/>
          </a:p>
        </p:txBody>
      </p:sp>
    </p:spTree>
    <p:extLst>
      <p:ext uri="{BB962C8B-B14F-4D97-AF65-F5344CB8AC3E}">
        <p14:creationId xmlns:p14="http://schemas.microsoft.com/office/powerpoint/2010/main" val="9547019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dirty="0" smtClean="0"/>
              <a:t>移动、联通、电信都是互联网服务提供者 </a:t>
            </a:r>
            <a:r>
              <a:rPr lang="en-US" altLang="zh-CN" sz="1200" b="0" dirty="0" smtClean="0"/>
              <a:t>ISP</a:t>
            </a:r>
            <a:endParaRPr lang="zh-CN" altLang="en-US" b="0"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16</a:t>
            </a:fld>
            <a:endParaRPr lang="en-US" altLang="zh-CN"/>
          </a:p>
        </p:txBody>
      </p:sp>
    </p:spTree>
    <p:extLst>
      <p:ext uri="{BB962C8B-B14F-4D97-AF65-F5344CB8AC3E}">
        <p14:creationId xmlns:p14="http://schemas.microsoft.com/office/powerpoint/2010/main" val="2863162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多层次 </a:t>
            </a:r>
            <a:r>
              <a:rPr lang="en-US" altLang="zh-CN" dirty="0" smtClean="0"/>
              <a:t>ISP </a:t>
            </a:r>
            <a:r>
              <a:rPr lang="zh-CN" altLang="en-US" dirty="0" smtClean="0"/>
              <a:t>结构的互联网示意图</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solidFill>
                  <a:srgbClr val="C00000"/>
                </a:solidFill>
              </a:rPr>
              <a:t>互联网交换点 </a:t>
            </a:r>
            <a:r>
              <a:rPr lang="en-US" altLang="zh-CN" dirty="0" smtClean="0">
                <a:solidFill>
                  <a:srgbClr val="C00000"/>
                </a:solidFill>
              </a:rPr>
              <a:t>IXP </a:t>
            </a:r>
            <a:r>
              <a:rPr lang="en-US" altLang="zh-CN" dirty="0" smtClean="0"/>
              <a:t>(Internet </a:t>
            </a:r>
            <a:r>
              <a:rPr lang="en-US" altLang="zh-CN" dirty="0" err="1" smtClean="0"/>
              <a:t>eXchange</a:t>
            </a:r>
            <a:r>
              <a:rPr lang="en-US" altLang="zh-CN" dirty="0" smtClean="0"/>
              <a:t> Point)</a:t>
            </a:r>
            <a:r>
              <a:rPr lang="zh-CN" altLang="en-US" dirty="0" smtClean="0"/>
              <a:t>：允许两个网络直接相连并快速交换分组。</a:t>
            </a:r>
            <a:endParaRPr lang="en-US" altLang="zh-CN"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smtClean="0">
                <a:solidFill>
                  <a:srgbClr val="C00000"/>
                </a:solidFill>
              </a:rPr>
              <a:t>内容提供者 </a:t>
            </a:r>
            <a:r>
              <a:rPr lang="en-US" altLang="zh-CN" dirty="0" smtClean="0"/>
              <a:t>(Content Provider)</a:t>
            </a:r>
            <a:r>
              <a:rPr lang="zh-CN" altLang="en-US" dirty="0" smtClean="0"/>
              <a:t>：在互联网上向所有用户提供视频等内容的公司。</a:t>
            </a:r>
            <a:r>
              <a:rPr lang="zh-CN" altLang="en-US" dirty="0" smtClean="0">
                <a:solidFill>
                  <a:srgbClr val="C00000"/>
                </a:solidFill>
              </a:rPr>
              <a:t>不向</a:t>
            </a:r>
            <a:r>
              <a:rPr lang="zh-CN" altLang="en-US" dirty="0" smtClean="0">
                <a:solidFill>
                  <a:srgbClr val="0000CC"/>
                </a:solidFill>
              </a:rPr>
              <a:t>用户提供互联网的转接服务。</a:t>
            </a:r>
          </a:p>
          <a:p>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17</a:t>
            </a:fld>
            <a:endParaRPr lang="en-US" altLang="zh-CN"/>
          </a:p>
        </p:txBody>
      </p:sp>
    </p:spTree>
    <p:extLst>
      <p:ext uri="{BB962C8B-B14F-4D97-AF65-F5344CB8AC3E}">
        <p14:creationId xmlns:p14="http://schemas.microsoft.com/office/powerpoint/2010/main" val="2244707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56CBE6B-7372-4BDB-8577-F183E96EC643}" type="slidenum">
              <a:rPr lang="en-US" altLang="zh-CN"/>
              <a:pPr/>
              <a:t>18</a:t>
            </a:fld>
            <a:endParaRPr lang="en-US" altLang="zh-CN"/>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19</a:t>
            </a:fld>
            <a:endParaRPr lang="en-US" altLang="zh-CN"/>
          </a:p>
        </p:txBody>
      </p:sp>
    </p:spTree>
    <p:extLst>
      <p:ext uri="{BB962C8B-B14F-4D97-AF65-F5344CB8AC3E}">
        <p14:creationId xmlns:p14="http://schemas.microsoft.com/office/powerpoint/2010/main" val="378461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20</a:t>
            </a:fld>
            <a:endParaRPr lang="en-US" altLang="zh-CN"/>
          </a:p>
        </p:txBody>
      </p:sp>
    </p:spTree>
    <p:extLst>
      <p:ext uri="{BB962C8B-B14F-4D97-AF65-F5344CB8AC3E}">
        <p14:creationId xmlns:p14="http://schemas.microsoft.com/office/powerpoint/2010/main" val="2162073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EBE92E-046D-40DD-8DE2-9EA50EA4F212}" type="slidenum">
              <a:rPr lang="en-US" altLang="zh-CN"/>
              <a:pPr/>
              <a:t>21</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EB02EF-8D8B-4D5D-87A9-C0AFEBE34945}" type="slidenum">
              <a:rPr lang="en-US" altLang="zh-CN"/>
              <a:pPr/>
              <a:t>22</a:t>
            </a:fld>
            <a:endParaRPr lang="en-US" altLang="zh-CN"/>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itchFamily="2" charset="2"/>
              <a:buNone/>
            </a:pPr>
            <a:endParaRPr lang="en-US"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6AC0D1F-37A9-4FD9-AF18-5820A2161853}" type="slidenum">
              <a:rPr lang="en-US" altLang="zh-CN"/>
              <a:pPr/>
              <a:t>23</a:t>
            </a:fld>
            <a:endParaRPr lang="en-US" altLang="zh-CN"/>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06B91FA-E7E6-4A6D-ADEC-27B6D0154D83}" type="slidenum">
              <a:rPr lang="en-US" altLang="zh-CN"/>
              <a:pPr/>
              <a:t>24</a:t>
            </a:fld>
            <a:endParaRPr lang="en-US" altLang="zh-CN"/>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E97F619-8457-4F44-9407-B47125BF6618}" type="slidenum">
              <a:rPr lang="en-US" altLang="zh-CN"/>
              <a:pPr/>
              <a:t>25</a:t>
            </a:fld>
            <a:endParaRPr lang="en-US" altLang="zh-CN"/>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smtClean="0"/>
              <a:t>进程是正在运行的程序的实例（</a:t>
            </a:r>
            <a:r>
              <a:rPr lang="en-US" altLang="zh-CN" dirty="0" smtClean="0"/>
              <a:t>an instance of a computer program that is being executed</a:t>
            </a:r>
            <a:r>
              <a:rPr lang="zh-CN" altLang="en-US" dirty="0" smtClean="0"/>
              <a:t>），也就是运行中的程序。</a:t>
            </a:r>
            <a:endParaRPr lang="en-US" altLang="zh-CN" dirty="0" smtClean="0"/>
          </a:p>
          <a:p>
            <a:r>
              <a:rPr lang="zh-CN" altLang="en-US" dirty="0" smtClean="0"/>
              <a:t>客户和服务器既指相关进程，又指进程所在的计算机。</a:t>
            </a:r>
            <a:endParaRPr lang="en-US" altLang="zh-CN" dirty="0" smtClean="0"/>
          </a:p>
          <a:p>
            <a:endParaRPr lang="en-US"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E97F619-8457-4F44-9407-B47125BF6618}" type="slidenum">
              <a:rPr lang="en-US" altLang="zh-CN"/>
              <a:pPr/>
              <a:t>26</a:t>
            </a:fld>
            <a:endParaRPr lang="en-US" altLang="zh-CN"/>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smtClean="0"/>
              <a:t>P2P</a:t>
            </a:r>
            <a:r>
              <a:rPr lang="zh-CN" altLang="en-US" dirty="0" smtClean="0"/>
              <a:t>可以形容为“人人为我，我为人人”的方式。</a:t>
            </a:r>
            <a:r>
              <a:rPr lang="en-US" altLang="zh-CN" dirty="0" smtClean="0"/>
              <a:t>peer</a:t>
            </a:r>
            <a:r>
              <a:rPr lang="zh-CN" altLang="en-US" dirty="0" smtClean="0"/>
              <a:t>：同龄人；同辈；身份</a:t>
            </a:r>
            <a:r>
              <a:rPr lang="en-US" altLang="zh-CN" dirty="0" smtClean="0"/>
              <a:t>(</a:t>
            </a:r>
            <a:r>
              <a:rPr lang="zh-CN" altLang="en-US" dirty="0" smtClean="0"/>
              <a:t>或地位</a:t>
            </a:r>
            <a:r>
              <a:rPr lang="en-US" altLang="zh-CN" dirty="0" smtClean="0"/>
              <a:t>)</a:t>
            </a:r>
            <a:r>
              <a:rPr lang="zh-CN" altLang="en-US" dirty="0" smtClean="0"/>
              <a:t>相同的人。</a:t>
            </a:r>
            <a:endParaRPr lang="en-US" altLang="zh-CN" dirty="0" smtClean="0"/>
          </a:p>
          <a:p>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5B9AA45-F82B-486B-A2C7-E4F5AE8AD117}" type="slidenum">
              <a:rPr lang="en-US" altLang="zh-CN"/>
              <a:pPr/>
              <a:t>27</a:t>
            </a:fld>
            <a:endParaRPr lang="en-US" altLang="zh-CN"/>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C142D4A-6E2C-43B0-AB23-8E05CE6AB7C8}" type="slidenum">
              <a:rPr lang="en-US" altLang="zh-CN"/>
              <a:pPr/>
              <a:t>28</a:t>
            </a:fld>
            <a:endParaRPr lang="en-US" altLang="zh-CN"/>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6149591-407F-4B12-8DD8-8BFAD001A388}" type="slidenum">
              <a:rPr lang="en-US" altLang="zh-CN"/>
              <a:pPr/>
              <a:t>29</a:t>
            </a:fld>
            <a:endParaRPr lang="en-US" altLang="zh-CN"/>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6149591-407F-4B12-8DD8-8BFAD001A388}" type="slidenum">
              <a:rPr lang="en-US" altLang="zh-CN"/>
              <a:pPr/>
              <a:t>30</a:t>
            </a:fld>
            <a:endParaRPr lang="en-US" altLang="zh-CN"/>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6149591-407F-4B12-8DD8-8BFAD001A388}" type="slidenum">
              <a:rPr lang="en-US" altLang="zh-CN"/>
              <a:pPr/>
              <a:t>31</a:t>
            </a:fld>
            <a:endParaRPr lang="en-US" altLang="zh-CN"/>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470E508-58D2-4346-9956-524B38BBE746}" type="slidenum">
              <a:rPr lang="en-US" altLang="zh-CN"/>
              <a:pPr/>
              <a:t>32</a:t>
            </a:fld>
            <a:endParaRPr lang="en-US" altLang="zh-CN"/>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Tx/>
              <a:buNone/>
            </a:pPr>
            <a:endParaRPr lang="en-US"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470E508-58D2-4346-9956-524B38BBE746}" type="slidenum">
              <a:rPr lang="en-US" altLang="zh-CN"/>
              <a:pPr/>
              <a:t>33</a:t>
            </a:fld>
            <a:endParaRPr lang="en-US" altLang="zh-CN"/>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Tx/>
              <a:buNone/>
            </a:pPr>
            <a:endParaRPr lang="en-US"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470E508-58D2-4346-9956-524B38BBE746}" type="slidenum">
              <a:rPr lang="en-US" altLang="zh-CN"/>
              <a:pPr/>
              <a:t>34</a:t>
            </a:fld>
            <a:endParaRPr lang="en-US" altLang="zh-CN"/>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FontTx/>
              <a:buNone/>
            </a:pPr>
            <a:endParaRPr lang="en-US"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3BDE93D-0B33-4D07-ABC6-488E8E6E6A27}" type="slidenum">
              <a:rPr lang="en-US" altLang="zh-CN">
                <a:solidFill>
                  <a:prstClr val="black"/>
                </a:solidFill>
              </a:rPr>
              <a:pPr/>
              <a:t>35</a:t>
            </a:fld>
            <a:endParaRPr lang="en-US" altLang="zh-CN">
              <a:solidFill>
                <a:prstClr val="black"/>
              </a:solidFill>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770EA51-9F4A-43B1-B55F-4655A4180179}" type="slidenum">
              <a:rPr lang="en-US" altLang="zh-CN"/>
              <a:pPr/>
              <a:t>36</a:t>
            </a:fld>
            <a:endParaRPr lang="en-US" altLang="zh-CN"/>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144C4A0-0159-4381-9D2F-58F0DFBA5F5E}" type="slidenum">
              <a:rPr lang="en-US" altLang="zh-CN"/>
              <a:pPr/>
              <a:t>37</a:t>
            </a:fld>
            <a:endParaRPr lang="en-US" altLang="zh-CN"/>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10000"/>
              </a:spcBef>
            </a:pPr>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D458BBC-343F-4157-89E4-B95EB32288D2}" type="slidenum">
              <a:rPr lang="en-US" altLang="zh-CN"/>
              <a:pPr/>
              <a:t>38</a:t>
            </a:fld>
            <a:endParaRPr lang="en-US" altLang="zh-CN"/>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C882D7A-7F26-45AB-B18F-F8AF4A61F3E2}" type="slidenum">
              <a:rPr lang="en-US" altLang="zh-CN"/>
              <a:pPr/>
              <a:t>39</a:t>
            </a:fld>
            <a:endParaRPr lang="en-US" altLang="zh-CN"/>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5FA2E5F-77AC-43A8-99CB-61DAC760801B}" type="slidenum">
              <a:rPr lang="en-US" altLang="zh-CN"/>
              <a:pPr/>
              <a:t>40</a:t>
            </a:fld>
            <a:endParaRPr lang="en-US" altLang="zh-CN"/>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C882D7A-7F26-45AB-B18F-F8AF4A61F3E2}" type="slidenum">
              <a:rPr lang="en-US" altLang="zh-CN"/>
              <a:pPr/>
              <a:t>41</a:t>
            </a:fld>
            <a:endParaRPr lang="en-US" altLang="zh-CN"/>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t>要分别从“一组分组”和“单个分组”这两个角度去看待分组在互联网中的转发过程。</a:t>
            </a:r>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0C8064B-06A0-41DB-90FD-615DE98FC127}" type="slidenum">
              <a:rPr lang="en-US" altLang="zh-CN"/>
              <a:pPr/>
              <a:t>42</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0C8064B-06A0-41DB-90FD-615DE98FC127}" type="slidenum">
              <a:rPr lang="en-US" altLang="zh-CN"/>
              <a:pPr/>
              <a:t>43</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4BC89DF-7868-4C1D-921B-F849A042ADE3}" type="slidenum">
              <a:rPr lang="en-US" altLang="zh-CN"/>
              <a:pPr/>
              <a:t>44</a:t>
            </a:fld>
            <a:endParaRPr lang="en-US" altLang="zh-CN"/>
          </a:p>
        </p:txBody>
      </p:sp>
      <p:sp>
        <p:nvSpPr>
          <p:cNvPr id="106499"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ln/>
        </p:spPr>
        <p:txBody>
          <a:bodyPr/>
          <a:lstStyle/>
          <a:p>
            <a:pPr eaLnBrk="1" hangingPunct="1">
              <a:defRPr/>
            </a:pPr>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8F13DBE-A0E1-4EAA-8590-D646AAB66EAA}" type="slidenum">
              <a:rPr lang="en-US" altLang="zh-CN"/>
              <a:pPr/>
              <a:t>45</a:t>
            </a:fld>
            <a:endParaRPr lang="en-US" altLang="zh-CN"/>
          </a:p>
        </p:txBody>
      </p:sp>
      <p:sp>
        <p:nvSpPr>
          <p:cNvPr id="107523"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ln/>
        </p:spPr>
        <p:txBody>
          <a:bodyPr/>
          <a:lstStyle/>
          <a:p>
            <a:pPr marL="228600" indent="-228600" eaLnBrk="1" hangingPunct="1">
              <a:defRPr/>
            </a:pPr>
            <a:endParaRPr lang="zh-CN" altLang="en-US" strike="noStrike" dirty="0">
              <a:solidFill>
                <a:srgbClr val="FF0000"/>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8F13DBE-A0E1-4EAA-8590-D646AAB66EAA}" type="slidenum">
              <a:rPr lang="en-US" altLang="zh-CN"/>
              <a:pPr/>
              <a:t>46</a:t>
            </a:fld>
            <a:endParaRPr lang="en-US" altLang="zh-CN"/>
          </a:p>
        </p:txBody>
      </p:sp>
      <p:sp>
        <p:nvSpPr>
          <p:cNvPr id="107523"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ln/>
        </p:spPr>
        <p:txBody>
          <a:bodyPr/>
          <a:lstStyle/>
          <a:p>
            <a:pPr marL="228600" indent="-228600" eaLnBrk="1" hangingPunct="1">
              <a:defRPr/>
            </a:pPr>
            <a:r>
              <a:rPr lang="zh-CN" altLang="en-US" strike="noStrike" dirty="0" smtClean="0">
                <a:solidFill>
                  <a:srgbClr val="1C1C1C"/>
                </a:solidFill>
              </a:rPr>
              <a:t>信道</a:t>
            </a:r>
            <a:r>
              <a:rPr lang="en-US" altLang="zh-CN" strike="noStrike" dirty="0" smtClean="0">
                <a:solidFill>
                  <a:srgbClr val="1C1C1C"/>
                </a:solidFill>
              </a:rPr>
              <a:t>:</a:t>
            </a:r>
            <a:r>
              <a:rPr lang="zh-CN" altLang="en-US" strike="noStrike" dirty="0" smtClean="0">
                <a:solidFill>
                  <a:srgbClr val="1C1C1C"/>
                </a:solidFill>
              </a:rPr>
              <a:t>数据通路</a:t>
            </a:r>
            <a:endParaRPr lang="zh-CN" altLang="en-US" strike="noStrike" dirty="0">
              <a:solidFill>
                <a:srgbClr val="1C1C1C"/>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EBE92E-046D-40DD-8DE2-9EA50EA4F212}" type="slidenum">
              <a:rPr lang="en-US" altLang="zh-CN"/>
              <a:pPr/>
              <a:t>47</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FF90DCD-2CC7-413C-B3C1-09EEF0B7C334}" type="slidenum">
              <a:rPr lang="en-US" altLang="zh-CN"/>
              <a:pPr/>
              <a:t>48</a:t>
            </a:fld>
            <a:endParaRPr lang="en-US" altLang="zh-CN"/>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FF90DCD-2CC7-413C-B3C1-09EEF0B7C334}" type="slidenum">
              <a:rPr lang="en-US" altLang="zh-CN"/>
              <a:pPr/>
              <a:t>49</a:t>
            </a:fld>
            <a:endParaRPr lang="en-US" altLang="zh-CN"/>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FF90DCD-2CC7-413C-B3C1-09EEF0B7C334}" type="slidenum">
              <a:rPr lang="en-US" altLang="zh-CN"/>
              <a:pPr/>
              <a:t>50</a:t>
            </a:fld>
            <a:endParaRPr lang="en-US" altLang="zh-CN"/>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FF90DCD-2CC7-413C-B3C1-09EEF0B7C334}" type="slidenum">
              <a:rPr lang="en-US" altLang="zh-CN"/>
              <a:pPr/>
              <a:t>51</a:t>
            </a:fld>
            <a:endParaRPr lang="en-US" altLang="zh-CN"/>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EBE92E-046D-40DD-8DE2-9EA50EA4F212}" type="slidenum">
              <a:rPr lang="en-US" altLang="zh-CN"/>
              <a:pPr/>
              <a:t>52</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D92B604-36D3-4E36-91EF-DF085E76035A}" type="slidenum">
              <a:rPr lang="en-US" altLang="zh-CN"/>
              <a:pPr/>
              <a:t>53</a:t>
            </a:fld>
            <a:endParaRPr lang="en-US" altLang="zh-CN"/>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D92B604-36D3-4E36-91EF-DF085E76035A}" type="slidenum">
              <a:rPr lang="en-US" altLang="zh-CN"/>
              <a:pPr/>
              <a:t>54</a:t>
            </a:fld>
            <a:endParaRPr lang="en-US" altLang="zh-CN"/>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D92B604-36D3-4E36-91EF-DF085E76035A}" type="slidenum">
              <a:rPr lang="en-US" altLang="zh-CN"/>
              <a:pPr/>
              <a:t>55</a:t>
            </a:fld>
            <a:endParaRPr lang="en-US" altLang="zh-CN"/>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EBE92E-046D-40DD-8DE2-9EA50EA4F212}" type="slidenum">
              <a:rPr lang="en-US" altLang="zh-CN"/>
              <a:pPr/>
              <a:t>56</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9882A5A-06E0-4228-87C3-4446C3A1D281}" type="slidenum">
              <a:rPr lang="en-US" altLang="zh-CN"/>
              <a:pPr/>
              <a:t>57</a:t>
            </a:fld>
            <a:endParaRPr lang="en-US" altLang="zh-CN"/>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b="0"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B9647CB-CB1B-475A-B6C8-E4E03FEA0E3D}" type="slidenum">
              <a:rPr lang="en-US" altLang="zh-CN"/>
              <a:pPr/>
              <a:t>58</a:t>
            </a:fld>
            <a:endParaRPr lang="en-US" altLang="zh-CN"/>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609600" indent="-609600" eaLnBrk="1" hangingPunct="1">
              <a:lnSpc>
                <a:spcPct val="90000"/>
              </a:lnSpc>
              <a:buFont typeface="Wingdings" pitchFamily="2" charset="2"/>
              <a:buNone/>
            </a:pPr>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B9647CB-CB1B-475A-B6C8-E4E03FEA0E3D}" type="slidenum">
              <a:rPr lang="en-US" altLang="zh-CN"/>
              <a:pPr/>
              <a:t>59</a:t>
            </a:fld>
            <a:endParaRPr lang="en-US" altLang="zh-CN"/>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609600" indent="-609600" eaLnBrk="1" hangingPunct="1">
              <a:lnSpc>
                <a:spcPct val="90000"/>
              </a:lnSpc>
              <a:buFont typeface="Wingdings" pitchFamily="2" charset="2"/>
              <a:buNone/>
            </a:pPr>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B9647CB-CB1B-475A-B6C8-E4E03FEA0E3D}" type="slidenum">
              <a:rPr lang="en-US" altLang="zh-CN"/>
              <a:pPr/>
              <a:t>60</a:t>
            </a:fld>
            <a:endParaRPr lang="en-US" altLang="zh-CN"/>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609600" indent="-609600" eaLnBrk="1" hangingPunct="1">
              <a:lnSpc>
                <a:spcPct val="90000"/>
              </a:lnSpc>
              <a:buFont typeface="Wingdings" pitchFamily="2" charset="2"/>
              <a:buNone/>
            </a:pPr>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2D2E40C-076F-4C46-B4C4-EA99D10AD542}" type="slidenum">
              <a:rPr lang="en-US" altLang="zh-CN"/>
              <a:pPr/>
              <a:t>61</a:t>
            </a:fld>
            <a:endParaRPr lang="en-US" altLang="zh-CN"/>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60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2D2E40C-076F-4C46-B4C4-EA99D10AD542}" type="slidenum">
              <a:rPr lang="en-US" altLang="zh-CN"/>
              <a:pPr/>
              <a:t>62</a:t>
            </a:fld>
            <a:endParaRPr lang="en-US" altLang="zh-CN"/>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6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C9DCA01-D4F0-4647-90AB-07ACBD2F0EE2}" type="slidenum">
              <a:rPr lang="en-US" altLang="zh-CN"/>
              <a:pPr/>
              <a:t>63</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60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C9DCA01-D4F0-4647-90AB-07ACBD2F0EE2}" type="slidenum">
              <a:rPr lang="en-US" altLang="zh-CN"/>
              <a:pPr/>
              <a:t>64</a:t>
            </a:fld>
            <a:endParaRPr lang="en-US" altLang="zh-CN"/>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60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E209812-2B4F-4AAE-A8EF-011B57633BBF}" type="slidenum">
              <a:rPr lang="en-US" altLang="zh-CN"/>
              <a:pPr/>
              <a:t>65</a:t>
            </a:fld>
            <a:endParaRPr lang="en-US" altLang="zh-CN"/>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60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EF53386-66D7-4EE9-8F5B-393838DEE15C}" type="slidenum">
              <a:rPr lang="en-US" altLang="zh-CN"/>
              <a:pPr/>
              <a:t>66</a:t>
            </a:fld>
            <a:endParaRPr lang="en-US" altLang="zh-CN"/>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z="160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BCDEB13-5651-42A3-A44B-6EA623A5884C}" type="slidenum">
              <a:rPr lang="en-US" altLang="zh-CN"/>
              <a:pPr/>
              <a:t>67</a:t>
            </a:fld>
            <a:endParaRPr lang="en-US" altLang="zh-CN"/>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z="160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BCDEB13-5651-42A3-A44B-6EA623A5884C}" type="slidenum">
              <a:rPr lang="en-US" altLang="zh-CN"/>
              <a:pPr/>
              <a:t>68</a:t>
            </a:fld>
            <a:endParaRPr lang="en-US" altLang="zh-CN"/>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sz="160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AEA706F-6363-41B5-B210-2BE4226924A2}" type="slidenum">
              <a:rPr lang="en-US" altLang="zh-CN"/>
              <a:pPr/>
              <a:t>71</a:t>
            </a:fld>
            <a:endParaRPr lang="en-US" altLang="zh-CN"/>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609600" indent="-609600" eaLnBrk="1" hangingPunct="1">
              <a:lnSpc>
                <a:spcPct val="90000"/>
              </a:lnSpc>
              <a:buFont typeface="Wingdings" pitchFamily="2" charset="2"/>
              <a:buNone/>
            </a:pPr>
            <a:endParaRPr lang="en-US" altLang="zh-CN"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B06199A-76DC-42F4-B0B1-B426914EF1B8}" type="slidenum">
              <a:rPr lang="en-US" altLang="zh-CN"/>
              <a:pPr/>
              <a:t>72</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B06199A-76DC-42F4-B0B1-B426914EF1B8}" type="slidenum">
              <a:rPr lang="en-US" altLang="zh-CN"/>
              <a:pPr/>
              <a:t>73</a:t>
            </a:fld>
            <a:endParaRPr lang="en-US" altLang="zh-CN"/>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50D90D1-D330-4BDB-A17D-D7E9E558B591}" type="slidenum">
              <a:rPr lang="en-US" altLang="zh-CN"/>
              <a:pPr/>
              <a:t>74</a:t>
            </a:fld>
            <a:endParaRPr lang="en-US" altLang="zh-CN"/>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50D90D1-D330-4BDB-A17D-D7E9E558B591}" type="slidenum">
              <a:rPr lang="en-US" altLang="zh-CN"/>
              <a:pPr/>
              <a:t>75</a:t>
            </a:fld>
            <a:endParaRPr lang="en-US" altLang="zh-CN"/>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094ACC0-1253-4F3F-B603-77BD51F24777}" type="slidenum">
              <a:rPr lang="en-US" altLang="zh-CN"/>
              <a:pPr/>
              <a:t>76</a:t>
            </a:fld>
            <a:endParaRPr lang="en-US" altLang="zh-CN"/>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2EBE92E-046D-40DD-8DE2-9EA50EA4F212}" type="slidenum">
              <a:rPr lang="en-US" altLang="zh-CN"/>
              <a:pPr/>
              <a:t>77</a:t>
            </a:fld>
            <a:endParaRPr lang="en-US" altLang="zh-CN"/>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78</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79</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80</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altLang="zh-CN" dirty="0" err="1" smtClean="0"/>
              <a:t>tcp</a:t>
            </a:r>
            <a:r>
              <a:rPr lang="en-US" altLang="zh-CN" dirty="0" smtClean="0"/>
              <a:t>/</a:t>
            </a:r>
            <a:r>
              <a:rPr lang="en-US" altLang="zh-CN" dirty="0" err="1" smtClean="0"/>
              <a:t>ip</a:t>
            </a:r>
            <a:r>
              <a:rPr lang="zh-CN" altLang="en-US" dirty="0" smtClean="0"/>
              <a:t>在早期互联网的应用也是</a:t>
            </a:r>
            <a:r>
              <a:rPr lang="en-US" altLang="zh-CN" dirty="0" smtClean="0"/>
              <a:t>1983</a:t>
            </a:r>
            <a:r>
              <a:rPr lang="zh-CN" altLang="en-US" dirty="0" smtClean="0"/>
              <a:t>年</a:t>
            </a:r>
            <a:endParaRPr lang="en-US" altLang="zh-CN"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81</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82</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83</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84</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85</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86</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87</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88</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89</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90</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91</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92</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93</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94</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95</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96</a:t>
            </a:fld>
            <a:endParaRPr lang="en-US" altLang="zh-CN"/>
          </a:p>
        </p:txBody>
      </p:sp>
    </p:spTree>
    <p:extLst>
      <p:ext uri="{BB962C8B-B14F-4D97-AF65-F5344CB8AC3E}">
        <p14:creationId xmlns:p14="http://schemas.microsoft.com/office/powerpoint/2010/main" val="193520614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5F9487D-837D-43F3-A721-AEAF176FAF56}" type="slidenum">
              <a:rPr lang="en-US" altLang="zh-CN" smtClean="0"/>
              <a:pPr>
                <a:defRPr/>
              </a:pPr>
              <a:t>107</a:t>
            </a:fld>
            <a:endParaRPr lang="en-US" altLang="zh-CN"/>
          </a:p>
        </p:txBody>
      </p:sp>
    </p:spTree>
    <p:extLst>
      <p:ext uri="{BB962C8B-B14F-4D97-AF65-F5344CB8AC3E}">
        <p14:creationId xmlns:p14="http://schemas.microsoft.com/office/powerpoint/2010/main" val="414742592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109</a:t>
            </a:fld>
            <a:endParaRPr lang="zh-CN" altLang="en-US"/>
          </a:p>
        </p:txBody>
      </p:sp>
    </p:spTree>
    <p:extLst>
      <p:ext uri="{BB962C8B-B14F-4D97-AF65-F5344CB8AC3E}">
        <p14:creationId xmlns:p14="http://schemas.microsoft.com/office/powerpoint/2010/main" val="41738575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110</a:t>
            </a:fld>
            <a:endParaRPr lang="zh-CN" altLang="en-US"/>
          </a:p>
        </p:txBody>
      </p:sp>
    </p:spTree>
    <p:extLst>
      <p:ext uri="{BB962C8B-B14F-4D97-AF65-F5344CB8AC3E}">
        <p14:creationId xmlns:p14="http://schemas.microsoft.com/office/powerpoint/2010/main" val="360050442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111</a:t>
            </a:fld>
            <a:endParaRPr lang="zh-CN" altLang="en-US"/>
          </a:p>
        </p:txBody>
      </p:sp>
    </p:spTree>
    <p:extLst>
      <p:ext uri="{BB962C8B-B14F-4D97-AF65-F5344CB8AC3E}">
        <p14:creationId xmlns:p14="http://schemas.microsoft.com/office/powerpoint/2010/main" val="321989751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112</a:t>
            </a:fld>
            <a:endParaRPr lang="zh-CN" altLang="en-US"/>
          </a:p>
        </p:txBody>
      </p:sp>
    </p:spTree>
    <p:extLst>
      <p:ext uri="{BB962C8B-B14F-4D97-AF65-F5344CB8AC3E}">
        <p14:creationId xmlns:p14="http://schemas.microsoft.com/office/powerpoint/2010/main" val="356586727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113</a:t>
            </a:fld>
            <a:endParaRPr lang="zh-CN" altLang="en-US"/>
          </a:p>
        </p:txBody>
      </p:sp>
    </p:spTree>
    <p:extLst>
      <p:ext uri="{BB962C8B-B14F-4D97-AF65-F5344CB8AC3E}">
        <p14:creationId xmlns:p14="http://schemas.microsoft.com/office/powerpoint/2010/main" val="199773864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114</a:t>
            </a:fld>
            <a:endParaRPr lang="zh-CN" altLang="en-US"/>
          </a:p>
        </p:txBody>
      </p:sp>
    </p:spTree>
    <p:extLst>
      <p:ext uri="{BB962C8B-B14F-4D97-AF65-F5344CB8AC3E}">
        <p14:creationId xmlns:p14="http://schemas.microsoft.com/office/powerpoint/2010/main" val="103035035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115</a:t>
            </a:fld>
            <a:endParaRPr lang="zh-CN" altLang="en-US"/>
          </a:p>
        </p:txBody>
      </p:sp>
    </p:spTree>
    <p:extLst>
      <p:ext uri="{BB962C8B-B14F-4D97-AF65-F5344CB8AC3E}">
        <p14:creationId xmlns:p14="http://schemas.microsoft.com/office/powerpoint/2010/main" val="84811355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D1CD96A-A6EF-4B0B-9885-C22D65D2CD20}" type="slidenum">
              <a:rPr lang="zh-CN" altLang="en-US" smtClean="0"/>
              <a:pPr>
                <a:defRPr/>
              </a:pPr>
              <a:t>116</a:t>
            </a:fld>
            <a:endParaRPr lang="zh-CN" altLang="en-US"/>
          </a:p>
        </p:txBody>
      </p:sp>
    </p:spTree>
    <p:extLst>
      <p:ext uri="{BB962C8B-B14F-4D97-AF65-F5344CB8AC3E}">
        <p14:creationId xmlns:p14="http://schemas.microsoft.com/office/powerpoint/2010/main" val="76154706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C2721BF-8B23-43E0-A77B-AD37ED963028}" type="slidenum">
              <a:rPr lang="en-US" altLang="zh-CN"/>
              <a:pPr/>
              <a:t>117</a:t>
            </a:fld>
            <a:endParaRPr lang="en-US" altLang="zh-CN"/>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en-US" altLang="zh-CN"/>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69305E-3A89-4CCD-9558-A5CB0BE0AA1E}" type="slidenum">
              <a:rPr lang="en-US" altLang="zh-CN"/>
              <a:pPr/>
              <a:t>118</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69305E-3A89-4CCD-9558-A5CB0BE0AA1E}" type="slidenum">
              <a:rPr lang="en-US" altLang="zh-CN"/>
              <a:pPr/>
              <a:t>119</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69305E-3A89-4CCD-9558-A5CB0BE0AA1E}" type="slidenum">
              <a:rPr lang="en-US" altLang="zh-CN"/>
              <a:pPr/>
              <a:t>120</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69305E-3A89-4CCD-9558-A5CB0BE0AA1E}" type="slidenum">
              <a:rPr lang="en-US" altLang="zh-CN"/>
              <a:pPr/>
              <a:t>121</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69305E-3A89-4CCD-9558-A5CB0BE0AA1E}" type="slidenum">
              <a:rPr lang="en-US" altLang="zh-CN"/>
              <a:pPr/>
              <a:t>122</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69305E-3A89-4CCD-9558-A5CB0BE0AA1E}" type="slidenum">
              <a:rPr lang="en-US" altLang="zh-CN"/>
              <a:pPr/>
              <a:t>123</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69305E-3A89-4CCD-9558-A5CB0BE0AA1E}" type="slidenum">
              <a:rPr lang="en-US" altLang="zh-CN"/>
              <a:pPr/>
              <a:t>124</a:t>
            </a:fld>
            <a:endParaRPr lang="en-US" altLang="zh-CN"/>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en-US" altLang="zh-CN"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E7E3527-96F2-4967-A7C2-31A39833F9FF}" type="slidenum">
              <a:rPr lang="en-US" altLang="zh-CN"/>
              <a:pPr/>
              <a:t>125</a:t>
            </a:fld>
            <a:endParaRPr lang="en-US" altLang="zh-CN"/>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6871CFC7-5AE4-4079-A968-B066C8CC705A}" type="slidenum">
              <a:rPr lang="en-US" altLang="zh-CN"/>
              <a:pPr/>
              <a:t>126</a:t>
            </a:fld>
            <a:endParaRPr lang="en-US" altLang="zh-CN"/>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358579"/>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a:xfrm>
            <a:off x="442800" y="1267200"/>
            <a:ext cx="11304587" cy="4895850"/>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40881782"/>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指引">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p>
        </p:txBody>
      </p:sp>
      <p:sp>
        <p:nvSpPr>
          <p:cNvPr id="3" name="内容占位符 2"/>
          <p:cNvSpPr>
            <a:spLocks noGrp="1"/>
          </p:cNvSpPr>
          <p:nvPr>
            <p:ph idx="1"/>
          </p:nvPr>
        </p:nvSpPr>
        <p:spPr>
          <a:xfrm>
            <a:off x="2135560" y="1340768"/>
            <a:ext cx="8280920" cy="4896544"/>
          </a:xfrm>
        </p:spPr>
        <p:txBody>
          <a:bodyPr/>
          <a:lstStyle>
            <a:lvl1pPr marL="342900" indent="12700">
              <a:buFont typeface="Wingdings" panose="05000000000000000000" pitchFamily="2" charset="2"/>
              <a:buChar char="Ø"/>
              <a:defRPr b="0">
                <a:solidFill>
                  <a:srgbClr val="4D4D4D"/>
                </a:solidFill>
                <a:latin typeface="微软雅黑" panose="020B0503020204020204" pitchFamily="34" charset="-122"/>
                <a:ea typeface="微软雅黑" panose="020B0503020204020204" pitchFamily="34" charset="-122"/>
              </a:defRPr>
            </a:lvl1pPr>
            <a:lvl2pPr>
              <a:defRPr>
                <a:solidFill>
                  <a:srgbClr val="4D4D4D"/>
                </a:solidFill>
                <a:latin typeface="微软雅黑" panose="020B0503020204020204" pitchFamily="34" charset="-122"/>
                <a:ea typeface="微软雅黑" panose="020B0503020204020204" pitchFamily="34" charset="-122"/>
              </a:defRPr>
            </a:lvl2pPr>
            <a:lvl3pPr>
              <a:defRPr>
                <a:solidFill>
                  <a:srgbClr val="4D4D4D"/>
                </a:solidFill>
                <a:latin typeface="微软雅黑" panose="020B0503020204020204" pitchFamily="34" charset="-122"/>
                <a:ea typeface="微软雅黑" panose="020B0503020204020204" pitchFamily="34" charset="-122"/>
              </a:defRPr>
            </a:lvl3pPr>
            <a:lvl4pPr>
              <a:defRPr>
                <a:solidFill>
                  <a:srgbClr val="4D4D4D"/>
                </a:solidFill>
                <a:latin typeface="微软雅黑" panose="020B0503020204020204" pitchFamily="34" charset="-122"/>
                <a:ea typeface="微软雅黑" panose="020B0503020204020204" pitchFamily="34" charset="-122"/>
              </a:defRPr>
            </a:lvl4pPr>
            <a:lvl5pPr>
              <a:defRPr>
                <a:solidFill>
                  <a:srgbClr val="4D4D4D"/>
                </a:solidFill>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962367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
        <p:nvSpPr>
          <p:cNvPr id="5" name="AutoShape 5"/>
          <p:cNvSpPr>
            <a:spLocks noChangeArrowheads="1"/>
          </p:cNvSpPr>
          <p:nvPr userDrawn="1"/>
        </p:nvSpPr>
        <p:spPr bwMode="auto">
          <a:xfrm>
            <a:off x="621792" y="812359"/>
            <a:ext cx="10838688" cy="472016"/>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a:p>
        </p:txBody>
      </p:sp>
      <p:sp>
        <p:nvSpPr>
          <p:cNvPr id="7" name="文本占位符 11"/>
          <p:cNvSpPr>
            <a:spLocks noGrp="1"/>
          </p:cNvSpPr>
          <p:nvPr>
            <p:ph type="body" sz="quarter" idx="11"/>
          </p:nvPr>
        </p:nvSpPr>
        <p:spPr>
          <a:xfrm>
            <a:off x="1666122" y="812359"/>
            <a:ext cx="8843433" cy="472016"/>
          </a:xfrm>
          <a:prstGeom prst="rect">
            <a:avLst/>
          </a:prstGeom>
        </p:spPr>
        <p:txBody>
          <a:bodyPr anchor="ctr"/>
          <a:lstStyle>
            <a:lvl1pPr marL="0" indent="0" algn="ctr">
              <a:buFontTx/>
              <a:buNone/>
              <a:defRPr sz="2700" b="1">
                <a:solidFill>
                  <a:schemeClr val="bg1"/>
                </a:solidFill>
                <a:latin typeface="微软雅黑" panose="020B0503020204020204" pitchFamily="34" charset="-122"/>
                <a:ea typeface="微软雅黑" panose="020B0503020204020204" pitchFamily="34" charset="-122"/>
              </a:defRPr>
            </a:lvl1pPr>
          </a:lstStyle>
          <a:p>
            <a:pPr lvl="0"/>
            <a:r>
              <a:rPr lang="zh-CN" altLang="en-US" dirty="0" smtClean="0"/>
              <a:t>编辑母版文本样式</a:t>
            </a:r>
          </a:p>
        </p:txBody>
      </p:sp>
    </p:spTree>
    <p:extLst>
      <p:ext uri="{BB962C8B-B14F-4D97-AF65-F5344CB8AC3E}">
        <p14:creationId xmlns:p14="http://schemas.microsoft.com/office/powerpoint/2010/main" val="37918611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title"/>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计算机网络</a:t>
            </a:r>
            <a:r>
              <a:rPr lang="en-US" altLang="zh-CN"/>
              <a:t>——40</a:t>
            </a:r>
            <a:r>
              <a:rPr lang="zh-CN" altLang="en-US"/>
              <a:t>号，黑体（标题）</a:t>
            </a:r>
          </a:p>
        </p:txBody>
      </p:sp>
      <p:sp>
        <p:nvSpPr>
          <p:cNvPr id="1027" name="Rectangle 12"/>
          <p:cNvSpPr>
            <a:spLocks noGrp="1" noChangeArrowheads="1"/>
          </p:cNvSpPr>
          <p:nvPr>
            <p:ph type="body" idx="1"/>
          </p:nvPr>
        </p:nvSpPr>
        <p:spPr bwMode="auto">
          <a:xfrm>
            <a:off x="442800" y="1267200"/>
            <a:ext cx="113045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r>
              <a:rPr lang="en-US" altLang="zh-CN" dirty="0"/>
              <a:t>——32</a:t>
            </a:r>
            <a:r>
              <a:rPr lang="zh-CN" altLang="en-US" dirty="0"/>
              <a:t>号，微软雅黑，深灰色</a:t>
            </a:r>
            <a:endParaRPr lang="en-US" altLang="zh-CN" dirty="0"/>
          </a:p>
          <a:p>
            <a:pPr lvl="1"/>
            <a:r>
              <a:rPr lang="zh-CN" altLang="en-US" dirty="0"/>
              <a:t>第二级</a:t>
            </a:r>
            <a:r>
              <a:rPr lang="en-US" altLang="zh-CN" dirty="0"/>
              <a:t>——28</a:t>
            </a:r>
            <a:r>
              <a:rPr lang="zh-CN" altLang="en-US" dirty="0"/>
              <a:t>号，微软雅黑，深灰色</a:t>
            </a:r>
            <a:endParaRPr lang="en-US" altLang="zh-CN" dirty="0"/>
          </a:p>
          <a:p>
            <a:pPr lvl="2"/>
            <a:r>
              <a:rPr lang="zh-CN" altLang="en-US" dirty="0"/>
              <a:t>第三级</a:t>
            </a:r>
            <a:r>
              <a:rPr lang="en-US" altLang="zh-CN" dirty="0"/>
              <a:t>——24</a:t>
            </a:r>
            <a:r>
              <a:rPr lang="zh-CN" altLang="en-US" dirty="0"/>
              <a:t>号，微软雅黑，深灰色</a:t>
            </a:r>
          </a:p>
          <a:p>
            <a:pPr lvl="3"/>
            <a:r>
              <a:rPr lang="zh-CN" altLang="en-US" dirty="0"/>
              <a:t>第四级</a:t>
            </a:r>
            <a:r>
              <a:rPr lang="en-US" altLang="zh-CN" dirty="0"/>
              <a:t>——20</a:t>
            </a:r>
            <a:r>
              <a:rPr lang="zh-CN" altLang="en-US" dirty="0"/>
              <a:t>号，微软雅黑，深灰色</a:t>
            </a:r>
          </a:p>
          <a:p>
            <a:pPr lvl="4"/>
            <a:r>
              <a:rPr lang="zh-CN" altLang="en-US" dirty="0"/>
              <a:t>第五级</a:t>
            </a:r>
            <a:r>
              <a:rPr lang="en-US" altLang="zh-CN" dirty="0"/>
              <a:t>——18</a:t>
            </a:r>
            <a:r>
              <a:rPr lang="zh-CN" altLang="en-US" dirty="0"/>
              <a:t>号，微软雅黑，深灰色</a:t>
            </a:r>
          </a:p>
        </p:txBody>
      </p:sp>
    </p:spTree>
  </p:cSld>
  <p:clrMap bg1="lt1" tx1="dk1" bg2="lt2" tx2="dk2" accent1="accent1" accent2="accent2" accent3="accent3" accent4="accent4" accent5="accent5" accent6="accent6" hlink="hlink" folHlink="folHlink"/>
  <p:sldLayoutIdLst>
    <p:sldLayoutId id="2147484841" r:id="rId1"/>
    <p:sldLayoutId id="2147484829" r:id="rId2"/>
    <p:sldLayoutId id="2147484842" r:id="rId3"/>
    <p:sldLayoutId id="2147484843" r:id="rId4"/>
  </p:sldLayoutIdLst>
  <p:hf sldNum="0" hdr="0" dt="0"/>
  <p:txStyles>
    <p:title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p:titleStyle>
    <p:body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image" Target="../media/image7.w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0.wmf"/><Relationship Id="rId5" Type="http://schemas.openxmlformats.org/officeDocument/2006/relationships/oleObject" Target="../embeddings/oleObject1.bin"/><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3.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9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4.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0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5.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6.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7.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8.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9.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0.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1.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2.xml"/><Relationship Id="rId1" Type="http://schemas.openxmlformats.org/officeDocument/2006/relationships/slideLayout" Target="../slideLayouts/slideLayout4.xml"/><Relationship Id="rId4" Type="http://schemas.openxmlformats.org/officeDocument/2006/relationships/image" Target="../media/image9.wmf"/></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notesSlide" Target="../notesSlides/notesSlide108.xml"/><Relationship Id="rId7"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0.wmf"/><Relationship Id="rId4" Type="http://schemas.openxmlformats.org/officeDocument/2006/relationships/oleObject" Target="../embeddings/oleObject2.bin"/></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4.bin"/></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wmf"/><Relationship Id="rId4" Type="http://schemas.openxmlformats.org/officeDocument/2006/relationships/oleObject" Target="../embeddings/oleObject5.bin"/></Relationships>
</file>

<file path=ppt/slides/_rels/slide12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noChangeArrowheads="1"/>
          </p:cNvSpPr>
          <p:nvPr>
            <p:ph type="title"/>
          </p:nvPr>
        </p:nvSpPr>
        <p:spPr/>
        <p:txBody>
          <a:bodyPr/>
          <a:lstStyle/>
          <a:p>
            <a:r>
              <a:rPr lang="zh-CN" altLang="en-US" dirty="0" smtClean="0"/>
              <a:t>课程简介</a:t>
            </a:r>
            <a:endParaRPr lang="zh-CN" altLang="en-US" dirty="0"/>
          </a:p>
        </p:txBody>
      </p:sp>
      <p:sp>
        <p:nvSpPr>
          <p:cNvPr id="6147" name="内容占位符 2"/>
          <p:cNvSpPr>
            <a:spLocks noGrp="1" noChangeArrowheads="1"/>
          </p:cNvSpPr>
          <p:nvPr>
            <p:ph idx="1"/>
          </p:nvPr>
        </p:nvSpPr>
        <p:spPr/>
        <p:txBody>
          <a:bodyPr/>
          <a:lstStyle/>
          <a:p>
            <a:r>
              <a:rPr lang="zh-CN" altLang="en-US" dirty="0"/>
              <a:t>课程性质：专业必修课 </a:t>
            </a:r>
          </a:p>
          <a:p>
            <a:r>
              <a:rPr lang="zh-CN" altLang="en-US" dirty="0" smtClean="0"/>
              <a:t>学分分值：</a:t>
            </a:r>
            <a:r>
              <a:rPr lang="en-US" altLang="zh-CN" dirty="0" smtClean="0"/>
              <a:t>3 </a:t>
            </a:r>
            <a:r>
              <a:rPr lang="zh-CN" altLang="en-US" dirty="0" smtClean="0"/>
              <a:t>学分</a:t>
            </a:r>
            <a:endParaRPr lang="zh-CN" altLang="en-US" dirty="0"/>
          </a:p>
          <a:p>
            <a:r>
              <a:rPr lang="zh-CN" altLang="en-US" dirty="0" smtClean="0"/>
              <a:t>课程</a:t>
            </a:r>
            <a:r>
              <a:rPr lang="zh-CN" altLang="en-US" dirty="0"/>
              <a:t>成绩组成：</a:t>
            </a:r>
          </a:p>
          <a:p>
            <a:pPr lvl="1"/>
            <a:r>
              <a:rPr lang="zh-CN" altLang="en-US" dirty="0" smtClean="0"/>
              <a:t>课堂表现：</a:t>
            </a:r>
            <a:r>
              <a:rPr lang="en-US" altLang="zh-CN" dirty="0" smtClean="0"/>
              <a:t>15 </a:t>
            </a:r>
            <a:r>
              <a:rPr lang="zh-CN" altLang="en-US" dirty="0" smtClean="0"/>
              <a:t>分</a:t>
            </a:r>
          </a:p>
          <a:p>
            <a:pPr lvl="1"/>
            <a:r>
              <a:rPr lang="zh-CN" altLang="en-US" dirty="0" smtClean="0"/>
              <a:t>平时作业：</a:t>
            </a:r>
            <a:r>
              <a:rPr lang="en-US" altLang="zh-CN" dirty="0" smtClean="0"/>
              <a:t>55 </a:t>
            </a:r>
            <a:r>
              <a:rPr lang="zh-CN" altLang="en-US" dirty="0" smtClean="0"/>
              <a:t>分</a:t>
            </a:r>
          </a:p>
          <a:p>
            <a:pPr lvl="1"/>
            <a:r>
              <a:rPr lang="zh-CN" altLang="en-US" dirty="0" smtClean="0"/>
              <a:t>期末考试：</a:t>
            </a:r>
            <a:r>
              <a:rPr lang="en-US" altLang="zh-CN" dirty="0" smtClean="0"/>
              <a:t>30 </a:t>
            </a:r>
            <a:r>
              <a:rPr lang="zh-CN" altLang="en-US" dirty="0" smtClean="0"/>
              <a:t>分</a:t>
            </a:r>
            <a:endParaRPr lang="zh-CN" altLang="en-US" dirty="0"/>
          </a:p>
          <a:p>
            <a:endParaRPr lang="zh-CN" altLang="en-US" dirty="0"/>
          </a:p>
        </p:txBody>
      </p:sp>
    </p:spTree>
    <p:extLst>
      <p:ext uri="{BB962C8B-B14F-4D97-AF65-F5344CB8AC3E}">
        <p14:creationId xmlns:p14="http://schemas.microsoft.com/office/powerpoint/2010/main" val="6054304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2"/>
          <p:cNvSpPr>
            <a:spLocks noGrp="1" noChangeArrowheads="1"/>
          </p:cNvSpPr>
          <p:nvPr>
            <p:ph type="title"/>
          </p:nvPr>
        </p:nvSpPr>
        <p:spPr/>
        <p:txBody>
          <a:bodyPr/>
          <a:lstStyle/>
          <a:p>
            <a:pPr eaLnBrk="1" hangingPunct="1"/>
            <a:r>
              <a:rPr lang="zh-CN" altLang="en-US"/>
              <a:t>课程安排</a:t>
            </a:r>
            <a:endParaRPr lang="zh-CN" altLang="en-US" dirty="0"/>
          </a:p>
        </p:txBody>
      </p:sp>
      <p:sp>
        <p:nvSpPr>
          <p:cNvPr id="2" name="内容占位符 1"/>
          <p:cNvSpPr>
            <a:spLocks noGrp="1"/>
          </p:cNvSpPr>
          <p:nvPr>
            <p:ph idx="1"/>
          </p:nvPr>
        </p:nvSpPr>
        <p:spPr/>
        <p:txBody>
          <a:bodyPr/>
          <a:lstStyle/>
          <a:p>
            <a:endParaRPr lang="zh-CN" altLang="en-US" dirty="0"/>
          </a:p>
        </p:txBody>
      </p:sp>
      <p:graphicFrame>
        <p:nvGraphicFramePr>
          <p:cNvPr id="5" name="内容占位符 5"/>
          <p:cNvGraphicFramePr>
            <a:graphicFrameLocks/>
          </p:cNvGraphicFramePr>
          <p:nvPr>
            <p:extLst>
              <p:ext uri="{D42A27DB-BD31-4B8C-83A1-F6EECF244321}">
                <p14:modId xmlns:p14="http://schemas.microsoft.com/office/powerpoint/2010/main" val="3995493372"/>
              </p:ext>
            </p:extLst>
          </p:nvPr>
        </p:nvGraphicFramePr>
        <p:xfrm>
          <a:off x="2661492" y="1412776"/>
          <a:ext cx="6962900" cy="4768304"/>
        </p:xfrm>
        <a:graphic>
          <a:graphicData uri="http://schemas.openxmlformats.org/drawingml/2006/table">
            <a:tbl>
              <a:tblPr firstRow="1" bandRow="1">
                <a:tableStyleId>{5C22544A-7EE6-4342-B048-85BDC9FD1C3A}</a:tableStyleId>
              </a:tblPr>
              <a:tblGrid>
                <a:gridCol w="4370612">
                  <a:extLst>
                    <a:ext uri="{9D8B030D-6E8A-4147-A177-3AD203B41FA5}">
                      <a16:colId xmlns="" xmlns:a16="http://schemas.microsoft.com/office/drawing/2014/main" val="20001"/>
                    </a:ext>
                  </a:extLst>
                </a:gridCol>
                <a:gridCol w="2592288">
                  <a:extLst>
                    <a:ext uri="{9D8B030D-6E8A-4147-A177-3AD203B41FA5}">
                      <a16:colId xmlns="" xmlns:a16="http://schemas.microsoft.com/office/drawing/2014/main" val="20002"/>
                    </a:ext>
                  </a:extLst>
                </a:gridCol>
              </a:tblGrid>
              <a:tr h="596038">
                <a:tc>
                  <a:txBody>
                    <a:bodyPr/>
                    <a:lstStyle/>
                    <a:p>
                      <a:pPr algn="ctr"/>
                      <a:r>
                        <a:rPr lang="zh-CN" altLang="en-US" sz="1800" dirty="0">
                          <a:solidFill>
                            <a:srgbClr val="000000"/>
                          </a:solidFill>
                        </a:rPr>
                        <a:t>教学内容</a:t>
                      </a:r>
                    </a:p>
                  </a:txBody>
                  <a:tcPr marL="91427" marR="91427" marT="45716" marB="45716"/>
                </a:tc>
                <a:tc>
                  <a:txBody>
                    <a:bodyPr/>
                    <a:lstStyle/>
                    <a:p>
                      <a:pPr algn="ctr"/>
                      <a:r>
                        <a:rPr lang="zh-CN" altLang="en-US" sz="1800" dirty="0">
                          <a:solidFill>
                            <a:srgbClr val="000000"/>
                          </a:solidFill>
                        </a:rPr>
                        <a:t>学时</a:t>
                      </a:r>
                    </a:p>
                  </a:txBody>
                  <a:tcPr marL="91427" marR="91427" marT="45716" marB="45716"/>
                </a:tc>
                <a:extLst>
                  <a:ext uri="{0D108BD9-81ED-4DB2-BD59-A6C34878D82A}">
                    <a16:rowId xmlns="" xmlns:a16="http://schemas.microsoft.com/office/drawing/2014/main" val="10000"/>
                  </a:ext>
                </a:extLst>
              </a:tr>
              <a:tr h="596038">
                <a:tc>
                  <a:txBody>
                    <a:bodyPr/>
                    <a:lstStyle/>
                    <a:p>
                      <a:r>
                        <a:rPr lang="zh-CN" altLang="en-US" sz="1800" dirty="0">
                          <a:solidFill>
                            <a:srgbClr val="000000"/>
                          </a:solidFill>
                        </a:rPr>
                        <a:t>第一章  概述</a:t>
                      </a:r>
                    </a:p>
                  </a:txBody>
                  <a:tcPr marL="91427" marR="91427" marT="45716" marB="45716"/>
                </a:tc>
                <a:tc>
                  <a:txBody>
                    <a:bodyPr/>
                    <a:lstStyle/>
                    <a:p>
                      <a:pPr algn="ctr"/>
                      <a:r>
                        <a:rPr lang="en-US" altLang="zh-CN" sz="1800" dirty="0">
                          <a:solidFill>
                            <a:srgbClr val="000000"/>
                          </a:solidFill>
                        </a:rPr>
                        <a:t>6</a:t>
                      </a:r>
                      <a:endParaRPr lang="zh-CN" altLang="en-US" sz="1800" dirty="0">
                        <a:solidFill>
                          <a:srgbClr val="000000"/>
                        </a:solidFill>
                      </a:endParaRPr>
                    </a:p>
                  </a:txBody>
                  <a:tcPr marL="91427" marR="91427" marT="45716" marB="45716"/>
                </a:tc>
                <a:extLst>
                  <a:ext uri="{0D108BD9-81ED-4DB2-BD59-A6C34878D82A}">
                    <a16:rowId xmlns="" xmlns:a16="http://schemas.microsoft.com/office/drawing/2014/main" val="10001"/>
                  </a:ext>
                </a:extLst>
              </a:tr>
              <a:tr h="596038">
                <a:tc>
                  <a:txBody>
                    <a:bodyPr/>
                    <a:lstStyle/>
                    <a:p>
                      <a:r>
                        <a:rPr lang="zh-CN" altLang="en-US" sz="1800" dirty="0">
                          <a:solidFill>
                            <a:srgbClr val="000000"/>
                          </a:solidFill>
                        </a:rPr>
                        <a:t>第二章  物理层</a:t>
                      </a:r>
                    </a:p>
                  </a:txBody>
                  <a:tcPr marL="91427" marR="91427" marT="45716" marB="45716"/>
                </a:tc>
                <a:tc>
                  <a:txBody>
                    <a:bodyPr/>
                    <a:lstStyle/>
                    <a:p>
                      <a:pPr algn="ctr"/>
                      <a:r>
                        <a:rPr lang="en-US" altLang="zh-CN" sz="1800" dirty="0" smtClean="0">
                          <a:solidFill>
                            <a:srgbClr val="000000"/>
                          </a:solidFill>
                        </a:rPr>
                        <a:t>6</a:t>
                      </a:r>
                      <a:endParaRPr lang="zh-CN" altLang="en-US" sz="1800" dirty="0">
                        <a:solidFill>
                          <a:srgbClr val="000000"/>
                        </a:solidFill>
                      </a:endParaRPr>
                    </a:p>
                  </a:txBody>
                  <a:tcPr marL="91427" marR="91427" marT="45716" marB="45716"/>
                </a:tc>
                <a:extLst>
                  <a:ext uri="{0D108BD9-81ED-4DB2-BD59-A6C34878D82A}">
                    <a16:rowId xmlns="" xmlns:a16="http://schemas.microsoft.com/office/drawing/2014/main" val="10002"/>
                  </a:ext>
                </a:extLst>
              </a:tr>
              <a:tr h="596038">
                <a:tc>
                  <a:txBody>
                    <a:bodyPr/>
                    <a:lstStyle/>
                    <a:p>
                      <a:r>
                        <a:rPr lang="zh-CN" altLang="en-US" sz="1800" dirty="0">
                          <a:solidFill>
                            <a:srgbClr val="000000"/>
                          </a:solidFill>
                        </a:rPr>
                        <a:t>第三章  数据链路层</a:t>
                      </a:r>
                    </a:p>
                  </a:txBody>
                  <a:tcPr marL="91427" marR="91427" marT="45716" marB="45716"/>
                </a:tc>
                <a:tc>
                  <a:txBody>
                    <a:bodyPr/>
                    <a:lstStyle/>
                    <a:p>
                      <a:pPr algn="ctr"/>
                      <a:r>
                        <a:rPr lang="en-US" altLang="zh-CN" sz="1800" dirty="0" smtClean="0">
                          <a:solidFill>
                            <a:srgbClr val="000000"/>
                          </a:solidFill>
                        </a:rPr>
                        <a:t>10</a:t>
                      </a:r>
                      <a:endParaRPr lang="zh-CN" altLang="en-US" sz="1800" dirty="0">
                        <a:solidFill>
                          <a:srgbClr val="000000"/>
                        </a:solidFill>
                      </a:endParaRPr>
                    </a:p>
                  </a:txBody>
                  <a:tcPr marL="91427" marR="91427" marT="45716" marB="45716"/>
                </a:tc>
                <a:extLst>
                  <a:ext uri="{0D108BD9-81ED-4DB2-BD59-A6C34878D82A}">
                    <a16:rowId xmlns="" xmlns:a16="http://schemas.microsoft.com/office/drawing/2014/main" val="10003"/>
                  </a:ext>
                </a:extLst>
              </a:tr>
              <a:tr h="596038">
                <a:tc>
                  <a:txBody>
                    <a:bodyPr/>
                    <a:lstStyle/>
                    <a:p>
                      <a:r>
                        <a:rPr lang="zh-CN" altLang="en-US" sz="1800" dirty="0">
                          <a:solidFill>
                            <a:srgbClr val="000000"/>
                          </a:solidFill>
                        </a:rPr>
                        <a:t>第四章  网络层</a:t>
                      </a:r>
                    </a:p>
                  </a:txBody>
                  <a:tcPr marL="91427" marR="91427" marT="45716" marB="45716"/>
                </a:tc>
                <a:tc>
                  <a:txBody>
                    <a:bodyPr/>
                    <a:lstStyle/>
                    <a:p>
                      <a:pPr algn="ctr"/>
                      <a:r>
                        <a:rPr lang="en-US" altLang="zh-CN" sz="1800" dirty="0">
                          <a:solidFill>
                            <a:srgbClr val="000000"/>
                          </a:solidFill>
                        </a:rPr>
                        <a:t>20</a:t>
                      </a:r>
                      <a:endParaRPr lang="zh-CN" altLang="en-US" sz="1800" dirty="0">
                        <a:solidFill>
                          <a:srgbClr val="000000"/>
                        </a:solidFill>
                      </a:endParaRPr>
                    </a:p>
                  </a:txBody>
                  <a:tcPr marL="91427" marR="91427" marT="45716" marB="45716"/>
                </a:tc>
                <a:extLst>
                  <a:ext uri="{0D108BD9-81ED-4DB2-BD59-A6C34878D82A}">
                    <a16:rowId xmlns="" xmlns:a16="http://schemas.microsoft.com/office/drawing/2014/main" val="10004"/>
                  </a:ext>
                </a:extLst>
              </a:tr>
              <a:tr h="596038">
                <a:tc>
                  <a:txBody>
                    <a:bodyPr/>
                    <a:lstStyle/>
                    <a:p>
                      <a:r>
                        <a:rPr lang="zh-CN" altLang="en-US" sz="1800" dirty="0">
                          <a:solidFill>
                            <a:srgbClr val="000000"/>
                          </a:solidFill>
                        </a:rPr>
                        <a:t>第五章  运输层</a:t>
                      </a:r>
                    </a:p>
                  </a:txBody>
                  <a:tcPr marL="91427" marR="91427" marT="45716" marB="45716"/>
                </a:tc>
                <a:tc>
                  <a:txBody>
                    <a:bodyPr/>
                    <a:lstStyle/>
                    <a:p>
                      <a:pPr algn="ctr"/>
                      <a:r>
                        <a:rPr lang="en-US" altLang="zh-CN" sz="1800" dirty="0" smtClean="0">
                          <a:solidFill>
                            <a:srgbClr val="000000"/>
                          </a:solidFill>
                        </a:rPr>
                        <a:t>10</a:t>
                      </a:r>
                      <a:endParaRPr lang="zh-CN" altLang="en-US" sz="1800" dirty="0">
                        <a:solidFill>
                          <a:srgbClr val="000000"/>
                        </a:solidFill>
                      </a:endParaRPr>
                    </a:p>
                  </a:txBody>
                  <a:tcPr marL="91427" marR="91427" marT="45716" marB="45716"/>
                </a:tc>
                <a:extLst>
                  <a:ext uri="{0D108BD9-81ED-4DB2-BD59-A6C34878D82A}">
                    <a16:rowId xmlns="" xmlns:a16="http://schemas.microsoft.com/office/drawing/2014/main" val="10005"/>
                  </a:ext>
                </a:extLst>
              </a:tr>
              <a:tr h="596038">
                <a:tc>
                  <a:txBody>
                    <a:bodyPr/>
                    <a:lstStyle/>
                    <a:p>
                      <a:r>
                        <a:rPr lang="zh-CN" altLang="en-US" sz="1800" dirty="0">
                          <a:solidFill>
                            <a:srgbClr val="000000"/>
                          </a:solidFill>
                        </a:rPr>
                        <a:t>第六章  应用层</a:t>
                      </a:r>
                    </a:p>
                  </a:txBody>
                  <a:tcPr marL="91427" marR="91427" marT="45716" marB="45716"/>
                </a:tc>
                <a:tc>
                  <a:txBody>
                    <a:bodyPr/>
                    <a:lstStyle/>
                    <a:p>
                      <a:pPr algn="ctr"/>
                      <a:r>
                        <a:rPr lang="en-US" altLang="zh-CN" sz="1800" dirty="0" smtClean="0">
                          <a:solidFill>
                            <a:srgbClr val="000000"/>
                          </a:solidFill>
                        </a:rPr>
                        <a:t>12</a:t>
                      </a:r>
                      <a:endParaRPr lang="zh-CN" altLang="en-US" sz="1800" dirty="0">
                        <a:solidFill>
                          <a:srgbClr val="000000"/>
                        </a:solidFill>
                      </a:endParaRPr>
                    </a:p>
                  </a:txBody>
                  <a:tcPr marL="91427" marR="91427" marT="45716" marB="45716"/>
                </a:tc>
                <a:extLst>
                  <a:ext uri="{0D108BD9-81ED-4DB2-BD59-A6C34878D82A}">
                    <a16:rowId xmlns="" xmlns:a16="http://schemas.microsoft.com/office/drawing/2014/main" val="10006"/>
                  </a:ext>
                </a:extLst>
              </a:tr>
              <a:tr h="5960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smtClean="0">
                          <a:solidFill>
                            <a:srgbClr val="000000"/>
                          </a:solidFill>
                        </a:rPr>
                        <a:t>合计</a:t>
                      </a:r>
                    </a:p>
                  </a:txBody>
                  <a:tcPr marL="91427" marR="91427" marT="45716" marB="45716"/>
                </a:tc>
                <a:tc>
                  <a:txBody>
                    <a:bodyPr/>
                    <a:lstStyle/>
                    <a:p>
                      <a:pPr algn="ctr"/>
                      <a:r>
                        <a:rPr lang="en-US" altLang="zh-CN" sz="1800" dirty="0">
                          <a:solidFill>
                            <a:srgbClr val="000000"/>
                          </a:solidFill>
                        </a:rPr>
                        <a:t>64</a:t>
                      </a:r>
                      <a:endParaRPr lang="zh-CN" altLang="en-US" sz="1800" dirty="0">
                        <a:solidFill>
                          <a:srgbClr val="000000"/>
                        </a:solidFill>
                      </a:endParaRPr>
                    </a:p>
                  </a:txBody>
                  <a:tcPr marL="91427" marR="91427" marT="45716" marB="45716"/>
                </a:tc>
                <a:extLst>
                  <a:ext uri="{0D108BD9-81ED-4DB2-BD59-A6C34878D82A}">
                    <a16:rowId xmlns="" xmlns:a16="http://schemas.microsoft.com/office/drawing/2014/main" val="10010"/>
                  </a:ext>
                </a:extLst>
              </a:tr>
            </a:tbl>
          </a:graphicData>
        </a:graphic>
      </p:graphicFrame>
    </p:spTree>
    <p:extLst>
      <p:ext uri="{BB962C8B-B14F-4D97-AF65-F5344CB8AC3E}">
        <p14:creationId xmlns:p14="http://schemas.microsoft.com/office/powerpoint/2010/main" val="170121888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7"/>
          <p:cNvSpPr>
            <a:spLocks noGrp="1" noChangeArrowheads="1"/>
          </p:cNvSpPr>
          <p:nvPr>
            <p:ph type="ctrTitle" idx="4294967295"/>
          </p:nvPr>
        </p:nvSpPr>
        <p:spPr>
          <a:xfrm>
            <a:off x="1631950" y="2276475"/>
            <a:ext cx="7253288" cy="1462088"/>
          </a:xfrm>
        </p:spPr>
        <p:txBody>
          <a:bodyPr/>
          <a:lstStyle/>
          <a:p>
            <a:pPr eaLnBrk="1" hangingPunct="1">
              <a:defRPr/>
            </a:pPr>
            <a:r>
              <a:rPr lang="zh-CN" altLang="en-US" sz="3200" kern="1200" dirty="0">
                <a:solidFill>
                  <a:schemeClr val="tx2"/>
                </a:solidFill>
                <a:latin typeface="Arial" charset="0"/>
                <a:cs typeface="+mn-cs"/>
              </a:rPr>
              <a:t>         </a:t>
            </a:r>
            <a:r>
              <a:rPr lang="zh-CN" altLang="en-US" sz="4800" kern="1200" dirty="0" smtClean="0">
                <a:solidFill>
                  <a:schemeClr val="tx2"/>
                </a:solidFill>
                <a:latin typeface="+mj-lt"/>
                <a:cs typeface="+mn-cs"/>
              </a:rPr>
              <a:t>第</a:t>
            </a:r>
            <a:r>
              <a:rPr lang="en-US" altLang="zh-CN" sz="4800" kern="1200" dirty="0" smtClean="0">
                <a:solidFill>
                  <a:schemeClr val="tx2"/>
                </a:solidFill>
                <a:latin typeface="+mj-lt"/>
                <a:cs typeface="+mn-cs"/>
              </a:rPr>
              <a:t>1</a:t>
            </a:r>
            <a:r>
              <a:rPr lang="zh-CN" altLang="en-US" sz="4800" kern="1200" dirty="0" smtClean="0">
                <a:solidFill>
                  <a:schemeClr val="tx2"/>
                </a:solidFill>
                <a:latin typeface="+mj-lt"/>
                <a:cs typeface="+mn-cs"/>
              </a:rPr>
              <a:t>章</a:t>
            </a:r>
            <a:r>
              <a:rPr lang="zh-CN" altLang="en-US" sz="4800" kern="1200" dirty="0" smtClean="0">
                <a:solidFill>
                  <a:schemeClr val="tx2"/>
                </a:solidFill>
                <a:latin typeface="Arial" charset="0"/>
                <a:cs typeface="+mn-cs"/>
              </a:rPr>
              <a:t> </a:t>
            </a:r>
            <a:r>
              <a:rPr lang="zh-CN" altLang="en-US" sz="4800" kern="1200" dirty="0">
                <a:solidFill>
                  <a:schemeClr val="tx2"/>
                </a:solidFill>
                <a:latin typeface="微软雅黑" panose="020B0503020204020204" pitchFamily="34" charset="-122"/>
                <a:ea typeface="微软雅黑" panose="020B0503020204020204" pitchFamily="34" charset="-122"/>
                <a:cs typeface="+mn-cs"/>
              </a:rPr>
              <a:t>概述</a:t>
            </a:r>
          </a:p>
        </p:txBody>
      </p:sp>
      <p:pic>
        <p:nvPicPr>
          <p:cNvPr id="4099"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425" y="5661025"/>
            <a:ext cx="287972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6086979"/>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a:t>指引</a:t>
            </a:r>
            <a:endParaRPr lang="zh-CN" altLang="en-US" dirty="0"/>
          </a:p>
        </p:txBody>
      </p:sp>
      <p:sp>
        <p:nvSpPr>
          <p:cNvPr id="11267" name="Rectangle 3"/>
          <p:cNvSpPr>
            <a:spLocks noGrp="1" noChangeArrowheads="1"/>
          </p:cNvSpPr>
          <p:nvPr>
            <p:ph idx="1"/>
          </p:nvPr>
        </p:nvSpPr>
        <p:spPr/>
        <p:txBody>
          <a:bodyPr/>
          <a:lstStyle/>
          <a:p>
            <a:r>
              <a:rPr lang="zh-CN" altLang="en-US" dirty="0">
                <a:solidFill>
                  <a:srgbClr val="C00000"/>
                </a:solidFill>
              </a:rPr>
              <a:t>计算机网络在信息时代的作用</a:t>
            </a:r>
          </a:p>
          <a:p>
            <a:r>
              <a:rPr lang="zh-CN" altLang="en-US" dirty="0"/>
              <a:t>互联网概述</a:t>
            </a:r>
          </a:p>
          <a:p>
            <a:r>
              <a:rPr lang="zh-CN" altLang="en-US" dirty="0"/>
              <a:t>互联网的组成</a:t>
            </a:r>
            <a:endParaRPr lang="en-US" altLang="zh-CN" dirty="0"/>
          </a:p>
          <a:p>
            <a:r>
              <a:rPr lang="zh-CN" altLang="en-US" dirty="0"/>
              <a:t>计算机网络在我国的发展</a:t>
            </a:r>
          </a:p>
          <a:p>
            <a:r>
              <a:rPr lang="zh-CN" altLang="en-US" dirty="0"/>
              <a:t>计算机网络的类别</a:t>
            </a:r>
          </a:p>
          <a:p>
            <a:r>
              <a:rPr lang="zh-CN" altLang="en-US" dirty="0"/>
              <a:t>计算机网络的性能</a:t>
            </a:r>
            <a:endParaRPr lang="en-US" altLang="zh-CN" dirty="0"/>
          </a:p>
          <a:p>
            <a:r>
              <a:rPr lang="zh-CN" altLang="en-US" dirty="0"/>
              <a:t>计算机网络的体系结构</a:t>
            </a:r>
          </a:p>
          <a:p>
            <a:pPr eaLnBrk="1" hangingPunct="1">
              <a:buFont typeface="Wingdings" pitchFamily="2" charset="2"/>
              <a:buNone/>
            </a:pPr>
            <a:endParaRPr lang="zh-CN" altLang="en-US" sz="2800" dirty="0"/>
          </a:p>
          <a:p>
            <a:pPr eaLnBrk="1" hangingPunct="1">
              <a:buFont typeface="Wingdings" pitchFamily="2" charset="2"/>
              <a:buNone/>
            </a:pPr>
            <a:r>
              <a:rPr lang="zh-CN" altLang="en-US" sz="2800" dirty="0"/>
              <a:t>     </a:t>
            </a:r>
          </a:p>
        </p:txBody>
      </p:sp>
    </p:spTree>
    <p:extLst>
      <p:ext uri="{BB962C8B-B14F-4D97-AF65-F5344CB8AC3E}">
        <p14:creationId xmlns:p14="http://schemas.microsoft.com/office/powerpoint/2010/main" val="305635970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计算机网络在信息时代的作用</a:t>
            </a:r>
          </a:p>
        </p:txBody>
      </p:sp>
      <p:grpSp>
        <p:nvGrpSpPr>
          <p:cNvPr id="34" name="组合 33"/>
          <p:cNvGrpSpPr/>
          <p:nvPr/>
        </p:nvGrpSpPr>
        <p:grpSpPr>
          <a:xfrm>
            <a:off x="4373324" y="2241344"/>
            <a:ext cx="2339102" cy="2483800"/>
            <a:chOff x="3270745" y="1151665"/>
            <a:chExt cx="2339102" cy="2483800"/>
          </a:xfrm>
        </p:grpSpPr>
        <p:pic>
          <p:nvPicPr>
            <p:cNvPr id="35" name="图片 34"/>
            <p:cNvPicPr>
              <a:picLocks noChangeAspect="1"/>
            </p:cNvPicPr>
            <p:nvPr/>
          </p:nvPicPr>
          <p:blipFill rotWithShape="1">
            <a:blip r:embed="rId3" cstate="print">
              <a:extLst>
                <a:ext uri="{28A0092B-C50C-407E-A947-70E740481C1C}">
                  <a14:useLocalDpi xmlns:a14="http://schemas.microsoft.com/office/drawing/2010/main" val="0"/>
                </a:ext>
              </a:extLst>
            </a:blip>
            <a:srcRect l="36426" t="20817" r="35548" b="30525"/>
            <a:stretch/>
          </p:blipFill>
          <p:spPr>
            <a:xfrm>
              <a:off x="3409245" y="1596067"/>
              <a:ext cx="2088232" cy="2039398"/>
            </a:xfrm>
            <a:prstGeom prst="rect">
              <a:avLst/>
            </a:prstGeom>
          </p:spPr>
        </p:pic>
        <p:sp>
          <p:nvSpPr>
            <p:cNvPr id="36" name="矩形 35"/>
            <p:cNvSpPr/>
            <p:nvPr/>
          </p:nvSpPr>
          <p:spPr>
            <a:xfrm>
              <a:off x="3270745" y="1151665"/>
              <a:ext cx="2339102" cy="523220"/>
            </a:xfrm>
            <a:prstGeom prst="rect">
              <a:avLst/>
            </a:prstGeom>
          </p:spPr>
          <p:txBody>
            <a:bodyPr wrap="none">
              <a:spAutoFit/>
            </a:bodyPr>
            <a:lstStyle/>
            <a:p>
              <a:pPr algn="ctr"/>
              <a:r>
                <a:rPr lang="fr-FR" altLang="zh-CN" sz="2800" b="1" dirty="0">
                  <a:solidFill>
                    <a:srgbClr val="1C1C1C"/>
                  </a:solidFill>
                  <a:latin typeface="微软雅黑" pitchFamily="34" charset="-122"/>
                  <a:ea typeface="微软雅黑" pitchFamily="34" charset="-122"/>
                </a:rPr>
                <a:t>有线电视网络</a:t>
              </a:r>
              <a:endParaRPr lang="zh-CN" altLang="en-US" sz="2800" dirty="0">
                <a:solidFill>
                  <a:srgbClr val="1C1C1C"/>
                </a:solidFill>
              </a:endParaRPr>
            </a:p>
          </p:txBody>
        </p:sp>
      </p:grpSp>
      <p:grpSp>
        <p:nvGrpSpPr>
          <p:cNvPr id="37" name="组合 36"/>
          <p:cNvGrpSpPr/>
          <p:nvPr/>
        </p:nvGrpSpPr>
        <p:grpSpPr>
          <a:xfrm>
            <a:off x="1729016" y="2241344"/>
            <a:ext cx="2174379" cy="2535067"/>
            <a:chOff x="626437" y="1151665"/>
            <a:chExt cx="2174379" cy="2535067"/>
          </a:xfrm>
        </p:grpSpPr>
        <p:pic>
          <p:nvPicPr>
            <p:cNvPr id="38" name="图片 37"/>
            <p:cNvPicPr>
              <a:picLocks noChangeAspect="1"/>
            </p:cNvPicPr>
            <p:nvPr/>
          </p:nvPicPr>
          <p:blipFill rotWithShape="1">
            <a:blip r:embed="rId3" cstate="print">
              <a:extLst>
                <a:ext uri="{28A0092B-C50C-407E-A947-70E740481C1C}">
                  <a14:useLocalDpi xmlns:a14="http://schemas.microsoft.com/office/drawing/2010/main" val="0"/>
                </a:ext>
              </a:extLst>
            </a:blip>
            <a:srcRect l="4184" t="20817" r="66798" b="29681"/>
            <a:stretch/>
          </p:blipFill>
          <p:spPr>
            <a:xfrm>
              <a:off x="626437" y="1600230"/>
              <a:ext cx="2174379" cy="2086502"/>
            </a:xfrm>
            <a:prstGeom prst="rect">
              <a:avLst/>
            </a:prstGeom>
          </p:spPr>
        </p:pic>
        <p:sp>
          <p:nvSpPr>
            <p:cNvPr id="40" name="矩形 39"/>
            <p:cNvSpPr/>
            <p:nvPr/>
          </p:nvSpPr>
          <p:spPr>
            <a:xfrm>
              <a:off x="903149" y="1151665"/>
              <a:ext cx="1620957" cy="523220"/>
            </a:xfrm>
            <a:prstGeom prst="rect">
              <a:avLst/>
            </a:prstGeom>
          </p:spPr>
          <p:txBody>
            <a:bodyPr wrap="none">
              <a:spAutoFit/>
            </a:bodyPr>
            <a:lstStyle/>
            <a:p>
              <a:pPr algn="ctr"/>
              <a:r>
                <a:rPr lang="zh-CN" altLang="en-US" sz="2800" b="1" dirty="0">
                  <a:solidFill>
                    <a:srgbClr val="1C1C1C"/>
                  </a:solidFill>
                  <a:latin typeface="微软雅黑" pitchFamily="34" charset="-122"/>
                  <a:ea typeface="微软雅黑" pitchFamily="34" charset="-122"/>
                </a:rPr>
                <a:t>电信</a:t>
              </a:r>
              <a:r>
                <a:rPr lang="fr-FR" altLang="zh-CN" sz="2800" b="1" dirty="0" smtClean="0">
                  <a:solidFill>
                    <a:srgbClr val="1C1C1C"/>
                  </a:solidFill>
                  <a:latin typeface="微软雅黑" pitchFamily="34" charset="-122"/>
                  <a:ea typeface="微软雅黑" pitchFamily="34" charset="-122"/>
                </a:rPr>
                <a:t>网络</a:t>
              </a:r>
              <a:endParaRPr lang="zh-CN" altLang="en-US" sz="2800" dirty="0">
                <a:solidFill>
                  <a:srgbClr val="1C1C1C"/>
                </a:solidFill>
              </a:endParaRPr>
            </a:p>
          </p:txBody>
        </p:sp>
      </p:grpSp>
      <p:grpSp>
        <p:nvGrpSpPr>
          <p:cNvPr id="42" name="组合 41"/>
          <p:cNvGrpSpPr/>
          <p:nvPr/>
        </p:nvGrpSpPr>
        <p:grpSpPr>
          <a:xfrm>
            <a:off x="7286229" y="2241344"/>
            <a:ext cx="2148220" cy="2486748"/>
            <a:chOff x="6183650" y="1151665"/>
            <a:chExt cx="2148220" cy="2486748"/>
          </a:xfrm>
        </p:grpSpPr>
        <p:pic>
          <p:nvPicPr>
            <p:cNvPr id="47" name="图片 46"/>
            <p:cNvPicPr>
              <a:picLocks noChangeAspect="1"/>
            </p:cNvPicPr>
            <p:nvPr/>
          </p:nvPicPr>
          <p:blipFill rotWithShape="1">
            <a:blip r:embed="rId4" cstate="print">
              <a:extLst>
                <a:ext uri="{28A0092B-C50C-407E-A947-70E740481C1C}">
                  <a14:useLocalDpi xmlns:a14="http://schemas.microsoft.com/office/drawing/2010/main" val="0"/>
                </a:ext>
              </a:extLst>
            </a:blip>
            <a:srcRect l="67179" t="20817" r="4051" b="30894"/>
            <a:stretch/>
          </p:blipFill>
          <p:spPr>
            <a:xfrm>
              <a:off x="6183650" y="1610224"/>
              <a:ext cx="2148220" cy="2028189"/>
            </a:xfrm>
            <a:prstGeom prst="rect">
              <a:avLst/>
            </a:prstGeom>
          </p:spPr>
        </p:pic>
        <p:sp>
          <p:nvSpPr>
            <p:cNvPr id="48" name="矩形 47"/>
            <p:cNvSpPr/>
            <p:nvPr/>
          </p:nvSpPr>
          <p:spPr>
            <a:xfrm>
              <a:off x="6255518" y="1151665"/>
              <a:ext cx="1980030" cy="523220"/>
            </a:xfrm>
            <a:prstGeom prst="rect">
              <a:avLst/>
            </a:prstGeom>
          </p:spPr>
          <p:txBody>
            <a:bodyPr wrap="none">
              <a:spAutoFit/>
            </a:bodyPr>
            <a:lstStyle/>
            <a:p>
              <a:pPr algn="ctr"/>
              <a:r>
                <a:rPr lang="zh-CN" altLang="en-US" sz="2800" b="1" dirty="0">
                  <a:solidFill>
                    <a:srgbClr val="1C1C1C"/>
                  </a:solidFill>
                  <a:latin typeface="微软雅黑" pitchFamily="34" charset="-122"/>
                  <a:ea typeface="微软雅黑" pitchFamily="34" charset="-122"/>
                </a:rPr>
                <a:t>计算机</a:t>
              </a:r>
              <a:r>
                <a:rPr lang="fr-FR" altLang="zh-CN" sz="2800" b="1" dirty="0" smtClean="0">
                  <a:solidFill>
                    <a:srgbClr val="1C1C1C"/>
                  </a:solidFill>
                  <a:latin typeface="微软雅黑" pitchFamily="34" charset="-122"/>
                  <a:ea typeface="微软雅黑" pitchFamily="34" charset="-122"/>
                </a:rPr>
                <a:t>网络</a:t>
              </a:r>
              <a:endParaRPr lang="zh-CN" altLang="en-US" sz="2800" dirty="0">
                <a:solidFill>
                  <a:srgbClr val="1C1C1C"/>
                </a:solidFill>
              </a:endParaRPr>
            </a:p>
          </p:txBody>
        </p:sp>
      </p:grpSp>
      <p:sp>
        <p:nvSpPr>
          <p:cNvPr id="49" name="矩形 48"/>
          <p:cNvSpPr/>
          <p:nvPr/>
        </p:nvSpPr>
        <p:spPr>
          <a:xfrm>
            <a:off x="1640931" y="4725144"/>
            <a:ext cx="2438845" cy="810478"/>
          </a:xfrm>
          <a:prstGeom prst="rect">
            <a:avLst/>
          </a:prstGeom>
        </p:spPr>
        <p:txBody>
          <a:bodyPr wrap="square">
            <a:spAutoFit/>
          </a:bodyPr>
          <a:lstStyle/>
          <a:p>
            <a:pPr>
              <a:lnSpc>
                <a:spcPts val="2800"/>
              </a:lnSpc>
            </a:pPr>
            <a:r>
              <a:rPr lang="fr-FR" altLang="zh-CN" sz="2400" b="1" dirty="0">
                <a:solidFill>
                  <a:srgbClr val="1C1C1C"/>
                </a:solidFill>
                <a:latin typeface="微软雅黑" pitchFamily="34" charset="-122"/>
                <a:ea typeface="微软雅黑" pitchFamily="34" charset="-122"/>
              </a:rPr>
              <a:t>提供电话、</a:t>
            </a:r>
            <a:r>
              <a:rPr lang="fr-FR" altLang="zh-CN" sz="2400" b="1" dirty="0" smtClean="0">
                <a:solidFill>
                  <a:srgbClr val="1C1C1C"/>
                </a:solidFill>
                <a:latin typeface="微软雅黑" pitchFamily="34" charset="-122"/>
                <a:ea typeface="微软雅黑" pitchFamily="34" charset="-122"/>
              </a:rPr>
              <a:t>电报及传真等服务</a:t>
            </a:r>
            <a:endParaRPr lang="fr-FR" altLang="zh-CN" sz="2400" b="1" dirty="0">
              <a:solidFill>
                <a:srgbClr val="1C1C1C"/>
              </a:solidFill>
              <a:latin typeface="微软雅黑" pitchFamily="34" charset="-122"/>
              <a:ea typeface="微软雅黑" pitchFamily="34" charset="-122"/>
            </a:endParaRPr>
          </a:p>
        </p:txBody>
      </p:sp>
      <p:sp>
        <p:nvSpPr>
          <p:cNvPr id="50" name="矩形 49"/>
          <p:cNvSpPr/>
          <p:nvPr/>
        </p:nvSpPr>
        <p:spPr>
          <a:xfrm>
            <a:off x="4511824" y="4706754"/>
            <a:ext cx="2088232" cy="810478"/>
          </a:xfrm>
          <a:prstGeom prst="rect">
            <a:avLst/>
          </a:prstGeom>
        </p:spPr>
        <p:txBody>
          <a:bodyPr wrap="square">
            <a:spAutoFit/>
          </a:bodyPr>
          <a:lstStyle/>
          <a:p>
            <a:pPr algn="ctr">
              <a:lnSpc>
                <a:spcPts val="2800"/>
              </a:lnSpc>
            </a:pPr>
            <a:r>
              <a:rPr lang="fr-FR" altLang="zh-CN" sz="2400" b="1" dirty="0" smtClean="0">
                <a:solidFill>
                  <a:srgbClr val="1C1C1C"/>
                </a:solidFill>
                <a:latin typeface="微软雅黑" pitchFamily="34" charset="-122"/>
                <a:ea typeface="微软雅黑" pitchFamily="34" charset="-122"/>
              </a:rPr>
              <a:t>向用户传送各种电视节目</a:t>
            </a:r>
            <a:endParaRPr lang="zh-CN" altLang="en-US" sz="2400" b="1" dirty="0">
              <a:solidFill>
                <a:srgbClr val="1C1C1C"/>
              </a:solidFill>
              <a:latin typeface="微软雅黑" pitchFamily="34" charset="-122"/>
              <a:ea typeface="微软雅黑" pitchFamily="34" charset="-122"/>
            </a:endParaRPr>
          </a:p>
        </p:txBody>
      </p:sp>
      <p:sp>
        <p:nvSpPr>
          <p:cNvPr id="51" name="矩形 50"/>
          <p:cNvSpPr/>
          <p:nvPr/>
        </p:nvSpPr>
        <p:spPr>
          <a:xfrm>
            <a:off x="6960096" y="4706754"/>
            <a:ext cx="2737843" cy="810478"/>
          </a:xfrm>
          <a:prstGeom prst="rect">
            <a:avLst/>
          </a:prstGeom>
        </p:spPr>
        <p:txBody>
          <a:bodyPr wrap="square">
            <a:spAutoFit/>
          </a:bodyPr>
          <a:lstStyle/>
          <a:p>
            <a:pPr>
              <a:lnSpc>
                <a:spcPts val="2800"/>
              </a:lnSpc>
            </a:pPr>
            <a:r>
              <a:rPr lang="fr-FR" altLang="zh-CN" sz="2400" b="1" dirty="0" smtClean="0">
                <a:solidFill>
                  <a:srgbClr val="1C1C1C"/>
                </a:solidFill>
                <a:latin typeface="微软雅黑" pitchFamily="34" charset="-122"/>
                <a:ea typeface="微软雅黑" pitchFamily="34" charset="-122"/>
              </a:rPr>
              <a:t>使用户能在计算机之间传送数据文件</a:t>
            </a:r>
            <a:endParaRPr lang="zh-CN" altLang="en-US" sz="2400" b="1" dirty="0">
              <a:solidFill>
                <a:srgbClr val="1C1C1C"/>
              </a:solidFill>
              <a:latin typeface="微软雅黑" pitchFamily="34" charset="-122"/>
              <a:ea typeface="微软雅黑" pitchFamily="34" charset="-122"/>
            </a:endParaRPr>
          </a:p>
        </p:txBody>
      </p:sp>
      <p:grpSp>
        <p:nvGrpSpPr>
          <p:cNvPr id="52" name="组合 51"/>
          <p:cNvGrpSpPr>
            <a:grpSpLocks/>
          </p:cNvGrpSpPr>
          <p:nvPr/>
        </p:nvGrpSpPr>
        <p:grpSpPr bwMode="auto">
          <a:xfrm>
            <a:off x="1909046" y="5695528"/>
            <a:ext cx="7355306" cy="685800"/>
            <a:chOff x="944499" y="4852174"/>
            <a:chExt cx="7009644" cy="809625"/>
          </a:xfrm>
        </p:grpSpPr>
        <p:sp>
          <p:nvSpPr>
            <p:cNvPr id="53" name="Rectangle 118"/>
            <p:cNvSpPr>
              <a:spLocks noChangeArrowheads="1"/>
            </p:cNvSpPr>
            <p:nvPr/>
          </p:nvSpPr>
          <p:spPr bwMode="auto">
            <a:xfrm>
              <a:off x="944499" y="4852174"/>
              <a:ext cx="7009644" cy="809625"/>
            </a:xfrm>
            <a:prstGeom prst="rect">
              <a:avLst/>
            </a:prstGeom>
            <a:solidFill>
              <a:srgbClr val="0098F6"/>
            </a:solidFill>
            <a:ln w="9525" algn="ctr">
              <a:noFill/>
              <a:miter lim="1000000"/>
              <a:headEnd/>
              <a:tailEnd/>
            </a:ln>
            <a:effectLst/>
            <a:scene3d>
              <a:camera prst="orthographicFront">
                <a:rot lat="0" lon="0" rev="0"/>
              </a:camera>
              <a:lightRig rig="glow" dir="t">
                <a:rot lat="0" lon="0" rev="14100000"/>
              </a:lightRig>
            </a:scene3d>
            <a:sp3d prstMaterial="softEdge">
              <a:bevelT w="127000" prst="artDeco"/>
            </a:sp3d>
            <a:extLst/>
          </p:spPr>
          <p:txBody>
            <a:bodyPr wrap="none" anchor="ctr"/>
            <a:lstStyle/>
            <a:p>
              <a:pPr eaLnBrk="0" fontAlgn="auto" hangingPunct="0">
                <a:spcBef>
                  <a:spcPts val="0"/>
                </a:spcBef>
                <a:spcAft>
                  <a:spcPts val="0"/>
                </a:spcAft>
                <a:defRPr/>
              </a:pPr>
              <a:endParaRPr lang="fr-FR">
                <a:latin typeface="宋体" charset="-122"/>
                <a:ea typeface="+mn-ea"/>
              </a:endParaRPr>
            </a:p>
          </p:txBody>
        </p:sp>
        <p:sp>
          <p:nvSpPr>
            <p:cNvPr id="54" name="矩形 6"/>
            <p:cNvSpPr>
              <a:spLocks noChangeArrowheads="1"/>
            </p:cNvSpPr>
            <p:nvPr/>
          </p:nvSpPr>
          <p:spPr bwMode="auto">
            <a:xfrm>
              <a:off x="1068097" y="4981723"/>
              <a:ext cx="6677750" cy="566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800" b="1" dirty="0">
                  <a:solidFill>
                    <a:schemeClr val="bg1"/>
                  </a:solidFill>
                  <a:latin typeface="微软雅黑" pitchFamily="34" charset="-122"/>
                  <a:ea typeface="微软雅黑" pitchFamily="34" charset="-122"/>
                </a:rPr>
                <a:t>发展</a:t>
              </a:r>
              <a:r>
                <a:rPr lang="zh-CN" altLang="en-US" sz="2800" b="1" dirty="0" smtClean="0">
                  <a:solidFill>
                    <a:schemeClr val="bg1"/>
                  </a:solidFill>
                  <a:latin typeface="微软雅黑" pitchFamily="34" charset="-122"/>
                  <a:ea typeface="微软雅黑" pitchFamily="34" charset="-122"/>
                </a:rPr>
                <a:t>最快并</a:t>
              </a:r>
              <a:r>
                <a:rPr lang="zh-CN" altLang="en-US" sz="2800" b="1" dirty="0">
                  <a:solidFill>
                    <a:schemeClr val="bg1"/>
                  </a:solidFill>
                  <a:latin typeface="微软雅黑" pitchFamily="34" charset="-122"/>
                  <a:ea typeface="微软雅黑" pitchFamily="34" charset="-122"/>
                </a:rPr>
                <a:t>起到核心作用的是</a:t>
              </a:r>
              <a:r>
                <a:rPr lang="zh-CN" altLang="en-US" sz="2800" b="1" dirty="0">
                  <a:solidFill>
                    <a:srgbClr val="FFFF00"/>
                  </a:solidFill>
                  <a:latin typeface="微软雅黑" pitchFamily="34" charset="-122"/>
                  <a:ea typeface="微软雅黑" pitchFamily="34" charset="-122"/>
                </a:rPr>
                <a:t>计算机网络。</a:t>
              </a:r>
              <a:endParaRPr lang="en-US" altLang="zh-CN" sz="2800" b="1" dirty="0">
                <a:solidFill>
                  <a:srgbClr val="FFFF00"/>
                </a:solidFill>
                <a:latin typeface="微软雅黑" pitchFamily="34" charset="-122"/>
                <a:ea typeface="微软雅黑" pitchFamily="34" charset="-122"/>
              </a:endParaRPr>
            </a:p>
          </p:txBody>
        </p:sp>
      </p:grpSp>
      <p:grpSp>
        <p:nvGrpSpPr>
          <p:cNvPr id="57" name="组合 56"/>
          <p:cNvGrpSpPr/>
          <p:nvPr/>
        </p:nvGrpSpPr>
        <p:grpSpPr>
          <a:xfrm>
            <a:off x="1568923" y="1494211"/>
            <a:ext cx="8129016" cy="523220"/>
            <a:chOff x="466344" y="1151890"/>
            <a:chExt cx="8129016" cy="523220"/>
          </a:xfrm>
        </p:grpSpPr>
        <p:sp>
          <p:nvSpPr>
            <p:cNvPr id="59" name="AutoShape 5"/>
            <p:cNvSpPr>
              <a:spLocks noChangeArrowheads="1"/>
            </p:cNvSpPr>
            <p:nvPr/>
          </p:nvSpPr>
          <p:spPr bwMode="auto">
            <a:xfrm>
              <a:off x="466344" y="1185227"/>
              <a:ext cx="8129016" cy="489883"/>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800"/>
            </a:p>
          </p:txBody>
        </p:sp>
        <p:sp>
          <p:nvSpPr>
            <p:cNvPr id="60" name="Rectangle 6"/>
            <p:cNvSpPr>
              <a:spLocks noChangeArrowheads="1"/>
            </p:cNvSpPr>
            <p:nvPr/>
          </p:nvSpPr>
          <p:spPr bwMode="auto">
            <a:xfrm>
              <a:off x="2643158" y="1151890"/>
              <a:ext cx="37753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800" b="1" dirty="0">
                  <a:solidFill>
                    <a:schemeClr val="bg1"/>
                  </a:solidFill>
                  <a:latin typeface="微软雅黑" pitchFamily="34" charset="-122"/>
                  <a:ea typeface="微软雅黑" pitchFamily="34" charset="-122"/>
                </a:rPr>
                <a:t>大众熟悉的三大类网络</a:t>
              </a:r>
              <a:endParaRPr lang="fr-FR" altLang="zh-CN" sz="28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213327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fade">
                                      <p:cBhvr>
                                        <p:cTn id="12" dur="1000"/>
                                        <p:tgtEl>
                                          <p:spTgt spid="49"/>
                                        </p:tgtEl>
                                      </p:cBhvr>
                                    </p:animEffect>
                                    <p:anim calcmode="lin" valueType="num">
                                      <p:cBhvr>
                                        <p:cTn id="13" dur="1000" fill="hold"/>
                                        <p:tgtEl>
                                          <p:spTgt spid="49"/>
                                        </p:tgtEl>
                                        <p:attrNameLst>
                                          <p:attrName>ppt_x</p:attrName>
                                        </p:attrNameLst>
                                      </p:cBhvr>
                                      <p:tavLst>
                                        <p:tav tm="0">
                                          <p:val>
                                            <p:strVal val="#ppt_x"/>
                                          </p:val>
                                        </p:tav>
                                        <p:tav tm="100000">
                                          <p:val>
                                            <p:strVal val="#ppt_x"/>
                                          </p:val>
                                        </p:tav>
                                      </p:tavLst>
                                    </p:anim>
                                    <p:anim calcmode="lin" valueType="num">
                                      <p:cBhvr>
                                        <p:cTn id="14"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1000"/>
                                        <p:tgtEl>
                                          <p:spTgt spid="34"/>
                                        </p:tgtEl>
                                      </p:cBhvr>
                                    </p:animEffect>
                                    <p:anim calcmode="lin" valueType="num">
                                      <p:cBhvr>
                                        <p:cTn id="20" dur="1000" fill="hold"/>
                                        <p:tgtEl>
                                          <p:spTgt spid="34"/>
                                        </p:tgtEl>
                                        <p:attrNameLst>
                                          <p:attrName>ppt_x</p:attrName>
                                        </p:attrNameLst>
                                      </p:cBhvr>
                                      <p:tavLst>
                                        <p:tav tm="0">
                                          <p:val>
                                            <p:strVal val="#ppt_x"/>
                                          </p:val>
                                        </p:tav>
                                        <p:tav tm="100000">
                                          <p:val>
                                            <p:strVal val="#ppt_x"/>
                                          </p:val>
                                        </p:tav>
                                      </p:tavLst>
                                    </p:anim>
                                    <p:anim calcmode="lin" valueType="num">
                                      <p:cBhvr>
                                        <p:cTn id="21" dur="1000" fill="hold"/>
                                        <p:tgtEl>
                                          <p:spTgt spid="3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1000"/>
                                        <p:tgtEl>
                                          <p:spTgt spid="50"/>
                                        </p:tgtEl>
                                      </p:cBhvr>
                                    </p:animEffect>
                                    <p:anim calcmode="lin" valueType="num">
                                      <p:cBhvr>
                                        <p:cTn id="25" dur="1000" fill="hold"/>
                                        <p:tgtEl>
                                          <p:spTgt spid="50"/>
                                        </p:tgtEl>
                                        <p:attrNameLst>
                                          <p:attrName>ppt_x</p:attrName>
                                        </p:attrNameLst>
                                      </p:cBhvr>
                                      <p:tavLst>
                                        <p:tav tm="0">
                                          <p:val>
                                            <p:strVal val="#ppt_x"/>
                                          </p:val>
                                        </p:tav>
                                        <p:tav tm="100000">
                                          <p:val>
                                            <p:strVal val="#ppt_x"/>
                                          </p:val>
                                        </p:tav>
                                      </p:tavLst>
                                    </p:anim>
                                    <p:anim calcmode="lin" valueType="num">
                                      <p:cBhvr>
                                        <p:cTn id="26"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1000"/>
                                        <p:tgtEl>
                                          <p:spTgt spid="42"/>
                                        </p:tgtEl>
                                      </p:cBhvr>
                                    </p:animEffect>
                                    <p:anim calcmode="lin" valueType="num">
                                      <p:cBhvr>
                                        <p:cTn id="32" dur="1000" fill="hold"/>
                                        <p:tgtEl>
                                          <p:spTgt spid="42"/>
                                        </p:tgtEl>
                                        <p:attrNameLst>
                                          <p:attrName>ppt_x</p:attrName>
                                        </p:attrNameLst>
                                      </p:cBhvr>
                                      <p:tavLst>
                                        <p:tav tm="0">
                                          <p:val>
                                            <p:strVal val="#ppt_x"/>
                                          </p:val>
                                        </p:tav>
                                        <p:tav tm="100000">
                                          <p:val>
                                            <p:strVal val="#ppt_x"/>
                                          </p:val>
                                        </p:tav>
                                      </p:tavLst>
                                    </p:anim>
                                    <p:anim calcmode="lin" valueType="num">
                                      <p:cBhvr>
                                        <p:cTn id="33" dur="1000" fill="hold"/>
                                        <p:tgtEl>
                                          <p:spTgt spid="4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fade">
                                      <p:cBhvr>
                                        <p:cTn id="36" dur="1000"/>
                                        <p:tgtEl>
                                          <p:spTgt spid="51"/>
                                        </p:tgtEl>
                                      </p:cBhvr>
                                    </p:animEffect>
                                    <p:anim calcmode="lin" valueType="num">
                                      <p:cBhvr>
                                        <p:cTn id="37" dur="1000" fill="hold"/>
                                        <p:tgtEl>
                                          <p:spTgt spid="51"/>
                                        </p:tgtEl>
                                        <p:attrNameLst>
                                          <p:attrName>ppt_x</p:attrName>
                                        </p:attrNameLst>
                                      </p:cBhvr>
                                      <p:tavLst>
                                        <p:tav tm="0">
                                          <p:val>
                                            <p:strVal val="#ppt_x"/>
                                          </p:val>
                                        </p:tav>
                                        <p:tav tm="100000">
                                          <p:val>
                                            <p:strVal val="#ppt_x"/>
                                          </p:val>
                                        </p:tav>
                                      </p:tavLst>
                                    </p:anim>
                                    <p:anim calcmode="lin" valueType="num">
                                      <p:cBhvr>
                                        <p:cTn id="38"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2"/>
                                        </p:tgtEl>
                                        <p:attrNameLst>
                                          <p:attrName>style.visibility</p:attrName>
                                        </p:attrNameLst>
                                      </p:cBhvr>
                                      <p:to>
                                        <p:strVal val="visible"/>
                                      </p:to>
                                    </p:set>
                                    <p:animEffect transition="in" filter="fade">
                                      <p:cBhvr>
                                        <p:cTn id="4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计算机网络在信息时代的作用</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31504" y="2132856"/>
            <a:ext cx="7991848" cy="4418260"/>
          </a:xfrm>
          <a:prstGeom prst="rect">
            <a:avLst/>
          </a:prstGeom>
        </p:spPr>
      </p:pic>
      <p:grpSp>
        <p:nvGrpSpPr>
          <p:cNvPr id="22" name="组合 21"/>
          <p:cNvGrpSpPr/>
          <p:nvPr/>
        </p:nvGrpSpPr>
        <p:grpSpPr>
          <a:xfrm>
            <a:off x="1567384" y="1490608"/>
            <a:ext cx="8129016" cy="523220"/>
            <a:chOff x="466344" y="1151890"/>
            <a:chExt cx="8129016" cy="523220"/>
          </a:xfrm>
        </p:grpSpPr>
        <p:sp>
          <p:nvSpPr>
            <p:cNvPr id="23" name="AutoShape 5"/>
            <p:cNvSpPr>
              <a:spLocks noChangeArrowheads="1"/>
            </p:cNvSpPr>
            <p:nvPr/>
          </p:nvSpPr>
          <p:spPr bwMode="auto">
            <a:xfrm>
              <a:off x="466344" y="1185228"/>
              <a:ext cx="8129016" cy="48988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Rectangle 6"/>
            <p:cNvSpPr>
              <a:spLocks noChangeArrowheads="1"/>
            </p:cNvSpPr>
            <p:nvPr/>
          </p:nvSpPr>
          <p:spPr bwMode="auto">
            <a:xfrm>
              <a:off x="1206867" y="1151890"/>
              <a:ext cx="66479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800" b="1" dirty="0">
                  <a:solidFill>
                    <a:schemeClr val="bg1"/>
                  </a:solidFill>
                  <a:latin typeface="微软雅黑" pitchFamily="34" charset="-122"/>
                  <a:ea typeface="微软雅黑" pitchFamily="34" charset="-122"/>
                </a:rPr>
                <a:t>“三网融合”：融入现代计算机网络技术</a:t>
              </a:r>
              <a:endParaRPr lang="fr-FR" altLang="zh-CN" sz="28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9484306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计算机网络在信息时代的作用</a:t>
            </a:r>
          </a:p>
        </p:txBody>
      </p:sp>
      <p:grpSp>
        <p:nvGrpSpPr>
          <p:cNvPr id="9" name="组合 8"/>
          <p:cNvGrpSpPr/>
          <p:nvPr/>
        </p:nvGrpSpPr>
        <p:grpSpPr>
          <a:xfrm>
            <a:off x="1568923" y="1494160"/>
            <a:ext cx="8129016" cy="523220"/>
            <a:chOff x="466344" y="1151890"/>
            <a:chExt cx="8129016" cy="523220"/>
          </a:xfrm>
        </p:grpSpPr>
        <p:sp>
          <p:nvSpPr>
            <p:cNvPr id="10" name="AutoShape 5"/>
            <p:cNvSpPr>
              <a:spLocks noChangeArrowheads="1"/>
            </p:cNvSpPr>
            <p:nvPr/>
          </p:nvSpPr>
          <p:spPr bwMode="auto">
            <a:xfrm>
              <a:off x="466344" y="1185228"/>
              <a:ext cx="8129016" cy="48988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6"/>
            <p:cNvSpPr>
              <a:spLocks noChangeArrowheads="1"/>
            </p:cNvSpPr>
            <p:nvPr/>
          </p:nvSpPr>
          <p:spPr bwMode="auto">
            <a:xfrm>
              <a:off x="1019670" y="1151890"/>
              <a:ext cx="702237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zh-CN" sz="2800" b="1" dirty="0" smtClean="0">
                  <a:solidFill>
                    <a:schemeClr val="bg1"/>
                  </a:solidFill>
                  <a:latin typeface="微软雅黑" pitchFamily="34" charset="-122"/>
                  <a:ea typeface="微软雅黑" pitchFamily="34" charset="-122"/>
                </a:rPr>
                <a:t>Internet</a:t>
              </a:r>
              <a:r>
                <a:rPr lang="zh-CN" altLang="en-US" sz="2800" b="1" dirty="0">
                  <a:solidFill>
                    <a:schemeClr val="bg1"/>
                  </a:solidFill>
                  <a:latin typeface="微软雅黑" pitchFamily="34" charset="-122"/>
                  <a:ea typeface="微软雅黑" pitchFamily="34" charset="-122"/>
                </a:rPr>
                <a:t>：全球</a:t>
              </a:r>
              <a:r>
                <a:rPr lang="zh-CN" altLang="en-US" sz="2800" b="1" dirty="0" smtClean="0">
                  <a:solidFill>
                    <a:schemeClr val="bg1"/>
                  </a:solidFill>
                  <a:latin typeface="微软雅黑" pitchFamily="34" charset="-122"/>
                  <a:ea typeface="微软雅黑" pitchFamily="34" charset="-122"/>
                </a:rPr>
                <a:t>最大、最重要的</a:t>
              </a:r>
              <a:r>
                <a:rPr lang="zh-CN" altLang="en-US" sz="2800" b="1" dirty="0">
                  <a:solidFill>
                    <a:schemeClr val="bg1"/>
                  </a:solidFill>
                  <a:latin typeface="微软雅黑" pitchFamily="34" charset="-122"/>
                  <a:ea typeface="微软雅黑" pitchFamily="34" charset="-122"/>
                </a:rPr>
                <a:t>计算机网络</a:t>
              </a:r>
              <a:endParaRPr lang="fr-FR" altLang="zh-CN" sz="2800" b="1" dirty="0">
                <a:solidFill>
                  <a:schemeClr val="bg1"/>
                </a:solidFill>
                <a:latin typeface="微软雅黑" pitchFamily="34" charset="-122"/>
                <a:ea typeface="微软雅黑" pitchFamily="34" charset="-122"/>
              </a:endParaRPr>
            </a:p>
          </p:txBody>
        </p:sp>
      </p:grpSp>
      <p:sp>
        <p:nvSpPr>
          <p:cNvPr id="12" name="内容占位符 10"/>
          <p:cNvSpPr>
            <a:spLocks noGrp="1"/>
          </p:cNvSpPr>
          <p:nvPr>
            <p:ph sz="quarter" idx="4294967295"/>
          </p:nvPr>
        </p:nvSpPr>
        <p:spPr>
          <a:xfrm>
            <a:off x="1568922" y="2055351"/>
            <a:ext cx="8559525" cy="3389873"/>
          </a:xfrm>
          <a:prstGeom prst="rect">
            <a:avLst/>
          </a:prstGeom>
        </p:spPr>
        <p:txBody>
          <a:bodyPr/>
          <a:lstStyle/>
          <a:p>
            <a:r>
              <a:rPr lang="zh-CN" altLang="en-US" b="1" dirty="0">
                <a:solidFill>
                  <a:srgbClr val="1C1C1C"/>
                </a:solidFill>
              </a:rPr>
              <a:t>如何称呼 </a:t>
            </a:r>
            <a:r>
              <a:rPr lang="en-US" altLang="zh-CN" b="1" dirty="0">
                <a:solidFill>
                  <a:srgbClr val="1C1C1C"/>
                </a:solidFill>
              </a:rPr>
              <a:t>Internet</a:t>
            </a:r>
            <a:r>
              <a:rPr lang="zh-CN" altLang="en-US" b="1" dirty="0">
                <a:solidFill>
                  <a:srgbClr val="1C1C1C"/>
                </a:solidFill>
              </a:rPr>
              <a:t>？</a:t>
            </a:r>
          </a:p>
          <a:p>
            <a:pPr lvl="1"/>
            <a:r>
              <a:rPr lang="zh-CN" altLang="en-US" b="1" dirty="0">
                <a:solidFill>
                  <a:srgbClr val="9900CC"/>
                </a:solidFill>
              </a:rPr>
              <a:t>因特网：</a:t>
            </a:r>
            <a:r>
              <a:rPr lang="zh-CN" altLang="en-US" b="1" dirty="0">
                <a:solidFill>
                  <a:srgbClr val="1C1C1C"/>
                </a:solidFill>
              </a:rPr>
              <a:t>推荐，但却长期</a:t>
            </a:r>
            <a:r>
              <a:rPr lang="zh-CN" altLang="en-US" b="1" dirty="0">
                <a:solidFill>
                  <a:srgbClr val="C00000"/>
                </a:solidFill>
              </a:rPr>
              <a:t>未得到推广。</a:t>
            </a:r>
          </a:p>
          <a:p>
            <a:pPr lvl="1"/>
            <a:r>
              <a:rPr lang="zh-CN" altLang="en-US" b="1" dirty="0">
                <a:solidFill>
                  <a:srgbClr val="FF0000"/>
                </a:solidFill>
              </a:rPr>
              <a:t>互联网：</a:t>
            </a:r>
            <a:r>
              <a:rPr lang="zh-CN" altLang="en-US" b="1" dirty="0">
                <a:solidFill>
                  <a:srgbClr val="1C1C1C"/>
                </a:solidFill>
              </a:rPr>
              <a:t>目前流行最广，</a:t>
            </a:r>
            <a:r>
              <a:rPr lang="zh-CN" altLang="en-US" b="1" dirty="0">
                <a:solidFill>
                  <a:srgbClr val="C00000"/>
                </a:solidFill>
              </a:rPr>
              <a:t>事实上的标准</a:t>
            </a:r>
            <a:r>
              <a:rPr lang="zh-CN" altLang="en-US" b="1" dirty="0">
                <a:solidFill>
                  <a:srgbClr val="1C1C1C"/>
                </a:solidFill>
              </a:rPr>
              <a:t>译名。</a:t>
            </a:r>
          </a:p>
          <a:p>
            <a:pPr lvl="1"/>
            <a:r>
              <a:rPr lang="zh-CN" altLang="en-US" b="1" dirty="0" smtClean="0">
                <a:solidFill>
                  <a:srgbClr val="0000CC"/>
                </a:solidFill>
              </a:rPr>
              <a:t>互连网：</a:t>
            </a:r>
            <a:r>
              <a:rPr lang="zh-CN" altLang="en-US" b="1" dirty="0" smtClean="0">
                <a:solidFill>
                  <a:srgbClr val="1C1C1C"/>
                </a:solidFill>
              </a:rPr>
              <a:t>局部范围互连起来的计算机网络。</a:t>
            </a:r>
            <a:endParaRPr lang="zh-CN" altLang="en-US" b="1" dirty="0">
              <a:solidFill>
                <a:srgbClr val="1C1C1C"/>
              </a:solidFill>
            </a:endParaRPr>
          </a:p>
        </p:txBody>
      </p:sp>
    </p:spTree>
    <p:extLst>
      <p:ext uri="{BB962C8B-B14F-4D97-AF65-F5344CB8AC3E}">
        <p14:creationId xmlns:p14="http://schemas.microsoft.com/office/powerpoint/2010/main" val="15246027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1.1 </a:t>
            </a:r>
            <a:r>
              <a:rPr lang="zh-CN" altLang="en-US" dirty="0"/>
              <a:t>计算机网络在信息时代的作用</a:t>
            </a:r>
          </a:p>
        </p:txBody>
      </p:sp>
      <p:grpSp>
        <p:nvGrpSpPr>
          <p:cNvPr id="15" name="组合 14"/>
          <p:cNvGrpSpPr/>
          <p:nvPr/>
        </p:nvGrpSpPr>
        <p:grpSpPr>
          <a:xfrm>
            <a:off x="1568923" y="1497868"/>
            <a:ext cx="8129016" cy="523220"/>
            <a:chOff x="466344" y="1151890"/>
            <a:chExt cx="8129016" cy="523220"/>
          </a:xfrm>
        </p:grpSpPr>
        <p:sp>
          <p:nvSpPr>
            <p:cNvPr id="16" name="AutoShape 5"/>
            <p:cNvSpPr>
              <a:spLocks noChangeArrowheads="1"/>
            </p:cNvSpPr>
            <p:nvPr/>
          </p:nvSpPr>
          <p:spPr bwMode="auto">
            <a:xfrm>
              <a:off x="466344" y="1185228"/>
              <a:ext cx="8129016" cy="489882"/>
            </a:xfrm>
            <a:prstGeom prst="roundRect">
              <a:avLst>
                <a:gd name="adj" fmla="val 16667"/>
              </a:avLst>
            </a:prstGeom>
            <a:solidFill>
              <a:srgbClr val="00B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Rectangle 6"/>
            <p:cNvSpPr>
              <a:spLocks noChangeArrowheads="1"/>
            </p:cNvSpPr>
            <p:nvPr/>
          </p:nvSpPr>
          <p:spPr bwMode="auto">
            <a:xfrm>
              <a:off x="2245616" y="1151890"/>
              <a:ext cx="457048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zh-CN" altLang="en-US" sz="2800" b="1" dirty="0">
                  <a:solidFill>
                    <a:schemeClr val="bg1"/>
                  </a:solidFill>
                  <a:latin typeface="微软雅黑" pitchFamily="34" charset="-122"/>
                  <a:ea typeface="微软雅黑" pitchFamily="34" charset="-122"/>
                </a:rPr>
                <a:t>互联网</a:t>
              </a:r>
              <a:r>
                <a:rPr lang="zh-CN" altLang="en-US" sz="2800" b="1" dirty="0" smtClean="0">
                  <a:solidFill>
                    <a:schemeClr val="bg1"/>
                  </a:solidFill>
                  <a:latin typeface="微软雅黑" pitchFamily="34" charset="-122"/>
                  <a:ea typeface="微软雅黑" pitchFamily="34" charset="-122"/>
                </a:rPr>
                <a:t>的 </a:t>
              </a:r>
              <a:r>
                <a:rPr lang="en-US" altLang="zh-CN" sz="2800" b="1" dirty="0" smtClean="0">
                  <a:solidFill>
                    <a:schemeClr val="bg1"/>
                  </a:solidFill>
                  <a:latin typeface="微软雅黑" pitchFamily="34" charset="-122"/>
                  <a:ea typeface="微软雅黑" pitchFamily="34" charset="-122"/>
                </a:rPr>
                <a:t>2 </a:t>
              </a:r>
              <a:r>
                <a:rPr lang="zh-CN" altLang="en-US" sz="2800" b="1" dirty="0" smtClean="0">
                  <a:solidFill>
                    <a:schemeClr val="bg1"/>
                  </a:solidFill>
                  <a:latin typeface="微软雅黑" pitchFamily="34" charset="-122"/>
                  <a:ea typeface="微软雅黑" pitchFamily="34" charset="-122"/>
                </a:rPr>
                <a:t>个重要</a:t>
              </a:r>
              <a:r>
                <a:rPr lang="zh-CN" altLang="en-US" sz="2800" b="1" dirty="0">
                  <a:solidFill>
                    <a:schemeClr val="bg1"/>
                  </a:solidFill>
                  <a:latin typeface="微软雅黑" pitchFamily="34" charset="-122"/>
                  <a:ea typeface="微软雅黑" pitchFamily="34" charset="-122"/>
                </a:rPr>
                <a:t>基本</a:t>
              </a:r>
              <a:r>
                <a:rPr lang="zh-CN" altLang="en-US" sz="2800" b="1" dirty="0" smtClean="0">
                  <a:solidFill>
                    <a:schemeClr val="bg1"/>
                  </a:solidFill>
                  <a:latin typeface="微软雅黑" pitchFamily="34" charset="-122"/>
                  <a:ea typeface="微软雅黑" pitchFamily="34" charset="-122"/>
                </a:rPr>
                <a:t>特点</a:t>
              </a:r>
              <a:endParaRPr lang="fr-FR" altLang="zh-CN" sz="2800" b="1" dirty="0">
                <a:solidFill>
                  <a:schemeClr val="bg1"/>
                </a:solidFill>
                <a:latin typeface="微软雅黑" pitchFamily="34" charset="-122"/>
                <a:ea typeface="微软雅黑" pitchFamily="34" charset="-122"/>
              </a:endParaRPr>
            </a:p>
          </p:txBody>
        </p:sp>
      </p:grpSp>
      <p:grpSp>
        <p:nvGrpSpPr>
          <p:cNvPr id="10" name="组合 9"/>
          <p:cNvGrpSpPr/>
          <p:nvPr/>
        </p:nvGrpSpPr>
        <p:grpSpPr>
          <a:xfrm>
            <a:off x="1775520" y="2132856"/>
            <a:ext cx="3818535" cy="1080120"/>
            <a:chOff x="-762395" y="-36050"/>
            <a:chExt cx="3818535" cy="890814"/>
          </a:xfrm>
        </p:grpSpPr>
        <p:sp>
          <p:nvSpPr>
            <p:cNvPr id="27" name="矩形 26"/>
            <p:cNvSpPr/>
            <p:nvPr/>
          </p:nvSpPr>
          <p:spPr>
            <a:xfrm>
              <a:off x="-762395" y="-36050"/>
              <a:ext cx="3818535" cy="890814"/>
            </a:xfrm>
            <a:prstGeom prst="rect">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8" name="矩形 27"/>
            <p:cNvSpPr/>
            <p:nvPr/>
          </p:nvSpPr>
          <p:spPr>
            <a:xfrm>
              <a:off x="-762395" y="82971"/>
              <a:ext cx="3818535" cy="77179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8016" tIns="73152" rIns="128016" bIns="73152" numCol="1" spcCol="1270" anchor="ctr" anchorCtr="0">
              <a:noAutofit/>
            </a:bodyPr>
            <a:lstStyle/>
            <a:p>
              <a:pPr lvl="0" algn="ctr" defTabSz="800100">
                <a:spcBef>
                  <a:spcPct val="0"/>
                </a:spcBef>
                <a:spcAft>
                  <a:spcPct val="35000"/>
                </a:spcAft>
              </a:pPr>
              <a:r>
                <a:rPr lang="zh-CN" altLang="en-US" sz="2800" b="1" kern="1200" dirty="0" smtClean="0">
                  <a:latin typeface="微软雅黑" panose="020B0503020204020204" pitchFamily="34" charset="-122"/>
                  <a:ea typeface="微软雅黑" panose="020B0503020204020204" pitchFamily="34" charset="-122"/>
                </a:rPr>
                <a:t>连通性 </a:t>
              </a:r>
              <a:r>
                <a:rPr lang="en-US" altLang="en-US" sz="2800" b="1" kern="1200" dirty="0" smtClean="0">
                  <a:latin typeface="微软雅黑" panose="020B0503020204020204" pitchFamily="34" charset="-122"/>
                  <a:ea typeface="微软雅黑" panose="020B0503020204020204" pitchFamily="34" charset="-122"/>
                </a:rPr>
                <a:t>(connectivity)</a:t>
              </a:r>
              <a:endParaRPr lang="zh-CN" altLang="en-US" sz="2800" b="1" kern="1200" dirty="0">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1775520" y="3332608"/>
            <a:ext cx="3818535" cy="2904704"/>
            <a:chOff x="0" y="925389"/>
            <a:chExt cx="3056109" cy="1560939"/>
          </a:xfrm>
        </p:grpSpPr>
        <p:sp>
          <p:nvSpPr>
            <p:cNvPr id="25" name="矩形 24"/>
            <p:cNvSpPr/>
            <p:nvPr/>
          </p:nvSpPr>
          <p:spPr>
            <a:xfrm>
              <a:off x="0" y="925389"/>
              <a:ext cx="3056109" cy="1560939"/>
            </a:xfrm>
            <a:prstGeom prst="rect">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26" name="矩形 25"/>
            <p:cNvSpPr/>
            <p:nvPr/>
          </p:nvSpPr>
          <p:spPr>
            <a:xfrm>
              <a:off x="0" y="925389"/>
              <a:ext cx="3056109" cy="156093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120000"/>
                </a:lnSpc>
                <a:spcBef>
                  <a:spcPct val="0"/>
                </a:spcBef>
                <a:spcAft>
                  <a:spcPct val="15000"/>
                </a:spcAft>
                <a:buChar char="••"/>
              </a:pPr>
              <a:r>
                <a:rPr lang="zh-CN" altLang="en-US" sz="2800" b="1" kern="1200" dirty="0" smtClean="0">
                  <a:solidFill>
                    <a:srgbClr val="1C1C1C"/>
                  </a:solidFill>
                  <a:latin typeface="微软雅黑" panose="020B0503020204020204" pitchFamily="34" charset="-122"/>
                  <a:ea typeface="微软雅黑" panose="020B0503020204020204" pitchFamily="34" charset="-122"/>
                </a:rPr>
                <a:t>使上网用户之间可以非常便捷、非常经济地交换各种信息好像这些用户终端都彼此直接连通一样。</a:t>
              </a:r>
              <a:endParaRPr lang="zh-CN" altLang="en-US" sz="2800" b="1" kern="1200" dirty="0">
                <a:solidFill>
                  <a:srgbClr val="1C1C1C"/>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5942459" y="2132856"/>
            <a:ext cx="3746497" cy="1080120"/>
            <a:chOff x="3483996" y="304428"/>
            <a:chExt cx="3746497" cy="889748"/>
          </a:xfrm>
        </p:grpSpPr>
        <p:sp>
          <p:nvSpPr>
            <p:cNvPr id="23" name="矩形 22"/>
            <p:cNvSpPr/>
            <p:nvPr/>
          </p:nvSpPr>
          <p:spPr>
            <a:xfrm>
              <a:off x="3556003" y="304428"/>
              <a:ext cx="3602481" cy="889748"/>
            </a:xfrm>
            <a:prstGeom prst="rect">
              <a:avLst/>
            </a:prstGeom>
            <a:solidFill>
              <a:srgbClr val="92D050"/>
            </a:solidFill>
          </p:spPr>
          <p:style>
            <a:lnRef idx="2">
              <a:schemeClr val="accent2">
                <a:hueOff val="-13200007"/>
                <a:satOff val="-77884"/>
                <a:lumOff val="40784"/>
                <a:alphaOff val="0"/>
              </a:schemeClr>
            </a:lnRef>
            <a:fillRef idx="1">
              <a:scrgbClr r="0" g="0" b="0"/>
            </a:fillRef>
            <a:effectRef idx="0">
              <a:schemeClr val="accent2">
                <a:hueOff val="-13200007"/>
                <a:satOff val="-77884"/>
                <a:lumOff val="40784"/>
                <a:alphaOff val="0"/>
              </a:schemeClr>
            </a:effectRef>
            <a:fontRef idx="minor">
              <a:schemeClr val="lt1"/>
            </a:fontRef>
          </p:style>
        </p:sp>
        <p:sp>
          <p:nvSpPr>
            <p:cNvPr id="24" name="矩形 23"/>
            <p:cNvSpPr/>
            <p:nvPr/>
          </p:nvSpPr>
          <p:spPr>
            <a:xfrm>
              <a:off x="3483996" y="423307"/>
              <a:ext cx="3746497" cy="7297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8016" tIns="73152" rIns="128016" bIns="73152" numCol="1" spcCol="1270" anchor="ctr" anchorCtr="0">
              <a:noAutofit/>
            </a:bodyPr>
            <a:lstStyle/>
            <a:p>
              <a:pPr algn="ctr" defTabSz="800100">
                <a:spcAft>
                  <a:spcPct val="35000"/>
                </a:spcAft>
              </a:pPr>
              <a:r>
                <a:rPr lang="zh-CN" altLang="en-US" sz="2800" b="1" dirty="0" smtClean="0">
                  <a:latin typeface="微软雅黑" panose="020B0503020204020204" pitchFamily="34" charset="-122"/>
                  <a:ea typeface="微软雅黑" panose="020B0503020204020204" pitchFamily="34" charset="-122"/>
                </a:rPr>
                <a:t>共享           </a:t>
              </a:r>
              <a:r>
                <a:rPr lang="en-US" altLang="en-US" sz="2800" b="1" dirty="0" smtClean="0">
                  <a:latin typeface="微软雅黑" panose="020B0503020204020204" pitchFamily="34" charset="-122"/>
                  <a:ea typeface="微软雅黑" panose="020B0503020204020204" pitchFamily="34" charset="-122"/>
                </a:rPr>
                <a:t>(</a:t>
              </a:r>
              <a:r>
                <a:rPr lang="en-US" altLang="en-US" sz="2800" b="1" dirty="0">
                  <a:latin typeface="微软雅黑" panose="020B0503020204020204" pitchFamily="34" charset="-122"/>
                  <a:ea typeface="微软雅黑" panose="020B0503020204020204" pitchFamily="34" charset="-122"/>
                </a:rPr>
                <a:t>Sharing)</a:t>
              </a:r>
              <a:endParaRPr lang="zh-CN" altLang="en-US" sz="2800" b="1" dirty="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6021911" y="3307508"/>
            <a:ext cx="3602481" cy="2973239"/>
            <a:chOff x="3483996" y="809680"/>
            <a:chExt cx="3056109" cy="1742534"/>
          </a:xfrm>
        </p:grpSpPr>
        <p:sp>
          <p:nvSpPr>
            <p:cNvPr id="21" name="矩形 20"/>
            <p:cNvSpPr/>
            <p:nvPr/>
          </p:nvSpPr>
          <p:spPr>
            <a:xfrm>
              <a:off x="3483996" y="809680"/>
              <a:ext cx="3056109" cy="1742534"/>
            </a:xfrm>
            <a:prstGeom prst="rect">
              <a:avLst/>
            </a:prstGeom>
            <a:solidFill>
              <a:srgbClr val="D0EBB3">
                <a:alpha val="89804"/>
              </a:srgbClr>
            </a:solidFill>
          </p:spPr>
          <p:style>
            <a:lnRef idx="2">
              <a:schemeClr val="accent2">
                <a:tint val="40000"/>
                <a:alpha val="90000"/>
                <a:hueOff val="-13656095"/>
                <a:satOff val="-68794"/>
                <a:lumOff val="11133"/>
                <a:alphaOff val="0"/>
              </a:schemeClr>
            </a:lnRef>
            <a:fillRef idx="1">
              <a:scrgbClr r="0" g="0" b="0"/>
            </a:fillRef>
            <a:effectRef idx="0">
              <a:schemeClr val="accent2">
                <a:tint val="40000"/>
                <a:alpha val="90000"/>
                <a:hueOff val="-13656095"/>
                <a:satOff val="-68794"/>
                <a:lumOff val="11133"/>
                <a:alphaOff val="0"/>
              </a:schemeClr>
            </a:effectRef>
            <a:fontRef idx="minor">
              <a:schemeClr val="dk1">
                <a:hueOff val="0"/>
                <a:satOff val="0"/>
                <a:lumOff val="0"/>
                <a:alphaOff val="0"/>
              </a:schemeClr>
            </a:fontRef>
          </p:style>
        </p:sp>
        <p:sp>
          <p:nvSpPr>
            <p:cNvPr id="22" name="矩形 21"/>
            <p:cNvSpPr/>
            <p:nvPr/>
          </p:nvSpPr>
          <p:spPr>
            <a:xfrm>
              <a:off x="3483996" y="818809"/>
              <a:ext cx="3056109" cy="170236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l" defTabSz="800100">
                <a:lnSpc>
                  <a:spcPct val="120000"/>
                </a:lnSpc>
                <a:spcBef>
                  <a:spcPct val="0"/>
                </a:spcBef>
                <a:spcAft>
                  <a:spcPct val="15000"/>
                </a:spcAft>
                <a:buChar char="••"/>
              </a:pPr>
              <a:r>
                <a:rPr lang="zh-CN" altLang="en-US" sz="2800" b="1" kern="1200" dirty="0" smtClean="0">
                  <a:solidFill>
                    <a:srgbClr val="1C1C1C"/>
                  </a:solidFill>
                  <a:latin typeface="微软雅黑" panose="020B0503020204020204" pitchFamily="34" charset="-122"/>
                  <a:ea typeface="微软雅黑" panose="020B0503020204020204" pitchFamily="34" charset="-122"/>
                </a:rPr>
                <a:t>实现信息共享、软件共享、硬件共享。</a:t>
              </a:r>
              <a:endParaRPr lang="zh-CN" altLang="en-US" sz="2800" b="1" kern="1200" dirty="0">
                <a:solidFill>
                  <a:srgbClr val="1C1C1C"/>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225013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指引</a:t>
            </a:r>
          </a:p>
        </p:txBody>
      </p:sp>
      <p:sp>
        <p:nvSpPr>
          <p:cNvPr id="11267" name="Rectangle 3"/>
          <p:cNvSpPr>
            <a:spLocks noGrp="1" noChangeArrowheads="1"/>
          </p:cNvSpPr>
          <p:nvPr>
            <p:ph idx="1"/>
          </p:nvPr>
        </p:nvSpPr>
        <p:spPr/>
        <p:txBody>
          <a:bodyPr/>
          <a:lstStyle/>
          <a:p>
            <a:r>
              <a:rPr lang="zh-CN" altLang="en-US" dirty="0"/>
              <a:t>计算机网络在信息时代的作用</a:t>
            </a:r>
          </a:p>
          <a:p>
            <a:r>
              <a:rPr lang="zh-CN" altLang="en-US" dirty="0">
                <a:solidFill>
                  <a:srgbClr val="C00000"/>
                </a:solidFill>
              </a:rPr>
              <a:t>互联网概述</a:t>
            </a:r>
          </a:p>
          <a:p>
            <a:r>
              <a:rPr lang="zh-CN" altLang="en-US" dirty="0"/>
              <a:t>互联网的组成</a:t>
            </a:r>
            <a:endParaRPr lang="en-US" altLang="zh-CN" dirty="0"/>
          </a:p>
          <a:p>
            <a:r>
              <a:rPr lang="zh-CN" altLang="en-US" dirty="0"/>
              <a:t>计算机网络在我国的发展</a:t>
            </a:r>
          </a:p>
          <a:p>
            <a:r>
              <a:rPr lang="zh-CN" altLang="en-US" dirty="0"/>
              <a:t>计算机网络的类别</a:t>
            </a:r>
          </a:p>
          <a:p>
            <a:r>
              <a:rPr lang="zh-CN" altLang="en-US" dirty="0"/>
              <a:t>计算机网络的性能</a:t>
            </a:r>
            <a:endParaRPr lang="en-US" altLang="zh-CN" dirty="0"/>
          </a:p>
          <a:p>
            <a:r>
              <a:rPr lang="zh-CN" altLang="en-US" dirty="0"/>
              <a:t>计算机网络的体系结构</a:t>
            </a:r>
          </a:p>
          <a:p>
            <a:pPr eaLnBrk="1" hangingPunct="1">
              <a:buFont typeface="Wingdings" pitchFamily="2" charset="2"/>
              <a:buNone/>
            </a:pPr>
            <a:endParaRPr lang="zh-CN" altLang="en-US" sz="2800" dirty="0"/>
          </a:p>
          <a:p>
            <a:pPr eaLnBrk="1" hangingPunct="1">
              <a:buFont typeface="Wingdings" pitchFamily="2" charset="2"/>
              <a:buNone/>
            </a:pPr>
            <a:r>
              <a:rPr lang="zh-CN" altLang="en-US" sz="2800" dirty="0"/>
              <a:t>     </a:t>
            </a:r>
          </a:p>
        </p:txBody>
      </p:sp>
    </p:spTree>
    <p:extLst>
      <p:ext uri="{BB962C8B-B14F-4D97-AF65-F5344CB8AC3E}">
        <p14:creationId xmlns:p14="http://schemas.microsoft.com/office/powerpoint/2010/main" val="201603342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91344" y="2207118"/>
            <a:ext cx="2016224" cy="3176163"/>
          </a:xfrm>
          <a:prstGeom prst="rect">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14" name="Rectangle 2"/>
          <p:cNvSpPr>
            <a:spLocks noGrp="1" noChangeArrowheads="1"/>
          </p:cNvSpPr>
          <p:nvPr>
            <p:ph type="title"/>
          </p:nvPr>
        </p:nvSpPr>
        <p:spPr/>
        <p:txBody>
          <a:bodyPr/>
          <a:lstStyle/>
          <a:p>
            <a:pPr eaLnBrk="1" hangingPunct="1"/>
            <a:r>
              <a:rPr lang="en-US" altLang="zh-CN" dirty="0"/>
              <a:t>1.2 </a:t>
            </a:r>
            <a:r>
              <a:rPr lang="zh-CN" altLang="en-US" dirty="0" smtClean="0"/>
              <a:t>互联网</a:t>
            </a:r>
            <a:r>
              <a:rPr lang="zh-CN" altLang="en-US" dirty="0"/>
              <a:t>概述</a:t>
            </a:r>
          </a:p>
        </p:txBody>
      </p:sp>
      <p:grpSp>
        <p:nvGrpSpPr>
          <p:cNvPr id="13316" name="Group 152"/>
          <p:cNvGrpSpPr>
            <a:grpSpLocks/>
          </p:cNvGrpSpPr>
          <p:nvPr/>
        </p:nvGrpSpPr>
        <p:grpSpPr bwMode="auto">
          <a:xfrm>
            <a:off x="2418134" y="2095959"/>
            <a:ext cx="3974733" cy="4068923"/>
            <a:chOff x="0" y="2000779"/>
            <a:chExt cx="3974578" cy="4067835"/>
          </a:xfrm>
        </p:grpSpPr>
        <p:grpSp>
          <p:nvGrpSpPr>
            <p:cNvPr id="13317" name="Group 148"/>
            <p:cNvGrpSpPr>
              <a:grpSpLocks/>
            </p:cNvGrpSpPr>
            <p:nvPr/>
          </p:nvGrpSpPr>
          <p:grpSpPr bwMode="auto">
            <a:xfrm>
              <a:off x="182593" y="2000779"/>
              <a:ext cx="3785087" cy="4067835"/>
              <a:chOff x="1519" y="535"/>
              <a:chExt cx="1727" cy="1998"/>
            </a:xfrm>
          </p:grpSpPr>
          <p:sp>
            <p:nvSpPr>
              <p:cNvPr id="13324" name="Text Box 18"/>
              <p:cNvSpPr txBox="1">
                <a:spLocks noChangeArrowheads="1"/>
              </p:cNvSpPr>
              <p:nvPr/>
            </p:nvSpPr>
            <p:spPr bwMode="auto">
              <a:xfrm>
                <a:off x="2339" y="2276"/>
                <a:ext cx="28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a:solidFill>
                      <a:srgbClr val="333399"/>
                    </a:solidFill>
                    <a:ea typeface="黑体" pitchFamily="49" charset="-122"/>
                  </a:rPr>
                  <a:t>(a)</a:t>
                </a:r>
              </a:p>
            </p:txBody>
          </p:sp>
          <p:grpSp>
            <p:nvGrpSpPr>
              <p:cNvPr id="13326" name="Group 20"/>
              <p:cNvGrpSpPr>
                <a:grpSpLocks/>
              </p:cNvGrpSpPr>
              <p:nvPr/>
            </p:nvGrpSpPr>
            <p:grpSpPr bwMode="auto">
              <a:xfrm>
                <a:off x="1519" y="1026"/>
                <a:ext cx="1727" cy="1161"/>
                <a:chOff x="1680" y="240"/>
                <a:chExt cx="2529" cy="1270"/>
              </a:xfrm>
            </p:grpSpPr>
            <p:sp>
              <p:nvSpPr>
                <p:cNvPr id="13445" name="Oval 21"/>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46" name="Oval 22"/>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47" name="Oval 23"/>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48" name="Oval 24"/>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49" name="Oval 25"/>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50" name="Oval 26"/>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51" name="Oval 27"/>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52" name="Oval 28"/>
                <p:cNvSpPr>
                  <a:spLocks noChangeArrowheads="1"/>
                </p:cNvSpPr>
                <p:nvPr/>
              </p:nvSpPr>
              <p:spPr bwMode="auto">
                <a:xfrm>
                  <a:off x="3335" y="753"/>
                  <a:ext cx="797"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sp>
              <p:nvSpPr>
                <p:cNvPr id="13453" name="Oval 29"/>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endParaRPr lang="en-US" altLang="zh-CN"/>
                </a:p>
              </p:txBody>
            </p:sp>
          </p:grpSp>
          <p:sp>
            <p:nvSpPr>
              <p:cNvPr id="13327" name="Line 30"/>
              <p:cNvSpPr>
                <a:spLocks noChangeShapeType="1"/>
              </p:cNvSpPr>
              <p:nvPr/>
            </p:nvSpPr>
            <p:spPr bwMode="auto">
              <a:xfrm flipH="1" flipV="1">
                <a:off x="2516" y="1207"/>
                <a:ext cx="458" cy="5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8" name="Text Box 31"/>
              <p:cNvSpPr txBox="1">
                <a:spLocks noChangeArrowheads="1"/>
              </p:cNvSpPr>
              <p:nvPr/>
            </p:nvSpPr>
            <p:spPr bwMode="auto">
              <a:xfrm>
                <a:off x="2043" y="535"/>
                <a:ext cx="991"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a:solidFill>
                      <a:srgbClr val="333399"/>
                    </a:solidFill>
                    <a:latin typeface="黑体" pitchFamily="49" charset="-122"/>
                    <a:ea typeface="黑体" pitchFamily="49" charset="-122"/>
                  </a:rPr>
                  <a:t>   网络 </a:t>
                </a:r>
                <a:r>
                  <a:rPr kumimoji="1" lang="en-US" altLang="zh-CN" sz="2800" dirty="0" smtClean="0">
                    <a:solidFill>
                      <a:srgbClr val="333399"/>
                    </a:solidFill>
                    <a:latin typeface="黑体" pitchFamily="49" charset="-122"/>
                    <a:ea typeface="黑体" pitchFamily="49" charset="-122"/>
                  </a:rPr>
                  <a:t>(network</a:t>
                </a:r>
                <a:r>
                  <a:rPr kumimoji="1" lang="en-US" altLang="zh-CN" sz="2800" dirty="0">
                    <a:solidFill>
                      <a:srgbClr val="333399"/>
                    </a:solidFill>
                    <a:latin typeface="黑体" pitchFamily="49" charset="-122"/>
                    <a:ea typeface="黑体" pitchFamily="49" charset="-122"/>
                  </a:rPr>
                  <a:t>)</a:t>
                </a:r>
                <a:endParaRPr kumimoji="1" lang="zh-CN" altLang="en-US" sz="2800" dirty="0">
                  <a:solidFill>
                    <a:srgbClr val="333399"/>
                  </a:solidFill>
                  <a:latin typeface="黑体" pitchFamily="49" charset="-122"/>
                  <a:ea typeface="黑体" pitchFamily="49" charset="-122"/>
                </a:endParaRPr>
              </a:p>
            </p:txBody>
          </p:sp>
          <p:sp>
            <p:nvSpPr>
              <p:cNvPr id="13349" name="Line 118"/>
              <p:cNvSpPr>
                <a:spLocks noChangeShapeType="1"/>
              </p:cNvSpPr>
              <p:nvPr/>
            </p:nvSpPr>
            <p:spPr bwMode="auto">
              <a:xfrm flipV="1">
                <a:off x="1791" y="1207"/>
                <a:ext cx="589" cy="4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50" name="Line 119"/>
              <p:cNvSpPr>
                <a:spLocks noChangeShapeType="1"/>
              </p:cNvSpPr>
              <p:nvPr/>
            </p:nvSpPr>
            <p:spPr bwMode="auto">
              <a:xfrm flipV="1">
                <a:off x="2290" y="1207"/>
                <a:ext cx="136" cy="6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3351"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00" y="1525"/>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59" name="Picture 13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54" y="184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60" name="Picture 14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5" y="1752"/>
                <a:ext cx="19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61" name="Picture 1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959483">
                <a:off x="2299" y="1144"/>
                <a:ext cx="2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3362" name="Oval 142"/>
              <p:cNvSpPr>
                <a:spLocks noChangeArrowheads="1"/>
              </p:cNvSpPr>
              <p:nvPr/>
            </p:nvSpPr>
            <p:spPr bwMode="auto">
              <a:xfrm>
                <a:off x="2885" y="1709"/>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13363" name="Text Box 143"/>
              <p:cNvSpPr txBox="1">
                <a:spLocks noChangeArrowheads="1"/>
              </p:cNvSpPr>
              <p:nvPr/>
            </p:nvSpPr>
            <p:spPr bwMode="auto">
              <a:xfrm>
                <a:off x="2562" y="973"/>
                <a:ext cx="412"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a:solidFill>
                      <a:srgbClr val="333399"/>
                    </a:solidFill>
                    <a:latin typeface="黑体" pitchFamily="49" charset="-122"/>
                    <a:ea typeface="黑体" pitchFamily="49" charset="-122"/>
                  </a:rPr>
                  <a:t>节</a:t>
                </a:r>
                <a:r>
                  <a:rPr kumimoji="1" lang="zh-CN" altLang="en-US" sz="2800" dirty="0" smtClean="0">
                    <a:solidFill>
                      <a:srgbClr val="333399"/>
                    </a:solidFill>
                    <a:latin typeface="黑体" pitchFamily="49" charset="-122"/>
                    <a:ea typeface="黑体" pitchFamily="49" charset="-122"/>
                  </a:rPr>
                  <a:t>点</a:t>
                </a:r>
                <a:endParaRPr kumimoji="1" lang="zh-CN" altLang="en-US" sz="2800" dirty="0">
                  <a:solidFill>
                    <a:srgbClr val="333399"/>
                  </a:solidFill>
                  <a:latin typeface="黑体" pitchFamily="49" charset="-122"/>
                  <a:ea typeface="黑体" pitchFamily="49" charset="-122"/>
                </a:endParaRPr>
              </a:p>
            </p:txBody>
          </p:sp>
          <p:sp>
            <p:nvSpPr>
              <p:cNvPr id="13364" name="Text Box 144"/>
              <p:cNvSpPr txBox="1">
                <a:spLocks noChangeArrowheads="1"/>
              </p:cNvSpPr>
              <p:nvPr/>
            </p:nvSpPr>
            <p:spPr bwMode="auto">
              <a:xfrm>
                <a:off x="2707" y="1377"/>
                <a:ext cx="412"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a:solidFill>
                      <a:srgbClr val="333399"/>
                    </a:solidFill>
                    <a:latin typeface="黑体" pitchFamily="49" charset="-122"/>
                    <a:ea typeface="黑体" pitchFamily="49" charset="-122"/>
                  </a:rPr>
                  <a:t>链路</a:t>
                </a:r>
              </a:p>
            </p:txBody>
          </p:sp>
          <p:sp>
            <p:nvSpPr>
              <p:cNvPr id="13365" name="Oval 145"/>
              <p:cNvSpPr>
                <a:spLocks noChangeArrowheads="1"/>
              </p:cNvSpPr>
              <p:nvPr/>
            </p:nvSpPr>
            <p:spPr bwMode="auto">
              <a:xfrm>
                <a:off x="2301" y="1077"/>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13366" name="Oval 146"/>
              <p:cNvSpPr>
                <a:spLocks noChangeArrowheads="1"/>
              </p:cNvSpPr>
              <p:nvPr/>
            </p:nvSpPr>
            <p:spPr bwMode="auto">
              <a:xfrm>
                <a:off x="1669" y="1501"/>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13367" name="Oval 147"/>
              <p:cNvSpPr>
                <a:spLocks noChangeArrowheads="1"/>
              </p:cNvSpPr>
              <p:nvPr/>
            </p:nvSpPr>
            <p:spPr bwMode="auto">
              <a:xfrm>
                <a:off x="2117" y="1813"/>
                <a:ext cx="272" cy="27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grpSp>
        <p:sp>
          <p:nvSpPr>
            <p:cNvPr id="13318" name="Text Box 143"/>
            <p:cNvSpPr txBox="1">
              <a:spLocks noChangeArrowheads="1"/>
            </p:cNvSpPr>
            <p:nvPr/>
          </p:nvSpPr>
          <p:spPr bwMode="auto">
            <a:xfrm>
              <a:off x="1285852" y="5114050"/>
              <a:ext cx="902776" cy="52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a:solidFill>
                    <a:srgbClr val="333399"/>
                  </a:solidFill>
                  <a:latin typeface="黑体" pitchFamily="49" charset="-122"/>
                  <a:ea typeface="黑体" pitchFamily="49" charset="-122"/>
                </a:rPr>
                <a:t>节</a:t>
              </a:r>
              <a:r>
                <a:rPr kumimoji="1" lang="zh-CN" altLang="en-US" sz="2800" dirty="0" smtClean="0">
                  <a:solidFill>
                    <a:srgbClr val="333399"/>
                  </a:solidFill>
                  <a:latin typeface="黑体" pitchFamily="49" charset="-122"/>
                  <a:ea typeface="黑体" pitchFamily="49" charset="-122"/>
                </a:rPr>
                <a:t>点</a:t>
              </a:r>
              <a:endParaRPr kumimoji="1" lang="zh-CN" altLang="en-US" sz="2800" dirty="0">
                <a:solidFill>
                  <a:srgbClr val="333399"/>
                </a:solidFill>
                <a:latin typeface="黑体" pitchFamily="49" charset="-122"/>
                <a:ea typeface="黑体" pitchFamily="49" charset="-122"/>
              </a:endParaRPr>
            </a:p>
          </p:txBody>
        </p:sp>
        <p:sp>
          <p:nvSpPr>
            <p:cNvPr id="13319" name="Text Box 143"/>
            <p:cNvSpPr txBox="1">
              <a:spLocks noChangeArrowheads="1"/>
            </p:cNvSpPr>
            <p:nvPr/>
          </p:nvSpPr>
          <p:spPr bwMode="auto">
            <a:xfrm>
              <a:off x="3071802" y="4929198"/>
              <a:ext cx="902776" cy="52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a:solidFill>
                    <a:srgbClr val="333399"/>
                  </a:solidFill>
                  <a:latin typeface="黑体" pitchFamily="49" charset="-122"/>
                  <a:ea typeface="黑体" pitchFamily="49" charset="-122"/>
                </a:rPr>
                <a:t>节</a:t>
              </a:r>
              <a:r>
                <a:rPr kumimoji="1" lang="zh-CN" altLang="en-US" sz="2800" dirty="0" smtClean="0">
                  <a:solidFill>
                    <a:srgbClr val="333399"/>
                  </a:solidFill>
                  <a:latin typeface="黑体" pitchFamily="49" charset="-122"/>
                  <a:ea typeface="黑体" pitchFamily="49" charset="-122"/>
                </a:rPr>
                <a:t>点</a:t>
              </a:r>
              <a:endParaRPr kumimoji="1" lang="zh-CN" altLang="en-US" sz="2800" dirty="0">
                <a:solidFill>
                  <a:srgbClr val="333399"/>
                </a:solidFill>
                <a:latin typeface="黑体" pitchFamily="49" charset="-122"/>
                <a:ea typeface="黑体" pitchFamily="49" charset="-122"/>
              </a:endParaRPr>
            </a:p>
          </p:txBody>
        </p:sp>
        <p:sp>
          <p:nvSpPr>
            <p:cNvPr id="13320" name="Text Box 143"/>
            <p:cNvSpPr txBox="1">
              <a:spLocks noChangeArrowheads="1"/>
            </p:cNvSpPr>
            <p:nvPr/>
          </p:nvSpPr>
          <p:spPr bwMode="auto">
            <a:xfrm>
              <a:off x="0" y="4429132"/>
              <a:ext cx="902776" cy="523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a:solidFill>
                    <a:srgbClr val="333399"/>
                  </a:solidFill>
                  <a:latin typeface="黑体" pitchFamily="49" charset="-122"/>
                  <a:ea typeface="黑体" pitchFamily="49" charset="-122"/>
                </a:rPr>
                <a:t>节</a:t>
              </a:r>
              <a:r>
                <a:rPr kumimoji="1" lang="zh-CN" altLang="en-US" sz="2800" dirty="0" smtClean="0">
                  <a:solidFill>
                    <a:srgbClr val="333399"/>
                  </a:solidFill>
                  <a:latin typeface="黑体" pitchFamily="49" charset="-122"/>
                  <a:ea typeface="黑体" pitchFamily="49" charset="-122"/>
                </a:rPr>
                <a:t>点</a:t>
              </a:r>
              <a:endParaRPr kumimoji="1" lang="zh-CN" altLang="en-US" sz="2800" dirty="0">
                <a:solidFill>
                  <a:srgbClr val="333399"/>
                </a:solidFill>
                <a:latin typeface="黑体" pitchFamily="49" charset="-122"/>
                <a:ea typeface="黑体" pitchFamily="49" charset="-122"/>
              </a:endParaRPr>
            </a:p>
          </p:txBody>
        </p:sp>
      </p:grpSp>
      <p:pic>
        <p:nvPicPr>
          <p:cNvPr id="153" name="Picture 12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9376" y="2510105"/>
            <a:ext cx="427401" cy="399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1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0640517">
            <a:off x="392800" y="3277554"/>
            <a:ext cx="600553" cy="3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55" name="Picture 12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3758" y="4013526"/>
            <a:ext cx="578635" cy="33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 name="组合 1"/>
          <p:cNvGrpSpPr/>
          <p:nvPr/>
        </p:nvGrpSpPr>
        <p:grpSpPr>
          <a:xfrm>
            <a:off x="406879" y="4627683"/>
            <a:ext cx="590801" cy="432676"/>
            <a:chOff x="345335" y="4409405"/>
            <a:chExt cx="590801" cy="432676"/>
          </a:xfrm>
        </p:grpSpPr>
        <p:sp>
          <p:nvSpPr>
            <p:cNvPr id="165" name="Oval 129"/>
            <p:cNvSpPr>
              <a:spLocks noChangeArrowheads="1"/>
            </p:cNvSpPr>
            <p:nvPr/>
          </p:nvSpPr>
          <p:spPr bwMode="auto">
            <a:xfrm rot="233218">
              <a:off x="668602" y="4433359"/>
              <a:ext cx="174226" cy="9814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6" name="Oval 131"/>
            <p:cNvSpPr>
              <a:spLocks noChangeArrowheads="1"/>
            </p:cNvSpPr>
            <p:nvPr/>
          </p:nvSpPr>
          <p:spPr bwMode="auto">
            <a:xfrm rot="19373218">
              <a:off x="751773" y="4634047"/>
              <a:ext cx="184363" cy="14160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7" name="Oval 133"/>
            <p:cNvSpPr>
              <a:spLocks noChangeArrowheads="1"/>
            </p:cNvSpPr>
            <p:nvPr/>
          </p:nvSpPr>
          <p:spPr bwMode="auto">
            <a:xfrm rot="413218">
              <a:off x="410226" y="4716262"/>
              <a:ext cx="167890" cy="11687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8" name="Oval 135"/>
            <p:cNvSpPr>
              <a:spLocks noChangeArrowheads="1"/>
            </p:cNvSpPr>
            <p:nvPr/>
          </p:nvSpPr>
          <p:spPr bwMode="auto">
            <a:xfrm rot="19073218">
              <a:off x="350423" y="4539077"/>
              <a:ext cx="186897" cy="11687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0" name="Oval 128"/>
            <p:cNvSpPr>
              <a:spLocks noChangeArrowheads="1"/>
            </p:cNvSpPr>
            <p:nvPr/>
          </p:nvSpPr>
          <p:spPr bwMode="auto">
            <a:xfrm rot="20933218">
              <a:off x="446705" y="4409405"/>
              <a:ext cx="257854" cy="12137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1" name="Oval 130"/>
            <p:cNvSpPr>
              <a:spLocks noChangeArrowheads="1"/>
            </p:cNvSpPr>
            <p:nvPr/>
          </p:nvSpPr>
          <p:spPr bwMode="auto">
            <a:xfrm rot="833218">
              <a:off x="773984" y="4499752"/>
              <a:ext cx="152052" cy="114630"/>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2" name="Oval 132"/>
            <p:cNvSpPr>
              <a:spLocks noChangeArrowheads="1"/>
            </p:cNvSpPr>
            <p:nvPr/>
          </p:nvSpPr>
          <p:spPr bwMode="auto">
            <a:xfrm rot="20933218">
              <a:off x="533566" y="4663019"/>
              <a:ext cx="298401" cy="1790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3" name="Oval 134"/>
            <p:cNvSpPr>
              <a:spLocks noChangeArrowheads="1"/>
            </p:cNvSpPr>
            <p:nvPr/>
          </p:nvSpPr>
          <p:spPr bwMode="auto">
            <a:xfrm rot="20933218">
              <a:off x="345335" y="4621290"/>
              <a:ext cx="137480" cy="11687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4" name="Freeform 136"/>
            <p:cNvSpPr>
              <a:spLocks/>
            </p:cNvSpPr>
            <p:nvPr/>
          </p:nvSpPr>
          <p:spPr bwMode="auto">
            <a:xfrm rot="20933218">
              <a:off x="404324" y="4450021"/>
              <a:ext cx="467559" cy="304930"/>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sp>
        <p:nvSpPr>
          <p:cNvPr id="5" name="TextBox 4"/>
          <p:cNvSpPr txBox="1"/>
          <p:nvPr/>
        </p:nvSpPr>
        <p:spPr>
          <a:xfrm>
            <a:off x="1127448" y="2538828"/>
            <a:ext cx="877163" cy="369332"/>
          </a:xfrm>
          <a:prstGeom prst="rect">
            <a:avLst/>
          </a:prstGeom>
          <a:noFill/>
        </p:spPr>
        <p:txBody>
          <a:bodyPr wrap="none" rtlCol="0">
            <a:spAutoFit/>
          </a:bodyPr>
          <a:lstStyle/>
          <a:p>
            <a:r>
              <a:rPr lang="zh-CN" altLang="en-US" b="1" dirty="0" smtClean="0">
                <a:solidFill>
                  <a:srgbClr val="1C1C1C"/>
                </a:solidFill>
                <a:latin typeface="微软雅黑" pitchFamily="34" charset="-122"/>
                <a:ea typeface="微软雅黑" pitchFamily="34" charset="-122"/>
              </a:rPr>
              <a:t>计算机</a:t>
            </a:r>
            <a:endParaRPr lang="zh-CN" altLang="en-US" b="1" dirty="0">
              <a:solidFill>
                <a:srgbClr val="1C1C1C"/>
              </a:solidFill>
              <a:latin typeface="微软雅黑" pitchFamily="34" charset="-122"/>
              <a:ea typeface="微软雅黑" pitchFamily="34" charset="-122"/>
            </a:endParaRPr>
          </a:p>
        </p:txBody>
      </p:sp>
      <p:sp>
        <p:nvSpPr>
          <p:cNvPr id="173" name="TextBox 172"/>
          <p:cNvSpPr txBox="1"/>
          <p:nvPr/>
        </p:nvSpPr>
        <p:spPr>
          <a:xfrm>
            <a:off x="1127448" y="3215230"/>
            <a:ext cx="877163" cy="369332"/>
          </a:xfrm>
          <a:prstGeom prst="rect">
            <a:avLst/>
          </a:prstGeom>
          <a:noFill/>
        </p:spPr>
        <p:txBody>
          <a:bodyPr wrap="none" rtlCol="0">
            <a:spAutoFit/>
          </a:bodyPr>
          <a:lstStyle/>
          <a:p>
            <a:r>
              <a:rPr lang="zh-CN" altLang="en-US" b="1" dirty="0">
                <a:solidFill>
                  <a:srgbClr val="1C1C1C"/>
                </a:solidFill>
                <a:latin typeface="微软雅黑" pitchFamily="34" charset="-122"/>
                <a:ea typeface="微软雅黑" pitchFamily="34" charset="-122"/>
              </a:rPr>
              <a:t>集线器</a:t>
            </a:r>
          </a:p>
        </p:txBody>
      </p:sp>
      <p:sp>
        <p:nvSpPr>
          <p:cNvPr id="174" name="TextBox 173"/>
          <p:cNvSpPr txBox="1"/>
          <p:nvPr/>
        </p:nvSpPr>
        <p:spPr>
          <a:xfrm>
            <a:off x="1127448" y="3998026"/>
            <a:ext cx="877163" cy="369332"/>
          </a:xfrm>
          <a:prstGeom prst="rect">
            <a:avLst/>
          </a:prstGeom>
          <a:noFill/>
        </p:spPr>
        <p:txBody>
          <a:bodyPr wrap="none" rtlCol="0">
            <a:spAutoFit/>
          </a:bodyPr>
          <a:lstStyle/>
          <a:p>
            <a:r>
              <a:rPr lang="zh-CN" altLang="en-US" b="1" dirty="0">
                <a:solidFill>
                  <a:srgbClr val="1C1C1C"/>
                </a:solidFill>
                <a:latin typeface="微软雅黑" pitchFamily="34" charset="-122"/>
                <a:ea typeface="微软雅黑" pitchFamily="34" charset="-122"/>
              </a:rPr>
              <a:t>路由器</a:t>
            </a:r>
          </a:p>
        </p:txBody>
      </p:sp>
      <p:sp>
        <p:nvSpPr>
          <p:cNvPr id="175" name="TextBox 174"/>
          <p:cNvSpPr txBox="1"/>
          <p:nvPr/>
        </p:nvSpPr>
        <p:spPr>
          <a:xfrm>
            <a:off x="1162582" y="4660738"/>
            <a:ext cx="646331" cy="369332"/>
          </a:xfrm>
          <a:prstGeom prst="rect">
            <a:avLst/>
          </a:prstGeom>
          <a:noFill/>
        </p:spPr>
        <p:txBody>
          <a:bodyPr wrap="none" rtlCol="0">
            <a:spAutoFit/>
          </a:bodyPr>
          <a:lstStyle/>
          <a:p>
            <a:r>
              <a:rPr lang="zh-CN" altLang="en-US" b="1" dirty="0">
                <a:solidFill>
                  <a:srgbClr val="1C1C1C"/>
                </a:solidFill>
                <a:latin typeface="微软雅黑" pitchFamily="34" charset="-122"/>
                <a:ea typeface="微软雅黑" pitchFamily="34" charset="-122"/>
              </a:rPr>
              <a:t>网络</a:t>
            </a:r>
          </a:p>
        </p:txBody>
      </p:sp>
      <p:sp>
        <p:nvSpPr>
          <p:cNvPr id="171" name="TextBox 170"/>
          <p:cNvSpPr txBox="1">
            <a:spLocks noChangeArrowheads="1"/>
          </p:cNvSpPr>
          <p:nvPr/>
        </p:nvSpPr>
        <p:spPr bwMode="auto">
          <a:xfrm>
            <a:off x="7176120" y="2145909"/>
            <a:ext cx="4896544" cy="3342453"/>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10000"/>
              </a:lnSpc>
            </a:pPr>
            <a:r>
              <a:rPr lang="zh-CN" altLang="en-US" sz="2400" b="1" dirty="0">
                <a:solidFill>
                  <a:srgbClr val="1C1C1C"/>
                </a:solidFill>
                <a:latin typeface="微软雅黑" pitchFamily="34" charset="-122"/>
                <a:ea typeface="微软雅黑" pitchFamily="34" charset="-122"/>
              </a:rPr>
              <a:t>网络：</a:t>
            </a:r>
            <a:endParaRPr lang="en-US" altLang="zh-CN" sz="2400" b="1" dirty="0">
              <a:solidFill>
                <a:srgbClr val="1C1C1C"/>
              </a:solidFill>
              <a:latin typeface="微软雅黑" pitchFamily="34" charset="-122"/>
              <a:ea typeface="微软雅黑" pitchFamily="34" charset="-122"/>
            </a:endParaRPr>
          </a:p>
          <a:p>
            <a:pPr eaLnBrk="1" hangingPunct="1">
              <a:lnSpc>
                <a:spcPct val="110000"/>
              </a:lnSpc>
            </a:pPr>
            <a:r>
              <a:rPr lang="zh-CN" altLang="en-US" sz="2400" dirty="0">
                <a:solidFill>
                  <a:srgbClr val="1C1C1C"/>
                </a:solidFill>
                <a:latin typeface="微软雅黑" pitchFamily="34" charset="-122"/>
                <a:ea typeface="微软雅黑" pitchFamily="34" charset="-122"/>
              </a:rPr>
              <a:t>由若干</a:t>
            </a:r>
            <a:r>
              <a:rPr lang="zh-CN" altLang="en-US" sz="2400" b="1" dirty="0">
                <a:solidFill>
                  <a:srgbClr val="1C1C1C"/>
                </a:solidFill>
                <a:latin typeface="微软雅黑" pitchFamily="34" charset="-122"/>
                <a:ea typeface="微软雅黑" pitchFamily="34" charset="-122"/>
              </a:rPr>
              <a:t>节点</a:t>
            </a:r>
            <a:r>
              <a:rPr lang="en-US" altLang="zh-CN" sz="2400" dirty="0">
                <a:solidFill>
                  <a:srgbClr val="1C1C1C"/>
                </a:solidFill>
                <a:latin typeface="微软雅黑" pitchFamily="34" charset="-122"/>
                <a:ea typeface="微软雅黑" pitchFamily="34" charset="-122"/>
              </a:rPr>
              <a:t>(node)</a:t>
            </a:r>
            <a:r>
              <a:rPr lang="zh-CN" altLang="en-US" sz="2400" dirty="0">
                <a:solidFill>
                  <a:srgbClr val="1C1C1C"/>
                </a:solidFill>
                <a:latin typeface="微软雅黑" pitchFamily="34" charset="-122"/>
                <a:ea typeface="微软雅黑" pitchFamily="34" charset="-122"/>
              </a:rPr>
              <a:t>和连接这些节点的</a:t>
            </a:r>
            <a:r>
              <a:rPr lang="zh-CN" altLang="en-US" sz="2400" b="1" dirty="0">
                <a:solidFill>
                  <a:srgbClr val="1C1C1C"/>
                </a:solidFill>
                <a:latin typeface="微软雅黑" pitchFamily="34" charset="-122"/>
                <a:ea typeface="微软雅黑" pitchFamily="34" charset="-122"/>
              </a:rPr>
              <a:t>链路</a:t>
            </a:r>
            <a:r>
              <a:rPr lang="en-US" altLang="zh-CN" sz="2400" dirty="0">
                <a:solidFill>
                  <a:srgbClr val="1C1C1C"/>
                </a:solidFill>
                <a:latin typeface="微软雅黑" pitchFamily="34" charset="-122"/>
                <a:ea typeface="微软雅黑" pitchFamily="34" charset="-122"/>
              </a:rPr>
              <a:t>(link)</a:t>
            </a:r>
            <a:r>
              <a:rPr lang="zh-CN" altLang="en-US" sz="2400" dirty="0" smtClean="0">
                <a:solidFill>
                  <a:srgbClr val="1C1C1C"/>
                </a:solidFill>
                <a:latin typeface="微软雅黑" pitchFamily="34" charset="-122"/>
                <a:ea typeface="微软雅黑" pitchFamily="34" charset="-122"/>
              </a:rPr>
              <a:t>组成的结构。</a:t>
            </a:r>
            <a:endParaRPr lang="en-US" altLang="zh-CN" sz="2400" dirty="0" smtClean="0">
              <a:solidFill>
                <a:srgbClr val="1C1C1C"/>
              </a:solidFill>
              <a:latin typeface="微软雅黑" pitchFamily="34" charset="-122"/>
              <a:ea typeface="微软雅黑" pitchFamily="34" charset="-122"/>
            </a:endParaRPr>
          </a:p>
          <a:p>
            <a:pPr eaLnBrk="1" hangingPunct="1">
              <a:lnSpc>
                <a:spcPct val="110000"/>
              </a:lnSpc>
            </a:pPr>
            <a:endParaRPr lang="en-US" altLang="zh-CN" sz="2400" dirty="0">
              <a:solidFill>
                <a:srgbClr val="1C1C1C"/>
              </a:solidFill>
              <a:latin typeface="微软雅黑" pitchFamily="34" charset="-122"/>
              <a:ea typeface="微软雅黑" pitchFamily="34" charset="-122"/>
            </a:endParaRPr>
          </a:p>
          <a:p>
            <a:pPr eaLnBrk="1" hangingPunct="1">
              <a:lnSpc>
                <a:spcPct val="110000"/>
              </a:lnSpc>
            </a:pPr>
            <a:r>
              <a:rPr lang="zh-CN" altLang="en-US" sz="2400" dirty="0" smtClean="0">
                <a:solidFill>
                  <a:srgbClr val="1C1C1C"/>
                </a:solidFill>
                <a:latin typeface="微软雅黑" pitchFamily="34" charset="-122"/>
                <a:ea typeface="微软雅黑" pitchFamily="34" charset="-122"/>
              </a:rPr>
              <a:t>可以用一朵云表示一个网络。</a:t>
            </a:r>
            <a:endParaRPr lang="en-US" altLang="zh-CN" sz="2400" dirty="0" smtClean="0">
              <a:solidFill>
                <a:srgbClr val="1C1C1C"/>
              </a:solidFill>
              <a:latin typeface="微软雅黑" pitchFamily="34" charset="-122"/>
              <a:ea typeface="微软雅黑" pitchFamily="34" charset="-122"/>
            </a:endParaRPr>
          </a:p>
          <a:p>
            <a:pPr eaLnBrk="1" hangingPunct="1">
              <a:lnSpc>
                <a:spcPct val="110000"/>
              </a:lnSpc>
            </a:pPr>
            <a:endParaRPr lang="en-US" altLang="zh-CN" sz="2400" dirty="0" smtClean="0">
              <a:solidFill>
                <a:srgbClr val="1C1C1C"/>
              </a:solidFill>
              <a:latin typeface="微软雅黑" pitchFamily="34" charset="-122"/>
              <a:ea typeface="微软雅黑" pitchFamily="34" charset="-122"/>
            </a:endParaRPr>
          </a:p>
          <a:p>
            <a:pPr eaLnBrk="1" hangingPunct="1">
              <a:lnSpc>
                <a:spcPct val="110000"/>
              </a:lnSpc>
            </a:pPr>
            <a:r>
              <a:rPr lang="zh-CN" altLang="en-US" sz="2400" dirty="0" smtClean="0">
                <a:solidFill>
                  <a:srgbClr val="1C1C1C"/>
                </a:solidFill>
                <a:latin typeface="微软雅黑" pitchFamily="34" charset="-122"/>
                <a:ea typeface="微软雅黑" pitchFamily="34" charset="-122"/>
              </a:rPr>
              <a:t>网络</a:t>
            </a:r>
            <a:r>
              <a:rPr lang="zh-CN" altLang="en-US" sz="2400" dirty="0">
                <a:solidFill>
                  <a:srgbClr val="1C1C1C"/>
                </a:solidFill>
                <a:latin typeface="微软雅黑" pitchFamily="34" charset="-122"/>
                <a:ea typeface="微软雅黑" pitchFamily="34" charset="-122"/>
              </a:rPr>
              <a:t>中的节点可以是计算机、集线器、交换机或路由器等</a:t>
            </a:r>
            <a:r>
              <a:rPr lang="zh-CN" altLang="en-US" sz="2400" dirty="0" smtClean="0">
                <a:solidFill>
                  <a:srgbClr val="1C1C1C"/>
                </a:solidFill>
                <a:latin typeface="微软雅黑" pitchFamily="34" charset="-122"/>
                <a:ea typeface="微软雅黑" pitchFamily="34" charset="-122"/>
              </a:rPr>
              <a:t>。</a:t>
            </a:r>
            <a:endParaRPr lang="en-US" altLang="zh-CN" sz="2400" dirty="0">
              <a:solidFill>
                <a:srgbClr val="1C1C1C"/>
              </a:solidFill>
              <a:latin typeface="微软雅黑" pitchFamily="34" charset="-122"/>
              <a:ea typeface="微软雅黑" pitchFamily="34" charset="-122"/>
            </a:endParaRPr>
          </a:p>
        </p:txBody>
      </p:sp>
    </p:spTree>
    <p:extLst>
      <p:ext uri="{BB962C8B-B14F-4D97-AF65-F5344CB8AC3E}">
        <p14:creationId xmlns:p14="http://schemas.microsoft.com/office/powerpoint/2010/main" val="33334874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91344" y="2207118"/>
            <a:ext cx="2016224" cy="3176163"/>
          </a:xfrm>
          <a:prstGeom prst="rect">
            <a:avLst/>
          </a:prstGeom>
          <a:solidFill>
            <a:srgbClr val="CCE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14" name="Rectangle 2"/>
          <p:cNvSpPr>
            <a:spLocks noGrp="1" noChangeArrowheads="1"/>
          </p:cNvSpPr>
          <p:nvPr>
            <p:ph type="title"/>
          </p:nvPr>
        </p:nvSpPr>
        <p:spPr/>
        <p:txBody>
          <a:bodyPr/>
          <a:lstStyle/>
          <a:p>
            <a:pPr eaLnBrk="1" hangingPunct="1"/>
            <a:r>
              <a:rPr lang="en-US" altLang="zh-CN" dirty="0"/>
              <a:t>1.2 </a:t>
            </a:r>
            <a:r>
              <a:rPr lang="zh-CN" altLang="en-US" dirty="0" smtClean="0"/>
              <a:t>互联网</a:t>
            </a:r>
            <a:r>
              <a:rPr lang="zh-CN" altLang="en-US" dirty="0"/>
              <a:t>概述</a:t>
            </a:r>
          </a:p>
        </p:txBody>
      </p:sp>
      <p:grpSp>
        <p:nvGrpSpPr>
          <p:cNvPr id="13317" name="Group 148"/>
          <p:cNvGrpSpPr>
            <a:grpSpLocks/>
          </p:cNvGrpSpPr>
          <p:nvPr/>
        </p:nvGrpSpPr>
        <p:grpSpPr bwMode="auto">
          <a:xfrm>
            <a:off x="2567608" y="2099366"/>
            <a:ext cx="4377021" cy="4140200"/>
            <a:chOff x="3515" y="500"/>
            <a:chExt cx="1997" cy="2033"/>
          </a:xfrm>
        </p:grpSpPr>
        <p:grpSp>
          <p:nvGrpSpPr>
            <p:cNvPr id="13321" name="Group 4"/>
            <p:cNvGrpSpPr>
              <a:grpSpLocks/>
            </p:cNvGrpSpPr>
            <p:nvPr/>
          </p:nvGrpSpPr>
          <p:grpSpPr bwMode="auto">
            <a:xfrm>
              <a:off x="3515" y="933"/>
              <a:ext cx="1997" cy="1359"/>
              <a:chOff x="109" y="1226"/>
              <a:chExt cx="2516" cy="1675"/>
            </a:xfrm>
          </p:grpSpPr>
          <p:grpSp>
            <p:nvGrpSpPr>
              <p:cNvPr id="13454" name="Group 5"/>
              <p:cNvGrpSpPr>
                <a:grpSpLocks/>
              </p:cNvGrpSpPr>
              <p:nvPr/>
            </p:nvGrpSpPr>
            <p:grpSpPr bwMode="auto">
              <a:xfrm>
                <a:off x="109" y="1226"/>
                <a:ext cx="2516" cy="1675"/>
                <a:chOff x="109" y="1226"/>
                <a:chExt cx="2516" cy="1675"/>
              </a:xfrm>
            </p:grpSpPr>
            <p:grpSp>
              <p:nvGrpSpPr>
                <p:cNvPr id="13456" name="Group 6"/>
                <p:cNvGrpSpPr>
                  <a:grpSpLocks/>
                </p:cNvGrpSpPr>
                <p:nvPr/>
              </p:nvGrpSpPr>
              <p:grpSpPr bwMode="auto">
                <a:xfrm>
                  <a:off x="109" y="1226"/>
                  <a:ext cx="2516" cy="1675"/>
                  <a:chOff x="109" y="1226"/>
                  <a:chExt cx="2516" cy="1675"/>
                </a:xfrm>
              </p:grpSpPr>
              <p:sp>
                <p:nvSpPr>
                  <p:cNvPr id="13458" name="Oval 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headEnd/>
                    <a:tailEnd/>
                  </a:ln>
                </p:spPr>
                <p:txBody>
                  <a:bodyPr/>
                  <a:lstStyle/>
                  <a:p>
                    <a:pPr eaLnBrk="1" hangingPunct="1"/>
                    <a:endParaRPr lang="en-US" altLang="zh-CN"/>
                  </a:p>
                </p:txBody>
              </p:sp>
              <p:sp>
                <p:nvSpPr>
                  <p:cNvPr id="13459" name="Oval 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headEnd/>
                    <a:tailEnd/>
                  </a:ln>
                </p:spPr>
                <p:txBody>
                  <a:bodyPr/>
                  <a:lstStyle/>
                  <a:p>
                    <a:pPr eaLnBrk="1" hangingPunct="1"/>
                    <a:endParaRPr lang="en-US" altLang="zh-CN"/>
                  </a:p>
                </p:txBody>
              </p:sp>
              <p:sp>
                <p:nvSpPr>
                  <p:cNvPr id="13460" name="Oval 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headEnd/>
                    <a:tailEnd/>
                  </a:ln>
                </p:spPr>
                <p:txBody>
                  <a:bodyPr/>
                  <a:lstStyle/>
                  <a:p>
                    <a:pPr eaLnBrk="1" hangingPunct="1"/>
                    <a:endParaRPr lang="en-US" altLang="zh-CN"/>
                  </a:p>
                </p:txBody>
              </p:sp>
              <p:sp>
                <p:nvSpPr>
                  <p:cNvPr id="13461" name="Oval 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headEnd/>
                    <a:tailEnd/>
                  </a:ln>
                </p:spPr>
                <p:txBody>
                  <a:bodyPr/>
                  <a:lstStyle/>
                  <a:p>
                    <a:pPr eaLnBrk="1" hangingPunct="1"/>
                    <a:endParaRPr lang="en-US" altLang="zh-CN"/>
                  </a:p>
                </p:txBody>
              </p:sp>
              <p:sp>
                <p:nvSpPr>
                  <p:cNvPr id="13462" name="Oval 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headEnd/>
                    <a:tailEnd/>
                  </a:ln>
                </p:spPr>
                <p:txBody>
                  <a:bodyPr/>
                  <a:lstStyle/>
                  <a:p>
                    <a:pPr eaLnBrk="1" hangingPunct="1"/>
                    <a:endParaRPr lang="en-US" altLang="zh-CN"/>
                  </a:p>
                </p:txBody>
              </p:sp>
              <p:sp>
                <p:nvSpPr>
                  <p:cNvPr id="13463" name="Oval 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headEnd/>
                    <a:tailEnd/>
                  </a:ln>
                </p:spPr>
                <p:txBody>
                  <a:bodyPr/>
                  <a:lstStyle/>
                  <a:p>
                    <a:pPr eaLnBrk="1" hangingPunct="1"/>
                    <a:endParaRPr lang="en-US" altLang="zh-CN"/>
                  </a:p>
                </p:txBody>
              </p:sp>
              <p:sp>
                <p:nvSpPr>
                  <p:cNvPr id="13464" name="Oval 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headEnd/>
                    <a:tailEnd/>
                  </a:ln>
                </p:spPr>
                <p:txBody>
                  <a:bodyPr/>
                  <a:lstStyle/>
                  <a:p>
                    <a:pPr eaLnBrk="1" hangingPunct="1"/>
                    <a:endParaRPr lang="en-US" altLang="zh-CN"/>
                  </a:p>
                </p:txBody>
              </p:sp>
            </p:grpSp>
            <p:sp>
              <p:nvSpPr>
                <p:cNvPr id="13457" name="Oval 14"/>
                <p:cNvSpPr>
                  <a:spLocks noChangeArrowheads="1"/>
                </p:cNvSpPr>
                <p:nvPr/>
              </p:nvSpPr>
              <p:spPr bwMode="auto">
                <a:xfrm>
                  <a:off x="339"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a:lstStyle/>
                <a:p>
                  <a:pPr eaLnBrk="1" hangingPunct="1"/>
                  <a:endParaRPr lang="en-US" altLang="zh-CN"/>
                </a:p>
              </p:txBody>
            </p:sp>
          </p:grpSp>
          <p:sp>
            <p:nvSpPr>
              <p:cNvPr id="13455" name="Freeform 15"/>
              <p:cNvSpPr>
                <a:spLocks/>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3322" name="Line 16"/>
            <p:cNvSpPr>
              <a:spLocks noChangeShapeType="1"/>
            </p:cNvSpPr>
            <p:nvPr/>
          </p:nvSpPr>
          <p:spPr bwMode="auto">
            <a:xfrm flipH="1">
              <a:off x="4421" y="1661"/>
              <a:ext cx="0"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 name="Line 17"/>
            <p:cNvSpPr>
              <a:spLocks noChangeShapeType="1"/>
            </p:cNvSpPr>
            <p:nvPr/>
          </p:nvSpPr>
          <p:spPr bwMode="auto">
            <a:xfrm flipH="1" flipV="1">
              <a:off x="4240" y="1480"/>
              <a:ext cx="136"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5" name="Text Box 19"/>
            <p:cNvSpPr txBox="1">
              <a:spLocks noChangeArrowheads="1"/>
            </p:cNvSpPr>
            <p:nvPr/>
          </p:nvSpPr>
          <p:spPr bwMode="auto">
            <a:xfrm>
              <a:off x="4428" y="2276"/>
              <a:ext cx="28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a:solidFill>
                    <a:srgbClr val="333399"/>
                  </a:solidFill>
                  <a:ea typeface="黑体" pitchFamily="49" charset="-122"/>
                </a:rPr>
                <a:t>(b)</a:t>
              </a:r>
            </a:p>
          </p:txBody>
        </p:sp>
        <p:sp>
          <p:nvSpPr>
            <p:cNvPr id="13329" name="Line 32"/>
            <p:cNvSpPr>
              <a:spLocks noChangeShapeType="1"/>
            </p:cNvSpPr>
            <p:nvPr/>
          </p:nvSpPr>
          <p:spPr bwMode="auto">
            <a:xfrm flipH="1" flipV="1">
              <a:off x="4104" y="1933"/>
              <a:ext cx="726"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0" name="Line 33"/>
            <p:cNvSpPr>
              <a:spLocks noChangeShapeType="1"/>
            </p:cNvSpPr>
            <p:nvPr/>
          </p:nvSpPr>
          <p:spPr bwMode="auto">
            <a:xfrm flipV="1">
              <a:off x="4104" y="1117"/>
              <a:ext cx="226"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1" name="Text Box 34"/>
            <p:cNvSpPr txBox="1">
              <a:spLocks noChangeArrowheads="1"/>
            </p:cNvSpPr>
            <p:nvPr/>
          </p:nvSpPr>
          <p:spPr bwMode="auto">
            <a:xfrm>
              <a:off x="3719" y="500"/>
              <a:ext cx="1728" cy="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a:solidFill>
                    <a:srgbClr val="333399"/>
                  </a:solidFill>
                  <a:latin typeface="黑体" pitchFamily="49" charset="-122"/>
                  <a:ea typeface="黑体" pitchFamily="49" charset="-122"/>
                </a:rPr>
                <a:t>       互连网</a:t>
              </a:r>
              <a:endParaRPr kumimoji="1" lang="en-US" altLang="zh-CN" sz="2800" dirty="0">
                <a:solidFill>
                  <a:srgbClr val="333399"/>
                </a:solidFill>
                <a:latin typeface="黑体" pitchFamily="49" charset="-122"/>
                <a:ea typeface="黑体" pitchFamily="49" charset="-122"/>
              </a:endParaRPr>
            </a:p>
            <a:p>
              <a:pPr eaLnBrk="1" hangingPunct="1"/>
              <a:r>
                <a:rPr kumimoji="1" lang="en-US" altLang="zh-CN" sz="2800" dirty="0" smtClean="0">
                  <a:solidFill>
                    <a:srgbClr val="333399"/>
                  </a:solidFill>
                  <a:latin typeface="黑体" pitchFamily="49" charset="-122"/>
                  <a:ea typeface="黑体" pitchFamily="49" charset="-122"/>
                </a:rPr>
                <a:t>     (internet)</a:t>
              </a:r>
              <a:endParaRPr kumimoji="1" lang="zh-CN" altLang="en-US" sz="2800" dirty="0">
                <a:solidFill>
                  <a:srgbClr val="333399"/>
                </a:solidFill>
                <a:latin typeface="黑体" pitchFamily="49" charset="-122"/>
                <a:ea typeface="黑体" pitchFamily="49" charset="-122"/>
              </a:endParaRPr>
            </a:p>
          </p:txBody>
        </p:sp>
        <p:sp>
          <p:nvSpPr>
            <p:cNvPr id="13332" name="Line 35"/>
            <p:cNvSpPr>
              <a:spLocks noChangeShapeType="1"/>
            </p:cNvSpPr>
            <p:nvPr/>
          </p:nvSpPr>
          <p:spPr bwMode="auto">
            <a:xfrm flipH="1">
              <a:off x="3832" y="1480"/>
              <a:ext cx="408"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3" name="Line 36"/>
            <p:cNvSpPr>
              <a:spLocks noChangeShapeType="1"/>
            </p:cNvSpPr>
            <p:nvPr/>
          </p:nvSpPr>
          <p:spPr bwMode="auto">
            <a:xfrm>
              <a:off x="4512" y="1117"/>
              <a:ext cx="272"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4" name="Line 37"/>
            <p:cNvSpPr>
              <a:spLocks noChangeShapeType="1"/>
            </p:cNvSpPr>
            <p:nvPr/>
          </p:nvSpPr>
          <p:spPr bwMode="auto">
            <a:xfrm>
              <a:off x="4875" y="1253"/>
              <a:ext cx="408" cy="4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5" name="Line 38"/>
            <p:cNvSpPr>
              <a:spLocks noChangeShapeType="1"/>
            </p:cNvSpPr>
            <p:nvPr/>
          </p:nvSpPr>
          <p:spPr bwMode="auto">
            <a:xfrm flipH="1">
              <a:off x="4784" y="1298"/>
              <a:ext cx="46"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6" name="Line 39"/>
            <p:cNvSpPr>
              <a:spLocks noChangeShapeType="1"/>
            </p:cNvSpPr>
            <p:nvPr/>
          </p:nvSpPr>
          <p:spPr bwMode="auto">
            <a:xfrm flipV="1">
              <a:off x="4240" y="1253"/>
              <a:ext cx="454"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7" name="Line 40"/>
            <p:cNvSpPr>
              <a:spLocks noChangeShapeType="1"/>
            </p:cNvSpPr>
            <p:nvPr/>
          </p:nvSpPr>
          <p:spPr bwMode="auto">
            <a:xfrm>
              <a:off x="4058" y="1162"/>
              <a:ext cx="91" cy="2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 name="Line 41"/>
            <p:cNvSpPr>
              <a:spLocks noChangeShapeType="1"/>
            </p:cNvSpPr>
            <p:nvPr/>
          </p:nvSpPr>
          <p:spPr bwMode="auto">
            <a:xfrm flipV="1">
              <a:off x="4422" y="1616"/>
              <a:ext cx="317"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9" name="Line 42"/>
            <p:cNvSpPr>
              <a:spLocks noChangeShapeType="1"/>
            </p:cNvSpPr>
            <p:nvPr/>
          </p:nvSpPr>
          <p:spPr bwMode="auto">
            <a:xfrm>
              <a:off x="4830" y="1616"/>
              <a:ext cx="408"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 name="Line 43"/>
            <p:cNvSpPr>
              <a:spLocks noChangeShapeType="1"/>
            </p:cNvSpPr>
            <p:nvPr/>
          </p:nvSpPr>
          <p:spPr bwMode="auto">
            <a:xfrm flipH="1">
              <a:off x="4013" y="1525"/>
              <a:ext cx="136"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1" name="Line 44"/>
            <p:cNvSpPr>
              <a:spLocks noChangeShapeType="1"/>
            </p:cNvSpPr>
            <p:nvPr/>
          </p:nvSpPr>
          <p:spPr bwMode="auto">
            <a:xfrm>
              <a:off x="4784" y="1661"/>
              <a:ext cx="0" cy="3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42" name="Group 45"/>
            <p:cNvGrpSpPr>
              <a:grpSpLocks/>
            </p:cNvGrpSpPr>
            <p:nvPr/>
          </p:nvGrpSpPr>
          <p:grpSpPr bwMode="auto">
            <a:xfrm>
              <a:off x="3877" y="1070"/>
              <a:ext cx="272" cy="220"/>
              <a:chOff x="2949" y="196"/>
              <a:chExt cx="941" cy="598"/>
            </a:xfrm>
          </p:grpSpPr>
          <p:sp>
            <p:nvSpPr>
              <p:cNvPr id="13434" name="Oval 46"/>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35" name="Oval 47"/>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36" name="Oval 48"/>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37" name="Oval 49"/>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38" name="Oval 50"/>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39" name="Oval 51"/>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40" name="Oval 52"/>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41" name="Oval 53"/>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42" name="Freeform 54"/>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43" name="Freeform 55"/>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44" name="Freeform 56"/>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grpSp>
          <p:nvGrpSpPr>
            <p:cNvPr id="13343" name="Group 57"/>
            <p:cNvGrpSpPr>
              <a:grpSpLocks/>
            </p:cNvGrpSpPr>
            <p:nvPr/>
          </p:nvGrpSpPr>
          <p:grpSpPr bwMode="auto">
            <a:xfrm>
              <a:off x="4650" y="1071"/>
              <a:ext cx="408" cy="316"/>
              <a:chOff x="2949" y="196"/>
              <a:chExt cx="941" cy="598"/>
            </a:xfrm>
          </p:grpSpPr>
          <p:sp>
            <p:nvSpPr>
              <p:cNvPr id="13423" name="Oval 58"/>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24" name="Oval 59"/>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25" name="Oval 60"/>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26" name="Oval 61"/>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27" name="Oval 62"/>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28" name="Oval 63"/>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29" name="Oval 64"/>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30" name="Oval 65"/>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31" name="Freeform 6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32" name="Freeform 6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33" name="Freeform 6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grpSp>
          <p:nvGrpSpPr>
            <p:cNvPr id="13344" name="Group 69"/>
            <p:cNvGrpSpPr>
              <a:grpSpLocks/>
            </p:cNvGrpSpPr>
            <p:nvPr/>
          </p:nvGrpSpPr>
          <p:grpSpPr bwMode="auto">
            <a:xfrm rot="-1072061">
              <a:off x="3615" y="1399"/>
              <a:ext cx="319" cy="270"/>
              <a:chOff x="2949" y="196"/>
              <a:chExt cx="941" cy="598"/>
            </a:xfrm>
          </p:grpSpPr>
          <p:sp>
            <p:nvSpPr>
              <p:cNvPr id="13412" name="Oval 70"/>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13" name="Oval 71"/>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14" name="Oval 72"/>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15" name="Oval 73"/>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16" name="Oval 74"/>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17" name="Oval 75"/>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18" name="Oval 76"/>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19" name="Oval 77"/>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20" name="Freeform 78"/>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21" name="Freeform 79"/>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22" name="Freeform 80"/>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grpSp>
          <p:nvGrpSpPr>
            <p:cNvPr id="13345" name="Group 81"/>
            <p:cNvGrpSpPr>
              <a:grpSpLocks/>
            </p:cNvGrpSpPr>
            <p:nvPr/>
          </p:nvGrpSpPr>
          <p:grpSpPr bwMode="auto">
            <a:xfrm rot="-854928">
              <a:off x="3790" y="1737"/>
              <a:ext cx="364" cy="316"/>
              <a:chOff x="2949" y="196"/>
              <a:chExt cx="941" cy="598"/>
            </a:xfrm>
          </p:grpSpPr>
          <p:sp>
            <p:nvSpPr>
              <p:cNvPr id="13401" name="Oval 82"/>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2" name="Oval 83"/>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3" name="Oval 84"/>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4" name="Oval 85"/>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5" name="Oval 86"/>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6" name="Oval 87"/>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7" name="Oval 88"/>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8" name="Oval 89"/>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409" name="Freeform 90"/>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10" name="Freeform 91"/>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11" name="Freeform 92"/>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sp>
          <p:nvSpPr>
            <p:cNvPr id="13346" name="Line 93"/>
            <p:cNvSpPr>
              <a:spLocks noChangeShapeType="1"/>
            </p:cNvSpPr>
            <p:nvPr/>
          </p:nvSpPr>
          <p:spPr bwMode="auto">
            <a:xfrm flipH="1">
              <a:off x="4830" y="1706"/>
              <a:ext cx="453" cy="3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47" name="Group 94"/>
            <p:cNvGrpSpPr>
              <a:grpSpLocks/>
            </p:cNvGrpSpPr>
            <p:nvPr/>
          </p:nvGrpSpPr>
          <p:grpSpPr bwMode="auto">
            <a:xfrm rot="-666782">
              <a:off x="4646" y="1884"/>
              <a:ext cx="272" cy="220"/>
              <a:chOff x="2949" y="196"/>
              <a:chExt cx="941" cy="598"/>
            </a:xfrm>
          </p:grpSpPr>
          <p:sp>
            <p:nvSpPr>
              <p:cNvPr id="13390" name="Oval 95"/>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1" name="Oval 96"/>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2" name="Oval 97"/>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3" name="Oval 98"/>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4" name="Oval 99"/>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5" name="Oval 100"/>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6" name="Oval 101"/>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7" name="Oval 102"/>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98" name="Freeform 103"/>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399" name="Freeform 104"/>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400" name="Freeform 105"/>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grpSp>
          <p:nvGrpSpPr>
            <p:cNvPr id="13348" name="Group 106"/>
            <p:cNvGrpSpPr>
              <a:grpSpLocks/>
            </p:cNvGrpSpPr>
            <p:nvPr/>
          </p:nvGrpSpPr>
          <p:grpSpPr bwMode="auto">
            <a:xfrm rot="282232">
              <a:off x="5147" y="1568"/>
              <a:ext cx="272" cy="220"/>
              <a:chOff x="2949" y="196"/>
              <a:chExt cx="941" cy="598"/>
            </a:xfrm>
          </p:grpSpPr>
          <p:sp>
            <p:nvSpPr>
              <p:cNvPr id="13379" name="Oval 107"/>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0" name="Oval 108"/>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1" name="Oval 109"/>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2" name="Oval 110"/>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3" name="Oval 111"/>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4" name="Oval 112"/>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5" name="Oval 113"/>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6" name="Oval 114"/>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87" name="Freeform 115"/>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388" name="Freeform 116"/>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389" name="Freeform 117"/>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pic>
          <p:nvPicPr>
            <p:cNvPr id="13352" name="Picture 1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8"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353" name="Picture 1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5" y="1888"/>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354" name="Picture 1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8" y="1525"/>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355" name="Picture 12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6" y="1389"/>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356" name="Picture 1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5" y="1026"/>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pic>
          <p:nvPicPr>
            <p:cNvPr id="13357" name="Picture 12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0" y="1797"/>
              <a:ext cx="264"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13358" name="Group 127"/>
            <p:cNvGrpSpPr>
              <a:grpSpLocks/>
            </p:cNvGrpSpPr>
            <p:nvPr/>
          </p:nvGrpSpPr>
          <p:grpSpPr bwMode="auto">
            <a:xfrm rot="-666782">
              <a:off x="4283" y="1566"/>
              <a:ext cx="272" cy="220"/>
              <a:chOff x="2949" y="196"/>
              <a:chExt cx="941" cy="598"/>
            </a:xfrm>
          </p:grpSpPr>
          <p:sp>
            <p:nvSpPr>
              <p:cNvPr id="13368" name="Oval 128"/>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69" name="Oval 129"/>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70" name="Oval 130"/>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71" name="Oval 131"/>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72" name="Oval 132"/>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73" name="Oval 133"/>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74" name="Oval 134"/>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75" name="Oval 135"/>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3376" name="Freeform 136"/>
              <p:cNvSpPr>
                <a:spLocks/>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377" name="Freeform 137"/>
              <p:cNvSpPr>
                <a:spLocks/>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sp>
            <p:nvSpPr>
              <p:cNvPr id="13378" name="Freeform 138"/>
              <p:cNvSpPr>
                <a:spLocks/>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grpSp>
      <p:pic>
        <p:nvPicPr>
          <p:cNvPr id="153" name="Picture 12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376" y="2510105"/>
            <a:ext cx="427401" cy="399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 name="Picture 14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20640517">
            <a:off x="392800" y="3277554"/>
            <a:ext cx="600553" cy="32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55" name="Picture 12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758" y="4013526"/>
            <a:ext cx="578635" cy="338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grpSp>
        <p:nvGrpSpPr>
          <p:cNvPr id="2" name="组合 1"/>
          <p:cNvGrpSpPr/>
          <p:nvPr/>
        </p:nvGrpSpPr>
        <p:grpSpPr>
          <a:xfrm>
            <a:off x="406879" y="4627683"/>
            <a:ext cx="590801" cy="432676"/>
            <a:chOff x="345335" y="4409405"/>
            <a:chExt cx="590801" cy="432676"/>
          </a:xfrm>
        </p:grpSpPr>
        <p:sp>
          <p:nvSpPr>
            <p:cNvPr id="165" name="Oval 129"/>
            <p:cNvSpPr>
              <a:spLocks noChangeArrowheads="1"/>
            </p:cNvSpPr>
            <p:nvPr/>
          </p:nvSpPr>
          <p:spPr bwMode="auto">
            <a:xfrm rot="233218">
              <a:off x="668602" y="4433359"/>
              <a:ext cx="174226" cy="9814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6" name="Oval 131"/>
            <p:cNvSpPr>
              <a:spLocks noChangeArrowheads="1"/>
            </p:cNvSpPr>
            <p:nvPr/>
          </p:nvSpPr>
          <p:spPr bwMode="auto">
            <a:xfrm rot="19373218">
              <a:off x="751773" y="4634047"/>
              <a:ext cx="184363" cy="141601"/>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7" name="Oval 133"/>
            <p:cNvSpPr>
              <a:spLocks noChangeArrowheads="1"/>
            </p:cNvSpPr>
            <p:nvPr/>
          </p:nvSpPr>
          <p:spPr bwMode="auto">
            <a:xfrm rot="413218">
              <a:off x="410226" y="4716262"/>
              <a:ext cx="167890" cy="11687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8" name="Oval 135"/>
            <p:cNvSpPr>
              <a:spLocks noChangeArrowheads="1"/>
            </p:cNvSpPr>
            <p:nvPr/>
          </p:nvSpPr>
          <p:spPr bwMode="auto">
            <a:xfrm rot="19073218">
              <a:off x="350423" y="4539077"/>
              <a:ext cx="186897" cy="11687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0" name="Oval 128"/>
            <p:cNvSpPr>
              <a:spLocks noChangeArrowheads="1"/>
            </p:cNvSpPr>
            <p:nvPr/>
          </p:nvSpPr>
          <p:spPr bwMode="auto">
            <a:xfrm rot="20933218">
              <a:off x="446705" y="4409405"/>
              <a:ext cx="257854" cy="121373"/>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1" name="Oval 130"/>
            <p:cNvSpPr>
              <a:spLocks noChangeArrowheads="1"/>
            </p:cNvSpPr>
            <p:nvPr/>
          </p:nvSpPr>
          <p:spPr bwMode="auto">
            <a:xfrm rot="833218">
              <a:off x="773984" y="4499752"/>
              <a:ext cx="152052" cy="114630"/>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2" name="Oval 132"/>
            <p:cNvSpPr>
              <a:spLocks noChangeArrowheads="1"/>
            </p:cNvSpPr>
            <p:nvPr/>
          </p:nvSpPr>
          <p:spPr bwMode="auto">
            <a:xfrm rot="20933218">
              <a:off x="533566" y="4663019"/>
              <a:ext cx="298401" cy="179062"/>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3" name="Oval 134"/>
            <p:cNvSpPr>
              <a:spLocks noChangeArrowheads="1"/>
            </p:cNvSpPr>
            <p:nvPr/>
          </p:nvSpPr>
          <p:spPr bwMode="auto">
            <a:xfrm rot="20933218">
              <a:off x="345335" y="4621290"/>
              <a:ext cx="137480" cy="116877"/>
            </a:xfrm>
            <a:prstGeom prst="ellipse">
              <a:avLst/>
            </a:prstGeom>
            <a:solidFill>
              <a:srgbClr val="C0C0C0"/>
            </a:solidFill>
            <a:ln w="12700">
              <a:solidFill>
                <a:schemeClr val="tx1"/>
              </a:solidFill>
              <a:round/>
              <a:headEnd/>
              <a:tailEnd/>
            </a:ln>
          </p:spPr>
          <p:txBody>
            <a:bodyPr wrap="none" anchor="ctr"/>
            <a:lstStyle/>
            <a:p>
              <a:pPr eaLnBrk="1" hangingPunct="1"/>
              <a:endParaRPr lang="en-US" altLang="zh-CN"/>
            </a:p>
          </p:txBody>
        </p:sp>
        <p:sp>
          <p:nvSpPr>
            <p:cNvPr id="164" name="Freeform 136"/>
            <p:cNvSpPr>
              <a:spLocks/>
            </p:cNvSpPr>
            <p:nvPr/>
          </p:nvSpPr>
          <p:spPr bwMode="auto">
            <a:xfrm rot="20933218">
              <a:off x="404324" y="4450021"/>
              <a:ext cx="467559" cy="304930"/>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cap="rnd">
                  <a:solidFill>
                    <a:srgbClr val="000000"/>
                  </a:solidFill>
                  <a:round/>
                  <a:headEnd/>
                  <a:tailEnd/>
                </a14:hiddenLine>
              </a:ext>
            </a:extLst>
          </p:spPr>
          <p:txBody>
            <a:bodyPr/>
            <a:lstStyle/>
            <a:p>
              <a:endParaRPr lang="zh-CN" altLang="en-US"/>
            </a:p>
          </p:txBody>
        </p:sp>
      </p:grpSp>
      <p:sp>
        <p:nvSpPr>
          <p:cNvPr id="5" name="TextBox 4"/>
          <p:cNvSpPr txBox="1"/>
          <p:nvPr/>
        </p:nvSpPr>
        <p:spPr>
          <a:xfrm>
            <a:off x="1127448" y="2538828"/>
            <a:ext cx="877163" cy="369332"/>
          </a:xfrm>
          <a:prstGeom prst="rect">
            <a:avLst/>
          </a:prstGeom>
          <a:noFill/>
        </p:spPr>
        <p:txBody>
          <a:bodyPr wrap="none" rtlCol="0">
            <a:spAutoFit/>
          </a:bodyPr>
          <a:lstStyle/>
          <a:p>
            <a:r>
              <a:rPr lang="zh-CN" altLang="en-US" b="1" dirty="0" smtClean="0">
                <a:solidFill>
                  <a:srgbClr val="1C1C1C"/>
                </a:solidFill>
                <a:latin typeface="微软雅黑" pitchFamily="34" charset="-122"/>
                <a:ea typeface="微软雅黑" pitchFamily="34" charset="-122"/>
              </a:rPr>
              <a:t>计算机</a:t>
            </a:r>
            <a:endParaRPr lang="zh-CN" altLang="en-US" b="1" dirty="0">
              <a:solidFill>
                <a:srgbClr val="1C1C1C"/>
              </a:solidFill>
              <a:latin typeface="微软雅黑" pitchFamily="34" charset="-122"/>
              <a:ea typeface="微软雅黑" pitchFamily="34" charset="-122"/>
            </a:endParaRPr>
          </a:p>
        </p:txBody>
      </p:sp>
      <p:sp>
        <p:nvSpPr>
          <p:cNvPr id="173" name="TextBox 172"/>
          <p:cNvSpPr txBox="1"/>
          <p:nvPr/>
        </p:nvSpPr>
        <p:spPr>
          <a:xfrm>
            <a:off x="1127448" y="3215230"/>
            <a:ext cx="877163" cy="369332"/>
          </a:xfrm>
          <a:prstGeom prst="rect">
            <a:avLst/>
          </a:prstGeom>
          <a:noFill/>
        </p:spPr>
        <p:txBody>
          <a:bodyPr wrap="none" rtlCol="0">
            <a:spAutoFit/>
          </a:bodyPr>
          <a:lstStyle/>
          <a:p>
            <a:r>
              <a:rPr lang="zh-CN" altLang="en-US" b="1" dirty="0">
                <a:solidFill>
                  <a:srgbClr val="1C1C1C"/>
                </a:solidFill>
                <a:latin typeface="微软雅黑" pitchFamily="34" charset="-122"/>
                <a:ea typeface="微软雅黑" pitchFamily="34" charset="-122"/>
              </a:rPr>
              <a:t>集线器</a:t>
            </a:r>
          </a:p>
        </p:txBody>
      </p:sp>
      <p:sp>
        <p:nvSpPr>
          <p:cNvPr id="174" name="TextBox 173"/>
          <p:cNvSpPr txBox="1"/>
          <p:nvPr/>
        </p:nvSpPr>
        <p:spPr>
          <a:xfrm>
            <a:off x="1127448" y="3998026"/>
            <a:ext cx="877163" cy="369332"/>
          </a:xfrm>
          <a:prstGeom prst="rect">
            <a:avLst/>
          </a:prstGeom>
          <a:noFill/>
        </p:spPr>
        <p:txBody>
          <a:bodyPr wrap="none" rtlCol="0">
            <a:spAutoFit/>
          </a:bodyPr>
          <a:lstStyle/>
          <a:p>
            <a:r>
              <a:rPr lang="zh-CN" altLang="en-US" b="1" dirty="0">
                <a:solidFill>
                  <a:srgbClr val="1C1C1C"/>
                </a:solidFill>
                <a:latin typeface="微软雅黑" pitchFamily="34" charset="-122"/>
                <a:ea typeface="微软雅黑" pitchFamily="34" charset="-122"/>
              </a:rPr>
              <a:t>路由器</a:t>
            </a:r>
          </a:p>
        </p:txBody>
      </p:sp>
      <p:sp>
        <p:nvSpPr>
          <p:cNvPr id="175" name="TextBox 174"/>
          <p:cNvSpPr txBox="1"/>
          <p:nvPr/>
        </p:nvSpPr>
        <p:spPr>
          <a:xfrm>
            <a:off x="1162582" y="4660738"/>
            <a:ext cx="646331" cy="369332"/>
          </a:xfrm>
          <a:prstGeom prst="rect">
            <a:avLst/>
          </a:prstGeom>
          <a:noFill/>
        </p:spPr>
        <p:txBody>
          <a:bodyPr wrap="none" rtlCol="0">
            <a:spAutoFit/>
          </a:bodyPr>
          <a:lstStyle/>
          <a:p>
            <a:r>
              <a:rPr lang="zh-CN" altLang="en-US" b="1" dirty="0">
                <a:solidFill>
                  <a:srgbClr val="1C1C1C"/>
                </a:solidFill>
                <a:latin typeface="微软雅黑" pitchFamily="34" charset="-122"/>
                <a:ea typeface="微软雅黑" pitchFamily="34" charset="-122"/>
              </a:rPr>
              <a:t>网络</a:t>
            </a:r>
          </a:p>
        </p:txBody>
      </p:sp>
      <p:sp>
        <p:nvSpPr>
          <p:cNvPr id="171" name="TextBox 170"/>
          <p:cNvSpPr txBox="1">
            <a:spLocks noChangeArrowheads="1"/>
          </p:cNvSpPr>
          <p:nvPr/>
        </p:nvSpPr>
        <p:spPr bwMode="auto">
          <a:xfrm>
            <a:off x="7032104" y="2135110"/>
            <a:ext cx="5112568" cy="4154984"/>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10000"/>
              </a:lnSpc>
            </a:pPr>
            <a:r>
              <a:rPr lang="zh-CN" altLang="en-US" sz="2400" b="1" dirty="0" smtClean="0">
                <a:solidFill>
                  <a:srgbClr val="1C1C1C"/>
                </a:solidFill>
                <a:latin typeface="微软雅黑" pitchFamily="34" charset="-122"/>
                <a:ea typeface="微软雅黑" pitchFamily="34" charset="-122"/>
              </a:rPr>
              <a:t>互连</a:t>
            </a:r>
            <a:r>
              <a:rPr lang="zh-CN" altLang="en-US" sz="2400" b="1" dirty="0">
                <a:solidFill>
                  <a:srgbClr val="1C1C1C"/>
                </a:solidFill>
                <a:latin typeface="微软雅黑" pitchFamily="34" charset="-122"/>
                <a:ea typeface="微软雅黑" pitchFamily="34" charset="-122"/>
              </a:rPr>
              <a:t>网：</a:t>
            </a:r>
            <a:endParaRPr lang="en-US" altLang="zh-CN" sz="2400" b="1" dirty="0">
              <a:solidFill>
                <a:srgbClr val="1C1C1C"/>
              </a:solidFill>
              <a:latin typeface="微软雅黑" pitchFamily="34" charset="-122"/>
              <a:ea typeface="微软雅黑" pitchFamily="34" charset="-122"/>
            </a:endParaRPr>
          </a:p>
          <a:p>
            <a:pPr eaLnBrk="1" hangingPunct="1">
              <a:lnSpc>
                <a:spcPct val="110000"/>
              </a:lnSpc>
            </a:pPr>
            <a:r>
              <a:rPr lang="zh-CN" altLang="en-US" sz="2400" dirty="0" smtClean="0">
                <a:solidFill>
                  <a:srgbClr val="1C1C1C"/>
                </a:solidFill>
                <a:latin typeface="微软雅黑" pitchFamily="34" charset="-122"/>
                <a:ea typeface="微软雅黑" pitchFamily="34" charset="-122"/>
              </a:rPr>
              <a:t>多个网络通过</a:t>
            </a:r>
            <a:r>
              <a:rPr lang="zh-CN" altLang="en-US" sz="2400" b="1" dirty="0" smtClean="0">
                <a:solidFill>
                  <a:srgbClr val="1C1C1C"/>
                </a:solidFill>
                <a:latin typeface="微软雅黑" pitchFamily="34" charset="-122"/>
                <a:ea typeface="微软雅黑" pitchFamily="34" charset="-122"/>
              </a:rPr>
              <a:t>路由器</a:t>
            </a:r>
            <a:r>
              <a:rPr lang="en-US" altLang="zh-CN" sz="2400" dirty="0" smtClean="0">
                <a:solidFill>
                  <a:srgbClr val="1C1C1C"/>
                </a:solidFill>
                <a:latin typeface="微软雅黑" pitchFamily="34" charset="-122"/>
                <a:ea typeface="微软雅黑" pitchFamily="34" charset="-122"/>
              </a:rPr>
              <a:t>(router)</a:t>
            </a:r>
            <a:r>
              <a:rPr lang="zh-CN" altLang="en-US" sz="2400" dirty="0" smtClean="0">
                <a:solidFill>
                  <a:srgbClr val="1C1C1C"/>
                </a:solidFill>
                <a:latin typeface="微软雅黑" pitchFamily="34" charset="-122"/>
                <a:ea typeface="微软雅黑" pitchFamily="34" charset="-122"/>
              </a:rPr>
              <a:t>互连起来，构成的覆盖范围更大的计算机网络叫做互连网</a:t>
            </a:r>
            <a:r>
              <a:rPr lang="en-US" altLang="zh-CN" sz="2400" dirty="0" smtClean="0">
                <a:solidFill>
                  <a:srgbClr val="1C1C1C"/>
                </a:solidFill>
                <a:latin typeface="微软雅黑" pitchFamily="34" charset="-122"/>
                <a:ea typeface="微软雅黑" pitchFamily="34" charset="-122"/>
              </a:rPr>
              <a:t>(internet)</a:t>
            </a:r>
            <a:r>
              <a:rPr lang="zh-CN" altLang="en-US" sz="2400" dirty="0">
                <a:solidFill>
                  <a:srgbClr val="1C1C1C"/>
                </a:solidFill>
                <a:latin typeface="微软雅黑" pitchFamily="34" charset="-122"/>
                <a:ea typeface="微软雅黑" pitchFamily="34" charset="-122"/>
              </a:rPr>
              <a:t>，又称为“网络的网络”</a:t>
            </a:r>
            <a:r>
              <a:rPr lang="en-US" altLang="zh-CN" sz="2400" dirty="0">
                <a:solidFill>
                  <a:srgbClr val="1C1C1C"/>
                </a:solidFill>
                <a:latin typeface="微软雅黑" pitchFamily="34" charset="-122"/>
                <a:ea typeface="微软雅黑" pitchFamily="34" charset="-122"/>
              </a:rPr>
              <a:t>(network of networks)</a:t>
            </a:r>
            <a:r>
              <a:rPr lang="zh-CN" altLang="en-US" sz="2400" dirty="0">
                <a:solidFill>
                  <a:srgbClr val="1C1C1C"/>
                </a:solidFill>
                <a:latin typeface="微软雅黑" pitchFamily="34" charset="-122"/>
                <a:ea typeface="微软雅黑" pitchFamily="34" charset="-122"/>
              </a:rPr>
              <a:t>。</a:t>
            </a:r>
          </a:p>
          <a:p>
            <a:pPr eaLnBrk="1" hangingPunct="1">
              <a:lnSpc>
                <a:spcPct val="110000"/>
              </a:lnSpc>
            </a:pPr>
            <a:endParaRPr lang="en-US" altLang="zh-CN" sz="2400" b="1" dirty="0">
              <a:solidFill>
                <a:srgbClr val="1C1C1C"/>
              </a:solidFill>
              <a:latin typeface="微软雅黑" pitchFamily="34" charset="-122"/>
              <a:ea typeface="微软雅黑" pitchFamily="34" charset="-122"/>
            </a:endParaRPr>
          </a:p>
          <a:p>
            <a:pPr eaLnBrk="1" hangingPunct="1">
              <a:lnSpc>
                <a:spcPct val="110000"/>
              </a:lnSpc>
            </a:pPr>
            <a:r>
              <a:rPr lang="zh-CN" altLang="en-US" sz="2400" b="1" dirty="0">
                <a:solidFill>
                  <a:srgbClr val="1C1C1C"/>
                </a:solidFill>
                <a:latin typeface="微软雅黑" pitchFamily="34" charset="-122"/>
                <a:ea typeface="微软雅黑" pitchFamily="34" charset="-122"/>
              </a:rPr>
              <a:t>互联网：</a:t>
            </a:r>
            <a:endParaRPr lang="en-US" altLang="zh-CN" sz="2400" b="1" dirty="0">
              <a:solidFill>
                <a:srgbClr val="1C1C1C"/>
              </a:solidFill>
              <a:latin typeface="微软雅黑" pitchFamily="34" charset="-122"/>
              <a:ea typeface="微软雅黑" pitchFamily="34" charset="-122"/>
            </a:endParaRPr>
          </a:p>
          <a:p>
            <a:pPr eaLnBrk="1" hangingPunct="1">
              <a:lnSpc>
                <a:spcPct val="110000"/>
              </a:lnSpc>
            </a:pPr>
            <a:r>
              <a:rPr lang="zh-CN" altLang="en-US" sz="2400" dirty="0">
                <a:solidFill>
                  <a:srgbClr val="1C1C1C"/>
                </a:solidFill>
                <a:latin typeface="微软雅黑" pitchFamily="34" charset="-122"/>
                <a:ea typeface="微软雅黑" pitchFamily="34" charset="-122"/>
              </a:rPr>
              <a:t>全球最大</a:t>
            </a:r>
            <a:r>
              <a:rPr lang="zh-CN" altLang="en-US" sz="2400" dirty="0" smtClean="0">
                <a:solidFill>
                  <a:srgbClr val="1C1C1C"/>
                </a:solidFill>
                <a:latin typeface="微软雅黑" pitchFamily="34" charset="-122"/>
                <a:ea typeface="微软雅黑" pitchFamily="34" charset="-122"/>
              </a:rPr>
              <a:t>的互连</a:t>
            </a:r>
            <a:r>
              <a:rPr lang="zh-CN" altLang="en-US" sz="2400" dirty="0">
                <a:solidFill>
                  <a:srgbClr val="1C1C1C"/>
                </a:solidFill>
                <a:latin typeface="微软雅黑" pitchFamily="34" charset="-122"/>
                <a:ea typeface="微软雅黑" pitchFamily="34" charset="-122"/>
              </a:rPr>
              <a:t>网，又叫</a:t>
            </a:r>
            <a:r>
              <a:rPr lang="zh-CN" altLang="en-US" sz="2400" dirty="0" smtClean="0">
                <a:solidFill>
                  <a:srgbClr val="1C1C1C"/>
                </a:solidFill>
                <a:latin typeface="微软雅黑" pitchFamily="34" charset="-122"/>
                <a:ea typeface="微软雅黑" pitchFamily="34" charset="-122"/>
              </a:rPr>
              <a:t>因特网</a:t>
            </a:r>
            <a:r>
              <a:rPr lang="en-US" altLang="zh-CN" sz="2400" dirty="0" smtClean="0">
                <a:solidFill>
                  <a:srgbClr val="1C1C1C"/>
                </a:solidFill>
                <a:latin typeface="微软雅黑" pitchFamily="34" charset="-122"/>
                <a:ea typeface="微软雅黑" pitchFamily="34" charset="-122"/>
              </a:rPr>
              <a:t>(Internet</a:t>
            </a:r>
            <a:r>
              <a:rPr lang="en-US" altLang="zh-CN" sz="2400" dirty="0">
                <a:solidFill>
                  <a:srgbClr val="1C1C1C"/>
                </a:solidFill>
                <a:latin typeface="微软雅黑" pitchFamily="34" charset="-122"/>
                <a:ea typeface="微软雅黑" pitchFamily="34" charset="-122"/>
              </a:rPr>
              <a:t>)</a:t>
            </a:r>
            <a:r>
              <a:rPr lang="zh-CN" altLang="en-US" sz="2400" dirty="0" smtClean="0">
                <a:solidFill>
                  <a:srgbClr val="1C1C1C"/>
                </a:solidFill>
                <a:latin typeface="微软雅黑" pitchFamily="34" charset="-122"/>
                <a:ea typeface="微软雅黑" pitchFamily="34" charset="-122"/>
              </a:rPr>
              <a:t>。</a:t>
            </a:r>
            <a:endParaRPr lang="en-US" altLang="zh-CN" sz="2400" dirty="0">
              <a:solidFill>
                <a:srgbClr val="1C1C1C"/>
              </a:solidFill>
              <a:latin typeface="微软雅黑" pitchFamily="34" charset="-122"/>
              <a:ea typeface="微软雅黑" pitchFamily="34" charset="-122"/>
            </a:endParaRPr>
          </a:p>
        </p:txBody>
      </p:sp>
    </p:spTree>
    <p:extLst>
      <p:ext uri="{BB962C8B-B14F-4D97-AF65-F5344CB8AC3E}">
        <p14:creationId xmlns:p14="http://schemas.microsoft.com/office/powerpoint/2010/main" val="3184083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1"/>
                                        </p:tgtEl>
                                        <p:attrNameLst>
                                          <p:attrName>style.visibility</p:attrName>
                                        </p:attrNameLst>
                                      </p:cBhvr>
                                      <p:to>
                                        <p:strVal val="visible"/>
                                      </p:to>
                                    </p:set>
                                    <p:animEffect transition="in" filter="fade">
                                      <p:cBhvr>
                                        <p:cTn id="7" dur="500"/>
                                        <p:tgtEl>
                                          <p:spTgt spid="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CN" dirty="0"/>
              <a:t>1.2 </a:t>
            </a:r>
            <a:r>
              <a:rPr lang="zh-CN" altLang="en-US" dirty="0" smtClean="0"/>
              <a:t>互联网</a:t>
            </a:r>
            <a:r>
              <a:rPr lang="zh-CN" altLang="en-US" dirty="0"/>
              <a:t>概述</a:t>
            </a:r>
          </a:p>
        </p:txBody>
      </p:sp>
      <p:sp>
        <p:nvSpPr>
          <p:cNvPr id="175" name="TextBox 174"/>
          <p:cNvSpPr txBox="1">
            <a:spLocks noChangeArrowheads="1"/>
          </p:cNvSpPr>
          <p:nvPr/>
        </p:nvSpPr>
        <p:spPr bwMode="auto">
          <a:xfrm>
            <a:off x="6023992" y="1484784"/>
            <a:ext cx="5904656" cy="5013039"/>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50000"/>
              </a:lnSpc>
            </a:pPr>
            <a:r>
              <a:rPr lang="zh-CN" altLang="en-US" sz="2400" dirty="0" smtClean="0">
                <a:solidFill>
                  <a:srgbClr val="1C1C1C"/>
                </a:solidFill>
                <a:latin typeface="微软雅黑" pitchFamily="34" charset="-122"/>
                <a:ea typeface="微软雅黑" pitchFamily="34" charset="-122"/>
              </a:rPr>
              <a:t>当使用一朵云来</a:t>
            </a:r>
            <a:r>
              <a:rPr lang="zh-CN" altLang="en-US" sz="2400" dirty="0">
                <a:solidFill>
                  <a:srgbClr val="1C1C1C"/>
                </a:solidFill>
                <a:latin typeface="微软雅黑" pitchFamily="34" charset="-122"/>
                <a:ea typeface="微软雅黑" pitchFamily="34" charset="-122"/>
              </a:rPr>
              <a:t>表示网络时</a:t>
            </a:r>
            <a:r>
              <a:rPr lang="zh-CN" altLang="en-US" sz="2400" dirty="0" smtClean="0">
                <a:solidFill>
                  <a:srgbClr val="1C1C1C"/>
                </a:solidFill>
                <a:latin typeface="微软雅黑" pitchFamily="34" charset="-122"/>
                <a:ea typeface="微软雅黑" pitchFamily="34" charset="-122"/>
              </a:rPr>
              <a:t>，会</a:t>
            </a:r>
            <a:r>
              <a:rPr lang="zh-CN" altLang="en-US" sz="2400" dirty="0">
                <a:solidFill>
                  <a:srgbClr val="1C1C1C"/>
                </a:solidFill>
                <a:latin typeface="微软雅黑" pitchFamily="34" charset="-122"/>
                <a:ea typeface="微软雅黑" pitchFamily="34" charset="-122"/>
              </a:rPr>
              <a:t>有两种不同的</a:t>
            </a:r>
            <a:r>
              <a:rPr lang="zh-CN" altLang="en-US" sz="2400" dirty="0" smtClean="0">
                <a:solidFill>
                  <a:srgbClr val="1C1C1C"/>
                </a:solidFill>
                <a:latin typeface="微软雅黑" pitchFamily="34" charset="-122"/>
                <a:ea typeface="微软雅黑" pitchFamily="34" charset="-122"/>
              </a:rPr>
              <a:t>情况。有时用</a:t>
            </a:r>
            <a:r>
              <a:rPr lang="zh-CN" altLang="en-US" sz="2400" dirty="0">
                <a:solidFill>
                  <a:srgbClr val="1C1C1C"/>
                </a:solidFill>
                <a:latin typeface="微软雅黑" pitchFamily="34" charset="-122"/>
                <a:ea typeface="微软雅黑" pitchFamily="34" charset="-122"/>
              </a:rPr>
              <a:t>云表示的网络已经包含了和网络相连的</a:t>
            </a:r>
            <a:r>
              <a:rPr lang="zh-CN" altLang="en-US" sz="2400" dirty="0" smtClean="0">
                <a:solidFill>
                  <a:srgbClr val="1C1C1C"/>
                </a:solidFill>
                <a:latin typeface="微软雅黑" pitchFamily="34" charset="-122"/>
                <a:ea typeface="微软雅黑" pitchFamily="34" charset="-122"/>
              </a:rPr>
              <a:t>计算机，但</a:t>
            </a:r>
            <a:r>
              <a:rPr lang="zh-CN" altLang="en-US" sz="2400" dirty="0">
                <a:solidFill>
                  <a:srgbClr val="1C1C1C"/>
                </a:solidFill>
                <a:latin typeface="微软雅黑" pitchFamily="34" charset="-122"/>
                <a:ea typeface="微软雅黑" pitchFamily="34" charset="-122"/>
              </a:rPr>
              <a:t>有时为了讨论问题的方便</a:t>
            </a:r>
            <a:r>
              <a:rPr lang="en-US" altLang="zh-CN" sz="2400" dirty="0">
                <a:solidFill>
                  <a:srgbClr val="1C1C1C"/>
                </a:solidFill>
                <a:latin typeface="微软雅黑" pitchFamily="34" charset="-122"/>
                <a:ea typeface="微软雅黑" pitchFamily="34" charset="-122"/>
              </a:rPr>
              <a:t>(</a:t>
            </a:r>
            <a:r>
              <a:rPr lang="zh-CN" altLang="en-US" sz="2400" dirty="0">
                <a:solidFill>
                  <a:srgbClr val="1C1C1C"/>
                </a:solidFill>
                <a:latin typeface="微软雅黑" pitchFamily="34" charset="-122"/>
                <a:ea typeface="微软雅黑" pitchFamily="34" charset="-122"/>
              </a:rPr>
              <a:t>例如，要讨论几个计算机之间如何进行通信</a:t>
            </a:r>
            <a:r>
              <a:rPr lang="en-US" altLang="zh-CN" sz="2400" dirty="0">
                <a:solidFill>
                  <a:srgbClr val="1C1C1C"/>
                </a:solidFill>
                <a:latin typeface="微软雅黑" pitchFamily="34" charset="-122"/>
                <a:ea typeface="微软雅黑" pitchFamily="34" charset="-122"/>
              </a:rPr>
              <a:t>)</a:t>
            </a:r>
            <a:r>
              <a:rPr lang="zh-CN" altLang="en-US" sz="2400" dirty="0">
                <a:solidFill>
                  <a:srgbClr val="1C1C1C"/>
                </a:solidFill>
                <a:latin typeface="微软雅黑" pitchFamily="34" charset="-122"/>
                <a:ea typeface="微软雅黑" pitchFamily="34" charset="-122"/>
              </a:rPr>
              <a:t>，也可以把有关的计算机画在云的</a:t>
            </a:r>
            <a:r>
              <a:rPr lang="zh-CN" altLang="en-US" sz="2400" dirty="0" smtClean="0">
                <a:solidFill>
                  <a:srgbClr val="1C1C1C"/>
                </a:solidFill>
                <a:latin typeface="微软雅黑" pitchFamily="34" charset="-122"/>
                <a:ea typeface="微软雅黑" pitchFamily="34" charset="-122"/>
              </a:rPr>
              <a:t>外面。</a:t>
            </a:r>
            <a:r>
              <a:rPr lang="zh-CN" altLang="en-US" sz="2400" dirty="0">
                <a:solidFill>
                  <a:srgbClr val="1C1C1C"/>
                </a:solidFill>
                <a:latin typeface="微软雅黑" pitchFamily="34" charset="-122"/>
                <a:ea typeface="微软雅黑" pitchFamily="34" charset="-122"/>
              </a:rPr>
              <a:t>习惯上，与网络相连的计算机常称为</a:t>
            </a:r>
            <a:r>
              <a:rPr lang="zh-CN" altLang="en-US" sz="2400" b="1" dirty="0">
                <a:solidFill>
                  <a:srgbClr val="1C1C1C"/>
                </a:solidFill>
                <a:latin typeface="微软雅黑" pitchFamily="34" charset="-122"/>
                <a:ea typeface="微软雅黑" pitchFamily="34" charset="-122"/>
              </a:rPr>
              <a:t>主机</a:t>
            </a:r>
            <a:r>
              <a:rPr lang="en-US" altLang="zh-CN" sz="2400" dirty="0">
                <a:solidFill>
                  <a:srgbClr val="1C1C1C"/>
                </a:solidFill>
                <a:latin typeface="微软雅黑" pitchFamily="34" charset="-122"/>
                <a:ea typeface="微软雅黑" pitchFamily="34" charset="-122"/>
              </a:rPr>
              <a:t>(host)</a:t>
            </a:r>
            <a:r>
              <a:rPr lang="zh-CN" altLang="en-US" sz="2400" dirty="0">
                <a:solidFill>
                  <a:srgbClr val="1C1C1C"/>
                </a:solidFill>
                <a:latin typeface="微软雅黑" pitchFamily="34" charset="-122"/>
                <a:ea typeface="微软雅黑" pitchFamily="34" charset="-122"/>
              </a:rPr>
              <a:t>。这样，用云表示的互连网里面就只剩下许多路由器和连接这些路由器的链路了。</a:t>
            </a:r>
            <a:endParaRPr lang="en-US" altLang="zh-CN" sz="2400" dirty="0">
              <a:solidFill>
                <a:srgbClr val="1C1C1C"/>
              </a:solidFill>
              <a:latin typeface="微软雅黑" pitchFamily="34" charset="-122"/>
              <a:ea typeface="微软雅黑" pitchFamily="34" charset="-122"/>
            </a:endParaRPr>
          </a:p>
        </p:txBody>
      </p:sp>
      <p:grpSp>
        <p:nvGrpSpPr>
          <p:cNvPr id="14341" name="Group 27"/>
          <p:cNvGrpSpPr>
            <a:grpSpLocks/>
          </p:cNvGrpSpPr>
          <p:nvPr/>
        </p:nvGrpSpPr>
        <p:grpSpPr bwMode="auto">
          <a:xfrm>
            <a:off x="911424" y="2206667"/>
            <a:ext cx="4145795" cy="3740956"/>
            <a:chOff x="56366" y="2301719"/>
            <a:chExt cx="4146551" cy="3631197"/>
          </a:xfrm>
        </p:grpSpPr>
        <p:grpSp>
          <p:nvGrpSpPr>
            <p:cNvPr id="14344" name="Group 171"/>
            <p:cNvGrpSpPr>
              <a:grpSpLocks/>
            </p:cNvGrpSpPr>
            <p:nvPr/>
          </p:nvGrpSpPr>
          <p:grpSpPr bwMode="auto">
            <a:xfrm>
              <a:off x="56366" y="2301719"/>
              <a:ext cx="4146551" cy="3631197"/>
              <a:chOff x="925515" y="2772549"/>
              <a:chExt cx="4146551" cy="3171765"/>
            </a:xfrm>
          </p:grpSpPr>
          <p:grpSp>
            <p:nvGrpSpPr>
              <p:cNvPr id="14346" name="Group 21"/>
              <p:cNvGrpSpPr>
                <a:grpSpLocks/>
              </p:cNvGrpSpPr>
              <p:nvPr/>
            </p:nvGrpSpPr>
            <p:grpSpPr bwMode="auto">
              <a:xfrm>
                <a:off x="925515" y="2772549"/>
                <a:ext cx="4146551" cy="2585278"/>
                <a:chOff x="-36" y="481"/>
                <a:chExt cx="2737" cy="1827"/>
              </a:xfrm>
            </p:grpSpPr>
            <p:sp>
              <p:nvSpPr>
                <p:cNvPr id="14348" name="Line 4"/>
                <p:cNvSpPr>
                  <a:spLocks noChangeShapeType="1"/>
                </p:cNvSpPr>
                <p:nvPr/>
              </p:nvSpPr>
              <p:spPr bwMode="auto">
                <a:xfrm flipH="1" flipV="1">
                  <a:off x="302" y="1258"/>
                  <a:ext cx="673" cy="13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49" name="Line 5"/>
                <p:cNvSpPr>
                  <a:spLocks noChangeShapeType="1"/>
                </p:cNvSpPr>
                <p:nvPr/>
              </p:nvSpPr>
              <p:spPr bwMode="auto">
                <a:xfrm flipH="1">
                  <a:off x="2109" y="1434"/>
                  <a:ext cx="4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0" name="Line 6"/>
                <p:cNvSpPr>
                  <a:spLocks noChangeShapeType="1"/>
                </p:cNvSpPr>
                <p:nvPr/>
              </p:nvSpPr>
              <p:spPr bwMode="auto">
                <a:xfrm flipH="1">
                  <a:off x="1791" y="935"/>
                  <a:ext cx="227" cy="2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1" name="Line 7"/>
                <p:cNvSpPr>
                  <a:spLocks noChangeShapeType="1"/>
                </p:cNvSpPr>
                <p:nvPr/>
              </p:nvSpPr>
              <p:spPr bwMode="auto">
                <a:xfrm flipH="1" flipV="1">
                  <a:off x="1746" y="1797"/>
                  <a:ext cx="240" cy="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2" name="Line 8"/>
                <p:cNvSpPr>
                  <a:spLocks noChangeShapeType="1"/>
                </p:cNvSpPr>
                <p:nvPr/>
              </p:nvSpPr>
              <p:spPr bwMode="auto">
                <a:xfrm>
                  <a:off x="975" y="935"/>
                  <a:ext cx="181"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3" name="Line 9"/>
                <p:cNvSpPr>
                  <a:spLocks noChangeShapeType="1"/>
                </p:cNvSpPr>
                <p:nvPr/>
              </p:nvSpPr>
              <p:spPr bwMode="auto">
                <a:xfrm flipV="1">
                  <a:off x="1065" y="1752"/>
                  <a:ext cx="91" cy="33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54" name="Line 10"/>
                <p:cNvSpPr>
                  <a:spLocks noChangeShapeType="1"/>
                </p:cNvSpPr>
                <p:nvPr/>
              </p:nvSpPr>
              <p:spPr bwMode="auto">
                <a:xfrm flipV="1">
                  <a:off x="590" y="1642"/>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14355" name="Picture 1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7"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6"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 y="75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7"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26" y="120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8"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82"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9"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 y="2024"/>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0"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8" y="1642"/>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61" name="Text Box 17"/>
                <p:cNvSpPr txBox="1">
                  <a:spLocks noChangeArrowheads="1"/>
                </p:cNvSpPr>
                <p:nvPr/>
              </p:nvSpPr>
              <p:spPr bwMode="auto">
                <a:xfrm>
                  <a:off x="-36" y="481"/>
                  <a:ext cx="833" cy="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smtClean="0">
                      <a:solidFill>
                        <a:srgbClr val="333399"/>
                      </a:solidFill>
                      <a:latin typeface="+mn-lt"/>
                      <a:ea typeface="黑体" pitchFamily="49" charset="-122"/>
                    </a:rPr>
                    <a:t> 主机</a:t>
                  </a:r>
                  <a:endParaRPr kumimoji="1" lang="en-US" altLang="zh-CN" sz="2800" dirty="0" smtClean="0">
                    <a:solidFill>
                      <a:srgbClr val="333399"/>
                    </a:solidFill>
                    <a:latin typeface="+mn-lt"/>
                    <a:ea typeface="黑体" pitchFamily="49" charset="-122"/>
                  </a:endParaRPr>
                </a:p>
                <a:p>
                  <a:pPr eaLnBrk="1" hangingPunct="1"/>
                  <a:r>
                    <a:rPr kumimoji="1" lang="en-US" altLang="zh-CN" sz="2800" dirty="0">
                      <a:solidFill>
                        <a:srgbClr val="333399"/>
                      </a:solidFill>
                      <a:latin typeface="+mn-lt"/>
                      <a:ea typeface="黑体" pitchFamily="49" charset="-122"/>
                    </a:rPr>
                    <a:t>(</a:t>
                  </a:r>
                  <a:r>
                    <a:rPr kumimoji="1" lang="en-US" altLang="zh-CN" sz="2800" dirty="0" smtClean="0">
                      <a:solidFill>
                        <a:srgbClr val="333399"/>
                      </a:solidFill>
                      <a:latin typeface="+mn-lt"/>
                      <a:ea typeface="黑体" pitchFamily="49" charset="-122"/>
                    </a:rPr>
                    <a:t>host)</a:t>
                  </a:r>
                  <a:endParaRPr kumimoji="1" lang="zh-CN" altLang="en-US" sz="2800" dirty="0">
                    <a:solidFill>
                      <a:srgbClr val="333399"/>
                    </a:solidFill>
                    <a:latin typeface="+mn-lt"/>
                    <a:ea typeface="黑体" pitchFamily="49" charset="-122"/>
                  </a:endParaRPr>
                </a:p>
              </p:txBody>
            </p:sp>
            <p:pic>
              <p:nvPicPr>
                <p:cNvPr id="14362" name="Picture 1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 y="1117"/>
                  <a:ext cx="27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363" name="Object 19"/>
                <p:cNvGraphicFramePr>
                  <a:graphicFrameLocks noChangeAspect="1"/>
                </p:cNvGraphicFramePr>
                <p:nvPr/>
              </p:nvGraphicFramePr>
              <p:xfrm>
                <a:off x="748" y="1026"/>
                <a:ext cx="1542" cy="1089"/>
              </p:xfrm>
              <a:graphic>
                <a:graphicData uri="http://schemas.openxmlformats.org/presentationml/2006/ole">
                  <mc:AlternateContent xmlns:mc="http://schemas.openxmlformats.org/markup-compatibility/2006">
                    <mc:Choice xmlns:v="urn:schemas-microsoft-com:vml" Requires="v">
                      <p:oleObj spid="_x0000_s71861" name="VISIO" r:id="rId5" imgW="1687068" imgH="964692" progId="">
                        <p:embed/>
                      </p:oleObj>
                    </mc:Choice>
                    <mc:Fallback>
                      <p:oleObj name="VISIO" r:id="rId5" imgW="1687068" imgH="964692"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 y="1026"/>
                              <a:ext cx="1542" cy="1089"/>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sp>
            <p:nvSpPr>
              <p:cNvPr id="14347" name="Text Box 18"/>
              <p:cNvSpPr txBox="1">
                <a:spLocks noChangeArrowheads="1"/>
              </p:cNvSpPr>
              <p:nvPr/>
            </p:nvSpPr>
            <p:spPr bwMode="auto">
              <a:xfrm>
                <a:off x="2786050" y="5500702"/>
                <a:ext cx="604763" cy="44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dirty="0">
                    <a:solidFill>
                      <a:srgbClr val="333399"/>
                    </a:solidFill>
                    <a:ea typeface="黑体" pitchFamily="49" charset="-122"/>
                  </a:rPr>
                  <a:t>(c)</a:t>
                </a:r>
              </a:p>
            </p:txBody>
          </p:sp>
        </p:grpSp>
        <p:sp>
          <p:nvSpPr>
            <p:cNvPr id="14343" name="TextBox 26"/>
            <p:cNvSpPr txBox="1">
              <a:spLocks noChangeArrowheads="1"/>
            </p:cNvSpPr>
            <p:nvPr/>
          </p:nvSpPr>
          <p:spPr bwMode="auto">
            <a:xfrm>
              <a:off x="1712852" y="3735839"/>
              <a:ext cx="1381264" cy="507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dirty="0">
                  <a:solidFill>
                    <a:srgbClr val="333399"/>
                  </a:solidFill>
                  <a:latin typeface="黑体" pitchFamily="49" charset="-122"/>
                  <a:ea typeface="黑体" pitchFamily="49" charset="-122"/>
                </a:rPr>
                <a:t>互连网</a:t>
              </a:r>
              <a:endParaRPr lang="en-US" altLang="zh-CN" sz="2800" dirty="0">
                <a:solidFill>
                  <a:srgbClr val="333399"/>
                </a:solidFill>
                <a:latin typeface="黑体" pitchFamily="49" charset="-122"/>
                <a:ea typeface="黑体" pitchFamily="49" charset="-122"/>
              </a:endParaRPr>
            </a:p>
          </p:txBody>
        </p:sp>
      </p:grpSp>
      <p:sp>
        <p:nvSpPr>
          <p:cNvPr id="3" name="爆炸形 1 2"/>
          <p:cNvSpPr/>
          <p:nvPr/>
        </p:nvSpPr>
        <p:spPr>
          <a:xfrm>
            <a:off x="4007768" y="1196752"/>
            <a:ext cx="2112373" cy="127444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solidFill>
                  <a:srgbClr val="FF0000"/>
                </a:solidFill>
              </a:rPr>
              <a:t>注意！</a:t>
            </a:r>
            <a:endParaRPr lang="zh-CN" altLang="en-US" sz="2400" dirty="0">
              <a:solidFill>
                <a:srgbClr val="FF0000"/>
              </a:solidFill>
            </a:endParaRPr>
          </a:p>
        </p:txBody>
      </p:sp>
    </p:spTree>
    <p:extLst>
      <p:ext uri="{BB962C8B-B14F-4D97-AF65-F5344CB8AC3E}">
        <p14:creationId xmlns:p14="http://schemas.microsoft.com/office/powerpoint/2010/main" val="41702377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5"/>
                                        </p:tgtEl>
                                        <p:attrNameLst>
                                          <p:attrName>style.visibility</p:attrName>
                                        </p:attrNameLst>
                                      </p:cBhvr>
                                      <p:to>
                                        <p:strVal val="visible"/>
                                      </p:to>
                                    </p:set>
                                    <p:animEffect transition="in" filter="fade">
                                      <p:cBhvr>
                                        <p:cTn id="10"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 grpId="0" animBg="1"/>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Diagram 26"/>
          <p:cNvGraphicFramePr/>
          <p:nvPr>
            <p:extLst>
              <p:ext uri="{D42A27DB-BD31-4B8C-83A1-F6EECF244321}">
                <p14:modId xmlns:p14="http://schemas.microsoft.com/office/powerpoint/2010/main" val="1886682309"/>
              </p:ext>
            </p:extLst>
          </p:nvPr>
        </p:nvGraphicFramePr>
        <p:xfrm>
          <a:off x="1487488" y="1340768"/>
          <a:ext cx="9649072" cy="5157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362" name="Rectangle 2"/>
          <p:cNvSpPr>
            <a:spLocks noGrp="1" noChangeArrowheads="1"/>
          </p:cNvSpPr>
          <p:nvPr>
            <p:ph type="title"/>
          </p:nvPr>
        </p:nvSpPr>
        <p:spPr/>
        <p:txBody>
          <a:bodyPr/>
          <a:lstStyle/>
          <a:p>
            <a:pPr eaLnBrk="1" hangingPunct="1"/>
            <a:r>
              <a:rPr lang="en-US" altLang="zh-CN" dirty="0"/>
              <a:t>1.2 </a:t>
            </a:r>
            <a:r>
              <a:rPr lang="zh-CN" altLang="en-US" dirty="0" smtClean="0"/>
              <a:t>互联网</a:t>
            </a:r>
            <a:r>
              <a:rPr lang="zh-CN" altLang="en-US" dirty="0"/>
              <a:t>概述</a:t>
            </a:r>
          </a:p>
        </p:txBody>
      </p:sp>
      <p:sp>
        <p:nvSpPr>
          <p:cNvPr id="15363" name="Rectangle 3"/>
          <p:cNvSpPr>
            <a:spLocks noGrp="1" noChangeArrowheads="1"/>
          </p:cNvSpPr>
          <p:nvPr>
            <p:ph idx="1"/>
          </p:nvPr>
        </p:nvSpPr>
        <p:spPr/>
        <p:txBody>
          <a:bodyPr/>
          <a:lstStyle/>
          <a:p>
            <a:pPr eaLnBrk="1" hangingPunct="1"/>
            <a:r>
              <a:rPr lang="zh-CN" altLang="en-US" b="1" dirty="0" smtClean="0"/>
              <a:t>互联网</a:t>
            </a:r>
            <a:r>
              <a:rPr lang="zh-CN" altLang="en-US" b="1" dirty="0"/>
              <a:t>发展的三个阶段</a:t>
            </a:r>
          </a:p>
        </p:txBody>
      </p:sp>
    </p:spTree>
    <p:extLst>
      <p:ext uri="{BB962C8B-B14F-4D97-AF65-F5344CB8AC3E}">
        <p14:creationId xmlns:p14="http://schemas.microsoft.com/office/powerpoint/2010/main" val="42307796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7"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smtClean="0"/>
              <a:t>互联网</a:t>
            </a:r>
            <a:r>
              <a:rPr lang="zh-CN" altLang="en-US" dirty="0"/>
              <a:t>概述</a:t>
            </a:r>
          </a:p>
        </p:txBody>
      </p:sp>
      <p:sp>
        <p:nvSpPr>
          <p:cNvPr id="37" name="内容占位符 4"/>
          <p:cNvSpPr>
            <a:spLocks noGrp="1"/>
          </p:cNvSpPr>
          <p:nvPr>
            <p:ph sz="quarter" idx="4294967295"/>
          </p:nvPr>
        </p:nvSpPr>
        <p:spPr>
          <a:xfrm>
            <a:off x="466344" y="1484784"/>
            <a:ext cx="6709776" cy="3172691"/>
          </a:xfrm>
          <a:prstGeom prst="rect">
            <a:avLst/>
          </a:prstGeom>
        </p:spPr>
        <p:txBody>
          <a:bodyPr/>
          <a:lstStyle/>
          <a:p>
            <a:pPr fontAlgn="auto">
              <a:defRPr/>
            </a:pPr>
            <a:r>
              <a:rPr lang="zh-CN" altLang="en-US" sz="2800" b="1" dirty="0"/>
              <a:t>第一阶段：</a:t>
            </a:r>
            <a:r>
              <a:rPr lang="en-US" altLang="zh-CN" sz="2800" b="1" dirty="0"/>
              <a:t>1969 – 1990 </a:t>
            </a:r>
            <a:endParaRPr lang="zh-CN" altLang="en-US" sz="2800" b="1" dirty="0"/>
          </a:p>
          <a:p>
            <a:pPr lvl="1" fontAlgn="auto">
              <a:buClr>
                <a:srgbClr val="0070C0"/>
              </a:buClr>
              <a:defRPr/>
            </a:pPr>
            <a:r>
              <a:rPr lang="en-US" altLang="zh-CN" sz="2400" b="1" dirty="0" smtClean="0"/>
              <a:t>1969 </a:t>
            </a:r>
            <a:r>
              <a:rPr lang="zh-CN" altLang="en-US" sz="2400" b="1" dirty="0" smtClean="0"/>
              <a:t>年美国国防部创建的 </a:t>
            </a:r>
            <a:r>
              <a:rPr lang="en-US" altLang="zh-CN" sz="2400" b="1" dirty="0" smtClean="0">
                <a:solidFill>
                  <a:srgbClr val="C00000"/>
                </a:solidFill>
              </a:rPr>
              <a:t>ARPANET </a:t>
            </a:r>
            <a:r>
              <a:rPr lang="zh-CN" altLang="en-US" sz="2400" b="1" dirty="0" smtClean="0"/>
              <a:t>最初</a:t>
            </a:r>
            <a:r>
              <a:rPr lang="zh-CN" altLang="en-US" sz="2400" b="1" dirty="0"/>
              <a:t>只是一个单个的</a:t>
            </a:r>
            <a:r>
              <a:rPr lang="zh-CN" altLang="en-US" sz="2400" b="1" dirty="0" smtClean="0"/>
              <a:t>分组交换网，</a:t>
            </a:r>
            <a:r>
              <a:rPr lang="zh-CN" altLang="en-US" sz="2400" b="1" dirty="0" smtClean="0">
                <a:solidFill>
                  <a:srgbClr val="0000CC"/>
                </a:solidFill>
              </a:rPr>
              <a:t>不是</a:t>
            </a:r>
            <a:r>
              <a:rPr lang="zh-CN" altLang="en-US" sz="2400" b="1" dirty="0"/>
              <a:t>一个</a:t>
            </a:r>
            <a:r>
              <a:rPr lang="zh-CN" altLang="en-US" sz="2400" b="1" dirty="0" smtClean="0"/>
              <a:t>互连网。 </a:t>
            </a:r>
            <a:endParaRPr lang="zh-CN" altLang="en-US" sz="2400" b="1" dirty="0"/>
          </a:p>
          <a:p>
            <a:pPr marL="819838" lvl="1" indent="14400" fontAlgn="auto">
              <a:buClr>
                <a:srgbClr val="0070C0"/>
              </a:buClr>
              <a:defRPr/>
            </a:pPr>
            <a:r>
              <a:rPr lang="en-US" altLang="zh-CN" sz="2400" b="1" dirty="0" smtClean="0"/>
              <a:t>1983 </a:t>
            </a:r>
            <a:r>
              <a:rPr lang="zh-CN" altLang="en-US" sz="2400" b="1" dirty="0" smtClean="0"/>
              <a:t>年</a:t>
            </a:r>
            <a:r>
              <a:rPr lang="zh-CN" altLang="en-US" sz="2400" b="1" dirty="0"/>
              <a:t>，</a:t>
            </a:r>
            <a:r>
              <a:rPr lang="en-US" altLang="zh-CN" sz="2400" b="1" dirty="0">
                <a:solidFill>
                  <a:srgbClr val="C00000"/>
                </a:solidFill>
              </a:rPr>
              <a:t>TCP/IP </a:t>
            </a:r>
            <a:r>
              <a:rPr lang="zh-CN" altLang="en-US" sz="2400" b="1" dirty="0">
                <a:solidFill>
                  <a:srgbClr val="C00000"/>
                </a:solidFill>
              </a:rPr>
              <a:t>协议</a:t>
            </a:r>
            <a:r>
              <a:rPr lang="zh-CN" altLang="en-US" sz="2400" b="1" dirty="0"/>
              <a:t>成为 </a:t>
            </a:r>
            <a:r>
              <a:rPr lang="en-US" altLang="zh-CN" sz="2400" b="1" dirty="0"/>
              <a:t>ARPANET </a:t>
            </a:r>
            <a:r>
              <a:rPr lang="zh-CN" altLang="en-US" sz="2400" b="1" dirty="0"/>
              <a:t>上的标准协议，</a:t>
            </a:r>
            <a:r>
              <a:rPr lang="zh-CN" altLang="zh-CN" sz="2400" b="1" dirty="0"/>
              <a:t>使得所有使用</a:t>
            </a:r>
            <a:r>
              <a:rPr lang="en-US" altLang="zh-CN" sz="2400" b="1" dirty="0"/>
              <a:t> TCP/IP </a:t>
            </a:r>
            <a:r>
              <a:rPr lang="zh-CN" altLang="zh-CN" sz="2400" b="1" dirty="0"/>
              <a:t>协议的计算机都能利用互连网相互通信</a:t>
            </a:r>
            <a:r>
              <a:rPr lang="zh-CN" altLang="en-US" sz="2400" b="1" dirty="0"/>
              <a:t>。</a:t>
            </a:r>
          </a:p>
          <a:p>
            <a:pPr marL="819838" lvl="1" indent="14400" fontAlgn="auto">
              <a:buClr>
                <a:srgbClr val="0070C0"/>
              </a:buClr>
              <a:defRPr/>
            </a:pPr>
            <a:r>
              <a:rPr lang="zh-CN" altLang="en-US" sz="2400" b="1" dirty="0">
                <a:solidFill>
                  <a:srgbClr val="C00000"/>
                </a:solidFill>
              </a:rPr>
              <a:t>人们</a:t>
            </a:r>
            <a:r>
              <a:rPr lang="zh-CN" altLang="en-US" sz="2400" b="1" dirty="0" smtClean="0">
                <a:solidFill>
                  <a:srgbClr val="C00000"/>
                </a:solidFill>
              </a:rPr>
              <a:t>把 </a:t>
            </a:r>
            <a:r>
              <a:rPr lang="en-US" altLang="zh-CN" sz="2400" b="1" dirty="0" smtClean="0">
                <a:solidFill>
                  <a:srgbClr val="0000CC"/>
                </a:solidFill>
              </a:rPr>
              <a:t>1983 </a:t>
            </a:r>
            <a:r>
              <a:rPr lang="zh-CN" altLang="en-US" sz="2400" b="1" dirty="0" smtClean="0">
                <a:solidFill>
                  <a:srgbClr val="0000CC"/>
                </a:solidFill>
              </a:rPr>
              <a:t>年</a:t>
            </a:r>
            <a:r>
              <a:rPr lang="zh-CN" altLang="en-US" sz="2400" b="1" dirty="0">
                <a:solidFill>
                  <a:srgbClr val="C00000"/>
                </a:solidFill>
              </a:rPr>
              <a:t>作为互联网的诞生时间。</a:t>
            </a:r>
            <a:endParaRPr lang="en-US" altLang="zh-CN" sz="2400" b="1" dirty="0">
              <a:solidFill>
                <a:srgbClr val="C00000"/>
              </a:solidFill>
            </a:endParaRPr>
          </a:p>
          <a:p>
            <a:pPr marL="819838" lvl="1" indent="14400" fontAlgn="auto">
              <a:buClr>
                <a:srgbClr val="0070C0"/>
              </a:buClr>
              <a:defRPr/>
            </a:pPr>
            <a:r>
              <a:rPr lang="en-US" altLang="zh-CN" sz="2400" b="1" dirty="0" smtClean="0"/>
              <a:t>1990 </a:t>
            </a:r>
            <a:r>
              <a:rPr lang="zh-CN" altLang="zh-CN" sz="2400" b="1" dirty="0" smtClean="0"/>
              <a:t>年</a:t>
            </a:r>
            <a:r>
              <a:rPr lang="zh-CN" altLang="en-US" sz="2400" b="1" dirty="0"/>
              <a:t>，</a:t>
            </a:r>
            <a:r>
              <a:rPr lang="en-US" altLang="zh-CN" sz="2400" b="1" dirty="0"/>
              <a:t>ARPANET </a:t>
            </a:r>
            <a:r>
              <a:rPr lang="zh-CN" altLang="zh-CN" sz="2400" b="1" dirty="0"/>
              <a:t>正式宣布关闭</a:t>
            </a:r>
            <a:r>
              <a:rPr lang="zh-CN" altLang="en-US" sz="2400" b="1" dirty="0"/>
              <a:t>。</a:t>
            </a:r>
            <a:endParaRPr lang="en-US" altLang="zh-CN" sz="2400" b="1" dirty="0"/>
          </a:p>
          <a:p>
            <a:pPr>
              <a:lnSpc>
                <a:spcPts val="3200"/>
              </a:lnSpc>
            </a:pPr>
            <a:endParaRPr lang="zh-CN" altLang="en-US" b="1" dirty="0"/>
          </a:p>
        </p:txBody>
      </p:sp>
      <p:grpSp>
        <p:nvGrpSpPr>
          <p:cNvPr id="39" name="组合 38"/>
          <p:cNvGrpSpPr/>
          <p:nvPr/>
        </p:nvGrpSpPr>
        <p:grpSpPr>
          <a:xfrm>
            <a:off x="8112224" y="2420888"/>
            <a:ext cx="2492154" cy="2429222"/>
            <a:chOff x="5390012" y="1202992"/>
            <a:chExt cx="2492154" cy="2429222"/>
          </a:xfrm>
        </p:grpSpPr>
        <p:sp>
          <p:nvSpPr>
            <p:cNvPr id="40" name="椭圆 39"/>
            <p:cNvSpPr/>
            <p:nvPr/>
          </p:nvSpPr>
          <p:spPr>
            <a:xfrm>
              <a:off x="6603635" y="1202992"/>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2400" b="1" dirty="0" smtClean="0">
                  <a:solidFill>
                    <a:srgbClr val="4D4D4D"/>
                  </a:solidFill>
                </a:rPr>
                <a:t>SRI</a:t>
              </a:r>
              <a:endParaRPr lang="zh-CN" altLang="en-US" sz="2400" b="1" dirty="0">
                <a:solidFill>
                  <a:srgbClr val="4D4D4D"/>
                </a:solidFill>
              </a:endParaRPr>
            </a:p>
          </p:txBody>
        </p:sp>
        <p:sp>
          <p:nvSpPr>
            <p:cNvPr id="41" name="椭圆 40"/>
            <p:cNvSpPr/>
            <p:nvPr/>
          </p:nvSpPr>
          <p:spPr>
            <a:xfrm>
              <a:off x="6723923"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rgbClr val="4D4D4D"/>
                </a:solidFill>
              </a:endParaRPr>
            </a:p>
          </p:txBody>
        </p:sp>
        <p:sp>
          <p:nvSpPr>
            <p:cNvPr id="42" name="椭圆 41"/>
            <p:cNvSpPr/>
            <p:nvPr/>
          </p:nvSpPr>
          <p:spPr>
            <a:xfrm>
              <a:off x="6070777" y="2301158"/>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rgbClr val="4D4D4D"/>
                </a:solidFill>
              </a:endParaRPr>
            </a:p>
          </p:txBody>
        </p:sp>
        <p:sp>
          <p:nvSpPr>
            <p:cNvPr id="43" name="椭圆 42"/>
            <p:cNvSpPr/>
            <p:nvPr/>
          </p:nvSpPr>
          <p:spPr>
            <a:xfrm>
              <a:off x="6723923" y="304348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rgbClr val="4D4D4D"/>
                </a:solidFill>
              </a:endParaRPr>
            </a:p>
          </p:txBody>
        </p:sp>
        <p:sp>
          <p:nvSpPr>
            <p:cNvPr id="44" name="椭圆 43"/>
            <p:cNvSpPr/>
            <p:nvPr/>
          </p:nvSpPr>
          <p:spPr>
            <a:xfrm>
              <a:off x="7577367" y="1558834"/>
              <a:ext cx="235132" cy="235132"/>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solidFill>
                  <a:srgbClr val="4D4D4D"/>
                </a:solidFill>
              </a:endParaRPr>
            </a:p>
          </p:txBody>
        </p:sp>
        <p:cxnSp>
          <p:nvCxnSpPr>
            <p:cNvPr id="45" name="直接连接符 44"/>
            <p:cNvCxnSpPr>
              <a:stCxn id="41" idx="3"/>
              <a:endCxn id="42" idx="7"/>
            </p:cNvCxnSpPr>
            <p:nvPr/>
          </p:nvCxnSpPr>
          <p:spPr>
            <a:xfrm flipH="1">
              <a:off x="6271475" y="1759532"/>
              <a:ext cx="486882" cy="576060"/>
            </a:xfrm>
            <a:prstGeom prst="line">
              <a:avLst/>
            </a:prstGeom>
            <a:ln w="19050">
              <a:solidFill>
                <a:srgbClr val="4D4D4D"/>
              </a:solidFill>
            </a:ln>
          </p:spPr>
          <p:style>
            <a:lnRef idx="1">
              <a:schemeClr val="dk1"/>
            </a:lnRef>
            <a:fillRef idx="0">
              <a:schemeClr val="dk1"/>
            </a:fillRef>
            <a:effectRef idx="0">
              <a:schemeClr val="dk1"/>
            </a:effectRef>
            <a:fontRef idx="minor">
              <a:schemeClr val="tx1"/>
            </a:fontRef>
          </p:style>
        </p:cxnSp>
        <p:cxnSp>
          <p:nvCxnSpPr>
            <p:cNvPr id="46" name="直接连接符 45"/>
            <p:cNvCxnSpPr>
              <a:stCxn id="42" idx="5"/>
              <a:endCxn id="43" idx="1"/>
            </p:cNvCxnSpPr>
            <p:nvPr/>
          </p:nvCxnSpPr>
          <p:spPr>
            <a:xfrm>
              <a:off x="6271475" y="2501856"/>
              <a:ext cx="486882" cy="576062"/>
            </a:xfrm>
            <a:prstGeom prst="line">
              <a:avLst/>
            </a:prstGeom>
            <a:ln w="19050">
              <a:solidFill>
                <a:srgbClr val="4D4D4D"/>
              </a:solidFill>
            </a:ln>
          </p:spPr>
          <p:style>
            <a:lnRef idx="1">
              <a:schemeClr val="dk1"/>
            </a:lnRef>
            <a:fillRef idx="0">
              <a:schemeClr val="dk1"/>
            </a:fillRef>
            <a:effectRef idx="0">
              <a:schemeClr val="dk1"/>
            </a:effectRef>
            <a:fontRef idx="minor">
              <a:schemeClr val="tx1"/>
            </a:fontRef>
          </p:style>
        </p:cxnSp>
        <p:cxnSp>
          <p:nvCxnSpPr>
            <p:cNvPr id="47" name="直接连接符 46"/>
            <p:cNvCxnSpPr>
              <a:stCxn id="44" idx="2"/>
              <a:endCxn id="41" idx="6"/>
            </p:cNvCxnSpPr>
            <p:nvPr/>
          </p:nvCxnSpPr>
          <p:spPr>
            <a:xfrm flipH="1">
              <a:off x="6959055" y="1676400"/>
              <a:ext cx="618312" cy="0"/>
            </a:xfrm>
            <a:prstGeom prst="line">
              <a:avLst/>
            </a:prstGeom>
            <a:ln w="19050">
              <a:solidFill>
                <a:srgbClr val="4D4D4D"/>
              </a:solidFill>
            </a:ln>
          </p:spPr>
          <p:style>
            <a:lnRef idx="1">
              <a:schemeClr val="dk1"/>
            </a:lnRef>
            <a:fillRef idx="0">
              <a:schemeClr val="dk1"/>
            </a:fillRef>
            <a:effectRef idx="0">
              <a:schemeClr val="dk1"/>
            </a:effectRef>
            <a:fontRef idx="minor">
              <a:schemeClr val="tx1"/>
            </a:fontRef>
          </p:style>
        </p:cxnSp>
        <p:cxnSp>
          <p:nvCxnSpPr>
            <p:cNvPr id="48" name="直接连接符 47"/>
            <p:cNvCxnSpPr>
              <a:stCxn id="43" idx="0"/>
              <a:endCxn id="41" idx="4"/>
            </p:cNvCxnSpPr>
            <p:nvPr/>
          </p:nvCxnSpPr>
          <p:spPr>
            <a:xfrm flipV="1">
              <a:off x="6841489" y="1793966"/>
              <a:ext cx="0" cy="1249518"/>
            </a:xfrm>
            <a:prstGeom prst="line">
              <a:avLst/>
            </a:prstGeom>
            <a:ln w="19050">
              <a:solidFill>
                <a:srgbClr val="4D4D4D"/>
              </a:solidFill>
            </a:ln>
          </p:spPr>
          <p:style>
            <a:lnRef idx="1">
              <a:schemeClr val="dk1"/>
            </a:lnRef>
            <a:fillRef idx="0">
              <a:schemeClr val="dk1"/>
            </a:fillRef>
            <a:effectRef idx="0">
              <a:schemeClr val="dk1"/>
            </a:effectRef>
            <a:fontRef idx="minor">
              <a:schemeClr val="tx1"/>
            </a:fontRef>
          </p:style>
        </p:cxnSp>
        <p:sp>
          <p:nvSpPr>
            <p:cNvPr id="49" name="椭圆 48"/>
            <p:cNvSpPr/>
            <p:nvPr/>
          </p:nvSpPr>
          <p:spPr>
            <a:xfrm>
              <a:off x="5390012" y="2233304"/>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2400" b="1" dirty="0" smtClean="0">
                  <a:solidFill>
                    <a:srgbClr val="4D4D4D"/>
                  </a:solidFill>
                </a:rPr>
                <a:t>UCSB</a:t>
              </a:r>
              <a:endParaRPr lang="zh-CN" altLang="en-US" sz="2400" b="1" dirty="0">
                <a:solidFill>
                  <a:srgbClr val="4D4D4D"/>
                </a:solidFill>
              </a:endParaRPr>
            </a:p>
          </p:txBody>
        </p:sp>
        <p:sp>
          <p:nvSpPr>
            <p:cNvPr id="50" name="椭圆 49"/>
            <p:cNvSpPr/>
            <p:nvPr/>
          </p:nvSpPr>
          <p:spPr>
            <a:xfrm>
              <a:off x="6564990" y="3337573"/>
              <a:ext cx="570416"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2400" b="1" dirty="0" smtClean="0">
                  <a:solidFill>
                    <a:srgbClr val="4D4D4D"/>
                  </a:solidFill>
                </a:rPr>
                <a:t>UCLA</a:t>
              </a:r>
              <a:endParaRPr lang="zh-CN" altLang="en-US" sz="2400" b="1" dirty="0">
                <a:solidFill>
                  <a:srgbClr val="4D4D4D"/>
                </a:solidFill>
              </a:endParaRPr>
            </a:p>
          </p:txBody>
        </p:sp>
        <p:sp>
          <p:nvSpPr>
            <p:cNvPr id="51" name="椭圆 50"/>
            <p:cNvSpPr/>
            <p:nvPr/>
          </p:nvSpPr>
          <p:spPr>
            <a:xfrm>
              <a:off x="7438029" y="1202992"/>
              <a:ext cx="444137" cy="294641"/>
            </a:xfrm>
            <a:prstGeom prst="ellipse">
              <a:avLst/>
            </a:prstGeom>
            <a:noFill/>
            <a:ln w="12700">
              <a:noFill/>
            </a:ln>
          </p:spPr>
          <p:style>
            <a:lnRef idx="2">
              <a:schemeClr val="dk1"/>
            </a:lnRef>
            <a:fillRef idx="1">
              <a:schemeClr val="lt1"/>
            </a:fillRef>
            <a:effectRef idx="0">
              <a:schemeClr val="dk1"/>
            </a:effectRef>
            <a:fontRef idx="minor">
              <a:schemeClr val="dk1"/>
            </a:fontRef>
          </p:style>
          <p:txBody>
            <a:bodyPr wrap="none" lIns="72000" rIns="72000" anchor="ctr">
              <a:noAutofit/>
            </a:bodyPr>
            <a:lstStyle/>
            <a:p>
              <a:pPr algn="ctr" fontAlgn="auto">
                <a:spcBef>
                  <a:spcPts val="0"/>
                </a:spcBef>
                <a:spcAft>
                  <a:spcPts val="0"/>
                </a:spcAft>
              </a:pPr>
              <a:r>
                <a:rPr lang="en-US" altLang="zh-CN" sz="2400" b="1" dirty="0" smtClean="0">
                  <a:solidFill>
                    <a:srgbClr val="4D4D4D"/>
                  </a:solidFill>
                </a:rPr>
                <a:t>UTAH</a:t>
              </a:r>
              <a:endParaRPr lang="zh-CN" altLang="en-US" sz="2400" b="1" dirty="0">
                <a:solidFill>
                  <a:srgbClr val="4D4D4D"/>
                </a:solidFill>
              </a:endParaRPr>
            </a:p>
          </p:txBody>
        </p:sp>
      </p:grpSp>
      <p:sp>
        <p:nvSpPr>
          <p:cNvPr id="52" name="矩形 51"/>
          <p:cNvSpPr/>
          <p:nvPr/>
        </p:nvSpPr>
        <p:spPr>
          <a:xfrm>
            <a:off x="8049011" y="4890646"/>
            <a:ext cx="33215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kumimoji="1" lang="en-US" altLang="zh-CN" sz="2400" b="1" dirty="0">
                <a:solidFill>
                  <a:srgbClr val="4D4D4D"/>
                </a:solidFill>
                <a:latin typeface="微软雅黑" panose="020B0503020204020204" pitchFamily="34" charset="-122"/>
                <a:ea typeface="微软雅黑" panose="020B0503020204020204" pitchFamily="34" charset="-122"/>
              </a:rPr>
              <a:t>1969 </a:t>
            </a:r>
            <a:r>
              <a:rPr kumimoji="1" lang="zh-CN" altLang="en-US" sz="2400" b="1" dirty="0">
                <a:solidFill>
                  <a:srgbClr val="4D4D4D"/>
                </a:solidFill>
                <a:latin typeface="微软雅黑" panose="020B0503020204020204" pitchFamily="34" charset="-122"/>
                <a:ea typeface="微软雅黑" panose="020B0503020204020204" pitchFamily="34" charset="-122"/>
              </a:rPr>
              <a:t>年</a:t>
            </a:r>
            <a:r>
              <a:rPr kumimoji="1" lang="zh-CN" altLang="en-US" sz="2400" b="1" dirty="0" smtClean="0">
                <a:solidFill>
                  <a:srgbClr val="4D4D4D"/>
                </a:solidFill>
                <a:latin typeface="微软雅黑" panose="020B0503020204020204" pitchFamily="34" charset="-122"/>
                <a:ea typeface="微软雅黑" panose="020B0503020204020204" pitchFamily="34" charset="-122"/>
              </a:rPr>
              <a:t>的 </a:t>
            </a:r>
            <a:r>
              <a:rPr kumimoji="1" lang="en-US" altLang="zh-CN" sz="2400" b="1" dirty="0" smtClean="0">
                <a:solidFill>
                  <a:srgbClr val="4D4D4D"/>
                </a:solidFill>
                <a:latin typeface="微软雅黑" panose="020B0503020204020204" pitchFamily="34" charset="-122"/>
                <a:ea typeface="微软雅黑" panose="020B0503020204020204" pitchFamily="34" charset="-122"/>
              </a:rPr>
              <a:t>ARPANET </a:t>
            </a:r>
            <a:endParaRPr kumimoji="1" lang="zh-CN" altLang="en-US" sz="2400" b="1" dirty="0">
              <a:solidFill>
                <a:srgbClr val="4D4D4D"/>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966938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smtClean="0"/>
              <a:t>互联网</a:t>
            </a:r>
            <a:r>
              <a:rPr lang="zh-CN" altLang="en-US" dirty="0"/>
              <a:t>概述</a:t>
            </a:r>
          </a:p>
        </p:txBody>
      </p:sp>
      <p:sp>
        <p:nvSpPr>
          <p:cNvPr id="37" name="内容占位符 4"/>
          <p:cNvSpPr>
            <a:spLocks noGrp="1"/>
          </p:cNvSpPr>
          <p:nvPr>
            <p:ph sz="quarter" idx="4294967295"/>
          </p:nvPr>
        </p:nvSpPr>
        <p:spPr>
          <a:xfrm>
            <a:off x="466344" y="1484784"/>
            <a:ext cx="6709776" cy="4464496"/>
          </a:xfrm>
          <a:prstGeom prst="rect">
            <a:avLst/>
          </a:prstGeom>
        </p:spPr>
        <p:txBody>
          <a:bodyPr/>
          <a:lstStyle/>
          <a:p>
            <a:r>
              <a:rPr lang="zh-CN" altLang="en-US" sz="2800" b="1" dirty="0"/>
              <a:t>第二阶段：</a:t>
            </a:r>
            <a:r>
              <a:rPr lang="en-US" altLang="zh-CN" sz="2800" b="1" dirty="0"/>
              <a:t>1985 – 1993 </a:t>
            </a:r>
            <a:endParaRPr lang="zh-CN" altLang="en-US" sz="2800" b="1" dirty="0"/>
          </a:p>
          <a:p>
            <a:pPr lvl="1" fontAlgn="auto">
              <a:buClr>
                <a:srgbClr val="0070C0"/>
              </a:buClr>
              <a:defRPr/>
            </a:pPr>
            <a:r>
              <a:rPr lang="zh-CN" altLang="en-US" sz="2400" b="1" dirty="0" smtClean="0"/>
              <a:t>美国</a:t>
            </a:r>
            <a:r>
              <a:rPr lang="zh-CN" altLang="en-US" sz="2400" b="1" dirty="0" smtClean="0">
                <a:solidFill>
                  <a:srgbClr val="C00000"/>
                </a:solidFill>
              </a:rPr>
              <a:t>国家科学基金会</a:t>
            </a:r>
            <a:r>
              <a:rPr lang="zh-CN" altLang="en-US" sz="2400" b="1" dirty="0" smtClean="0"/>
              <a:t>围绕六个大型计算机中心建设了</a:t>
            </a:r>
            <a:r>
              <a:rPr lang="zh-CN" altLang="en-US" sz="2400" b="1" dirty="0" smtClean="0">
                <a:solidFill>
                  <a:srgbClr val="C00000"/>
                </a:solidFill>
              </a:rPr>
              <a:t>国家</a:t>
            </a:r>
            <a:r>
              <a:rPr lang="zh-CN" altLang="en-US" sz="2400" b="1" dirty="0">
                <a:solidFill>
                  <a:srgbClr val="C00000"/>
                </a:solidFill>
              </a:rPr>
              <a:t>科学基金网 </a:t>
            </a:r>
            <a:r>
              <a:rPr lang="en-US" altLang="zh-CN" sz="2400" b="1" dirty="0">
                <a:solidFill>
                  <a:srgbClr val="C00000"/>
                </a:solidFill>
              </a:rPr>
              <a:t>NSFNET</a:t>
            </a:r>
            <a:r>
              <a:rPr lang="zh-CN" altLang="en-US" sz="2400" b="1" dirty="0" smtClean="0"/>
              <a:t>。它是一个</a:t>
            </a:r>
            <a:r>
              <a:rPr lang="zh-CN" altLang="en-US" sz="2400" b="1" dirty="0" smtClean="0">
                <a:solidFill>
                  <a:srgbClr val="C00000"/>
                </a:solidFill>
              </a:rPr>
              <a:t>三级结构</a:t>
            </a:r>
            <a:r>
              <a:rPr lang="zh-CN" altLang="en-US" sz="2400" b="1" dirty="0" smtClean="0"/>
              <a:t>的计算机网络，由主干</a:t>
            </a:r>
            <a:r>
              <a:rPr lang="zh-CN" altLang="en-US" sz="2400" b="1" dirty="0"/>
              <a:t>网、地区网和校园网（或企业网</a:t>
            </a:r>
            <a:r>
              <a:rPr lang="zh-CN" altLang="en-US" sz="2400" b="1" dirty="0" smtClean="0"/>
              <a:t>）组成。</a:t>
            </a:r>
            <a:endParaRPr lang="en-US" altLang="zh-CN" sz="2400" b="1" dirty="0"/>
          </a:p>
          <a:p>
            <a:pPr marL="819838" lvl="1" indent="14400" fontAlgn="auto">
              <a:buClr>
                <a:srgbClr val="0070C0"/>
              </a:buClr>
              <a:defRPr/>
            </a:pPr>
            <a:r>
              <a:rPr lang="en-US" altLang="zh-CN" sz="2400" b="1" dirty="0" smtClean="0"/>
              <a:t>NSFNET </a:t>
            </a:r>
            <a:r>
              <a:rPr lang="zh-CN" altLang="en-US" sz="2400" b="1" dirty="0" smtClean="0"/>
              <a:t>覆盖</a:t>
            </a:r>
            <a:r>
              <a:rPr lang="zh-CN" altLang="en-US" sz="2400" b="1" dirty="0"/>
              <a:t>了全</a:t>
            </a:r>
            <a:r>
              <a:rPr lang="zh-CN" altLang="en-US" sz="2400" b="1" dirty="0" smtClean="0"/>
              <a:t>美主要</a:t>
            </a:r>
            <a:r>
              <a:rPr lang="zh-CN" altLang="en-US" sz="2400" b="1" dirty="0"/>
              <a:t>的大学和研究所，并且成为互联网中的主要组成部分</a:t>
            </a:r>
            <a:r>
              <a:rPr lang="zh-CN" altLang="en-US" sz="2400" b="1" dirty="0" smtClean="0"/>
              <a:t>。</a:t>
            </a:r>
            <a:endParaRPr lang="en-US" altLang="zh-CN" sz="2400" b="1" dirty="0"/>
          </a:p>
        </p:txBody>
      </p:sp>
      <p:grpSp>
        <p:nvGrpSpPr>
          <p:cNvPr id="19" name="组合 96"/>
          <p:cNvGrpSpPr>
            <a:grpSpLocks/>
          </p:cNvGrpSpPr>
          <p:nvPr/>
        </p:nvGrpSpPr>
        <p:grpSpPr bwMode="auto">
          <a:xfrm>
            <a:off x="7320136" y="2765499"/>
            <a:ext cx="4414878" cy="2319685"/>
            <a:chOff x="1526812" y="3062631"/>
            <a:chExt cx="6236139" cy="2752192"/>
          </a:xfrm>
        </p:grpSpPr>
        <p:cxnSp>
          <p:nvCxnSpPr>
            <p:cNvPr id="20" name="直接连接符 83"/>
            <p:cNvCxnSpPr>
              <a:cxnSpLocks noChangeShapeType="1"/>
            </p:cNvCxnSpPr>
            <p:nvPr/>
          </p:nvCxnSpPr>
          <p:spPr bwMode="auto">
            <a:xfrm flipH="1">
              <a:off x="6189663" y="4492436"/>
              <a:ext cx="334962" cy="8842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21" name="直接连接符 5"/>
            <p:cNvCxnSpPr>
              <a:cxnSpLocks noChangeShapeType="1"/>
            </p:cNvCxnSpPr>
            <p:nvPr/>
          </p:nvCxnSpPr>
          <p:spPr bwMode="auto">
            <a:xfrm flipH="1">
              <a:off x="3155950" y="3458973"/>
              <a:ext cx="1058862"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22" name="直接连接符 6"/>
            <p:cNvCxnSpPr>
              <a:cxnSpLocks noChangeShapeType="1"/>
            </p:cNvCxnSpPr>
            <p:nvPr/>
          </p:nvCxnSpPr>
          <p:spPr bwMode="auto">
            <a:xfrm flipH="1">
              <a:off x="4162425" y="3458973"/>
              <a:ext cx="403225" cy="9842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23" name="直接连接符 7"/>
            <p:cNvCxnSpPr>
              <a:cxnSpLocks noChangeShapeType="1"/>
            </p:cNvCxnSpPr>
            <p:nvPr/>
          </p:nvCxnSpPr>
          <p:spPr bwMode="auto">
            <a:xfrm>
              <a:off x="5087938" y="3458973"/>
              <a:ext cx="1241425" cy="71120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24"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41700" y="36669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直接连接符 83"/>
            <p:cNvCxnSpPr>
              <a:cxnSpLocks noChangeShapeType="1"/>
            </p:cNvCxnSpPr>
            <p:nvPr/>
          </p:nvCxnSpPr>
          <p:spPr bwMode="auto">
            <a:xfrm flipH="1">
              <a:off x="2001838" y="4519423"/>
              <a:ext cx="484187" cy="854075"/>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26" name="直接连接符 67"/>
            <p:cNvCxnSpPr>
              <a:cxnSpLocks noChangeShapeType="1"/>
            </p:cNvCxnSpPr>
            <p:nvPr/>
          </p:nvCxnSpPr>
          <p:spPr bwMode="auto">
            <a:xfrm>
              <a:off x="4211638"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cxnSp>
          <p:nvCxnSpPr>
            <p:cNvPr id="27" name="直接连接符 37"/>
            <p:cNvCxnSpPr>
              <a:cxnSpLocks noChangeShapeType="1"/>
            </p:cNvCxnSpPr>
            <p:nvPr/>
          </p:nvCxnSpPr>
          <p:spPr bwMode="auto">
            <a:xfrm>
              <a:off x="6632575" y="4443223"/>
              <a:ext cx="631032" cy="895350"/>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grpSp>
          <p:nvGrpSpPr>
            <p:cNvPr id="28" name="Group 194"/>
            <p:cNvGrpSpPr>
              <a:grpSpLocks/>
            </p:cNvGrpSpPr>
            <p:nvPr/>
          </p:nvGrpSpPr>
          <p:grpSpPr bwMode="auto">
            <a:xfrm>
              <a:off x="5795963" y="5338573"/>
              <a:ext cx="860425" cy="476250"/>
              <a:chOff x="2569" y="3268"/>
              <a:chExt cx="542" cy="300"/>
            </a:xfrm>
            <a:solidFill>
              <a:srgbClr val="0070C0"/>
            </a:solidFill>
          </p:grpSpPr>
          <p:sp>
            <p:nvSpPr>
              <p:cNvPr id="117"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18"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19"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20"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21"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22"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23"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24"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25"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126"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127"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sp>
          <p:nvSpPr>
            <p:cNvPr id="29" name="Oval 187"/>
            <p:cNvSpPr>
              <a:spLocks noChangeArrowheads="1"/>
            </p:cNvSpPr>
            <p:nvPr/>
          </p:nvSpPr>
          <p:spPr bwMode="auto">
            <a:xfrm>
              <a:off x="4003676" y="3062631"/>
              <a:ext cx="1177924" cy="516612"/>
            </a:xfrm>
            <a:prstGeom prst="ellipse">
              <a:avLst/>
            </a:prstGeom>
            <a:solidFill>
              <a:srgbClr val="368AD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30" name="Text Box 1524"/>
            <p:cNvSpPr txBox="1">
              <a:spLocks noChangeArrowheads="1"/>
            </p:cNvSpPr>
            <p:nvPr/>
          </p:nvSpPr>
          <p:spPr bwMode="auto">
            <a:xfrm>
              <a:off x="4082320" y="3124067"/>
              <a:ext cx="1021646" cy="3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a:solidFill>
                    <a:schemeClr val="bg1"/>
                  </a:solidFill>
                  <a:latin typeface="Times New Roman" pitchFamily="18" charset="0"/>
                  <a:ea typeface="微软雅黑" pitchFamily="34" charset="-122"/>
                </a:rPr>
                <a:t>主干网</a:t>
              </a:r>
            </a:p>
          </p:txBody>
        </p:sp>
        <p:pic>
          <p:nvPicPr>
            <p:cNvPr id="31"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62425" y="373202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41963" y="36494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3" name="Group 195"/>
            <p:cNvGrpSpPr>
              <a:grpSpLocks/>
            </p:cNvGrpSpPr>
            <p:nvPr/>
          </p:nvGrpSpPr>
          <p:grpSpPr bwMode="auto">
            <a:xfrm>
              <a:off x="6877050" y="5338573"/>
              <a:ext cx="860425" cy="476250"/>
              <a:chOff x="2569" y="3268"/>
              <a:chExt cx="542" cy="300"/>
            </a:xfrm>
            <a:solidFill>
              <a:srgbClr val="0070C0"/>
            </a:solidFill>
          </p:grpSpPr>
          <p:sp>
            <p:nvSpPr>
              <p:cNvPr id="106"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07"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08"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09"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10"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11"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12"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13"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14"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115"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116"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34" name="Group 207"/>
            <p:cNvGrpSpPr>
              <a:grpSpLocks/>
            </p:cNvGrpSpPr>
            <p:nvPr/>
          </p:nvGrpSpPr>
          <p:grpSpPr bwMode="auto">
            <a:xfrm>
              <a:off x="3990975" y="5338573"/>
              <a:ext cx="860425" cy="476250"/>
              <a:chOff x="2569" y="3268"/>
              <a:chExt cx="542" cy="300"/>
            </a:xfrm>
            <a:solidFill>
              <a:srgbClr val="0070C0"/>
            </a:solidFill>
          </p:grpSpPr>
          <p:sp>
            <p:nvSpPr>
              <p:cNvPr id="95"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6"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7"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8"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9"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00"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01"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02"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103"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104"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105"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35" name="Group 231"/>
            <p:cNvGrpSpPr>
              <a:grpSpLocks/>
            </p:cNvGrpSpPr>
            <p:nvPr/>
          </p:nvGrpSpPr>
          <p:grpSpPr bwMode="auto">
            <a:xfrm>
              <a:off x="1547813" y="5338573"/>
              <a:ext cx="860425" cy="476250"/>
              <a:chOff x="2569" y="3268"/>
              <a:chExt cx="542" cy="300"/>
            </a:xfrm>
            <a:solidFill>
              <a:srgbClr val="0070C0"/>
            </a:solidFill>
          </p:grpSpPr>
          <p:sp>
            <p:nvSpPr>
              <p:cNvPr id="84"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5"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6"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7"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8"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89"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0"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1"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92"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3"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94"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pic>
          <p:nvPicPr>
            <p:cNvPr id="36"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51050"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00513" y="4797236"/>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72200" y="4763898"/>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0688" y="4730561"/>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 name="Group 248"/>
            <p:cNvGrpSpPr>
              <a:grpSpLocks/>
            </p:cNvGrpSpPr>
            <p:nvPr/>
          </p:nvGrpSpPr>
          <p:grpSpPr bwMode="auto">
            <a:xfrm>
              <a:off x="3708400" y="4195573"/>
              <a:ext cx="1089025" cy="479425"/>
              <a:chOff x="642" y="2212"/>
              <a:chExt cx="686" cy="302"/>
            </a:xfrm>
            <a:effectLst/>
            <a:scene3d>
              <a:camera prst="orthographicFront">
                <a:rot lat="0" lon="0" rev="0"/>
              </a:camera>
              <a:lightRig rig="balanced" dir="t">
                <a:rot lat="0" lon="0" rev="8700000"/>
              </a:lightRig>
            </a:scene3d>
          </p:grpSpPr>
          <p:sp>
            <p:nvSpPr>
              <p:cNvPr id="82" name="Oval 249"/>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83" name="Text Box 1524"/>
              <p:cNvSpPr txBox="1">
                <a:spLocks noChangeArrowheads="1"/>
              </p:cNvSpPr>
              <p:nvPr/>
            </p:nvSpPr>
            <p:spPr bwMode="auto">
              <a:xfrm>
                <a:off x="665" y="2240"/>
                <a:ext cx="644" cy="230"/>
              </a:xfrm>
              <a:prstGeom prst="rect">
                <a:avLst/>
              </a:prstGeom>
              <a:noFill/>
              <a:ln>
                <a:noFill/>
              </a:ln>
              <a:effectLst>
                <a:outerShdw blurRad="44450" dist="27940" dir="5400000" algn="ctr">
                  <a:srgbClr val="000000">
                    <a:alpha val="32000"/>
                  </a:srgbClr>
                </a:outerShdw>
              </a:effectLst>
              <a:sp3d>
                <a:bevelT w="190500" h="38100"/>
              </a:sp3d>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grpSp>
          <p:nvGrpSpPr>
            <p:cNvPr id="57" name="Group 251"/>
            <p:cNvGrpSpPr>
              <a:grpSpLocks/>
            </p:cNvGrpSpPr>
            <p:nvPr/>
          </p:nvGrpSpPr>
          <p:grpSpPr bwMode="auto">
            <a:xfrm>
              <a:off x="6011863" y="4039998"/>
              <a:ext cx="1089025" cy="479425"/>
              <a:chOff x="642" y="2212"/>
              <a:chExt cx="686" cy="302"/>
            </a:xfrm>
            <a:effectLst/>
            <a:scene3d>
              <a:camera prst="orthographicFront">
                <a:rot lat="0" lon="0" rev="0"/>
              </a:camera>
              <a:lightRig rig="balanced" dir="t">
                <a:rot lat="0" lon="0" rev="8700000"/>
              </a:lightRig>
            </a:scene3d>
          </p:grpSpPr>
          <p:sp>
            <p:nvSpPr>
              <p:cNvPr id="80" name="Oval 252"/>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81" name="Text Box 1524"/>
              <p:cNvSpPr txBox="1">
                <a:spLocks noChangeArrowheads="1"/>
              </p:cNvSpPr>
              <p:nvPr/>
            </p:nvSpPr>
            <p:spPr bwMode="auto">
              <a:xfrm>
                <a:off x="671" y="2240"/>
                <a:ext cx="644" cy="230"/>
              </a:xfrm>
              <a:prstGeom prst="rect">
                <a:avLst/>
              </a:prstGeom>
              <a:noFill/>
              <a:ln>
                <a:noFill/>
              </a:ln>
              <a:effectLst>
                <a:outerShdw blurRad="44450" dist="27940" dir="5400000" algn="ctr">
                  <a:srgbClr val="000000">
                    <a:alpha val="32000"/>
                  </a:srgbClr>
                </a:outerShdw>
              </a:effectLst>
              <a:sp3d>
                <a:bevelT w="190500" h="38100"/>
              </a:sp3d>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cxnSp>
          <p:nvCxnSpPr>
            <p:cNvPr id="58" name="直接连接符 67"/>
            <p:cNvCxnSpPr>
              <a:cxnSpLocks noChangeShapeType="1"/>
            </p:cNvCxnSpPr>
            <p:nvPr/>
          </p:nvCxnSpPr>
          <p:spPr bwMode="auto">
            <a:xfrm>
              <a:off x="2882900" y="4492436"/>
              <a:ext cx="188912" cy="922338"/>
            </a:xfrm>
            <a:prstGeom prst="line">
              <a:avLst/>
            </a:prstGeom>
            <a:noFill/>
            <a:ln w="28575" algn="ctr">
              <a:solidFill>
                <a:srgbClr val="368AD6"/>
              </a:solidFill>
              <a:round/>
              <a:headEnd/>
              <a:tailEnd/>
            </a:ln>
            <a:extLst>
              <a:ext uri="{909E8E84-426E-40DD-AFC4-6F175D3DCCD1}">
                <a14:hiddenFill xmlns:a14="http://schemas.microsoft.com/office/drawing/2010/main">
                  <a:noFill/>
                </a14:hiddenFill>
              </a:ext>
            </a:extLst>
          </p:spPr>
        </p:cxnSp>
        <p:pic>
          <p:nvPicPr>
            <p:cNvPr id="59"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775" y="4741673"/>
              <a:ext cx="4032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 name="Group 219"/>
            <p:cNvGrpSpPr>
              <a:grpSpLocks/>
            </p:cNvGrpSpPr>
            <p:nvPr/>
          </p:nvGrpSpPr>
          <p:grpSpPr bwMode="auto">
            <a:xfrm>
              <a:off x="2700338" y="5338573"/>
              <a:ext cx="860425" cy="476250"/>
              <a:chOff x="2569" y="3268"/>
              <a:chExt cx="542" cy="300"/>
            </a:xfrm>
            <a:solidFill>
              <a:srgbClr val="0070C0"/>
            </a:solidFill>
          </p:grpSpPr>
          <p:sp>
            <p:nvSpPr>
              <p:cNvPr id="69" name="Oval 1429"/>
              <p:cNvSpPr>
                <a:spLocks noChangeArrowheads="1"/>
              </p:cNvSpPr>
              <p:nvPr/>
            </p:nvSpPr>
            <p:spPr bwMode="auto">
              <a:xfrm>
                <a:off x="2695" y="3268"/>
                <a:ext cx="235" cy="81"/>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0" name="Oval 1430"/>
              <p:cNvSpPr>
                <a:spLocks noChangeArrowheads="1"/>
              </p:cNvSpPr>
              <p:nvPr/>
            </p:nvSpPr>
            <p:spPr bwMode="auto">
              <a:xfrm rot="900000">
                <a:off x="2893" y="3296"/>
                <a:ext cx="159" cy="66"/>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1" name="Oval 1431"/>
              <p:cNvSpPr>
                <a:spLocks noChangeArrowheads="1"/>
              </p:cNvSpPr>
              <p:nvPr/>
            </p:nvSpPr>
            <p:spPr bwMode="auto">
              <a:xfrm rot="1500000">
                <a:off x="2973" y="3363"/>
                <a:ext cx="138" cy="77"/>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2" name="Oval 1432"/>
              <p:cNvSpPr>
                <a:spLocks noChangeArrowheads="1"/>
              </p:cNvSpPr>
              <p:nvPr/>
            </p:nvSpPr>
            <p:spPr bwMode="auto">
              <a:xfrm rot="-1560000">
                <a:off x="2928" y="3439"/>
                <a:ext cx="168" cy="95"/>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3" name="Oval 1433"/>
              <p:cNvSpPr>
                <a:spLocks noChangeArrowheads="1"/>
              </p:cNvSpPr>
              <p:nvPr/>
            </p:nvSpPr>
            <p:spPr bwMode="auto">
              <a:xfrm>
                <a:off x="2723" y="3448"/>
                <a:ext cx="271" cy="120"/>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4" name="Oval 1434"/>
              <p:cNvSpPr>
                <a:spLocks noChangeArrowheads="1"/>
              </p:cNvSpPr>
              <p:nvPr/>
            </p:nvSpPr>
            <p:spPr bwMode="auto">
              <a:xfrm rot="1080000">
                <a:off x="2612" y="3448"/>
                <a:ext cx="152"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5" name="Oval 1435"/>
              <p:cNvSpPr>
                <a:spLocks noChangeArrowheads="1"/>
              </p:cNvSpPr>
              <p:nvPr/>
            </p:nvSpPr>
            <p:spPr bwMode="auto">
              <a:xfrm>
                <a:off x="2569" y="3386"/>
                <a:ext cx="125" cy="79"/>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6" name="Oval 1436"/>
              <p:cNvSpPr>
                <a:spLocks noChangeArrowheads="1"/>
              </p:cNvSpPr>
              <p:nvPr/>
            </p:nvSpPr>
            <p:spPr bwMode="auto">
              <a:xfrm rot="-1860000">
                <a:off x="2589" y="3325"/>
                <a:ext cx="170" cy="78"/>
              </a:xfrm>
              <a:prstGeom prst="ellipse">
                <a:avLst/>
              </a:prstGeom>
              <a:grpFill/>
              <a:ln>
                <a:noFill/>
              </a:ln>
              <a:extLst>
                <a:ext uri="{91240B29-F687-4F45-9708-019B960494DF}">
                  <a14:hiddenLine xmlns:a14="http://schemas.microsoft.com/office/drawing/2010/main" w="12700">
                    <a:solidFill>
                      <a:schemeClr val="tx1"/>
                    </a:solidFill>
                    <a:round/>
                    <a:headEnd/>
                    <a:tailEnd/>
                  </a14:hiddenLine>
                </a:ext>
              </a:extLst>
            </p:spPr>
            <p:txBody>
              <a:bodyPr wrap="none" anchor="ctr"/>
              <a:lstStyle/>
              <a:p>
                <a:pPr eaLnBrk="0" fontAlgn="auto" hangingPunct="0">
                  <a:spcBef>
                    <a:spcPts val="0"/>
                  </a:spcBef>
                  <a:spcAft>
                    <a:spcPts val="0"/>
                  </a:spcAft>
                  <a:defRPr/>
                </a:pPr>
                <a:endParaRPr lang="zh-CN" altLang="en-US" sz="1600">
                  <a:latin typeface="+mn-lt"/>
                  <a:ea typeface="+mn-ea"/>
                </a:endParaRPr>
              </a:p>
            </p:txBody>
          </p:sp>
          <p:sp>
            <p:nvSpPr>
              <p:cNvPr id="77" name="Freeform 1437"/>
              <p:cNvSpPr>
                <a:spLocks/>
              </p:cNvSpPr>
              <p:nvPr/>
            </p:nvSpPr>
            <p:spPr bwMode="auto">
              <a:xfrm>
                <a:off x="2628" y="3320"/>
                <a:ext cx="425" cy="204"/>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8" name="Freeform 1438"/>
              <p:cNvSpPr>
                <a:spLocks/>
              </p:cNvSpPr>
              <p:nvPr/>
            </p:nvSpPr>
            <p:spPr bwMode="auto">
              <a:xfrm>
                <a:off x="2710" y="3305"/>
                <a:ext cx="67" cy="5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sp>
            <p:nvSpPr>
              <p:cNvPr id="79" name="Freeform 1439"/>
              <p:cNvSpPr>
                <a:spLocks/>
              </p:cNvSpPr>
              <p:nvPr/>
            </p:nvSpPr>
            <p:spPr bwMode="auto">
              <a:xfrm>
                <a:off x="2869" y="3290"/>
                <a:ext cx="47" cy="43"/>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defRPr/>
                </a:pPr>
                <a:endParaRPr lang="zh-CN" altLang="en-US" sz="1600">
                  <a:latin typeface="+mn-lt"/>
                  <a:ea typeface="+mn-ea"/>
                </a:endParaRPr>
              </a:p>
            </p:txBody>
          </p:sp>
        </p:grpSp>
        <p:grpSp>
          <p:nvGrpSpPr>
            <p:cNvPr id="61" name="Group 190"/>
            <p:cNvGrpSpPr>
              <a:grpSpLocks/>
            </p:cNvGrpSpPr>
            <p:nvPr/>
          </p:nvGrpSpPr>
          <p:grpSpPr bwMode="auto">
            <a:xfrm>
              <a:off x="2224088" y="4095561"/>
              <a:ext cx="1089025" cy="479425"/>
              <a:chOff x="642" y="2212"/>
              <a:chExt cx="686" cy="302"/>
            </a:xfrm>
            <a:effectLst/>
            <a:scene3d>
              <a:camera prst="orthographicFront">
                <a:rot lat="0" lon="0" rev="0"/>
              </a:camera>
              <a:lightRig rig="balanced" dir="t">
                <a:rot lat="0" lon="0" rev="8700000"/>
              </a:lightRig>
            </a:scene3d>
          </p:grpSpPr>
          <p:sp>
            <p:nvSpPr>
              <p:cNvPr id="67" name="Oval 188"/>
              <p:cNvSpPr>
                <a:spLocks noChangeArrowheads="1"/>
              </p:cNvSpPr>
              <p:nvPr/>
            </p:nvSpPr>
            <p:spPr bwMode="auto">
              <a:xfrm>
                <a:off x="642" y="2212"/>
                <a:ext cx="686" cy="302"/>
              </a:xfrm>
              <a:prstGeom prst="ellipse">
                <a:avLst/>
              </a:prstGeom>
              <a:solidFill>
                <a:srgbClr val="339933"/>
              </a:solidFill>
              <a:ln>
                <a:noFill/>
              </a:ln>
              <a:effectLst>
                <a:outerShdw blurRad="44450" dist="27940" dir="5400000" algn="ctr">
                  <a:srgbClr val="000000">
                    <a:alpha val="32000"/>
                  </a:srgbClr>
                </a:outerShdw>
              </a:effectLst>
              <a:sp3d>
                <a:bevelT w="190500" h="38100"/>
              </a:sp3d>
              <a:extLst>
                <a:ext uri="{91240B29-F687-4F45-9708-019B960494DF}">
                  <a14:hiddenLine xmlns:a14="http://schemas.microsoft.com/office/drawing/2010/main" w="9525">
                    <a:solidFill>
                      <a:schemeClr val="tx1"/>
                    </a:solidFill>
                    <a:round/>
                    <a:headEnd/>
                    <a:tailEnd/>
                  </a14:hiddenLine>
                </a:ext>
              </a:extLst>
            </p:spPr>
            <p:txBody>
              <a:bodyPr wrap="none" anchor="ctr"/>
              <a:lstStyle/>
              <a:p>
                <a:pPr fontAlgn="auto">
                  <a:spcBef>
                    <a:spcPts val="0"/>
                  </a:spcBef>
                  <a:spcAft>
                    <a:spcPts val="0"/>
                  </a:spcAft>
                  <a:defRPr/>
                </a:pPr>
                <a:endParaRPr lang="zh-CN" altLang="en-US" sz="1600">
                  <a:latin typeface="+mn-lt"/>
                  <a:ea typeface="+mn-ea"/>
                </a:endParaRPr>
              </a:p>
            </p:txBody>
          </p:sp>
          <p:sp>
            <p:nvSpPr>
              <p:cNvPr id="68" name="Text Box 1524"/>
              <p:cNvSpPr txBox="1">
                <a:spLocks noChangeArrowheads="1"/>
              </p:cNvSpPr>
              <p:nvPr/>
            </p:nvSpPr>
            <p:spPr bwMode="auto">
              <a:xfrm>
                <a:off x="658" y="2236"/>
                <a:ext cx="644" cy="230"/>
              </a:xfrm>
              <a:prstGeom prst="rect">
                <a:avLst/>
              </a:prstGeom>
              <a:noFill/>
              <a:ln>
                <a:noFill/>
              </a:ln>
              <a:effectLst>
                <a:outerShdw blurRad="44450" dist="27940" dir="5400000" algn="ctr">
                  <a:srgbClr val="000000">
                    <a:alpha val="32000"/>
                  </a:srgbClr>
                </a:outerShdw>
              </a:effectLst>
              <a:sp3d>
                <a:bevelT w="190500" h="38100"/>
              </a:sp3d>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fontAlgn="auto" hangingPunct="1">
                  <a:spcBef>
                    <a:spcPts val="0"/>
                  </a:spcBef>
                  <a:spcAft>
                    <a:spcPts val="0"/>
                  </a:spcAft>
                  <a:defRPr/>
                </a:pPr>
                <a:r>
                  <a:rPr kumimoji="1" lang="zh-CN" altLang="en-US" sz="1400" b="1" dirty="0">
                    <a:solidFill>
                      <a:schemeClr val="bg1"/>
                    </a:solidFill>
                    <a:latin typeface="Times New Roman" pitchFamily="18" charset="0"/>
                    <a:ea typeface="微软雅黑" pitchFamily="34" charset="-122"/>
                  </a:rPr>
                  <a:t>地区网</a:t>
                </a:r>
              </a:p>
            </p:txBody>
          </p:sp>
        </p:grpSp>
        <p:sp>
          <p:nvSpPr>
            <p:cNvPr id="62" name="Text Box 1524"/>
            <p:cNvSpPr txBox="1">
              <a:spLocks noChangeArrowheads="1"/>
            </p:cNvSpPr>
            <p:nvPr/>
          </p:nvSpPr>
          <p:spPr bwMode="auto">
            <a:xfrm>
              <a:off x="1526812" y="5387000"/>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dirty="0">
                  <a:solidFill>
                    <a:schemeClr val="bg1"/>
                  </a:solidFill>
                  <a:latin typeface="Times New Roman" pitchFamily="18" charset="0"/>
                  <a:ea typeface="微软雅黑" pitchFamily="34" charset="-122"/>
                </a:rPr>
                <a:t>校园网</a:t>
              </a:r>
            </a:p>
          </p:txBody>
        </p:sp>
        <p:sp>
          <p:nvSpPr>
            <p:cNvPr id="63" name="Text Box 1524"/>
            <p:cNvSpPr txBox="1">
              <a:spLocks noChangeArrowheads="1"/>
            </p:cNvSpPr>
            <p:nvPr/>
          </p:nvSpPr>
          <p:spPr bwMode="auto">
            <a:xfrm>
              <a:off x="2673278"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64" name="Text Box 1524"/>
            <p:cNvSpPr txBox="1">
              <a:spLocks noChangeArrowheads="1"/>
            </p:cNvSpPr>
            <p:nvPr/>
          </p:nvSpPr>
          <p:spPr bwMode="auto">
            <a:xfrm>
              <a:off x="3968674"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65" name="Text Box 1524"/>
            <p:cNvSpPr txBox="1">
              <a:spLocks noChangeArrowheads="1"/>
            </p:cNvSpPr>
            <p:nvPr/>
          </p:nvSpPr>
          <p:spPr bwMode="auto">
            <a:xfrm>
              <a:off x="5768903"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sp>
          <p:nvSpPr>
            <p:cNvPr id="66" name="Text Box 1524"/>
            <p:cNvSpPr txBox="1">
              <a:spLocks noChangeArrowheads="1"/>
            </p:cNvSpPr>
            <p:nvPr/>
          </p:nvSpPr>
          <p:spPr bwMode="auto">
            <a:xfrm>
              <a:off x="6849990" y="5405471"/>
              <a:ext cx="912961" cy="328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200" b="1">
                  <a:solidFill>
                    <a:schemeClr val="bg1"/>
                  </a:solidFill>
                  <a:latin typeface="Times New Roman" pitchFamily="18" charset="0"/>
                  <a:ea typeface="微软雅黑" pitchFamily="34" charset="-122"/>
                </a:rPr>
                <a:t>校园网</a:t>
              </a:r>
            </a:p>
          </p:txBody>
        </p:sp>
      </p:grpSp>
    </p:spTree>
    <p:extLst>
      <p:ext uri="{BB962C8B-B14F-4D97-AF65-F5344CB8AC3E}">
        <p14:creationId xmlns:p14="http://schemas.microsoft.com/office/powerpoint/2010/main" val="410157925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smtClean="0"/>
              <a:t>互联网</a:t>
            </a:r>
            <a:r>
              <a:rPr lang="zh-CN" altLang="en-US" dirty="0"/>
              <a:t>概述</a:t>
            </a:r>
          </a:p>
        </p:txBody>
      </p:sp>
      <p:sp>
        <p:nvSpPr>
          <p:cNvPr id="37" name="内容占位符 4"/>
          <p:cNvSpPr>
            <a:spLocks noGrp="1"/>
          </p:cNvSpPr>
          <p:nvPr>
            <p:ph sz="quarter" idx="4294967295"/>
          </p:nvPr>
        </p:nvSpPr>
        <p:spPr>
          <a:xfrm>
            <a:off x="466344" y="1484784"/>
            <a:ext cx="10454192" cy="4464496"/>
          </a:xfrm>
          <a:prstGeom prst="rect">
            <a:avLst/>
          </a:prstGeom>
        </p:spPr>
        <p:txBody>
          <a:bodyPr/>
          <a:lstStyle/>
          <a:p>
            <a:r>
              <a:rPr lang="zh-CN" altLang="en-US" sz="2800" b="1" dirty="0"/>
              <a:t>第三阶段：</a:t>
            </a:r>
            <a:r>
              <a:rPr lang="en-US" altLang="zh-CN" sz="2800" b="1" dirty="0"/>
              <a:t>1993 – </a:t>
            </a:r>
            <a:r>
              <a:rPr lang="zh-CN" altLang="en-US" sz="2800" b="1" dirty="0"/>
              <a:t>现在</a:t>
            </a:r>
            <a:r>
              <a:rPr lang="en-US" altLang="zh-CN" sz="2800" b="1" dirty="0"/>
              <a:t> </a:t>
            </a:r>
            <a:endParaRPr lang="zh-CN" altLang="en-US" sz="2800" b="1" dirty="0"/>
          </a:p>
          <a:p>
            <a:pPr lvl="1" fontAlgn="auto">
              <a:buClr>
                <a:srgbClr val="0070C0"/>
              </a:buClr>
              <a:defRPr/>
            </a:pPr>
            <a:r>
              <a:rPr lang="zh-CN" altLang="en-US" sz="2400" b="1" dirty="0" smtClean="0"/>
              <a:t>从 </a:t>
            </a:r>
            <a:r>
              <a:rPr lang="en-US" altLang="zh-CN" sz="2400" b="1" dirty="0" smtClean="0"/>
              <a:t>1993 </a:t>
            </a:r>
            <a:r>
              <a:rPr lang="zh-CN" altLang="en-US" sz="2400" b="1" dirty="0" smtClean="0"/>
              <a:t>年</a:t>
            </a:r>
            <a:r>
              <a:rPr lang="zh-CN" altLang="en-US" sz="2400" b="1" dirty="0"/>
              <a:t>开始，由美国政府资助</a:t>
            </a:r>
            <a:r>
              <a:rPr lang="zh-CN" altLang="en-US" sz="2400" b="1" dirty="0" smtClean="0"/>
              <a:t>的 </a:t>
            </a:r>
            <a:r>
              <a:rPr lang="en-US" altLang="zh-CN" sz="2400" b="1" dirty="0" smtClean="0"/>
              <a:t>NSFNET </a:t>
            </a:r>
            <a:r>
              <a:rPr lang="zh-CN" altLang="en-US" sz="2400" b="1" dirty="0" smtClean="0"/>
              <a:t>逐渐</a:t>
            </a:r>
            <a:r>
              <a:rPr lang="zh-CN" altLang="en-US" sz="2400" b="1" dirty="0"/>
              <a:t>被</a:t>
            </a:r>
            <a:r>
              <a:rPr lang="zh-CN" altLang="en-US" sz="2400" b="1" dirty="0" smtClean="0"/>
              <a:t>若干个</a:t>
            </a:r>
            <a:r>
              <a:rPr lang="zh-CN" altLang="en-US" sz="2400" b="1" dirty="0"/>
              <a:t>商用的互联网</a:t>
            </a:r>
            <a:r>
              <a:rPr lang="zh-CN" altLang="en-US" sz="2400" b="1" dirty="0">
                <a:solidFill>
                  <a:srgbClr val="C00000"/>
                </a:solidFill>
              </a:rPr>
              <a:t>主干网</a:t>
            </a:r>
            <a:r>
              <a:rPr lang="zh-CN" altLang="en-US" sz="2400" b="1" dirty="0"/>
              <a:t>替代</a:t>
            </a:r>
            <a:r>
              <a:rPr lang="zh-CN" altLang="en-US" sz="2400" b="1" dirty="0" smtClean="0"/>
              <a:t>，政府</a:t>
            </a:r>
            <a:r>
              <a:rPr lang="zh-CN" altLang="en-US" sz="2400" b="1" dirty="0"/>
              <a:t>机构不再负责互联网的运营</a:t>
            </a:r>
            <a:r>
              <a:rPr lang="zh-CN" altLang="en-US" sz="2400" b="1" dirty="0" smtClean="0"/>
              <a:t>。互联网</a:t>
            </a:r>
            <a:r>
              <a:rPr lang="zh-CN" altLang="en-US" sz="2400" b="1" dirty="0"/>
              <a:t>服务提供</a:t>
            </a:r>
            <a:r>
              <a:rPr lang="zh-CN" altLang="en-US" sz="2400" b="1" dirty="0" smtClean="0"/>
              <a:t>者 </a:t>
            </a:r>
            <a:r>
              <a:rPr lang="en-US" altLang="zh-CN" sz="2400" b="1" dirty="0" smtClean="0"/>
              <a:t>ISP </a:t>
            </a:r>
            <a:r>
              <a:rPr lang="en-US" altLang="zh-CN" sz="2400" b="1" dirty="0"/>
              <a:t>(Internet Service Provider</a:t>
            </a:r>
            <a:r>
              <a:rPr lang="en-US" altLang="zh-CN" sz="2400" b="1" dirty="0" smtClean="0"/>
              <a:t>) </a:t>
            </a:r>
            <a:r>
              <a:rPr lang="zh-CN" altLang="en-US" sz="2400" b="1" dirty="0" smtClean="0"/>
              <a:t>成为互联网的运营主体。</a:t>
            </a:r>
            <a:endParaRPr lang="en-US" altLang="zh-CN" sz="2400" b="1" dirty="0" smtClean="0"/>
          </a:p>
          <a:p>
            <a:pPr lvl="1" fontAlgn="auto">
              <a:buClr>
                <a:srgbClr val="0070C0"/>
              </a:buClr>
              <a:defRPr/>
            </a:pPr>
            <a:r>
              <a:rPr lang="zh-CN" altLang="en-US" sz="2400" b="1" dirty="0">
                <a:solidFill>
                  <a:srgbClr val="C00000"/>
                </a:solidFill>
              </a:rPr>
              <a:t>多层次 </a:t>
            </a:r>
            <a:r>
              <a:rPr lang="en-US" altLang="zh-CN" sz="2400" b="1" dirty="0">
                <a:solidFill>
                  <a:srgbClr val="C00000"/>
                </a:solidFill>
              </a:rPr>
              <a:t>ISP </a:t>
            </a:r>
            <a:r>
              <a:rPr lang="zh-CN" altLang="en-US" sz="2400" b="1" dirty="0">
                <a:solidFill>
                  <a:srgbClr val="C00000"/>
                </a:solidFill>
              </a:rPr>
              <a:t>结构</a:t>
            </a:r>
            <a:r>
              <a:rPr lang="zh-CN" altLang="en-US" sz="2400" b="1" dirty="0" smtClean="0">
                <a:solidFill>
                  <a:srgbClr val="C00000"/>
                </a:solidFill>
              </a:rPr>
              <a:t>：</a:t>
            </a:r>
            <a:endParaRPr lang="en-US" altLang="zh-CN" sz="2400" b="1" dirty="0" smtClean="0">
              <a:solidFill>
                <a:srgbClr val="C00000"/>
              </a:solidFill>
            </a:endParaRPr>
          </a:p>
          <a:p>
            <a:pPr lvl="2" fontAlgn="auto">
              <a:buClr>
                <a:srgbClr val="0070C0"/>
              </a:buClr>
              <a:defRPr/>
            </a:pPr>
            <a:r>
              <a:rPr lang="zh-CN" altLang="en-US" sz="2000" b="1" dirty="0"/>
              <a:t>主干 </a:t>
            </a:r>
            <a:r>
              <a:rPr lang="en-US" altLang="zh-CN" sz="2000" b="1" dirty="0"/>
              <a:t>ISP</a:t>
            </a:r>
            <a:r>
              <a:rPr lang="zh-CN" altLang="en-US" sz="2000" b="1" dirty="0"/>
              <a:t>、地区 </a:t>
            </a:r>
            <a:r>
              <a:rPr lang="en-US" altLang="zh-CN" sz="2000" b="1" dirty="0"/>
              <a:t>ISP </a:t>
            </a:r>
            <a:r>
              <a:rPr lang="zh-CN" altLang="en-US" sz="2000" b="1" dirty="0"/>
              <a:t>和本地 </a:t>
            </a:r>
            <a:r>
              <a:rPr lang="en-US" altLang="zh-CN" sz="2000" b="1" dirty="0" smtClean="0"/>
              <a:t>ISP</a:t>
            </a:r>
            <a:r>
              <a:rPr lang="zh-CN" altLang="en-US" sz="2000" b="1" dirty="0" smtClean="0"/>
              <a:t>；</a:t>
            </a:r>
            <a:endParaRPr lang="en-US" altLang="zh-CN" sz="2000" b="1" dirty="0" smtClean="0"/>
          </a:p>
          <a:p>
            <a:pPr lvl="2" fontAlgn="auto">
              <a:buClr>
                <a:srgbClr val="0070C0"/>
              </a:buClr>
              <a:defRPr/>
            </a:pPr>
            <a:r>
              <a:rPr lang="zh-CN" altLang="en-US" sz="2000" b="1" dirty="0" smtClean="0"/>
              <a:t>本地 </a:t>
            </a:r>
            <a:r>
              <a:rPr lang="en-US" altLang="zh-CN" sz="2000" b="1" dirty="0" smtClean="0"/>
              <a:t>ISP </a:t>
            </a:r>
            <a:r>
              <a:rPr lang="zh-CN" altLang="en-US" sz="2000" b="1" dirty="0" smtClean="0"/>
              <a:t>提供</a:t>
            </a:r>
            <a:r>
              <a:rPr lang="zh-CN" altLang="en-US" sz="2000" b="1" dirty="0">
                <a:solidFill>
                  <a:srgbClr val="0000FF"/>
                </a:solidFill>
              </a:rPr>
              <a:t>接入</a:t>
            </a:r>
            <a:r>
              <a:rPr lang="zh-CN" altLang="en-US" sz="2000" b="1" dirty="0"/>
              <a:t>到互联网的</a:t>
            </a:r>
            <a:r>
              <a:rPr lang="zh-CN" altLang="en-US" sz="2000" b="1" dirty="0" smtClean="0"/>
              <a:t>服务</a:t>
            </a:r>
            <a:r>
              <a:rPr lang="zh-CN" altLang="en-US" sz="2000" b="1" dirty="0"/>
              <a:t>，并收取一定的</a:t>
            </a:r>
            <a:r>
              <a:rPr lang="zh-CN" altLang="en-US" sz="2000" b="1" dirty="0" smtClean="0"/>
              <a:t>费用</a:t>
            </a:r>
            <a:r>
              <a:rPr lang="zh-CN" altLang="en-US" sz="2000" b="1" dirty="0"/>
              <a:t>；</a:t>
            </a:r>
            <a:endParaRPr lang="en-US" altLang="zh-CN" sz="2000" b="1" dirty="0"/>
          </a:p>
          <a:p>
            <a:pPr lvl="2" fontAlgn="auto">
              <a:buClr>
                <a:srgbClr val="0070C0"/>
              </a:buClr>
              <a:defRPr/>
            </a:pPr>
            <a:r>
              <a:rPr lang="zh-CN" altLang="en-US" sz="2000" b="1" dirty="0" smtClean="0"/>
              <a:t>不同层次的 </a:t>
            </a:r>
            <a:r>
              <a:rPr lang="en-US" altLang="zh-CN" sz="2000" b="1" dirty="0" smtClean="0"/>
              <a:t>ISP </a:t>
            </a:r>
            <a:r>
              <a:rPr lang="zh-CN" altLang="en-US" sz="2000" b="1" dirty="0" smtClean="0"/>
              <a:t>覆盖</a:t>
            </a:r>
            <a:r>
              <a:rPr lang="zh-CN" altLang="en-US" sz="2000" b="1" dirty="0"/>
              <a:t>面积大小</a:t>
            </a:r>
            <a:r>
              <a:rPr lang="zh-CN" altLang="en-US" sz="2000" b="1" dirty="0" smtClean="0"/>
              <a:t>和拥有</a:t>
            </a:r>
            <a:r>
              <a:rPr lang="zh-CN" altLang="en-US" sz="2000" b="1" dirty="0"/>
              <a:t>的 </a:t>
            </a:r>
            <a:r>
              <a:rPr lang="en-US" altLang="zh-CN" sz="2000" b="1" dirty="0"/>
              <a:t>IP </a:t>
            </a:r>
            <a:r>
              <a:rPr lang="zh-CN" altLang="en-US" sz="2000" b="1" dirty="0" smtClean="0"/>
              <a:t>地址数目不同。</a:t>
            </a:r>
            <a:endParaRPr lang="zh-CN" altLang="en-US" sz="2000" b="1" dirty="0"/>
          </a:p>
          <a:p>
            <a:pPr lvl="2" fontAlgn="auto">
              <a:buClr>
                <a:srgbClr val="0070C0"/>
              </a:buClr>
              <a:defRPr/>
            </a:pPr>
            <a:endParaRPr lang="en-US" altLang="zh-CN" sz="2000" b="1" dirty="0"/>
          </a:p>
          <a:p>
            <a:pPr lvl="2" fontAlgn="auto">
              <a:buClr>
                <a:srgbClr val="0070C0"/>
              </a:buClr>
              <a:defRPr/>
            </a:pPr>
            <a:endParaRPr lang="en-US" altLang="zh-CN" sz="2000" b="1" dirty="0">
              <a:solidFill>
                <a:srgbClr val="C00000"/>
              </a:solidFill>
            </a:endParaRPr>
          </a:p>
          <a:p>
            <a:pPr lvl="1" fontAlgn="auto">
              <a:buClr>
                <a:srgbClr val="0070C0"/>
              </a:buClr>
              <a:defRPr/>
            </a:pPr>
            <a:endParaRPr lang="en-US" altLang="zh-CN" sz="2400" b="1" dirty="0"/>
          </a:p>
        </p:txBody>
      </p:sp>
    </p:spTree>
    <p:extLst>
      <p:ext uri="{BB962C8B-B14F-4D97-AF65-F5344CB8AC3E}">
        <p14:creationId xmlns:p14="http://schemas.microsoft.com/office/powerpoint/2010/main" val="8750093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smtClean="0"/>
              <a:t>互联网</a:t>
            </a:r>
            <a:r>
              <a:rPr lang="zh-CN" altLang="en-US" dirty="0"/>
              <a:t>概述</a:t>
            </a:r>
          </a:p>
        </p:txBody>
      </p:sp>
      <p:grpSp>
        <p:nvGrpSpPr>
          <p:cNvPr id="5" name="组合 4"/>
          <p:cNvGrpSpPr/>
          <p:nvPr/>
        </p:nvGrpSpPr>
        <p:grpSpPr>
          <a:xfrm>
            <a:off x="1847528" y="6149962"/>
            <a:ext cx="8361912" cy="632579"/>
            <a:chOff x="1776552" y="4257054"/>
            <a:chExt cx="6387156" cy="453973"/>
          </a:xfrm>
        </p:grpSpPr>
        <p:sp>
          <p:nvSpPr>
            <p:cNvPr id="6" name="Text Box 273"/>
            <p:cNvSpPr txBox="1">
              <a:spLocks noChangeArrowheads="1"/>
            </p:cNvSpPr>
            <p:nvPr/>
          </p:nvSpPr>
          <p:spPr bwMode="auto">
            <a:xfrm>
              <a:off x="1785262" y="4291361"/>
              <a:ext cx="6364920" cy="419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ct val="15000"/>
                </a:spcBef>
                <a:spcAft>
                  <a:spcPct val="15000"/>
                </a:spcAft>
                <a:buClrTx/>
                <a:buSzTx/>
                <a:buFontTx/>
                <a:buNone/>
                <a:tabLst/>
                <a:defRPr/>
              </a:pPr>
              <a:r>
                <a:rPr lang="zh-CN" altLang="en-US" sz="1600" b="1" kern="0" dirty="0">
                  <a:solidFill>
                    <a:srgbClr val="000000"/>
                  </a:solidFill>
                  <a:latin typeface="微软雅黑" panose="020B0503020204020204" pitchFamily="34" charset="-122"/>
                  <a:ea typeface="微软雅黑" panose="020B0503020204020204" pitchFamily="34" charset="-122"/>
                </a:rPr>
                <a:t>通信</a:t>
              </a:r>
              <a:r>
                <a:rPr kumimoji="1" lang="zh-CN" altLang="en-US"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举例：主机</a:t>
              </a:r>
              <a:r>
                <a:rPr kumimoji="1" lang="en-US" altLang="zh-CN"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A → </a:t>
              </a:r>
              <a:r>
                <a:rPr kumimoji="1" lang="zh-CN" altLang="en-US"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本地 </a:t>
              </a:r>
              <a:r>
                <a:rPr kumimoji="1" lang="en-US" altLang="zh-CN"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地区 </a:t>
              </a:r>
              <a:r>
                <a:rPr kumimoji="1" lang="en-US" altLang="zh-CN"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主干 </a:t>
              </a:r>
              <a:r>
                <a:rPr kumimoji="1" lang="en-US" altLang="zh-CN"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地区 </a:t>
              </a:r>
              <a:r>
                <a:rPr kumimoji="1" lang="en-US" altLang="zh-CN"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本地 </a:t>
              </a:r>
              <a:r>
                <a:rPr kumimoji="1" lang="en-US" altLang="zh-CN"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ISP → </a:t>
              </a:r>
              <a:r>
                <a:rPr kumimoji="1" lang="zh-CN" altLang="en-US"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主机</a:t>
              </a:r>
              <a:r>
                <a:rPr kumimoji="1" lang="en-US" altLang="zh-CN" sz="1600" b="1" i="0" u="none" strike="noStrike" kern="0" cap="none" spc="0" normalizeH="0" baseline="0" noProof="0" dirty="0" smtClean="0">
                  <a:ln>
                    <a:noFill/>
                  </a:ln>
                  <a:solidFill>
                    <a:srgbClr val="000000"/>
                  </a:solidFill>
                  <a:uLnTx/>
                  <a:uFillTx/>
                  <a:latin typeface="微软雅黑" panose="020B0503020204020204" pitchFamily="34" charset="-122"/>
                  <a:ea typeface="微软雅黑" panose="020B0503020204020204" pitchFamily="34" charset="-122"/>
                </a:rPr>
                <a:t>B</a:t>
              </a:r>
            </a:p>
          </p:txBody>
        </p:sp>
        <p:sp>
          <p:nvSpPr>
            <p:cNvPr id="7" name="Rectangle 274"/>
            <p:cNvSpPr>
              <a:spLocks noChangeArrowheads="1"/>
            </p:cNvSpPr>
            <p:nvPr/>
          </p:nvSpPr>
          <p:spPr bwMode="auto">
            <a:xfrm>
              <a:off x="1776552" y="4257054"/>
              <a:ext cx="6387156" cy="321069"/>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6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1127448" y="1556792"/>
            <a:ext cx="9813951" cy="4536504"/>
            <a:chOff x="2063931" y="1515290"/>
            <a:chExt cx="6140146" cy="2640865"/>
          </a:xfrm>
        </p:grpSpPr>
        <p:sp>
          <p:nvSpPr>
            <p:cNvPr id="9" name="Line 372"/>
            <p:cNvSpPr>
              <a:spLocks noChangeShapeType="1"/>
            </p:cNvSpPr>
            <p:nvPr/>
          </p:nvSpPr>
          <p:spPr bwMode="auto">
            <a:xfrm>
              <a:off x="2873954" y="1881793"/>
              <a:ext cx="762745" cy="1374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0" name="Line 316"/>
            <p:cNvSpPr>
              <a:spLocks noChangeShapeType="1"/>
            </p:cNvSpPr>
            <p:nvPr/>
          </p:nvSpPr>
          <p:spPr bwMode="auto">
            <a:xfrm flipH="1">
              <a:off x="2683792" y="1836359"/>
              <a:ext cx="95606" cy="823874"/>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1" name="Line 282"/>
            <p:cNvSpPr>
              <a:spLocks noChangeShapeType="1"/>
            </p:cNvSpPr>
            <p:nvPr/>
          </p:nvSpPr>
          <p:spPr bwMode="auto">
            <a:xfrm>
              <a:off x="2922282" y="1836359"/>
              <a:ext cx="619861" cy="82387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2" name="Line 282"/>
            <p:cNvSpPr>
              <a:spLocks noChangeShapeType="1"/>
            </p:cNvSpPr>
            <p:nvPr/>
          </p:nvSpPr>
          <p:spPr bwMode="auto">
            <a:xfrm>
              <a:off x="3160770" y="1836359"/>
              <a:ext cx="714417" cy="32005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3" name="Line 282"/>
            <p:cNvSpPr>
              <a:spLocks noChangeShapeType="1"/>
            </p:cNvSpPr>
            <p:nvPr/>
          </p:nvSpPr>
          <p:spPr bwMode="auto">
            <a:xfrm>
              <a:off x="3159720" y="1810107"/>
              <a:ext cx="2908097" cy="30087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4" name="Line 282"/>
            <p:cNvSpPr>
              <a:spLocks noChangeShapeType="1"/>
            </p:cNvSpPr>
            <p:nvPr/>
          </p:nvSpPr>
          <p:spPr bwMode="auto">
            <a:xfrm flipV="1">
              <a:off x="3256378" y="1699046"/>
              <a:ext cx="1524438" cy="353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Line 410"/>
            <p:cNvSpPr>
              <a:spLocks noChangeShapeType="1"/>
            </p:cNvSpPr>
            <p:nvPr/>
          </p:nvSpPr>
          <p:spPr bwMode="auto">
            <a:xfrm>
              <a:off x="6210699" y="2688503"/>
              <a:ext cx="904577" cy="0"/>
            </a:xfrm>
            <a:prstGeom prst="line">
              <a:avLst/>
            </a:prstGeom>
            <a:ln w="63500" cmpd="tri">
              <a:solidFill>
                <a:schemeClr val="tx1"/>
              </a:solidFill>
              <a:headEnd/>
              <a:tailEnd/>
            </a:ln>
          </p:spPr>
          <p:style>
            <a:lnRef idx="1">
              <a:schemeClr val="accent3"/>
            </a:lnRef>
            <a:fillRef idx="3">
              <a:schemeClr val="accent3"/>
            </a:fillRef>
            <a:effectRef idx="2">
              <a:schemeClr val="accent3"/>
            </a:effectRef>
            <a:fontRef idx="minor">
              <a:schemeClr val="lt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407"/>
            <p:cNvSpPr>
              <a:spLocks noChangeShapeType="1"/>
            </p:cNvSpPr>
            <p:nvPr/>
          </p:nvSpPr>
          <p:spPr bwMode="auto">
            <a:xfrm>
              <a:off x="7163604"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7" name="Line 408"/>
            <p:cNvSpPr>
              <a:spLocks noChangeShapeType="1"/>
            </p:cNvSpPr>
            <p:nvPr/>
          </p:nvSpPr>
          <p:spPr bwMode="auto">
            <a:xfrm flipH="1">
              <a:off x="6733904" y="3255927"/>
              <a:ext cx="286817"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Text Box 409"/>
            <p:cNvSpPr txBox="1">
              <a:spLocks noChangeArrowheads="1"/>
            </p:cNvSpPr>
            <p:nvPr/>
          </p:nvSpPr>
          <p:spPr bwMode="auto">
            <a:xfrm>
              <a:off x="6877838" y="3485116"/>
              <a:ext cx="340193" cy="304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19" name="Line 377"/>
            <p:cNvSpPr>
              <a:spLocks noChangeShapeType="1"/>
            </p:cNvSpPr>
            <p:nvPr/>
          </p:nvSpPr>
          <p:spPr bwMode="auto">
            <a:xfrm flipH="1">
              <a:off x="7020721"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Line 376"/>
            <p:cNvSpPr>
              <a:spLocks noChangeShapeType="1"/>
            </p:cNvSpPr>
            <p:nvPr/>
          </p:nvSpPr>
          <p:spPr bwMode="auto">
            <a:xfrm flipH="1">
              <a:off x="5447954" y="2706677"/>
              <a:ext cx="333044" cy="5492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Line 370"/>
            <p:cNvSpPr>
              <a:spLocks noChangeShapeType="1"/>
            </p:cNvSpPr>
            <p:nvPr/>
          </p:nvSpPr>
          <p:spPr bwMode="auto">
            <a:xfrm>
              <a:off x="5923881" y="2660233"/>
              <a:ext cx="334095" cy="64112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Line 371"/>
            <p:cNvSpPr>
              <a:spLocks noChangeShapeType="1"/>
            </p:cNvSpPr>
            <p:nvPr/>
          </p:nvSpPr>
          <p:spPr bwMode="auto">
            <a:xfrm>
              <a:off x="4446720" y="2798555"/>
              <a:ext cx="95606"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Line 372"/>
            <p:cNvSpPr>
              <a:spLocks noChangeShapeType="1"/>
            </p:cNvSpPr>
            <p:nvPr/>
          </p:nvSpPr>
          <p:spPr bwMode="auto">
            <a:xfrm flipH="1">
              <a:off x="3732304" y="2798555"/>
              <a:ext cx="476978" cy="4573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Line 373"/>
            <p:cNvSpPr>
              <a:spLocks noChangeShapeType="1"/>
            </p:cNvSpPr>
            <p:nvPr/>
          </p:nvSpPr>
          <p:spPr bwMode="auto">
            <a:xfrm>
              <a:off x="2779398" y="2798555"/>
              <a:ext cx="47277" cy="50280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5" name="Line 308"/>
            <p:cNvSpPr>
              <a:spLocks noChangeShapeType="1"/>
            </p:cNvSpPr>
            <p:nvPr/>
          </p:nvSpPr>
          <p:spPr bwMode="auto">
            <a:xfrm>
              <a:off x="7496649" y="2798555"/>
              <a:ext cx="285767" cy="5946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Line 316"/>
            <p:cNvSpPr>
              <a:spLocks noChangeShapeType="1"/>
            </p:cNvSpPr>
            <p:nvPr/>
          </p:nvSpPr>
          <p:spPr bwMode="auto">
            <a:xfrm flipH="1">
              <a:off x="2873954" y="2248296"/>
              <a:ext cx="858350" cy="36650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 name="Line 283"/>
            <p:cNvSpPr>
              <a:spLocks noChangeShapeType="1"/>
            </p:cNvSpPr>
            <p:nvPr/>
          </p:nvSpPr>
          <p:spPr bwMode="auto">
            <a:xfrm>
              <a:off x="5590838" y="1744480"/>
              <a:ext cx="524255" cy="2746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Line 254"/>
            <p:cNvSpPr>
              <a:spLocks noChangeShapeType="1"/>
            </p:cNvSpPr>
            <p:nvPr/>
          </p:nvSpPr>
          <p:spPr bwMode="auto">
            <a:xfrm>
              <a:off x="6353582" y="3301361"/>
              <a:ext cx="190161" cy="45838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9" name="Line 255"/>
            <p:cNvSpPr>
              <a:spLocks noChangeShapeType="1"/>
            </p:cNvSpPr>
            <p:nvPr/>
          </p:nvSpPr>
          <p:spPr bwMode="auto">
            <a:xfrm>
              <a:off x="3779582" y="3347805"/>
              <a:ext cx="239539" cy="5080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0" name="Line 256"/>
            <p:cNvSpPr>
              <a:spLocks noChangeShapeType="1"/>
            </p:cNvSpPr>
            <p:nvPr/>
          </p:nvSpPr>
          <p:spPr bwMode="auto">
            <a:xfrm flipH="1">
              <a:off x="5923881" y="3255927"/>
              <a:ext cx="286818" cy="4957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Line 257"/>
            <p:cNvSpPr>
              <a:spLocks noChangeShapeType="1"/>
            </p:cNvSpPr>
            <p:nvPr/>
          </p:nvSpPr>
          <p:spPr bwMode="auto">
            <a:xfrm>
              <a:off x="7782415" y="3393239"/>
              <a:ext cx="95605"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2" name="Line 197"/>
            <p:cNvSpPr>
              <a:spLocks noChangeShapeType="1"/>
            </p:cNvSpPr>
            <p:nvPr/>
          </p:nvSpPr>
          <p:spPr bwMode="auto">
            <a:xfrm flipH="1">
              <a:off x="3350932" y="3301361"/>
              <a:ext cx="381372" cy="5502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3" name="Line 192"/>
            <p:cNvSpPr>
              <a:spLocks noChangeShapeType="1"/>
            </p:cNvSpPr>
            <p:nvPr/>
          </p:nvSpPr>
          <p:spPr bwMode="auto">
            <a:xfrm flipH="1">
              <a:off x="2350749" y="2752111"/>
              <a:ext cx="142883" cy="9722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4" name="Line 179"/>
            <p:cNvSpPr>
              <a:spLocks noChangeShapeType="1"/>
            </p:cNvSpPr>
            <p:nvPr/>
          </p:nvSpPr>
          <p:spPr bwMode="auto">
            <a:xfrm flipH="1" flipV="1">
              <a:off x="5543560" y="3347805"/>
              <a:ext cx="237438" cy="411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5" name="Line 180"/>
            <p:cNvSpPr>
              <a:spLocks noChangeShapeType="1"/>
            </p:cNvSpPr>
            <p:nvPr/>
          </p:nvSpPr>
          <p:spPr bwMode="auto">
            <a:xfrm flipV="1">
              <a:off x="4589603" y="3347805"/>
              <a:ext cx="663987"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6" name="Line 26"/>
            <p:cNvSpPr>
              <a:spLocks noChangeShapeType="1"/>
            </p:cNvSpPr>
            <p:nvPr/>
          </p:nvSpPr>
          <p:spPr bwMode="auto">
            <a:xfrm>
              <a:off x="4209282" y="2340174"/>
              <a:ext cx="94555" cy="3200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9" name="Line 36"/>
            <p:cNvSpPr>
              <a:spLocks noChangeShapeType="1"/>
            </p:cNvSpPr>
            <p:nvPr/>
          </p:nvSpPr>
          <p:spPr bwMode="auto">
            <a:xfrm flipH="1">
              <a:off x="5209465" y="3347805"/>
              <a:ext cx="142883" cy="5038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0" name="Oval 183"/>
            <p:cNvSpPr>
              <a:spLocks noChangeArrowheads="1"/>
            </p:cNvSpPr>
            <p:nvPr/>
          </p:nvSpPr>
          <p:spPr bwMode="auto">
            <a:xfrm>
              <a:off x="2063931" y="3576995"/>
              <a:ext cx="618811" cy="32106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大公司</a:t>
              </a:r>
            </a:p>
          </p:txBody>
        </p:sp>
        <p:sp>
          <p:nvSpPr>
            <p:cNvPr id="41" name="Oval 194"/>
            <p:cNvSpPr>
              <a:spLocks noChangeArrowheads="1"/>
            </p:cNvSpPr>
            <p:nvPr/>
          </p:nvSpPr>
          <p:spPr bwMode="auto">
            <a:xfrm>
              <a:off x="4343760" y="3667864"/>
              <a:ext cx="627216" cy="290779"/>
            </a:xfrm>
            <a:prstGeom prst="ellipse">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公司</a:t>
              </a:r>
            </a:p>
          </p:txBody>
        </p:sp>
        <p:sp>
          <p:nvSpPr>
            <p:cNvPr id="42" name="Oval 195"/>
            <p:cNvSpPr>
              <a:spLocks noChangeArrowheads="1"/>
            </p:cNvSpPr>
            <p:nvPr/>
          </p:nvSpPr>
          <p:spPr bwMode="auto">
            <a:xfrm>
              <a:off x="5060278" y="3196357"/>
              <a:ext cx="626165" cy="245345"/>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43" name="Text Box 268"/>
            <p:cNvSpPr txBox="1">
              <a:spLocks noChangeArrowheads="1"/>
            </p:cNvSpPr>
            <p:nvPr/>
          </p:nvSpPr>
          <p:spPr bwMode="auto">
            <a:xfrm>
              <a:off x="4960252" y="3773344"/>
              <a:ext cx="211818" cy="19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A</a:t>
              </a:r>
            </a:p>
          </p:txBody>
        </p:sp>
        <p:sp>
          <p:nvSpPr>
            <p:cNvPr id="44" name="Text Box 271"/>
            <p:cNvSpPr txBox="1">
              <a:spLocks noChangeArrowheads="1"/>
            </p:cNvSpPr>
            <p:nvPr/>
          </p:nvSpPr>
          <p:spPr bwMode="auto">
            <a:xfrm>
              <a:off x="8000282" y="3736970"/>
              <a:ext cx="203795" cy="19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B</a:t>
              </a:r>
            </a:p>
          </p:txBody>
        </p:sp>
        <p:sp>
          <p:nvSpPr>
            <p:cNvPr id="45" name="Line 282"/>
            <p:cNvSpPr>
              <a:spLocks noChangeShapeType="1"/>
            </p:cNvSpPr>
            <p:nvPr/>
          </p:nvSpPr>
          <p:spPr bwMode="auto">
            <a:xfrm flipV="1">
              <a:off x="4160954" y="1744480"/>
              <a:ext cx="810023" cy="4119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6" name="Line 284"/>
            <p:cNvSpPr>
              <a:spLocks noChangeShapeType="1"/>
            </p:cNvSpPr>
            <p:nvPr/>
          </p:nvSpPr>
          <p:spPr bwMode="auto">
            <a:xfrm flipV="1">
              <a:off x="4399443" y="2157427"/>
              <a:ext cx="1715650" cy="4543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7" name="Oval 292"/>
            <p:cNvSpPr>
              <a:spLocks noChangeArrowheads="1"/>
            </p:cNvSpPr>
            <p:nvPr/>
          </p:nvSpPr>
          <p:spPr bwMode="auto">
            <a:xfrm>
              <a:off x="7402094" y="3199386"/>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9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48" name="Line 297"/>
            <p:cNvSpPr>
              <a:spLocks noChangeShapeType="1"/>
            </p:cNvSpPr>
            <p:nvPr/>
          </p:nvSpPr>
          <p:spPr bwMode="auto">
            <a:xfrm flipH="1">
              <a:off x="5829326" y="2157427"/>
              <a:ext cx="475928" cy="45737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Line 298"/>
            <p:cNvSpPr>
              <a:spLocks noChangeShapeType="1"/>
            </p:cNvSpPr>
            <p:nvPr/>
          </p:nvSpPr>
          <p:spPr bwMode="auto">
            <a:xfrm flipH="1" flipV="1">
              <a:off x="6829509" y="2110984"/>
              <a:ext cx="429701" cy="45838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0" name="Oval 14"/>
            <p:cNvSpPr>
              <a:spLocks noChangeArrowheads="1"/>
            </p:cNvSpPr>
            <p:nvPr/>
          </p:nvSpPr>
          <p:spPr bwMode="auto">
            <a:xfrm>
              <a:off x="3399261" y="2065549"/>
              <a:ext cx="1285950" cy="320059"/>
            </a:xfrm>
            <a:prstGeom prst="ellipse">
              <a:avLst/>
            </a:prstGeom>
            <a:solidFill>
              <a:srgbClr val="FF9900"/>
            </a:solidFill>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2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ISP</a:t>
              </a:r>
              <a:endParaRPr kumimoji="1" lang="en-US" altLang="zh-CN"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1" name="Oval 305"/>
            <p:cNvSpPr>
              <a:spLocks noChangeArrowheads="1"/>
            </p:cNvSpPr>
            <p:nvPr/>
          </p:nvSpPr>
          <p:spPr bwMode="auto">
            <a:xfrm>
              <a:off x="3391905"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2" name="Oval 306"/>
            <p:cNvSpPr>
              <a:spLocks noChangeArrowheads="1"/>
            </p:cNvSpPr>
            <p:nvPr/>
          </p:nvSpPr>
          <p:spPr bwMode="auto">
            <a:xfrm>
              <a:off x="2486277"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3" name="Oval 319"/>
            <p:cNvSpPr>
              <a:spLocks noChangeArrowheads="1"/>
            </p:cNvSpPr>
            <p:nvPr/>
          </p:nvSpPr>
          <p:spPr bwMode="auto">
            <a:xfrm>
              <a:off x="4637932" y="1515290"/>
              <a:ext cx="1285950" cy="320059"/>
            </a:xfrm>
            <a:prstGeom prst="ellipse">
              <a:avLst/>
            </a:prstGeom>
            <a:solidFill>
              <a:srgbClr val="FF9900"/>
            </a:solidFill>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2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ISP</a:t>
              </a:r>
              <a:endParaRPr kumimoji="1" lang="en-US" altLang="zh-CN"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4" name="Oval 320"/>
            <p:cNvSpPr>
              <a:spLocks noChangeArrowheads="1"/>
            </p:cNvSpPr>
            <p:nvPr/>
          </p:nvSpPr>
          <p:spPr bwMode="auto">
            <a:xfrm>
              <a:off x="5876604" y="1974680"/>
              <a:ext cx="1285950" cy="320059"/>
            </a:xfrm>
            <a:prstGeom prst="ellipse">
              <a:avLst/>
            </a:prstGeom>
            <a:solidFill>
              <a:srgbClr val="FF9900"/>
            </a:solidFill>
            <a:ln/>
          </p:spPr>
          <p:style>
            <a:lnRef idx="1">
              <a:schemeClr val="accent6"/>
            </a:lnRef>
            <a:fillRef idx="3">
              <a:schemeClr val="accent6"/>
            </a:fillRef>
            <a:effectRef idx="2">
              <a:schemeClr val="accent6"/>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0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主干 </a:t>
              </a:r>
              <a:r>
                <a:rPr kumimoji="1" lang="en-US" altLang="zh-CN" sz="20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5" name="Text Box 342"/>
            <p:cNvSpPr txBox="1">
              <a:spLocks noChangeArrowheads="1"/>
            </p:cNvSpPr>
            <p:nvPr/>
          </p:nvSpPr>
          <p:spPr bwMode="auto">
            <a:xfrm>
              <a:off x="4850155" y="2298778"/>
              <a:ext cx="500661" cy="483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48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56" name="Oval 348"/>
            <p:cNvSpPr>
              <a:spLocks noChangeArrowheads="1"/>
            </p:cNvSpPr>
            <p:nvPr/>
          </p:nvSpPr>
          <p:spPr bwMode="auto">
            <a:xfrm>
              <a:off x="5923881"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7" name="Oval 349"/>
            <p:cNvSpPr>
              <a:spLocks noChangeArrowheads="1"/>
            </p:cNvSpPr>
            <p:nvPr/>
          </p:nvSpPr>
          <p:spPr bwMode="auto">
            <a:xfrm>
              <a:off x="4209282" y="3164048"/>
              <a:ext cx="626165" cy="277654"/>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8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58" name="Text Box 374"/>
            <p:cNvSpPr txBox="1">
              <a:spLocks noChangeArrowheads="1"/>
            </p:cNvSpPr>
            <p:nvPr/>
          </p:nvSpPr>
          <p:spPr bwMode="auto">
            <a:xfrm>
              <a:off x="3055709" y="3024716"/>
              <a:ext cx="372287" cy="340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32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59" name="Oval 375"/>
            <p:cNvSpPr>
              <a:spLocks noChangeArrowheads="1"/>
            </p:cNvSpPr>
            <p:nvPr/>
          </p:nvSpPr>
          <p:spPr bwMode="auto">
            <a:xfrm>
              <a:off x="6686626" y="3197367"/>
              <a:ext cx="626165" cy="242316"/>
            </a:xfrm>
            <a:prstGeom prst="ellipse">
              <a:avLst/>
            </a:prstGeom>
            <a:solidFill>
              <a:srgbClr val="00B0F0"/>
            </a:solidFill>
            <a:ln>
              <a:headEnd/>
              <a:tailEnd/>
            </a:ln>
          </p:spPr>
          <p:style>
            <a:lnRef idx="1">
              <a:schemeClr val="accent1"/>
            </a:lnRef>
            <a:fillRef idx="3">
              <a:schemeClr val="accent1"/>
            </a:fillRef>
            <a:effectRef idx="2">
              <a:schemeClr val="accent1"/>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本地</a:t>
              </a:r>
              <a:r>
                <a:rPr kumimoji="1" lang="zh-CN" altLang="en-US" sz="9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60" name="Text Box 405"/>
            <p:cNvSpPr txBox="1">
              <a:spLocks noChangeArrowheads="1"/>
            </p:cNvSpPr>
            <p:nvPr/>
          </p:nvSpPr>
          <p:spPr bwMode="auto">
            <a:xfrm>
              <a:off x="5345409" y="3611831"/>
              <a:ext cx="340193" cy="304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1" name="Text Box 406"/>
            <p:cNvSpPr txBox="1">
              <a:spLocks noChangeArrowheads="1"/>
            </p:cNvSpPr>
            <p:nvPr/>
          </p:nvSpPr>
          <p:spPr bwMode="auto">
            <a:xfrm>
              <a:off x="6067816" y="3485116"/>
              <a:ext cx="340193" cy="304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smtClean="0">
                  <a:ln>
                    <a:noFill/>
                  </a:ln>
                  <a:solidFill>
                    <a:srgbClr val="000000"/>
                  </a:solidFill>
                  <a:effectLst/>
                  <a:uLnTx/>
                  <a:uFillTx/>
                  <a:latin typeface="微软雅黑" panose="020B0503020204020204" pitchFamily="34" charset="-122"/>
                  <a:ea typeface="微软雅黑" panose="020B0503020204020204" pitchFamily="34" charset="-122"/>
                  <a:sym typeface="Symbol" panose="05050102010706020507" pitchFamily="18" charset="2"/>
                </a:rPr>
                <a:t></a:t>
              </a:r>
            </a:p>
          </p:txBody>
        </p:sp>
        <p:sp>
          <p:nvSpPr>
            <p:cNvPr id="62" name="Oval 14"/>
            <p:cNvSpPr>
              <a:spLocks noChangeArrowheads="1"/>
            </p:cNvSpPr>
            <p:nvPr/>
          </p:nvSpPr>
          <p:spPr bwMode="auto">
            <a:xfrm>
              <a:off x="2349698" y="1607168"/>
              <a:ext cx="1042207" cy="320059"/>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内容提供者</a:t>
              </a:r>
              <a:endParaRPr kumimoji="1" lang="en-US" altLang="zh-CN"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63" name="组合 62"/>
            <p:cNvGrpSpPr/>
            <p:nvPr/>
          </p:nvGrpSpPr>
          <p:grpSpPr>
            <a:xfrm>
              <a:off x="6443332" y="2589558"/>
              <a:ext cx="351075" cy="229190"/>
              <a:chOff x="3351808" y="2589558"/>
              <a:chExt cx="351075" cy="229190"/>
            </a:xfrm>
          </p:grpSpPr>
          <p:grpSp>
            <p:nvGrpSpPr>
              <p:cNvPr id="110"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112"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13"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14"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15"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16"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17"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18"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19"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20"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dirty="0">
                    <a:solidFill>
                      <a:srgbClr val="000000"/>
                    </a:solidFill>
                    <a:latin typeface="+mn-lt"/>
                    <a:ea typeface="+mn-ea"/>
                  </a:endParaRPr>
                </a:p>
              </p:txBody>
            </p:sp>
          </p:grpSp>
          <p:sp>
            <p:nvSpPr>
              <p:cNvPr id="111" name="Text Box 354"/>
              <p:cNvSpPr txBox="1">
                <a:spLocks noChangeArrowheads="1"/>
              </p:cNvSpPr>
              <p:nvPr/>
            </p:nvSpPr>
            <p:spPr bwMode="auto">
              <a:xfrm>
                <a:off x="3369710" y="2595353"/>
                <a:ext cx="333173" cy="19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nvGrpSpPr>
            <p:cNvPr id="64" name="组合 63"/>
            <p:cNvGrpSpPr/>
            <p:nvPr/>
          </p:nvGrpSpPr>
          <p:grpSpPr>
            <a:xfrm>
              <a:off x="3029716" y="3842143"/>
              <a:ext cx="653027" cy="314012"/>
              <a:chOff x="3029716" y="3842143"/>
              <a:chExt cx="653027" cy="314012"/>
            </a:xfrm>
          </p:grpSpPr>
          <p:grpSp>
            <p:nvGrpSpPr>
              <p:cNvPr id="99"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101"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2"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3"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4"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5"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6"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7"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8"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109"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dirty="0">
                    <a:solidFill>
                      <a:srgbClr val="000000"/>
                    </a:solidFill>
                    <a:latin typeface="+mn-lt"/>
                    <a:ea typeface="+mn-ea"/>
                  </a:endParaRPr>
                </a:p>
              </p:txBody>
            </p:sp>
          </p:grpSp>
          <p:sp>
            <p:nvSpPr>
              <p:cNvPr id="100" name="Text Box 354"/>
              <p:cNvSpPr txBox="1">
                <a:spLocks noChangeArrowheads="1"/>
              </p:cNvSpPr>
              <p:nvPr/>
            </p:nvSpPr>
            <p:spPr bwMode="auto">
              <a:xfrm>
                <a:off x="3029716" y="3904644"/>
                <a:ext cx="653027" cy="179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65" name="组合 64"/>
            <p:cNvGrpSpPr/>
            <p:nvPr/>
          </p:nvGrpSpPr>
          <p:grpSpPr>
            <a:xfrm>
              <a:off x="3711897" y="3842143"/>
              <a:ext cx="653027" cy="314012"/>
              <a:chOff x="3035340" y="3842143"/>
              <a:chExt cx="653027" cy="314012"/>
            </a:xfrm>
          </p:grpSpPr>
          <p:grpSp>
            <p:nvGrpSpPr>
              <p:cNvPr id="88" name="Group 1282"/>
              <p:cNvGrpSpPr>
                <a:grpSpLocks/>
              </p:cNvGrpSpPr>
              <p:nvPr/>
            </p:nvGrpSpPr>
            <p:grpSpPr bwMode="auto">
              <a:xfrm>
                <a:off x="3037488" y="3842143"/>
                <a:ext cx="605046" cy="314012"/>
                <a:chOff x="1680" y="240"/>
                <a:chExt cx="2529" cy="1270"/>
              </a:xfrm>
              <a:solidFill>
                <a:schemeClr val="bg1">
                  <a:lumMod val="65000"/>
                </a:schemeClr>
              </a:solidFill>
              <a:scene3d>
                <a:camera prst="orthographicFront">
                  <a:rot lat="0" lon="0" rev="0"/>
                </a:camera>
                <a:lightRig rig="contrasting" dir="t">
                  <a:rot lat="0" lon="0" rev="7800000"/>
                </a:lightRig>
              </a:scene3d>
            </p:grpSpPr>
            <p:sp>
              <p:nvSpPr>
                <p:cNvPr id="90"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1"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2"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3"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4"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5"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6"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7"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98"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dirty="0">
                    <a:solidFill>
                      <a:srgbClr val="000000"/>
                    </a:solidFill>
                    <a:latin typeface="+mn-lt"/>
                    <a:ea typeface="+mn-ea"/>
                  </a:endParaRPr>
                </a:p>
              </p:txBody>
            </p:sp>
          </p:grpSp>
          <p:sp>
            <p:nvSpPr>
              <p:cNvPr id="89" name="Text Box 354"/>
              <p:cNvSpPr txBox="1">
                <a:spLocks noChangeArrowheads="1"/>
              </p:cNvSpPr>
              <p:nvPr/>
            </p:nvSpPr>
            <p:spPr bwMode="auto">
              <a:xfrm>
                <a:off x="3035340" y="3912557"/>
                <a:ext cx="653027" cy="179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校园网</a:t>
                </a:r>
                <a:endParaRPr kumimoji="1" lang="en-US" altLang="zh-CN" sz="14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endParaRPr>
              </a:p>
            </p:txBody>
          </p:sp>
        </p:grpSp>
        <p:pic>
          <p:nvPicPr>
            <p:cNvPr id="6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7698" y="3765383"/>
              <a:ext cx="247252"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249"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2171" y="3736583"/>
              <a:ext cx="248323" cy="258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8" name="直接连接符 67"/>
            <p:cNvCxnSpPr/>
            <p:nvPr/>
          </p:nvCxnSpPr>
          <p:spPr>
            <a:xfrm>
              <a:off x="2971398" y="2701807"/>
              <a:ext cx="1123026" cy="0"/>
            </a:xfrm>
            <a:prstGeom prst="line">
              <a:avLst/>
            </a:prstGeom>
            <a:ln w="63500" cmpd="tri">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 name="组合 68"/>
            <p:cNvGrpSpPr/>
            <p:nvPr/>
          </p:nvGrpSpPr>
          <p:grpSpPr>
            <a:xfrm>
              <a:off x="2206814" y="2569365"/>
              <a:ext cx="5656498" cy="249383"/>
              <a:chOff x="2206814" y="2569365"/>
              <a:chExt cx="5656498" cy="249383"/>
            </a:xfrm>
          </p:grpSpPr>
          <p:sp>
            <p:nvSpPr>
              <p:cNvPr id="72" name="Oval 289"/>
              <p:cNvSpPr>
                <a:spLocks noChangeArrowheads="1"/>
              </p:cNvSpPr>
              <p:nvPr/>
            </p:nvSpPr>
            <p:spPr bwMode="auto">
              <a:xfrm>
                <a:off x="5400676" y="2569365"/>
                <a:ext cx="890919" cy="247364"/>
              </a:xfrm>
              <a:prstGeom prst="ellipse">
                <a:avLst/>
              </a:prstGeom>
              <a:solidFill>
                <a:srgbClr val="92D050"/>
              </a:solidFill>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73" name="Oval 327"/>
              <p:cNvSpPr>
                <a:spLocks noChangeArrowheads="1"/>
              </p:cNvSpPr>
              <p:nvPr/>
            </p:nvSpPr>
            <p:spPr bwMode="auto">
              <a:xfrm>
                <a:off x="6972393" y="2569365"/>
                <a:ext cx="890919" cy="247364"/>
              </a:xfrm>
              <a:prstGeom prst="ellipse">
                <a:avLst/>
              </a:prstGeom>
              <a:solidFill>
                <a:srgbClr val="92D050"/>
              </a:solidFill>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5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74" name="Oval 328"/>
              <p:cNvSpPr>
                <a:spLocks noChangeArrowheads="1"/>
              </p:cNvSpPr>
              <p:nvPr/>
            </p:nvSpPr>
            <p:spPr bwMode="auto">
              <a:xfrm>
                <a:off x="2206814" y="2569365"/>
                <a:ext cx="890919" cy="247364"/>
              </a:xfrm>
              <a:prstGeom prst="ellipse">
                <a:avLst/>
              </a:prstGeom>
              <a:solidFill>
                <a:srgbClr val="92D050"/>
              </a:solidFill>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5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sp>
            <p:nvSpPr>
              <p:cNvPr id="75" name="Oval 329"/>
              <p:cNvSpPr>
                <a:spLocks noChangeArrowheads="1"/>
              </p:cNvSpPr>
              <p:nvPr/>
            </p:nvSpPr>
            <p:spPr bwMode="auto">
              <a:xfrm>
                <a:off x="3889896" y="2569365"/>
                <a:ext cx="890919" cy="247364"/>
              </a:xfrm>
              <a:prstGeom prst="ellipse">
                <a:avLst/>
              </a:prstGeom>
              <a:solidFill>
                <a:srgbClr val="92D050"/>
              </a:solidFill>
              <a:ln>
                <a:headEnd/>
                <a:tailEnd/>
              </a:ln>
            </p:spPr>
            <p:style>
              <a:lnRef idx="1">
                <a:schemeClr val="accent3"/>
              </a:lnRef>
              <a:fillRef idx="3">
                <a:schemeClr val="accent3"/>
              </a:fillRef>
              <a:effectRef idx="2">
                <a:schemeClr val="accent3"/>
              </a:effectRef>
              <a:fontRef idx="minor">
                <a:schemeClr val="lt1"/>
              </a:fontRef>
            </p:style>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地区 </a:t>
                </a:r>
                <a:r>
                  <a:rPr kumimoji="1" lang="zh-CN" altLang="en-US" sz="5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en-US" altLang="zh-CN" sz="16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ISP</a:t>
                </a:r>
              </a:p>
            </p:txBody>
          </p:sp>
          <p:grpSp>
            <p:nvGrpSpPr>
              <p:cNvPr id="76" name="组合 75"/>
              <p:cNvGrpSpPr/>
              <p:nvPr/>
            </p:nvGrpSpPr>
            <p:grpSpPr>
              <a:xfrm>
                <a:off x="3351808" y="2589558"/>
                <a:ext cx="373094" cy="229190"/>
                <a:chOff x="3351808" y="2589558"/>
                <a:chExt cx="373094" cy="229190"/>
              </a:xfrm>
            </p:grpSpPr>
            <p:grpSp>
              <p:nvGrpSpPr>
                <p:cNvPr id="77" name="Group 1282"/>
                <p:cNvGrpSpPr>
                  <a:grpSpLocks/>
                </p:cNvGrpSpPr>
                <p:nvPr/>
              </p:nvGrpSpPr>
              <p:grpSpPr bwMode="auto">
                <a:xfrm>
                  <a:off x="3351808" y="2589558"/>
                  <a:ext cx="342966" cy="229190"/>
                  <a:chOff x="1680" y="240"/>
                  <a:chExt cx="2529" cy="1270"/>
                </a:xfrm>
                <a:solidFill>
                  <a:srgbClr val="FFC000"/>
                </a:solidFill>
                <a:scene3d>
                  <a:camera prst="orthographicFront">
                    <a:rot lat="0" lon="0" rev="0"/>
                  </a:camera>
                  <a:lightRig rig="contrasting" dir="t">
                    <a:rot lat="0" lon="0" rev="7800000"/>
                  </a:lightRig>
                </a:scene3d>
              </p:grpSpPr>
              <p:sp>
                <p:nvSpPr>
                  <p:cNvPr id="79" name="Oval 1283"/>
                  <p:cNvSpPr>
                    <a:spLocks noChangeArrowheads="1"/>
                  </p:cNvSpPr>
                  <p:nvPr/>
                </p:nvSpPr>
                <p:spPr bwMode="auto">
                  <a:xfrm>
                    <a:off x="2554" y="240"/>
                    <a:ext cx="1088"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0" name="Oval 1284"/>
                  <p:cNvSpPr>
                    <a:spLocks noChangeArrowheads="1"/>
                  </p:cNvSpPr>
                  <p:nvPr/>
                </p:nvSpPr>
                <p:spPr bwMode="auto">
                  <a:xfrm>
                    <a:off x="1941" y="381"/>
                    <a:ext cx="827" cy="513"/>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1" name="Oval 1285"/>
                  <p:cNvSpPr>
                    <a:spLocks noChangeArrowheads="1"/>
                  </p:cNvSpPr>
                  <p:nvPr/>
                </p:nvSpPr>
                <p:spPr bwMode="auto">
                  <a:xfrm>
                    <a:off x="1680" y="702"/>
                    <a:ext cx="552" cy="411"/>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2" name="Oval 1286"/>
                  <p:cNvSpPr>
                    <a:spLocks noChangeArrowheads="1"/>
                  </p:cNvSpPr>
                  <p:nvPr/>
                </p:nvSpPr>
                <p:spPr bwMode="auto">
                  <a:xfrm>
                    <a:off x="1849" y="894"/>
                    <a:ext cx="842" cy="450"/>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3" name="Oval 1287"/>
                  <p:cNvSpPr>
                    <a:spLocks noChangeArrowheads="1"/>
                  </p:cNvSpPr>
                  <p:nvPr/>
                </p:nvSpPr>
                <p:spPr bwMode="auto">
                  <a:xfrm>
                    <a:off x="2462" y="971"/>
                    <a:ext cx="1272" cy="539"/>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4" name="Oval 1288"/>
                  <p:cNvSpPr>
                    <a:spLocks noChangeArrowheads="1"/>
                  </p:cNvSpPr>
                  <p:nvPr/>
                </p:nvSpPr>
                <p:spPr bwMode="auto">
                  <a:xfrm>
                    <a:off x="3289" y="394"/>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5" name="Oval 1289"/>
                  <p:cNvSpPr>
                    <a:spLocks noChangeArrowheads="1"/>
                  </p:cNvSpPr>
                  <p:nvPr/>
                </p:nvSpPr>
                <p:spPr bwMode="auto">
                  <a:xfrm>
                    <a:off x="3412" y="663"/>
                    <a:ext cx="797" cy="39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6" name="Oval 1290"/>
                  <p:cNvSpPr>
                    <a:spLocks noChangeArrowheads="1"/>
                  </p:cNvSpPr>
                  <p:nvPr/>
                </p:nvSpPr>
                <p:spPr bwMode="auto">
                  <a:xfrm>
                    <a:off x="3335" y="753"/>
                    <a:ext cx="797" cy="668"/>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a:solidFill>
                        <a:srgbClr val="000000"/>
                      </a:solidFill>
                      <a:latin typeface="+mn-lt"/>
                      <a:ea typeface="+mn-ea"/>
                    </a:endParaRPr>
                  </a:p>
                </p:txBody>
              </p:sp>
              <p:sp>
                <p:nvSpPr>
                  <p:cNvPr id="87" name="Oval 1291"/>
                  <p:cNvSpPr>
                    <a:spLocks noChangeArrowheads="1"/>
                  </p:cNvSpPr>
                  <p:nvPr/>
                </p:nvSpPr>
                <p:spPr bwMode="auto">
                  <a:xfrm>
                    <a:off x="2140" y="548"/>
                    <a:ext cx="1640" cy="667"/>
                  </a:xfrm>
                  <a:prstGeom prst="ellipse">
                    <a:avLst/>
                  </a:prstGeom>
                  <a:grpFill/>
                  <a:ln>
                    <a:noFill/>
                  </a:ln>
                  <a:extLst/>
                </p:spPr>
                <p:style>
                  <a:lnRef idx="2">
                    <a:schemeClr val="accent1">
                      <a:shade val="50000"/>
                    </a:schemeClr>
                  </a:lnRef>
                  <a:fillRef idx="1">
                    <a:schemeClr val="accent1"/>
                  </a:fillRef>
                  <a:effectRef idx="0">
                    <a:schemeClr val="accent1"/>
                  </a:effectRef>
                  <a:fontRef idx="minor">
                    <a:schemeClr val="lt1"/>
                  </a:fontRef>
                </p:style>
                <p:txBody>
                  <a:bodyPr/>
                  <a:lstStyle/>
                  <a:p>
                    <a:pPr fontAlgn="auto">
                      <a:spcBef>
                        <a:spcPts val="0"/>
                      </a:spcBef>
                      <a:spcAft>
                        <a:spcPts val="0"/>
                      </a:spcAft>
                      <a:defRPr/>
                    </a:pPr>
                    <a:endParaRPr lang="zh-CN" altLang="en-US" sz="3200" b="1" dirty="0">
                      <a:solidFill>
                        <a:srgbClr val="000000"/>
                      </a:solidFill>
                      <a:latin typeface="+mn-lt"/>
                      <a:ea typeface="+mn-ea"/>
                    </a:endParaRPr>
                  </a:p>
                </p:txBody>
              </p:sp>
            </p:grpSp>
            <p:sp>
              <p:nvSpPr>
                <p:cNvPr id="78" name="Text Box 354"/>
                <p:cNvSpPr txBox="1">
                  <a:spLocks noChangeArrowheads="1"/>
                </p:cNvSpPr>
                <p:nvPr/>
              </p:nvSpPr>
              <p:spPr bwMode="auto">
                <a:xfrm>
                  <a:off x="3391730" y="2617678"/>
                  <a:ext cx="333172" cy="19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smtClean="0">
                      <a:ln>
                        <a:noFill/>
                      </a:ln>
                      <a:solidFill>
                        <a:srgbClr val="000000"/>
                      </a:solidFill>
                      <a:effectLst/>
                      <a:uLnTx/>
                      <a:uFillTx/>
                      <a:latin typeface="微软雅黑" panose="020B0503020204020204" pitchFamily="34" charset="-122"/>
                      <a:ea typeface="微软雅黑" panose="020B0503020204020204" pitchFamily="34" charset="-122"/>
                    </a:rPr>
                    <a:t>IXP</a:t>
                  </a:r>
                </a:p>
              </p:txBody>
            </p:sp>
          </p:grpSp>
        </p:grpSp>
        <p:sp>
          <p:nvSpPr>
            <p:cNvPr id="70" name="Freeform 272"/>
            <p:cNvSpPr>
              <a:spLocks/>
            </p:cNvSpPr>
            <p:nvPr/>
          </p:nvSpPr>
          <p:spPr bwMode="auto">
            <a:xfrm>
              <a:off x="5348146" y="2212958"/>
              <a:ext cx="2454231" cy="1592218"/>
            </a:xfrm>
            <a:custGeom>
              <a:avLst/>
              <a:gdLst>
                <a:gd name="T0" fmla="*/ 0 w 2336"/>
                <a:gd name="T1" fmla="*/ 2147483647 h 1577"/>
                <a:gd name="T2" fmla="*/ 632558359 w 2336"/>
                <a:gd name="T3" fmla="*/ 2147483647 h 1577"/>
                <a:gd name="T4" fmla="*/ 2001004020 w 2336"/>
                <a:gd name="T5" fmla="*/ 627519829 h 1577"/>
                <a:gd name="T6" fmla="*/ 2147483647 w 2336"/>
                <a:gd name="T7" fmla="*/ 68045030 h 1577"/>
                <a:gd name="T8" fmla="*/ 2147483647 w 2336"/>
                <a:gd name="T9" fmla="*/ 1043344970 h 1577"/>
                <a:gd name="T10" fmla="*/ 2147483647 w 2336"/>
                <a:gd name="T11" fmla="*/ 2147483647 h 1577"/>
                <a:gd name="T12" fmla="*/ 2147483647 w 2336"/>
                <a:gd name="T13" fmla="*/ 2147483647 h 1577"/>
                <a:gd name="T14" fmla="*/ 0 60000 65536"/>
                <a:gd name="T15" fmla="*/ 0 60000 65536"/>
                <a:gd name="T16" fmla="*/ 0 60000 65536"/>
                <a:gd name="T17" fmla="*/ 0 60000 65536"/>
                <a:gd name="T18" fmla="*/ 0 60000 65536"/>
                <a:gd name="T19" fmla="*/ 0 60000 65536"/>
                <a:gd name="T20" fmla="*/ 0 60000 65536"/>
                <a:gd name="T21" fmla="*/ 0 w 2336"/>
                <a:gd name="T22" fmla="*/ 0 h 1577"/>
                <a:gd name="T23" fmla="*/ 2336 w 2336"/>
                <a:gd name="T24" fmla="*/ 1577 h 1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36" h="1577">
                  <a:moveTo>
                    <a:pt x="0" y="1577"/>
                  </a:moveTo>
                  <a:cubicBezTo>
                    <a:pt x="41" y="1491"/>
                    <a:pt x="119" y="1283"/>
                    <a:pt x="251" y="1062"/>
                  </a:cubicBezTo>
                  <a:cubicBezTo>
                    <a:pt x="383" y="841"/>
                    <a:pt x="624" y="421"/>
                    <a:pt x="794" y="249"/>
                  </a:cubicBezTo>
                  <a:cubicBezTo>
                    <a:pt x="964" y="77"/>
                    <a:pt x="1130" y="0"/>
                    <a:pt x="1274" y="27"/>
                  </a:cubicBezTo>
                  <a:cubicBezTo>
                    <a:pt x="1418" y="54"/>
                    <a:pt x="1517" y="236"/>
                    <a:pt x="1661" y="414"/>
                  </a:cubicBezTo>
                  <a:cubicBezTo>
                    <a:pt x="1805" y="592"/>
                    <a:pt x="2026" y="903"/>
                    <a:pt x="2138" y="1095"/>
                  </a:cubicBezTo>
                  <a:cubicBezTo>
                    <a:pt x="2250" y="1287"/>
                    <a:pt x="2295" y="1470"/>
                    <a:pt x="2336" y="1569"/>
                  </a:cubicBezTo>
                </a:path>
              </a:pathLst>
            </a:custGeom>
            <a:noFill/>
            <a:ln w="76200" cmpd="sng">
              <a:solidFill>
                <a:srgbClr val="CC0099">
                  <a:alpha val="60000"/>
                </a:srgbClr>
              </a:solidFill>
              <a:round/>
              <a:headEnd type="triangle" w="sm" len="med"/>
              <a:tailEnd type="triangle" w="sm" len="med"/>
            </a:ln>
            <a:extLst>
              <a:ext uri="{909E8E84-426E-40DD-AFC4-6F175D3DCCD1}">
                <a14:hiddenFill xmlns:a14="http://schemas.microsoft.com/office/drawing/2010/main">
                  <a:solidFill>
                    <a:srgbClr val="FFFFFF"/>
                  </a:solidFill>
                </a14:hiddenFill>
              </a:ext>
            </a:extLst>
          </p:spPr>
          <p:txBody>
            <a:bodyPr/>
            <a:lstStyle/>
            <a:p>
              <a:endParaRPr kumimoji="1" lang="zh-CN" altLang="en-US" sz="2400" b="1" smtClean="0">
                <a:solidFill>
                  <a:srgbClr val="000000"/>
                </a:solidFill>
                <a:latin typeface="微软雅黑" panose="020B0503020204020204" pitchFamily="34" charset="-122"/>
                <a:ea typeface="微软雅黑" panose="020B0503020204020204" pitchFamily="34" charset="-122"/>
              </a:endParaRPr>
            </a:p>
          </p:txBody>
        </p:sp>
        <p:sp>
          <p:nvSpPr>
            <p:cNvPr id="71" name="Line 411"/>
            <p:cNvSpPr>
              <a:spLocks noChangeShapeType="1"/>
            </p:cNvSpPr>
            <p:nvPr/>
          </p:nvSpPr>
          <p:spPr bwMode="auto">
            <a:xfrm flipV="1">
              <a:off x="6032980" y="2771110"/>
              <a:ext cx="1191393" cy="0"/>
            </a:xfrm>
            <a:prstGeom prst="line">
              <a:avLst/>
            </a:prstGeom>
            <a:ln w="50800">
              <a:solidFill>
                <a:srgbClr val="0000CC">
                  <a:alpha val="60000"/>
                </a:srgbClr>
              </a:solidFill>
              <a:prstDash val="sysDot"/>
              <a:headEnd type="triangle" w="sm" len="lg"/>
              <a:tailEnd type="triangle" w="sm" len="lg"/>
            </a:ln>
          </p:spPr>
          <p:style>
            <a:lnRef idx="1">
              <a:schemeClr val="accent3"/>
            </a:lnRef>
            <a:fillRef idx="3">
              <a:schemeClr val="accent3"/>
            </a:fillRef>
            <a:effectRef idx="2">
              <a:schemeClr val="accent3"/>
            </a:effectRef>
            <a:fontRef idx="minor">
              <a:schemeClr val="lt1"/>
            </a:fontRef>
          </p:style>
          <p:txBody>
            <a:bodyPr/>
            <a:lstStyle/>
            <a:p>
              <a:endParaRPr kumimoji="1" lang="zh-CN" altLang="en-US" sz="2400" b="1" smtClean="0">
                <a:solidFill>
                  <a:srgbClr val="0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7492584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CN" dirty="0"/>
              <a:t>1.2 </a:t>
            </a:r>
            <a:r>
              <a:rPr lang="zh-CN" altLang="en-US" dirty="0" smtClean="0"/>
              <a:t>互联网</a:t>
            </a:r>
            <a:r>
              <a:rPr lang="zh-CN" altLang="en-US" dirty="0"/>
              <a:t>概述</a:t>
            </a:r>
          </a:p>
        </p:txBody>
      </p:sp>
      <p:sp>
        <p:nvSpPr>
          <p:cNvPr id="10" name="内容占位符 1"/>
          <p:cNvSpPr>
            <a:spLocks noGrp="1"/>
          </p:cNvSpPr>
          <p:nvPr>
            <p:ph sz="quarter" idx="4294967295"/>
          </p:nvPr>
        </p:nvSpPr>
        <p:spPr>
          <a:xfrm>
            <a:off x="466344" y="1480445"/>
            <a:ext cx="7141824" cy="3748755"/>
          </a:xfrm>
          <a:prstGeom prst="rect">
            <a:avLst/>
          </a:prstGeom>
        </p:spPr>
        <p:txBody>
          <a:bodyPr/>
          <a:lstStyle/>
          <a:p>
            <a:r>
              <a:rPr lang="zh-CN" altLang="en-US" sz="2800" b="1" dirty="0">
                <a:solidFill>
                  <a:srgbClr val="C00000"/>
                </a:solidFill>
              </a:rPr>
              <a:t>万维网 </a:t>
            </a:r>
            <a:r>
              <a:rPr lang="en-US" altLang="zh-CN" sz="2800" b="1" dirty="0">
                <a:solidFill>
                  <a:srgbClr val="C00000"/>
                </a:solidFill>
              </a:rPr>
              <a:t>WWW  </a:t>
            </a:r>
            <a:r>
              <a:rPr lang="en-US" altLang="zh-CN" sz="2800" b="1" dirty="0"/>
              <a:t>(World Wide Web</a:t>
            </a:r>
            <a:r>
              <a:rPr lang="en-US" altLang="zh-CN" sz="2800" b="1" dirty="0" smtClean="0"/>
              <a:t>)</a:t>
            </a:r>
            <a:r>
              <a:rPr lang="zh-CN" altLang="en-US" sz="2800" b="1" dirty="0" smtClean="0"/>
              <a:t>：</a:t>
            </a:r>
            <a:endParaRPr lang="en-US" altLang="zh-CN" sz="2800" b="1" dirty="0" smtClean="0"/>
          </a:p>
          <a:p>
            <a:pPr lvl="1"/>
            <a:r>
              <a:rPr lang="en-US" altLang="zh-CN" sz="2400" b="1" dirty="0" smtClean="0"/>
              <a:t>20</a:t>
            </a:r>
            <a:r>
              <a:rPr lang="zh-CN" altLang="en-US" sz="2400" b="1" dirty="0" smtClean="0"/>
              <a:t>世纪</a:t>
            </a:r>
            <a:r>
              <a:rPr lang="en-US" altLang="zh-CN" sz="2400" b="1" dirty="0" smtClean="0"/>
              <a:t>90</a:t>
            </a:r>
            <a:r>
              <a:rPr lang="zh-CN" altLang="en-US" sz="2400" b="1" dirty="0" smtClean="0"/>
              <a:t>年代由</a:t>
            </a:r>
            <a:r>
              <a:rPr lang="zh-CN" altLang="en-US" sz="2400" b="1" dirty="0"/>
              <a:t>欧洲原子核研究组织 </a:t>
            </a:r>
            <a:r>
              <a:rPr lang="en-US" altLang="zh-CN" sz="2400" b="1" dirty="0"/>
              <a:t>CERN </a:t>
            </a:r>
            <a:r>
              <a:rPr lang="zh-CN" altLang="en-US" sz="2400" b="1" dirty="0"/>
              <a:t>开发。</a:t>
            </a:r>
          </a:p>
          <a:p>
            <a:pPr lvl="1"/>
            <a:r>
              <a:rPr lang="zh-CN" altLang="en-US" sz="2400" b="1" dirty="0"/>
              <a:t>成为互联网指数级增长的主要驱动力</a:t>
            </a:r>
            <a:r>
              <a:rPr lang="zh-CN" altLang="en-US" sz="2400" b="1" dirty="0" smtClean="0"/>
              <a:t>。</a:t>
            </a:r>
            <a:endParaRPr lang="en-US" altLang="zh-CN" sz="2400" b="1" dirty="0" smtClean="0"/>
          </a:p>
          <a:p>
            <a:pPr lvl="1"/>
            <a:r>
              <a:rPr lang="zh-CN" altLang="en-US" sz="2400" b="1" dirty="0" smtClean="0"/>
              <a:t>互联网是基础设施，万维网只是运行在互联网上的一个应用。</a:t>
            </a:r>
            <a:endParaRPr lang="zh-CN" altLang="en-US" sz="2400" b="1" dirty="0"/>
          </a:p>
        </p:txBody>
      </p:sp>
      <p:pic>
        <p:nvPicPr>
          <p:cNvPr id="14" name="图片 13"/>
          <p:cNvPicPr>
            <a:picLocks noChangeAspect="1"/>
          </p:cNvPicPr>
          <p:nvPr/>
        </p:nvPicPr>
        <p:blipFill>
          <a:blip r:embed="rId3"/>
          <a:stretch>
            <a:fillRect/>
          </a:stretch>
        </p:blipFill>
        <p:spPr>
          <a:xfrm>
            <a:off x="7536160" y="1412776"/>
            <a:ext cx="4414599" cy="3600400"/>
          </a:xfrm>
          <a:prstGeom prst="rect">
            <a:avLst/>
          </a:prstGeom>
        </p:spPr>
      </p:pic>
    </p:spTree>
    <p:extLst>
      <p:ext uri="{BB962C8B-B14F-4D97-AF65-F5344CB8AC3E}">
        <p14:creationId xmlns:p14="http://schemas.microsoft.com/office/powerpoint/2010/main" val="323441538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smtClean="0"/>
              <a:t>互联网</a:t>
            </a:r>
            <a:r>
              <a:rPr lang="zh-CN" altLang="en-US" dirty="0"/>
              <a:t>概述</a:t>
            </a:r>
          </a:p>
        </p:txBody>
      </p:sp>
      <p:sp>
        <p:nvSpPr>
          <p:cNvPr id="3" name="内容占位符 2"/>
          <p:cNvSpPr>
            <a:spLocks noGrp="1"/>
          </p:cNvSpPr>
          <p:nvPr>
            <p:ph idx="1"/>
          </p:nvPr>
        </p:nvSpPr>
        <p:spPr>
          <a:xfrm>
            <a:off x="3359696" y="1196752"/>
            <a:ext cx="4320480" cy="648072"/>
          </a:xfrm>
        </p:spPr>
        <p:txBody>
          <a:bodyPr/>
          <a:lstStyle/>
          <a:p>
            <a:pPr indent="0">
              <a:buNone/>
            </a:pPr>
            <a:r>
              <a:rPr lang="zh-CN" altLang="en-US" dirty="0"/>
              <a:t>互联网的标准化工作</a:t>
            </a:r>
          </a:p>
        </p:txBody>
      </p:sp>
      <p:grpSp>
        <p:nvGrpSpPr>
          <p:cNvPr id="4" name="Group 44"/>
          <p:cNvGrpSpPr>
            <a:grpSpLocks/>
          </p:cNvGrpSpPr>
          <p:nvPr/>
        </p:nvGrpSpPr>
        <p:grpSpPr bwMode="auto">
          <a:xfrm>
            <a:off x="2171492" y="2034389"/>
            <a:ext cx="7861053" cy="3473450"/>
            <a:chOff x="274052" y="1785926"/>
            <a:chExt cx="8926935" cy="3673484"/>
          </a:xfrm>
        </p:grpSpPr>
        <p:grpSp>
          <p:nvGrpSpPr>
            <p:cNvPr id="5" name="Group 38"/>
            <p:cNvGrpSpPr>
              <a:grpSpLocks/>
            </p:cNvGrpSpPr>
            <p:nvPr/>
          </p:nvGrpSpPr>
          <p:grpSpPr bwMode="auto">
            <a:xfrm>
              <a:off x="274052" y="1785926"/>
              <a:ext cx="5601435" cy="3614737"/>
              <a:chOff x="274052" y="2262188"/>
              <a:chExt cx="5601435" cy="3614737"/>
            </a:xfrm>
          </p:grpSpPr>
          <p:grpSp>
            <p:nvGrpSpPr>
              <p:cNvPr id="28" name="Group 37"/>
              <p:cNvGrpSpPr>
                <a:grpSpLocks/>
              </p:cNvGrpSpPr>
              <p:nvPr/>
            </p:nvGrpSpPr>
            <p:grpSpPr bwMode="auto">
              <a:xfrm>
                <a:off x="274052" y="3576638"/>
                <a:ext cx="3262658" cy="2300287"/>
                <a:chOff x="274052" y="3576638"/>
                <a:chExt cx="3262658" cy="2300287"/>
              </a:xfrm>
            </p:grpSpPr>
            <p:sp>
              <p:nvSpPr>
                <p:cNvPr id="34" name="Rectangle 3"/>
                <p:cNvSpPr>
                  <a:spLocks noChangeArrowheads="1"/>
                </p:cNvSpPr>
                <p:nvPr/>
              </p:nvSpPr>
              <p:spPr bwMode="auto">
                <a:xfrm>
                  <a:off x="323850" y="3576638"/>
                  <a:ext cx="2952750" cy="2300287"/>
                </a:xfrm>
                <a:prstGeom prst="rect">
                  <a:avLst/>
                </a:prstGeom>
                <a:solidFill>
                  <a:srgbClr val="CCECFF"/>
                </a:solidFill>
                <a:ln w="9525">
                  <a:solidFill>
                    <a:schemeClr val="tx1"/>
                  </a:solidFill>
                  <a:prstDash val="sysDot"/>
                  <a:miter lim="800000"/>
                  <a:headEnd/>
                  <a:tailEnd/>
                </a:ln>
              </p:spPr>
              <p:txBody>
                <a:bodyPr wrap="none" anchor="ctr"/>
                <a:lstStyle/>
                <a:p>
                  <a:pPr eaLnBrk="1" hangingPunct="1"/>
                  <a:endParaRPr lang="en-US" altLang="zh-CN"/>
                </a:p>
              </p:txBody>
            </p:sp>
            <p:sp>
              <p:nvSpPr>
                <p:cNvPr id="35" name="Line 6"/>
                <p:cNvSpPr>
                  <a:spLocks noChangeShapeType="1"/>
                </p:cNvSpPr>
                <p:nvPr/>
              </p:nvSpPr>
              <p:spPr bwMode="auto">
                <a:xfrm>
                  <a:off x="2068513" y="4727575"/>
                  <a:ext cx="615950" cy="5746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8"/>
                <p:cNvSpPr>
                  <a:spLocks noChangeShapeType="1"/>
                </p:cNvSpPr>
                <p:nvPr/>
              </p:nvSpPr>
              <p:spPr bwMode="auto">
                <a:xfrm flipH="1">
                  <a:off x="993775" y="4727575"/>
                  <a:ext cx="614363" cy="5746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Rectangle 10"/>
                <p:cNvSpPr>
                  <a:spLocks noChangeArrowheads="1"/>
                </p:cNvSpPr>
                <p:nvPr/>
              </p:nvSpPr>
              <p:spPr bwMode="auto">
                <a:xfrm>
                  <a:off x="478564" y="4140200"/>
                  <a:ext cx="2667861" cy="657225"/>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zh-CN" altLang="en-US" sz="2000" dirty="0">
                      <a:solidFill>
                        <a:srgbClr val="333399"/>
                      </a:solidFill>
                      <a:ea typeface="黑体" pitchFamily="49" charset="-122"/>
                    </a:rPr>
                    <a:t>互联网研究指导小组</a:t>
                  </a:r>
                </a:p>
                <a:p>
                  <a:pPr algn="ctr" eaLnBrk="1" hangingPunct="1"/>
                  <a:r>
                    <a:rPr kumimoji="1" lang="zh-CN" altLang="en-US" sz="2000" dirty="0">
                      <a:solidFill>
                        <a:srgbClr val="333399"/>
                      </a:solidFill>
                      <a:ea typeface="黑体" pitchFamily="49" charset="-122"/>
                    </a:rPr>
                    <a:t>（</a:t>
                  </a:r>
                  <a:r>
                    <a:rPr kumimoji="1" lang="en-US" altLang="zh-CN" sz="2000" dirty="0">
                      <a:solidFill>
                        <a:srgbClr val="333399"/>
                      </a:solidFill>
                      <a:ea typeface="黑体" pitchFamily="49" charset="-122"/>
                    </a:rPr>
                    <a:t>IRSG</a:t>
                  </a:r>
                  <a:r>
                    <a:rPr kumimoji="1" lang="zh-CN" altLang="en-US" sz="2000" dirty="0">
                      <a:solidFill>
                        <a:srgbClr val="333399"/>
                      </a:solidFill>
                      <a:ea typeface="黑体" pitchFamily="49" charset="-122"/>
                    </a:rPr>
                    <a:t>）</a:t>
                  </a:r>
                  <a:endParaRPr kumimoji="1" lang="en-US" altLang="zh-CN" sz="2000" dirty="0">
                    <a:solidFill>
                      <a:srgbClr val="333399"/>
                    </a:solidFill>
                    <a:ea typeface="黑体" pitchFamily="49" charset="-122"/>
                  </a:endParaRPr>
                </a:p>
              </p:txBody>
            </p:sp>
            <p:sp>
              <p:nvSpPr>
                <p:cNvPr id="38" name="Text Box 12"/>
                <p:cNvSpPr txBox="1">
                  <a:spLocks noChangeArrowheads="1"/>
                </p:cNvSpPr>
                <p:nvPr/>
              </p:nvSpPr>
              <p:spPr bwMode="auto">
                <a:xfrm>
                  <a:off x="274052" y="3597428"/>
                  <a:ext cx="3262658" cy="4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ea typeface="黑体" pitchFamily="49" charset="-122"/>
                    </a:rPr>
                    <a:t>互联网研究部（</a:t>
                  </a:r>
                  <a:r>
                    <a:rPr kumimoji="1" lang="en-US" altLang="zh-CN" sz="2000" dirty="0">
                      <a:solidFill>
                        <a:srgbClr val="333399"/>
                      </a:solidFill>
                      <a:ea typeface="黑体" pitchFamily="49" charset="-122"/>
                    </a:rPr>
                    <a:t>IRTF</a:t>
                  </a:r>
                  <a:r>
                    <a:rPr kumimoji="1" lang="zh-CN" altLang="en-US" sz="2000" dirty="0">
                      <a:solidFill>
                        <a:srgbClr val="333399"/>
                      </a:solidFill>
                      <a:ea typeface="黑体" pitchFamily="49" charset="-122"/>
                    </a:rPr>
                    <a:t>）</a:t>
                  </a:r>
                  <a:r>
                    <a:rPr kumimoji="1" lang="en-US" altLang="zh-CN" sz="2000" dirty="0">
                      <a:solidFill>
                        <a:srgbClr val="333399"/>
                      </a:solidFill>
                      <a:ea typeface="黑体" pitchFamily="49" charset="-122"/>
                    </a:rPr>
                    <a:t> </a:t>
                  </a:r>
                </a:p>
              </p:txBody>
            </p:sp>
            <p:sp>
              <p:nvSpPr>
                <p:cNvPr id="39" name="Line 14"/>
                <p:cNvSpPr>
                  <a:spLocks noChangeShapeType="1"/>
                </p:cNvSpPr>
                <p:nvPr/>
              </p:nvSpPr>
              <p:spPr bwMode="auto">
                <a:xfrm flipV="1">
                  <a:off x="1908175" y="3716338"/>
                  <a:ext cx="1511300" cy="41275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Rectangle 20"/>
                <p:cNvSpPr>
                  <a:spLocks noChangeArrowheads="1"/>
                </p:cNvSpPr>
                <p:nvPr/>
              </p:nvSpPr>
              <p:spPr bwMode="auto">
                <a:xfrm>
                  <a:off x="763588" y="5302250"/>
                  <a:ext cx="460375" cy="409575"/>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en-US" altLang="zh-CN" sz="2000">
                      <a:solidFill>
                        <a:srgbClr val="333399"/>
                      </a:solidFill>
                      <a:ea typeface="黑体" pitchFamily="49" charset="-122"/>
                    </a:rPr>
                    <a:t>RG</a:t>
                  </a:r>
                </a:p>
              </p:txBody>
            </p:sp>
            <p:sp>
              <p:nvSpPr>
                <p:cNvPr id="41" name="Rectangle 28"/>
                <p:cNvSpPr>
                  <a:spLocks noChangeArrowheads="1"/>
                </p:cNvSpPr>
                <p:nvPr/>
              </p:nvSpPr>
              <p:spPr bwMode="auto">
                <a:xfrm>
                  <a:off x="2452688" y="5302250"/>
                  <a:ext cx="461962" cy="409575"/>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en-US" altLang="zh-CN" sz="2000">
                      <a:solidFill>
                        <a:srgbClr val="333399"/>
                      </a:solidFill>
                      <a:ea typeface="黑体" pitchFamily="49" charset="-122"/>
                    </a:rPr>
                    <a:t>RG</a:t>
                  </a:r>
                </a:p>
              </p:txBody>
            </p:sp>
            <p:sp>
              <p:nvSpPr>
                <p:cNvPr id="42" name="Text Box 29"/>
                <p:cNvSpPr txBox="1">
                  <a:spLocks noChangeArrowheads="1"/>
                </p:cNvSpPr>
                <p:nvPr/>
              </p:nvSpPr>
              <p:spPr bwMode="auto">
                <a:xfrm>
                  <a:off x="1547813" y="5264150"/>
                  <a:ext cx="500961" cy="4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333399"/>
                      </a:solidFill>
                      <a:ea typeface="黑体" pitchFamily="49" charset="-122"/>
                    </a:rPr>
                    <a:t>…</a:t>
                  </a:r>
                </a:p>
              </p:txBody>
            </p:sp>
          </p:grpSp>
          <p:grpSp>
            <p:nvGrpSpPr>
              <p:cNvPr id="29" name="Group 36"/>
              <p:cNvGrpSpPr>
                <a:grpSpLocks/>
              </p:cNvGrpSpPr>
              <p:nvPr/>
            </p:nvGrpSpPr>
            <p:grpSpPr bwMode="auto">
              <a:xfrm>
                <a:off x="2996421" y="2262188"/>
                <a:ext cx="2879066" cy="1492561"/>
                <a:chOff x="2996421" y="2262188"/>
                <a:chExt cx="2879066" cy="1492561"/>
              </a:xfrm>
            </p:grpSpPr>
            <p:sp>
              <p:nvSpPr>
                <p:cNvPr id="30" name="Rectangle 5"/>
                <p:cNvSpPr>
                  <a:spLocks noChangeArrowheads="1"/>
                </p:cNvSpPr>
                <p:nvPr/>
              </p:nvSpPr>
              <p:spPr bwMode="auto">
                <a:xfrm>
                  <a:off x="2996421" y="2262188"/>
                  <a:ext cx="2879066" cy="493712"/>
                </a:xfrm>
                <a:prstGeom prst="rect">
                  <a:avLst/>
                </a:prstGeom>
                <a:solidFill>
                  <a:srgbClr val="FFFF99"/>
                </a:solidFill>
                <a:ln w="9525">
                  <a:solidFill>
                    <a:schemeClr val="tx1"/>
                  </a:solidFill>
                  <a:miter lim="800000"/>
                  <a:headEnd/>
                  <a:tailEnd/>
                </a:ln>
              </p:spPr>
              <p:txBody>
                <a:bodyPr wrap="none" anchor="ctr"/>
                <a:lstStyle/>
                <a:p>
                  <a:pPr algn="ctr" eaLnBrk="1" hangingPunct="1"/>
                  <a:r>
                    <a:rPr kumimoji="1" lang="zh-CN" altLang="en-US" sz="2000" dirty="0">
                      <a:solidFill>
                        <a:srgbClr val="333399"/>
                      </a:solidFill>
                      <a:ea typeface="黑体" pitchFamily="49" charset="-122"/>
                    </a:rPr>
                    <a:t>互联网协会 （</a:t>
                  </a:r>
                  <a:r>
                    <a:rPr kumimoji="1" lang="en-US" altLang="zh-CN" sz="2000" dirty="0">
                      <a:solidFill>
                        <a:srgbClr val="333399"/>
                      </a:solidFill>
                      <a:ea typeface="黑体" pitchFamily="49" charset="-122"/>
                    </a:rPr>
                    <a:t>ISOC</a:t>
                  </a:r>
                  <a:r>
                    <a:rPr kumimoji="1" lang="zh-CN" altLang="en-US" sz="2000" dirty="0">
                      <a:solidFill>
                        <a:srgbClr val="333399"/>
                      </a:solidFill>
                      <a:ea typeface="黑体" pitchFamily="49" charset="-122"/>
                    </a:rPr>
                    <a:t>）</a:t>
                  </a:r>
                  <a:endParaRPr kumimoji="1" lang="en-US" altLang="zh-CN" sz="2000" dirty="0">
                    <a:solidFill>
                      <a:srgbClr val="333399"/>
                    </a:solidFill>
                    <a:ea typeface="黑体" pitchFamily="49" charset="-122"/>
                  </a:endParaRPr>
                </a:p>
              </p:txBody>
            </p:sp>
            <p:sp>
              <p:nvSpPr>
                <p:cNvPr id="31" name="Line 7"/>
                <p:cNvSpPr>
                  <a:spLocks noChangeShapeType="1"/>
                </p:cNvSpPr>
                <p:nvPr/>
              </p:nvSpPr>
              <p:spPr bwMode="auto">
                <a:xfrm>
                  <a:off x="3146425" y="2755900"/>
                  <a:ext cx="273050" cy="24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Line 9"/>
                <p:cNvSpPr>
                  <a:spLocks noChangeShapeType="1"/>
                </p:cNvSpPr>
                <p:nvPr/>
              </p:nvSpPr>
              <p:spPr bwMode="auto">
                <a:xfrm flipH="1">
                  <a:off x="5364163" y="2755900"/>
                  <a:ext cx="315912" cy="24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Rectangle 32"/>
                <p:cNvSpPr>
                  <a:spLocks noChangeArrowheads="1"/>
                </p:cNvSpPr>
                <p:nvPr/>
              </p:nvSpPr>
              <p:spPr bwMode="auto">
                <a:xfrm>
                  <a:off x="3419171" y="3002592"/>
                  <a:ext cx="2055135" cy="752157"/>
                </a:xfrm>
                <a:prstGeom prst="rect">
                  <a:avLst/>
                </a:prstGeom>
                <a:solidFill>
                  <a:schemeClr val="bg2">
                    <a:lumMod val="40000"/>
                    <a:lumOff val="60000"/>
                  </a:schemeClr>
                </a:solidFill>
                <a:ln w="9525">
                  <a:solidFill>
                    <a:schemeClr val="tx1"/>
                  </a:solidFill>
                  <a:miter lim="800000"/>
                  <a:headEnd/>
                  <a:tailEnd/>
                </a:ln>
              </p:spPr>
              <p:txBody>
                <a:bodyPr wrap="none" anchor="ctr"/>
                <a:lstStyle>
                  <a:lvl1pPr>
                    <a:spcBef>
                      <a:spcPct val="20000"/>
                    </a:spcBef>
                    <a:buClr>
                      <a:srgbClr val="1C1C1C"/>
                    </a:buClr>
                    <a:buFont typeface="Wingdings" panose="05000000000000000000" pitchFamily="2" charset="2"/>
                    <a:buChar char="•"/>
                    <a:defRPr sz="1600" b="1">
                      <a:solidFill>
                        <a:srgbClr val="1C1C1C"/>
                      </a:solidFill>
                      <a:latin typeface="黑体" panose="02010609060101010101" pitchFamily="49" charset="-122"/>
                      <a:ea typeface="黑体" panose="02010609060101010101" pitchFamily="49" charset="-122"/>
                    </a:defRPr>
                  </a:lvl1pPr>
                  <a:lvl2pPr marL="742950" indent="-285750">
                    <a:spcBef>
                      <a:spcPct val="20000"/>
                    </a:spcBef>
                    <a:buClr>
                      <a:schemeClr val="tx2"/>
                    </a:buClr>
                    <a:buFont typeface="Wingdings" panose="05000000000000000000" pitchFamily="2" charset="2"/>
                    <a:buChar char="§"/>
                    <a:defRPr sz="1600">
                      <a:solidFill>
                        <a:srgbClr val="1C1C1C"/>
                      </a:solidFill>
                      <a:latin typeface="黑体" panose="02010609060101010101" pitchFamily="49" charset="-122"/>
                      <a:ea typeface="黑体" panose="02010609060101010101" pitchFamily="49" charset="-122"/>
                    </a:defRPr>
                  </a:lvl2pPr>
                  <a:lvl3pPr marL="1143000" indent="-228600">
                    <a:spcBef>
                      <a:spcPct val="20000"/>
                    </a:spcBef>
                    <a:buClr>
                      <a:schemeClr val="tx1"/>
                    </a:buClr>
                    <a:buChar char="•"/>
                    <a:defRPr sz="1600">
                      <a:solidFill>
                        <a:srgbClr val="1C1C1C"/>
                      </a:solidFill>
                      <a:latin typeface="黑体" panose="02010609060101010101" pitchFamily="49" charset="-122"/>
                      <a:ea typeface="黑体" panose="02010609060101010101" pitchFamily="49" charset="-122"/>
                    </a:defRPr>
                  </a:lvl3pPr>
                  <a:lvl4pPr marL="1600200" indent="-228600">
                    <a:spcBef>
                      <a:spcPct val="20000"/>
                    </a:spcBef>
                    <a:buChar char="–"/>
                    <a:defRPr sz="1600">
                      <a:solidFill>
                        <a:srgbClr val="1C1C1C"/>
                      </a:solidFill>
                      <a:latin typeface="黑体" panose="02010609060101010101" pitchFamily="49" charset="-122"/>
                      <a:ea typeface="黑体" panose="02010609060101010101" pitchFamily="49" charset="-122"/>
                    </a:defRPr>
                  </a:lvl4pPr>
                  <a:lvl5pPr marL="2057400" indent="-228600">
                    <a:spcBef>
                      <a:spcPct val="20000"/>
                    </a:spcBef>
                    <a:buChar char="»"/>
                    <a:defRPr sz="1600">
                      <a:solidFill>
                        <a:srgbClr val="1C1C1C"/>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1600">
                      <a:solidFill>
                        <a:srgbClr val="1C1C1C"/>
                      </a:solidFill>
                      <a:latin typeface="黑体" panose="02010609060101010101" pitchFamily="49" charset="-122"/>
                      <a:ea typeface="黑体" panose="02010609060101010101" pitchFamily="49" charset="-122"/>
                    </a:defRPr>
                  </a:lvl9pPr>
                </a:lstStyle>
                <a:p>
                  <a:pPr algn="ctr" eaLnBrk="1" hangingPunct="1">
                    <a:spcBef>
                      <a:spcPct val="0"/>
                    </a:spcBef>
                    <a:buClrTx/>
                    <a:buFontTx/>
                    <a:buNone/>
                    <a:defRPr/>
                  </a:pPr>
                  <a:r>
                    <a:rPr kumimoji="1" lang="zh-CN" altLang="en-US" sz="2000" b="0" dirty="0">
                      <a:solidFill>
                        <a:srgbClr val="333399"/>
                      </a:solidFill>
                      <a:latin typeface="Arial" panose="020B0604020202020204" pitchFamily="34" charset="0"/>
                    </a:rPr>
                    <a:t>互联网体系结构</a:t>
                  </a:r>
                </a:p>
                <a:p>
                  <a:pPr algn="ctr" eaLnBrk="1" hangingPunct="1">
                    <a:spcBef>
                      <a:spcPct val="0"/>
                    </a:spcBef>
                    <a:buClrTx/>
                    <a:buFontTx/>
                    <a:buNone/>
                    <a:defRPr/>
                  </a:pPr>
                  <a:r>
                    <a:rPr kumimoji="1" lang="zh-CN" altLang="en-US" sz="2000" b="0" dirty="0">
                      <a:solidFill>
                        <a:srgbClr val="333399"/>
                      </a:solidFill>
                      <a:latin typeface="Arial" panose="020B0604020202020204" pitchFamily="34" charset="0"/>
                    </a:rPr>
                    <a:t>委员会 </a:t>
                  </a:r>
                  <a:r>
                    <a:rPr kumimoji="1" lang="en-US" altLang="zh-CN" sz="2000" b="0" dirty="0">
                      <a:solidFill>
                        <a:srgbClr val="333399"/>
                      </a:solidFill>
                      <a:latin typeface="Arial" panose="020B0604020202020204" pitchFamily="34" charset="0"/>
                    </a:rPr>
                    <a:t>IAB </a:t>
                  </a:r>
                </a:p>
              </p:txBody>
            </p:sp>
          </p:grpSp>
        </p:grpSp>
        <p:grpSp>
          <p:nvGrpSpPr>
            <p:cNvPr id="6" name="Group 43"/>
            <p:cNvGrpSpPr>
              <a:grpSpLocks/>
            </p:cNvGrpSpPr>
            <p:nvPr/>
          </p:nvGrpSpPr>
          <p:grpSpPr bwMode="auto">
            <a:xfrm>
              <a:off x="5474305" y="3159123"/>
              <a:ext cx="3726682" cy="2300287"/>
              <a:chOff x="5474305" y="3159123"/>
              <a:chExt cx="3726682" cy="2300287"/>
            </a:xfrm>
          </p:grpSpPr>
          <p:grpSp>
            <p:nvGrpSpPr>
              <p:cNvPr id="7" name="Group 42"/>
              <p:cNvGrpSpPr>
                <a:grpSpLocks/>
              </p:cNvGrpSpPr>
              <p:nvPr/>
            </p:nvGrpSpPr>
            <p:grpSpPr bwMode="auto">
              <a:xfrm>
                <a:off x="5629307" y="3159123"/>
                <a:ext cx="3571680" cy="2300287"/>
                <a:chOff x="5200679" y="3576638"/>
                <a:chExt cx="3571680" cy="2300287"/>
              </a:xfrm>
            </p:grpSpPr>
            <p:grpSp>
              <p:nvGrpSpPr>
                <p:cNvPr id="9" name="Group 41"/>
                <p:cNvGrpSpPr>
                  <a:grpSpLocks/>
                </p:cNvGrpSpPr>
                <p:nvPr/>
              </p:nvGrpSpPr>
              <p:grpSpPr bwMode="auto">
                <a:xfrm>
                  <a:off x="5200679" y="3576638"/>
                  <a:ext cx="3571680" cy="2300287"/>
                  <a:chOff x="5449888" y="3576638"/>
                  <a:chExt cx="3571680" cy="2300287"/>
                </a:xfrm>
              </p:grpSpPr>
              <p:sp>
                <p:nvSpPr>
                  <p:cNvPr id="11" name="Rectangle 11"/>
                  <p:cNvSpPr>
                    <a:spLocks noChangeArrowheads="1"/>
                  </p:cNvSpPr>
                  <p:nvPr/>
                </p:nvSpPr>
                <p:spPr bwMode="auto">
                  <a:xfrm>
                    <a:off x="5449888" y="3576638"/>
                    <a:ext cx="3443287" cy="2300287"/>
                  </a:xfrm>
                  <a:prstGeom prst="rect">
                    <a:avLst/>
                  </a:prstGeom>
                  <a:solidFill>
                    <a:srgbClr val="FFCC99"/>
                  </a:solidFill>
                  <a:ln w="9525">
                    <a:solidFill>
                      <a:schemeClr val="tx1"/>
                    </a:solidFill>
                    <a:prstDash val="sysDot"/>
                    <a:miter lim="800000"/>
                    <a:headEnd/>
                    <a:tailEnd/>
                  </a:ln>
                </p:spPr>
                <p:txBody>
                  <a:bodyPr wrap="none" anchor="ctr"/>
                  <a:lstStyle/>
                  <a:p>
                    <a:pPr eaLnBrk="1" hangingPunct="1"/>
                    <a:endParaRPr lang="en-US" altLang="zh-CN"/>
                  </a:p>
                </p:txBody>
              </p:sp>
              <p:sp>
                <p:nvSpPr>
                  <p:cNvPr id="12" name="Text Box 13"/>
                  <p:cNvSpPr txBox="1">
                    <a:spLocks noChangeArrowheads="1"/>
                  </p:cNvSpPr>
                  <p:nvPr/>
                </p:nvSpPr>
                <p:spPr bwMode="auto">
                  <a:xfrm>
                    <a:off x="5770049" y="3579917"/>
                    <a:ext cx="3251519" cy="4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ea typeface="黑体" pitchFamily="49" charset="-122"/>
                      </a:rPr>
                      <a:t>互联网工程部（</a:t>
                    </a:r>
                    <a:r>
                      <a:rPr kumimoji="1" lang="en-US" altLang="zh-CN" sz="2000" dirty="0">
                        <a:solidFill>
                          <a:srgbClr val="333399"/>
                        </a:solidFill>
                        <a:ea typeface="黑体" pitchFamily="49" charset="-122"/>
                      </a:rPr>
                      <a:t>IETF</a:t>
                    </a:r>
                    <a:r>
                      <a:rPr kumimoji="1" lang="zh-CN" altLang="en-US" sz="2000" dirty="0">
                        <a:solidFill>
                          <a:srgbClr val="333399"/>
                        </a:solidFill>
                        <a:ea typeface="黑体" pitchFamily="49" charset="-122"/>
                      </a:rPr>
                      <a:t>）</a:t>
                    </a:r>
                    <a:r>
                      <a:rPr kumimoji="1" lang="en-US" altLang="zh-CN" sz="2000" dirty="0">
                        <a:solidFill>
                          <a:srgbClr val="333399"/>
                        </a:solidFill>
                        <a:ea typeface="黑体" pitchFamily="49" charset="-122"/>
                      </a:rPr>
                      <a:t> </a:t>
                    </a:r>
                  </a:p>
                </p:txBody>
              </p:sp>
              <p:sp>
                <p:nvSpPr>
                  <p:cNvPr id="13" name="Rectangle 16"/>
                  <p:cNvSpPr>
                    <a:spLocks noChangeArrowheads="1"/>
                  </p:cNvSpPr>
                  <p:nvPr/>
                </p:nvSpPr>
                <p:spPr bwMode="auto">
                  <a:xfrm>
                    <a:off x="5867400" y="4070350"/>
                    <a:ext cx="2665413" cy="657225"/>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zh-CN" altLang="en-US" sz="2000" dirty="0">
                        <a:solidFill>
                          <a:srgbClr val="333399"/>
                        </a:solidFill>
                        <a:ea typeface="黑体" pitchFamily="49" charset="-122"/>
                      </a:rPr>
                      <a:t>互联网工程指导小组</a:t>
                    </a:r>
                  </a:p>
                  <a:p>
                    <a:pPr algn="ctr" eaLnBrk="1" hangingPunct="1"/>
                    <a:r>
                      <a:rPr kumimoji="1" lang="zh-CN" altLang="en-US" sz="2000" dirty="0">
                        <a:solidFill>
                          <a:srgbClr val="333399"/>
                        </a:solidFill>
                        <a:ea typeface="黑体" pitchFamily="49" charset="-122"/>
                      </a:rPr>
                      <a:t>（</a:t>
                    </a:r>
                    <a:r>
                      <a:rPr kumimoji="1" lang="en-US" altLang="zh-CN" sz="2000" dirty="0">
                        <a:solidFill>
                          <a:srgbClr val="333399"/>
                        </a:solidFill>
                        <a:ea typeface="黑体" pitchFamily="49" charset="-122"/>
                      </a:rPr>
                      <a:t>IESG </a:t>
                    </a:r>
                    <a:r>
                      <a:rPr kumimoji="1" lang="zh-CN" altLang="en-US" sz="2000" dirty="0">
                        <a:solidFill>
                          <a:srgbClr val="333399"/>
                        </a:solidFill>
                        <a:ea typeface="黑体" pitchFamily="49" charset="-122"/>
                      </a:rPr>
                      <a:t>）</a:t>
                    </a:r>
                    <a:endParaRPr kumimoji="1" lang="en-US" altLang="zh-CN" sz="2000" dirty="0">
                      <a:solidFill>
                        <a:srgbClr val="333399"/>
                      </a:solidFill>
                      <a:ea typeface="黑体" pitchFamily="49" charset="-122"/>
                    </a:endParaRPr>
                  </a:p>
                </p:txBody>
              </p:sp>
              <p:sp>
                <p:nvSpPr>
                  <p:cNvPr id="14" name="Text Box 17"/>
                  <p:cNvSpPr txBox="1">
                    <a:spLocks noChangeArrowheads="1"/>
                  </p:cNvSpPr>
                  <p:nvPr/>
                </p:nvSpPr>
                <p:spPr bwMode="auto">
                  <a:xfrm>
                    <a:off x="6804025" y="4754562"/>
                    <a:ext cx="500961" cy="4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333399"/>
                        </a:solidFill>
                        <a:ea typeface="黑体" pitchFamily="49" charset="-122"/>
                      </a:rPr>
                      <a:t>…</a:t>
                    </a:r>
                  </a:p>
                </p:txBody>
              </p:sp>
              <p:sp>
                <p:nvSpPr>
                  <p:cNvPr id="15" name="Line 18"/>
                  <p:cNvSpPr>
                    <a:spLocks noChangeShapeType="1"/>
                  </p:cNvSpPr>
                  <p:nvPr/>
                </p:nvSpPr>
                <p:spPr bwMode="auto">
                  <a:xfrm flipV="1">
                    <a:off x="6300788" y="4727575"/>
                    <a:ext cx="146050" cy="2143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19"/>
                  <p:cNvSpPr>
                    <a:spLocks noChangeShapeType="1"/>
                  </p:cNvSpPr>
                  <p:nvPr/>
                </p:nvSpPr>
                <p:spPr bwMode="auto">
                  <a:xfrm>
                    <a:off x="7667625" y="4724400"/>
                    <a:ext cx="239713" cy="168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21"/>
                  <p:cNvSpPr>
                    <a:spLocks noChangeArrowheads="1"/>
                  </p:cNvSpPr>
                  <p:nvPr/>
                </p:nvSpPr>
                <p:spPr bwMode="auto">
                  <a:xfrm>
                    <a:off x="8281988" y="5373688"/>
                    <a:ext cx="538162" cy="412750"/>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en-US" altLang="zh-CN" sz="2000">
                        <a:solidFill>
                          <a:srgbClr val="333399"/>
                        </a:solidFill>
                        <a:ea typeface="黑体" pitchFamily="49" charset="-122"/>
                      </a:rPr>
                      <a:t>WG</a:t>
                    </a:r>
                  </a:p>
                </p:txBody>
              </p:sp>
              <p:sp>
                <p:nvSpPr>
                  <p:cNvPr id="18" name="Text Box 22"/>
                  <p:cNvSpPr txBox="1">
                    <a:spLocks noChangeArrowheads="1"/>
                  </p:cNvSpPr>
                  <p:nvPr/>
                </p:nvSpPr>
                <p:spPr bwMode="auto">
                  <a:xfrm>
                    <a:off x="6056313" y="5264150"/>
                    <a:ext cx="500961" cy="4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333399"/>
                        </a:solidFill>
                        <a:ea typeface="黑体" pitchFamily="49" charset="-122"/>
                      </a:rPr>
                      <a:t>…</a:t>
                    </a:r>
                  </a:p>
                </p:txBody>
              </p:sp>
              <p:sp>
                <p:nvSpPr>
                  <p:cNvPr id="19" name="Text Box 23"/>
                  <p:cNvSpPr txBox="1">
                    <a:spLocks noChangeArrowheads="1"/>
                  </p:cNvSpPr>
                  <p:nvPr/>
                </p:nvSpPr>
                <p:spPr bwMode="auto">
                  <a:xfrm>
                    <a:off x="7805738" y="5264150"/>
                    <a:ext cx="500961" cy="4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a:solidFill>
                          <a:srgbClr val="333399"/>
                        </a:solidFill>
                        <a:ea typeface="黑体" pitchFamily="49" charset="-122"/>
                      </a:rPr>
                      <a:t>…</a:t>
                    </a:r>
                  </a:p>
                </p:txBody>
              </p:sp>
              <p:sp>
                <p:nvSpPr>
                  <p:cNvPr id="20" name="Line 24"/>
                  <p:cNvSpPr>
                    <a:spLocks noChangeShapeType="1"/>
                  </p:cNvSpPr>
                  <p:nvPr/>
                </p:nvSpPr>
                <p:spPr bwMode="auto">
                  <a:xfrm flipH="1">
                    <a:off x="5756275" y="5219700"/>
                    <a:ext cx="306388"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26"/>
                  <p:cNvSpPr>
                    <a:spLocks noChangeShapeType="1"/>
                  </p:cNvSpPr>
                  <p:nvPr/>
                </p:nvSpPr>
                <p:spPr bwMode="auto">
                  <a:xfrm flipH="1">
                    <a:off x="7370763" y="5219700"/>
                    <a:ext cx="384175"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27"/>
                  <p:cNvSpPr>
                    <a:spLocks noChangeShapeType="1"/>
                  </p:cNvSpPr>
                  <p:nvPr/>
                </p:nvSpPr>
                <p:spPr bwMode="auto">
                  <a:xfrm>
                    <a:off x="7985125" y="5219700"/>
                    <a:ext cx="384175"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Rectangle 30"/>
                  <p:cNvSpPr>
                    <a:spLocks noChangeArrowheads="1"/>
                  </p:cNvSpPr>
                  <p:nvPr/>
                </p:nvSpPr>
                <p:spPr bwMode="auto">
                  <a:xfrm>
                    <a:off x="5994400" y="4892675"/>
                    <a:ext cx="579438" cy="388938"/>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zh-CN" altLang="en-US" sz="2000">
                        <a:solidFill>
                          <a:srgbClr val="333399"/>
                        </a:solidFill>
                        <a:ea typeface="黑体" pitchFamily="49" charset="-122"/>
                      </a:rPr>
                      <a:t>领域</a:t>
                    </a:r>
                  </a:p>
                </p:txBody>
              </p:sp>
              <p:sp>
                <p:nvSpPr>
                  <p:cNvPr id="24" name="Rectangle 31"/>
                  <p:cNvSpPr>
                    <a:spLocks noChangeArrowheads="1"/>
                  </p:cNvSpPr>
                  <p:nvPr/>
                </p:nvSpPr>
                <p:spPr bwMode="auto">
                  <a:xfrm>
                    <a:off x="7737475" y="4892675"/>
                    <a:ext cx="579438" cy="388938"/>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zh-CN" altLang="en-US" sz="2000">
                        <a:solidFill>
                          <a:srgbClr val="333399"/>
                        </a:solidFill>
                        <a:ea typeface="黑体" pitchFamily="49" charset="-122"/>
                      </a:rPr>
                      <a:t>领域</a:t>
                    </a:r>
                  </a:p>
                </p:txBody>
              </p:sp>
              <p:sp>
                <p:nvSpPr>
                  <p:cNvPr id="25" name="Rectangle 33"/>
                  <p:cNvSpPr>
                    <a:spLocks noChangeArrowheads="1"/>
                  </p:cNvSpPr>
                  <p:nvPr/>
                </p:nvSpPr>
                <p:spPr bwMode="auto">
                  <a:xfrm>
                    <a:off x="7202488" y="5373688"/>
                    <a:ext cx="538162" cy="412750"/>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en-US" altLang="zh-CN" sz="2000">
                        <a:solidFill>
                          <a:srgbClr val="333399"/>
                        </a:solidFill>
                        <a:ea typeface="黑体" pitchFamily="49" charset="-122"/>
                      </a:rPr>
                      <a:t>WG</a:t>
                    </a:r>
                  </a:p>
                </p:txBody>
              </p:sp>
              <p:sp>
                <p:nvSpPr>
                  <p:cNvPr id="26" name="Rectangle 34"/>
                  <p:cNvSpPr>
                    <a:spLocks noChangeArrowheads="1"/>
                  </p:cNvSpPr>
                  <p:nvPr/>
                </p:nvSpPr>
                <p:spPr bwMode="auto">
                  <a:xfrm>
                    <a:off x="6481763" y="5373688"/>
                    <a:ext cx="538162" cy="412750"/>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en-US" altLang="zh-CN" sz="2000">
                        <a:solidFill>
                          <a:srgbClr val="333399"/>
                        </a:solidFill>
                        <a:ea typeface="黑体" pitchFamily="49" charset="-122"/>
                      </a:rPr>
                      <a:t>WG</a:t>
                    </a:r>
                  </a:p>
                </p:txBody>
              </p:sp>
              <p:sp>
                <p:nvSpPr>
                  <p:cNvPr id="27" name="Rectangle 35"/>
                  <p:cNvSpPr>
                    <a:spLocks noChangeArrowheads="1"/>
                  </p:cNvSpPr>
                  <p:nvPr/>
                </p:nvSpPr>
                <p:spPr bwMode="auto">
                  <a:xfrm>
                    <a:off x="5508625" y="5373688"/>
                    <a:ext cx="538163" cy="412750"/>
                  </a:xfrm>
                  <a:prstGeom prst="rect">
                    <a:avLst/>
                  </a:prstGeom>
                  <a:solidFill>
                    <a:schemeClr val="bg1"/>
                  </a:solidFill>
                  <a:ln w="9525">
                    <a:solidFill>
                      <a:schemeClr val="tx1"/>
                    </a:solidFill>
                    <a:miter lim="800000"/>
                    <a:headEnd/>
                    <a:tailEnd/>
                  </a:ln>
                </p:spPr>
                <p:txBody>
                  <a:bodyPr wrap="none" anchor="ctr"/>
                  <a:lstStyle/>
                  <a:p>
                    <a:pPr algn="ctr" eaLnBrk="1" hangingPunct="1"/>
                    <a:r>
                      <a:rPr kumimoji="1" lang="en-US" altLang="zh-CN" sz="2000">
                        <a:solidFill>
                          <a:srgbClr val="333399"/>
                        </a:solidFill>
                        <a:ea typeface="黑体" pitchFamily="49" charset="-122"/>
                      </a:rPr>
                      <a:t>WG</a:t>
                    </a:r>
                  </a:p>
                </p:txBody>
              </p:sp>
            </p:grpSp>
            <p:sp>
              <p:nvSpPr>
                <p:cNvPr id="10" name="Line 25"/>
                <p:cNvSpPr>
                  <a:spLocks noChangeShapeType="1"/>
                </p:cNvSpPr>
                <p:nvPr/>
              </p:nvSpPr>
              <p:spPr bwMode="auto">
                <a:xfrm>
                  <a:off x="6143636" y="5286388"/>
                  <a:ext cx="214314" cy="920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 name="Line 15"/>
              <p:cNvSpPr>
                <a:spLocks noChangeShapeType="1"/>
              </p:cNvSpPr>
              <p:nvPr/>
            </p:nvSpPr>
            <p:spPr bwMode="auto">
              <a:xfrm flipH="1" flipV="1">
                <a:off x="5474305" y="3240076"/>
                <a:ext cx="1169396" cy="4032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21688311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smtClean="0"/>
              <a:t>互联网</a:t>
            </a:r>
            <a:r>
              <a:rPr lang="zh-CN" altLang="en-US" dirty="0"/>
              <a:t>概述</a:t>
            </a:r>
          </a:p>
        </p:txBody>
      </p:sp>
      <p:sp>
        <p:nvSpPr>
          <p:cNvPr id="3" name="内容占位符 2"/>
          <p:cNvSpPr>
            <a:spLocks noGrp="1"/>
          </p:cNvSpPr>
          <p:nvPr>
            <p:ph idx="1"/>
          </p:nvPr>
        </p:nvSpPr>
        <p:spPr>
          <a:xfrm>
            <a:off x="4044307" y="1196752"/>
            <a:ext cx="3203821" cy="648072"/>
          </a:xfrm>
        </p:spPr>
        <p:txBody>
          <a:bodyPr/>
          <a:lstStyle/>
          <a:p>
            <a:pPr indent="0">
              <a:buNone/>
            </a:pPr>
            <a:r>
              <a:rPr lang="zh-CN" altLang="en-US" dirty="0" smtClean="0"/>
              <a:t>标准化过程</a:t>
            </a:r>
            <a:endParaRPr lang="zh-CN" altLang="en-US" dirty="0"/>
          </a:p>
        </p:txBody>
      </p:sp>
      <p:sp>
        <p:nvSpPr>
          <p:cNvPr id="43" name="矩形 42"/>
          <p:cNvSpPr/>
          <p:nvPr/>
        </p:nvSpPr>
        <p:spPr>
          <a:xfrm>
            <a:off x="4007768" y="1844824"/>
            <a:ext cx="3236784" cy="369332"/>
          </a:xfrm>
          <a:prstGeom prst="rect">
            <a:avLst/>
          </a:prstGeom>
        </p:spPr>
        <p:txBody>
          <a:bodyPr wrap="none">
            <a:spAutoFit/>
          </a:bodyPr>
          <a:lstStyle/>
          <a:p>
            <a:pPr eaLnBrk="1" hangingPunct="1"/>
            <a:r>
              <a:rPr lang="en-US" altLang="zh-CN" dirty="0"/>
              <a:t>RFC: Request For Comments</a:t>
            </a:r>
          </a:p>
        </p:txBody>
      </p:sp>
      <p:grpSp>
        <p:nvGrpSpPr>
          <p:cNvPr id="30" name="组合 29"/>
          <p:cNvGrpSpPr/>
          <p:nvPr/>
        </p:nvGrpSpPr>
        <p:grpSpPr>
          <a:xfrm>
            <a:off x="2172585" y="2348880"/>
            <a:ext cx="6731727" cy="3473765"/>
            <a:chOff x="1143116" y="1087304"/>
            <a:chExt cx="6731727" cy="3473765"/>
          </a:xfrm>
        </p:grpSpPr>
        <p:sp>
          <p:nvSpPr>
            <p:cNvPr id="31" name="圆角矩形 30"/>
            <p:cNvSpPr/>
            <p:nvPr/>
          </p:nvSpPr>
          <p:spPr>
            <a:xfrm>
              <a:off x="1143116" y="1657386"/>
              <a:ext cx="6731727" cy="2903683"/>
            </a:xfrm>
            <a:prstGeom prst="roundRect">
              <a:avLst>
                <a:gd name="adj" fmla="val 3266"/>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sz="1400" dirty="0"/>
            </a:p>
          </p:txBody>
        </p:sp>
        <p:sp>
          <p:nvSpPr>
            <p:cNvPr id="32" name="文本框 27"/>
            <p:cNvSpPr txBox="1"/>
            <p:nvPr/>
          </p:nvSpPr>
          <p:spPr>
            <a:xfrm>
              <a:off x="3139910" y="1616294"/>
              <a:ext cx="1369070" cy="307777"/>
            </a:xfrm>
            <a:prstGeom prst="rect">
              <a:avLst/>
            </a:prstGeom>
            <a:noFill/>
          </p:spPr>
          <p:txBody>
            <a:bodyPr wrap="square" rtlCol="0">
              <a:spAutoFit/>
            </a:bodyPr>
            <a:lstStyle/>
            <a:p>
              <a:pPr algn="r"/>
              <a:r>
                <a:rPr lang="en-US" altLang="zh-CN" sz="1400" b="1" dirty="0" err="1" smtClean="0">
                  <a:solidFill>
                    <a:srgbClr val="000000"/>
                  </a:solidFill>
                  <a:latin typeface="微软雅黑" panose="020B0503020204020204" pitchFamily="34" charset="-122"/>
                  <a:ea typeface="微软雅黑" panose="020B0503020204020204" pitchFamily="34" charset="-122"/>
                </a:rPr>
                <a:t>RFCxxxx</a:t>
              </a:r>
              <a:endParaRPr lang="zh-CN" altLang="en-US" sz="1400" b="1" dirty="0">
                <a:solidFill>
                  <a:srgbClr val="000000"/>
                </a:solidFill>
                <a:latin typeface="微软雅黑" panose="020B0503020204020204" pitchFamily="34" charset="-122"/>
                <a:ea typeface="微软雅黑" panose="020B0503020204020204" pitchFamily="34" charset="-122"/>
              </a:endParaRPr>
            </a:p>
          </p:txBody>
        </p:sp>
        <p:cxnSp>
          <p:nvCxnSpPr>
            <p:cNvPr id="33" name="直接箭头连接符 32"/>
            <p:cNvCxnSpPr/>
            <p:nvPr/>
          </p:nvCxnSpPr>
          <p:spPr>
            <a:xfrm flipH="1">
              <a:off x="2717895" y="1904139"/>
              <a:ext cx="3595815" cy="0"/>
            </a:xfrm>
            <a:prstGeom prst="straightConnector1">
              <a:avLst/>
            </a:prstGeom>
            <a:ln w="19050">
              <a:solidFill>
                <a:srgbClr val="000000"/>
              </a:solidFill>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4" name="直接箭头连接符 33"/>
            <p:cNvCxnSpPr/>
            <p:nvPr/>
          </p:nvCxnSpPr>
          <p:spPr>
            <a:xfrm>
              <a:off x="4528448" y="1491288"/>
              <a:ext cx="0" cy="408414"/>
            </a:xfrm>
            <a:prstGeom prst="straightConnector1">
              <a:avLst/>
            </a:prstGeom>
            <a:ln w="19050">
              <a:solidFill>
                <a:srgbClr val="000000"/>
              </a:solidFill>
              <a:prstDash val="solid"/>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5" name="任意多边形 34"/>
            <p:cNvSpPr/>
            <p:nvPr/>
          </p:nvSpPr>
          <p:spPr>
            <a:xfrm>
              <a:off x="3413711" y="1087304"/>
              <a:ext cx="2229474" cy="464358"/>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00FFFF"/>
            </a:solidFill>
            <a:ln>
              <a:noFill/>
            </a:ln>
            <a:scene3d>
              <a:camera prst="orthographicFront"/>
              <a:lightRig rig="flat" dir="t"/>
            </a:scene3d>
            <a:sp3d prstMaterial="dkEdge">
              <a:bevelT w="8200" h="38100"/>
            </a:sp3d>
          </p:spPr>
          <p:style>
            <a:lnRef idx="1">
              <a:schemeClr val="accent5"/>
            </a:lnRef>
            <a:fillRef idx="2">
              <a:schemeClr val="accent5"/>
            </a:fillRef>
            <a:effectRef idx="1">
              <a:schemeClr val="accent5"/>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200" b="1" kern="1200" dirty="0" smtClean="0">
                  <a:solidFill>
                    <a:srgbClr val="000000"/>
                  </a:solidFill>
                  <a:latin typeface="微软雅黑" panose="020B0503020204020204" pitchFamily="34" charset="-122"/>
                  <a:ea typeface="微软雅黑" panose="020B0503020204020204" pitchFamily="34" charset="-122"/>
                </a:rPr>
                <a:t>互联网草案</a:t>
              </a:r>
              <a:endParaRPr lang="en-US" altLang="zh-CN" sz="1200" b="1" kern="1200" dirty="0" smtClean="0">
                <a:solidFill>
                  <a:srgbClr val="000000"/>
                </a:solidFill>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200" b="1" kern="1200" dirty="0" smtClean="0">
                  <a:solidFill>
                    <a:srgbClr val="000000"/>
                  </a:solidFill>
                  <a:latin typeface="微软雅黑" panose="020B0503020204020204" pitchFamily="34" charset="-122"/>
                  <a:ea typeface="微软雅黑" panose="020B0503020204020204" pitchFamily="34" charset="-122"/>
                </a:rPr>
                <a:t> </a:t>
              </a:r>
              <a:r>
                <a:rPr lang="en-US" altLang="en-US" sz="1200" b="1" kern="1200" dirty="0" smtClean="0">
                  <a:solidFill>
                    <a:srgbClr val="000000"/>
                  </a:solidFill>
                  <a:latin typeface="微软雅黑" panose="020B0503020204020204" pitchFamily="34" charset="-122"/>
                  <a:ea typeface="微软雅黑" panose="020B0503020204020204" pitchFamily="34" charset="-122"/>
                </a:rPr>
                <a:t>(Internet Draft)</a:t>
              </a:r>
              <a:endParaRPr lang="zh-CN" altLang="en-US" sz="1200" b="1" kern="1200" dirty="0">
                <a:solidFill>
                  <a:srgbClr val="000000"/>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1454345" y="2011680"/>
              <a:ext cx="2542903" cy="2412274"/>
            </a:xfrm>
            <a:prstGeom prst="roundRect">
              <a:avLst>
                <a:gd name="adj" fmla="val 2949"/>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36"/>
            <p:cNvSpPr/>
            <p:nvPr/>
          </p:nvSpPr>
          <p:spPr>
            <a:xfrm>
              <a:off x="1755952" y="2526587"/>
              <a:ext cx="1937432" cy="436333"/>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92D050"/>
            </a:solidFill>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smtClean="0">
                  <a:solidFill>
                    <a:srgbClr val="000000"/>
                  </a:solidFill>
                  <a:latin typeface="微软雅黑" panose="020B0503020204020204" pitchFamily="34" charset="-122"/>
                  <a:ea typeface="微软雅黑" panose="020B0503020204020204" pitchFamily="34" charset="-122"/>
                </a:rPr>
                <a:t>建议标准 </a:t>
              </a:r>
              <a:endParaRPr lang="en-US" altLang="zh-CN" sz="1100" b="1" kern="1200" dirty="0" smtClean="0">
                <a:solidFill>
                  <a:srgbClr val="000000"/>
                </a:solidFill>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en-US" altLang="en-US" sz="1100" b="1" kern="1200" dirty="0" smtClean="0">
                  <a:solidFill>
                    <a:srgbClr val="000000"/>
                  </a:solidFill>
                  <a:latin typeface="微软雅黑" panose="020B0503020204020204" pitchFamily="34" charset="-122"/>
                  <a:ea typeface="微软雅黑" panose="020B0503020204020204" pitchFamily="34" charset="-122"/>
                </a:rPr>
                <a:t>(Proposed Standard)</a:t>
              </a:r>
              <a:endParaRPr lang="zh-CN" altLang="en-US" sz="1100" b="1" kern="1200" dirty="0">
                <a:solidFill>
                  <a:srgbClr val="000000"/>
                </a:solidFill>
                <a:latin typeface="微软雅黑" panose="020B0503020204020204" pitchFamily="34" charset="-122"/>
                <a:ea typeface="微软雅黑" panose="020B0503020204020204" pitchFamily="34" charset="-122"/>
              </a:endParaRPr>
            </a:p>
          </p:txBody>
        </p:sp>
        <p:sp>
          <p:nvSpPr>
            <p:cNvPr id="38" name="任意多边形 37"/>
            <p:cNvSpPr/>
            <p:nvPr/>
          </p:nvSpPr>
          <p:spPr>
            <a:xfrm>
              <a:off x="1755952" y="3699085"/>
              <a:ext cx="1937432" cy="617856"/>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rgbClr val="FF9900"/>
            </a:solidFill>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kern="1200" dirty="0" smtClean="0">
                  <a:solidFill>
                    <a:srgbClr val="000000"/>
                  </a:solidFill>
                  <a:latin typeface="微软雅黑" panose="020B0503020204020204" pitchFamily="34" charset="-122"/>
                  <a:ea typeface="微软雅黑" panose="020B0503020204020204" pitchFamily="34" charset="-122"/>
                </a:rPr>
                <a:t>互联网标准</a:t>
              </a:r>
              <a:endParaRPr lang="en-US" altLang="zh-CN" sz="1100" b="1" kern="1200" dirty="0" smtClean="0">
                <a:solidFill>
                  <a:srgbClr val="000000"/>
                </a:solidFill>
                <a:latin typeface="微软雅黑" panose="020B0503020204020204" pitchFamily="34" charset="-122"/>
                <a:ea typeface="微软雅黑" panose="020B0503020204020204" pitchFamily="34" charset="-122"/>
              </a:endParaRPr>
            </a:p>
            <a:p>
              <a:pPr lvl="0" algn="ctr" defTabSz="800100">
                <a:spcBef>
                  <a:spcPct val="0"/>
                </a:spcBef>
                <a:spcAft>
                  <a:spcPts val="0"/>
                </a:spcAft>
              </a:pPr>
              <a:r>
                <a:rPr lang="zh-CN" altLang="en-US" sz="1100" b="1" kern="1200" dirty="0" smtClean="0">
                  <a:solidFill>
                    <a:srgbClr val="000000"/>
                  </a:solidFill>
                  <a:latin typeface="微软雅黑" panose="020B0503020204020204" pitchFamily="34" charset="-122"/>
                  <a:ea typeface="微软雅黑" panose="020B0503020204020204" pitchFamily="34" charset="-122"/>
                </a:rPr>
                <a:t> </a:t>
              </a:r>
              <a:r>
                <a:rPr lang="en-US" altLang="en-US" sz="1100" b="1" kern="1200" dirty="0" smtClean="0">
                  <a:solidFill>
                    <a:srgbClr val="000000"/>
                  </a:solidFill>
                  <a:latin typeface="微软雅黑" panose="020B0503020204020204" pitchFamily="34" charset="-122"/>
                  <a:ea typeface="微软雅黑" panose="020B0503020204020204" pitchFamily="34" charset="-122"/>
                </a:rPr>
                <a:t>(Internet Standard)</a:t>
              </a:r>
            </a:p>
            <a:p>
              <a:pPr lvl="0" algn="ctr" defTabSz="800100">
                <a:spcAft>
                  <a:spcPts val="0"/>
                </a:spcAft>
              </a:pPr>
              <a:r>
                <a:rPr lang="en-US" altLang="zh-CN" sz="1100" b="1" dirty="0" smtClean="0">
                  <a:solidFill>
                    <a:srgbClr val="000000"/>
                  </a:solidFill>
                  <a:latin typeface="微软雅黑" panose="020B0503020204020204" pitchFamily="34" charset="-122"/>
                  <a:ea typeface="微软雅黑" panose="020B0503020204020204" pitchFamily="34" charset="-122"/>
                </a:rPr>
                <a:t>(</a:t>
              </a:r>
              <a:r>
                <a:rPr lang="zh-CN" altLang="en-US" sz="1100" b="1" dirty="0" smtClean="0">
                  <a:solidFill>
                    <a:srgbClr val="000000"/>
                  </a:solidFill>
                  <a:latin typeface="微软雅黑" panose="020B0503020204020204" pitchFamily="34" charset="-122"/>
                  <a:ea typeface="微软雅黑" panose="020B0503020204020204" pitchFamily="34" charset="-122"/>
                </a:rPr>
                <a:t>记为 </a:t>
              </a:r>
              <a:r>
                <a:rPr lang="en-US" altLang="zh-CN" sz="1100" b="1" dirty="0" err="1" smtClean="0">
                  <a:solidFill>
                    <a:srgbClr val="000000"/>
                  </a:solidFill>
                  <a:latin typeface="微软雅黑" panose="020B0503020204020204" pitchFamily="34" charset="-122"/>
                  <a:ea typeface="微软雅黑" panose="020B0503020204020204" pitchFamily="34" charset="-122"/>
                </a:rPr>
                <a:t>STDxx</a:t>
              </a:r>
              <a:r>
                <a:rPr lang="en-US" altLang="zh-CN" sz="1100" b="1" dirty="0" smtClean="0">
                  <a:solidFill>
                    <a:srgbClr val="000000"/>
                  </a:solidFill>
                  <a:latin typeface="微软雅黑" panose="020B0503020204020204" pitchFamily="34" charset="-122"/>
                  <a:ea typeface="微软雅黑" panose="020B0503020204020204" pitchFamily="34" charset="-122"/>
                </a:rPr>
                <a:t>)</a:t>
              </a:r>
              <a:endParaRPr lang="zh-CN" altLang="en-US" sz="1100" b="1" kern="1200" dirty="0">
                <a:solidFill>
                  <a:srgbClr val="000000"/>
                </a:solidFill>
                <a:latin typeface="微软雅黑" panose="020B0503020204020204" pitchFamily="34" charset="-122"/>
                <a:ea typeface="微软雅黑" panose="020B0503020204020204" pitchFamily="34" charset="-122"/>
              </a:endParaRPr>
            </a:p>
          </p:txBody>
        </p:sp>
        <p:cxnSp>
          <p:nvCxnSpPr>
            <p:cNvPr id="40" name="直接箭头连接符 39"/>
            <p:cNvCxnSpPr/>
            <p:nvPr/>
          </p:nvCxnSpPr>
          <p:spPr>
            <a:xfrm>
              <a:off x="2717890" y="2987793"/>
              <a:ext cx="0" cy="695054"/>
            </a:xfrm>
            <a:prstGeom prst="straightConnector1">
              <a:avLst/>
            </a:prstGeom>
            <a:ln w="19050">
              <a:solidFill>
                <a:srgbClr val="000000"/>
              </a:solidFill>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p:cNvCxnSpPr/>
            <p:nvPr/>
          </p:nvCxnSpPr>
          <p:spPr>
            <a:xfrm>
              <a:off x="2717890" y="1899702"/>
              <a:ext cx="0" cy="626885"/>
            </a:xfrm>
            <a:prstGeom prst="straightConnector1">
              <a:avLst/>
            </a:prstGeom>
            <a:ln w="19050">
              <a:solidFill>
                <a:srgbClr val="000000"/>
              </a:solidFill>
              <a:tailEnd type="triangle"/>
            </a:ln>
          </p:spPr>
          <p:style>
            <a:lnRef idx="1">
              <a:schemeClr val="dk1"/>
            </a:lnRef>
            <a:fillRef idx="0">
              <a:schemeClr val="dk1"/>
            </a:fillRef>
            <a:effectRef idx="0">
              <a:schemeClr val="dk1"/>
            </a:effectRef>
            <a:fontRef idx="minor">
              <a:schemeClr val="tx1"/>
            </a:fontRef>
          </p:style>
        </p:cxnSp>
        <p:sp>
          <p:nvSpPr>
            <p:cNvPr id="45" name="矩形 44"/>
            <p:cNvSpPr/>
            <p:nvPr/>
          </p:nvSpPr>
          <p:spPr>
            <a:xfrm>
              <a:off x="1463726" y="2020455"/>
              <a:ext cx="902811" cy="276999"/>
            </a:xfrm>
            <a:prstGeom prst="rect">
              <a:avLst/>
            </a:prstGeom>
            <a:noFill/>
          </p:spPr>
          <p:txBody>
            <a:bodyPr wrap="square" rtlCol="0">
              <a:spAutoFit/>
            </a:bodyPr>
            <a:lstStyle/>
            <a:p>
              <a:r>
                <a:rPr lang="zh-CN" altLang="en-US" sz="1200" b="1" dirty="0">
                  <a:solidFill>
                    <a:srgbClr val="000000"/>
                  </a:solidFill>
                  <a:latin typeface="微软雅黑" panose="020B0503020204020204" pitchFamily="34" charset="-122"/>
                  <a:ea typeface="微软雅黑" panose="020B0503020204020204" pitchFamily="34" charset="-122"/>
                </a:rPr>
                <a:t>标准轨道</a:t>
              </a:r>
            </a:p>
          </p:txBody>
        </p:sp>
        <p:cxnSp>
          <p:nvCxnSpPr>
            <p:cNvPr id="46" name="直接箭头连接符 45"/>
            <p:cNvCxnSpPr/>
            <p:nvPr/>
          </p:nvCxnSpPr>
          <p:spPr>
            <a:xfrm>
              <a:off x="3693384" y="2743488"/>
              <a:ext cx="480196" cy="0"/>
            </a:xfrm>
            <a:prstGeom prst="straightConnector1">
              <a:avLst/>
            </a:prstGeom>
            <a:ln w="19050">
              <a:solidFill>
                <a:srgbClr val="000000"/>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p:cNvCxnSpPr/>
            <p:nvPr/>
          </p:nvCxnSpPr>
          <p:spPr>
            <a:xfrm>
              <a:off x="3693384" y="4032355"/>
              <a:ext cx="480196" cy="0"/>
            </a:xfrm>
            <a:prstGeom prst="straightConnector1">
              <a:avLst/>
            </a:prstGeom>
            <a:ln w="19050">
              <a:solidFill>
                <a:srgbClr val="000000"/>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p:cNvCxnSpPr/>
            <p:nvPr/>
          </p:nvCxnSpPr>
          <p:spPr>
            <a:xfrm>
              <a:off x="4173580" y="2744753"/>
              <a:ext cx="0" cy="1287325"/>
            </a:xfrm>
            <a:prstGeom prst="straightConnector1">
              <a:avLst/>
            </a:prstGeom>
            <a:ln w="19050">
              <a:solidFill>
                <a:srgbClr val="000000"/>
              </a:solidFill>
              <a:prstDash val="sys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0" name="圆角矩形 49"/>
            <p:cNvSpPr/>
            <p:nvPr/>
          </p:nvSpPr>
          <p:spPr>
            <a:xfrm>
              <a:off x="5076712" y="2011680"/>
              <a:ext cx="2542903" cy="2412274"/>
            </a:xfrm>
            <a:prstGeom prst="roundRect">
              <a:avLst>
                <a:gd name="adj" fmla="val 2949"/>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505318" y="2020455"/>
              <a:ext cx="1083909" cy="276999"/>
            </a:xfrm>
            <a:prstGeom prst="rect">
              <a:avLst/>
            </a:prstGeom>
            <a:noFill/>
          </p:spPr>
          <p:txBody>
            <a:bodyPr wrap="square" rtlCol="0">
              <a:spAutoFit/>
            </a:bodyPr>
            <a:lstStyle/>
            <a:p>
              <a:pPr algn="r"/>
              <a:r>
                <a:rPr lang="zh-CN" altLang="en-US" sz="1200" b="1" dirty="0" smtClean="0">
                  <a:solidFill>
                    <a:srgbClr val="000000"/>
                  </a:solidFill>
                  <a:latin typeface="微软雅黑" panose="020B0503020204020204" pitchFamily="34" charset="-122"/>
                  <a:ea typeface="微软雅黑" panose="020B0503020204020204" pitchFamily="34" charset="-122"/>
                </a:rPr>
                <a:t>非标准</a:t>
              </a:r>
              <a:r>
                <a:rPr lang="zh-CN" altLang="en-US" sz="1200" b="1" dirty="0">
                  <a:solidFill>
                    <a:srgbClr val="000000"/>
                  </a:solidFill>
                  <a:latin typeface="微软雅黑" panose="020B0503020204020204" pitchFamily="34" charset="-122"/>
                  <a:ea typeface="微软雅黑" panose="020B0503020204020204" pitchFamily="34" charset="-122"/>
                </a:rPr>
                <a:t>轨道</a:t>
              </a:r>
            </a:p>
          </p:txBody>
        </p:sp>
        <p:sp>
          <p:nvSpPr>
            <p:cNvPr id="52" name="任意多边形 51"/>
            <p:cNvSpPr/>
            <p:nvPr/>
          </p:nvSpPr>
          <p:spPr>
            <a:xfrm>
              <a:off x="5354664" y="3804703"/>
              <a:ext cx="1942670" cy="406619"/>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3"/>
            </a:lnRef>
            <a:fillRef idx="2">
              <a:schemeClr val="accent3"/>
            </a:fillRef>
            <a:effectRef idx="1">
              <a:schemeClr val="accent3"/>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smtClean="0">
                  <a:solidFill>
                    <a:srgbClr val="000000"/>
                  </a:solidFill>
                  <a:latin typeface="微软雅黑" panose="020B0503020204020204" pitchFamily="34" charset="-122"/>
                  <a:ea typeface="微软雅黑" panose="020B0503020204020204" pitchFamily="34" charset="-122"/>
                </a:rPr>
                <a:t>历史</a:t>
              </a:r>
              <a:endParaRPr lang="en-US" altLang="zh-CN" sz="1100" b="1" dirty="0" smtClean="0">
                <a:solidFill>
                  <a:srgbClr val="000000"/>
                </a:solidFill>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kern="1200" dirty="0" smtClean="0">
                  <a:solidFill>
                    <a:srgbClr val="000000"/>
                  </a:solidFill>
                  <a:latin typeface="微软雅黑" panose="020B0503020204020204" pitchFamily="34" charset="-122"/>
                  <a:ea typeface="微软雅黑" panose="020B0503020204020204" pitchFamily="34" charset="-122"/>
                </a:rPr>
                <a:t>(</a:t>
              </a:r>
              <a:r>
                <a:rPr lang="en-US" altLang="zh-CN" sz="1100" b="1" kern="1200" dirty="0" smtClean="0">
                  <a:solidFill>
                    <a:srgbClr val="000000"/>
                  </a:solidFill>
                  <a:latin typeface="微软雅黑" panose="020B0503020204020204" pitchFamily="34" charset="-122"/>
                  <a:ea typeface="微软雅黑" panose="020B0503020204020204" pitchFamily="34" charset="-122"/>
                </a:rPr>
                <a:t>Historic</a:t>
              </a:r>
              <a:r>
                <a:rPr lang="en-US" altLang="en-US" sz="1100" b="1" kern="1200" dirty="0" smtClean="0">
                  <a:solidFill>
                    <a:srgbClr val="000000"/>
                  </a:solidFill>
                  <a:latin typeface="微软雅黑" panose="020B0503020204020204" pitchFamily="34" charset="-122"/>
                  <a:ea typeface="微软雅黑" panose="020B0503020204020204" pitchFamily="34" charset="-122"/>
                </a:rPr>
                <a:t>)</a:t>
              </a:r>
              <a:endParaRPr lang="zh-CN" altLang="en-US" sz="1100" b="1" kern="1200" dirty="0">
                <a:solidFill>
                  <a:srgbClr val="000000"/>
                </a:solidFill>
                <a:latin typeface="微软雅黑" panose="020B0503020204020204" pitchFamily="34" charset="-122"/>
                <a:ea typeface="微软雅黑" panose="020B0503020204020204" pitchFamily="34" charset="-122"/>
              </a:endParaRPr>
            </a:p>
          </p:txBody>
        </p:sp>
        <p:sp>
          <p:nvSpPr>
            <p:cNvPr id="53" name="任意多边形 52"/>
            <p:cNvSpPr/>
            <p:nvPr/>
          </p:nvSpPr>
          <p:spPr>
            <a:xfrm>
              <a:off x="5354664" y="3109228"/>
              <a:ext cx="1942670"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6"/>
            </a:lnRef>
            <a:fillRef idx="2">
              <a:schemeClr val="accent6"/>
            </a:fillRef>
            <a:effectRef idx="1">
              <a:schemeClr val="accent6"/>
            </a:effectRef>
            <a:fontRef idx="minor">
              <a:schemeClr val="dk1">
                <a:hueOff val="0"/>
                <a:satOff val="0"/>
                <a:lumOff val="0"/>
                <a:alphaOff val="0"/>
              </a:schemeClr>
            </a:fontRef>
          </p:style>
          <p:txBody>
            <a:bodyPr spcFirstLastPara="0" vert="horz" wrap="square" lIns="36579" tIns="36579" rIns="36579" bIns="36579" numCol="1" spcCol="1270" anchor="ctr" anchorCtr="0">
              <a:noAutofit/>
            </a:bodyPr>
            <a:lstStyle/>
            <a:p>
              <a:pPr lvl="0" algn="ctr" defTabSz="800100">
                <a:spcAft>
                  <a:spcPts val="0"/>
                </a:spcAft>
              </a:pPr>
              <a:r>
                <a:rPr lang="zh-CN" altLang="en-US" sz="1100" b="1" dirty="0" smtClean="0">
                  <a:solidFill>
                    <a:srgbClr val="000000"/>
                  </a:solidFill>
                  <a:latin typeface="微软雅黑" panose="020B0503020204020204" pitchFamily="34" charset="-122"/>
                  <a:ea typeface="微软雅黑" panose="020B0503020204020204" pitchFamily="34" charset="-122"/>
                </a:rPr>
                <a:t>信息</a:t>
              </a:r>
              <a:endParaRPr lang="en-US" altLang="zh-CN" sz="1100" b="1" dirty="0" smtClean="0">
                <a:solidFill>
                  <a:srgbClr val="000000"/>
                </a:solidFill>
                <a:latin typeface="微软雅黑" panose="020B0503020204020204" pitchFamily="34" charset="-122"/>
                <a:ea typeface="微软雅黑" panose="020B0503020204020204" pitchFamily="34" charset="-122"/>
              </a:endParaRPr>
            </a:p>
            <a:p>
              <a:pPr lvl="0" algn="ctr" defTabSz="800100">
                <a:spcAft>
                  <a:spcPts val="0"/>
                </a:spcAft>
              </a:pPr>
              <a:r>
                <a:rPr lang="en-US" altLang="en-US" sz="1100" b="1" dirty="0">
                  <a:solidFill>
                    <a:srgbClr val="000000"/>
                  </a:solidFill>
                  <a:latin typeface="微软雅黑" panose="020B0503020204020204" pitchFamily="34" charset="-122"/>
                  <a:ea typeface="微软雅黑" panose="020B0503020204020204" pitchFamily="34" charset="-122"/>
                </a:rPr>
                <a:t>(Informational)</a:t>
              </a:r>
              <a:endParaRPr lang="zh-CN" altLang="en-US" sz="1100" b="1" kern="1200" dirty="0">
                <a:solidFill>
                  <a:srgbClr val="000000"/>
                </a:solidFill>
                <a:latin typeface="微软雅黑" panose="020B0503020204020204" pitchFamily="34" charset="-122"/>
                <a:ea typeface="微软雅黑" panose="020B0503020204020204" pitchFamily="34" charset="-122"/>
              </a:endParaRPr>
            </a:p>
          </p:txBody>
        </p:sp>
        <p:sp>
          <p:nvSpPr>
            <p:cNvPr id="54" name="任意多边形 53"/>
            <p:cNvSpPr/>
            <p:nvPr/>
          </p:nvSpPr>
          <p:spPr>
            <a:xfrm>
              <a:off x="5359902" y="2395071"/>
              <a:ext cx="1937432" cy="412661"/>
            </a:xfrm>
            <a:custGeom>
              <a:avLst/>
              <a:gdLst>
                <a:gd name="connsiteX0" fmla="*/ 0 w 3948049"/>
                <a:gd name="connsiteY0" fmla="*/ 46841 h 468406"/>
                <a:gd name="connsiteX1" fmla="*/ 46841 w 3948049"/>
                <a:gd name="connsiteY1" fmla="*/ 0 h 468406"/>
                <a:gd name="connsiteX2" fmla="*/ 3901208 w 3948049"/>
                <a:gd name="connsiteY2" fmla="*/ 0 h 468406"/>
                <a:gd name="connsiteX3" fmla="*/ 3948049 w 3948049"/>
                <a:gd name="connsiteY3" fmla="*/ 46841 h 468406"/>
                <a:gd name="connsiteX4" fmla="*/ 3948049 w 3948049"/>
                <a:gd name="connsiteY4" fmla="*/ 421565 h 468406"/>
                <a:gd name="connsiteX5" fmla="*/ 3901208 w 3948049"/>
                <a:gd name="connsiteY5" fmla="*/ 468406 h 468406"/>
                <a:gd name="connsiteX6" fmla="*/ 46841 w 3948049"/>
                <a:gd name="connsiteY6" fmla="*/ 468406 h 468406"/>
                <a:gd name="connsiteX7" fmla="*/ 0 w 3948049"/>
                <a:gd name="connsiteY7" fmla="*/ 421565 h 468406"/>
                <a:gd name="connsiteX8" fmla="*/ 0 w 3948049"/>
                <a:gd name="connsiteY8" fmla="*/ 46841 h 468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48049" h="468406">
                  <a:moveTo>
                    <a:pt x="0" y="46841"/>
                  </a:moveTo>
                  <a:cubicBezTo>
                    <a:pt x="0" y="20971"/>
                    <a:pt x="20971" y="0"/>
                    <a:pt x="46841" y="0"/>
                  </a:cubicBezTo>
                  <a:lnTo>
                    <a:pt x="3901208" y="0"/>
                  </a:lnTo>
                  <a:cubicBezTo>
                    <a:pt x="3927078" y="0"/>
                    <a:pt x="3948049" y="20971"/>
                    <a:pt x="3948049" y="46841"/>
                  </a:cubicBezTo>
                  <a:lnTo>
                    <a:pt x="3948049" y="421565"/>
                  </a:lnTo>
                  <a:cubicBezTo>
                    <a:pt x="3948049" y="447435"/>
                    <a:pt x="3927078" y="468406"/>
                    <a:pt x="3901208" y="468406"/>
                  </a:cubicBezTo>
                  <a:lnTo>
                    <a:pt x="46841" y="468406"/>
                  </a:lnTo>
                  <a:cubicBezTo>
                    <a:pt x="20971" y="468406"/>
                    <a:pt x="0" y="447435"/>
                    <a:pt x="0" y="421565"/>
                  </a:cubicBezTo>
                  <a:lnTo>
                    <a:pt x="0" y="46841"/>
                  </a:lnTo>
                  <a:close/>
                </a:path>
              </a:pathLst>
            </a:custGeom>
            <a:solidFill>
              <a:schemeClr val="accent5">
                <a:lumMod val="20000"/>
                <a:lumOff val="80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spcFirstLastPara="0" vert="horz" wrap="square" lIns="36579" tIns="36579" rIns="36579" bIns="36579" numCol="1" spcCol="1270" anchor="ctr" anchorCtr="0">
              <a:noAutofit/>
            </a:bodyPr>
            <a:lstStyle/>
            <a:p>
              <a:pPr lvl="0" algn="ctr" defTabSz="800100">
                <a:spcBef>
                  <a:spcPct val="0"/>
                </a:spcBef>
                <a:spcAft>
                  <a:spcPts val="0"/>
                </a:spcAft>
              </a:pPr>
              <a:r>
                <a:rPr lang="zh-CN" altLang="en-US" sz="1100" b="1" dirty="0" smtClean="0">
                  <a:solidFill>
                    <a:srgbClr val="000000"/>
                  </a:solidFill>
                  <a:latin typeface="微软雅黑" panose="020B0503020204020204" pitchFamily="34" charset="-122"/>
                  <a:ea typeface="微软雅黑" panose="020B0503020204020204" pitchFamily="34" charset="-122"/>
                </a:rPr>
                <a:t>实验</a:t>
              </a:r>
              <a:endParaRPr lang="en-US" altLang="zh-CN" sz="1100" b="1" kern="1200" dirty="0" smtClean="0">
                <a:solidFill>
                  <a:srgbClr val="000000"/>
                </a:solidFill>
                <a:latin typeface="微软雅黑" panose="020B0503020204020204" pitchFamily="34" charset="-122"/>
                <a:ea typeface="微软雅黑" panose="020B0503020204020204" pitchFamily="34" charset="-122"/>
              </a:endParaRPr>
            </a:p>
            <a:p>
              <a:pPr lvl="0" algn="ctr" defTabSz="800100">
                <a:spcAft>
                  <a:spcPts val="0"/>
                </a:spcAft>
              </a:pPr>
              <a:r>
                <a:rPr lang="zh-CN" altLang="en-US" sz="1100" b="1" kern="1200" dirty="0" smtClean="0">
                  <a:solidFill>
                    <a:srgbClr val="000000"/>
                  </a:solidFill>
                  <a:latin typeface="微软雅黑" panose="020B0503020204020204" pitchFamily="34" charset="-122"/>
                  <a:ea typeface="微软雅黑" panose="020B0503020204020204" pitchFamily="34" charset="-122"/>
                </a:rPr>
                <a:t> </a:t>
              </a:r>
              <a:r>
                <a:rPr lang="en-US" altLang="en-US" sz="1100" b="1" dirty="0" smtClean="0">
                  <a:solidFill>
                    <a:srgbClr val="000000"/>
                  </a:solidFill>
                  <a:latin typeface="微软雅黑" panose="020B0503020204020204" pitchFamily="34" charset="-122"/>
                  <a:ea typeface="微软雅黑" panose="020B0503020204020204" pitchFamily="34" charset="-122"/>
                </a:rPr>
                <a:t>(</a:t>
              </a:r>
              <a:r>
                <a:rPr lang="en-US" altLang="zh-CN" sz="1100" b="1" dirty="0" smtClean="0">
                  <a:solidFill>
                    <a:srgbClr val="000000"/>
                  </a:solidFill>
                  <a:latin typeface="微软雅黑" panose="020B0503020204020204" pitchFamily="34" charset="-122"/>
                  <a:ea typeface="微软雅黑" panose="020B0503020204020204" pitchFamily="34" charset="-122"/>
                </a:rPr>
                <a:t>Experimental</a:t>
              </a:r>
              <a:r>
                <a:rPr lang="en-US" altLang="en-US" sz="1100" b="1" kern="1200" dirty="0" smtClean="0">
                  <a:solidFill>
                    <a:srgbClr val="000000"/>
                  </a:solidFill>
                  <a:latin typeface="微软雅黑" panose="020B0503020204020204" pitchFamily="34" charset="-122"/>
                  <a:ea typeface="微软雅黑" panose="020B0503020204020204" pitchFamily="34" charset="-122"/>
                </a:rPr>
                <a:t>)</a:t>
              </a:r>
              <a:endParaRPr lang="zh-CN" altLang="en-US" sz="1100" b="1" kern="1200" dirty="0">
                <a:solidFill>
                  <a:srgbClr val="000000"/>
                </a:solidFill>
                <a:latin typeface="微软雅黑" panose="020B0503020204020204" pitchFamily="34" charset="-122"/>
                <a:ea typeface="微软雅黑" panose="020B0503020204020204" pitchFamily="34" charset="-122"/>
              </a:endParaRPr>
            </a:p>
          </p:txBody>
        </p:sp>
        <p:cxnSp>
          <p:nvCxnSpPr>
            <p:cNvPr id="55" name="直接箭头连接符 54"/>
            <p:cNvCxnSpPr/>
            <p:nvPr/>
          </p:nvCxnSpPr>
          <p:spPr>
            <a:xfrm>
              <a:off x="6313710" y="1899702"/>
              <a:ext cx="0" cy="495369"/>
            </a:xfrm>
            <a:prstGeom prst="straightConnector1">
              <a:avLst/>
            </a:prstGeom>
            <a:ln w="19050">
              <a:solidFill>
                <a:srgbClr val="000000"/>
              </a:solidFill>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p:nvPr/>
          </p:nvCxnSpPr>
          <p:spPr>
            <a:xfrm>
              <a:off x="4173580" y="4032078"/>
              <a:ext cx="1181084" cy="0"/>
            </a:xfrm>
            <a:prstGeom prst="straightConnector1">
              <a:avLst/>
            </a:prstGeom>
            <a:ln w="19050">
              <a:solidFill>
                <a:srgbClr val="000000"/>
              </a:solidFill>
              <a:prstDash val="sys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7993465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指引</a:t>
            </a:r>
          </a:p>
        </p:txBody>
      </p:sp>
      <p:sp>
        <p:nvSpPr>
          <p:cNvPr id="11267" name="Rectangle 3"/>
          <p:cNvSpPr>
            <a:spLocks noGrp="1" noChangeArrowheads="1"/>
          </p:cNvSpPr>
          <p:nvPr>
            <p:ph idx="1"/>
          </p:nvPr>
        </p:nvSpPr>
        <p:spPr/>
        <p:txBody>
          <a:bodyPr/>
          <a:lstStyle/>
          <a:p>
            <a:r>
              <a:rPr lang="zh-CN" altLang="en-US" dirty="0"/>
              <a:t>计算机网络在信息时代的作用</a:t>
            </a:r>
          </a:p>
          <a:p>
            <a:r>
              <a:rPr lang="zh-CN" altLang="en-US" dirty="0"/>
              <a:t>互联网概述</a:t>
            </a:r>
          </a:p>
          <a:p>
            <a:r>
              <a:rPr lang="zh-CN" altLang="en-US" dirty="0">
                <a:solidFill>
                  <a:srgbClr val="C00000"/>
                </a:solidFill>
              </a:rPr>
              <a:t>互联网的组成</a:t>
            </a:r>
            <a:endParaRPr lang="en-US" altLang="zh-CN" dirty="0">
              <a:solidFill>
                <a:srgbClr val="C00000"/>
              </a:solidFill>
            </a:endParaRPr>
          </a:p>
          <a:p>
            <a:r>
              <a:rPr lang="zh-CN" altLang="en-US" dirty="0"/>
              <a:t>计算机网络在我国的发展</a:t>
            </a:r>
          </a:p>
          <a:p>
            <a:r>
              <a:rPr lang="zh-CN" altLang="en-US" dirty="0"/>
              <a:t>计算机网络的类别</a:t>
            </a:r>
          </a:p>
          <a:p>
            <a:r>
              <a:rPr lang="zh-CN" altLang="en-US" dirty="0"/>
              <a:t>计算机网络的性能</a:t>
            </a:r>
            <a:endParaRPr lang="en-US" altLang="zh-CN" dirty="0"/>
          </a:p>
          <a:p>
            <a:r>
              <a:rPr lang="zh-CN" altLang="en-US" dirty="0"/>
              <a:t>计算机网络的体系结构</a:t>
            </a:r>
          </a:p>
          <a:p>
            <a:pPr eaLnBrk="1" hangingPunct="1">
              <a:buFont typeface="Wingdings" pitchFamily="2" charset="2"/>
              <a:buNone/>
            </a:pPr>
            <a:endParaRPr lang="zh-CN" altLang="en-US" sz="2800" dirty="0"/>
          </a:p>
          <a:p>
            <a:pPr eaLnBrk="1" hangingPunct="1">
              <a:buFont typeface="Wingdings" pitchFamily="2" charset="2"/>
              <a:buNone/>
            </a:pPr>
            <a:r>
              <a:rPr lang="zh-CN" altLang="en-US" sz="2800" dirty="0"/>
              <a:t>     </a:t>
            </a:r>
          </a:p>
        </p:txBody>
      </p:sp>
    </p:spTree>
    <p:extLst>
      <p:ext uri="{BB962C8B-B14F-4D97-AF65-F5344CB8AC3E}">
        <p14:creationId xmlns:p14="http://schemas.microsoft.com/office/powerpoint/2010/main" val="3686441953"/>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p:txBody>
          <a:bodyPr/>
          <a:lstStyle/>
          <a:p>
            <a:pPr eaLnBrk="1" hangingPunct="1"/>
            <a:r>
              <a:rPr lang="en-US" altLang="zh-CN" dirty="0"/>
              <a:t>1.3 </a:t>
            </a:r>
            <a:r>
              <a:rPr lang="zh-CN" altLang="en-US" dirty="0" smtClean="0"/>
              <a:t>互联网</a:t>
            </a:r>
            <a:r>
              <a:rPr lang="zh-CN" altLang="en-US" dirty="0"/>
              <a:t>的组成</a:t>
            </a:r>
          </a:p>
        </p:txBody>
      </p:sp>
      <p:sp>
        <p:nvSpPr>
          <p:cNvPr id="21508" name="Content Placeholder 7"/>
          <p:cNvSpPr>
            <a:spLocks noGrp="1" noChangeArrowheads="1"/>
          </p:cNvSpPr>
          <p:nvPr>
            <p:ph idx="1"/>
          </p:nvPr>
        </p:nvSpPr>
        <p:spPr/>
        <p:txBody>
          <a:bodyPr/>
          <a:lstStyle/>
          <a:p>
            <a:pPr marL="457200" indent="-457200" fontAlgn="auto">
              <a:defRPr/>
            </a:pPr>
            <a:r>
              <a:rPr lang="zh-CN" altLang="en-US" b="1" dirty="0"/>
              <a:t>从互联网的工作方式上看，</a:t>
            </a:r>
            <a:r>
              <a:rPr lang="zh-CN" altLang="en-US" b="1" dirty="0" smtClean="0"/>
              <a:t>可以将其划分</a:t>
            </a:r>
            <a:r>
              <a:rPr lang="zh-CN" altLang="en-US" b="1" dirty="0"/>
              <a:t>为两大块：</a:t>
            </a:r>
            <a:endParaRPr lang="en-US" altLang="zh-CN" b="1" dirty="0">
              <a:solidFill>
                <a:srgbClr val="0000FF"/>
              </a:solidFill>
            </a:endParaRPr>
          </a:p>
          <a:p>
            <a:pPr marL="746126" lvl="1" indent="-268288" fontAlgn="auto">
              <a:buClr>
                <a:srgbClr val="0070C0"/>
              </a:buClr>
              <a:defRPr/>
            </a:pPr>
            <a:r>
              <a:rPr lang="zh-CN" altLang="en-US" b="1" dirty="0">
                <a:solidFill>
                  <a:srgbClr val="C00000"/>
                </a:solidFill>
              </a:rPr>
              <a:t>边缘部分： </a:t>
            </a:r>
            <a:r>
              <a:rPr lang="zh-CN" altLang="en-US" b="1" dirty="0"/>
              <a:t>由所有连接在互联网上的</a:t>
            </a:r>
            <a:r>
              <a:rPr lang="zh-CN" altLang="en-US" b="1" dirty="0">
                <a:solidFill>
                  <a:srgbClr val="0000FF"/>
                </a:solidFill>
              </a:rPr>
              <a:t>主机</a:t>
            </a:r>
            <a:r>
              <a:rPr lang="zh-CN" altLang="en-US" b="1" dirty="0"/>
              <a:t>组成，由用户直接使用，用来进行通信（传送数据、音频或视频）和资源共享。</a:t>
            </a:r>
          </a:p>
          <a:p>
            <a:pPr marL="746126" lvl="1" indent="-268288" fontAlgn="auto">
              <a:buClr>
                <a:srgbClr val="0070C0"/>
              </a:buClr>
              <a:defRPr/>
            </a:pPr>
            <a:r>
              <a:rPr lang="zh-CN" altLang="en-US" b="1" dirty="0">
                <a:solidFill>
                  <a:srgbClr val="C00000"/>
                </a:solidFill>
              </a:rPr>
              <a:t>核心部分：</a:t>
            </a:r>
            <a:r>
              <a:rPr lang="zh-CN" altLang="en-US" b="1" dirty="0"/>
              <a:t>由大量</a:t>
            </a:r>
            <a:r>
              <a:rPr lang="zh-CN" altLang="en-US" b="1" dirty="0">
                <a:solidFill>
                  <a:srgbClr val="0000FF"/>
                </a:solidFill>
              </a:rPr>
              <a:t>网络</a:t>
            </a:r>
            <a:r>
              <a:rPr lang="zh-CN" altLang="en-US" b="1" dirty="0"/>
              <a:t>和连接这些网络的</a:t>
            </a:r>
            <a:r>
              <a:rPr lang="zh-CN" altLang="en-US" b="1" dirty="0">
                <a:solidFill>
                  <a:srgbClr val="0000FF"/>
                </a:solidFill>
              </a:rPr>
              <a:t>路由器</a:t>
            </a:r>
            <a:r>
              <a:rPr lang="zh-CN" altLang="en-US" b="1" dirty="0"/>
              <a:t>组成，为边缘部分提供服务（提供连通性和交换）。</a:t>
            </a:r>
            <a:endParaRPr lang="en-US" altLang="zh-CN" b="1" dirty="0"/>
          </a:p>
          <a:p>
            <a:pPr eaLnBrk="1" hangingPunct="1">
              <a:buFont typeface="Wingdings" pitchFamily="2" charset="2"/>
              <a:buNone/>
            </a:pPr>
            <a:endParaRPr lang="en-US" altLang="zh-CN" b="1" dirty="0"/>
          </a:p>
        </p:txBody>
      </p:sp>
    </p:spTree>
    <p:extLst>
      <p:ext uri="{BB962C8B-B14F-4D97-AF65-F5344CB8AC3E}">
        <p14:creationId xmlns:p14="http://schemas.microsoft.com/office/powerpoint/2010/main" val="1499297304"/>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767408" y="1340768"/>
            <a:ext cx="11017224" cy="5256584"/>
            <a:chOff x="214313" y="2071688"/>
            <a:chExt cx="8675687" cy="4248150"/>
          </a:xfrm>
        </p:grpSpPr>
        <p:sp>
          <p:nvSpPr>
            <p:cNvPr id="10" name="Oval 4"/>
            <p:cNvSpPr>
              <a:spLocks noChangeArrowheads="1"/>
            </p:cNvSpPr>
            <p:nvPr/>
          </p:nvSpPr>
          <p:spPr bwMode="auto">
            <a:xfrm>
              <a:off x="214313" y="2071688"/>
              <a:ext cx="8675687" cy="4248150"/>
            </a:xfrm>
            <a:prstGeom prst="ellipse">
              <a:avLst/>
            </a:prstGeom>
            <a:solidFill>
              <a:srgbClr val="99CCFF"/>
            </a:solidFill>
            <a:ln w="9525">
              <a:solidFill>
                <a:schemeClr val="tx1"/>
              </a:solidFill>
              <a:prstDash val="dash"/>
              <a:round/>
              <a:headEnd/>
              <a:tailEnd/>
            </a:ln>
            <a:effectLst/>
          </p:spPr>
          <p:txBody>
            <a:bodyPr wrap="none" anchor="ctr"/>
            <a:lstStyle/>
            <a:p>
              <a:pPr>
                <a:defRPr/>
              </a:pPr>
              <a:endParaRPr lang="zh-CN" altLang="en-US" b="1">
                <a:solidFill>
                  <a:srgbClr val="1C1C1C"/>
                </a:solidFill>
              </a:endParaRPr>
            </a:p>
          </p:txBody>
        </p:sp>
        <p:sp>
          <p:nvSpPr>
            <p:cNvPr id="11" name="Oval 5"/>
            <p:cNvSpPr>
              <a:spLocks noChangeArrowheads="1"/>
            </p:cNvSpPr>
            <p:nvPr/>
          </p:nvSpPr>
          <p:spPr bwMode="auto">
            <a:xfrm>
              <a:off x="1862138" y="3060700"/>
              <a:ext cx="5381625" cy="2270125"/>
            </a:xfrm>
            <a:prstGeom prst="ellipse">
              <a:avLst/>
            </a:prstGeom>
            <a:solidFill>
              <a:schemeClr val="bg1"/>
            </a:solidFill>
            <a:ln w="9525">
              <a:solidFill>
                <a:schemeClr val="tx1"/>
              </a:solidFill>
              <a:prstDash val="dash"/>
              <a:round/>
              <a:headEnd/>
              <a:tailEnd/>
            </a:ln>
            <a:effectLst/>
          </p:spPr>
          <p:txBody>
            <a:bodyPr wrap="none" anchor="ctr"/>
            <a:lstStyle/>
            <a:p>
              <a:pPr>
                <a:defRPr/>
              </a:pPr>
              <a:endParaRPr lang="zh-CN" altLang="en-US" b="1">
                <a:solidFill>
                  <a:srgbClr val="1C1C1C"/>
                </a:solidFill>
              </a:endParaRPr>
            </a:p>
          </p:txBody>
        </p:sp>
        <p:pic>
          <p:nvPicPr>
            <p:cNvPr id="12" name="Picture 6"/>
            <p:cNvPicPr>
              <a:picLocks noChangeArrowheads="1"/>
            </p:cNvPicPr>
            <p:nvPr/>
          </p:nvPicPr>
          <p:blipFill>
            <a:blip r:embed="rId3"/>
            <a:srcRect/>
            <a:stretch>
              <a:fillRect/>
            </a:stretch>
          </p:blipFill>
          <p:spPr bwMode="auto">
            <a:xfrm>
              <a:off x="1579563" y="2960688"/>
              <a:ext cx="468312" cy="466725"/>
            </a:xfrm>
            <a:prstGeom prst="rect">
              <a:avLst/>
            </a:prstGeom>
            <a:noFill/>
            <a:ln w="9525">
              <a:noFill/>
              <a:miter lim="800000"/>
              <a:headEnd/>
              <a:tailEnd/>
            </a:ln>
          </p:spPr>
        </p:pic>
        <p:pic>
          <p:nvPicPr>
            <p:cNvPr id="13" name="Picture 7"/>
            <p:cNvPicPr>
              <a:picLocks noChangeArrowheads="1"/>
            </p:cNvPicPr>
            <p:nvPr/>
          </p:nvPicPr>
          <p:blipFill>
            <a:blip r:embed="rId4"/>
            <a:srcRect/>
            <a:stretch>
              <a:fillRect/>
            </a:stretch>
          </p:blipFill>
          <p:spPr bwMode="auto">
            <a:xfrm>
              <a:off x="3186113" y="3646488"/>
              <a:ext cx="495300" cy="347662"/>
            </a:xfrm>
            <a:prstGeom prst="rect">
              <a:avLst/>
            </a:prstGeom>
            <a:noFill/>
            <a:ln w="12699">
              <a:noFill/>
              <a:miter lim="800000"/>
              <a:headEnd/>
              <a:tailEnd/>
            </a:ln>
          </p:spPr>
        </p:pic>
        <p:grpSp>
          <p:nvGrpSpPr>
            <p:cNvPr id="14" name="Group 8"/>
            <p:cNvGrpSpPr>
              <a:grpSpLocks/>
            </p:cNvGrpSpPr>
            <p:nvPr/>
          </p:nvGrpSpPr>
          <p:grpSpPr bwMode="auto">
            <a:xfrm rot="-448665">
              <a:off x="2141538" y="3990975"/>
              <a:ext cx="722312" cy="487363"/>
              <a:chOff x="2949" y="196"/>
              <a:chExt cx="941" cy="598"/>
            </a:xfrm>
          </p:grpSpPr>
          <p:sp>
            <p:nvSpPr>
              <p:cNvPr id="78" name="Oval 9"/>
              <p:cNvSpPr>
                <a:spLocks noChangeArrowheads="1"/>
              </p:cNvSpPr>
              <p:nvPr/>
            </p:nvSpPr>
            <p:spPr bwMode="auto">
              <a:xfrm>
                <a:off x="3161" y="193"/>
                <a:ext cx="407" cy="162"/>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79" name="Oval 10"/>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80" name="Oval 11"/>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81" name="Oval 12"/>
              <p:cNvSpPr>
                <a:spLocks noChangeArrowheads="1"/>
              </p:cNvSpPr>
              <p:nvPr/>
            </p:nvSpPr>
            <p:spPr bwMode="auto">
              <a:xfrm rot="20040000">
                <a:off x="3567" y="529"/>
                <a:ext cx="292" cy="189"/>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82" name="Oval 13"/>
              <p:cNvSpPr>
                <a:spLocks noChangeArrowheads="1"/>
              </p:cNvSpPr>
              <p:nvPr/>
            </p:nvSpPr>
            <p:spPr bwMode="auto">
              <a:xfrm>
                <a:off x="3208" y="551"/>
                <a:ext cx="472" cy="240"/>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83" name="Oval 14"/>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84" name="Oval 15"/>
              <p:cNvSpPr>
                <a:spLocks noChangeArrowheads="1"/>
              </p:cNvSpPr>
              <p:nvPr/>
            </p:nvSpPr>
            <p:spPr bwMode="auto">
              <a:xfrm>
                <a:off x="2949" y="424"/>
                <a:ext cx="215"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85" name="Oval 16"/>
              <p:cNvSpPr>
                <a:spLocks noChangeArrowheads="1"/>
              </p:cNvSpPr>
              <p:nvPr/>
            </p:nvSpPr>
            <p:spPr bwMode="auto">
              <a:xfrm rot="19740000">
                <a:off x="2984" y="310"/>
                <a:ext cx="296"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86" name="Freeform 17"/>
              <p:cNvSpPr>
                <a:spLocks/>
              </p:cNvSpPr>
              <p:nvPr/>
            </p:nvSpPr>
            <p:spPr bwMode="auto">
              <a:xfrm>
                <a:off x="3050" y="291"/>
                <a:ext cx="738" cy="407"/>
              </a:xfrm>
              <a:custGeom>
                <a:avLst/>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87" name="Freeform 18"/>
              <p:cNvSpPr>
                <a:spLocks/>
              </p:cNvSpPr>
              <p:nvPr/>
            </p:nvSpPr>
            <p:spPr bwMode="auto">
              <a:xfrm>
                <a:off x="3190" y="263"/>
                <a:ext cx="120" cy="125"/>
              </a:xfrm>
              <a:custGeom>
                <a:avLst/>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88" name="Freeform 19"/>
              <p:cNvSpPr>
                <a:spLocks/>
              </p:cNvSpPr>
              <p:nvPr/>
            </p:nvSpPr>
            <p:spPr bwMode="auto">
              <a:xfrm>
                <a:off x="3465" y="238"/>
                <a:ext cx="85" cy="88"/>
              </a:xfrm>
              <a:custGeom>
                <a:avLst/>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grpSp>
        <p:grpSp>
          <p:nvGrpSpPr>
            <p:cNvPr id="15" name="Group 20"/>
            <p:cNvGrpSpPr>
              <a:grpSpLocks/>
            </p:cNvGrpSpPr>
            <p:nvPr/>
          </p:nvGrpSpPr>
          <p:grpSpPr bwMode="auto">
            <a:xfrm rot="-448665">
              <a:off x="6400800" y="3829050"/>
              <a:ext cx="723900" cy="487363"/>
              <a:chOff x="2949" y="196"/>
              <a:chExt cx="941" cy="598"/>
            </a:xfrm>
          </p:grpSpPr>
          <p:sp>
            <p:nvSpPr>
              <p:cNvPr id="67" name="Oval 21"/>
              <p:cNvSpPr>
                <a:spLocks noChangeArrowheads="1"/>
              </p:cNvSpPr>
              <p:nvPr/>
            </p:nvSpPr>
            <p:spPr bwMode="auto">
              <a:xfrm>
                <a:off x="3168" y="188"/>
                <a:ext cx="407" cy="162"/>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68" name="Oval 22"/>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69" name="Oval 23"/>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70" name="Oval 24"/>
              <p:cNvSpPr>
                <a:spLocks noChangeArrowheads="1"/>
              </p:cNvSpPr>
              <p:nvPr/>
            </p:nvSpPr>
            <p:spPr bwMode="auto">
              <a:xfrm rot="20040000">
                <a:off x="3565" y="529"/>
                <a:ext cx="291" cy="189"/>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71" name="Oval 25"/>
              <p:cNvSpPr>
                <a:spLocks noChangeArrowheads="1"/>
              </p:cNvSpPr>
              <p:nvPr/>
            </p:nvSpPr>
            <p:spPr bwMode="auto">
              <a:xfrm>
                <a:off x="3208" y="551"/>
                <a:ext cx="475" cy="240"/>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72" name="Oval 26"/>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73" name="Oval 27"/>
              <p:cNvSpPr>
                <a:spLocks noChangeArrowheads="1"/>
              </p:cNvSpPr>
              <p:nvPr/>
            </p:nvSpPr>
            <p:spPr bwMode="auto">
              <a:xfrm>
                <a:off x="2949" y="424"/>
                <a:ext cx="217"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74" name="Oval 28"/>
              <p:cNvSpPr>
                <a:spLocks noChangeArrowheads="1"/>
              </p:cNvSpPr>
              <p:nvPr/>
            </p:nvSpPr>
            <p:spPr bwMode="auto">
              <a:xfrm rot="19740000">
                <a:off x="2984" y="310"/>
                <a:ext cx="295"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75" name="Freeform 29"/>
              <p:cNvSpPr>
                <a:spLocks/>
              </p:cNvSpPr>
              <p:nvPr/>
            </p:nvSpPr>
            <p:spPr bwMode="auto">
              <a:xfrm>
                <a:off x="3048" y="291"/>
                <a:ext cx="741" cy="407"/>
              </a:xfrm>
              <a:custGeom>
                <a:avLst/>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76" name="Freeform 30"/>
              <p:cNvSpPr>
                <a:spLocks/>
              </p:cNvSpPr>
              <p:nvPr/>
            </p:nvSpPr>
            <p:spPr bwMode="auto">
              <a:xfrm>
                <a:off x="3186" y="263"/>
                <a:ext cx="120" cy="125"/>
              </a:xfrm>
              <a:custGeom>
                <a:avLst/>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77" name="Freeform 31"/>
              <p:cNvSpPr>
                <a:spLocks/>
              </p:cNvSpPr>
              <p:nvPr/>
            </p:nvSpPr>
            <p:spPr bwMode="auto">
              <a:xfrm>
                <a:off x="3468" y="238"/>
                <a:ext cx="83" cy="88"/>
              </a:xfrm>
              <a:custGeom>
                <a:avLst/>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grpSp>
        <p:grpSp>
          <p:nvGrpSpPr>
            <p:cNvPr id="16" name="Group 32"/>
            <p:cNvGrpSpPr>
              <a:grpSpLocks/>
            </p:cNvGrpSpPr>
            <p:nvPr/>
          </p:nvGrpSpPr>
          <p:grpSpPr bwMode="auto">
            <a:xfrm rot="-448665">
              <a:off x="3508375" y="4638675"/>
              <a:ext cx="723900" cy="487363"/>
              <a:chOff x="2949" y="196"/>
              <a:chExt cx="941" cy="598"/>
            </a:xfrm>
          </p:grpSpPr>
          <p:sp>
            <p:nvSpPr>
              <p:cNvPr id="56" name="Oval 33"/>
              <p:cNvSpPr>
                <a:spLocks noChangeArrowheads="1"/>
              </p:cNvSpPr>
              <p:nvPr/>
            </p:nvSpPr>
            <p:spPr bwMode="auto">
              <a:xfrm>
                <a:off x="3168" y="188"/>
                <a:ext cx="407" cy="162"/>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57" name="Oval 34"/>
              <p:cNvSpPr>
                <a:spLocks noChangeArrowheads="1"/>
              </p:cNvSpPr>
              <p:nvPr/>
            </p:nvSpPr>
            <p:spPr bwMode="auto">
              <a:xfrm rot="900000">
                <a:off x="3512" y="252"/>
                <a:ext cx="274" cy="131"/>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58" name="Oval 35"/>
              <p:cNvSpPr>
                <a:spLocks noChangeArrowheads="1"/>
              </p:cNvSpPr>
              <p:nvPr/>
            </p:nvSpPr>
            <p:spPr bwMode="auto">
              <a:xfrm rot="1500000">
                <a:off x="3650" y="385"/>
                <a:ext cx="239" cy="154"/>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59" name="Oval 36"/>
              <p:cNvSpPr>
                <a:spLocks noChangeArrowheads="1"/>
              </p:cNvSpPr>
              <p:nvPr/>
            </p:nvSpPr>
            <p:spPr bwMode="auto">
              <a:xfrm rot="20040000">
                <a:off x="3565" y="529"/>
                <a:ext cx="291" cy="189"/>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60" name="Oval 37"/>
              <p:cNvSpPr>
                <a:spLocks noChangeArrowheads="1"/>
              </p:cNvSpPr>
              <p:nvPr/>
            </p:nvSpPr>
            <p:spPr bwMode="auto">
              <a:xfrm>
                <a:off x="3208" y="551"/>
                <a:ext cx="475" cy="240"/>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61" name="Oval 38"/>
              <p:cNvSpPr>
                <a:spLocks noChangeArrowheads="1"/>
              </p:cNvSpPr>
              <p:nvPr/>
            </p:nvSpPr>
            <p:spPr bwMode="auto">
              <a:xfrm rot="1080000">
                <a:off x="3023" y="554"/>
                <a:ext cx="264"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62" name="Oval 39"/>
              <p:cNvSpPr>
                <a:spLocks noChangeArrowheads="1"/>
              </p:cNvSpPr>
              <p:nvPr/>
            </p:nvSpPr>
            <p:spPr bwMode="auto">
              <a:xfrm>
                <a:off x="2949" y="424"/>
                <a:ext cx="217"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63" name="Oval 40"/>
              <p:cNvSpPr>
                <a:spLocks noChangeArrowheads="1"/>
              </p:cNvSpPr>
              <p:nvPr/>
            </p:nvSpPr>
            <p:spPr bwMode="auto">
              <a:xfrm rot="19740000">
                <a:off x="2984" y="310"/>
                <a:ext cx="295"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64" name="Freeform 41"/>
              <p:cNvSpPr>
                <a:spLocks/>
              </p:cNvSpPr>
              <p:nvPr/>
            </p:nvSpPr>
            <p:spPr bwMode="auto">
              <a:xfrm>
                <a:off x="3048" y="291"/>
                <a:ext cx="741" cy="407"/>
              </a:xfrm>
              <a:custGeom>
                <a:avLst/>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65" name="Freeform 42"/>
              <p:cNvSpPr>
                <a:spLocks/>
              </p:cNvSpPr>
              <p:nvPr/>
            </p:nvSpPr>
            <p:spPr bwMode="auto">
              <a:xfrm>
                <a:off x="3186" y="263"/>
                <a:ext cx="120" cy="125"/>
              </a:xfrm>
              <a:custGeom>
                <a:avLst/>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66" name="Freeform 43"/>
              <p:cNvSpPr>
                <a:spLocks/>
              </p:cNvSpPr>
              <p:nvPr/>
            </p:nvSpPr>
            <p:spPr bwMode="auto">
              <a:xfrm>
                <a:off x="3468" y="238"/>
                <a:ext cx="83" cy="88"/>
              </a:xfrm>
              <a:custGeom>
                <a:avLst/>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grpSp>
        <p:grpSp>
          <p:nvGrpSpPr>
            <p:cNvPr id="17" name="Group 44"/>
            <p:cNvGrpSpPr>
              <a:grpSpLocks/>
            </p:cNvGrpSpPr>
            <p:nvPr/>
          </p:nvGrpSpPr>
          <p:grpSpPr bwMode="auto">
            <a:xfrm rot="-448665">
              <a:off x="5356225" y="4638675"/>
              <a:ext cx="722313" cy="487363"/>
              <a:chOff x="2949" y="196"/>
              <a:chExt cx="941" cy="598"/>
            </a:xfrm>
          </p:grpSpPr>
          <p:sp>
            <p:nvSpPr>
              <p:cNvPr id="45" name="Oval 45"/>
              <p:cNvSpPr>
                <a:spLocks noChangeArrowheads="1"/>
              </p:cNvSpPr>
              <p:nvPr/>
            </p:nvSpPr>
            <p:spPr bwMode="auto">
              <a:xfrm>
                <a:off x="3161" y="193"/>
                <a:ext cx="407" cy="162"/>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46" name="Oval 46"/>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47" name="Oval 47"/>
              <p:cNvSpPr>
                <a:spLocks noChangeArrowheads="1"/>
              </p:cNvSpPr>
              <p:nvPr/>
            </p:nvSpPr>
            <p:spPr bwMode="auto">
              <a:xfrm rot="1500000">
                <a:off x="3647" y="385"/>
                <a:ext cx="242" cy="154"/>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48" name="Oval 48"/>
              <p:cNvSpPr>
                <a:spLocks noChangeArrowheads="1"/>
              </p:cNvSpPr>
              <p:nvPr/>
            </p:nvSpPr>
            <p:spPr bwMode="auto">
              <a:xfrm rot="20040000">
                <a:off x="3567" y="529"/>
                <a:ext cx="292" cy="189"/>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49" name="Oval 49"/>
              <p:cNvSpPr>
                <a:spLocks noChangeArrowheads="1"/>
              </p:cNvSpPr>
              <p:nvPr/>
            </p:nvSpPr>
            <p:spPr bwMode="auto">
              <a:xfrm>
                <a:off x="3208" y="551"/>
                <a:ext cx="472" cy="240"/>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50" name="Oval 50"/>
              <p:cNvSpPr>
                <a:spLocks noChangeArrowheads="1"/>
              </p:cNvSpPr>
              <p:nvPr/>
            </p:nvSpPr>
            <p:spPr bwMode="auto">
              <a:xfrm rot="1080000">
                <a:off x="3023" y="554"/>
                <a:ext cx="265"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51" name="Oval 51"/>
              <p:cNvSpPr>
                <a:spLocks noChangeArrowheads="1"/>
              </p:cNvSpPr>
              <p:nvPr/>
            </p:nvSpPr>
            <p:spPr bwMode="auto">
              <a:xfrm>
                <a:off x="2949" y="424"/>
                <a:ext cx="215"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52" name="Oval 52"/>
              <p:cNvSpPr>
                <a:spLocks noChangeArrowheads="1"/>
              </p:cNvSpPr>
              <p:nvPr/>
            </p:nvSpPr>
            <p:spPr bwMode="auto">
              <a:xfrm rot="19740000">
                <a:off x="2984" y="310"/>
                <a:ext cx="296"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53" name="Freeform 53"/>
              <p:cNvSpPr>
                <a:spLocks/>
              </p:cNvSpPr>
              <p:nvPr/>
            </p:nvSpPr>
            <p:spPr bwMode="auto">
              <a:xfrm>
                <a:off x="3050" y="291"/>
                <a:ext cx="738" cy="407"/>
              </a:xfrm>
              <a:custGeom>
                <a:avLst/>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54" name="Freeform 54"/>
              <p:cNvSpPr>
                <a:spLocks/>
              </p:cNvSpPr>
              <p:nvPr/>
            </p:nvSpPr>
            <p:spPr bwMode="auto">
              <a:xfrm>
                <a:off x="3190" y="263"/>
                <a:ext cx="120" cy="125"/>
              </a:xfrm>
              <a:custGeom>
                <a:avLst/>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55" name="Freeform 55"/>
              <p:cNvSpPr>
                <a:spLocks/>
              </p:cNvSpPr>
              <p:nvPr/>
            </p:nvSpPr>
            <p:spPr bwMode="auto">
              <a:xfrm>
                <a:off x="3465" y="238"/>
                <a:ext cx="85" cy="88"/>
              </a:xfrm>
              <a:custGeom>
                <a:avLst/>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grpSp>
        <p:grpSp>
          <p:nvGrpSpPr>
            <p:cNvPr id="18" name="Group 56"/>
            <p:cNvGrpSpPr>
              <a:grpSpLocks/>
            </p:cNvGrpSpPr>
            <p:nvPr/>
          </p:nvGrpSpPr>
          <p:grpSpPr bwMode="auto">
            <a:xfrm rot="-448665">
              <a:off x="4311650" y="3344863"/>
              <a:ext cx="722313" cy="485775"/>
              <a:chOff x="2949" y="196"/>
              <a:chExt cx="941" cy="598"/>
            </a:xfrm>
          </p:grpSpPr>
          <p:sp>
            <p:nvSpPr>
              <p:cNvPr id="34" name="Oval 57"/>
              <p:cNvSpPr>
                <a:spLocks noChangeArrowheads="1"/>
              </p:cNvSpPr>
              <p:nvPr/>
            </p:nvSpPr>
            <p:spPr bwMode="auto">
              <a:xfrm>
                <a:off x="3161" y="191"/>
                <a:ext cx="407" cy="162"/>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35" name="Oval 58"/>
              <p:cNvSpPr>
                <a:spLocks noChangeArrowheads="1"/>
              </p:cNvSpPr>
              <p:nvPr/>
            </p:nvSpPr>
            <p:spPr bwMode="auto">
              <a:xfrm rot="900000">
                <a:off x="3511" y="252"/>
                <a:ext cx="275" cy="131"/>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36" name="Oval 59"/>
              <p:cNvSpPr>
                <a:spLocks noChangeArrowheads="1"/>
              </p:cNvSpPr>
              <p:nvPr/>
            </p:nvSpPr>
            <p:spPr bwMode="auto">
              <a:xfrm rot="1500000">
                <a:off x="3648" y="385"/>
                <a:ext cx="242" cy="149"/>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37" name="Oval 60"/>
              <p:cNvSpPr>
                <a:spLocks noChangeArrowheads="1"/>
              </p:cNvSpPr>
              <p:nvPr/>
            </p:nvSpPr>
            <p:spPr bwMode="auto">
              <a:xfrm rot="20040000">
                <a:off x="3567" y="528"/>
                <a:ext cx="292" cy="192"/>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38" name="Oval 61"/>
              <p:cNvSpPr>
                <a:spLocks noChangeArrowheads="1"/>
              </p:cNvSpPr>
              <p:nvPr/>
            </p:nvSpPr>
            <p:spPr bwMode="auto">
              <a:xfrm>
                <a:off x="3209" y="552"/>
                <a:ext cx="472" cy="235"/>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39" name="Oval 62"/>
              <p:cNvSpPr>
                <a:spLocks noChangeArrowheads="1"/>
              </p:cNvSpPr>
              <p:nvPr/>
            </p:nvSpPr>
            <p:spPr bwMode="auto">
              <a:xfrm rot="1080000">
                <a:off x="3023" y="556"/>
                <a:ext cx="265"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40" name="Oval 63"/>
              <p:cNvSpPr>
                <a:spLocks noChangeArrowheads="1"/>
              </p:cNvSpPr>
              <p:nvPr/>
            </p:nvSpPr>
            <p:spPr bwMode="auto">
              <a:xfrm>
                <a:off x="2949" y="425"/>
                <a:ext cx="213"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41" name="Oval 64"/>
              <p:cNvSpPr>
                <a:spLocks noChangeArrowheads="1"/>
              </p:cNvSpPr>
              <p:nvPr/>
            </p:nvSpPr>
            <p:spPr bwMode="auto">
              <a:xfrm rot="19740000">
                <a:off x="2979" y="302"/>
                <a:ext cx="298" cy="156"/>
              </a:xfrm>
              <a:prstGeom prst="ellipse">
                <a:avLst/>
              </a:prstGeom>
              <a:solidFill>
                <a:srgbClr val="B2B2B2"/>
              </a:solidFill>
              <a:ln w="12700">
                <a:solidFill>
                  <a:schemeClr val="tx1"/>
                </a:solidFill>
                <a:round/>
                <a:headEnd/>
                <a:tailEnd/>
              </a:ln>
              <a:effectLst/>
            </p:spPr>
            <p:txBody>
              <a:bodyPr wrap="none" anchor="ctr"/>
              <a:lstStyle/>
              <a:p>
                <a:pPr>
                  <a:defRPr/>
                </a:pPr>
                <a:endParaRPr lang="zh-CN" altLang="en-US" b="1">
                  <a:solidFill>
                    <a:srgbClr val="1C1C1C"/>
                  </a:solidFill>
                </a:endParaRPr>
              </a:p>
            </p:txBody>
          </p:sp>
          <p:sp>
            <p:nvSpPr>
              <p:cNvPr id="42" name="Freeform 65"/>
              <p:cNvSpPr>
                <a:spLocks/>
              </p:cNvSpPr>
              <p:nvPr/>
            </p:nvSpPr>
            <p:spPr bwMode="auto">
              <a:xfrm>
                <a:off x="3050" y="292"/>
                <a:ext cx="738" cy="406"/>
              </a:xfrm>
              <a:custGeom>
                <a:avLst/>
                <a:gdLst/>
                <a:ahLst/>
                <a:cxnLst>
                  <a:cxn ang="0">
                    <a:pos x="108" y="82"/>
                  </a:cxn>
                  <a:cxn ang="0">
                    <a:pos x="145" y="77"/>
                  </a:cxn>
                  <a:cxn ang="0">
                    <a:pos x="183" y="72"/>
                  </a:cxn>
                  <a:cxn ang="0">
                    <a:pos x="215" y="67"/>
                  </a:cxn>
                  <a:cxn ang="0">
                    <a:pos x="237" y="46"/>
                  </a:cxn>
                  <a:cxn ang="0">
                    <a:pos x="204" y="41"/>
                  </a:cxn>
                  <a:cxn ang="0">
                    <a:pos x="172" y="46"/>
                  </a:cxn>
                  <a:cxn ang="0">
                    <a:pos x="156" y="46"/>
                  </a:cxn>
                  <a:cxn ang="0">
                    <a:pos x="188" y="26"/>
                  </a:cxn>
                  <a:cxn ang="0">
                    <a:pos x="226" y="15"/>
                  </a:cxn>
                  <a:cxn ang="0">
                    <a:pos x="258" y="10"/>
                  </a:cxn>
                  <a:cxn ang="0">
                    <a:pos x="290" y="5"/>
                  </a:cxn>
                  <a:cxn ang="0">
                    <a:pos x="323" y="0"/>
                  </a:cxn>
                  <a:cxn ang="0">
                    <a:pos x="355" y="0"/>
                  </a:cxn>
                  <a:cxn ang="0">
                    <a:pos x="387" y="0"/>
                  </a:cxn>
                  <a:cxn ang="0">
                    <a:pos x="463" y="0"/>
                  </a:cxn>
                  <a:cxn ang="0">
                    <a:pos x="506" y="0"/>
                  </a:cxn>
                  <a:cxn ang="0">
                    <a:pos x="543" y="15"/>
                  </a:cxn>
                  <a:cxn ang="0">
                    <a:pos x="570" y="36"/>
                  </a:cxn>
                  <a:cxn ang="0">
                    <a:pos x="603" y="51"/>
                  </a:cxn>
                  <a:cxn ang="0">
                    <a:pos x="635" y="57"/>
                  </a:cxn>
                  <a:cxn ang="0">
                    <a:pos x="667" y="77"/>
                  </a:cxn>
                  <a:cxn ang="0">
                    <a:pos x="694" y="98"/>
                  </a:cxn>
                  <a:cxn ang="0">
                    <a:pos x="715" y="128"/>
                  </a:cxn>
                  <a:cxn ang="0">
                    <a:pos x="721" y="164"/>
                  </a:cxn>
                  <a:cxn ang="0">
                    <a:pos x="726" y="195"/>
                  </a:cxn>
                  <a:cxn ang="0">
                    <a:pos x="726" y="226"/>
                  </a:cxn>
                  <a:cxn ang="0">
                    <a:pos x="726" y="257"/>
                  </a:cxn>
                  <a:cxn ang="0">
                    <a:pos x="737" y="288"/>
                  </a:cxn>
                  <a:cxn ang="0">
                    <a:pos x="737" y="319"/>
                  </a:cxn>
                  <a:cxn ang="0">
                    <a:pos x="715" y="349"/>
                  </a:cxn>
                  <a:cxn ang="0">
                    <a:pos x="678" y="365"/>
                  </a:cxn>
                  <a:cxn ang="0">
                    <a:pos x="646" y="380"/>
                  </a:cxn>
                  <a:cxn ang="0">
                    <a:pos x="613" y="396"/>
                  </a:cxn>
                  <a:cxn ang="0">
                    <a:pos x="581" y="401"/>
                  </a:cxn>
                  <a:cxn ang="0">
                    <a:pos x="538" y="406"/>
                  </a:cxn>
                  <a:cxn ang="0">
                    <a:pos x="500" y="406"/>
                  </a:cxn>
                  <a:cxn ang="0">
                    <a:pos x="468" y="406"/>
                  </a:cxn>
                  <a:cxn ang="0">
                    <a:pos x="436" y="406"/>
                  </a:cxn>
                  <a:cxn ang="0">
                    <a:pos x="403" y="406"/>
                  </a:cxn>
                  <a:cxn ang="0">
                    <a:pos x="371" y="406"/>
                  </a:cxn>
                  <a:cxn ang="0">
                    <a:pos x="339" y="406"/>
                  </a:cxn>
                  <a:cxn ang="0">
                    <a:pos x="307" y="406"/>
                  </a:cxn>
                  <a:cxn ang="0">
                    <a:pos x="269" y="406"/>
                  </a:cxn>
                  <a:cxn ang="0">
                    <a:pos x="237" y="406"/>
                  </a:cxn>
                  <a:cxn ang="0">
                    <a:pos x="204" y="406"/>
                  </a:cxn>
                  <a:cxn ang="0">
                    <a:pos x="172" y="391"/>
                  </a:cxn>
                  <a:cxn ang="0">
                    <a:pos x="140" y="380"/>
                  </a:cxn>
                  <a:cxn ang="0">
                    <a:pos x="108" y="365"/>
                  </a:cxn>
                  <a:cxn ang="0">
                    <a:pos x="81" y="339"/>
                  </a:cxn>
                  <a:cxn ang="0">
                    <a:pos x="59" y="319"/>
                  </a:cxn>
                  <a:cxn ang="0">
                    <a:pos x="38" y="288"/>
                  </a:cxn>
                  <a:cxn ang="0">
                    <a:pos x="16" y="252"/>
                  </a:cxn>
                  <a:cxn ang="0">
                    <a:pos x="0" y="216"/>
                  </a:cxn>
                  <a:cxn ang="0">
                    <a:pos x="0" y="185"/>
                  </a:cxn>
                  <a:cxn ang="0">
                    <a:pos x="5" y="149"/>
                  </a:cxn>
                  <a:cxn ang="0">
                    <a:pos x="27" y="123"/>
                  </a:cxn>
                  <a:cxn ang="0">
                    <a:pos x="54" y="108"/>
                  </a:cxn>
                  <a:cxn ang="0">
                    <a:pos x="86" y="98"/>
                  </a:cxn>
                  <a:cxn ang="0">
                    <a:pos x="113" y="82"/>
                  </a:cxn>
                  <a:cxn ang="0">
                    <a:pos x="129" y="98"/>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43" name="Freeform 66"/>
              <p:cNvSpPr>
                <a:spLocks/>
              </p:cNvSpPr>
              <p:nvPr/>
            </p:nvSpPr>
            <p:spPr bwMode="auto">
              <a:xfrm>
                <a:off x="3190" y="268"/>
                <a:ext cx="120" cy="117"/>
              </a:xfrm>
              <a:custGeom>
                <a:avLst/>
                <a:gdLst/>
                <a:ahLst/>
                <a:cxnLst>
                  <a:cxn ang="0">
                    <a:pos x="5" y="66"/>
                  </a:cxn>
                  <a:cxn ang="0">
                    <a:pos x="0" y="51"/>
                  </a:cxn>
                  <a:cxn ang="0">
                    <a:pos x="0" y="36"/>
                  </a:cxn>
                  <a:cxn ang="0">
                    <a:pos x="16" y="25"/>
                  </a:cxn>
                  <a:cxn ang="0">
                    <a:pos x="32" y="15"/>
                  </a:cxn>
                  <a:cxn ang="0">
                    <a:pos x="47" y="0"/>
                  </a:cxn>
                  <a:cxn ang="0">
                    <a:pos x="63" y="0"/>
                  </a:cxn>
                  <a:cxn ang="0">
                    <a:pos x="79" y="0"/>
                  </a:cxn>
                  <a:cxn ang="0">
                    <a:pos x="84" y="15"/>
                  </a:cxn>
                  <a:cxn ang="0">
                    <a:pos x="95" y="31"/>
                  </a:cxn>
                  <a:cxn ang="0">
                    <a:pos x="105" y="46"/>
                  </a:cxn>
                  <a:cxn ang="0">
                    <a:pos x="111" y="61"/>
                  </a:cxn>
                  <a:cxn ang="0">
                    <a:pos x="116" y="76"/>
                  </a:cxn>
                  <a:cxn ang="0">
                    <a:pos x="116" y="92"/>
                  </a:cxn>
                  <a:cxn ang="0">
                    <a:pos x="116" y="107"/>
                  </a:cxn>
                  <a:cxn ang="0">
                    <a:pos x="100" y="117"/>
                  </a:cxn>
                  <a:cxn ang="0">
                    <a:pos x="84" y="117"/>
                  </a:cxn>
                  <a:cxn ang="0">
                    <a:pos x="69" y="117"/>
                  </a:cxn>
                  <a:cxn ang="0">
                    <a:pos x="53" y="117"/>
                  </a:cxn>
                  <a:cxn ang="0">
                    <a:pos x="37" y="112"/>
                  </a:cxn>
                  <a:cxn ang="0">
                    <a:pos x="21" y="102"/>
                  </a:cxn>
                  <a:cxn ang="0">
                    <a:pos x="11" y="86"/>
                  </a:cxn>
                  <a:cxn ang="0">
                    <a:pos x="5" y="71"/>
                  </a:cxn>
                  <a:cxn ang="0">
                    <a:pos x="5" y="66"/>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sp>
            <p:nvSpPr>
              <p:cNvPr id="44" name="Freeform 67"/>
              <p:cNvSpPr>
                <a:spLocks/>
              </p:cNvSpPr>
              <p:nvPr/>
            </p:nvSpPr>
            <p:spPr bwMode="auto">
              <a:xfrm>
                <a:off x="3465" y="232"/>
                <a:ext cx="85" cy="94"/>
              </a:xfrm>
              <a:custGeom>
                <a:avLst/>
                <a:gdLst/>
                <a:ahLst/>
                <a:cxnLst>
                  <a:cxn ang="0">
                    <a:pos x="0" y="0"/>
                  </a:cxn>
                  <a:cxn ang="0">
                    <a:pos x="16" y="10"/>
                  </a:cxn>
                  <a:cxn ang="0">
                    <a:pos x="32" y="20"/>
                  </a:cxn>
                  <a:cxn ang="0">
                    <a:pos x="49" y="20"/>
                  </a:cxn>
                  <a:cxn ang="0">
                    <a:pos x="65" y="30"/>
                  </a:cxn>
                  <a:cxn ang="0">
                    <a:pos x="76" y="46"/>
                  </a:cxn>
                  <a:cxn ang="0">
                    <a:pos x="81" y="61"/>
                  </a:cxn>
                  <a:cxn ang="0">
                    <a:pos x="81" y="76"/>
                  </a:cxn>
                  <a:cxn ang="0">
                    <a:pos x="65" y="86"/>
                  </a:cxn>
                  <a:cxn ang="0">
                    <a:pos x="49" y="86"/>
                  </a:cxn>
                  <a:cxn ang="0">
                    <a:pos x="27" y="81"/>
                  </a:cxn>
                  <a:cxn ang="0">
                    <a:pos x="11" y="71"/>
                  </a:cxn>
                  <a:cxn ang="0">
                    <a:pos x="5" y="56"/>
                  </a:cxn>
                  <a:cxn ang="0">
                    <a:pos x="0" y="40"/>
                  </a:cxn>
                  <a:cxn ang="0">
                    <a:pos x="0" y="25"/>
                  </a:cxn>
                  <a:cxn ang="0">
                    <a:pos x="11" y="10"/>
                  </a:cxn>
                  <a:cxn ang="0">
                    <a:pos x="0" y="0"/>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w="12700" cap="rnd" cmpd="sng">
                <a:noFill/>
                <a:prstDash val="solid"/>
                <a:round/>
                <a:headEnd type="none" w="med" len="med"/>
                <a:tailEnd type="none" w="med" len="med"/>
              </a:ln>
              <a:effectLst/>
            </p:spPr>
            <p:txBody>
              <a:bodyPr/>
              <a:lstStyle/>
              <a:p>
                <a:pPr>
                  <a:defRPr/>
                </a:pPr>
                <a:endParaRPr lang="zh-CN" altLang="en-US" b="1">
                  <a:solidFill>
                    <a:srgbClr val="1C1C1C"/>
                  </a:solidFill>
                </a:endParaRPr>
              </a:p>
            </p:txBody>
          </p:sp>
        </p:grpSp>
        <p:pic>
          <p:nvPicPr>
            <p:cNvPr id="19" name="Picture 68"/>
            <p:cNvPicPr>
              <a:picLocks noChangeArrowheads="1"/>
            </p:cNvPicPr>
            <p:nvPr/>
          </p:nvPicPr>
          <p:blipFill>
            <a:blip r:embed="rId4"/>
            <a:srcRect/>
            <a:stretch>
              <a:fillRect/>
            </a:stretch>
          </p:blipFill>
          <p:spPr bwMode="auto">
            <a:xfrm>
              <a:off x="2771775" y="4478338"/>
              <a:ext cx="493713" cy="347662"/>
            </a:xfrm>
            <a:prstGeom prst="rect">
              <a:avLst/>
            </a:prstGeom>
            <a:noFill/>
            <a:ln w="12699">
              <a:noFill/>
              <a:miter lim="800000"/>
              <a:headEnd/>
              <a:tailEnd/>
            </a:ln>
          </p:spPr>
        </p:pic>
        <p:pic>
          <p:nvPicPr>
            <p:cNvPr id="20" name="Picture 69"/>
            <p:cNvPicPr>
              <a:picLocks noChangeArrowheads="1"/>
            </p:cNvPicPr>
            <p:nvPr/>
          </p:nvPicPr>
          <p:blipFill>
            <a:blip r:embed="rId4"/>
            <a:srcRect/>
            <a:stretch>
              <a:fillRect/>
            </a:stretch>
          </p:blipFill>
          <p:spPr bwMode="auto">
            <a:xfrm>
              <a:off x="4621213" y="4800600"/>
              <a:ext cx="493712" cy="347663"/>
            </a:xfrm>
            <a:prstGeom prst="rect">
              <a:avLst/>
            </a:prstGeom>
            <a:noFill/>
            <a:ln w="12699">
              <a:noFill/>
              <a:miter lim="800000"/>
              <a:headEnd/>
              <a:tailEnd/>
            </a:ln>
          </p:spPr>
        </p:pic>
        <p:pic>
          <p:nvPicPr>
            <p:cNvPr id="21" name="Picture 70"/>
            <p:cNvPicPr>
              <a:picLocks noChangeArrowheads="1"/>
            </p:cNvPicPr>
            <p:nvPr/>
          </p:nvPicPr>
          <p:blipFill>
            <a:blip r:embed="rId4"/>
            <a:srcRect/>
            <a:stretch>
              <a:fillRect/>
            </a:stretch>
          </p:blipFill>
          <p:spPr bwMode="auto">
            <a:xfrm>
              <a:off x="6319838" y="4452938"/>
              <a:ext cx="493712" cy="347662"/>
            </a:xfrm>
            <a:prstGeom prst="rect">
              <a:avLst/>
            </a:prstGeom>
            <a:noFill/>
            <a:ln w="12699">
              <a:noFill/>
              <a:miter lim="800000"/>
              <a:headEnd/>
              <a:tailEnd/>
            </a:ln>
          </p:spPr>
        </p:pic>
        <p:pic>
          <p:nvPicPr>
            <p:cNvPr id="22" name="Picture 71"/>
            <p:cNvPicPr>
              <a:picLocks noChangeArrowheads="1"/>
            </p:cNvPicPr>
            <p:nvPr/>
          </p:nvPicPr>
          <p:blipFill>
            <a:blip r:embed="rId4"/>
            <a:srcRect/>
            <a:stretch>
              <a:fillRect/>
            </a:stretch>
          </p:blipFill>
          <p:spPr bwMode="auto">
            <a:xfrm>
              <a:off x="5505450" y="3482975"/>
              <a:ext cx="493713" cy="347663"/>
            </a:xfrm>
            <a:prstGeom prst="rect">
              <a:avLst/>
            </a:prstGeom>
            <a:noFill/>
            <a:ln w="12699">
              <a:noFill/>
              <a:miter lim="800000"/>
              <a:headEnd/>
              <a:tailEnd/>
            </a:ln>
          </p:spPr>
        </p:pic>
        <p:pic>
          <p:nvPicPr>
            <p:cNvPr id="23" name="Picture 72"/>
            <p:cNvPicPr>
              <a:picLocks noChangeArrowheads="1"/>
            </p:cNvPicPr>
            <p:nvPr/>
          </p:nvPicPr>
          <p:blipFill>
            <a:blip r:embed="rId3"/>
            <a:srcRect/>
            <a:stretch>
              <a:fillRect/>
            </a:stretch>
          </p:blipFill>
          <p:spPr bwMode="auto">
            <a:xfrm>
              <a:off x="6802438" y="5043488"/>
              <a:ext cx="466725" cy="465137"/>
            </a:xfrm>
            <a:prstGeom prst="rect">
              <a:avLst/>
            </a:prstGeom>
            <a:noFill/>
            <a:ln w="9525">
              <a:noFill/>
              <a:miter lim="800000"/>
              <a:headEnd/>
              <a:tailEnd/>
            </a:ln>
          </p:spPr>
        </p:pic>
        <p:pic>
          <p:nvPicPr>
            <p:cNvPr id="24" name="Picture 73"/>
            <p:cNvPicPr>
              <a:picLocks noChangeArrowheads="1"/>
            </p:cNvPicPr>
            <p:nvPr/>
          </p:nvPicPr>
          <p:blipFill>
            <a:blip r:embed="rId3"/>
            <a:srcRect/>
            <a:stretch>
              <a:fillRect/>
            </a:stretch>
          </p:blipFill>
          <p:spPr bwMode="auto">
            <a:xfrm>
              <a:off x="7764463" y="3930650"/>
              <a:ext cx="468312" cy="465138"/>
            </a:xfrm>
            <a:prstGeom prst="rect">
              <a:avLst/>
            </a:prstGeom>
            <a:noFill/>
            <a:ln w="9525">
              <a:noFill/>
              <a:miter lim="800000"/>
              <a:headEnd/>
              <a:tailEnd/>
            </a:ln>
          </p:spPr>
        </p:pic>
        <p:pic>
          <p:nvPicPr>
            <p:cNvPr id="25" name="Picture 74"/>
            <p:cNvPicPr>
              <a:picLocks noChangeArrowheads="1"/>
            </p:cNvPicPr>
            <p:nvPr/>
          </p:nvPicPr>
          <p:blipFill>
            <a:blip r:embed="rId3"/>
            <a:srcRect/>
            <a:stretch>
              <a:fillRect/>
            </a:stretch>
          </p:blipFill>
          <p:spPr bwMode="auto">
            <a:xfrm>
              <a:off x="6815138" y="2779713"/>
              <a:ext cx="468312" cy="465137"/>
            </a:xfrm>
            <a:prstGeom prst="rect">
              <a:avLst/>
            </a:prstGeom>
            <a:noFill/>
            <a:ln w="9525">
              <a:noFill/>
              <a:miter lim="800000"/>
              <a:headEnd/>
              <a:tailEnd/>
            </a:ln>
          </p:spPr>
        </p:pic>
        <p:pic>
          <p:nvPicPr>
            <p:cNvPr id="26" name="Picture 75"/>
            <p:cNvPicPr>
              <a:picLocks noChangeArrowheads="1"/>
            </p:cNvPicPr>
            <p:nvPr/>
          </p:nvPicPr>
          <p:blipFill>
            <a:blip r:embed="rId3"/>
            <a:srcRect/>
            <a:stretch>
              <a:fillRect/>
            </a:stretch>
          </p:blipFill>
          <p:spPr bwMode="auto">
            <a:xfrm>
              <a:off x="4005263" y="5549900"/>
              <a:ext cx="466725" cy="465138"/>
            </a:xfrm>
            <a:prstGeom prst="rect">
              <a:avLst/>
            </a:prstGeom>
            <a:noFill/>
            <a:ln w="9525">
              <a:noFill/>
              <a:miter lim="800000"/>
              <a:headEnd/>
              <a:tailEnd/>
            </a:ln>
          </p:spPr>
        </p:pic>
        <p:pic>
          <p:nvPicPr>
            <p:cNvPr id="27" name="Picture 76"/>
            <p:cNvPicPr>
              <a:picLocks noChangeArrowheads="1"/>
            </p:cNvPicPr>
            <p:nvPr/>
          </p:nvPicPr>
          <p:blipFill>
            <a:blip r:embed="rId3"/>
            <a:srcRect/>
            <a:stretch>
              <a:fillRect/>
            </a:stretch>
          </p:blipFill>
          <p:spPr bwMode="auto">
            <a:xfrm>
              <a:off x="1900238" y="4962525"/>
              <a:ext cx="468312" cy="466725"/>
            </a:xfrm>
            <a:prstGeom prst="rect">
              <a:avLst/>
            </a:prstGeom>
            <a:noFill/>
            <a:ln w="9525">
              <a:noFill/>
              <a:miter lim="800000"/>
              <a:headEnd/>
              <a:tailEnd/>
            </a:ln>
          </p:spPr>
        </p:pic>
        <p:pic>
          <p:nvPicPr>
            <p:cNvPr id="28" name="Picture 77"/>
            <p:cNvPicPr>
              <a:picLocks noChangeArrowheads="1"/>
            </p:cNvPicPr>
            <p:nvPr/>
          </p:nvPicPr>
          <p:blipFill>
            <a:blip r:embed="rId3"/>
            <a:srcRect/>
            <a:stretch>
              <a:fillRect/>
            </a:stretch>
          </p:blipFill>
          <p:spPr bwMode="auto">
            <a:xfrm>
              <a:off x="790575" y="3770313"/>
              <a:ext cx="466725" cy="465137"/>
            </a:xfrm>
            <a:prstGeom prst="rect">
              <a:avLst/>
            </a:prstGeom>
            <a:noFill/>
            <a:ln w="9525">
              <a:noFill/>
              <a:miter lim="800000"/>
              <a:headEnd/>
              <a:tailEnd/>
            </a:ln>
          </p:spPr>
        </p:pic>
        <p:sp>
          <p:nvSpPr>
            <p:cNvPr id="29" name="Text Box 78"/>
            <p:cNvSpPr txBox="1">
              <a:spLocks noChangeArrowheads="1"/>
            </p:cNvSpPr>
            <p:nvPr/>
          </p:nvSpPr>
          <p:spPr bwMode="auto">
            <a:xfrm>
              <a:off x="3489325" y="3990975"/>
              <a:ext cx="2094424" cy="373098"/>
            </a:xfrm>
            <a:prstGeom prst="rect">
              <a:avLst/>
            </a:prstGeom>
            <a:noFill/>
            <a:ln w="9525">
              <a:solidFill>
                <a:schemeClr val="tx1"/>
              </a:solidFill>
              <a:miter lim="800000"/>
              <a:headEnd/>
              <a:tailEnd/>
            </a:ln>
            <a:effectLst/>
          </p:spPr>
          <p:txBody>
            <a:bodyPr wrap="none">
              <a:spAutoFit/>
            </a:bodyPr>
            <a:lstStyle/>
            <a:p>
              <a:pPr>
                <a:defRPr/>
              </a:pPr>
              <a:r>
                <a:rPr lang="zh-CN" altLang="en-US" sz="2400" b="1" dirty="0">
                  <a:solidFill>
                    <a:srgbClr val="1C1C1C"/>
                  </a:solidFill>
                  <a:ea typeface="黑体" pitchFamily="2" charset="-122"/>
                </a:rPr>
                <a:t>互联网的核心部分</a:t>
              </a:r>
            </a:p>
          </p:txBody>
        </p:sp>
        <p:sp>
          <p:nvSpPr>
            <p:cNvPr id="30" name="Text Box 79"/>
            <p:cNvSpPr txBox="1">
              <a:spLocks noChangeArrowheads="1"/>
            </p:cNvSpPr>
            <p:nvPr/>
          </p:nvSpPr>
          <p:spPr bwMode="auto">
            <a:xfrm>
              <a:off x="3475969" y="2351088"/>
              <a:ext cx="2094424" cy="373098"/>
            </a:xfrm>
            <a:prstGeom prst="rect">
              <a:avLst/>
            </a:prstGeom>
            <a:solidFill>
              <a:schemeClr val="bg1"/>
            </a:solidFill>
            <a:ln w="9525">
              <a:solidFill>
                <a:schemeClr val="tx1"/>
              </a:solidFill>
              <a:miter lim="800000"/>
              <a:headEnd/>
              <a:tailEnd/>
            </a:ln>
            <a:effectLst/>
          </p:spPr>
          <p:txBody>
            <a:bodyPr wrap="none">
              <a:spAutoFit/>
            </a:bodyPr>
            <a:lstStyle/>
            <a:p>
              <a:pPr>
                <a:defRPr/>
              </a:pPr>
              <a:r>
                <a:rPr lang="zh-CN" altLang="en-US" sz="2400" b="1" dirty="0">
                  <a:solidFill>
                    <a:srgbClr val="1C1C1C"/>
                  </a:solidFill>
                  <a:ea typeface="黑体" pitchFamily="2" charset="-122"/>
                </a:rPr>
                <a:t>互联网的边缘部分</a:t>
              </a:r>
            </a:p>
          </p:txBody>
        </p:sp>
        <p:sp>
          <p:nvSpPr>
            <p:cNvPr id="31" name="Text Box 80"/>
            <p:cNvSpPr txBox="1">
              <a:spLocks noChangeArrowheads="1"/>
            </p:cNvSpPr>
            <p:nvPr/>
          </p:nvSpPr>
          <p:spPr bwMode="auto">
            <a:xfrm>
              <a:off x="1518501" y="2571497"/>
              <a:ext cx="632670" cy="373098"/>
            </a:xfrm>
            <a:prstGeom prst="rect">
              <a:avLst/>
            </a:prstGeom>
            <a:noFill/>
            <a:ln w="9525">
              <a:noFill/>
              <a:miter lim="800000"/>
              <a:headEnd/>
              <a:tailEnd/>
            </a:ln>
            <a:effectLst/>
          </p:spPr>
          <p:txBody>
            <a:bodyPr wrap="none">
              <a:spAutoFit/>
            </a:bodyPr>
            <a:lstStyle/>
            <a:p>
              <a:pPr>
                <a:defRPr/>
              </a:pPr>
              <a:r>
                <a:rPr lang="zh-CN" altLang="en-US" sz="2400" b="1" dirty="0">
                  <a:solidFill>
                    <a:srgbClr val="1C1C1C"/>
                  </a:solidFill>
                  <a:ea typeface="黑体" pitchFamily="2" charset="-122"/>
                </a:rPr>
                <a:t>主机</a:t>
              </a:r>
            </a:p>
          </p:txBody>
        </p:sp>
        <p:sp>
          <p:nvSpPr>
            <p:cNvPr id="32" name="Text Box 81"/>
            <p:cNvSpPr txBox="1">
              <a:spLocks noChangeArrowheads="1"/>
            </p:cNvSpPr>
            <p:nvPr/>
          </p:nvSpPr>
          <p:spPr bwMode="auto">
            <a:xfrm>
              <a:off x="2190020" y="3560793"/>
              <a:ext cx="632670" cy="373098"/>
            </a:xfrm>
            <a:prstGeom prst="rect">
              <a:avLst/>
            </a:prstGeom>
            <a:noFill/>
            <a:ln w="9525">
              <a:noFill/>
              <a:miter lim="800000"/>
              <a:headEnd/>
              <a:tailEnd/>
            </a:ln>
            <a:effectLst/>
          </p:spPr>
          <p:txBody>
            <a:bodyPr wrap="none">
              <a:spAutoFit/>
            </a:bodyPr>
            <a:lstStyle/>
            <a:p>
              <a:pPr>
                <a:defRPr/>
              </a:pPr>
              <a:r>
                <a:rPr lang="zh-CN" altLang="en-US" sz="2400" b="1" dirty="0">
                  <a:solidFill>
                    <a:srgbClr val="1C1C1C"/>
                  </a:solidFill>
                  <a:ea typeface="黑体" pitchFamily="2" charset="-122"/>
                </a:rPr>
                <a:t>网络</a:t>
              </a:r>
            </a:p>
          </p:txBody>
        </p:sp>
        <p:sp>
          <p:nvSpPr>
            <p:cNvPr id="33" name="Text Box 82"/>
            <p:cNvSpPr txBox="1">
              <a:spLocks noChangeArrowheads="1"/>
            </p:cNvSpPr>
            <p:nvPr/>
          </p:nvSpPr>
          <p:spPr bwMode="auto">
            <a:xfrm>
              <a:off x="2967063" y="3211629"/>
              <a:ext cx="876296" cy="373098"/>
            </a:xfrm>
            <a:prstGeom prst="rect">
              <a:avLst/>
            </a:prstGeom>
            <a:noFill/>
            <a:ln w="9525">
              <a:noFill/>
              <a:miter lim="800000"/>
              <a:headEnd/>
              <a:tailEnd/>
            </a:ln>
            <a:effectLst/>
          </p:spPr>
          <p:txBody>
            <a:bodyPr wrap="none">
              <a:spAutoFit/>
            </a:bodyPr>
            <a:lstStyle/>
            <a:p>
              <a:pPr>
                <a:defRPr/>
              </a:pPr>
              <a:r>
                <a:rPr lang="zh-CN" altLang="en-US" sz="2400" b="1" dirty="0">
                  <a:solidFill>
                    <a:srgbClr val="1C1C1C"/>
                  </a:solidFill>
                  <a:ea typeface="黑体" pitchFamily="2" charset="-122"/>
                </a:rPr>
                <a:t>路由器</a:t>
              </a:r>
            </a:p>
          </p:txBody>
        </p:sp>
      </p:grpSp>
      <p:sp>
        <p:nvSpPr>
          <p:cNvPr id="89" name="Rectangle 2"/>
          <p:cNvSpPr>
            <a:spLocks noGrp="1" noChangeArrowheads="1"/>
          </p:cNvSpPr>
          <p:nvPr>
            <p:ph type="title"/>
          </p:nvPr>
        </p:nvSpPr>
        <p:spPr>
          <a:xfrm>
            <a:off x="609600" y="274638"/>
            <a:ext cx="10972800" cy="817562"/>
          </a:xfrm>
        </p:spPr>
        <p:txBody>
          <a:bodyPr/>
          <a:lstStyle/>
          <a:p>
            <a:pPr eaLnBrk="1" hangingPunct="1"/>
            <a:r>
              <a:rPr lang="en-US" altLang="zh-CN" dirty="0"/>
              <a:t>1.3 </a:t>
            </a:r>
            <a:r>
              <a:rPr lang="zh-CN" altLang="en-US" dirty="0" smtClean="0"/>
              <a:t>互联网</a:t>
            </a:r>
            <a:r>
              <a:rPr lang="zh-CN" altLang="en-US" dirty="0"/>
              <a:t>的组成</a:t>
            </a:r>
          </a:p>
        </p:txBody>
      </p:sp>
    </p:spTree>
    <p:extLst>
      <p:ext uri="{BB962C8B-B14F-4D97-AF65-F5344CB8AC3E}">
        <p14:creationId xmlns:p14="http://schemas.microsoft.com/office/powerpoint/2010/main" val="131189972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r>
              <a:rPr lang="en-US" altLang="zh-CN" dirty="0" smtClean="0"/>
              <a:t>1.3.1 </a:t>
            </a:r>
            <a:r>
              <a:rPr lang="zh-CN" altLang="en-US" dirty="0" smtClean="0"/>
              <a:t>互联网的边缘部分</a:t>
            </a:r>
            <a:endParaRPr lang="zh-CN" altLang="en-US" dirty="0"/>
          </a:p>
        </p:txBody>
      </p:sp>
      <p:sp>
        <p:nvSpPr>
          <p:cNvPr id="8" name="Content Placeholder 7"/>
          <p:cNvSpPr>
            <a:spLocks noGrp="1" noChangeArrowheads="1"/>
          </p:cNvSpPr>
          <p:nvPr>
            <p:ph idx="1"/>
          </p:nvPr>
        </p:nvSpPr>
        <p:spPr>
          <a:xfrm>
            <a:off x="442800" y="1267200"/>
            <a:ext cx="11304587" cy="4895850"/>
          </a:xfrm>
        </p:spPr>
        <p:txBody>
          <a:bodyPr/>
          <a:lstStyle/>
          <a:p>
            <a:pPr marL="457200" indent="-457200" fontAlgn="auto">
              <a:defRPr/>
            </a:pPr>
            <a:r>
              <a:rPr lang="zh-CN" altLang="en-US" b="1" dirty="0" smtClean="0"/>
              <a:t>主机 </a:t>
            </a:r>
            <a:r>
              <a:rPr lang="en-US" altLang="zh-CN" b="1" dirty="0" smtClean="0"/>
              <a:t>A </a:t>
            </a:r>
            <a:r>
              <a:rPr lang="zh-CN" altLang="en-US" b="1" dirty="0" smtClean="0"/>
              <a:t>和主机 </a:t>
            </a:r>
            <a:r>
              <a:rPr lang="en-US" altLang="zh-CN" b="1" dirty="0" smtClean="0"/>
              <a:t>B </a:t>
            </a:r>
            <a:r>
              <a:rPr lang="zh-CN" altLang="en-US" b="1" dirty="0" smtClean="0"/>
              <a:t>通信，实际上是指：</a:t>
            </a:r>
            <a:endParaRPr lang="en-US" altLang="zh-CN" b="1" dirty="0" smtClean="0"/>
          </a:p>
          <a:p>
            <a:pPr marL="935038" lvl="1" indent="-457200" fontAlgn="auto">
              <a:defRPr/>
            </a:pPr>
            <a:r>
              <a:rPr lang="zh-CN" altLang="en-US" b="1" dirty="0"/>
              <a:t>主机 </a:t>
            </a:r>
            <a:r>
              <a:rPr lang="en-US" altLang="zh-CN" b="1" dirty="0"/>
              <a:t>A </a:t>
            </a:r>
            <a:r>
              <a:rPr lang="zh-CN" altLang="en-US" b="1" dirty="0"/>
              <a:t>的某个</a:t>
            </a:r>
            <a:r>
              <a:rPr lang="zh-CN" altLang="en-US" b="1" dirty="0">
                <a:solidFill>
                  <a:srgbClr val="C00000"/>
                </a:solidFill>
              </a:rPr>
              <a:t>进程</a:t>
            </a:r>
            <a:r>
              <a:rPr lang="zh-CN" altLang="en-US" b="1" dirty="0"/>
              <a:t>和主机 </a:t>
            </a:r>
            <a:r>
              <a:rPr lang="en-US" altLang="zh-CN" b="1" dirty="0"/>
              <a:t>B </a:t>
            </a:r>
            <a:r>
              <a:rPr lang="zh-CN" altLang="en-US" b="1" dirty="0"/>
              <a:t>上的另一个</a:t>
            </a:r>
            <a:r>
              <a:rPr lang="zh-CN" altLang="en-US" b="1" dirty="0">
                <a:solidFill>
                  <a:srgbClr val="C00000"/>
                </a:solidFill>
              </a:rPr>
              <a:t>进程</a:t>
            </a:r>
            <a:r>
              <a:rPr lang="zh-CN" altLang="en-US" b="1" dirty="0"/>
              <a:t>进行通信</a:t>
            </a:r>
            <a:r>
              <a:rPr lang="zh-CN" altLang="en-US" b="1" dirty="0" smtClean="0"/>
              <a:t>。</a:t>
            </a:r>
          </a:p>
          <a:p>
            <a:pPr marL="457200" indent="-457200" fontAlgn="auto">
              <a:defRPr/>
            </a:pPr>
            <a:r>
              <a:rPr lang="zh-CN" altLang="en-US" b="1" dirty="0" smtClean="0"/>
              <a:t>主机之间</a:t>
            </a:r>
            <a:r>
              <a:rPr lang="zh-CN" altLang="en-US" b="1" dirty="0"/>
              <a:t>的两种通信</a:t>
            </a:r>
            <a:r>
              <a:rPr lang="zh-CN" altLang="en-US" b="1" dirty="0" smtClean="0"/>
              <a:t>方式：</a:t>
            </a:r>
            <a:endParaRPr lang="en-US" altLang="zh-CN" b="1" dirty="0" smtClean="0">
              <a:solidFill>
                <a:srgbClr val="0000FF"/>
              </a:solidFill>
            </a:endParaRPr>
          </a:p>
        </p:txBody>
      </p:sp>
      <p:graphicFrame>
        <p:nvGraphicFramePr>
          <p:cNvPr id="9" name="图示 8"/>
          <p:cNvGraphicFramePr/>
          <p:nvPr>
            <p:extLst>
              <p:ext uri="{D42A27DB-BD31-4B8C-83A1-F6EECF244321}">
                <p14:modId xmlns:p14="http://schemas.microsoft.com/office/powerpoint/2010/main" val="3685397999"/>
              </p:ext>
            </p:extLst>
          </p:nvPr>
        </p:nvGraphicFramePr>
        <p:xfrm>
          <a:off x="1195342" y="3645024"/>
          <a:ext cx="8357041" cy="29523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9202922"/>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r>
              <a:rPr lang="en-US" altLang="zh-CN" dirty="0"/>
              <a:t>1.3.1 </a:t>
            </a:r>
            <a:r>
              <a:rPr lang="zh-CN" altLang="en-US" dirty="0" smtClean="0"/>
              <a:t>互联网</a:t>
            </a:r>
            <a:r>
              <a:rPr lang="zh-CN" altLang="en-US" dirty="0"/>
              <a:t>的边缘部分</a:t>
            </a:r>
          </a:p>
        </p:txBody>
      </p:sp>
      <p:sp>
        <p:nvSpPr>
          <p:cNvPr id="2" name="内容占位符 1"/>
          <p:cNvSpPr>
            <a:spLocks noGrp="1"/>
          </p:cNvSpPr>
          <p:nvPr>
            <p:ph idx="1"/>
          </p:nvPr>
        </p:nvSpPr>
        <p:spPr>
          <a:xfrm>
            <a:off x="442801" y="1267200"/>
            <a:ext cx="6445287" cy="4895850"/>
          </a:xfrm>
        </p:spPr>
        <p:txBody>
          <a:bodyPr/>
          <a:lstStyle/>
          <a:p>
            <a:r>
              <a:rPr lang="zh-CN" altLang="en-US" b="1" dirty="0" smtClean="0"/>
              <a:t>客户</a:t>
            </a:r>
            <a:r>
              <a:rPr lang="en-US" altLang="zh-CN" b="1" dirty="0"/>
              <a:t>/</a:t>
            </a:r>
            <a:r>
              <a:rPr lang="zh-CN" altLang="en-US" b="1" dirty="0" smtClean="0"/>
              <a:t>服务器</a:t>
            </a:r>
            <a:r>
              <a:rPr lang="zh-CN" altLang="en-US" b="1" dirty="0"/>
              <a:t>方式（</a:t>
            </a:r>
            <a:r>
              <a:rPr lang="en-US" altLang="zh-CN" b="1" dirty="0"/>
              <a:t>C/S </a:t>
            </a:r>
            <a:r>
              <a:rPr lang="zh-CN" altLang="en-US" b="1" dirty="0"/>
              <a:t>方式</a:t>
            </a:r>
            <a:r>
              <a:rPr lang="zh-CN" altLang="en-US" b="1" dirty="0" smtClean="0"/>
              <a:t>）</a:t>
            </a:r>
            <a:endParaRPr lang="en-US" altLang="zh-CN" b="1" dirty="0" smtClean="0"/>
          </a:p>
          <a:p>
            <a:pPr lvl="1"/>
            <a:r>
              <a:rPr lang="zh-CN" altLang="en-US" b="1" dirty="0"/>
              <a:t>客户</a:t>
            </a:r>
            <a:r>
              <a:rPr lang="en-US" altLang="zh-CN" b="1" dirty="0"/>
              <a:t>(client)</a:t>
            </a:r>
            <a:r>
              <a:rPr lang="zh-CN" altLang="en-US" b="1" dirty="0"/>
              <a:t>和服务器</a:t>
            </a:r>
            <a:r>
              <a:rPr lang="en-US" altLang="zh-CN" b="1" dirty="0"/>
              <a:t>(server)</a:t>
            </a:r>
            <a:r>
              <a:rPr lang="zh-CN" altLang="en-US" b="1" dirty="0"/>
              <a:t>都是指通信中所涉及的两个应用进程。客户</a:t>
            </a:r>
            <a:r>
              <a:rPr lang="en-US" altLang="zh-CN" b="1" dirty="0"/>
              <a:t>/</a:t>
            </a:r>
            <a:r>
              <a:rPr lang="zh-CN" altLang="en-US" b="1" dirty="0"/>
              <a:t>服务器方式所描述的是</a:t>
            </a:r>
            <a:r>
              <a:rPr lang="zh-CN" altLang="en-US" b="1" dirty="0">
                <a:solidFill>
                  <a:srgbClr val="0000FF"/>
                </a:solidFill>
              </a:rPr>
              <a:t>进程之间</a:t>
            </a:r>
            <a:r>
              <a:rPr lang="zh-CN" altLang="en-US" b="1" dirty="0">
                <a:solidFill>
                  <a:srgbClr val="C00000"/>
                </a:solidFill>
              </a:rPr>
              <a:t>服务和被服务</a:t>
            </a:r>
            <a:r>
              <a:rPr lang="zh-CN" altLang="en-US" b="1" dirty="0">
                <a:solidFill>
                  <a:srgbClr val="0000FF"/>
                </a:solidFill>
              </a:rPr>
              <a:t>的关系。</a:t>
            </a:r>
          </a:p>
          <a:p>
            <a:pPr lvl="1"/>
            <a:r>
              <a:rPr lang="zh-CN" altLang="en-US" b="1" dirty="0"/>
              <a:t>客户是服务的</a:t>
            </a:r>
            <a:r>
              <a:rPr lang="zh-CN" altLang="en-US" b="1" dirty="0">
                <a:solidFill>
                  <a:srgbClr val="C00000"/>
                </a:solidFill>
              </a:rPr>
              <a:t>请求方</a:t>
            </a:r>
            <a:r>
              <a:rPr lang="zh-CN" altLang="en-US" b="1" dirty="0"/>
              <a:t>，服务器是服务的</a:t>
            </a:r>
            <a:r>
              <a:rPr lang="zh-CN" altLang="en-US" b="1" dirty="0">
                <a:solidFill>
                  <a:srgbClr val="C00000"/>
                </a:solidFill>
              </a:rPr>
              <a:t>提供方</a:t>
            </a:r>
            <a:r>
              <a:rPr lang="zh-CN" altLang="en-US" b="1" dirty="0"/>
              <a:t>。</a:t>
            </a:r>
          </a:p>
          <a:p>
            <a:pPr lvl="1"/>
            <a:endParaRPr lang="zh-CN" altLang="en-US" b="1" dirty="0"/>
          </a:p>
          <a:p>
            <a:endParaRPr lang="zh-CN" altLang="en-US" b="1" dirty="0"/>
          </a:p>
        </p:txBody>
      </p:sp>
      <p:sp>
        <p:nvSpPr>
          <p:cNvPr id="6" name="Oval 4"/>
          <p:cNvSpPr>
            <a:spLocks noChangeArrowheads="1"/>
          </p:cNvSpPr>
          <p:nvPr/>
        </p:nvSpPr>
        <p:spPr bwMode="auto">
          <a:xfrm>
            <a:off x="6626428" y="1916832"/>
            <a:ext cx="5086196" cy="322119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Line 6"/>
          <p:cNvSpPr>
            <a:spLocks noChangeShapeType="1"/>
          </p:cNvSpPr>
          <p:nvPr/>
        </p:nvSpPr>
        <p:spPr bwMode="auto">
          <a:xfrm flipH="1" flipV="1">
            <a:off x="7651528" y="3554230"/>
            <a:ext cx="645802" cy="164597"/>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7"/>
          <p:cNvSpPr>
            <a:spLocks noChangeShapeType="1"/>
          </p:cNvSpPr>
          <p:nvPr/>
        </p:nvSpPr>
        <p:spPr bwMode="auto">
          <a:xfrm flipH="1">
            <a:off x="10101268" y="3845829"/>
            <a:ext cx="576263" cy="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8"/>
          <p:cNvSpPr>
            <a:spLocks noChangeShapeType="1"/>
          </p:cNvSpPr>
          <p:nvPr/>
        </p:nvSpPr>
        <p:spPr bwMode="auto">
          <a:xfrm flipH="1">
            <a:off x="9677406" y="2640916"/>
            <a:ext cx="503237" cy="722313"/>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9"/>
          <p:cNvSpPr>
            <a:spLocks noChangeShapeType="1"/>
          </p:cNvSpPr>
          <p:nvPr/>
        </p:nvSpPr>
        <p:spPr bwMode="auto">
          <a:xfrm flipH="1" flipV="1">
            <a:off x="9617081" y="4118879"/>
            <a:ext cx="320675" cy="368300"/>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10"/>
          <p:cNvSpPr>
            <a:spLocks noChangeShapeType="1"/>
          </p:cNvSpPr>
          <p:nvPr/>
        </p:nvSpPr>
        <p:spPr bwMode="auto">
          <a:xfrm>
            <a:off x="8475668" y="2734579"/>
            <a:ext cx="320675" cy="5302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1"/>
          <p:cNvSpPr>
            <a:spLocks noChangeShapeType="1"/>
          </p:cNvSpPr>
          <p:nvPr/>
        </p:nvSpPr>
        <p:spPr bwMode="auto">
          <a:xfrm flipV="1">
            <a:off x="8661406" y="4060141"/>
            <a:ext cx="166687" cy="46037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16"/>
          <p:cNvSpPr txBox="1">
            <a:spLocks noChangeArrowheads="1"/>
          </p:cNvSpPr>
          <p:nvPr/>
        </p:nvSpPr>
        <p:spPr bwMode="auto">
          <a:xfrm>
            <a:off x="6600056" y="2564904"/>
            <a:ext cx="82232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b="1" dirty="0" smtClean="0">
                <a:solidFill>
                  <a:srgbClr val="000000"/>
                </a:solidFill>
                <a:latin typeface="微软雅黑" panose="020B0503020204020204" pitchFamily="34" charset="-122"/>
                <a:ea typeface="微软雅黑" panose="020B0503020204020204" pitchFamily="34" charset="-122"/>
              </a:rPr>
              <a:t>运行</a:t>
            </a:r>
            <a:endParaRPr kumimoji="1" lang="en-US" altLang="zh-CN" b="1" dirty="0" smtClean="0">
              <a:solidFill>
                <a:srgbClr val="000000"/>
              </a:solidFill>
              <a:latin typeface="微软雅黑" panose="020B0503020204020204" pitchFamily="34" charset="-122"/>
              <a:ea typeface="微软雅黑" panose="020B0503020204020204" pitchFamily="34" charset="-122"/>
            </a:endParaRPr>
          </a:p>
          <a:p>
            <a:pPr algn="ctr"/>
            <a:r>
              <a:rPr kumimoji="1" lang="zh-CN" altLang="en-US" b="1" dirty="0" smtClean="0">
                <a:solidFill>
                  <a:srgbClr val="000000"/>
                </a:solidFill>
                <a:latin typeface="微软雅黑" panose="020B0503020204020204" pitchFamily="34" charset="-122"/>
                <a:ea typeface="微软雅黑" panose="020B0503020204020204" pitchFamily="34" charset="-122"/>
              </a:rPr>
              <a:t>客户</a:t>
            </a:r>
            <a:r>
              <a:rPr kumimoji="1" lang="zh-CN" altLang="en-US" b="1" dirty="0">
                <a:solidFill>
                  <a:srgbClr val="000000"/>
                </a:solidFill>
                <a:latin typeface="微软雅黑" panose="020B0503020204020204" pitchFamily="34" charset="-122"/>
                <a:ea typeface="微软雅黑" panose="020B0503020204020204" pitchFamily="34" charset="-122"/>
              </a:rPr>
              <a:t>程序</a:t>
            </a:r>
          </a:p>
        </p:txBody>
      </p:sp>
      <p:grpSp>
        <p:nvGrpSpPr>
          <p:cNvPr id="14" name="Group 18"/>
          <p:cNvGrpSpPr/>
          <p:nvPr/>
        </p:nvGrpSpPr>
        <p:grpSpPr bwMode="auto">
          <a:xfrm>
            <a:off x="8101475" y="2841182"/>
            <a:ext cx="2307127" cy="1602670"/>
            <a:chOff x="1680" y="240"/>
            <a:chExt cx="2529" cy="1270"/>
          </a:xfrm>
          <a:solidFill>
            <a:schemeClr val="bg1"/>
          </a:solidFill>
        </p:grpSpPr>
        <p:sp>
          <p:nvSpPr>
            <p:cNvPr id="15"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6"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7"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8"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19"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0"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1"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2"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sp>
          <p:nvSpPr>
            <p:cNvPr id="23"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600" b="1">
                <a:solidFill>
                  <a:srgbClr val="368AD6"/>
                </a:solidFill>
                <a:latin typeface="+mn-lt"/>
                <a:ea typeface="黑体" panose="02010609060101010101" pitchFamily="2" charset="-122"/>
              </a:endParaRPr>
            </a:p>
          </p:txBody>
        </p:sp>
      </p:grpSp>
      <p:sp>
        <p:nvSpPr>
          <p:cNvPr id="24" name="Text Box 28"/>
          <p:cNvSpPr txBox="1">
            <a:spLocks noChangeArrowheads="1"/>
          </p:cNvSpPr>
          <p:nvPr/>
        </p:nvSpPr>
        <p:spPr bwMode="auto">
          <a:xfrm>
            <a:off x="8855081" y="2390091"/>
            <a:ext cx="9032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25" name="Text Box 29"/>
          <p:cNvSpPr txBox="1">
            <a:spLocks noChangeArrowheads="1"/>
          </p:cNvSpPr>
          <p:nvPr/>
        </p:nvSpPr>
        <p:spPr bwMode="auto">
          <a:xfrm>
            <a:off x="8909597" y="3985510"/>
            <a:ext cx="903288" cy="3079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26" name="Text Box 31"/>
          <p:cNvSpPr txBox="1">
            <a:spLocks noChangeArrowheads="1"/>
          </p:cNvSpPr>
          <p:nvPr/>
        </p:nvSpPr>
        <p:spPr bwMode="auto">
          <a:xfrm>
            <a:off x="11272688" y="2420888"/>
            <a:ext cx="1016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b="1" dirty="0">
                <a:solidFill>
                  <a:srgbClr val="000000"/>
                </a:solidFill>
                <a:latin typeface="微软雅黑" panose="020B0503020204020204" pitchFamily="34" charset="-122"/>
                <a:ea typeface="微软雅黑" panose="020B0503020204020204" pitchFamily="34" charset="-122"/>
              </a:rPr>
              <a:t>运行</a:t>
            </a:r>
          </a:p>
          <a:p>
            <a:pPr algn="ctr"/>
            <a:r>
              <a:rPr kumimoji="1" lang="zh-CN" altLang="en-US" b="1" dirty="0">
                <a:solidFill>
                  <a:srgbClr val="000000"/>
                </a:solidFill>
                <a:latin typeface="微软雅黑" panose="020B0503020204020204" pitchFamily="34" charset="-122"/>
                <a:ea typeface="微软雅黑" panose="020B0503020204020204" pitchFamily="34" charset="-122"/>
              </a:rPr>
              <a:t>服务器程序</a:t>
            </a:r>
          </a:p>
        </p:txBody>
      </p:sp>
      <p:sp>
        <p:nvSpPr>
          <p:cNvPr id="27" name="Line 33"/>
          <p:cNvSpPr>
            <a:spLocks noChangeShapeType="1"/>
          </p:cNvSpPr>
          <p:nvPr/>
        </p:nvSpPr>
        <p:spPr bwMode="auto">
          <a:xfrm>
            <a:off x="7178323" y="3115435"/>
            <a:ext cx="432821" cy="42545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34"/>
          <p:cNvSpPr>
            <a:spLocks noChangeShapeType="1"/>
          </p:cNvSpPr>
          <p:nvPr/>
        </p:nvSpPr>
        <p:spPr bwMode="auto">
          <a:xfrm flipH="1">
            <a:off x="10879143" y="3047568"/>
            <a:ext cx="643075" cy="6283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35"/>
          <p:cNvSpPr txBox="1">
            <a:spLocks noChangeArrowheads="1"/>
          </p:cNvSpPr>
          <p:nvPr/>
        </p:nvSpPr>
        <p:spPr bwMode="auto">
          <a:xfrm>
            <a:off x="7518406" y="3133323"/>
            <a:ext cx="30956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A</a:t>
            </a:r>
          </a:p>
        </p:txBody>
      </p:sp>
      <p:sp>
        <p:nvSpPr>
          <p:cNvPr id="30" name="Text Box 36"/>
          <p:cNvSpPr txBox="1">
            <a:spLocks noChangeArrowheads="1"/>
          </p:cNvSpPr>
          <p:nvPr/>
        </p:nvSpPr>
        <p:spPr bwMode="auto">
          <a:xfrm>
            <a:off x="10807706" y="2926666"/>
            <a:ext cx="300037"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FF"/>
                </a:solidFill>
                <a:ea typeface="黑体" panose="02010609060101010101" pitchFamily="2" charset="-122"/>
              </a:rPr>
              <a:t>B</a:t>
            </a:r>
          </a:p>
        </p:txBody>
      </p:sp>
      <p:grpSp>
        <p:nvGrpSpPr>
          <p:cNvPr id="31" name="组合 30"/>
          <p:cNvGrpSpPr/>
          <p:nvPr/>
        </p:nvGrpSpPr>
        <p:grpSpPr bwMode="auto">
          <a:xfrm>
            <a:off x="7918456" y="3224532"/>
            <a:ext cx="2667000" cy="351413"/>
            <a:chOff x="2799680" y="2545502"/>
            <a:chExt cx="3658879" cy="1012182"/>
          </a:xfrm>
        </p:grpSpPr>
        <p:sp>
          <p:nvSpPr>
            <p:cNvPr id="32" name="Freeform 32"/>
            <p:cNvSpPr/>
            <p:nvPr/>
          </p:nvSpPr>
          <p:spPr bwMode="auto">
            <a:xfrm rot="60000">
              <a:off x="2799680" y="3080925"/>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Text Box 39"/>
            <p:cNvSpPr txBox="1">
              <a:spLocks noChangeArrowheads="1"/>
            </p:cNvSpPr>
            <p:nvPr/>
          </p:nvSpPr>
          <p:spPr bwMode="auto">
            <a:xfrm rot="240000">
              <a:off x="4031413" y="2545502"/>
              <a:ext cx="1373076" cy="380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① </a:t>
              </a:r>
              <a:r>
                <a:rPr kumimoji="1" lang="zh-CN" altLang="en-US" sz="1200" b="1" dirty="0">
                  <a:solidFill>
                    <a:srgbClr val="CC00CC"/>
                  </a:solidFill>
                  <a:latin typeface="微软雅黑" panose="020B0503020204020204" pitchFamily="34" charset="-122"/>
                  <a:ea typeface="微软雅黑" panose="020B0503020204020204" pitchFamily="34" charset="-122"/>
                </a:rPr>
                <a:t>请求服务</a:t>
              </a:r>
            </a:p>
          </p:txBody>
        </p:sp>
      </p:grpSp>
      <p:sp>
        <p:nvSpPr>
          <p:cNvPr id="34" name="Text Box 41"/>
          <p:cNvSpPr txBox="1">
            <a:spLocks noChangeArrowheads="1"/>
          </p:cNvSpPr>
          <p:nvPr/>
        </p:nvSpPr>
        <p:spPr bwMode="auto">
          <a:xfrm>
            <a:off x="7398689" y="3739748"/>
            <a:ext cx="5950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0000"/>
                </a:solidFill>
                <a:latin typeface="微软雅黑" panose="020B0503020204020204" pitchFamily="34" charset="-122"/>
                <a:ea typeface="微软雅黑" panose="020B0503020204020204" pitchFamily="34" charset="-122"/>
              </a:rPr>
              <a:t>客户</a:t>
            </a:r>
          </a:p>
        </p:txBody>
      </p:sp>
      <p:sp>
        <p:nvSpPr>
          <p:cNvPr id="35" name="Text Box 42"/>
          <p:cNvSpPr txBox="1">
            <a:spLocks noChangeArrowheads="1"/>
          </p:cNvSpPr>
          <p:nvPr/>
        </p:nvSpPr>
        <p:spPr bwMode="auto">
          <a:xfrm>
            <a:off x="10519515" y="4007754"/>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0000"/>
                </a:solidFill>
                <a:latin typeface="微软雅黑" panose="020B0503020204020204" pitchFamily="34" charset="-122"/>
                <a:ea typeface="微软雅黑" panose="020B0503020204020204" pitchFamily="34" charset="-122"/>
              </a:rPr>
              <a:t>服务器</a:t>
            </a:r>
          </a:p>
        </p:txBody>
      </p:sp>
      <p:pic>
        <p:nvPicPr>
          <p:cNvPr id="36" name="Picture 24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4593" y="3394196"/>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506" y="2420254"/>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4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98081" y="2367866"/>
            <a:ext cx="3667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24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4106" y="4468129"/>
            <a:ext cx="36671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24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5668" y="4520516"/>
            <a:ext cx="366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3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599743" y="3150504"/>
            <a:ext cx="61912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矩形 40"/>
          <p:cNvSpPr>
            <a:spLocks noChangeArrowheads="1"/>
          </p:cNvSpPr>
          <p:nvPr/>
        </p:nvSpPr>
        <p:spPr bwMode="auto">
          <a:xfrm>
            <a:off x="7730724" y="5148481"/>
            <a:ext cx="343170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0000FF"/>
                </a:solidFill>
                <a:latin typeface="微软雅黑" panose="020B0503020204020204" pitchFamily="34" charset="-122"/>
                <a:ea typeface="微软雅黑" panose="020B0503020204020204" pitchFamily="34" charset="-122"/>
              </a:rPr>
              <a:t>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向服务器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smtClean="0">
                <a:solidFill>
                  <a:srgbClr val="0000FF"/>
                </a:solidFill>
                <a:latin typeface="微软雅黑" panose="020B0503020204020204" pitchFamily="34" charset="-122"/>
                <a:ea typeface="微软雅黑" panose="020B0503020204020204" pitchFamily="34" charset="-122"/>
              </a:rPr>
              <a:t>请求</a:t>
            </a:r>
            <a:r>
              <a:rPr lang="zh-CN" altLang="en-US" sz="1600" b="1" dirty="0">
                <a:solidFill>
                  <a:srgbClr val="0000FF"/>
                </a:solidFill>
                <a:latin typeface="微软雅黑" panose="020B0503020204020204" pitchFamily="34" charset="-122"/>
                <a:ea typeface="微软雅黑" panose="020B0503020204020204" pitchFamily="34" charset="-122"/>
              </a:rPr>
              <a:t>服务</a:t>
            </a:r>
            <a:r>
              <a:rPr lang="zh-CN" altLang="en-US" sz="1600" b="1" dirty="0" smtClean="0">
                <a:solidFill>
                  <a:srgbClr val="0000FF"/>
                </a:solidFill>
                <a:latin typeface="微软雅黑" panose="020B0503020204020204" pitchFamily="34" charset="-122"/>
                <a:ea typeface="微软雅黑" panose="020B0503020204020204" pitchFamily="34" charset="-122"/>
              </a:rPr>
              <a:t>，</a:t>
            </a:r>
            <a:endParaRPr lang="en-US" altLang="zh-CN" sz="1600" b="1" dirty="0" smtClean="0">
              <a:solidFill>
                <a:srgbClr val="0000FF"/>
              </a:solidFill>
              <a:latin typeface="微软雅黑" panose="020B0503020204020204" pitchFamily="34" charset="-122"/>
              <a:ea typeface="微软雅黑" panose="020B0503020204020204" pitchFamily="34" charset="-122"/>
            </a:endParaRPr>
          </a:p>
          <a:p>
            <a:r>
              <a:rPr lang="zh-CN" altLang="en-US" sz="1600" b="1" dirty="0" smtClean="0">
                <a:solidFill>
                  <a:srgbClr val="0000FF"/>
                </a:solidFill>
                <a:latin typeface="微软雅黑" panose="020B0503020204020204" pitchFamily="34" charset="-122"/>
                <a:ea typeface="微软雅黑" panose="020B0503020204020204" pitchFamily="34" charset="-122"/>
              </a:rPr>
              <a:t>服务器 </a:t>
            </a:r>
            <a:r>
              <a:rPr lang="en-US" altLang="zh-CN" sz="1600" b="1" dirty="0">
                <a:solidFill>
                  <a:srgbClr val="0000FF"/>
                </a:solidFill>
                <a:latin typeface="微软雅黑" panose="020B0503020204020204" pitchFamily="34" charset="-122"/>
                <a:ea typeface="微软雅黑" panose="020B0503020204020204" pitchFamily="34" charset="-122"/>
              </a:rPr>
              <a:t>B </a:t>
            </a:r>
            <a:r>
              <a:rPr lang="zh-CN" altLang="en-US" sz="1600" b="1" dirty="0">
                <a:solidFill>
                  <a:srgbClr val="0000FF"/>
                </a:solidFill>
                <a:latin typeface="微软雅黑" panose="020B0503020204020204" pitchFamily="34" charset="-122"/>
                <a:ea typeface="微软雅黑" panose="020B0503020204020204" pitchFamily="34" charset="-122"/>
              </a:rPr>
              <a:t>向客户 </a:t>
            </a:r>
            <a:r>
              <a:rPr lang="en-US" altLang="zh-CN" sz="1600" b="1" dirty="0">
                <a:solidFill>
                  <a:srgbClr val="0000FF"/>
                </a:solidFill>
                <a:latin typeface="微软雅黑" panose="020B0503020204020204" pitchFamily="34" charset="-122"/>
                <a:ea typeface="微软雅黑" panose="020B0503020204020204" pitchFamily="34" charset="-122"/>
              </a:rPr>
              <a:t>A </a:t>
            </a:r>
            <a:r>
              <a:rPr lang="zh-CN" altLang="en-US" sz="1600" b="1" dirty="0">
                <a:solidFill>
                  <a:srgbClr val="0000FF"/>
                </a:solidFill>
                <a:latin typeface="微软雅黑" panose="020B0503020204020204" pitchFamily="34" charset="-122"/>
                <a:ea typeface="微软雅黑" panose="020B0503020204020204" pitchFamily="34" charset="-122"/>
              </a:rPr>
              <a:t>提供</a:t>
            </a:r>
            <a:r>
              <a:rPr lang="zh-CN" altLang="en-US" sz="1600" b="1" dirty="0" smtClean="0">
                <a:solidFill>
                  <a:srgbClr val="0000FF"/>
                </a:solidFill>
                <a:latin typeface="微软雅黑" panose="020B0503020204020204" pitchFamily="34" charset="-122"/>
                <a:ea typeface="微软雅黑" panose="020B0503020204020204" pitchFamily="34" charset="-122"/>
              </a:rPr>
              <a:t>服务</a:t>
            </a:r>
            <a:r>
              <a:rPr lang="zh-CN" altLang="en-US" sz="1600" b="1" dirty="0">
                <a:solidFill>
                  <a:srgbClr val="0000FF"/>
                </a:solidFill>
                <a:latin typeface="微软雅黑" panose="020B0503020204020204" pitchFamily="34" charset="-122"/>
                <a:ea typeface="微软雅黑" panose="020B0503020204020204" pitchFamily="34" charset="-122"/>
              </a:rPr>
              <a:t>。</a:t>
            </a:r>
          </a:p>
        </p:txBody>
      </p:sp>
      <p:grpSp>
        <p:nvGrpSpPr>
          <p:cNvPr id="43" name="组合 42"/>
          <p:cNvGrpSpPr/>
          <p:nvPr/>
        </p:nvGrpSpPr>
        <p:grpSpPr bwMode="auto">
          <a:xfrm rot="-60000">
            <a:off x="7870342" y="3582577"/>
            <a:ext cx="2665413" cy="303219"/>
            <a:chOff x="2717737" y="3239081"/>
            <a:chExt cx="3658879" cy="639036"/>
          </a:xfrm>
        </p:grpSpPr>
        <p:sp>
          <p:nvSpPr>
            <p:cNvPr id="44" name="Text Box 40"/>
            <p:cNvSpPr txBox="1">
              <a:spLocks noChangeArrowheads="1"/>
            </p:cNvSpPr>
            <p:nvPr/>
          </p:nvSpPr>
          <p:spPr bwMode="auto">
            <a:xfrm rot="300000">
              <a:off x="3965549" y="3498003"/>
              <a:ext cx="1373075" cy="38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200" b="1" dirty="0">
                  <a:solidFill>
                    <a:srgbClr val="CC00CC"/>
                  </a:solidFill>
                  <a:latin typeface="微软雅黑" panose="020B0503020204020204" pitchFamily="34" charset="-122"/>
                  <a:ea typeface="微软雅黑" panose="020B0503020204020204" pitchFamily="34" charset="-122"/>
                </a:rPr>
                <a:t>② </a:t>
              </a:r>
              <a:r>
                <a:rPr kumimoji="1" lang="zh-CN" altLang="en-US" sz="1200" b="1" dirty="0">
                  <a:solidFill>
                    <a:srgbClr val="CC00CC"/>
                  </a:solidFill>
                  <a:latin typeface="微软雅黑" panose="020B0503020204020204" pitchFamily="34" charset="-122"/>
                  <a:ea typeface="微软雅黑" panose="020B0503020204020204" pitchFamily="34" charset="-122"/>
                </a:rPr>
                <a:t>得到服务</a:t>
              </a:r>
            </a:p>
          </p:txBody>
        </p:sp>
        <p:sp>
          <p:nvSpPr>
            <p:cNvPr id="45" name="Freeform 38"/>
            <p:cNvSpPr/>
            <p:nvPr/>
          </p:nvSpPr>
          <p:spPr bwMode="auto">
            <a:xfrm rot="10800000">
              <a:off x="2717737" y="3239081"/>
              <a:ext cx="3658879" cy="476759"/>
            </a:xfrm>
            <a:custGeom>
              <a:avLst/>
              <a:gdLst>
                <a:gd name="T0" fmla="*/ 0 w 2112"/>
                <a:gd name="T1" fmla="*/ 0 h 192"/>
                <a:gd name="T2" fmla="*/ 3658879 w 2112"/>
                <a:gd name="T3" fmla="*/ 476759 h 192"/>
                <a:gd name="T4" fmla="*/ 0 60000 65536"/>
                <a:gd name="T5" fmla="*/ 0 60000 65536"/>
              </a:gdLst>
              <a:ahLst/>
              <a:cxnLst>
                <a:cxn ang="T4">
                  <a:pos x="T0" y="T1"/>
                </a:cxn>
                <a:cxn ang="T5">
                  <a:pos x="T2" y="T3"/>
                </a:cxn>
              </a:cxnLst>
              <a:rect l="0" t="0" r="r" b="b"/>
              <a:pathLst>
                <a:path w="2112" h="192">
                  <a:moveTo>
                    <a:pt x="0" y="0"/>
                  </a:moveTo>
                  <a:lnTo>
                    <a:pt x="2112" y="192"/>
                  </a:lnTo>
                </a:path>
              </a:pathLst>
            </a:custGeom>
            <a:noFill/>
            <a:ln w="38100" cap="flat" cmpd="sng">
              <a:solidFill>
                <a:srgbClr val="CC00CC">
                  <a:alpha val="79999"/>
                </a:srgbClr>
              </a:solidFill>
              <a:prstDash val="sysDot"/>
              <a:round/>
              <a:headEnd type="none" w="med" len="lg"/>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8898764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2000"/>
                                        <p:tgtEl>
                                          <p:spTgt spid="31"/>
                                        </p:tgtEl>
                                      </p:cBhvr>
                                    </p:animEffect>
                                  </p:childTnLst>
                                </p:cTn>
                              </p:par>
                            </p:childTnLst>
                          </p:cTn>
                        </p:par>
                        <p:par>
                          <p:cTn id="8" fill="hold">
                            <p:stCondLst>
                              <p:cond delay="2000"/>
                            </p:stCondLst>
                            <p:childTnLst>
                              <p:par>
                                <p:cTn id="9" presetID="22" presetClass="entr" presetSubtype="2" fill="hold" nodeType="afterEffect">
                                  <p:stCondLst>
                                    <p:cond delay="500"/>
                                  </p:stCondLst>
                                  <p:childTnLst>
                                    <p:set>
                                      <p:cBhvr>
                                        <p:cTn id="10" dur="1" fill="hold">
                                          <p:stCondLst>
                                            <p:cond delay="0"/>
                                          </p:stCondLst>
                                        </p:cTn>
                                        <p:tgtEl>
                                          <p:spTgt spid="43"/>
                                        </p:tgtEl>
                                        <p:attrNameLst>
                                          <p:attrName>style.visibility</p:attrName>
                                        </p:attrNameLst>
                                      </p:cBhvr>
                                      <p:to>
                                        <p:strVal val="visible"/>
                                      </p:to>
                                    </p:set>
                                    <p:animEffect transition="in" filter="wipe(right)">
                                      <p:cBhvr>
                                        <p:cTn id="11" dur="2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pPr eaLnBrk="1" hangingPunct="1"/>
            <a:r>
              <a:rPr lang="en-US" altLang="zh-CN" dirty="0"/>
              <a:t>1.3.1 </a:t>
            </a:r>
            <a:r>
              <a:rPr lang="zh-CN" altLang="en-US" dirty="0" smtClean="0"/>
              <a:t>互联网</a:t>
            </a:r>
            <a:r>
              <a:rPr lang="zh-CN" altLang="en-US" dirty="0"/>
              <a:t>的边缘部分</a:t>
            </a:r>
          </a:p>
        </p:txBody>
      </p:sp>
      <p:sp>
        <p:nvSpPr>
          <p:cNvPr id="2" name="内容占位符 1"/>
          <p:cNvSpPr>
            <a:spLocks noGrp="1"/>
          </p:cNvSpPr>
          <p:nvPr>
            <p:ph idx="1"/>
          </p:nvPr>
        </p:nvSpPr>
        <p:spPr>
          <a:xfrm>
            <a:off x="442801" y="1267200"/>
            <a:ext cx="6229263" cy="4895850"/>
          </a:xfrm>
        </p:spPr>
        <p:txBody>
          <a:bodyPr/>
          <a:lstStyle/>
          <a:p>
            <a:r>
              <a:rPr lang="zh-CN" altLang="en-US" b="1" dirty="0"/>
              <a:t>对等连接方式（</a:t>
            </a:r>
            <a:r>
              <a:rPr lang="en-US" altLang="zh-CN" b="1" dirty="0"/>
              <a:t>P2P </a:t>
            </a:r>
            <a:r>
              <a:rPr lang="zh-CN" altLang="en-US" b="1" dirty="0"/>
              <a:t>方式</a:t>
            </a:r>
            <a:r>
              <a:rPr lang="zh-CN" altLang="en-US" b="1" dirty="0" smtClean="0"/>
              <a:t>）</a:t>
            </a:r>
            <a:endParaRPr lang="en-US" altLang="zh-CN" b="1" dirty="0" smtClean="0"/>
          </a:p>
          <a:p>
            <a:pPr lvl="1">
              <a:lnSpc>
                <a:spcPct val="130000"/>
              </a:lnSpc>
            </a:pPr>
            <a:r>
              <a:rPr lang="zh-CN" altLang="en-US" b="1" dirty="0" smtClean="0"/>
              <a:t>主机之间通信</a:t>
            </a:r>
            <a:r>
              <a:rPr lang="zh-CN" altLang="en-US" b="1" dirty="0"/>
              <a:t>时</a:t>
            </a:r>
            <a:r>
              <a:rPr lang="zh-CN" altLang="en-US" b="1" dirty="0" smtClean="0">
                <a:solidFill>
                  <a:srgbClr val="C00000"/>
                </a:solidFill>
              </a:rPr>
              <a:t>不区分</a:t>
            </a:r>
            <a:r>
              <a:rPr lang="zh-CN" altLang="en-US" b="1" dirty="0"/>
              <a:t>服务请求方和服务提供</a:t>
            </a:r>
            <a:r>
              <a:rPr lang="zh-CN" altLang="en-US" b="1" dirty="0" smtClean="0"/>
              <a:t>方</a:t>
            </a:r>
            <a:r>
              <a:rPr lang="zh-CN" altLang="en-US" b="1" dirty="0"/>
              <a:t>，</a:t>
            </a:r>
            <a:r>
              <a:rPr lang="zh-CN" altLang="en-US" b="1" dirty="0" smtClean="0"/>
              <a:t>只要</a:t>
            </a:r>
            <a:r>
              <a:rPr lang="zh-CN" altLang="en-US" b="1" dirty="0"/>
              <a:t>都运行了 </a:t>
            </a:r>
            <a:r>
              <a:rPr lang="en-US" altLang="zh-CN" b="1" dirty="0"/>
              <a:t>P2P </a:t>
            </a:r>
            <a:r>
              <a:rPr lang="zh-CN" altLang="en-US" b="1" dirty="0"/>
              <a:t>软件，就可以</a:t>
            </a:r>
            <a:r>
              <a:rPr lang="zh-CN" altLang="en-US" b="1" dirty="0" smtClean="0"/>
              <a:t>进行</a:t>
            </a:r>
            <a:r>
              <a:rPr lang="zh-CN" altLang="en-US" b="1" dirty="0" smtClean="0">
                <a:solidFill>
                  <a:srgbClr val="C00000"/>
                </a:solidFill>
              </a:rPr>
              <a:t>对等</a:t>
            </a:r>
            <a:r>
              <a:rPr lang="zh-CN" altLang="en-US" b="1" dirty="0">
                <a:solidFill>
                  <a:srgbClr val="C00000"/>
                </a:solidFill>
              </a:rPr>
              <a:t>连接通信</a:t>
            </a:r>
            <a:r>
              <a:rPr lang="zh-CN" altLang="en-US" b="1" dirty="0" smtClean="0">
                <a:solidFill>
                  <a:srgbClr val="C00000"/>
                </a:solidFill>
              </a:rPr>
              <a:t>。</a:t>
            </a:r>
            <a:endParaRPr lang="en-US" altLang="zh-CN" b="1" dirty="0" smtClean="0">
              <a:solidFill>
                <a:srgbClr val="C00000"/>
              </a:solidFill>
            </a:endParaRPr>
          </a:p>
          <a:p>
            <a:pPr lvl="1">
              <a:lnSpc>
                <a:spcPct val="130000"/>
              </a:lnSpc>
            </a:pPr>
            <a:r>
              <a:rPr lang="zh-CN" altLang="en-US" b="1" dirty="0"/>
              <a:t>对等连接方式从</a:t>
            </a:r>
            <a:r>
              <a:rPr lang="zh-CN" altLang="en-US" b="1" dirty="0">
                <a:solidFill>
                  <a:schemeClr val="tx2">
                    <a:lumMod val="60000"/>
                    <a:lumOff val="40000"/>
                  </a:schemeClr>
                </a:solidFill>
              </a:rPr>
              <a:t>本质</a:t>
            </a:r>
            <a:r>
              <a:rPr lang="zh-CN" altLang="en-US" b="1" dirty="0"/>
              <a:t>上看</a:t>
            </a:r>
            <a:r>
              <a:rPr lang="zh-CN" altLang="en-US" b="1" dirty="0" smtClean="0">
                <a:solidFill>
                  <a:schemeClr val="tx2">
                    <a:lumMod val="60000"/>
                    <a:lumOff val="40000"/>
                  </a:schemeClr>
                </a:solidFill>
              </a:rPr>
              <a:t>仍然使用客户</a:t>
            </a:r>
            <a:r>
              <a:rPr lang="en-US" altLang="zh-CN" b="1" dirty="0" smtClean="0">
                <a:solidFill>
                  <a:schemeClr val="tx2">
                    <a:lumMod val="60000"/>
                    <a:lumOff val="40000"/>
                  </a:schemeClr>
                </a:solidFill>
              </a:rPr>
              <a:t>/</a:t>
            </a:r>
            <a:r>
              <a:rPr lang="zh-CN" altLang="en-US" b="1" dirty="0" smtClean="0">
                <a:solidFill>
                  <a:schemeClr val="tx2">
                    <a:lumMod val="60000"/>
                    <a:lumOff val="40000"/>
                  </a:schemeClr>
                </a:solidFill>
              </a:rPr>
              <a:t>服务器</a:t>
            </a:r>
            <a:r>
              <a:rPr lang="zh-CN" altLang="en-US" b="1" dirty="0">
                <a:solidFill>
                  <a:schemeClr val="tx2">
                    <a:lumMod val="60000"/>
                    <a:lumOff val="40000"/>
                  </a:schemeClr>
                </a:solidFill>
              </a:rPr>
              <a:t>方式</a:t>
            </a:r>
            <a:r>
              <a:rPr lang="zh-CN" altLang="en-US" b="1" dirty="0"/>
              <a:t>，只是对等连接中的每</a:t>
            </a:r>
            <a:r>
              <a:rPr lang="zh-CN" altLang="en-US" b="1" dirty="0" smtClean="0"/>
              <a:t>一</a:t>
            </a:r>
            <a:r>
              <a:rPr lang="zh-CN" altLang="en-US" b="1" dirty="0"/>
              <a:t>台</a:t>
            </a:r>
            <a:r>
              <a:rPr lang="zh-CN" altLang="en-US" b="1" dirty="0" smtClean="0"/>
              <a:t>主机</a:t>
            </a:r>
            <a:r>
              <a:rPr lang="zh-CN" altLang="en-US" b="1" dirty="0">
                <a:solidFill>
                  <a:srgbClr val="C00000"/>
                </a:solidFill>
              </a:rPr>
              <a:t>既是客户又是服务器</a:t>
            </a:r>
            <a:r>
              <a:rPr lang="zh-CN" altLang="en-US" b="1" dirty="0"/>
              <a:t>。</a:t>
            </a:r>
          </a:p>
          <a:p>
            <a:pPr lvl="1"/>
            <a:endParaRPr lang="zh-CN" altLang="en-US" dirty="0" smtClean="0">
              <a:solidFill>
                <a:srgbClr val="C00000"/>
              </a:solidFill>
            </a:endParaRPr>
          </a:p>
          <a:p>
            <a:endParaRPr lang="zh-CN" altLang="en-US" dirty="0"/>
          </a:p>
        </p:txBody>
      </p:sp>
      <p:sp>
        <p:nvSpPr>
          <p:cNvPr id="7" name="Oval 4"/>
          <p:cNvSpPr>
            <a:spLocks noChangeArrowheads="1"/>
          </p:cNvSpPr>
          <p:nvPr/>
        </p:nvSpPr>
        <p:spPr bwMode="auto">
          <a:xfrm>
            <a:off x="6672064" y="1556792"/>
            <a:ext cx="4873419" cy="3650285"/>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Line 5"/>
          <p:cNvSpPr>
            <a:spLocks noChangeShapeType="1"/>
          </p:cNvSpPr>
          <p:nvPr/>
        </p:nvSpPr>
        <p:spPr bwMode="auto">
          <a:xfrm flipV="1">
            <a:off x="7867289" y="3592023"/>
            <a:ext cx="512618" cy="338537"/>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6"/>
          <p:cNvSpPr>
            <a:spLocks noChangeShapeType="1"/>
          </p:cNvSpPr>
          <p:nvPr/>
        </p:nvSpPr>
        <p:spPr bwMode="auto">
          <a:xfrm flipH="1" flipV="1">
            <a:off x="7617407" y="3036017"/>
            <a:ext cx="772509" cy="269821"/>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7"/>
          <p:cNvSpPr>
            <a:spLocks noChangeShapeType="1"/>
          </p:cNvSpPr>
          <p:nvPr/>
        </p:nvSpPr>
        <p:spPr bwMode="auto">
          <a:xfrm flipH="1">
            <a:off x="10045928" y="3314611"/>
            <a:ext cx="783490" cy="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auto">
          <a:xfrm flipH="1">
            <a:off x="9525346" y="2368703"/>
            <a:ext cx="449997" cy="66968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9"/>
          <p:cNvSpPr>
            <a:spLocks noChangeShapeType="1"/>
          </p:cNvSpPr>
          <p:nvPr/>
        </p:nvSpPr>
        <p:spPr bwMode="auto">
          <a:xfrm flipH="1" flipV="1">
            <a:off x="9520623" y="3785084"/>
            <a:ext cx="397570" cy="394714"/>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auto">
          <a:xfrm>
            <a:off x="8206266" y="2462897"/>
            <a:ext cx="451453" cy="483413"/>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auto">
          <a:xfrm flipV="1">
            <a:off x="8597721" y="3740876"/>
            <a:ext cx="91747" cy="548460"/>
          </a:xfrm>
          <a:prstGeom prst="line">
            <a:avLst/>
          </a:prstGeom>
          <a:noFill/>
          <a:ln w="28575">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5" name="Group 17"/>
          <p:cNvGrpSpPr/>
          <p:nvPr/>
        </p:nvGrpSpPr>
        <p:grpSpPr bwMode="auto">
          <a:xfrm>
            <a:off x="8148234" y="2649293"/>
            <a:ext cx="2136571" cy="1415756"/>
            <a:chOff x="1680" y="240"/>
            <a:chExt cx="2529" cy="1270"/>
          </a:xfrm>
          <a:solidFill>
            <a:schemeClr val="bg1"/>
          </a:solidFill>
        </p:grpSpPr>
        <p:sp>
          <p:nvSpPr>
            <p:cNvPr id="16"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17"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18"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19"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20"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21"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22"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23"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24"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grpSp>
      <p:sp>
        <p:nvSpPr>
          <p:cNvPr id="25" name="Text Box 27"/>
          <p:cNvSpPr txBox="1">
            <a:spLocks noChangeArrowheads="1"/>
          </p:cNvSpPr>
          <p:nvPr/>
        </p:nvSpPr>
        <p:spPr bwMode="auto">
          <a:xfrm>
            <a:off x="8530446" y="2083738"/>
            <a:ext cx="1180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网络边缘</a:t>
            </a:r>
          </a:p>
        </p:txBody>
      </p:sp>
      <p:sp>
        <p:nvSpPr>
          <p:cNvPr id="26" name="Text Box 28"/>
          <p:cNvSpPr txBox="1">
            <a:spLocks noChangeArrowheads="1"/>
          </p:cNvSpPr>
          <p:nvPr/>
        </p:nvSpPr>
        <p:spPr bwMode="auto">
          <a:xfrm>
            <a:off x="8774238" y="3279757"/>
            <a:ext cx="1090078" cy="307777"/>
          </a:xfrm>
          <a:prstGeom prst="rect">
            <a:avLst/>
          </a:prstGeom>
          <a:solidFill>
            <a:schemeClr val="bg1"/>
          </a:solidFill>
          <a:ln>
            <a:noFill/>
          </a:ln>
          <a:effectLst/>
          <a:extLs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400" b="1" dirty="0">
                <a:solidFill>
                  <a:srgbClr val="0000FF"/>
                </a:solidFill>
                <a:latin typeface="微软雅黑" panose="020B0503020204020204" pitchFamily="34" charset="-122"/>
                <a:ea typeface="微软雅黑" panose="020B0503020204020204" pitchFamily="34" charset="-122"/>
              </a:rPr>
              <a:t>网络核心</a:t>
            </a:r>
          </a:p>
        </p:txBody>
      </p:sp>
      <p:sp>
        <p:nvSpPr>
          <p:cNvPr id="27" name="Text Box 30"/>
          <p:cNvSpPr txBox="1">
            <a:spLocks noChangeArrowheads="1"/>
          </p:cNvSpPr>
          <p:nvPr/>
        </p:nvSpPr>
        <p:spPr bwMode="auto">
          <a:xfrm>
            <a:off x="10079865" y="2348880"/>
            <a:ext cx="11112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0000"/>
                </a:solidFill>
                <a:latin typeface="微软雅黑" panose="020B0503020204020204" pitchFamily="34" charset="-122"/>
                <a:ea typeface="微软雅黑" panose="020B0503020204020204" pitchFamily="34" charset="-122"/>
              </a:rPr>
              <a:t>运行</a:t>
            </a:r>
          </a:p>
          <a:p>
            <a:pPr algn="ctr"/>
            <a:r>
              <a:rPr kumimoji="1" lang="en-US" altLang="zh-CN" sz="1600" b="1" dirty="0">
                <a:solidFill>
                  <a:srgbClr val="000000"/>
                </a:solidFill>
                <a:latin typeface="微软雅黑" panose="020B0503020204020204" pitchFamily="34" charset="-122"/>
                <a:ea typeface="微软雅黑" panose="020B0503020204020204" pitchFamily="34" charset="-122"/>
              </a:rPr>
              <a:t>P2P </a:t>
            </a:r>
            <a:r>
              <a:rPr kumimoji="1" lang="zh-CN" altLang="en-US" sz="1600" b="1" dirty="0">
                <a:solidFill>
                  <a:srgbClr val="000000"/>
                </a:solidFill>
                <a:latin typeface="微软雅黑" panose="020B0503020204020204" pitchFamily="34" charset="-122"/>
                <a:ea typeface="微软雅黑" panose="020B0503020204020204" pitchFamily="34" charset="-122"/>
              </a:rPr>
              <a:t>程序</a:t>
            </a:r>
          </a:p>
        </p:txBody>
      </p:sp>
      <p:sp>
        <p:nvSpPr>
          <p:cNvPr id="28" name="Text Box 31"/>
          <p:cNvSpPr txBox="1">
            <a:spLocks noChangeArrowheads="1"/>
          </p:cNvSpPr>
          <p:nvPr/>
        </p:nvSpPr>
        <p:spPr bwMode="auto">
          <a:xfrm>
            <a:off x="10128448" y="3924345"/>
            <a:ext cx="10807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0000"/>
                </a:solidFill>
                <a:latin typeface="微软雅黑" panose="020B0503020204020204" pitchFamily="34" charset="-122"/>
                <a:ea typeface="微软雅黑" panose="020B0503020204020204" pitchFamily="34" charset="-122"/>
              </a:rPr>
              <a:t>运行</a:t>
            </a:r>
          </a:p>
          <a:p>
            <a:pPr algn="ctr"/>
            <a:r>
              <a:rPr kumimoji="1" lang="en-US" altLang="zh-CN" sz="1600" b="1" dirty="0">
                <a:solidFill>
                  <a:srgbClr val="000000"/>
                </a:solidFill>
                <a:latin typeface="微软雅黑" panose="020B0503020204020204" pitchFamily="34" charset="-122"/>
                <a:ea typeface="微软雅黑" panose="020B0503020204020204" pitchFamily="34" charset="-122"/>
              </a:rPr>
              <a:t>P2P </a:t>
            </a:r>
            <a:r>
              <a:rPr kumimoji="1" lang="zh-CN" altLang="en-US" sz="1600" b="1" dirty="0">
                <a:solidFill>
                  <a:srgbClr val="000000"/>
                </a:solidFill>
                <a:latin typeface="微软雅黑" panose="020B0503020204020204" pitchFamily="34" charset="-122"/>
                <a:ea typeface="微软雅黑" panose="020B0503020204020204" pitchFamily="34" charset="-122"/>
              </a:rPr>
              <a:t>程序</a:t>
            </a:r>
          </a:p>
        </p:txBody>
      </p:sp>
      <p:sp>
        <p:nvSpPr>
          <p:cNvPr id="29" name="Line 32"/>
          <p:cNvSpPr>
            <a:spLocks noChangeShapeType="1"/>
          </p:cNvSpPr>
          <p:nvPr/>
        </p:nvSpPr>
        <p:spPr bwMode="auto">
          <a:xfrm flipH="1">
            <a:off x="9995255" y="2557021"/>
            <a:ext cx="0" cy="1577377"/>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3"/>
          <p:cNvSpPr>
            <a:spLocks noChangeShapeType="1"/>
          </p:cNvSpPr>
          <p:nvPr/>
        </p:nvSpPr>
        <p:spPr bwMode="auto">
          <a:xfrm flipH="1" flipV="1">
            <a:off x="10114701" y="2374541"/>
            <a:ext cx="231860" cy="132613"/>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34"/>
          <p:cNvSpPr>
            <a:spLocks noChangeShapeType="1"/>
          </p:cNvSpPr>
          <p:nvPr/>
        </p:nvSpPr>
        <p:spPr bwMode="auto">
          <a:xfrm flipH="1">
            <a:off x="10089896" y="4150897"/>
            <a:ext cx="232938" cy="12973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35"/>
          <p:cNvSpPr txBox="1">
            <a:spLocks noChangeArrowheads="1"/>
          </p:cNvSpPr>
          <p:nvPr/>
        </p:nvSpPr>
        <p:spPr bwMode="auto">
          <a:xfrm>
            <a:off x="9538706" y="4161714"/>
            <a:ext cx="288517"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D</a:t>
            </a:r>
          </a:p>
        </p:txBody>
      </p:sp>
      <p:sp>
        <p:nvSpPr>
          <p:cNvPr id="33" name="Text Box 36"/>
          <p:cNvSpPr txBox="1">
            <a:spLocks noChangeArrowheads="1"/>
          </p:cNvSpPr>
          <p:nvPr/>
        </p:nvSpPr>
        <p:spPr bwMode="auto">
          <a:xfrm>
            <a:off x="10097622" y="2086571"/>
            <a:ext cx="269400"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C</a:t>
            </a:r>
          </a:p>
        </p:txBody>
      </p:sp>
      <p:sp>
        <p:nvSpPr>
          <p:cNvPr id="34" name="Line 38"/>
          <p:cNvSpPr>
            <a:spLocks noChangeShapeType="1"/>
          </p:cNvSpPr>
          <p:nvPr/>
        </p:nvSpPr>
        <p:spPr bwMode="auto">
          <a:xfrm flipH="1">
            <a:off x="7961312" y="2627165"/>
            <a:ext cx="263066" cy="1113712"/>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39"/>
          <p:cNvSpPr txBox="1">
            <a:spLocks noChangeArrowheads="1"/>
          </p:cNvSpPr>
          <p:nvPr/>
        </p:nvSpPr>
        <p:spPr bwMode="auto">
          <a:xfrm>
            <a:off x="7879270" y="2091881"/>
            <a:ext cx="260577"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E</a:t>
            </a:r>
          </a:p>
        </p:txBody>
      </p:sp>
      <p:sp>
        <p:nvSpPr>
          <p:cNvPr id="36" name="Text Box 40"/>
          <p:cNvSpPr txBox="1">
            <a:spLocks noChangeArrowheads="1"/>
          </p:cNvSpPr>
          <p:nvPr/>
        </p:nvSpPr>
        <p:spPr bwMode="auto">
          <a:xfrm>
            <a:off x="7560143" y="3871579"/>
            <a:ext cx="256166" cy="338554"/>
          </a:xfrm>
          <a:prstGeom prst="rect">
            <a:avLst/>
          </a:prstGeom>
          <a:noFill/>
          <a:ln>
            <a:noFill/>
          </a:ln>
          <a:effectLs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a:solidFill>
                  <a:srgbClr val="0000FF"/>
                </a:solidFill>
                <a:ea typeface="黑体" panose="02010609060101010101" pitchFamily="2" charset="-122"/>
              </a:rPr>
              <a:t>F</a:t>
            </a:r>
          </a:p>
        </p:txBody>
      </p:sp>
      <p:sp>
        <p:nvSpPr>
          <p:cNvPr id="37" name="Text Box 41"/>
          <p:cNvSpPr txBox="1">
            <a:spLocks noChangeArrowheads="1"/>
          </p:cNvSpPr>
          <p:nvPr/>
        </p:nvSpPr>
        <p:spPr bwMode="auto">
          <a:xfrm>
            <a:off x="6888088" y="2276872"/>
            <a:ext cx="122165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0000"/>
                </a:solidFill>
                <a:latin typeface="微软雅黑" panose="020B0503020204020204" pitchFamily="34" charset="-122"/>
                <a:ea typeface="微软雅黑" panose="020B0503020204020204" pitchFamily="34" charset="-122"/>
              </a:rPr>
              <a:t>运行</a:t>
            </a:r>
          </a:p>
          <a:p>
            <a:pPr algn="ctr"/>
            <a:r>
              <a:rPr kumimoji="1" lang="en-US" altLang="zh-CN" sz="1600" b="1" dirty="0">
                <a:solidFill>
                  <a:srgbClr val="000000"/>
                </a:solidFill>
                <a:latin typeface="微软雅黑" panose="020B0503020204020204" pitchFamily="34" charset="-122"/>
                <a:ea typeface="微软雅黑" panose="020B0503020204020204" pitchFamily="34" charset="-122"/>
              </a:rPr>
              <a:t>P2P </a:t>
            </a:r>
            <a:r>
              <a:rPr kumimoji="1" lang="zh-CN" altLang="en-US" sz="1600" b="1" dirty="0">
                <a:solidFill>
                  <a:srgbClr val="000000"/>
                </a:solidFill>
                <a:latin typeface="微软雅黑" panose="020B0503020204020204" pitchFamily="34" charset="-122"/>
                <a:ea typeface="微软雅黑" panose="020B0503020204020204" pitchFamily="34" charset="-122"/>
              </a:rPr>
              <a:t>程序</a:t>
            </a:r>
          </a:p>
        </p:txBody>
      </p:sp>
      <p:sp>
        <p:nvSpPr>
          <p:cNvPr id="38" name="Text Box 42"/>
          <p:cNvSpPr txBox="1">
            <a:spLocks noChangeArrowheads="1"/>
          </p:cNvSpPr>
          <p:nvPr/>
        </p:nvSpPr>
        <p:spPr bwMode="auto">
          <a:xfrm>
            <a:off x="6744072" y="3140968"/>
            <a:ext cx="119143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1600" b="1" dirty="0">
                <a:solidFill>
                  <a:srgbClr val="000000"/>
                </a:solidFill>
                <a:latin typeface="微软雅黑" panose="020B0503020204020204" pitchFamily="34" charset="-122"/>
                <a:ea typeface="微软雅黑" panose="020B0503020204020204" pitchFamily="34" charset="-122"/>
              </a:rPr>
              <a:t>运行</a:t>
            </a:r>
          </a:p>
          <a:p>
            <a:pPr algn="ctr"/>
            <a:r>
              <a:rPr kumimoji="1" lang="en-US" altLang="zh-CN" sz="1600" b="1" dirty="0">
                <a:solidFill>
                  <a:srgbClr val="000000"/>
                </a:solidFill>
                <a:latin typeface="微软雅黑" panose="020B0503020204020204" pitchFamily="34" charset="-122"/>
                <a:ea typeface="微软雅黑" panose="020B0503020204020204" pitchFamily="34" charset="-122"/>
              </a:rPr>
              <a:t>P2P </a:t>
            </a:r>
            <a:r>
              <a:rPr kumimoji="1" lang="zh-CN" altLang="en-US" sz="1600" b="1" dirty="0">
                <a:solidFill>
                  <a:srgbClr val="000000"/>
                </a:solidFill>
                <a:latin typeface="微软雅黑" panose="020B0503020204020204" pitchFamily="34" charset="-122"/>
                <a:ea typeface="微软雅黑" panose="020B0503020204020204" pitchFamily="34" charset="-122"/>
              </a:rPr>
              <a:t>程序</a:t>
            </a:r>
          </a:p>
        </p:txBody>
      </p:sp>
      <p:sp>
        <p:nvSpPr>
          <p:cNvPr id="39" name="Line 43"/>
          <p:cNvSpPr>
            <a:spLocks noChangeShapeType="1"/>
          </p:cNvSpPr>
          <p:nvPr/>
        </p:nvSpPr>
        <p:spPr bwMode="auto">
          <a:xfrm flipV="1">
            <a:off x="7865803" y="2383026"/>
            <a:ext cx="401939" cy="159660"/>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44"/>
          <p:cNvSpPr>
            <a:spLocks noChangeShapeType="1"/>
          </p:cNvSpPr>
          <p:nvPr/>
        </p:nvSpPr>
        <p:spPr bwMode="auto">
          <a:xfrm>
            <a:off x="7617408" y="3675909"/>
            <a:ext cx="240625" cy="189198"/>
          </a:xfrm>
          <a:prstGeom prst="line">
            <a:avLst/>
          </a:prstGeom>
          <a:noFill/>
          <a:ln w="19050">
            <a:solidFill>
              <a:srgbClr val="000066"/>
            </a:solidFill>
            <a:prstDash val="sys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45"/>
          <p:cNvSpPr>
            <a:spLocks noChangeShapeType="1"/>
          </p:cNvSpPr>
          <p:nvPr/>
        </p:nvSpPr>
        <p:spPr bwMode="auto">
          <a:xfrm flipH="1">
            <a:off x="8071873" y="2459343"/>
            <a:ext cx="1753518" cy="1275179"/>
          </a:xfrm>
          <a:prstGeom prst="line">
            <a:avLst/>
          </a:prstGeom>
          <a:noFill/>
          <a:ln w="28575">
            <a:solidFill>
              <a:srgbClr val="CC00CC">
                <a:alpha val="79999"/>
              </a:srgbClr>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42"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95228" y="2265396"/>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图片 3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06242" y="2992642"/>
            <a:ext cx="484846" cy="678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4279" y="2907740"/>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7431" y="3765617"/>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32882" y="4083161"/>
            <a:ext cx="374018"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91034" y="4150975"/>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6198" y="2192234"/>
            <a:ext cx="372539" cy="37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56414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arn(outHorizontal)">
                                      <p:cBhvr>
                                        <p:cTn id="7" dur="2000"/>
                                        <p:tgtEl>
                                          <p:spTgt spid="29"/>
                                        </p:tgtEl>
                                      </p:cBhvr>
                                    </p:animEffect>
                                  </p:childTnLst>
                                </p:cTn>
                              </p:par>
                            </p:childTnLst>
                          </p:cTn>
                        </p:par>
                        <p:par>
                          <p:cTn id="8" fill="hold">
                            <p:stCondLst>
                              <p:cond delay="2000"/>
                            </p:stCondLst>
                            <p:childTnLst>
                              <p:par>
                                <p:cTn id="9" presetID="16" presetClass="entr" presetSubtype="42" fill="hold" grpId="0" nodeType="afterEffect">
                                  <p:stCondLst>
                                    <p:cond delay="500"/>
                                  </p:stCondLst>
                                  <p:childTnLst>
                                    <p:set>
                                      <p:cBhvr>
                                        <p:cTn id="10" dur="1" fill="hold">
                                          <p:stCondLst>
                                            <p:cond delay="0"/>
                                          </p:stCondLst>
                                        </p:cTn>
                                        <p:tgtEl>
                                          <p:spTgt spid="41"/>
                                        </p:tgtEl>
                                        <p:attrNameLst>
                                          <p:attrName>style.visibility</p:attrName>
                                        </p:attrNameLst>
                                      </p:cBhvr>
                                      <p:to>
                                        <p:strVal val="visible"/>
                                      </p:to>
                                    </p:set>
                                    <p:animEffect transition="in" filter="barn(outHorizontal)">
                                      <p:cBhvr>
                                        <p:cTn id="11" dur="2000"/>
                                        <p:tgtEl>
                                          <p:spTgt spid="41"/>
                                        </p:tgtEl>
                                      </p:cBhvr>
                                    </p:animEffect>
                                  </p:childTnLst>
                                </p:cTn>
                              </p:par>
                            </p:childTnLst>
                          </p:cTn>
                        </p:par>
                        <p:par>
                          <p:cTn id="12" fill="hold">
                            <p:stCondLst>
                              <p:cond delay="4500"/>
                            </p:stCondLst>
                            <p:childTnLst>
                              <p:par>
                                <p:cTn id="13" presetID="16" presetClass="entr" presetSubtype="42" fill="hold" grpId="0" nodeType="afterEffect">
                                  <p:stCondLst>
                                    <p:cond delay="500"/>
                                  </p:stCondLst>
                                  <p:childTnLst>
                                    <p:set>
                                      <p:cBhvr>
                                        <p:cTn id="14" dur="1" fill="hold">
                                          <p:stCondLst>
                                            <p:cond delay="0"/>
                                          </p:stCondLst>
                                        </p:cTn>
                                        <p:tgtEl>
                                          <p:spTgt spid="34"/>
                                        </p:tgtEl>
                                        <p:attrNameLst>
                                          <p:attrName>style.visibility</p:attrName>
                                        </p:attrNameLst>
                                      </p:cBhvr>
                                      <p:to>
                                        <p:strVal val="visible"/>
                                      </p:to>
                                    </p:set>
                                    <p:animEffect transition="in" filter="barn(outHorizontal)">
                                      <p:cBhvr>
                                        <p:cTn id="15"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4" grpId="0" animBg="1"/>
      <p:bldP spid="4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609600" y="274638"/>
            <a:ext cx="10972800" cy="817562"/>
          </a:xfrm>
        </p:spPr>
        <p:txBody>
          <a:bodyPr/>
          <a:lstStyle/>
          <a:p>
            <a:pPr eaLnBrk="1" hangingPunct="1"/>
            <a:r>
              <a:rPr lang="en-US" altLang="zh-CN" dirty="0" smtClean="0"/>
              <a:t>1.3.2 </a:t>
            </a:r>
            <a:r>
              <a:rPr lang="zh-CN" altLang="en-US" dirty="0" smtClean="0"/>
              <a:t>互联网的核心部分</a:t>
            </a:r>
            <a:endParaRPr lang="zh-CN" altLang="en-US" dirty="0"/>
          </a:p>
        </p:txBody>
      </p:sp>
      <p:sp>
        <p:nvSpPr>
          <p:cNvPr id="3" name="内容占位符 2"/>
          <p:cNvSpPr>
            <a:spLocks noGrp="1"/>
          </p:cNvSpPr>
          <p:nvPr>
            <p:ph idx="1"/>
          </p:nvPr>
        </p:nvSpPr>
        <p:spPr/>
        <p:txBody>
          <a:bodyPr/>
          <a:lstStyle/>
          <a:p>
            <a:r>
              <a:rPr lang="zh-CN" altLang="en-US" b="1" dirty="0" smtClean="0"/>
              <a:t>核心部分是</a:t>
            </a:r>
            <a:r>
              <a:rPr lang="zh-CN" altLang="en-US" b="1" dirty="0"/>
              <a:t>互联网中最复杂的部分。</a:t>
            </a:r>
          </a:p>
          <a:p>
            <a:r>
              <a:rPr lang="zh-CN" altLang="en-US" b="1" dirty="0" smtClean="0"/>
              <a:t>核心部分向边缘部分中的</a:t>
            </a:r>
            <a:r>
              <a:rPr lang="zh-CN" altLang="en-US" b="1" dirty="0" smtClean="0">
                <a:solidFill>
                  <a:srgbClr val="C00000"/>
                </a:solidFill>
              </a:rPr>
              <a:t>大量</a:t>
            </a:r>
            <a:r>
              <a:rPr lang="zh-CN" altLang="en-US" b="1" dirty="0" smtClean="0"/>
              <a:t>主机</a:t>
            </a:r>
            <a:r>
              <a:rPr lang="zh-CN" altLang="en-US" b="1" dirty="0">
                <a:solidFill>
                  <a:srgbClr val="C00000"/>
                </a:solidFill>
              </a:rPr>
              <a:t>提供连通性，</a:t>
            </a:r>
            <a:r>
              <a:rPr lang="zh-CN" altLang="en-US" b="1" dirty="0" smtClean="0"/>
              <a:t>使边缘部分中的任何</a:t>
            </a:r>
            <a:r>
              <a:rPr lang="zh-CN" altLang="en-US" b="1" dirty="0"/>
              <a:t>一台主机都</a:t>
            </a:r>
            <a:r>
              <a:rPr lang="zh-CN" altLang="en-US" b="1" dirty="0" smtClean="0"/>
              <a:t>能够与其他</a:t>
            </a:r>
            <a:r>
              <a:rPr lang="zh-CN" altLang="en-US" b="1" dirty="0"/>
              <a:t>主机通信。</a:t>
            </a:r>
            <a:endParaRPr lang="en-US" altLang="zh-CN" b="1" dirty="0"/>
          </a:p>
          <a:p>
            <a:r>
              <a:rPr lang="zh-CN" altLang="en-US" b="1" dirty="0" smtClean="0"/>
              <a:t>核心部分的关键设备是</a:t>
            </a:r>
            <a:r>
              <a:rPr lang="zh-CN" altLang="en-US" b="1" dirty="0" smtClean="0">
                <a:solidFill>
                  <a:srgbClr val="C00000"/>
                </a:solidFill>
              </a:rPr>
              <a:t>路由器</a:t>
            </a:r>
            <a:r>
              <a:rPr lang="zh-CN" altLang="en-US" b="1" dirty="0" smtClean="0"/>
              <a:t> </a:t>
            </a:r>
            <a:r>
              <a:rPr lang="en-US" altLang="zh-CN" b="1" dirty="0" smtClean="0"/>
              <a:t>(router)</a:t>
            </a:r>
            <a:r>
              <a:rPr lang="zh-CN" altLang="en-US" b="1" dirty="0" smtClean="0"/>
              <a:t>，其任务是进行</a:t>
            </a:r>
            <a:r>
              <a:rPr lang="zh-CN" altLang="en-US" b="1" dirty="0" smtClean="0">
                <a:solidFill>
                  <a:srgbClr val="C00000"/>
                </a:solidFill>
              </a:rPr>
              <a:t>分组交换</a:t>
            </a:r>
            <a:r>
              <a:rPr lang="zh-CN" altLang="en-US" b="1" dirty="0" smtClean="0"/>
              <a:t> </a:t>
            </a:r>
            <a:r>
              <a:rPr lang="en-US" altLang="zh-CN" b="1" dirty="0"/>
              <a:t>(packet switching) </a:t>
            </a:r>
            <a:r>
              <a:rPr lang="zh-CN" altLang="en-US" b="1" dirty="0" smtClean="0"/>
              <a:t>，这是核心部分最重要的功能。</a:t>
            </a:r>
            <a:endParaRPr lang="zh-CN" altLang="en-US" b="1" dirty="0"/>
          </a:p>
          <a:p>
            <a:endParaRPr lang="zh-CN" altLang="en-US" b="1" dirty="0" smtClean="0"/>
          </a:p>
          <a:p>
            <a:endParaRPr lang="zh-CN" altLang="en-US" b="1" dirty="0"/>
          </a:p>
        </p:txBody>
      </p:sp>
    </p:spTree>
    <p:extLst>
      <p:ext uri="{BB962C8B-B14F-4D97-AF65-F5344CB8AC3E}">
        <p14:creationId xmlns:p14="http://schemas.microsoft.com/office/powerpoint/2010/main" val="425373584"/>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smtClean="0"/>
              <a:t>1.3.2 </a:t>
            </a:r>
            <a:r>
              <a:rPr lang="zh-CN" altLang="en-US" dirty="0" smtClean="0"/>
              <a:t>互联网的核心部分</a:t>
            </a:r>
            <a:endParaRPr lang="zh-CN" altLang="en-US" dirty="0"/>
          </a:p>
        </p:txBody>
      </p:sp>
      <p:sp>
        <p:nvSpPr>
          <p:cNvPr id="9" name="内容占位符 2"/>
          <p:cNvSpPr txBox="1">
            <a:spLocks/>
          </p:cNvSpPr>
          <p:nvPr/>
        </p:nvSpPr>
        <p:spPr bwMode="auto">
          <a:xfrm>
            <a:off x="442800" y="1267200"/>
            <a:ext cx="11304587"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b="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r>
              <a:rPr lang="zh-CN" altLang="en-US" b="1" dirty="0" smtClean="0"/>
              <a:t>数据交换方式主要有以下三种：</a:t>
            </a:r>
            <a:endParaRPr lang="en-US" altLang="zh-CN" b="1" dirty="0" smtClean="0"/>
          </a:p>
          <a:p>
            <a:pPr lvl="1"/>
            <a:r>
              <a:rPr lang="zh-CN" altLang="en-US" b="1" dirty="0"/>
              <a:t>电路交换</a:t>
            </a:r>
            <a:r>
              <a:rPr lang="en-US" altLang="zh-CN" b="1" dirty="0"/>
              <a:t>(Circuit Switching)</a:t>
            </a:r>
          </a:p>
          <a:p>
            <a:pPr lvl="1"/>
            <a:r>
              <a:rPr lang="zh-CN" altLang="en-US" b="1" dirty="0"/>
              <a:t>分组交换</a:t>
            </a:r>
            <a:r>
              <a:rPr lang="en-US" altLang="zh-CN" b="1" dirty="0"/>
              <a:t>(Packet Switching)</a:t>
            </a:r>
          </a:p>
          <a:p>
            <a:pPr lvl="1"/>
            <a:r>
              <a:rPr lang="zh-CN" altLang="en-US" b="1" dirty="0"/>
              <a:t>报文交换</a:t>
            </a:r>
            <a:r>
              <a:rPr lang="en-US" altLang="zh-CN" b="1" dirty="0"/>
              <a:t>(Message Switching)</a:t>
            </a:r>
          </a:p>
          <a:p>
            <a:pPr lvl="1"/>
            <a:endParaRPr lang="zh-CN" altLang="en-US" b="1" dirty="0" smtClean="0"/>
          </a:p>
          <a:p>
            <a:endParaRPr lang="zh-CN" altLang="en-US" b="1" dirty="0" smtClean="0"/>
          </a:p>
          <a:p>
            <a:endParaRPr lang="zh-CN" altLang="en-US" b="1" dirty="0"/>
          </a:p>
        </p:txBody>
      </p:sp>
    </p:spTree>
    <p:extLst>
      <p:ext uri="{BB962C8B-B14F-4D97-AF65-F5344CB8AC3E}">
        <p14:creationId xmlns:p14="http://schemas.microsoft.com/office/powerpoint/2010/main" val="2248872080"/>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 </a:t>
            </a:r>
            <a:r>
              <a:rPr lang="zh-CN" altLang="en-US" dirty="0" smtClean="0"/>
              <a:t>互联网</a:t>
            </a:r>
            <a:r>
              <a:rPr lang="zh-CN" altLang="en-US" dirty="0"/>
              <a:t>的核心部分</a:t>
            </a:r>
          </a:p>
        </p:txBody>
      </p:sp>
      <p:sp>
        <p:nvSpPr>
          <p:cNvPr id="27650" name="Rectangle 3"/>
          <p:cNvSpPr>
            <a:spLocks noGrp="1" noChangeArrowheads="1"/>
          </p:cNvSpPr>
          <p:nvPr>
            <p:ph idx="1"/>
          </p:nvPr>
        </p:nvSpPr>
        <p:spPr/>
        <p:txBody>
          <a:bodyPr/>
          <a:lstStyle/>
          <a:p>
            <a:pPr eaLnBrk="1" hangingPunct="1"/>
            <a:r>
              <a:rPr lang="zh-CN" altLang="en-US" b="1" dirty="0" smtClean="0">
                <a:solidFill>
                  <a:srgbClr val="FF0000"/>
                </a:solidFill>
              </a:rPr>
              <a:t>电路</a:t>
            </a:r>
            <a:r>
              <a:rPr lang="zh-CN" altLang="en-US" b="1" dirty="0" smtClean="0"/>
              <a:t>交换 </a:t>
            </a:r>
            <a:r>
              <a:rPr lang="en-US" altLang="zh-CN" b="1" dirty="0" smtClean="0"/>
              <a:t>(</a:t>
            </a:r>
            <a:r>
              <a:rPr lang="en-US" altLang="zh-CN" b="1" dirty="0"/>
              <a:t>Circuit Switching)</a:t>
            </a:r>
            <a:endParaRPr lang="zh-CN" altLang="en-US" b="1" dirty="0"/>
          </a:p>
        </p:txBody>
      </p:sp>
      <p:sp>
        <p:nvSpPr>
          <p:cNvPr id="16" name="圆角矩形 15"/>
          <p:cNvSpPr/>
          <p:nvPr/>
        </p:nvSpPr>
        <p:spPr>
          <a:xfrm>
            <a:off x="767399" y="2204864"/>
            <a:ext cx="5112577" cy="2178532"/>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grpSp>
        <p:nvGrpSpPr>
          <p:cNvPr id="17" name="组合 16"/>
          <p:cNvGrpSpPr/>
          <p:nvPr/>
        </p:nvGrpSpPr>
        <p:grpSpPr>
          <a:xfrm>
            <a:off x="990866" y="2958259"/>
            <a:ext cx="1709659" cy="476704"/>
            <a:chOff x="1490663" y="2400300"/>
            <a:chExt cx="4064009" cy="825500"/>
          </a:xfrm>
        </p:grpSpPr>
        <p:cxnSp>
          <p:nvCxnSpPr>
            <p:cNvPr id="18" name="直接连接符 17"/>
            <p:cNvCxnSpPr/>
            <p:nvPr/>
          </p:nvCxnSpPr>
          <p:spPr>
            <a:xfrm>
              <a:off x="1970811" y="2802885"/>
              <a:ext cx="3147991" cy="0"/>
            </a:xfrm>
            <a:prstGeom prst="line">
              <a:avLst/>
            </a:prstGeom>
            <a:ln w="25400">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19" name="组合 11"/>
            <p:cNvGrpSpPr/>
            <p:nvPr/>
          </p:nvGrpSpPr>
          <p:grpSpPr bwMode="auto">
            <a:xfrm>
              <a:off x="1490663" y="2400300"/>
              <a:ext cx="4064009" cy="825500"/>
              <a:chOff x="115860" y="3847459"/>
              <a:chExt cx="4014114" cy="824998"/>
            </a:xfrm>
          </p:grpSpPr>
          <p:pic>
            <p:nvPicPr>
              <p:cNvPr id="20" name="图片 1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860" y="3867779"/>
                <a:ext cx="914408" cy="804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1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5568" y="3847459"/>
                <a:ext cx="914406" cy="804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7648" name="组合 27647"/>
          <p:cNvGrpSpPr/>
          <p:nvPr/>
        </p:nvGrpSpPr>
        <p:grpSpPr>
          <a:xfrm>
            <a:off x="3149770" y="2278949"/>
            <a:ext cx="2308081" cy="1894664"/>
            <a:chOff x="3149770" y="2476681"/>
            <a:chExt cx="2308081" cy="1894664"/>
          </a:xfrm>
        </p:grpSpPr>
        <p:cxnSp>
          <p:nvCxnSpPr>
            <p:cNvPr id="61" name="直接连接符 60"/>
            <p:cNvCxnSpPr/>
            <p:nvPr/>
          </p:nvCxnSpPr>
          <p:spPr>
            <a:xfrm>
              <a:off x="3416309" y="3211129"/>
              <a:ext cx="1954702"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95" name="组合 94"/>
            <p:cNvGrpSpPr/>
            <p:nvPr/>
          </p:nvGrpSpPr>
          <p:grpSpPr>
            <a:xfrm>
              <a:off x="3149770" y="2476681"/>
              <a:ext cx="2308081" cy="1894664"/>
              <a:chOff x="3149770" y="2476681"/>
              <a:chExt cx="2308081" cy="1894664"/>
            </a:xfrm>
          </p:grpSpPr>
          <p:cxnSp>
            <p:nvCxnSpPr>
              <p:cNvPr id="62" name="直接连接符 61"/>
              <p:cNvCxnSpPr/>
              <p:nvPr/>
            </p:nvCxnSpPr>
            <p:spPr>
              <a:xfrm flipV="1">
                <a:off x="3416309" y="2693531"/>
                <a:ext cx="868422" cy="5122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flipV="1">
                <a:off x="4413236" y="2697642"/>
                <a:ext cx="825673" cy="524717"/>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4820296" y="3160504"/>
                <a:ext cx="419644" cy="999989"/>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flipV="1">
                <a:off x="3436199" y="3225708"/>
                <a:ext cx="444093" cy="87983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3753614" y="4094416"/>
                <a:ext cx="1158938" cy="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3739846" y="2647039"/>
                <a:ext cx="587128" cy="1690238"/>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flipV="1">
                <a:off x="4355826" y="2549643"/>
                <a:ext cx="529721" cy="1525393"/>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flipV="1">
                <a:off x="3381106" y="3199900"/>
                <a:ext cx="1498282" cy="875136"/>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3850550" y="3168351"/>
                <a:ext cx="1373789" cy="92606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grpSp>
            <p:nvGrpSpPr>
              <p:cNvPr id="71" name="组合 17"/>
              <p:cNvGrpSpPr/>
              <p:nvPr/>
            </p:nvGrpSpPr>
            <p:grpSpPr bwMode="auto">
              <a:xfrm>
                <a:off x="3149770" y="2476681"/>
                <a:ext cx="2308081" cy="1894664"/>
                <a:chOff x="2699792" y="2433478"/>
                <a:chExt cx="3602460" cy="2855140"/>
              </a:xfrm>
            </p:grpSpPr>
            <p:pic>
              <p:nvPicPr>
                <p:cNvPr id="72" name="图片 18"/>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64078" y="2433478"/>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图片 19"/>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99792" y="3284984"/>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图片 2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0112" y="321297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图片 2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19872"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图片 2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04048" y="4653136"/>
                  <a:ext cx="722140" cy="63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grpSp>
        <p:nvGrpSpPr>
          <p:cNvPr id="27651" name="组合 27650"/>
          <p:cNvGrpSpPr/>
          <p:nvPr/>
        </p:nvGrpSpPr>
        <p:grpSpPr>
          <a:xfrm>
            <a:off x="6384032" y="2035453"/>
            <a:ext cx="4492050" cy="2710243"/>
            <a:chOff x="767408" y="3959117"/>
            <a:chExt cx="4492050" cy="2710243"/>
          </a:xfrm>
        </p:grpSpPr>
        <p:sp>
          <p:nvSpPr>
            <p:cNvPr id="97" name="圆角矩形 96"/>
            <p:cNvSpPr/>
            <p:nvPr/>
          </p:nvSpPr>
          <p:spPr>
            <a:xfrm>
              <a:off x="767408" y="3959117"/>
              <a:ext cx="4492050" cy="2710243"/>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cxnSp>
          <p:nvCxnSpPr>
            <p:cNvPr id="98" name="直接连接符 97"/>
            <p:cNvCxnSpPr/>
            <p:nvPr/>
          </p:nvCxnSpPr>
          <p:spPr>
            <a:xfrm>
              <a:off x="2082945" y="4488931"/>
              <a:ext cx="688975" cy="6064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1373332" y="5095356"/>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V="1">
              <a:off x="1881332" y="5341419"/>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V="1">
              <a:off x="2771920" y="5425556"/>
              <a:ext cx="233362" cy="9080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flipV="1">
              <a:off x="3287857" y="5401744"/>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116" idx="1"/>
            </p:cNvCxnSpPr>
            <p:nvPr/>
          </p:nvCxnSpPr>
          <p:spPr>
            <a:xfrm flipV="1">
              <a:off x="2927495" y="4249219"/>
              <a:ext cx="131762" cy="8064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V="1">
              <a:off x="3383107" y="4373044"/>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116" idx="5"/>
            </p:cNvCxnSpPr>
            <p:nvPr/>
          </p:nvCxnSpPr>
          <p:spPr>
            <a:xfrm flipV="1">
              <a:off x="3514870" y="4969944"/>
              <a:ext cx="993775" cy="161925"/>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V="1">
              <a:off x="4339732" y="5375617"/>
              <a:ext cx="179495" cy="265114"/>
            </a:xfrm>
            <a:prstGeom prst="line">
              <a:avLst/>
            </a:prstGeom>
            <a:ln w="6350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07" name="图片 1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4570" y="4919144"/>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 name="图片 15"/>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57482" y="5755756"/>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图片 16"/>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32207" y="6105006"/>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 name="图片 17"/>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65695" y="5666856"/>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图片 18"/>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63857" y="4207944"/>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图片 19"/>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71920" y="4033319"/>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 name="图片 2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06957" y="4146031"/>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图片 2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83220" y="4731819"/>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5" name="组合 114"/>
            <p:cNvGrpSpPr/>
            <p:nvPr/>
          </p:nvGrpSpPr>
          <p:grpSpPr>
            <a:xfrm>
              <a:off x="2494577" y="4902023"/>
              <a:ext cx="1020162" cy="614353"/>
              <a:chOff x="2495198" y="3865333"/>
              <a:chExt cx="1020162" cy="614353"/>
            </a:xfrm>
            <a:solidFill>
              <a:srgbClr val="0000FF"/>
            </a:solidFill>
          </p:grpSpPr>
          <p:sp>
            <p:nvSpPr>
              <p:cNvPr id="116" name="立方体 115"/>
              <p:cNvSpPr/>
              <p:nvPr/>
            </p:nvSpPr>
            <p:spPr>
              <a:xfrm>
                <a:off x="2495198" y="3865333"/>
                <a:ext cx="1020162" cy="614353"/>
              </a:xfrm>
              <a:prstGeom prst="cub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17" name="矩形 116"/>
              <p:cNvSpPr/>
              <p:nvPr/>
            </p:nvSpPr>
            <p:spPr>
              <a:xfrm>
                <a:off x="2593495" y="4082725"/>
                <a:ext cx="723275" cy="307777"/>
              </a:xfrm>
              <a:prstGeom prst="rect">
                <a:avLst/>
              </a:prstGeom>
              <a:grpFill/>
              <a:ln>
                <a:noFill/>
              </a:ln>
            </p:spPr>
            <p:txBody>
              <a:bodyPr wrap="none">
                <a:spAutoFit/>
              </a:bodyPr>
              <a:lstStyle/>
              <a:p>
                <a:pPr algn="ctr" fontAlgn="auto">
                  <a:spcBef>
                    <a:spcPts val="0"/>
                  </a:spcBef>
                  <a:spcAft>
                    <a:spcPts val="0"/>
                  </a:spcAft>
                  <a:defRPr/>
                </a:pPr>
                <a:r>
                  <a:rPr kumimoji="1" lang="zh-CN" altLang="en-US" sz="1400" b="1" dirty="0">
                    <a:solidFill>
                      <a:prstClr val="white"/>
                    </a:solidFill>
                    <a:latin typeface="微软雅黑" panose="020B0503020204020204" pitchFamily="34" charset="-122"/>
                    <a:ea typeface="微软雅黑" panose="020B0503020204020204" pitchFamily="34" charset="-122"/>
                  </a:rPr>
                  <a:t>交换机</a:t>
                </a:r>
              </a:p>
            </p:txBody>
          </p:sp>
        </p:grpSp>
      </p:grpSp>
      <p:grpSp>
        <p:nvGrpSpPr>
          <p:cNvPr id="118" name="组合 25"/>
          <p:cNvGrpSpPr/>
          <p:nvPr/>
        </p:nvGrpSpPr>
        <p:grpSpPr bwMode="auto">
          <a:xfrm>
            <a:off x="2563923" y="4941168"/>
            <a:ext cx="7367031" cy="864096"/>
            <a:chOff x="5067043" y="1713614"/>
            <a:chExt cx="2801549" cy="2576159"/>
          </a:xfrm>
        </p:grpSpPr>
        <p:sp>
          <p:nvSpPr>
            <p:cNvPr id="119" name="对角圆角矩形 118"/>
            <p:cNvSpPr/>
            <p:nvPr/>
          </p:nvSpPr>
          <p:spPr>
            <a:xfrm>
              <a:off x="5067043" y="1713614"/>
              <a:ext cx="2801549" cy="25761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solidFill>
                  <a:prstClr val="white"/>
                </a:solidFill>
              </a:endParaRPr>
            </a:p>
          </p:txBody>
        </p:sp>
        <p:sp>
          <p:nvSpPr>
            <p:cNvPr id="120" name="矩形 27"/>
            <p:cNvSpPr>
              <a:spLocks noChangeArrowheads="1"/>
            </p:cNvSpPr>
            <p:nvPr/>
          </p:nvSpPr>
          <p:spPr bwMode="auto">
            <a:xfrm>
              <a:off x="5151355" y="2017862"/>
              <a:ext cx="2654203" cy="2033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300"/>
                </a:lnSpc>
                <a:spcBef>
                  <a:spcPts val="600"/>
                </a:spcBef>
              </a:pPr>
              <a:r>
                <a:rPr lang="zh-CN" altLang="zh-CN" sz="2000" b="1" dirty="0">
                  <a:solidFill>
                    <a:prstClr val="white"/>
                  </a:solidFill>
                  <a:latin typeface="微软雅黑" panose="020B0503020204020204" pitchFamily="34" charset="-122"/>
                  <a:ea typeface="微软雅黑" panose="020B0503020204020204" pitchFamily="34" charset="-122"/>
                </a:rPr>
                <a:t>每一部电话都</a:t>
              </a:r>
              <a:r>
                <a:rPr lang="zh-CN" altLang="en-US" sz="2000" b="1" dirty="0">
                  <a:solidFill>
                    <a:prstClr val="white"/>
                  </a:solidFill>
                  <a:latin typeface="微软雅黑" panose="020B0503020204020204" pitchFamily="34" charset="-122"/>
                  <a:ea typeface="微软雅黑" panose="020B0503020204020204" pitchFamily="34" charset="-122"/>
                </a:rPr>
                <a:t>直接</a:t>
              </a:r>
              <a:r>
                <a:rPr lang="zh-CN" altLang="zh-CN" sz="2000" b="1" dirty="0">
                  <a:solidFill>
                    <a:prstClr val="white"/>
                  </a:solidFill>
                  <a:latin typeface="微软雅黑" panose="020B0503020204020204" pitchFamily="34" charset="-122"/>
                  <a:ea typeface="微软雅黑" panose="020B0503020204020204" pitchFamily="34" charset="-122"/>
                </a:rPr>
                <a:t>连接</a:t>
              </a:r>
              <a:r>
                <a:rPr lang="zh-CN" altLang="zh-CN" sz="2000" b="1" dirty="0" smtClean="0">
                  <a:solidFill>
                    <a:prstClr val="white"/>
                  </a:solidFill>
                  <a:latin typeface="微软雅黑" panose="020B0503020204020204" pitchFamily="34" charset="-122"/>
                  <a:ea typeface="微软雅黑" panose="020B0503020204020204" pitchFamily="34" charset="-122"/>
                </a:rPr>
                <a:t>到</a:t>
              </a:r>
              <a:r>
                <a:rPr lang="zh-CN" altLang="en-US" sz="2000" b="1" dirty="0" smtClean="0">
                  <a:solidFill>
                    <a:prstClr val="white"/>
                  </a:solidFill>
                  <a:latin typeface="微软雅黑" panose="020B0503020204020204" pitchFamily="34" charset="-122"/>
                  <a:ea typeface="微软雅黑" panose="020B0503020204020204" pitchFamily="34" charset="-122"/>
                </a:rPr>
                <a:t>电话</a:t>
              </a:r>
              <a:r>
                <a:rPr lang="zh-CN" altLang="zh-CN" sz="2000" b="1" dirty="0" smtClean="0">
                  <a:solidFill>
                    <a:prstClr val="white"/>
                  </a:solidFill>
                  <a:latin typeface="微软雅黑" panose="020B0503020204020204" pitchFamily="34" charset="-122"/>
                  <a:ea typeface="微软雅黑" panose="020B0503020204020204" pitchFamily="34" charset="-122"/>
                </a:rPr>
                <a:t>交换机</a:t>
              </a:r>
              <a:r>
                <a:rPr lang="zh-CN" altLang="zh-CN" sz="2000" b="1" dirty="0">
                  <a:solidFill>
                    <a:prstClr val="white"/>
                  </a:solidFill>
                  <a:latin typeface="微软雅黑" panose="020B0503020204020204" pitchFamily="34" charset="-122"/>
                  <a:ea typeface="微软雅黑" panose="020B0503020204020204" pitchFamily="34" charset="-122"/>
                </a:rPr>
                <a:t>上，</a:t>
              </a:r>
              <a:r>
                <a:rPr lang="zh-CN" altLang="zh-CN" sz="2000" b="1" dirty="0" smtClean="0">
                  <a:solidFill>
                    <a:prstClr val="white"/>
                  </a:solidFill>
                  <a:latin typeface="微软雅黑" panose="020B0503020204020204" pitchFamily="34" charset="-122"/>
                  <a:ea typeface="微软雅黑" panose="020B0503020204020204" pitchFamily="34" charset="-122"/>
                </a:rPr>
                <a:t>而</a:t>
              </a:r>
              <a:r>
                <a:rPr lang="zh-CN" altLang="en-US" sz="2000" b="1" dirty="0" smtClean="0">
                  <a:solidFill>
                    <a:prstClr val="white"/>
                  </a:solidFill>
                  <a:latin typeface="微软雅黑" panose="020B0503020204020204" pitchFamily="34" charset="-122"/>
                  <a:ea typeface="微软雅黑" panose="020B0503020204020204" pitchFamily="34" charset="-122"/>
                </a:rPr>
                <a:t>电话</a:t>
              </a:r>
              <a:r>
                <a:rPr lang="zh-CN" altLang="zh-CN" sz="2000" b="1" dirty="0" smtClean="0">
                  <a:solidFill>
                    <a:prstClr val="white"/>
                  </a:solidFill>
                  <a:latin typeface="微软雅黑" panose="020B0503020204020204" pitchFamily="34" charset="-122"/>
                  <a:ea typeface="微软雅黑" panose="020B0503020204020204" pitchFamily="34" charset="-122"/>
                </a:rPr>
                <a:t>交换机</a:t>
              </a:r>
              <a:r>
                <a:rPr lang="zh-CN" altLang="zh-CN" sz="2000" b="1" dirty="0">
                  <a:solidFill>
                    <a:prstClr val="white"/>
                  </a:solidFill>
                  <a:latin typeface="微软雅黑" panose="020B0503020204020204" pitchFamily="34" charset="-122"/>
                  <a:ea typeface="微软雅黑" panose="020B0503020204020204" pitchFamily="34" charset="-122"/>
                </a:rPr>
                <a:t>使用</a:t>
              </a:r>
              <a:r>
                <a:rPr lang="zh-CN" altLang="zh-CN" sz="2000" b="1" dirty="0">
                  <a:solidFill>
                    <a:srgbClr val="FFFF00"/>
                  </a:solidFill>
                  <a:latin typeface="微软雅黑" panose="020B0503020204020204" pitchFamily="34" charset="-122"/>
                  <a:ea typeface="微软雅黑" panose="020B0503020204020204" pitchFamily="34" charset="-122"/>
                </a:rPr>
                <a:t>交换</a:t>
              </a:r>
              <a:r>
                <a:rPr lang="zh-CN" altLang="zh-CN" sz="2000" b="1" dirty="0">
                  <a:solidFill>
                    <a:prstClr val="white"/>
                  </a:solidFill>
                  <a:latin typeface="微软雅黑" panose="020B0503020204020204" pitchFamily="34" charset="-122"/>
                  <a:ea typeface="微软雅黑" panose="020B0503020204020204" pitchFamily="34" charset="-122"/>
                </a:rPr>
                <a:t>的方法，让电话用户彼此之间可以很方便地通信。</a:t>
              </a:r>
              <a:r>
                <a:rPr lang="zh-CN" altLang="en-US" sz="2000" b="1" dirty="0">
                  <a:solidFill>
                    <a:prstClr val="white"/>
                  </a:solidFill>
                  <a:latin typeface="微软雅黑" panose="020B0503020204020204" pitchFamily="34" charset="-122"/>
                  <a:ea typeface="微软雅黑" panose="020B0503020204020204" pitchFamily="34" charset="-122"/>
                </a:rPr>
                <a:t> </a:t>
              </a:r>
              <a:endParaRPr lang="en-US" altLang="zh-CN" sz="2000" b="1" dirty="0">
                <a:solidFill>
                  <a:prstClr val="white"/>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8746258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additive="base">
                                        <p:cTn id="7" dur="1000" fill="hold"/>
                                        <p:tgtEl>
                                          <p:spTgt spid="27651"/>
                                        </p:tgtEl>
                                        <p:attrNameLst>
                                          <p:attrName>ppt_x</p:attrName>
                                        </p:attrNameLst>
                                      </p:cBhvr>
                                      <p:tavLst>
                                        <p:tav tm="0">
                                          <p:val>
                                            <p:strVal val="#ppt_x"/>
                                          </p:val>
                                        </p:tav>
                                        <p:tav tm="100000">
                                          <p:val>
                                            <p:strVal val="#ppt_x"/>
                                          </p:val>
                                        </p:tav>
                                      </p:tavLst>
                                    </p:anim>
                                    <p:anim calcmode="lin" valueType="num">
                                      <p:cBhvr additive="base">
                                        <p:cTn id="8" dur="1000" fill="hold"/>
                                        <p:tgtEl>
                                          <p:spTgt spid="276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18"/>
                                        </p:tgtEl>
                                        <p:attrNameLst>
                                          <p:attrName>style.visibility</p:attrName>
                                        </p:attrNameLst>
                                      </p:cBhvr>
                                      <p:to>
                                        <p:strVal val="visible"/>
                                      </p:to>
                                    </p:set>
                                    <p:animEffect transition="in" filter="fade">
                                      <p:cBhvr>
                                        <p:cTn id="13" dur="1000"/>
                                        <p:tgtEl>
                                          <p:spTgt spid="118"/>
                                        </p:tgtEl>
                                      </p:cBhvr>
                                    </p:animEffect>
                                    <p:anim calcmode="lin" valueType="num">
                                      <p:cBhvr>
                                        <p:cTn id="14" dur="1000" fill="hold"/>
                                        <p:tgtEl>
                                          <p:spTgt spid="118"/>
                                        </p:tgtEl>
                                        <p:attrNameLst>
                                          <p:attrName>ppt_x</p:attrName>
                                        </p:attrNameLst>
                                      </p:cBhvr>
                                      <p:tavLst>
                                        <p:tav tm="0">
                                          <p:val>
                                            <p:strVal val="#ppt_x"/>
                                          </p:val>
                                        </p:tav>
                                        <p:tav tm="100000">
                                          <p:val>
                                            <p:strVal val="#ppt_x"/>
                                          </p:val>
                                        </p:tav>
                                      </p:tavLst>
                                    </p:anim>
                                    <p:anim calcmode="lin" valueType="num">
                                      <p:cBhvr>
                                        <p:cTn id="15" dur="1000" fill="hold"/>
                                        <p:tgtEl>
                                          <p:spTgt spid="1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 </a:t>
            </a:r>
            <a:r>
              <a:rPr lang="zh-CN" altLang="en-US" dirty="0" smtClean="0"/>
              <a:t>互联网</a:t>
            </a:r>
            <a:r>
              <a:rPr lang="zh-CN" altLang="en-US" dirty="0"/>
              <a:t>的核心部分</a:t>
            </a:r>
          </a:p>
        </p:txBody>
      </p:sp>
      <p:sp>
        <p:nvSpPr>
          <p:cNvPr id="4" name="内容占位符 3"/>
          <p:cNvSpPr>
            <a:spLocks noGrp="1"/>
          </p:cNvSpPr>
          <p:nvPr>
            <p:ph idx="1"/>
          </p:nvPr>
        </p:nvSpPr>
        <p:spPr/>
        <p:txBody>
          <a:bodyPr/>
          <a:lstStyle/>
          <a:p>
            <a:r>
              <a:rPr lang="zh-CN" altLang="en-US" b="1" dirty="0"/>
              <a:t>“交换 </a:t>
            </a:r>
            <a:r>
              <a:rPr lang="en-US" altLang="zh-CN" b="1" dirty="0"/>
              <a:t>(switching)</a:t>
            </a:r>
            <a:r>
              <a:rPr lang="zh-CN" altLang="en-US" b="1" dirty="0"/>
              <a:t>”的含义</a:t>
            </a:r>
          </a:p>
          <a:p>
            <a:pPr lvl="1"/>
            <a:r>
              <a:rPr lang="zh-CN" altLang="en-US" b="1" dirty="0">
                <a:solidFill>
                  <a:srgbClr val="C00000"/>
                </a:solidFill>
              </a:rPr>
              <a:t>转接：</a:t>
            </a:r>
            <a:r>
              <a:rPr lang="zh-CN" altLang="en-US" b="1" dirty="0"/>
              <a:t>把一条电话线转接到另一条电话线，使它们连通起来。</a:t>
            </a:r>
          </a:p>
          <a:p>
            <a:pPr lvl="1"/>
            <a:r>
              <a:rPr lang="zh-CN" altLang="en-US" b="1" dirty="0"/>
              <a:t>从通信资源的分配角度来看</a:t>
            </a:r>
            <a:r>
              <a:rPr lang="zh-CN" altLang="en-US" b="1" dirty="0" smtClean="0"/>
              <a:t>，</a:t>
            </a:r>
            <a:r>
              <a:rPr lang="zh-CN" altLang="en-US" b="1" dirty="0"/>
              <a:t>交换 </a:t>
            </a:r>
            <a:r>
              <a:rPr lang="en-US" altLang="zh-CN" b="1" dirty="0"/>
              <a:t>(switching)</a:t>
            </a:r>
            <a:r>
              <a:rPr lang="zh-CN" altLang="en-US" b="1" dirty="0" smtClean="0"/>
              <a:t>就是</a:t>
            </a:r>
            <a:r>
              <a:rPr lang="zh-CN" altLang="en-US" b="1" dirty="0"/>
              <a:t>按照某种方式</a:t>
            </a:r>
            <a:r>
              <a:rPr lang="zh-CN" altLang="en-US" b="1" dirty="0">
                <a:solidFill>
                  <a:srgbClr val="C00000"/>
                </a:solidFill>
              </a:rPr>
              <a:t>动态地</a:t>
            </a:r>
            <a:r>
              <a:rPr lang="zh-CN" altLang="en-US" b="1" dirty="0">
                <a:solidFill>
                  <a:srgbClr val="0000FF"/>
                </a:solidFill>
              </a:rPr>
              <a:t>分配传输线路的资源。</a:t>
            </a:r>
          </a:p>
          <a:p>
            <a:endParaRPr lang="zh-CN" altLang="en-US" b="1" dirty="0"/>
          </a:p>
        </p:txBody>
      </p:sp>
      <p:sp>
        <p:nvSpPr>
          <p:cNvPr id="64" name="圆角矩形 63"/>
          <p:cNvSpPr/>
          <p:nvPr/>
        </p:nvSpPr>
        <p:spPr>
          <a:xfrm>
            <a:off x="6268263" y="3573016"/>
            <a:ext cx="4148217" cy="2823835"/>
          </a:xfrm>
          <a:prstGeom prst="roundRect">
            <a:avLst/>
          </a:prstGeom>
          <a:solidFill>
            <a:srgbClr val="0070C0"/>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5" name="直接连接符 64"/>
          <p:cNvCxnSpPr/>
          <p:nvPr/>
        </p:nvCxnSpPr>
        <p:spPr>
          <a:xfrm>
            <a:off x="7458759" y="4168995"/>
            <a:ext cx="412223" cy="35003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6749146" y="4775420"/>
            <a:ext cx="1263650" cy="1143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7257146" y="5021483"/>
            <a:ext cx="971550" cy="57626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8147734" y="5346920"/>
            <a:ext cx="224277" cy="66675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flipV="1">
            <a:off x="8663671" y="5081808"/>
            <a:ext cx="677863" cy="45561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100" idx="1"/>
          </p:cNvCxnSpPr>
          <p:nvPr/>
        </p:nvCxnSpPr>
        <p:spPr>
          <a:xfrm flipV="1">
            <a:off x="8260042" y="3845206"/>
            <a:ext cx="111969" cy="846884"/>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8758921" y="4053108"/>
            <a:ext cx="493713" cy="596900"/>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a:stCxn id="100" idx="5"/>
          </p:cNvCxnSpPr>
          <p:nvPr/>
        </p:nvCxnSpPr>
        <p:spPr>
          <a:xfrm flipV="1">
            <a:off x="9082771" y="4565930"/>
            <a:ext cx="738628" cy="236102"/>
          </a:xfrm>
          <a:prstGeom prst="line">
            <a:avLst/>
          </a:prstGeom>
          <a:ln w="28575">
            <a:solidFill>
              <a:srgbClr val="99FF99"/>
            </a:solidFill>
          </a:ln>
        </p:spPr>
        <p:style>
          <a:lnRef idx="1">
            <a:schemeClr val="accent1"/>
          </a:lnRef>
          <a:fillRef idx="0">
            <a:schemeClr val="accent1"/>
          </a:fillRef>
          <a:effectRef idx="0">
            <a:schemeClr val="accent1"/>
          </a:effectRef>
          <a:fontRef idx="minor">
            <a:schemeClr val="tx1"/>
          </a:fontRef>
        </p:style>
      </p:cxnSp>
      <p:pic>
        <p:nvPicPr>
          <p:cNvPr id="73" name="图片 1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0384" y="4599208"/>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图片 1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3296" y="5435820"/>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图片 16"/>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8021" y="5785070"/>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图片 1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1509" y="5346920"/>
            <a:ext cx="517525"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 name="图片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39671" y="3888008"/>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 name="图片 1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47734" y="3713383"/>
            <a:ext cx="515937"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图片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82771" y="3826095"/>
            <a:ext cx="51752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 name="图片 2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59034" y="4411883"/>
            <a:ext cx="517525"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 name="立方体 99"/>
          <p:cNvSpPr/>
          <p:nvPr/>
        </p:nvSpPr>
        <p:spPr>
          <a:xfrm>
            <a:off x="7657197" y="4472219"/>
            <a:ext cx="1425574" cy="879535"/>
          </a:xfrm>
          <a:prstGeom prst="cube">
            <a:avLst/>
          </a:prstGeom>
          <a:solidFill>
            <a:srgbClr val="0000FF"/>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101" name="直接连接符 100"/>
          <p:cNvCxnSpPr/>
          <p:nvPr/>
        </p:nvCxnSpPr>
        <p:spPr>
          <a:xfrm>
            <a:off x="7836192" y="4496798"/>
            <a:ext cx="1047661" cy="75372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8274110" y="4472219"/>
            <a:ext cx="808661" cy="315758"/>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7657196" y="4867495"/>
            <a:ext cx="714815" cy="479425"/>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V="1">
            <a:off x="7748436" y="4472219"/>
            <a:ext cx="1135417" cy="834580"/>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7854446" y="4518251"/>
            <a:ext cx="517565" cy="828669"/>
          </a:xfrm>
          <a:prstGeom prst="line">
            <a:avLst/>
          </a:prstGeom>
          <a:ln w="28575">
            <a:solidFill>
              <a:schemeClr val="bg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76113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ipe(right)">
                                      <p:cBhvr>
                                        <p:cTn id="7" dur="1000"/>
                                        <p:tgtEl>
                                          <p:spTgt spid="102"/>
                                        </p:tgtEl>
                                      </p:cBhvr>
                                    </p:animEffect>
                                  </p:childTnLst>
                                </p:cTn>
                              </p:par>
                            </p:childTnLst>
                          </p:cTn>
                        </p:par>
                        <p:par>
                          <p:cTn id="8" fill="hold">
                            <p:stCondLst>
                              <p:cond delay="1000"/>
                            </p:stCondLst>
                            <p:childTnLst>
                              <p:par>
                                <p:cTn id="9" presetID="22" presetClass="entr" presetSubtype="8" fill="hold" nodeType="afterEffect">
                                  <p:stCondLst>
                                    <p:cond delay="50"/>
                                  </p:stCondLst>
                                  <p:childTnLst>
                                    <p:set>
                                      <p:cBhvr>
                                        <p:cTn id="10" dur="1" fill="hold">
                                          <p:stCondLst>
                                            <p:cond delay="0"/>
                                          </p:stCondLst>
                                        </p:cTn>
                                        <p:tgtEl>
                                          <p:spTgt spid="101"/>
                                        </p:tgtEl>
                                        <p:attrNameLst>
                                          <p:attrName>style.visibility</p:attrName>
                                        </p:attrNameLst>
                                      </p:cBhvr>
                                      <p:to>
                                        <p:strVal val="visible"/>
                                      </p:to>
                                    </p:set>
                                    <p:animEffect transition="in" filter="wipe(left)">
                                      <p:cBhvr>
                                        <p:cTn id="11" dur="1000"/>
                                        <p:tgtEl>
                                          <p:spTgt spid="101"/>
                                        </p:tgtEl>
                                      </p:cBhvr>
                                    </p:animEffect>
                                  </p:childTnLst>
                                </p:cTn>
                              </p:par>
                            </p:childTnLst>
                          </p:cTn>
                        </p:par>
                        <p:par>
                          <p:cTn id="12" fill="hold">
                            <p:stCondLst>
                              <p:cond delay="2050"/>
                            </p:stCondLst>
                            <p:childTnLst>
                              <p:par>
                                <p:cTn id="13" presetID="22" presetClass="entr" presetSubtype="8" fill="hold" nodeType="after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wipe(left)">
                                      <p:cBhvr>
                                        <p:cTn id="15" dur="1000"/>
                                        <p:tgtEl>
                                          <p:spTgt spid="103"/>
                                        </p:tgtEl>
                                      </p:cBhvr>
                                    </p:animEffect>
                                  </p:childTnLst>
                                </p:cTn>
                              </p:par>
                            </p:childTnLst>
                          </p:cTn>
                        </p:par>
                        <p:par>
                          <p:cTn id="16" fill="hold">
                            <p:stCondLst>
                              <p:cond delay="3050"/>
                            </p:stCondLst>
                            <p:childTnLst>
                              <p:par>
                                <p:cTn id="17" presetID="22" presetClass="entr" presetSubtype="4" fill="hold" nodeType="afterEffect">
                                  <p:stCondLst>
                                    <p:cond delay="0"/>
                                  </p:stCondLst>
                                  <p:childTnLst>
                                    <p:set>
                                      <p:cBhvr>
                                        <p:cTn id="18" dur="1" fill="hold">
                                          <p:stCondLst>
                                            <p:cond delay="0"/>
                                          </p:stCondLst>
                                        </p:cTn>
                                        <p:tgtEl>
                                          <p:spTgt spid="104"/>
                                        </p:tgtEl>
                                        <p:attrNameLst>
                                          <p:attrName>style.visibility</p:attrName>
                                        </p:attrNameLst>
                                      </p:cBhvr>
                                      <p:to>
                                        <p:strVal val="visible"/>
                                      </p:to>
                                    </p:set>
                                    <p:animEffect transition="in" filter="wipe(down)">
                                      <p:cBhvr>
                                        <p:cTn id="19" dur="1000"/>
                                        <p:tgtEl>
                                          <p:spTgt spid="10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xit" presetSubtype="4" fill="hold" nodeType="clickEffect">
                                  <p:stCondLst>
                                    <p:cond delay="0"/>
                                  </p:stCondLst>
                                  <p:childTnLst>
                                    <p:animEffect transition="out" filter="wipe(down)">
                                      <p:cBhvr>
                                        <p:cTn id="23" dur="1000"/>
                                        <p:tgtEl>
                                          <p:spTgt spid="103"/>
                                        </p:tgtEl>
                                      </p:cBhvr>
                                    </p:animEffect>
                                    <p:set>
                                      <p:cBhvr>
                                        <p:cTn id="24" dur="1" fill="hold">
                                          <p:stCondLst>
                                            <p:cond delay="999"/>
                                          </p:stCondLst>
                                        </p:cTn>
                                        <p:tgtEl>
                                          <p:spTgt spid="103"/>
                                        </p:tgtEl>
                                        <p:attrNameLst>
                                          <p:attrName>style.visibility</p:attrName>
                                        </p:attrNameLst>
                                      </p:cBhvr>
                                      <p:to>
                                        <p:strVal val="hidden"/>
                                      </p:to>
                                    </p:set>
                                  </p:childTnLst>
                                </p:cTn>
                              </p:par>
                            </p:childTnLst>
                          </p:cTn>
                        </p:par>
                        <p:par>
                          <p:cTn id="25" fill="hold">
                            <p:stCondLst>
                              <p:cond delay="1000"/>
                            </p:stCondLst>
                            <p:childTnLst>
                              <p:par>
                                <p:cTn id="26" presetID="22" presetClass="exit" presetSubtype="1" fill="hold" nodeType="afterEffect">
                                  <p:stCondLst>
                                    <p:cond delay="0"/>
                                  </p:stCondLst>
                                  <p:childTnLst>
                                    <p:animEffect transition="out" filter="wipe(up)">
                                      <p:cBhvr>
                                        <p:cTn id="27" dur="1000"/>
                                        <p:tgtEl>
                                          <p:spTgt spid="101"/>
                                        </p:tgtEl>
                                      </p:cBhvr>
                                    </p:animEffect>
                                    <p:set>
                                      <p:cBhvr>
                                        <p:cTn id="28" dur="1" fill="hold">
                                          <p:stCondLst>
                                            <p:cond delay="999"/>
                                          </p:stCondLst>
                                        </p:cTn>
                                        <p:tgtEl>
                                          <p:spTgt spid="10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05"/>
                                        </p:tgtEl>
                                        <p:attrNameLst>
                                          <p:attrName>style.visibility</p:attrName>
                                        </p:attrNameLst>
                                      </p:cBhvr>
                                      <p:to>
                                        <p:strVal val="visible"/>
                                      </p:to>
                                    </p:set>
                                    <p:animEffect transition="in" filter="wipe(up)">
                                      <p:cBhvr>
                                        <p:cTn id="33" dur="1000"/>
                                        <p:tgtEl>
                                          <p:spTgt spid="105"/>
                                        </p:tgtEl>
                                      </p:cBhvr>
                                    </p:animEffect>
                                  </p:childTnLst>
                                </p:cTn>
                              </p:par>
                            </p:childTnLst>
                          </p:cTn>
                        </p:par>
                        <p:par>
                          <p:cTn id="34" fill="hold">
                            <p:stCondLst>
                              <p:cond delay="1000"/>
                            </p:stCondLst>
                            <p:childTnLst>
                              <p:par>
                                <p:cTn id="35" presetID="22" presetClass="exit" presetSubtype="4" fill="hold" nodeType="afterEffect">
                                  <p:stCondLst>
                                    <p:cond delay="0"/>
                                  </p:stCondLst>
                                  <p:childTnLst>
                                    <p:animEffect transition="out" filter="wipe(down)">
                                      <p:cBhvr>
                                        <p:cTn id="36" dur="750"/>
                                        <p:tgtEl>
                                          <p:spTgt spid="104"/>
                                        </p:tgtEl>
                                      </p:cBhvr>
                                    </p:animEffect>
                                    <p:set>
                                      <p:cBhvr>
                                        <p:cTn id="37" dur="1" fill="hold">
                                          <p:stCondLst>
                                            <p:cond delay="749"/>
                                          </p:stCondLst>
                                        </p:cTn>
                                        <p:tgtEl>
                                          <p:spTgt spid="1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1.3.2 </a:t>
            </a:r>
            <a:r>
              <a:rPr lang="zh-CN" altLang="en-US" dirty="0" smtClean="0"/>
              <a:t>互联网</a:t>
            </a:r>
            <a:r>
              <a:rPr lang="zh-CN" altLang="en-US" dirty="0"/>
              <a:t>的核心部分</a:t>
            </a:r>
          </a:p>
        </p:txBody>
      </p:sp>
      <p:sp>
        <p:nvSpPr>
          <p:cNvPr id="27650" name="Rectangle 3"/>
          <p:cNvSpPr>
            <a:spLocks noGrp="1" noChangeArrowheads="1"/>
          </p:cNvSpPr>
          <p:nvPr>
            <p:ph idx="1"/>
          </p:nvPr>
        </p:nvSpPr>
        <p:spPr/>
        <p:txBody>
          <a:bodyPr/>
          <a:lstStyle/>
          <a:p>
            <a:pPr eaLnBrk="1" hangingPunct="1"/>
            <a:r>
              <a:rPr lang="zh-CN" altLang="en-US" b="1" dirty="0" smtClean="0">
                <a:solidFill>
                  <a:srgbClr val="FF0000"/>
                </a:solidFill>
              </a:rPr>
              <a:t>电路</a:t>
            </a:r>
            <a:r>
              <a:rPr lang="zh-CN" altLang="en-US" b="1" dirty="0" smtClean="0"/>
              <a:t>交换 </a:t>
            </a:r>
            <a:r>
              <a:rPr lang="en-US" altLang="zh-CN" b="1" dirty="0" smtClean="0"/>
              <a:t>(</a:t>
            </a:r>
            <a:r>
              <a:rPr lang="en-US" altLang="zh-CN" b="1" dirty="0"/>
              <a:t>Circuit Switching)</a:t>
            </a:r>
            <a:endParaRPr lang="zh-CN" altLang="en-US" b="1" dirty="0"/>
          </a:p>
        </p:txBody>
      </p:sp>
      <p:grpSp>
        <p:nvGrpSpPr>
          <p:cNvPr id="118" name="组合 25"/>
          <p:cNvGrpSpPr/>
          <p:nvPr/>
        </p:nvGrpSpPr>
        <p:grpSpPr bwMode="auto">
          <a:xfrm>
            <a:off x="1991544" y="4941168"/>
            <a:ext cx="8352929" cy="1087746"/>
            <a:chOff x="5067043" y="1713614"/>
            <a:chExt cx="2801549" cy="2993477"/>
          </a:xfrm>
        </p:grpSpPr>
        <p:sp>
          <p:nvSpPr>
            <p:cNvPr id="119" name="对角圆角矩形 118"/>
            <p:cNvSpPr/>
            <p:nvPr/>
          </p:nvSpPr>
          <p:spPr>
            <a:xfrm>
              <a:off x="5067043" y="1713614"/>
              <a:ext cx="2801549" cy="25761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a:solidFill>
                  <a:prstClr val="white"/>
                </a:solidFill>
              </a:endParaRPr>
            </a:p>
          </p:txBody>
        </p:sp>
        <p:sp>
          <p:nvSpPr>
            <p:cNvPr id="120" name="矩形 27"/>
            <p:cNvSpPr>
              <a:spLocks noChangeArrowheads="1"/>
            </p:cNvSpPr>
            <p:nvPr/>
          </p:nvSpPr>
          <p:spPr bwMode="auto">
            <a:xfrm>
              <a:off x="5123211" y="2017861"/>
              <a:ext cx="2682807" cy="2689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300"/>
                </a:lnSpc>
                <a:spcBef>
                  <a:spcPts val="600"/>
                </a:spcBef>
              </a:pPr>
              <a:r>
                <a:rPr lang="zh-CN" altLang="en-US" sz="2000" b="1" dirty="0">
                  <a:solidFill>
                    <a:prstClr val="white"/>
                  </a:solidFill>
                  <a:latin typeface="微软雅黑" panose="020B0503020204020204" pitchFamily="34" charset="-122"/>
                  <a:ea typeface="微软雅黑" panose="020B0503020204020204" pitchFamily="34" charset="-122"/>
                </a:rPr>
                <a:t>当电话机的数量增多时，就要使用</a:t>
              </a:r>
              <a:r>
                <a:rPr lang="zh-CN" altLang="en-US" sz="2000" b="1" dirty="0">
                  <a:solidFill>
                    <a:srgbClr val="FFFF00"/>
                  </a:solidFill>
                  <a:latin typeface="微软雅黑" panose="020B0503020204020204" pitchFamily="34" charset="-122"/>
                  <a:ea typeface="微软雅黑" panose="020B0503020204020204" pitchFamily="34" charset="-122"/>
                </a:rPr>
                <a:t>很多</a:t>
              </a:r>
              <a:r>
                <a:rPr lang="zh-CN" altLang="en-US" sz="2000" b="1" dirty="0">
                  <a:solidFill>
                    <a:prstClr val="white"/>
                  </a:solidFill>
                  <a:latin typeface="微软雅黑" panose="020B0503020204020204" pitchFamily="34" charset="-122"/>
                  <a:ea typeface="微软雅黑" panose="020B0503020204020204" pitchFamily="34" charset="-122"/>
                </a:rPr>
                <a:t>彼此连接起来的交换机来完成全网的交换任务。用这样的方法，就构成了覆盖全世界的电信网。</a:t>
              </a:r>
              <a:endParaRPr lang="zh-CN" altLang="en-US" sz="2000" b="1" dirty="0">
                <a:solidFill>
                  <a:srgbClr val="FFFF00"/>
                </a:solidFill>
                <a:latin typeface="微软雅黑" panose="020B0503020204020204" pitchFamily="34" charset="-122"/>
                <a:ea typeface="微软雅黑" panose="020B0503020204020204" pitchFamily="34" charset="-122"/>
              </a:endParaRPr>
            </a:p>
          </p:txBody>
        </p:sp>
      </p:grpSp>
      <p:grpSp>
        <p:nvGrpSpPr>
          <p:cNvPr id="3" name="组合 2"/>
          <p:cNvGrpSpPr/>
          <p:nvPr/>
        </p:nvGrpSpPr>
        <p:grpSpPr>
          <a:xfrm>
            <a:off x="2569294" y="2199009"/>
            <a:ext cx="6623050" cy="2238103"/>
            <a:chOff x="1185210" y="1114692"/>
            <a:chExt cx="6623050" cy="2238103"/>
          </a:xfrm>
        </p:grpSpPr>
        <p:grpSp>
          <p:nvGrpSpPr>
            <p:cNvPr id="53" name="Group 6"/>
            <p:cNvGrpSpPr/>
            <p:nvPr/>
          </p:nvGrpSpPr>
          <p:grpSpPr bwMode="auto">
            <a:xfrm>
              <a:off x="2421663" y="1114692"/>
              <a:ext cx="4343919" cy="2238103"/>
              <a:chOff x="1680" y="240"/>
              <a:chExt cx="2529" cy="1270"/>
            </a:xfrm>
            <a:solidFill>
              <a:srgbClr val="0098F6"/>
            </a:solidFill>
          </p:grpSpPr>
          <p:sp>
            <p:nvSpPr>
              <p:cNvPr id="54" name="Oval 7"/>
              <p:cNvSpPr>
                <a:spLocks noChangeArrowheads="1"/>
              </p:cNvSpPr>
              <p:nvPr/>
            </p:nvSpPr>
            <p:spPr bwMode="auto">
              <a:xfrm>
                <a:off x="2554" y="240"/>
                <a:ext cx="1088"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5" name="Oval 8"/>
              <p:cNvSpPr>
                <a:spLocks noChangeArrowheads="1"/>
              </p:cNvSpPr>
              <p:nvPr/>
            </p:nvSpPr>
            <p:spPr bwMode="auto">
              <a:xfrm>
                <a:off x="1941" y="381"/>
                <a:ext cx="827" cy="513"/>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6" name="Oval 9"/>
              <p:cNvSpPr>
                <a:spLocks noChangeArrowheads="1"/>
              </p:cNvSpPr>
              <p:nvPr/>
            </p:nvSpPr>
            <p:spPr bwMode="auto">
              <a:xfrm>
                <a:off x="1680" y="702"/>
                <a:ext cx="552" cy="411"/>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7" name="Oval 10"/>
              <p:cNvSpPr>
                <a:spLocks noChangeArrowheads="1"/>
              </p:cNvSpPr>
              <p:nvPr/>
            </p:nvSpPr>
            <p:spPr bwMode="auto">
              <a:xfrm>
                <a:off x="1849" y="894"/>
                <a:ext cx="842" cy="450"/>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8" name="Oval 11"/>
              <p:cNvSpPr>
                <a:spLocks noChangeArrowheads="1"/>
              </p:cNvSpPr>
              <p:nvPr/>
            </p:nvSpPr>
            <p:spPr bwMode="auto">
              <a:xfrm>
                <a:off x="2462" y="971"/>
                <a:ext cx="1272" cy="539"/>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9" name="Oval 12"/>
              <p:cNvSpPr>
                <a:spLocks noChangeArrowheads="1"/>
              </p:cNvSpPr>
              <p:nvPr/>
            </p:nvSpPr>
            <p:spPr bwMode="auto">
              <a:xfrm>
                <a:off x="3289" y="394"/>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0" name="Oval 13"/>
              <p:cNvSpPr>
                <a:spLocks noChangeArrowheads="1"/>
              </p:cNvSpPr>
              <p:nvPr/>
            </p:nvSpPr>
            <p:spPr bwMode="auto">
              <a:xfrm>
                <a:off x="3412" y="663"/>
                <a:ext cx="797" cy="398"/>
              </a:xfrm>
              <a:prstGeom prst="ellipse">
                <a:avLst/>
              </a:prstGeom>
              <a:solidFill>
                <a:srgbClr val="C5E5FB"/>
              </a:solidFill>
              <a:ln>
                <a:noFill/>
              </a:ln>
              <a:effectLst/>
              <a:scene3d>
                <a:camera prst="orthographicFront">
                  <a:rot lat="0" lon="0" rev="0"/>
                </a:camera>
                <a:lightRig rig="contrasting" dir="t">
                  <a:rot lat="0" lon="0" rev="7800000"/>
                </a:lightRig>
              </a:scene3d>
              <a:sp3d>
                <a:bevelT w="139700" h="139700"/>
              </a:sp3d>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7" name="Oval 14"/>
              <p:cNvSpPr>
                <a:spLocks noChangeArrowheads="1"/>
              </p:cNvSpPr>
              <p:nvPr/>
            </p:nvSpPr>
            <p:spPr bwMode="auto">
              <a:xfrm>
                <a:off x="3335" y="753"/>
                <a:ext cx="797" cy="668"/>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8" name="Oval 15"/>
              <p:cNvSpPr>
                <a:spLocks noChangeArrowheads="1"/>
              </p:cNvSpPr>
              <p:nvPr/>
            </p:nvSpPr>
            <p:spPr bwMode="auto">
              <a:xfrm>
                <a:off x="2140" y="548"/>
                <a:ext cx="1640" cy="667"/>
              </a:xfrm>
              <a:prstGeom prst="ellipse">
                <a:avLst/>
              </a:prstGeom>
              <a:solidFill>
                <a:srgbClr val="C5E5FB"/>
              </a:solidFill>
              <a:ln>
                <a:noFill/>
              </a:ln>
              <a:effectLst/>
              <a:extLst>
                <a:ext uri="{91240B29-F687-4F45-9708-019B960494DF}">
                  <a14:hiddenLine xmlns:a14="http://schemas.microsoft.com/office/drawing/2010/main" w="9525">
                    <a:solidFill>
                      <a:srgbClr val="000000"/>
                    </a:solidFill>
                    <a:round/>
                  </a14:hiddenLine>
                </a:ex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79" name="Line 23"/>
            <p:cNvSpPr>
              <a:spLocks noChangeShapeType="1"/>
            </p:cNvSpPr>
            <p:nvPr/>
          </p:nvSpPr>
          <p:spPr bwMode="auto">
            <a:xfrm>
              <a:off x="3001310" y="2305489"/>
              <a:ext cx="3021012" cy="0"/>
            </a:xfrm>
            <a:prstGeom prst="line">
              <a:avLst/>
            </a:prstGeom>
            <a:noFill/>
            <a:ln w="38100" cmpd="dbl">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80" name="Text Box 24"/>
            <p:cNvSpPr txBox="1">
              <a:spLocks noChangeArrowheads="1"/>
            </p:cNvSpPr>
            <p:nvPr/>
          </p:nvSpPr>
          <p:spPr bwMode="auto">
            <a:xfrm>
              <a:off x="1278872" y="1786377"/>
              <a:ext cx="33813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dirty="0">
                  <a:solidFill>
                    <a:srgbClr val="000000"/>
                  </a:solidFill>
                  <a:latin typeface="微软雅黑" panose="020B0503020204020204" pitchFamily="34" charset="-122"/>
                  <a:ea typeface="微软雅黑" panose="020B0503020204020204" pitchFamily="34" charset="-122"/>
                </a:rPr>
                <a:t>A</a:t>
              </a:r>
            </a:p>
          </p:txBody>
        </p:sp>
        <p:sp>
          <p:nvSpPr>
            <p:cNvPr id="81" name="Text Box 25"/>
            <p:cNvSpPr txBox="1">
              <a:spLocks noChangeArrowheads="1"/>
            </p:cNvSpPr>
            <p:nvPr/>
          </p:nvSpPr>
          <p:spPr bwMode="auto">
            <a:xfrm>
              <a:off x="7351060" y="1786377"/>
              <a:ext cx="325437"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dirty="0">
                  <a:solidFill>
                    <a:srgbClr val="000000"/>
                  </a:solidFill>
                  <a:latin typeface="微软雅黑" panose="020B0503020204020204" pitchFamily="34" charset="-122"/>
                  <a:ea typeface="微软雅黑" panose="020B0503020204020204" pitchFamily="34" charset="-122"/>
                </a:rPr>
                <a:t>B</a:t>
              </a:r>
            </a:p>
          </p:txBody>
        </p:sp>
        <p:sp>
          <p:nvSpPr>
            <p:cNvPr id="82" name="Line 26"/>
            <p:cNvSpPr>
              <a:spLocks noChangeShapeType="1"/>
            </p:cNvSpPr>
            <p:nvPr/>
          </p:nvSpPr>
          <p:spPr bwMode="auto">
            <a:xfrm>
              <a:off x="1563035" y="2305489"/>
              <a:ext cx="131445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83" name="Line 27"/>
            <p:cNvSpPr>
              <a:spLocks noChangeShapeType="1"/>
            </p:cNvSpPr>
            <p:nvPr/>
          </p:nvSpPr>
          <p:spPr bwMode="auto">
            <a:xfrm>
              <a:off x="6084235" y="2305489"/>
              <a:ext cx="140017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 name="Text Box 28"/>
            <p:cNvSpPr txBox="1">
              <a:spLocks noChangeArrowheads="1"/>
            </p:cNvSpPr>
            <p:nvPr/>
          </p:nvSpPr>
          <p:spPr bwMode="auto">
            <a:xfrm>
              <a:off x="4449110" y="1269352"/>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00"/>
                  </a:solidFill>
                  <a:latin typeface="微软雅黑" panose="020B0503020204020204" pitchFamily="34" charset="-122"/>
                  <a:ea typeface="微软雅黑" panose="020B0503020204020204" pitchFamily="34" charset="-122"/>
                </a:rPr>
                <a:t>电信网</a:t>
              </a:r>
            </a:p>
          </p:txBody>
        </p:sp>
        <p:sp>
          <p:nvSpPr>
            <p:cNvPr id="85" name="Text Box 29"/>
            <p:cNvSpPr txBox="1">
              <a:spLocks noChangeArrowheads="1"/>
            </p:cNvSpPr>
            <p:nvPr/>
          </p:nvSpPr>
          <p:spPr bwMode="auto">
            <a:xfrm>
              <a:off x="2979085" y="1732402"/>
              <a:ext cx="723900" cy="30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86" name="Text Box 30"/>
            <p:cNvSpPr txBox="1">
              <a:spLocks noChangeArrowheads="1"/>
            </p:cNvSpPr>
            <p:nvPr/>
          </p:nvSpPr>
          <p:spPr bwMode="auto">
            <a:xfrm>
              <a:off x="37728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87" name="Text Box 31"/>
            <p:cNvSpPr txBox="1">
              <a:spLocks noChangeArrowheads="1"/>
            </p:cNvSpPr>
            <p:nvPr/>
          </p:nvSpPr>
          <p:spPr bwMode="auto">
            <a:xfrm>
              <a:off x="4733272" y="17482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88" name="Text Box 32"/>
            <p:cNvSpPr txBox="1">
              <a:spLocks noChangeArrowheads="1"/>
            </p:cNvSpPr>
            <p:nvPr/>
          </p:nvSpPr>
          <p:spPr bwMode="auto">
            <a:xfrm>
              <a:off x="5614335" y="1748277"/>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a:solidFill>
                    <a:srgbClr val="0000FF"/>
                  </a:solidFill>
                  <a:latin typeface="微软雅黑" panose="020B0503020204020204" pitchFamily="34" charset="-122"/>
                  <a:ea typeface="微软雅黑" panose="020B0503020204020204" pitchFamily="34" charset="-122"/>
                </a:rPr>
                <a:t>交换机</a:t>
              </a:r>
            </a:p>
          </p:txBody>
        </p:sp>
        <p:sp>
          <p:nvSpPr>
            <p:cNvPr id="89" name="Text Box 34"/>
            <p:cNvSpPr txBox="1">
              <a:spLocks noChangeArrowheads="1"/>
            </p:cNvSpPr>
            <p:nvPr/>
          </p:nvSpPr>
          <p:spPr bwMode="auto">
            <a:xfrm>
              <a:off x="4176060" y="2908828"/>
              <a:ext cx="80010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600" b="1" dirty="0">
                  <a:solidFill>
                    <a:srgbClr val="000000"/>
                  </a:solidFill>
                  <a:latin typeface="微软雅黑" panose="020B0503020204020204" pitchFamily="34" charset="-122"/>
                  <a:ea typeface="微软雅黑" panose="020B0503020204020204" pitchFamily="34" charset="-122"/>
                </a:rPr>
                <a:t>中继线</a:t>
              </a:r>
            </a:p>
          </p:txBody>
        </p:sp>
        <p:sp>
          <p:nvSpPr>
            <p:cNvPr id="90" name="Line 35"/>
            <p:cNvSpPr>
              <a:spLocks noChangeShapeType="1"/>
            </p:cNvSpPr>
            <p:nvPr/>
          </p:nvSpPr>
          <p:spPr bwMode="auto">
            <a:xfrm>
              <a:off x="3442635" y="2324539"/>
              <a:ext cx="820689" cy="607285"/>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Line 36"/>
            <p:cNvSpPr>
              <a:spLocks noChangeShapeType="1"/>
            </p:cNvSpPr>
            <p:nvPr/>
          </p:nvSpPr>
          <p:spPr bwMode="auto">
            <a:xfrm>
              <a:off x="4568172" y="2338827"/>
              <a:ext cx="0" cy="577850"/>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 name="Line 37"/>
            <p:cNvSpPr>
              <a:spLocks noChangeShapeType="1"/>
            </p:cNvSpPr>
            <p:nvPr/>
          </p:nvSpPr>
          <p:spPr bwMode="auto">
            <a:xfrm flipH="1">
              <a:off x="4869845" y="2346005"/>
              <a:ext cx="825223" cy="591332"/>
            </a:xfrm>
            <a:prstGeom prst="line">
              <a:avLst/>
            </a:prstGeom>
            <a:noFill/>
            <a:ln w="28575">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 name="Line 38"/>
            <p:cNvSpPr>
              <a:spLocks noChangeShapeType="1"/>
            </p:cNvSpPr>
            <p:nvPr/>
          </p:nvSpPr>
          <p:spPr bwMode="auto">
            <a:xfrm flipH="1">
              <a:off x="2163110" y="2313427"/>
              <a:ext cx="231775" cy="404812"/>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4" name="Line 39"/>
            <p:cNvSpPr>
              <a:spLocks noChangeShapeType="1"/>
            </p:cNvSpPr>
            <p:nvPr/>
          </p:nvSpPr>
          <p:spPr bwMode="auto">
            <a:xfrm>
              <a:off x="6887510" y="2313427"/>
              <a:ext cx="114300" cy="390525"/>
            </a:xfrm>
            <a:prstGeom prst="line">
              <a:avLst/>
            </a:prstGeom>
            <a:noFill/>
            <a:ln w="28575">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6" name="Text Box 40"/>
            <p:cNvSpPr txBox="1">
              <a:spLocks noChangeArrowheads="1"/>
            </p:cNvSpPr>
            <p:nvPr/>
          </p:nvSpPr>
          <p:spPr bwMode="auto">
            <a:xfrm>
              <a:off x="1802747" y="2726177"/>
              <a:ext cx="722313"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00"/>
                  </a:solidFill>
                  <a:latin typeface="微软雅黑" panose="020B0503020204020204" pitchFamily="34" charset="-122"/>
                  <a:ea typeface="微软雅黑" panose="020B0503020204020204" pitchFamily="34" charset="-122"/>
                </a:rPr>
                <a:t>用户线</a:t>
              </a:r>
            </a:p>
          </p:txBody>
        </p:sp>
        <p:sp>
          <p:nvSpPr>
            <p:cNvPr id="121" name="Text Box 41"/>
            <p:cNvSpPr txBox="1">
              <a:spLocks noChangeArrowheads="1"/>
            </p:cNvSpPr>
            <p:nvPr/>
          </p:nvSpPr>
          <p:spPr bwMode="auto">
            <a:xfrm>
              <a:off x="6662085" y="2718239"/>
              <a:ext cx="7239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000000"/>
                  </a:solidFill>
                  <a:latin typeface="微软雅黑" panose="020B0503020204020204" pitchFamily="34" charset="-122"/>
                  <a:ea typeface="微软雅黑" panose="020B0503020204020204" pitchFamily="34" charset="-122"/>
                </a:rPr>
                <a:t>用户线</a:t>
              </a:r>
            </a:p>
          </p:txBody>
        </p:sp>
        <p:grpSp>
          <p:nvGrpSpPr>
            <p:cNvPr id="122" name="Group 56"/>
            <p:cNvGrpSpPr/>
            <p:nvPr/>
          </p:nvGrpSpPr>
          <p:grpSpPr bwMode="auto">
            <a:xfrm flipH="1">
              <a:off x="6330297" y="2079355"/>
              <a:ext cx="863600" cy="131762"/>
              <a:chOff x="1519" y="2160"/>
              <a:chExt cx="953" cy="227"/>
            </a:xfrm>
          </p:grpSpPr>
          <p:sp>
            <p:nvSpPr>
              <p:cNvPr id="123" name="Freeform 57"/>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24" name="Freeform 58"/>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25" name="Freeform 59"/>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26" name="Freeform 60"/>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27" name="Line 61"/>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grpSp>
          <p:nvGrpSpPr>
            <p:cNvPr id="128" name="Group 64"/>
            <p:cNvGrpSpPr/>
            <p:nvPr/>
          </p:nvGrpSpPr>
          <p:grpSpPr bwMode="auto">
            <a:xfrm>
              <a:off x="1748772" y="2053955"/>
              <a:ext cx="863600" cy="131762"/>
              <a:chOff x="1519" y="2160"/>
              <a:chExt cx="953" cy="227"/>
            </a:xfrm>
          </p:grpSpPr>
          <p:sp>
            <p:nvSpPr>
              <p:cNvPr id="129" name="Freeform 65"/>
              <p:cNvSpPr/>
              <p:nvPr/>
            </p:nvSpPr>
            <p:spPr bwMode="auto">
              <a:xfrm>
                <a:off x="1519" y="2237"/>
                <a:ext cx="103"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30" name="Freeform 66"/>
              <p:cNvSpPr/>
              <p:nvPr/>
            </p:nvSpPr>
            <p:spPr bwMode="auto">
              <a:xfrm>
                <a:off x="1622" y="2160"/>
                <a:ext cx="180"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31" name="Freeform 67"/>
              <p:cNvSpPr/>
              <p:nvPr/>
            </p:nvSpPr>
            <p:spPr bwMode="auto">
              <a:xfrm>
                <a:off x="1978" y="2237"/>
                <a:ext cx="103"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32" name="Freeform 68"/>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19050">
                <a:solidFill>
                  <a:srgbClr val="0000FF"/>
                </a:solidFill>
                <a:prstDash val="solid"/>
                <a:round/>
              </a:ln>
              <a:extLst>
                <a:ext uri="{909E8E84-426E-40DD-AFC4-6F175D3DCCD1}">
                  <a14:hiddenFill xmlns:a14="http://schemas.microsoft.com/office/drawing/2010/main">
                    <a:solidFill>
                      <a:srgbClr val="FFFFFF"/>
                    </a:solidFill>
                  </a14:hiddenFill>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33" name="Line 69"/>
              <p:cNvSpPr>
                <a:spLocks noChangeShapeType="1"/>
              </p:cNvSpPr>
              <p:nvPr/>
            </p:nvSpPr>
            <p:spPr bwMode="auto">
              <a:xfrm>
                <a:off x="2109" y="2258"/>
                <a:ext cx="363" cy="0"/>
              </a:xfrm>
              <a:prstGeom prst="line">
                <a:avLst/>
              </a:prstGeom>
              <a:noFill/>
              <a:ln w="1905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grpSp>
        <p:sp>
          <p:nvSpPr>
            <p:cNvPr id="134" name="Freeform 71"/>
            <p:cNvSpPr/>
            <p:nvPr/>
          </p:nvSpPr>
          <p:spPr bwMode="auto">
            <a:xfrm>
              <a:off x="322832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35" name="Freeform 72"/>
            <p:cNvSpPr/>
            <p:nvPr/>
          </p:nvSpPr>
          <p:spPr bwMode="auto">
            <a:xfrm>
              <a:off x="4276072"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36" name="Freeform 73"/>
            <p:cNvSpPr/>
            <p:nvPr/>
          </p:nvSpPr>
          <p:spPr bwMode="auto">
            <a:xfrm>
              <a:off x="5263497" y="2103167"/>
              <a:ext cx="615950" cy="6508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28575"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sp>
          <p:nvSpPr>
            <p:cNvPr id="137" name="立方体 136"/>
            <p:cNvSpPr/>
            <p:nvPr/>
          </p:nvSpPr>
          <p:spPr>
            <a:xfrm>
              <a:off x="2796522"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8" name="立方体 137"/>
            <p:cNvSpPr/>
            <p:nvPr/>
          </p:nvSpPr>
          <p:spPr>
            <a:xfrm>
              <a:off x="3879197" y="2057839"/>
              <a:ext cx="387350"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39" name="立方体 138"/>
            <p:cNvSpPr/>
            <p:nvPr/>
          </p:nvSpPr>
          <p:spPr>
            <a:xfrm>
              <a:off x="4880910" y="2057839"/>
              <a:ext cx="388937"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0" name="立方体 139"/>
            <p:cNvSpPr/>
            <p:nvPr/>
          </p:nvSpPr>
          <p:spPr>
            <a:xfrm>
              <a:off x="5882622" y="2057839"/>
              <a:ext cx="388938" cy="401638"/>
            </a:xfrm>
            <a:prstGeom prst="cube">
              <a:avLst/>
            </a:prstGeom>
            <a:solidFill>
              <a:srgbClr val="92D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41" name="Text Box 24"/>
            <p:cNvSpPr txBox="1">
              <a:spLocks noChangeArrowheads="1"/>
            </p:cNvSpPr>
            <p:nvPr/>
          </p:nvSpPr>
          <p:spPr bwMode="auto">
            <a:xfrm>
              <a:off x="2763185" y="2405354"/>
              <a:ext cx="32252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dirty="0">
                  <a:solidFill>
                    <a:srgbClr val="0000FF"/>
                  </a:solidFill>
                  <a:latin typeface="微软雅黑" panose="020B0503020204020204" pitchFamily="34" charset="-122"/>
                  <a:ea typeface="微软雅黑" panose="020B0503020204020204" pitchFamily="34" charset="-122"/>
                </a:rPr>
                <a:t>C</a:t>
              </a:r>
            </a:p>
          </p:txBody>
        </p:sp>
        <p:sp>
          <p:nvSpPr>
            <p:cNvPr id="142" name="Text Box 24"/>
            <p:cNvSpPr txBox="1">
              <a:spLocks noChangeArrowheads="1"/>
            </p:cNvSpPr>
            <p:nvPr/>
          </p:nvSpPr>
          <p:spPr bwMode="auto">
            <a:xfrm>
              <a:off x="3842685" y="2405354"/>
              <a:ext cx="34657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D</a:t>
              </a:r>
            </a:p>
          </p:txBody>
        </p:sp>
        <p:sp>
          <p:nvSpPr>
            <p:cNvPr id="143" name="Text Box 24"/>
            <p:cNvSpPr txBox="1">
              <a:spLocks noChangeArrowheads="1"/>
            </p:cNvSpPr>
            <p:nvPr/>
          </p:nvSpPr>
          <p:spPr bwMode="auto">
            <a:xfrm>
              <a:off x="4861860" y="2405354"/>
              <a:ext cx="30168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E</a:t>
              </a:r>
            </a:p>
          </p:txBody>
        </p:sp>
        <p:sp>
          <p:nvSpPr>
            <p:cNvPr id="144" name="Text Box 24"/>
            <p:cNvSpPr txBox="1">
              <a:spLocks noChangeArrowheads="1"/>
            </p:cNvSpPr>
            <p:nvPr/>
          </p:nvSpPr>
          <p:spPr bwMode="auto">
            <a:xfrm>
              <a:off x="5879447" y="2405354"/>
              <a:ext cx="29848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1600" b="1">
                  <a:solidFill>
                    <a:srgbClr val="0000FF"/>
                  </a:solidFill>
                  <a:latin typeface="微软雅黑" panose="020B0503020204020204" pitchFamily="34" charset="-122"/>
                  <a:ea typeface="微软雅黑" panose="020B0503020204020204" pitchFamily="34" charset="-122"/>
                </a:rPr>
                <a:t>F</a:t>
              </a:r>
            </a:p>
          </p:txBody>
        </p:sp>
        <p:sp>
          <p:nvSpPr>
            <p:cNvPr id="145" name="Line 26"/>
            <p:cNvSpPr>
              <a:spLocks noChangeShapeType="1"/>
            </p:cNvSpPr>
            <p:nvPr/>
          </p:nvSpPr>
          <p:spPr bwMode="auto">
            <a:xfrm>
              <a:off x="1563035" y="2260529"/>
              <a:ext cx="5788025" cy="0"/>
            </a:xfrm>
            <a:prstGeom prst="line">
              <a:avLst/>
            </a:prstGeom>
            <a:noFill/>
            <a:ln w="38100">
              <a:solidFill>
                <a:srgbClr val="C0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n>
                  <a:solidFill>
                    <a:srgbClr val="0070C0"/>
                  </a:solidFill>
                </a:ln>
                <a:latin typeface="+mn-lt"/>
                <a:ea typeface="+mn-ea"/>
              </a:endParaRPr>
            </a:p>
          </p:txBody>
        </p:sp>
        <p:pic>
          <p:nvPicPr>
            <p:cNvPr id="146" name="图片 4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5210" y="2078477"/>
              <a:ext cx="5889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 name="图片 4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20885" y="2078477"/>
              <a:ext cx="5873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833487860"/>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lstStyle/>
          <a:p>
            <a:r>
              <a:rPr lang="en-US" altLang="zh-CN" dirty="0" smtClean="0"/>
              <a:t>1.3.2 </a:t>
            </a:r>
            <a:r>
              <a:rPr lang="zh-CN" altLang="en-US" dirty="0" smtClean="0"/>
              <a:t>互联网的核心部分</a:t>
            </a:r>
            <a:endParaRPr lang="zh-CN" altLang="en-US" dirty="0"/>
          </a:p>
        </p:txBody>
      </p:sp>
      <p:sp>
        <p:nvSpPr>
          <p:cNvPr id="2" name="内容占位符 1"/>
          <p:cNvSpPr>
            <a:spLocks noGrp="1"/>
          </p:cNvSpPr>
          <p:nvPr>
            <p:ph idx="1"/>
          </p:nvPr>
        </p:nvSpPr>
        <p:spPr/>
        <p:txBody>
          <a:bodyPr/>
          <a:lstStyle/>
          <a:p>
            <a:r>
              <a:rPr lang="zh-CN" altLang="en-US" b="1" dirty="0" smtClean="0"/>
              <a:t>电路交换的过程分为三个阶段：</a:t>
            </a:r>
            <a:endParaRPr lang="en-US" altLang="zh-CN" b="1" dirty="0" smtClean="0"/>
          </a:p>
          <a:p>
            <a:pPr lvl="1"/>
            <a:r>
              <a:rPr lang="zh-CN" altLang="en-US" b="1" dirty="0">
                <a:solidFill>
                  <a:srgbClr val="C00000"/>
                </a:solidFill>
              </a:rPr>
              <a:t>建立连接：</a:t>
            </a:r>
            <a:r>
              <a:rPr lang="zh-CN" altLang="en-US" b="1" dirty="0"/>
              <a:t>建立一条专用的物理通路（占用通信资源）。</a:t>
            </a:r>
            <a:endParaRPr lang="en-US" altLang="zh-CN" b="1" dirty="0"/>
          </a:p>
          <a:p>
            <a:pPr lvl="1"/>
            <a:r>
              <a:rPr lang="zh-CN" altLang="en-US" b="1" dirty="0">
                <a:solidFill>
                  <a:srgbClr val="C00000"/>
                </a:solidFill>
              </a:rPr>
              <a:t>通话：</a:t>
            </a:r>
            <a:r>
              <a:rPr lang="zh-CN" altLang="en-US" b="1" dirty="0"/>
              <a:t>主叫和被叫双方互相通电话（一直占用通信资源）。</a:t>
            </a:r>
          </a:p>
          <a:p>
            <a:pPr lvl="1"/>
            <a:r>
              <a:rPr lang="zh-CN" altLang="en-US" b="1" dirty="0">
                <a:solidFill>
                  <a:srgbClr val="C00000"/>
                </a:solidFill>
              </a:rPr>
              <a:t>释放连接：</a:t>
            </a:r>
            <a:r>
              <a:rPr lang="zh-CN" altLang="en-US" b="1" dirty="0"/>
              <a:t>释放刚才使用的专用的物理通路（归还通信资源）。</a:t>
            </a:r>
          </a:p>
          <a:p>
            <a:r>
              <a:rPr lang="zh-CN" altLang="en-US" b="1" dirty="0" smtClean="0"/>
              <a:t>电路交换</a:t>
            </a:r>
            <a:r>
              <a:rPr lang="zh-CN" altLang="en-US" b="1" dirty="0"/>
              <a:t>的一个重要特点就是在通话的全部时间内，通话的两个用户始终占用端到端的通信资源。</a:t>
            </a:r>
          </a:p>
        </p:txBody>
      </p:sp>
      <p:sp>
        <p:nvSpPr>
          <p:cNvPr id="8" name="圆角矩形 3"/>
          <p:cNvSpPr>
            <a:spLocks noChangeArrowheads="1"/>
          </p:cNvSpPr>
          <p:nvPr/>
        </p:nvSpPr>
        <p:spPr bwMode="auto">
          <a:xfrm>
            <a:off x="1631504" y="5429377"/>
            <a:ext cx="8719227" cy="1095967"/>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a:extLst/>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9" name="矩形 8"/>
          <p:cNvSpPr/>
          <p:nvPr/>
        </p:nvSpPr>
        <p:spPr>
          <a:xfrm>
            <a:off x="1847528" y="5582507"/>
            <a:ext cx="8322664" cy="759182"/>
          </a:xfrm>
          <a:prstGeom prst="rect">
            <a:avLst/>
          </a:prstGeom>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这种必须经过“建立连接（占用通信资源）、通话（一直占用通信资源）、释放连接（归还通信资源）”三个步骤的交换方式称为</a:t>
            </a:r>
            <a:r>
              <a:rPr lang="zh-CN" altLang="en-US" sz="2000" b="1" dirty="0">
                <a:solidFill>
                  <a:srgbClr val="FFFF00"/>
                </a:solidFill>
                <a:latin typeface="微软雅黑" panose="020B0503020204020204" pitchFamily="34" charset="-122"/>
                <a:ea typeface="微软雅黑" panose="020B0503020204020204" pitchFamily="34" charset="-122"/>
              </a:rPr>
              <a:t>电路交换。</a:t>
            </a:r>
          </a:p>
        </p:txBody>
      </p:sp>
    </p:spTree>
    <p:extLst>
      <p:ext uri="{BB962C8B-B14F-4D97-AF65-F5344CB8AC3E}">
        <p14:creationId xmlns:p14="http://schemas.microsoft.com/office/powerpoint/2010/main" val="30622064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lstStyle/>
          <a:p>
            <a:r>
              <a:rPr lang="en-US" altLang="zh-CN" dirty="0" smtClean="0"/>
              <a:t>1.3.2 </a:t>
            </a:r>
            <a:r>
              <a:rPr lang="zh-CN" altLang="en-US" dirty="0" smtClean="0"/>
              <a:t>互联网的核心部分</a:t>
            </a:r>
            <a:endParaRPr lang="zh-CN" altLang="en-US" dirty="0"/>
          </a:p>
        </p:txBody>
      </p:sp>
      <p:sp>
        <p:nvSpPr>
          <p:cNvPr id="2" name="内容占位符 1"/>
          <p:cNvSpPr>
            <a:spLocks noGrp="1"/>
          </p:cNvSpPr>
          <p:nvPr>
            <p:ph idx="1"/>
          </p:nvPr>
        </p:nvSpPr>
        <p:spPr/>
        <p:txBody>
          <a:bodyPr/>
          <a:lstStyle/>
          <a:p>
            <a:r>
              <a:rPr lang="zh-CN" altLang="en-US" b="1" dirty="0" smtClean="0"/>
              <a:t>计算机数据</a:t>
            </a:r>
            <a:r>
              <a:rPr lang="zh-CN" altLang="en-US" b="1" dirty="0"/>
              <a:t>具有</a:t>
            </a:r>
            <a:r>
              <a:rPr lang="zh-CN" altLang="en-US" b="1" dirty="0">
                <a:solidFill>
                  <a:srgbClr val="C00000"/>
                </a:solidFill>
              </a:rPr>
              <a:t>突发性</a:t>
            </a:r>
            <a:r>
              <a:rPr lang="zh-CN" altLang="en-US" b="1" dirty="0"/>
              <a:t>，这</a:t>
            </a:r>
            <a:r>
              <a:rPr lang="zh-CN" altLang="en-US" b="1" dirty="0" smtClean="0"/>
              <a:t>导致使用电路交换传送</a:t>
            </a:r>
            <a:r>
              <a:rPr lang="zh-CN" altLang="en-US" b="1" dirty="0"/>
              <a:t>数据时，通信线路的利用率很低，真正用来传送数据的时间往往不到 </a:t>
            </a:r>
            <a:r>
              <a:rPr lang="en-US" altLang="zh-CN" b="1" dirty="0"/>
              <a:t>10%</a:t>
            </a:r>
            <a:r>
              <a:rPr lang="zh-CN" altLang="en-US" b="1" dirty="0"/>
              <a:t>，甚至不到 </a:t>
            </a:r>
            <a:r>
              <a:rPr lang="en-US" altLang="zh-CN" b="1" dirty="0"/>
              <a:t>1</a:t>
            </a:r>
            <a:r>
              <a:rPr lang="en-US" altLang="zh-CN" b="1" dirty="0" smtClean="0"/>
              <a:t>%</a:t>
            </a:r>
            <a:r>
              <a:rPr lang="zh-CN" altLang="en-US" b="1" dirty="0" smtClean="0"/>
              <a:t>。已</a:t>
            </a:r>
            <a:r>
              <a:rPr lang="zh-CN" altLang="en-US" b="1" dirty="0"/>
              <a:t>被用户占用的通信线路资源在绝大部分时间里都是空闲的</a:t>
            </a:r>
            <a:r>
              <a:rPr lang="zh-CN" altLang="en-US" b="1" dirty="0" smtClean="0"/>
              <a:t>。</a:t>
            </a:r>
            <a:endParaRPr lang="en-US" altLang="zh-CN" b="1" dirty="0" smtClean="0"/>
          </a:p>
          <a:p>
            <a:r>
              <a:rPr lang="zh-CN" altLang="en-US" b="1" dirty="0" smtClean="0"/>
              <a:t>所以计算机网络不采用电路交换，而是采用</a:t>
            </a:r>
            <a:r>
              <a:rPr lang="zh-CN" altLang="en-US" b="1" dirty="0" smtClean="0">
                <a:solidFill>
                  <a:srgbClr val="C00000"/>
                </a:solidFill>
              </a:rPr>
              <a:t>分组交换</a:t>
            </a:r>
            <a:r>
              <a:rPr lang="zh-CN" altLang="en-US" b="1" dirty="0" smtClean="0"/>
              <a:t>。</a:t>
            </a:r>
            <a:endParaRPr lang="zh-CN" altLang="en-US" b="1" dirty="0"/>
          </a:p>
          <a:p>
            <a:endParaRPr lang="zh-CN" altLang="en-US" b="1" dirty="0"/>
          </a:p>
        </p:txBody>
      </p:sp>
    </p:spTree>
    <p:extLst>
      <p:ext uri="{BB962C8B-B14F-4D97-AF65-F5344CB8AC3E}">
        <p14:creationId xmlns:p14="http://schemas.microsoft.com/office/powerpoint/2010/main" val="1891039161"/>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lstStyle/>
          <a:p>
            <a:r>
              <a:rPr lang="en-US" altLang="zh-CN" dirty="0" smtClean="0"/>
              <a:t>1.3.2 </a:t>
            </a:r>
            <a:r>
              <a:rPr lang="zh-CN" altLang="en-US" dirty="0" smtClean="0"/>
              <a:t>互联网的核心部分</a:t>
            </a:r>
            <a:endParaRPr lang="zh-CN" altLang="en-US" dirty="0"/>
          </a:p>
        </p:txBody>
      </p:sp>
      <p:sp>
        <p:nvSpPr>
          <p:cNvPr id="2" name="内容占位符 1"/>
          <p:cNvSpPr>
            <a:spLocks noGrp="1"/>
          </p:cNvSpPr>
          <p:nvPr>
            <p:ph idx="1"/>
          </p:nvPr>
        </p:nvSpPr>
        <p:spPr/>
        <p:txBody>
          <a:bodyPr/>
          <a:lstStyle/>
          <a:p>
            <a:r>
              <a:rPr lang="zh-CN" altLang="en-US" b="1" dirty="0" smtClean="0"/>
              <a:t>把</a:t>
            </a:r>
            <a:r>
              <a:rPr lang="zh-CN" altLang="en-US" b="1" dirty="0"/>
              <a:t>要发送的整块数据称为一个</a:t>
            </a:r>
            <a:r>
              <a:rPr lang="zh-CN" altLang="en-US" b="1" dirty="0">
                <a:solidFill>
                  <a:srgbClr val="C00000"/>
                </a:solidFill>
              </a:rPr>
              <a:t>报文</a:t>
            </a:r>
            <a:r>
              <a:rPr lang="en-US" altLang="zh-CN" b="1" dirty="0"/>
              <a:t>(message)</a:t>
            </a:r>
            <a:r>
              <a:rPr lang="zh-CN" altLang="en-US" b="1" dirty="0"/>
              <a:t>。在发送报文之前，先把较长的报文划分成为一个个更小的等长</a:t>
            </a:r>
            <a:r>
              <a:rPr lang="zh-CN" altLang="en-US" b="1" dirty="0" smtClean="0"/>
              <a:t>数据段。在</a:t>
            </a:r>
            <a:r>
              <a:rPr lang="zh-CN" altLang="en-US" b="1" dirty="0"/>
              <a:t>每一个</a:t>
            </a:r>
            <a:r>
              <a:rPr lang="zh-CN" altLang="en-US" b="1" dirty="0" smtClean="0"/>
              <a:t>数据段</a:t>
            </a:r>
            <a:r>
              <a:rPr lang="zh-CN" altLang="en-US" b="1" dirty="0"/>
              <a:t>前面，加上一些由必要的控制信息组成的首部</a:t>
            </a:r>
            <a:r>
              <a:rPr lang="en-US" altLang="zh-CN" b="1" dirty="0"/>
              <a:t>(header)</a:t>
            </a:r>
            <a:r>
              <a:rPr lang="zh-CN" altLang="en-US" b="1" dirty="0"/>
              <a:t>后，就构成了一个</a:t>
            </a:r>
            <a:r>
              <a:rPr lang="zh-CN" altLang="en-US" b="1" dirty="0">
                <a:solidFill>
                  <a:srgbClr val="C00000"/>
                </a:solidFill>
              </a:rPr>
              <a:t>分组</a:t>
            </a:r>
            <a:r>
              <a:rPr lang="en-US" altLang="zh-CN" b="1" dirty="0"/>
              <a:t>(packet)</a:t>
            </a:r>
            <a:r>
              <a:rPr lang="zh-CN" altLang="en-US" b="1" dirty="0"/>
              <a:t>。</a:t>
            </a:r>
            <a:r>
              <a:rPr lang="zh-CN" altLang="en-US" b="1" dirty="0" smtClean="0">
                <a:solidFill>
                  <a:srgbClr val="C00000"/>
                </a:solidFill>
              </a:rPr>
              <a:t>分组</a:t>
            </a:r>
            <a:r>
              <a:rPr lang="zh-CN" altLang="en-US" b="1" dirty="0" smtClean="0"/>
              <a:t>是</a:t>
            </a:r>
            <a:r>
              <a:rPr lang="zh-CN" altLang="en-US" b="1" dirty="0"/>
              <a:t>在互联网中传送的</a:t>
            </a:r>
            <a:r>
              <a:rPr lang="zh-CN" altLang="en-US" b="1" dirty="0">
                <a:solidFill>
                  <a:srgbClr val="C00000"/>
                </a:solidFill>
              </a:rPr>
              <a:t>数据单元</a:t>
            </a:r>
            <a:r>
              <a:rPr lang="zh-CN" altLang="en-US" b="1" dirty="0" smtClean="0"/>
              <a:t>。</a:t>
            </a:r>
            <a:endParaRPr lang="en-US" altLang="zh-CN" b="1" dirty="0" smtClean="0"/>
          </a:p>
          <a:p>
            <a:r>
              <a:rPr lang="zh-CN" altLang="en-US" b="1" dirty="0"/>
              <a:t>发送</a:t>
            </a:r>
            <a:r>
              <a:rPr lang="zh-CN" altLang="en-US" b="1" dirty="0" smtClean="0"/>
              <a:t>端将所有分组</a:t>
            </a:r>
            <a:r>
              <a:rPr lang="zh-CN" altLang="en-US" b="1" dirty="0" smtClean="0">
                <a:solidFill>
                  <a:srgbClr val="C00000"/>
                </a:solidFill>
              </a:rPr>
              <a:t>连续地</a:t>
            </a:r>
            <a:r>
              <a:rPr lang="zh-CN" altLang="en-US" b="1" dirty="0" smtClean="0"/>
              <a:t>发送出去，直至发送完毕。</a:t>
            </a:r>
            <a:endParaRPr lang="en-US" altLang="zh-CN" b="1" dirty="0" smtClean="0"/>
          </a:p>
          <a:p>
            <a:endParaRPr lang="zh-CN" altLang="en-US" b="1" dirty="0"/>
          </a:p>
        </p:txBody>
      </p:sp>
    </p:spTree>
    <p:extLst>
      <p:ext uri="{BB962C8B-B14F-4D97-AF65-F5344CB8AC3E}">
        <p14:creationId xmlns:p14="http://schemas.microsoft.com/office/powerpoint/2010/main" val="828431215"/>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idx="1"/>
          </p:nvPr>
        </p:nvSpPr>
        <p:spPr/>
        <p:txBody>
          <a:bodyPr/>
          <a:lstStyle/>
          <a:p>
            <a:pPr eaLnBrk="1" hangingPunct="1"/>
            <a:r>
              <a:rPr lang="zh-CN" altLang="en-US" b="1" dirty="0" smtClean="0">
                <a:solidFill>
                  <a:srgbClr val="FF0000"/>
                </a:solidFill>
              </a:rPr>
              <a:t>分组</a:t>
            </a:r>
            <a:r>
              <a:rPr lang="zh-CN" altLang="en-US" b="1" dirty="0" smtClean="0"/>
              <a:t>交换 </a:t>
            </a:r>
            <a:r>
              <a:rPr lang="en-US" altLang="zh-CN" b="1" dirty="0" smtClean="0"/>
              <a:t>(</a:t>
            </a:r>
            <a:r>
              <a:rPr lang="en-US" altLang="zh-CN" b="1" dirty="0"/>
              <a:t>Packet Switching)</a:t>
            </a:r>
            <a:endParaRPr lang="zh-CN" altLang="en-US" b="1" dirty="0"/>
          </a:p>
        </p:txBody>
      </p:sp>
      <p:grpSp>
        <p:nvGrpSpPr>
          <p:cNvPr id="31747" name="Group 77"/>
          <p:cNvGrpSpPr>
            <a:grpSpLocks/>
          </p:cNvGrpSpPr>
          <p:nvPr/>
        </p:nvGrpSpPr>
        <p:grpSpPr bwMode="auto">
          <a:xfrm>
            <a:off x="3524252" y="2579390"/>
            <a:ext cx="5308600" cy="431800"/>
            <a:chOff x="1247" y="2206"/>
            <a:chExt cx="3344" cy="272"/>
          </a:xfrm>
        </p:grpSpPr>
        <p:grpSp>
          <p:nvGrpSpPr>
            <p:cNvPr id="31769" name="Group 75"/>
            <p:cNvGrpSpPr>
              <a:grpSpLocks/>
            </p:cNvGrpSpPr>
            <p:nvPr/>
          </p:nvGrpSpPr>
          <p:grpSpPr bwMode="auto">
            <a:xfrm>
              <a:off x="1247" y="2206"/>
              <a:ext cx="3266" cy="272"/>
              <a:chOff x="1247" y="2931"/>
              <a:chExt cx="3266" cy="272"/>
            </a:xfrm>
          </p:grpSpPr>
          <p:sp>
            <p:nvSpPr>
              <p:cNvPr id="31771" name="Rectangle 70"/>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ea typeface="黑体" pitchFamily="49" charset="-122"/>
                </a:endParaRPr>
              </a:p>
            </p:txBody>
          </p:sp>
          <p:sp>
            <p:nvSpPr>
              <p:cNvPr id="31772" name="Rectangle 71"/>
              <p:cNvSpPr>
                <a:spLocks noChangeArrowheads="1"/>
              </p:cNvSpPr>
              <p:nvPr/>
            </p:nvSpPr>
            <p:spPr bwMode="auto">
              <a:xfrm>
                <a:off x="2336" y="2931"/>
                <a:ext cx="1091"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latin typeface="Tahoma" pitchFamily="34" charset="0"/>
                  <a:ea typeface="黑体" pitchFamily="49" charset="-122"/>
                </a:endParaRPr>
              </a:p>
            </p:txBody>
          </p:sp>
          <p:sp>
            <p:nvSpPr>
              <p:cNvPr id="31773" name="Rectangle 72"/>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ea typeface="黑体" pitchFamily="49" charset="-122"/>
                </a:endParaRPr>
              </a:p>
            </p:txBody>
          </p:sp>
          <p:sp>
            <p:nvSpPr>
              <p:cNvPr id="31774" name="Rectangle 74"/>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solidFill>
                    <a:srgbClr val="666699"/>
                  </a:solidFill>
                </a:endParaRPr>
              </a:p>
            </p:txBody>
          </p:sp>
        </p:grpSp>
        <p:sp>
          <p:nvSpPr>
            <p:cNvPr id="31770" name="Text Box 76"/>
            <p:cNvSpPr txBox="1">
              <a:spLocks noChangeArrowheads="1"/>
            </p:cNvSpPr>
            <p:nvPr/>
          </p:nvSpPr>
          <p:spPr bwMode="auto">
            <a:xfrm>
              <a:off x="1275" y="2238"/>
              <a:ext cx="3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333399"/>
                  </a:solidFill>
                </a:rPr>
                <a:t>1101000110101010110101011100010011010010</a:t>
              </a:r>
            </a:p>
          </p:txBody>
        </p:sp>
      </p:grpSp>
      <p:sp>
        <p:nvSpPr>
          <p:cNvPr id="12" name="Rectangle 12"/>
          <p:cNvSpPr>
            <a:spLocks noChangeArrowheads="1"/>
          </p:cNvSpPr>
          <p:nvPr/>
        </p:nvSpPr>
        <p:spPr bwMode="auto">
          <a:xfrm>
            <a:off x="3527425" y="3800177"/>
            <a:ext cx="1727200" cy="431800"/>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13" name="Rectangle 13"/>
          <p:cNvSpPr>
            <a:spLocks noChangeArrowheads="1"/>
          </p:cNvSpPr>
          <p:nvPr/>
        </p:nvSpPr>
        <p:spPr bwMode="auto">
          <a:xfrm>
            <a:off x="5256213" y="3800177"/>
            <a:ext cx="1727200" cy="431800"/>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14" name="Rectangle 14"/>
          <p:cNvSpPr>
            <a:spLocks noChangeArrowheads="1"/>
          </p:cNvSpPr>
          <p:nvPr/>
        </p:nvSpPr>
        <p:spPr bwMode="auto">
          <a:xfrm>
            <a:off x="6985000" y="3800177"/>
            <a:ext cx="1727200" cy="431800"/>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grpSp>
        <p:nvGrpSpPr>
          <p:cNvPr id="4" name="Group 15"/>
          <p:cNvGrpSpPr>
            <a:grpSpLocks/>
          </p:cNvGrpSpPr>
          <p:nvPr/>
        </p:nvGrpSpPr>
        <p:grpSpPr bwMode="auto">
          <a:xfrm>
            <a:off x="3527425" y="3344564"/>
            <a:ext cx="5184775" cy="396875"/>
            <a:chOff x="1247" y="1737"/>
            <a:chExt cx="3266" cy="250"/>
          </a:xfrm>
        </p:grpSpPr>
        <p:sp>
          <p:nvSpPr>
            <p:cNvPr id="31767" name="Line 2"/>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solidFill>
                  <a:srgbClr val="666699"/>
                </a:solidFill>
              </a:endParaRPr>
            </a:p>
          </p:txBody>
        </p:sp>
        <p:sp>
          <p:nvSpPr>
            <p:cNvPr id="31768" name="Text Box 3"/>
            <p:cNvSpPr txBox="1">
              <a:spLocks noChangeArrowheads="1"/>
            </p:cNvSpPr>
            <p:nvPr/>
          </p:nvSpPr>
          <p:spPr bwMode="auto">
            <a:xfrm>
              <a:off x="2699" y="1737"/>
              <a:ext cx="436"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报文</a:t>
              </a:r>
            </a:p>
          </p:txBody>
        </p:sp>
      </p:grpSp>
      <p:sp>
        <p:nvSpPr>
          <p:cNvPr id="18" name="Rectangle 16"/>
          <p:cNvSpPr>
            <a:spLocks noChangeArrowheads="1"/>
          </p:cNvSpPr>
          <p:nvPr/>
        </p:nvSpPr>
        <p:spPr bwMode="auto">
          <a:xfrm>
            <a:off x="2951163" y="4763789"/>
            <a:ext cx="576262" cy="431800"/>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rgbClr val="F7F8FA"/>
                </a:solidFill>
                <a:latin typeface="Tahoma" pitchFamily="34" charset="0"/>
                <a:ea typeface="黑体" pitchFamily="49" charset="-122"/>
              </a:rPr>
              <a:t>首部</a:t>
            </a:r>
          </a:p>
        </p:txBody>
      </p:sp>
      <p:sp>
        <p:nvSpPr>
          <p:cNvPr id="19" name="Rectangle 19"/>
          <p:cNvSpPr>
            <a:spLocks noChangeArrowheads="1"/>
          </p:cNvSpPr>
          <p:nvPr/>
        </p:nvSpPr>
        <p:spPr bwMode="auto">
          <a:xfrm>
            <a:off x="4729163" y="5416252"/>
            <a:ext cx="576262" cy="431800"/>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rgbClr val="F7F8FA"/>
                </a:solidFill>
                <a:latin typeface="Tahoma" pitchFamily="34" charset="0"/>
                <a:ea typeface="黑体" pitchFamily="49" charset="-122"/>
              </a:rPr>
              <a:t>首部</a:t>
            </a:r>
          </a:p>
        </p:txBody>
      </p:sp>
      <p:sp>
        <p:nvSpPr>
          <p:cNvPr id="20" name="Rectangle 20"/>
          <p:cNvSpPr>
            <a:spLocks noChangeArrowheads="1"/>
          </p:cNvSpPr>
          <p:nvPr/>
        </p:nvSpPr>
        <p:spPr bwMode="auto">
          <a:xfrm>
            <a:off x="6407150" y="6165552"/>
            <a:ext cx="576263" cy="431800"/>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rgbClr val="F7F8FA"/>
                </a:solidFill>
                <a:latin typeface="Tahoma" pitchFamily="34" charset="0"/>
                <a:ea typeface="黑体" pitchFamily="49" charset="-122"/>
              </a:rPr>
              <a:t>首部</a:t>
            </a:r>
          </a:p>
        </p:txBody>
      </p:sp>
      <p:grpSp>
        <p:nvGrpSpPr>
          <p:cNvPr id="5" name="Group 25"/>
          <p:cNvGrpSpPr>
            <a:grpSpLocks/>
          </p:cNvGrpSpPr>
          <p:nvPr/>
        </p:nvGrpSpPr>
        <p:grpSpPr bwMode="auto">
          <a:xfrm>
            <a:off x="2949575" y="4192289"/>
            <a:ext cx="2303463" cy="481013"/>
            <a:chOff x="1973" y="2575"/>
            <a:chExt cx="1451" cy="303"/>
          </a:xfrm>
        </p:grpSpPr>
        <p:sp>
          <p:nvSpPr>
            <p:cNvPr id="31765" name="AutoShape 21"/>
            <p:cNvSpPr>
              <a:spLocks/>
            </p:cNvSpPr>
            <p:nvPr/>
          </p:nvSpPr>
          <p:spPr bwMode="auto">
            <a:xfrm rot="5400000">
              <a:off x="2654" y="2107"/>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solidFill>
                  <a:srgbClr val="666699"/>
                </a:solidFill>
              </a:endParaRPr>
            </a:p>
          </p:txBody>
        </p:sp>
        <p:sp>
          <p:nvSpPr>
            <p:cNvPr id="31766" name="Text Box 24"/>
            <p:cNvSpPr txBox="1">
              <a:spLocks noChangeArrowheads="1"/>
            </p:cNvSpPr>
            <p:nvPr/>
          </p:nvSpPr>
          <p:spPr bwMode="auto">
            <a:xfrm>
              <a:off x="2503" y="2575"/>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1</a:t>
              </a:r>
            </a:p>
          </p:txBody>
        </p:sp>
      </p:grpSp>
      <p:grpSp>
        <p:nvGrpSpPr>
          <p:cNvPr id="6" name="Group 26"/>
          <p:cNvGrpSpPr>
            <a:grpSpLocks/>
          </p:cNvGrpSpPr>
          <p:nvPr/>
        </p:nvGrpSpPr>
        <p:grpSpPr bwMode="auto">
          <a:xfrm>
            <a:off x="4729163" y="4901902"/>
            <a:ext cx="2303462" cy="514350"/>
            <a:chOff x="1973" y="2532"/>
            <a:chExt cx="1451" cy="308"/>
          </a:xfrm>
        </p:grpSpPr>
        <p:sp>
          <p:nvSpPr>
            <p:cNvPr id="31763" name="AutoShape 27"/>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solidFill>
                  <a:srgbClr val="666699"/>
                </a:solidFill>
              </a:endParaRPr>
            </a:p>
          </p:txBody>
        </p:sp>
        <p:sp>
          <p:nvSpPr>
            <p:cNvPr id="31764" name="Text Box 28"/>
            <p:cNvSpPr txBox="1">
              <a:spLocks noChangeArrowheads="1"/>
            </p:cNvSpPr>
            <p:nvPr/>
          </p:nvSpPr>
          <p:spPr bwMode="auto">
            <a:xfrm>
              <a:off x="2489" y="2532"/>
              <a:ext cx="5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grpSp>
        <p:nvGrpSpPr>
          <p:cNvPr id="7" name="Group 29"/>
          <p:cNvGrpSpPr>
            <a:grpSpLocks/>
          </p:cNvGrpSpPr>
          <p:nvPr/>
        </p:nvGrpSpPr>
        <p:grpSpPr bwMode="auto">
          <a:xfrm>
            <a:off x="6407150" y="5648027"/>
            <a:ext cx="2303463" cy="488950"/>
            <a:chOff x="1973" y="2532"/>
            <a:chExt cx="1451" cy="308"/>
          </a:xfrm>
        </p:grpSpPr>
        <p:sp>
          <p:nvSpPr>
            <p:cNvPr id="31761" name="AutoShape 3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solidFill>
                  <a:srgbClr val="666699"/>
                </a:solidFill>
              </a:endParaRPr>
            </a:p>
          </p:txBody>
        </p:sp>
        <p:sp>
          <p:nvSpPr>
            <p:cNvPr id="31762" name="Text Box 31"/>
            <p:cNvSpPr txBox="1">
              <a:spLocks noChangeArrowheads="1"/>
            </p:cNvSpPr>
            <p:nvPr/>
          </p:nvSpPr>
          <p:spPr bwMode="auto">
            <a:xfrm>
              <a:off x="2489" y="2532"/>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3</a:t>
              </a:r>
            </a:p>
          </p:txBody>
        </p:sp>
      </p:grpSp>
      <p:sp>
        <p:nvSpPr>
          <p:cNvPr id="30" name="Down Arrow 29"/>
          <p:cNvSpPr/>
          <p:nvPr/>
        </p:nvSpPr>
        <p:spPr>
          <a:xfrm>
            <a:off x="5881688" y="3082627"/>
            <a:ext cx="500062" cy="2857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31759" name="TextBox 30"/>
          <p:cNvSpPr txBox="1">
            <a:spLocks noChangeArrowheads="1"/>
          </p:cNvSpPr>
          <p:nvPr/>
        </p:nvSpPr>
        <p:spPr bwMode="auto">
          <a:xfrm>
            <a:off x="5595938" y="2120602"/>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a:solidFill>
                  <a:srgbClr val="FF0000"/>
                </a:solidFill>
              </a:rPr>
              <a:t>发送端</a:t>
            </a:r>
            <a:endParaRPr lang="en-US" altLang="zh-CN" sz="2400" b="1">
              <a:solidFill>
                <a:srgbClr val="FF0000"/>
              </a:solidFill>
            </a:endParaRPr>
          </a:p>
        </p:txBody>
      </p:sp>
      <p:sp>
        <p:nvSpPr>
          <p:cNvPr id="32"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Tree>
    <p:extLst>
      <p:ext uri="{BB962C8B-B14F-4D97-AF65-F5344CB8AC3E}">
        <p14:creationId xmlns:p14="http://schemas.microsoft.com/office/powerpoint/2010/main" val="588277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par>
                          <p:cTn id="7" fill="hold" nodeType="afterGroup">
                            <p:stCondLst>
                              <p:cond delay="0"/>
                            </p:stCondLst>
                            <p:childTnLst>
                              <p:par>
                                <p:cTn id="8" presetID="42" presetClass="path" presetSubtype="0" accel="50000" decel="50000" fill="hold" grpId="0" nodeType="afterEffect">
                                  <p:stCondLst>
                                    <p:cond delay="0"/>
                                  </p:stCondLst>
                                  <p:childTnLst>
                                    <p:animMotion origin="layout" path="M -0.00069 -0.00555 L -0.00486 0.13982 " pathEditMode="relative" rAng="0" ptsTypes="AA">
                                      <p:cBhvr>
                                        <p:cTn id="9" dur="1000" fill="hold"/>
                                        <p:tgtEl>
                                          <p:spTgt spid="12"/>
                                        </p:tgtEl>
                                        <p:attrNameLst>
                                          <p:attrName>ppt_x</p:attrName>
                                          <p:attrName>ppt_y</p:attrName>
                                        </p:attrNameLst>
                                      </p:cBhvr>
                                      <p:rCtr x="-208" y="7269"/>
                                    </p:animMotion>
                                  </p:childTnLst>
                                </p:cTn>
                              </p:par>
                            </p:childTnLst>
                          </p:cTn>
                        </p:par>
                        <p:par>
                          <p:cTn id="10" fill="hold" nodeType="afterGroup">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18"/>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nodeType="afterEffect">
                                  <p:stCondLst>
                                    <p:cond delay="500"/>
                                  </p:stCondLst>
                                  <p:childTnLst>
                                    <p:set>
                                      <p:cBhvr>
                                        <p:cTn id="15" dur="1" fill="hold">
                                          <p:stCondLst>
                                            <p:cond delay="0"/>
                                          </p:stCondLst>
                                        </p:cTn>
                                        <p:tgtEl>
                                          <p:spTgt spid="5"/>
                                        </p:tgtEl>
                                        <p:attrNameLst>
                                          <p:attrName>style.visibility</p:attrName>
                                        </p:attrNameLst>
                                      </p:cBhvr>
                                      <p:to>
                                        <p:strVal val="visible"/>
                                      </p:to>
                                    </p:set>
                                  </p:childTnLst>
                                </p:cTn>
                              </p:par>
                            </p:childTnLst>
                          </p:cTn>
                        </p:par>
                        <p:par>
                          <p:cTn id="16" fill="hold" nodeType="afterGroup">
                            <p:stCondLst>
                              <p:cond delay="2000"/>
                            </p:stCondLst>
                            <p:childTnLst>
                              <p:par>
                                <p:cTn id="17" presetID="42" presetClass="path" presetSubtype="0" accel="50000" decel="50000" fill="hold" grpId="0" nodeType="afterEffect">
                                  <p:stCondLst>
                                    <p:cond delay="500"/>
                                  </p:stCondLst>
                                  <p:childTnLst>
                                    <p:animMotion origin="layout" path="M -0.00277 -0.00185 L -0.00243 0.23611 " pathEditMode="relative" rAng="0" ptsTypes="AA">
                                      <p:cBhvr>
                                        <p:cTn id="18" dur="1000" fill="hold"/>
                                        <p:tgtEl>
                                          <p:spTgt spid="13"/>
                                        </p:tgtEl>
                                        <p:attrNameLst>
                                          <p:attrName>ppt_x</p:attrName>
                                          <p:attrName>ppt_y</p:attrName>
                                        </p:attrNameLst>
                                      </p:cBhvr>
                                      <p:rCtr x="17" y="11898"/>
                                    </p:animMotion>
                                  </p:childTnLst>
                                </p:cTn>
                              </p:par>
                            </p:childTnLst>
                          </p:cTn>
                        </p:par>
                        <p:par>
                          <p:cTn id="19" fill="hold" nodeType="afterGroup">
                            <p:stCondLst>
                              <p:cond delay="3500"/>
                            </p:stCondLst>
                            <p:childTnLst>
                              <p:par>
                                <p:cTn id="20" presetID="1" presetClass="entr" presetSubtype="0" fill="hold" grpId="0" nodeType="afterEffect">
                                  <p:stCondLst>
                                    <p:cond delay="5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nodeType="afterGroup">
                            <p:stCondLst>
                              <p:cond delay="4000"/>
                            </p:stCondLst>
                            <p:childTnLst>
                              <p:par>
                                <p:cTn id="23" presetID="1" presetClass="entr" presetSubtype="0" fill="hold" nodeType="afterEffect">
                                  <p:stCondLst>
                                    <p:cond delay="500"/>
                                  </p:stCondLst>
                                  <p:childTnLst>
                                    <p:set>
                                      <p:cBhvr>
                                        <p:cTn id="24" dur="1" fill="hold">
                                          <p:stCondLst>
                                            <p:cond delay="0"/>
                                          </p:stCondLst>
                                        </p:cTn>
                                        <p:tgtEl>
                                          <p:spTgt spid="6"/>
                                        </p:tgtEl>
                                        <p:attrNameLst>
                                          <p:attrName>style.visibility</p:attrName>
                                        </p:attrNameLst>
                                      </p:cBhvr>
                                      <p:to>
                                        <p:strVal val="visible"/>
                                      </p:to>
                                    </p:set>
                                  </p:childTnLst>
                                </p:cTn>
                              </p:par>
                            </p:childTnLst>
                          </p:cTn>
                        </p:par>
                        <p:par>
                          <p:cTn id="25" fill="hold" nodeType="afterGroup">
                            <p:stCondLst>
                              <p:cond delay="4500"/>
                            </p:stCondLst>
                            <p:childTnLst>
                              <p:par>
                                <p:cTn id="26" presetID="42" presetClass="path" presetSubtype="0" accel="50000" decel="50000" fill="hold" grpId="0" nodeType="afterEffect">
                                  <p:stCondLst>
                                    <p:cond delay="500"/>
                                  </p:stCondLst>
                                  <p:childTnLst>
                                    <p:animMotion origin="layout" path="M -2.5E-6 -1.96532E-6 L -2.5E-6 0.34613 " pathEditMode="relative" rAng="0" ptsTypes="AA">
                                      <p:cBhvr>
                                        <p:cTn id="27" dur="1000" fill="hold"/>
                                        <p:tgtEl>
                                          <p:spTgt spid="14"/>
                                        </p:tgtEl>
                                        <p:attrNameLst>
                                          <p:attrName>ppt_x</p:attrName>
                                          <p:attrName>ppt_y</p:attrName>
                                        </p:attrNameLst>
                                      </p:cBhvr>
                                      <p:rCtr x="0" y="17300"/>
                                    </p:animMotion>
                                  </p:childTnLst>
                                </p:cTn>
                              </p:par>
                            </p:childTnLst>
                          </p:cTn>
                        </p:par>
                        <p:par>
                          <p:cTn id="28" fill="hold" nodeType="afterGroup">
                            <p:stCondLst>
                              <p:cond delay="6000"/>
                            </p:stCondLst>
                            <p:childTnLst>
                              <p:par>
                                <p:cTn id="29" presetID="1" presetClass="entr" presetSubtype="0" fill="hold" grpId="0" nodeType="afterEffect">
                                  <p:stCondLst>
                                    <p:cond delay="500"/>
                                  </p:stCondLst>
                                  <p:childTnLst>
                                    <p:set>
                                      <p:cBhvr>
                                        <p:cTn id="30" dur="1" fill="hold">
                                          <p:stCondLst>
                                            <p:cond delay="0"/>
                                          </p:stCondLst>
                                        </p:cTn>
                                        <p:tgtEl>
                                          <p:spTgt spid="20"/>
                                        </p:tgtEl>
                                        <p:attrNameLst>
                                          <p:attrName>style.visibility</p:attrName>
                                        </p:attrNameLst>
                                      </p:cBhvr>
                                      <p:to>
                                        <p:strVal val="visible"/>
                                      </p:to>
                                    </p:set>
                                  </p:childTnLst>
                                </p:cTn>
                              </p:par>
                            </p:childTnLst>
                          </p:cTn>
                        </p:par>
                        <p:par>
                          <p:cTn id="31" fill="hold" nodeType="afterGroup">
                            <p:stCondLst>
                              <p:cond delay="6500"/>
                            </p:stCondLst>
                            <p:childTnLst>
                              <p:par>
                                <p:cTn id="32" presetID="1" presetClass="entr" presetSubtype="0" fill="hold" nodeType="afterEffect">
                                  <p:stCondLst>
                                    <p:cond delay="500"/>
                                  </p:stCondLst>
                                  <p:childTnLst>
                                    <p:set>
                                      <p:cBhvr>
                                        <p:cTn id="3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8" grpId="0" animBg="1"/>
      <p:bldP spid="19" grpId="0" animBg="1"/>
      <p:bldP spid="2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32770" name="Rectangle 3"/>
          <p:cNvSpPr>
            <a:spLocks noGrp="1" noChangeArrowheads="1"/>
          </p:cNvSpPr>
          <p:nvPr>
            <p:ph idx="1"/>
          </p:nvPr>
        </p:nvSpPr>
        <p:spPr/>
        <p:txBody>
          <a:bodyPr/>
          <a:lstStyle/>
          <a:p>
            <a:pPr eaLnBrk="1" hangingPunct="1"/>
            <a:r>
              <a:rPr lang="zh-CN" altLang="en-US" b="1" dirty="0" smtClean="0">
                <a:solidFill>
                  <a:srgbClr val="FF0000"/>
                </a:solidFill>
              </a:rPr>
              <a:t>分组</a:t>
            </a:r>
            <a:r>
              <a:rPr lang="zh-CN" altLang="en-US" b="1" dirty="0" smtClean="0"/>
              <a:t>交换 </a:t>
            </a:r>
            <a:r>
              <a:rPr lang="en-US" altLang="zh-CN" b="1" dirty="0" smtClean="0"/>
              <a:t>(</a:t>
            </a:r>
            <a:r>
              <a:rPr lang="en-US" altLang="zh-CN" b="1" dirty="0"/>
              <a:t>Packet Switching</a:t>
            </a:r>
            <a:r>
              <a:rPr lang="en-US" altLang="zh-CN" b="1" dirty="0" smtClean="0"/>
              <a:t>)</a:t>
            </a:r>
            <a:endParaRPr lang="zh-CN" altLang="en-US" b="1" dirty="0"/>
          </a:p>
        </p:txBody>
      </p:sp>
      <p:grpSp>
        <p:nvGrpSpPr>
          <p:cNvPr id="32771" name="Group 77"/>
          <p:cNvGrpSpPr>
            <a:grpSpLocks/>
          </p:cNvGrpSpPr>
          <p:nvPr/>
        </p:nvGrpSpPr>
        <p:grpSpPr bwMode="auto">
          <a:xfrm>
            <a:off x="3524251" y="2582217"/>
            <a:ext cx="5308600" cy="431800"/>
            <a:chOff x="1247" y="2206"/>
            <a:chExt cx="3344" cy="272"/>
          </a:xfrm>
        </p:grpSpPr>
        <p:grpSp>
          <p:nvGrpSpPr>
            <p:cNvPr id="32793" name="Group 75"/>
            <p:cNvGrpSpPr>
              <a:grpSpLocks/>
            </p:cNvGrpSpPr>
            <p:nvPr/>
          </p:nvGrpSpPr>
          <p:grpSpPr bwMode="auto">
            <a:xfrm>
              <a:off x="1247" y="2206"/>
              <a:ext cx="3266" cy="272"/>
              <a:chOff x="1247" y="2931"/>
              <a:chExt cx="3266" cy="272"/>
            </a:xfrm>
          </p:grpSpPr>
          <p:sp>
            <p:nvSpPr>
              <p:cNvPr id="32795" name="Rectangle 70"/>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ea typeface="黑体" pitchFamily="49" charset="-122"/>
                </a:endParaRPr>
              </a:p>
            </p:txBody>
          </p:sp>
          <p:sp>
            <p:nvSpPr>
              <p:cNvPr id="32796" name="Rectangle 71"/>
              <p:cNvSpPr>
                <a:spLocks noChangeArrowheads="1"/>
              </p:cNvSpPr>
              <p:nvPr/>
            </p:nvSpPr>
            <p:spPr bwMode="auto">
              <a:xfrm>
                <a:off x="2336" y="2931"/>
                <a:ext cx="1089"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latin typeface="Tahoma" pitchFamily="34" charset="0"/>
                  <a:ea typeface="黑体" pitchFamily="49" charset="-122"/>
                </a:endParaRPr>
              </a:p>
            </p:txBody>
          </p:sp>
          <p:sp>
            <p:nvSpPr>
              <p:cNvPr id="32797" name="Rectangle 72"/>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ea typeface="黑体" pitchFamily="49" charset="-122"/>
                </a:endParaRPr>
              </a:p>
            </p:txBody>
          </p:sp>
          <p:sp>
            <p:nvSpPr>
              <p:cNvPr id="32798" name="Rectangle 74"/>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grpSp>
        <p:sp>
          <p:nvSpPr>
            <p:cNvPr id="32794" name="Text Box 76"/>
            <p:cNvSpPr txBox="1">
              <a:spLocks noChangeArrowheads="1"/>
            </p:cNvSpPr>
            <p:nvPr/>
          </p:nvSpPr>
          <p:spPr bwMode="auto">
            <a:xfrm>
              <a:off x="1275" y="2237"/>
              <a:ext cx="3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333399"/>
                  </a:solidFill>
                </a:rPr>
                <a:t>1101000110101010110101011100010011010010</a:t>
              </a:r>
            </a:p>
          </p:txBody>
        </p:sp>
      </p:grpSp>
      <p:sp>
        <p:nvSpPr>
          <p:cNvPr id="30" name="Down Arrow 29"/>
          <p:cNvSpPr/>
          <p:nvPr/>
        </p:nvSpPr>
        <p:spPr>
          <a:xfrm>
            <a:off x="5881688" y="3085454"/>
            <a:ext cx="500062" cy="2857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4" name="Group 22"/>
          <p:cNvGrpSpPr>
            <a:grpSpLocks/>
          </p:cNvGrpSpPr>
          <p:nvPr/>
        </p:nvGrpSpPr>
        <p:grpSpPr bwMode="auto">
          <a:xfrm>
            <a:off x="2946502" y="4177361"/>
            <a:ext cx="2305050" cy="996950"/>
            <a:chOff x="884" y="2078"/>
            <a:chExt cx="1452" cy="628"/>
          </a:xfrm>
        </p:grpSpPr>
        <p:sp>
          <p:nvSpPr>
            <p:cNvPr id="32788" name="Rectangle 2"/>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32789" name="Rectangle 10"/>
            <p:cNvSpPr>
              <a:spLocks noChangeArrowheads="1"/>
            </p:cNvSpPr>
            <p:nvPr/>
          </p:nvSpPr>
          <p:spPr bwMode="auto">
            <a:xfrm>
              <a:off x="884" y="2434"/>
              <a:ext cx="363" cy="272"/>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chemeClr val="bg1"/>
                  </a:solidFill>
                  <a:latin typeface="Tahoma" pitchFamily="34" charset="0"/>
                  <a:ea typeface="黑体" pitchFamily="49" charset="-122"/>
                </a:rPr>
                <a:t>首部</a:t>
              </a:r>
            </a:p>
          </p:txBody>
        </p:sp>
        <p:grpSp>
          <p:nvGrpSpPr>
            <p:cNvPr id="32790" name="Group 13"/>
            <p:cNvGrpSpPr>
              <a:grpSpLocks/>
            </p:cNvGrpSpPr>
            <p:nvPr/>
          </p:nvGrpSpPr>
          <p:grpSpPr bwMode="auto">
            <a:xfrm>
              <a:off x="885" y="2078"/>
              <a:ext cx="1451" cy="308"/>
              <a:chOff x="1973" y="2532"/>
              <a:chExt cx="1451" cy="308"/>
            </a:xfrm>
          </p:grpSpPr>
          <p:sp>
            <p:nvSpPr>
              <p:cNvPr id="32791"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32792" name="Text Box 15"/>
              <p:cNvSpPr txBox="1">
                <a:spLocks noChangeArrowheads="1"/>
              </p:cNvSpPr>
              <p:nvPr/>
            </p:nvSpPr>
            <p:spPr bwMode="auto">
              <a:xfrm>
                <a:off x="2489" y="2532"/>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400">
                    <a:solidFill>
                      <a:srgbClr val="333399"/>
                    </a:solidFill>
                    <a:latin typeface="Tahoma" pitchFamily="34" charset="0"/>
                    <a:ea typeface="黑体" pitchFamily="49" charset="-122"/>
                  </a:rPr>
                  <a:t> </a:t>
                </a:r>
                <a:r>
                  <a:rPr lang="en-US" altLang="zh-CN" sz="2000">
                    <a:solidFill>
                      <a:srgbClr val="333399"/>
                    </a:solidFill>
                    <a:ea typeface="黑体" pitchFamily="49" charset="-122"/>
                  </a:rPr>
                  <a:t>1</a:t>
                </a:r>
              </a:p>
            </p:txBody>
          </p:sp>
        </p:grpSp>
      </p:grpSp>
      <p:grpSp>
        <p:nvGrpSpPr>
          <p:cNvPr id="6" name="Group 23"/>
          <p:cNvGrpSpPr>
            <a:grpSpLocks/>
          </p:cNvGrpSpPr>
          <p:nvPr/>
        </p:nvGrpSpPr>
        <p:grpSpPr bwMode="auto">
          <a:xfrm>
            <a:off x="4728642" y="4878587"/>
            <a:ext cx="2303462" cy="993775"/>
            <a:chOff x="1973" y="2623"/>
            <a:chExt cx="1451" cy="626"/>
          </a:xfrm>
        </p:grpSpPr>
        <p:sp>
          <p:nvSpPr>
            <p:cNvPr id="32783" name="Rectangle 3"/>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32784" name="Rectangle 11"/>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chemeClr val="bg1"/>
                  </a:solidFill>
                  <a:latin typeface="Tahoma" pitchFamily="34" charset="0"/>
                  <a:ea typeface="黑体" pitchFamily="49" charset="-122"/>
                </a:rPr>
                <a:t>首部</a:t>
              </a:r>
            </a:p>
          </p:txBody>
        </p:sp>
        <p:grpSp>
          <p:nvGrpSpPr>
            <p:cNvPr id="32785" name="Group 16"/>
            <p:cNvGrpSpPr>
              <a:grpSpLocks/>
            </p:cNvGrpSpPr>
            <p:nvPr/>
          </p:nvGrpSpPr>
          <p:grpSpPr bwMode="auto">
            <a:xfrm>
              <a:off x="1973" y="2623"/>
              <a:ext cx="1451" cy="308"/>
              <a:chOff x="1973" y="2532"/>
              <a:chExt cx="1451" cy="308"/>
            </a:xfrm>
          </p:grpSpPr>
          <p:sp>
            <p:nvSpPr>
              <p:cNvPr id="32786" name="AutoShape 17"/>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32787" name="Text Box 18"/>
              <p:cNvSpPr txBox="1">
                <a:spLocks noChangeArrowheads="1"/>
              </p:cNvSpPr>
              <p:nvPr/>
            </p:nvSpPr>
            <p:spPr bwMode="auto">
              <a:xfrm>
                <a:off x="2489" y="2532"/>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grpSp>
      <p:grpSp>
        <p:nvGrpSpPr>
          <p:cNvPr id="8" name="Group 24"/>
          <p:cNvGrpSpPr>
            <a:grpSpLocks/>
          </p:cNvGrpSpPr>
          <p:nvPr/>
        </p:nvGrpSpPr>
        <p:grpSpPr bwMode="auto">
          <a:xfrm>
            <a:off x="6412776" y="5635131"/>
            <a:ext cx="2309812" cy="981075"/>
            <a:chOff x="3061" y="3167"/>
            <a:chExt cx="1455" cy="618"/>
          </a:xfrm>
        </p:grpSpPr>
        <p:sp>
          <p:nvSpPr>
            <p:cNvPr id="32778" name="Rectangle 4"/>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32779" name="Rectangle 12"/>
            <p:cNvSpPr>
              <a:spLocks noChangeArrowheads="1"/>
            </p:cNvSpPr>
            <p:nvPr/>
          </p:nvSpPr>
          <p:spPr bwMode="auto">
            <a:xfrm>
              <a:off x="3061" y="3512"/>
              <a:ext cx="363" cy="272"/>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chemeClr val="bg1"/>
                  </a:solidFill>
                  <a:latin typeface="Tahoma" pitchFamily="34" charset="0"/>
                  <a:ea typeface="黑体" pitchFamily="49" charset="-122"/>
                </a:rPr>
                <a:t>首部</a:t>
              </a:r>
            </a:p>
          </p:txBody>
        </p:sp>
        <p:grpSp>
          <p:nvGrpSpPr>
            <p:cNvPr id="32780" name="Group 19"/>
            <p:cNvGrpSpPr>
              <a:grpSpLocks/>
            </p:cNvGrpSpPr>
            <p:nvPr/>
          </p:nvGrpSpPr>
          <p:grpSpPr bwMode="auto">
            <a:xfrm>
              <a:off x="3061" y="3167"/>
              <a:ext cx="1451" cy="308"/>
              <a:chOff x="1973" y="2532"/>
              <a:chExt cx="1451" cy="308"/>
            </a:xfrm>
          </p:grpSpPr>
          <p:sp>
            <p:nvSpPr>
              <p:cNvPr id="32781" name="AutoShape 20"/>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32782" name="Text Box 21"/>
              <p:cNvSpPr txBox="1">
                <a:spLocks noChangeArrowheads="1"/>
              </p:cNvSpPr>
              <p:nvPr/>
            </p:nvSpPr>
            <p:spPr bwMode="auto">
              <a:xfrm>
                <a:off x="2489" y="2532"/>
                <a:ext cx="5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200">
                    <a:solidFill>
                      <a:srgbClr val="333399"/>
                    </a:solidFill>
                    <a:ea typeface="黑体" pitchFamily="49" charset="-122"/>
                  </a:rPr>
                  <a:t> </a:t>
                </a:r>
                <a:r>
                  <a:rPr lang="en-US" altLang="zh-CN" sz="2000">
                    <a:solidFill>
                      <a:srgbClr val="333399"/>
                    </a:solidFill>
                    <a:ea typeface="黑体" pitchFamily="49" charset="-122"/>
                  </a:rPr>
                  <a:t>3</a:t>
                </a:r>
              </a:p>
            </p:txBody>
          </p:sp>
        </p:grpSp>
      </p:grpSp>
      <p:sp>
        <p:nvSpPr>
          <p:cNvPr id="32776" name="TextBox 48"/>
          <p:cNvSpPr txBox="1">
            <a:spLocks noChangeArrowheads="1"/>
          </p:cNvSpPr>
          <p:nvPr/>
        </p:nvSpPr>
        <p:spPr bwMode="auto">
          <a:xfrm>
            <a:off x="5595938" y="2123429"/>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FF0000"/>
                </a:solidFill>
              </a:rPr>
              <a:t>发送端</a:t>
            </a:r>
            <a:endParaRPr lang="en-US" altLang="zh-CN" sz="2400" b="1" dirty="0">
              <a:solidFill>
                <a:srgbClr val="FF0000"/>
              </a:solidFill>
            </a:endParaRPr>
          </a:p>
        </p:txBody>
      </p:sp>
    </p:spTree>
    <p:extLst>
      <p:ext uri="{BB962C8B-B14F-4D97-AF65-F5344CB8AC3E}">
        <p14:creationId xmlns:p14="http://schemas.microsoft.com/office/powerpoint/2010/main" val="42352559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nodeType="afterGroup">
                            <p:stCondLst>
                              <p:cond delay="0"/>
                            </p:stCondLst>
                            <p:childTnLst>
                              <p:par>
                                <p:cTn id="12" presetID="2" presetClass="exit" presetSubtype="8" fill="hold" nodeType="afterEffect">
                                  <p:stCondLst>
                                    <p:cond delay="500"/>
                                  </p:stCondLst>
                                  <p:childTnLst>
                                    <p:anim calcmode="lin" valueType="num">
                                      <p:cBhvr additive="base">
                                        <p:cTn id="13" dur="2000"/>
                                        <p:tgtEl>
                                          <p:spTgt spid="4"/>
                                        </p:tgtEl>
                                        <p:attrNameLst>
                                          <p:attrName>ppt_x</p:attrName>
                                        </p:attrNameLst>
                                      </p:cBhvr>
                                      <p:tavLst>
                                        <p:tav tm="0">
                                          <p:val>
                                            <p:strVal val="ppt_x"/>
                                          </p:val>
                                        </p:tav>
                                        <p:tav tm="100000">
                                          <p:val>
                                            <p:strVal val="0-ppt_w/2"/>
                                          </p:val>
                                        </p:tav>
                                      </p:tavLst>
                                    </p:anim>
                                    <p:anim calcmode="lin" valueType="num">
                                      <p:cBhvr additive="base">
                                        <p:cTn id="14" dur="2000"/>
                                        <p:tgtEl>
                                          <p:spTgt spid="4"/>
                                        </p:tgtEl>
                                        <p:attrNameLst>
                                          <p:attrName>ppt_y</p:attrName>
                                        </p:attrNameLst>
                                      </p:cBhvr>
                                      <p:tavLst>
                                        <p:tav tm="0">
                                          <p:val>
                                            <p:strVal val="ppt_y"/>
                                          </p:val>
                                        </p:tav>
                                        <p:tav tm="100000">
                                          <p:val>
                                            <p:strVal val="ppt_y"/>
                                          </p:val>
                                        </p:tav>
                                      </p:tavLst>
                                    </p:anim>
                                    <p:set>
                                      <p:cBhvr>
                                        <p:cTn id="15" dur="1" fill="hold">
                                          <p:stCondLst>
                                            <p:cond delay="1999"/>
                                          </p:stCondLst>
                                        </p:cTn>
                                        <p:tgtEl>
                                          <p:spTgt spid="4"/>
                                        </p:tgtEl>
                                        <p:attrNameLst>
                                          <p:attrName>style.visibility</p:attrName>
                                        </p:attrNameLst>
                                      </p:cBhvr>
                                      <p:to>
                                        <p:strVal val="hidden"/>
                                      </p:to>
                                    </p:set>
                                  </p:childTnLst>
                                </p:cTn>
                              </p:par>
                            </p:childTnLst>
                          </p:cTn>
                        </p:par>
                        <p:par>
                          <p:cTn id="16" fill="hold" nodeType="afterGroup">
                            <p:stCondLst>
                              <p:cond delay="2500"/>
                            </p:stCondLst>
                            <p:childTnLst>
                              <p:par>
                                <p:cTn id="17" presetID="2" presetClass="exit" presetSubtype="8" fill="hold" nodeType="afterEffect">
                                  <p:stCondLst>
                                    <p:cond delay="500"/>
                                  </p:stCondLst>
                                  <p:childTnLst>
                                    <p:anim calcmode="lin" valueType="num">
                                      <p:cBhvr additive="base">
                                        <p:cTn id="18" dur="2000"/>
                                        <p:tgtEl>
                                          <p:spTgt spid="6"/>
                                        </p:tgtEl>
                                        <p:attrNameLst>
                                          <p:attrName>ppt_x</p:attrName>
                                        </p:attrNameLst>
                                      </p:cBhvr>
                                      <p:tavLst>
                                        <p:tav tm="0">
                                          <p:val>
                                            <p:strVal val="ppt_x"/>
                                          </p:val>
                                        </p:tav>
                                        <p:tav tm="100000">
                                          <p:val>
                                            <p:strVal val="0-ppt_w/2"/>
                                          </p:val>
                                        </p:tav>
                                      </p:tavLst>
                                    </p:anim>
                                    <p:anim calcmode="lin" valueType="num">
                                      <p:cBhvr additive="base">
                                        <p:cTn id="19" dur="2000"/>
                                        <p:tgtEl>
                                          <p:spTgt spid="6"/>
                                        </p:tgtEl>
                                        <p:attrNameLst>
                                          <p:attrName>ppt_y</p:attrName>
                                        </p:attrNameLst>
                                      </p:cBhvr>
                                      <p:tavLst>
                                        <p:tav tm="0">
                                          <p:val>
                                            <p:strVal val="ppt_y"/>
                                          </p:val>
                                        </p:tav>
                                        <p:tav tm="100000">
                                          <p:val>
                                            <p:strVal val="ppt_y"/>
                                          </p:val>
                                        </p:tav>
                                      </p:tavLst>
                                    </p:anim>
                                    <p:set>
                                      <p:cBhvr>
                                        <p:cTn id="20" dur="1" fill="hold">
                                          <p:stCondLst>
                                            <p:cond delay="1999"/>
                                          </p:stCondLst>
                                        </p:cTn>
                                        <p:tgtEl>
                                          <p:spTgt spid="6"/>
                                        </p:tgtEl>
                                        <p:attrNameLst>
                                          <p:attrName>style.visibility</p:attrName>
                                        </p:attrNameLst>
                                      </p:cBhvr>
                                      <p:to>
                                        <p:strVal val="hidden"/>
                                      </p:to>
                                    </p:set>
                                  </p:childTnLst>
                                </p:cTn>
                              </p:par>
                            </p:childTnLst>
                          </p:cTn>
                        </p:par>
                        <p:par>
                          <p:cTn id="21" fill="hold" nodeType="afterGroup">
                            <p:stCondLst>
                              <p:cond delay="5000"/>
                            </p:stCondLst>
                            <p:childTnLst>
                              <p:par>
                                <p:cTn id="22" presetID="2" presetClass="exit" presetSubtype="8" fill="hold" nodeType="afterEffect">
                                  <p:stCondLst>
                                    <p:cond delay="500"/>
                                  </p:stCondLst>
                                  <p:childTnLst>
                                    <p:anim calcmode="lin" valueType="num">
                                      <p:cBhvr additive="base">
                                        <p:cTn id="23" dur="2000"/>
                                        <p:tgtEl>
                                          <p:spTgt spid="8"/>
                                        </p:tgtEl>
                                        <p:attrNameLst>
                                          <p:attrName>ppt_x</p:attrName>
                                        </p:attrNameLst>
                                      </p:cBhvr>
                                      <p:tavLst>
                                        <p:tav tm="0">
                                          <p:val>
                                            <p:strVal val="ppt_x"/>
                                          </p:val>
                                        </p:tav>
                                        <p:tav tm="100000">
                                          <p:val>
                                            <p:strVal val="0-ppt_w/2"/>
                                          </p:val>
                                        </p:tav>
                                      </p:tavLst>
                                    </p:anim>
                                    <p:anim calcmode="lin" valueType="num">
                                      <p:cBhvr additive="base">
                                        <p:cTn id="24" dur="2000"/>
                                        <p:tgtEl>
                                          <p:spTgt spid="8"/>
                                        </p:tgtEl>
                                        <p:attrNameLst>
                                          <p:attrName>ppt_y</p:attrName>
                                        </p:attrNameLst>
                                      </p:cBhvr>
                                      <p:tavLst>
                                        <p:tav tm="0">
                                          <p:val>
                                            <p:strVal val="ppt_y"/>
                                          </p:val>
                                        </p:tav>
                                        <p:tav tm="100000">
                                          <p:val>
                                            <p:strVal val="ppt_y"/>
                                          </p:val>
                                        </p:tav>
                                      </p:tavLst>
                                    </p:anim>
                                    <p:set>
                                      <p:cBhvr>
                                        <p:cTn id="25" dur="1" fill="hold">
                                          <p:stCondLst>
                                            <p:cond delay="1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idx="1"/>
          </p:nvPr>
        </p:nvSpPr>
        <p:spPr/>
        <p:txBody>
          <a:bodyPr/>
          <a:lstStyle/>
          <a:p>
            <a:pPr eaLnBrk="1" hangingPunct="1"/>
            <a:r>
              <a:rPr lang="zh-CN" altLang="en-US" b="1" dirty="0" smtClean="0">
                <a:solidFill>
                  <a:srgbClr val="FF0000"/>
                </a:solidFill>
              </a:rPr>
              <a:t>分组</a:t>
            </a:r>
            <a:r>
              <a:rPr lang="zh-CN" altLang="en-US" b="1" dirty="0" smtClean="0"/>
              <a:t>交换 </a:t>
            </a:r>
            <a:r>
              <a:rPr lang="en-US" altLang="zh-CN" b="1" dirty="0" smtClean="0"/>
              <a:t>(</a:t>
            </a:r>
            <a:r>
              <a:rPr lang="en-US" altLang="zh-CN" b="1" dirty="0"/>
              <a:t>Packet Switching</a:t>
            </a:r>
            <a:r>
              <a:rPr lang="en-US" altLang="zh-CN" b="1" dirty="0" smtClean="0"/>
              <a:t>)</a:t>
            </a:r>
            <a:endParaRPr lang="zh-CN" altLang="en-US" b="1" dirty="0"/>
          </a:p>
        </p:txBody>
      </p:sp>
      <p:grpSp>
        <p:nvGrpSpPr>
          <p:cNvPr id="2" name="Group 77"/>
          <p:cNvGrpSpPr>
            <a:grpSpLocks/>
          </p:cNvGrpSpPr>
          <p:nvPr/>
        </p:nvGrpSpPr>
        <p:grpSpPr bwMode="auto">
          <a:xfrm>
            <a:off x="3260725" y="5877272"/>
            <a:ext cx="5264150" cy="431800"/>
            <a:chOff x="1202" y="2206"/>
            <a:chExt cx="3316" cy="272"/>
          </a:xfrm>
        </p:grpSpPr>
        <p:grpSp>
          <p:nvGrpSpPr>
            <p:cNvPr id="33814" name="Group 75"/>
            <p:cNvGrpSpPr>
              <a:grpSpLocks/>
            </p:cNvGrpSpPr>
            <p:nvPr/>
          </p:nvGrpSpPr>
          <p:grpSpPr bwMode="auto">
            <a:xfrm>
              <a:off x="1247" y="2206"/>
              <a:ext cx="3266" cy="272"/>
              <a:chOff x="1247" y="2931"/>
              <a:chExt cx="3266" cy="272"/>
            </a:xfrm>
          </p:grpSpPr>
          <p:sp>
            <p:nvSpPr>
              <p:cNvPr id="33816" name="Rectangle 70"/>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ea typeface="黑体" pitchFamily="49" charset="-122"/>
                </a:endParaRPr>
              </a:p>
            </p:txBody>
          </p:sp>
          <p:sp>
            <p:nvSpPr>
              <p:cNvPr id="33817" name="Rectangle 71"/>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latin typeface="Tahoma" pitchFamily="34" charset="0"/>
                  <a:ea typeface="黑体" pitchFamily="49" charset="-122"/>
                </a:endParaRPr>
              </a:p>
            </p:txBody>
          </p:sp>
          <p:sp>
            <p:nvSpPr>
              <p:cNvPr id="33818" name="Rectangle 72"/>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algn="ctr" eaLnBrk="1" hangingPunct="1"/>
                <a:endParaRPr lang="en-US" altLang="zh-CN" sz="2000">
                  <a:solidFill>
                    <a:srgbClr val="333399"/>
                  </a:solidFill>
                  <a:ea typeface="黑体" pitchFamily="49" charset="-122"/>
                </a:endParaRPr>
              </a:p>
            </p:txBody>
          </p:sp>
          <p:sp>
            <p:nvSpPr>
              <p:cNvPr id="33819" name="Rectangle 74"/>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grpSp>
        <p:sp>
          <p:nvSpPr>
            <p:cNvPr id="33815" name="Text Box 76"/>
            <p:cNvSpPr txBox="1">
              <a:spLocks noChangeArrowheads="1"/>
            </p:cNvSpPr>
            <p:nvPr/>
          </p:nvSpPr>
          <p:spPr bwMode="auto">
            <a:xfrm>
              <a:off x="1202" y="2206"/>
              <a:ext cx="3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dirty="0">
                  <a:solidFill>
                    <a:srgbClr val="333399"/>
                  </a:solidFill>
                </a:rPr>
                <a:t>1101000110101010110101011100010011010010</a:t>
              </a:r>
            </a:p>
          </p:txBody>
        </p:sp>
      </p:grpSp>
      <p:sp>
        <p:nvSpPr>
          <p:cNvPr id="30" name="Down Arrow 29"/>
          <p:cNvSpPr/>
          <p:nvPr/>
        </p:nvSpPr>
        <p:spPr>
          <a:xfrm>
            <a:off x="5524500" y="5517232"/>
            <a:ext cx="500063" cy="2857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1" name="Rectangle 5"/>
          <p:cNvSpPr>
            <a:spLocks noChangeArrowheads="1"/>
          </p:cNvSpPr>
          <p:nvPr/>
        </p:nvSpPr>
        <p:spPr bwMode="auto">
          <a:xfrm>
            <a:off x="3314700" y="2352675"/>
            <a:ext cx="1727200" cy="431800"/>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34" name="Rectangle 6"/>
          <p:cNvSpPr>
            <a:spLocks noChangeArrowheads="1"/>
          </p:cNvSpPr>
          <p:nvPr/>
        </p:nvSpPr>
        <p:spPr bwMode="auto">
          <a:xfrm>
            <a:off x="2738438" y="2352675"/>
            <a:ext cx="576262" cy="431800"/>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chemeClr val="bg1"/>
                </a:solidFill>
                <a:latin typeface="Tahoma" pitchFamily="34" charset="0"/>
                <a:ea typeface="黑体" pitchFamily="49" charset="-122"/>
              </a:rPr>
              <a:t>首部</a:t>
            </a:r>
          </a:p>
        </p:txBody>
      </p:sp>
      <p:grpSp>
        <p:nvGrpSpPr>
          <p:cNvPr id="4" name="Group 7"/>
          <p:cNvGrpSpPr>
            <a:grpSpLocks/>
          </p:cNvGrpSpPr>
          <p:nvPr/>
        </p:nvGrpSpPr>
        <p:grpSpPr bwMode="auto">
          <a:xfrm>
            <a:off x="2740025" y="1790700"/>
            <a:ext cx="2303463" cy="488950"/>
            <a:chOff x="1973" y="2532"/>
            <a:chExt cx="1451" cy="308"/>
          </a:xfrm>
        </p:grpSpPr>
        <p:sp>
          <p:nvSpPr>
            <p:cNvPr id="33812" name="AutoShape 8"/>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33813" name="Text Box 9"/>
            <p:cNvSpPr txBox="1">
              <a:spLocks noChangeArrowheads="1"/>
            </p:cNvSpPr>
            <p:nvPr/>
          </p:nvSpPr>
          <p:spPr bwMode="auto">
            <a:xfrm>
              <a:off x="2489" y="2532"/>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1</a:t>
              </a:r>
            </a:p>
          </p:txBody>
        </p:sp>
      </p:grpSp>
      <p:sp>
        <p:nvSpPr>
          <p:cNvPr id="46" name="Rectangle 11"/>
          <p:cNvSpPr>
            <a:spLocks noChangeArrowheads="1"/>
          </p:cNvSpPr>
          <p:nvPr/>
        </p:nvSpPr>
        <p:spPr bwMode="auto">
          <a:xfrm>
            <a:off x="5043488" y="3217863"/>
            <a:ext cx="1727200" cy="431800"/>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49" name="Rectangle 12"/>
          <p:cNvSpPr>
            <a:spLocks noChangeArrowheads="1"/>
          </p:cNvSpPr>
          <p:nvPr/>
        </p:nvSpPr>
        <p:spPr bwMode="auto">
          <a:xfrm>
            <a:off x="4467225" y="3217863"/>
            <a:ext cx="576263" cy="431800"/>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chemeClr val="bg1"/>
                </a:solidFill>
                <a:latin typeface="Tahoma" pitchFamily="34" charset="0"/>
                <a:ea typeface="黑体" pitchFamily="49" charset="-122"/>
              </a:rPr>
              <a:t>首部</a:t>
            </a:r>
          </a:p>
        </p:txBody>
      </p:sp>
      <p:grpSp>
        <p:nvGrpSpPr>
          <p:cNvPr id="5" name="Group 13"/>
          <p:cNvGrpSpPr>
            <a:grpSpLocks/>
          </p:cNvGrpSpPr>
          <p:nvPr/>
        </p:nvGrpSpPr>
        <p:grpSpPr bwMode="auto">
          <a:xfrm>
            <a:off x="4467225" y="2655888"/>
            <a:ext cx="2303463" cy="488950"/>
            <a:chOff x="1973" y="2532"/>
            <a:chExt cx="1451" cy="308"/>
          </a:xfrm>
        </p:grpSpPr>
        <p:sp>
          <p:nvSpPr>
            <p:cNvPr id="33810" name="AutoShape 14"/>
            <p:cNvSpPr>
              <a:spLocks/>
            </p:cNvSpPr>
            <p:nvPr/>
          </p:nvSpPr>
          <p:spPr bwMode="auto">
            <a:xfrm rot="5400000">
              <a:off x="2654" y="2069"/>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33811" name="Text Box 15"/>
            <p:cNvSpPr txBox="1">
              <a:spLocks noChangeArrowheads="1"/>
            </p:cNvSpPr>
            <p:nvPr/>
          </p:nvSpPr>
          <p:spPr bwMode="auto">
            <a:xfrm>
              <a:off x="2489" y="2532"/>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2</a:t>
              </a:r>
            </a:p>
          </p:txBody>
        </p:sp>
      </p:grpSp>
      <p:sp>
        <p:nvSpPr>
          <p:cNvPr id="53" name="Rectangle 17"/>
          <p:cNvSpPr>
            <a:spLocks noChangeArrowheads="1"/>
          </p:cNvSpPr>
          <p:nvPr/>
        </p:nvSpPr>
        <p:spPr bwMode="auto">
          <a:xfrm>
            <a:off x="6777038" y="4068763"/>
            <a:ext cx="1727200" cy="431800"/>
          </a:xfrm>
          <a:prstGeom prst="rect">
            <a:avLst/>
          </a:prstGeom>
          <a:solidFill>
            <a:srgbClr val="CCECFF"/>
          </a:solidFill>
          <a:ln w="28575">
            <a:solidFill>
              <a:schemeClr val="tx1"/>
            </a:solidFill>
            <a:miter lim="800000"/>
            <a:headEnd/>
            <a:tailEnd/>
          </a:ln>
        </p:spPr>
        <p:txBody>
          <a:bodyPr wrap="none" anchor="ctr"/>
          <a:lstStyle/>
          <a:p>
            <a:pPr algn="ctr" eaLnBrk="1" hangingPunct="1"/>
            <a:r>
              <a:rPr lang="zh-CN" altLang="en-US" sz="2000">
                <a:solidFill>
                  <a:srgbClr val="333399"/>
                </a:solidFill>
                <a:latin typeface="Tahoma" pitchFamily="34" charset="0"/>
                <a:ea typeface="黑体" pitchFamily="49" charset="-122"/>
              </a:rPr>
              <a:t>数     据</a:t>
            </a:r>
          </a:p>
        </p:txBody>
      </p:sp>
      <p:sp>
        <p:nvSpPr>
          <p:cNvPr id="54" name="Rectangle 18"/>
          <p:cNvSpPr>
            <a:spLocks noChangeArrowheads="1"/>
          </p:cNvSpPr>
          <p:nvPr/>
        </p:nvSpPr>
        <p:spPr bwMode="auto">
          <a:xfrm>
            <a:off x="6194425" y="4067175"/>
            <a:ext cx="576263" cy="431800"/>
          </a:xfrm>
          <a:prstGeom prst="rect">
            <a:avLst/>
          </a:prstGeom>
          <a:solidFill>
            <a:schemeClr val="accent2"/>
          </a:solidFill>
          <a:ln w="28575">
            <a:solidFill>
              <a:schemeClr val="tx1"/>
            </a:solidFill>
            <a:miter lim="800000"/>
            <a:headEnd/>
            <a:tailEnd/>
          </a:ln>
        </p:spPr>
        <p:txBody>
          <a:bodyPr wrap="none" anchor="ctr"/>
          <a:lstStyle/>
          <a:p>
            <a:pPr algn="ctr" eaLnBrk="1" hangingPunct="1"/>
            <a:r>
              <a:rPr lang="zh-CN" altLang="en-US" sz="2000" dirty="0">
                <a:solidFill>
                  <a:schemeClr val="bg1"/>
                </a:solidFill>
                <a:latin typeface="Tahoma" pitchFamily="34" charset="0"/>
                <a:ea typeface="黑体" pitchFamily="49" charset="-122"/>
              </a:rPr>
              <a:t>首部</a:t>
            </a:r>
          </a:p>
        </p:txBody>
      </p:sp>
      <p:grpSp>
        <p:nvGrpSpPr>
          <p:cNvPr id="6" name="Group 31"/>
          <p:cNvGrpSpPr>
            <a:grpSpLocks/>
          </p:cNvGrpSpPr>
          <p:nvPr/>
        </p:nvGrpSpPr>
        <p:grpSpPr bwMode="auto">
          <a:xfrm>
            <a:off x="6194425" y="3519488"/>
            <a:ext cx="2303463" cy="488950"/>
            <a:chOff x="3061" y="2668"/>
            <a:chExt cx="1451" cy="308"/>
          </a:xfrm>
        </p:grpSpPr>
        <p:sp>
          <p:nvSpPr>
            <p:cNvPr id="33808" name="AutoShape 20"/>
            <p:cNvSpPr>
              <a:spLocks/>
            </p:cNvSpPr>
            <p:nvPr/>
          </p:nvSpPr>
          <p:spPr bwMode="auto">
            <a:xfrm rot="5400000">
              <a:off x="3742" y="2205"/>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en-US" altLang="zh-CN"/>
            </a:p>
          </p:txBody>
        </p:sp>
        <p:sp>
          <p:nvSpPr>
            <p:cNvPr id="33809" name="Text Box 21"/>
            <p:cNvSpPr txBox="1">
              <a:spLocks noChangeArrowheads="1"/>
            </p:cNvSpPr>
            <p:nvPr/>
          </p:nvSpPr>
          <p:spPr bwMode="auto">
            <a:xfrm>
              <a:off x="3577" y="2668"/>
              <a:ext cx="5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000">
                  <a:solidFill>
                    <a:srgbClr val="333399"/>
                  </a:solidFill>
                  <a:latin typeface="Tahoma" pitchFamily="34" charset="0"/>
                  <a:ea typeface="黑体" pitchFamily="49" charset="-122"/>
                </a:rPr>
                <a:t>分组</a:t>
              </a:r>
              <a:r>
                <a:rPr lang="zh-CN" altLang="en-US" sz="1000">
                  <a:solidFill>
                    <a:srgbClr val="333399"/>
                  </a:solidFill>
                  <a:ea typeface="黑体" pitchFamily="49" charset="-122"/>
                </a:rPr>
                <a:t> </a:t>
              </a:r>
              <a:r>
                <a:rPr lang="en-US" altLang="zh-CN" sz="2000">
                  <a:solidFill>
                    <a:srgbClr val="333399"/>
                  </a:solidFill>
                  <a:ea typeface="黑体" pitchFamily="49" charset="-122"/>
                </a:rPr>
                <a:t>3</a:t>
              </a:r>
            </a:p>
          </p:txBody>
        </p:sp>
      </p:grpSp>
      <p:sp>
        <p:nvSpPr>
          <p:cNvPr id="33806" name="TextBox 26"/>
          <p:cNvSpPr txBox="1">
            <a:spLocks noChangeArrowheads="1"/>
          </p:cNvSpPr>
          <p:nvPr/>
        </p:nvSpPr>
        <p:spPr bwMode="auto">
          <a:xfrm>
            <a:off x="5595938" y="2102941"/>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FF0000"/>
                </a:solidFill>
              </a:rPr>
              <a:t>接收端</a:t>
            </a:r>
            <a:endParaRPr lang="en-US" altLang="zh-CN" sz="2400" b="1" dirty="0">
              <a:solidFill>
                <a:srgbClr val="FF0000"/>
              </a:solidFill>
            </a:endParaRPr>
          </a:p>
        </p:txBody>
      </p:sp>
      <p:sp>
        <p:nvSpPr>
          <p:cNvPr id="29"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grpSp>
        <p:nvGrpSpPr>
          <p:cNvPr id="7" name="组合 6"/>
          <p:cNvGrpSpPr/>
          <p:nvPr/>
        </p:nvGrpSpPr>
        <p:grpSpPr>
          <a:xfrm>
            <a:off x="7320136" y="2370577"/>
            <a:ext cx="4464496" cy="978864"/>
            <a:chOff x="7030635" y="2854325"/>
            <a:chExt cx="4897669" cy="1454004"/>
          </a:xfrm>
        </p:grpSpPr>
        <p:sp>
          <p:nvSpPr>
            <p:cNvPr id="32" name="圆角矩形 3"/>
            <p:cNvSpPr>
              <a:spLocks noChangeArrowheads="1"/>
            </p:cNvSpPr>
            <p:nvPr/>
          </p:nvSpPr>
          <p:spPr bwMode="auto">
            <a:xfrm>
              <a:off x="7030635" y="2854325"/>
              <a:ext cx="4897669" cy="1454004"/>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a:extLst/>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3" name="TextBox 2"/>
            <p:cNvSpPr txBox="1"/>
            <p:nvPr/>
          </p:nvSpPr>
          <p:spPr>
            <a:xfrm>
              <a:off x="7218040" y="2946856"/>
              <a:ext cx="4646400" cy="1234362"/>
            </a:xfrm>
            <a:prstGeom prst="rect">
              <a:avLst/>
            </a:prstGeom>
            <a:noFill/>
          </p:spPr>
          <p:txBody>
            <a:bodyPr wrap="square" rtlCol="0">
              <a:spAutoFit/>
            </a:bodyPr>
            <a:lstStyle/>
            <a:p>
              <a:r>
                <a:rPr lang="zh-CN" altLang="en-US" sz="2400" b="1" dirty="0">
                  <a:solidFill>
                    <a:schemeClr val="bg1"/>
                  </a:solidFill>
                  <a:latin typeface="微软雅黑" pitchFamily="34" charset="-122"/>
                  <a:ea typeface="微软雅黑" pitchFamily="34" charset="-122"/>
                </a:rPr>
                <a:t>接收端收到分组后</a:t>
              </a:r>
              <a:r>
                <a:rPr lang="zh-CN" altLang="en-US" sz="2400" b="1" dirty="0">
                  <a:solidFill>
                    <a:srgbClr val="FFFF00"/>
                  </a:solidFill>
                  <a:latin typeface="微软雅黑" pitchFamily="34" charset="-122"/>
                  <a:ea typeface="微软雅黑" pitchFamily="34" charset="-122"/>
                </a:rPr>
                <a:t>剥去</a:t>
              </a:r>
              <a:r>
                <a:rPr lang="zh-CN" altLang="en-US" sz="2400" b="1" dirty="0">
                  <a:solidFill>
                    <a:schemeClr val="bg1"/>
                  </a:solidFill>
                  <a:latin typeface="微软雅黑" pitchFamily="34" charset="-122"/>
                  <a:ea typeface="微软雅黑" pitchFamily="34" charset="-122"/>
                </a:rPr>
                <a:t>首部，</a:t>
              </a:r>
              <a:r>
                <a:rPr lang="zh-CN" altLang="en-US" sz="2400" b="1" dirty="0">
                  <a:solidFill>
                    <a:srgbClr val="FFFF00"/>
                  </a:solidFill>
                  <a:latin typeface="微软雅黑" pitchFamily="34" charset="-122"/>
                  <a:ea typeface="微软雅黑" pitchFamily="34" charset="-122"/>
                </a:rPr>
                <a:t>还原</a:t>
              </a:r>
              <a:r>
                <a:rPr lang="zh-CN" altLang="en-US" sz="2400" b="1" dirty="0">
                  <a:solidFill>
                    <a:schemeClr val="bg1"/>
                  </a:solidFill>
                  <a:latin typeface="微软雅黑" pitchFamily="34" charset="-122"/>
                  <a:ea typeface="微软雅黑" pitchFamily="34" charset="-122"/>
                </a:rPr>
                <a:t>成原来的</a:t>
              </a:r>
              <a:r>
                <a:rPr lang="zh-CN" altLang="en-US" sz="2400" b="1" dirty="0" smtClean="0">
                  <a:solidFill>
                    <a:schemeClr val="bg1"/>
                  </a:solidFill>
                  <a:latin typeface="微软雅黑" pitchFamily="34" charset="-122"/>
                  <a:ea typeface="微软雅黑" pitchFamily="34" charset="-122"/>
                </a:rPr>
                <a:t>报文</a:t>
              </a:r>
              <a:endParaRPr lang="zh-CN" altLang="en-US" sz="2400" dirty="0"/>
            </a:p>
          </p:txBody>
        </p:sp>
      </p:grpSp>
      <p:sp>
        <p:nvSpPr>
          <p:cNvPr id="35" name="矩形 34"/>
          <p:cNvSpPr/>
          <p:nvPr/>
        </p:nvSpPr>
        <p:spPr>
          <a:xfrm>
            <a:off x="356477" y="3349441"/>
            <a:ext cx="2670091" cy="1569660"/>
          </a:xfrm>
          <a:prstGeom prst="rect">
            <a:avLst/>
          </a:prstGeom>
          <a:solidFill>
            <a:srgbClr val="FFFFCC"/>
          </a:solidFill>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sz="2400" b="1" dirty="0">
                <a:solidFill>
                  <a:srgbClr val="1C1C1C"/>
                </a:solidFill>
                <a:latin typeface="微软雅黑" panose="020B0503020204020204" pitchFamily="34" charset="-122"/>
                <a:ea typeface="微软雅黑" panose="020B0503020204020204" pitchFamily="34" charset="-122"/>
              </a:rPr>
              <a:t>假定分组在传输过程中没有出现差错，在转发时也没有被丢弃。</a:t>
            </a:r>
          </a:p>
        </p:txBody>
      </p:sp>
    </p:spTree>
    <p:extLst>
      <p:ext uri="{BB962C8B-B14F-4D97-AF65-F5344CB8AC3E}">
        <p14:creationId xmlns:p14="http://schemas.microsoft.com/office/powerpoint/2010/main" val="16456347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1"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1+#ppt_w/2"/>
                                          </p:val>
                                        </p:tav>
                                        <p:tav tm="100000">
                                          <p:val>
                                            <p:strVal val="#ppt_x"/>
                                          </p:val>
                                        </p:tav>
                                      </p:tavLst>
                                    </p:anim>
                                    <p:anim calcmode="lin" valueType="num">
                                      <p:cBhvr additive="base">
                                        <p:cTn id="8" dur="500" fill="hold"/>
                                        <p:tgtEl>
                                          <p:spTgt spid="34"/>
                                        </p:tgtEl>
                                        <p:attrNameLst>
                                          <p:attrName>ppt_y</p:attrName>
                                        </p:attrNameLst>
                                      </p:cBhvr>
                                      <p:tavLst>
                                        <p:tav tm="0">
                                          <p:val>
                                            <p:strVal val="#ppt_y"/>
                                          </p:val>
                                        </p:tav>
                                        <p:tav tm="100000">
                                          <p:val>
                                            <p:strVal val="#ppt_y"/>
                                          </p:val>
                                        </p:tav>
                                      </p:tavLst>
                                    </p:anim>
                                  </p:childTnLst>
                                </p:cTn>
                              </p:par>
                              <p:par>
                                <p:cTn id="9" presetID="2" presetClass="entr" presetSubtype="2" fill="hold" grpId="1" nodeType="withEffect">
                                  <p:stCondLst>
                                    <p:cond delay="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500" fill="hold"/>
                                        <p:tgtEl>
                                          <p:spTgt spid="31"/>
                                        </p:tgtEl>
                                        <p:attrNameLst>
                                          <p:attrName>ppt_x</p:attrName>
                                        </p:attrNameLst>
                                      </p:cBhvr>
                                      <p:tavLst>
                                        <p:tav tm="0">
                                          <p:val>
                                            <p:strVal val="1+#ppt_w/2"/>
                                          </p:val>
                                        </p:tav>
                                        <p:tav tm="100000">
                                          <p:val>
                                            <p:strVal val="#ppt_x"/>
                                          </p:val>
                                        </p:tav>
                                      </p:tavLst>
                                    </p:anim>
                                    <p:anim calcmode="lin" valueType="num">
                                      <p:cBhvr additive="base">
                                        <p:cTn id="12" dur="500" fill="hold"/>
                                        <p:tgtEl>
                                          <p:spTgt spid="3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1+#ppt_w/2"/>
                                          </p:val>
                                        </p:tav>
                                        <p:tav tm="100000">
                                          <p:val>
                                            <p:strVal val="#ppt_x"/>
                                          </p:val>
                                        </p:tav>
                                      </p:tavLst>
                                    </p:anim>
                                    <p:anim calcmode="lin" valueType="num">
                                      <p:cBhvr additive="base">
                                        <p:cTn id="16" dur="500" fill="hold"/>
                                        <p:tgtEl>
                                          <p:spTgt spid="4"/>
                                        </p:tgtEl>
                                        <p:attrNameLst>
                                          <p:attrName>ppt_y</p:attrName>
                                        </p:attrNameLst>
                                      </p:cBhvr>
                                      <p:tavLst>
                                        <p:tav tm="0">
                                          <p:val>
                                            <p:strVal val="#ppt_y"/>
                                          </p:val>
                                        </p:tav>
                                        <p:tav tm="100000">
                                          <p:val>
                                            <p:strVal val="#ppt_y"/>
                                          </p:val>
                                        </p:tav>
                                      </p:tavLst>
                                    </p:anim>
                                  </p:childTnLst>
                                </p:cTn>
                              </p:par>
                            </p:childTnLst>
                          </p:cTn>
                        </p:par>
                        <p:par>
                          <p:cTn id="17" fill="hold" nodeType="afterGroup">
                            <p:stCondLst>
                              <p:cond delay="500"/>
                            </p:stCondLst>
                            <p:childTnLst>
                              <p:par>
                                <p:cTn id="18" presetID="2" presetClass="entr" presetSubtype="2" fill="hold" grpId="1" nodeType="afterEffect">
                                  <p:stCondLst>
                                    <p:cond delay="0"/>
                                  </p:stCondLst>
                                  <p:childTnLst>
                                    <p:set>
                                      <p:cBhvr>
                                        <p:cTn id="19" dur="1" fill="hold">
                                          <p:stCondLst>
                                            <p:cond delay="0"/>
                                          </p:stCondLst>
                                        </p:cTn>
                                        <p:tgtEl>
                                          <p:spTgt spid="49"/>
                                        </p:tgtEl>
                                        <p:attrNameLst>
                                          <p:attrName>style.visibility</p:attrName>
                                        </p:attrNameLst>
                                      </p:cBhvr>
                                      <p:to>
                                        <p:strVal val="visible"/>
                                      </p:to>
                                    </p:set>
                                    <p:anim calcmode="lin" valueType="num">
                                      <p:cBhvr additive="base">
                                        <p:cTn id="20" dur="500" fill="hold"/>
                                        <p:tgtEl>
                                          <p:spTgt spid="49"/>
                                        </p:tgtEl>
                                        <p:attrNameLst>
                                          <p:attrName>ppt_x</p:attrName>
                                        </p:attrNameLst>
                                      </p:cBhvr>
                                      <p:tavLst>
                                        <p:tav tm="0">
                                          <p:val>
                                            <p:strVal val="1+#ppt_w/2"/>
                                          </p:val>
                                        </p:tav>
                                        <p:tav tm="100000">
                                          <p:val>
                                            <p:strVal val="#ppt_x"/>
                                          </p:val>
                                        </p:tav>
                                      </p:tavLst>
                                    </p:anim>
                                    <p:anim calcmode="lin" valueType="num">
                                      <p:cBhvr additive="base">
                                        <p:cTn id="21" dur="500" fill="hold"/>
                                        <p:tgtEl>
                                          <p:spTgt spid="49"/>
                                        </p:tgtEl>
                                        <p:attrNameLst>
                                          <p:attrName>ppt_y</p:attrName>
                                        </p:attrNameLst>
                                      </p:cBhvr>
                                      <p:tavLst>
                                        <p:tav tm="0">
                                          <p:val>
                                            <p:strVal val="#ppt_y"/>
                                          </p:val>
                                        </p:tav>
                                        <p:tav tm="100000">
                                          <p:val>
                                            <p:strVal val="#ppt_y"/>
                                          </p:val>
                                        </p:tav>
                                      </p:tavLst>
                                    </p:anim>
                                  </p:childTnLst>
                                </p:cTn>
                              </p:par>
                              <p:par>
                                <p:cTn id="22" presetID="2" presetClass="entr" presetSubtype="2" fill="hold" grpId="1" nodeType="withEffect">
                                  <p:stCondLst>
                                    <p:cond delay="0"/>
                                  </p:stCondLst>
                                  <p:childTnLst>
                                    <p:set>
                                      <p:cBhvr>
                                        <p:cTn id="23" dur="1" fill="hold">
                                          <p:stCondLst>
                                            <p:cond delay="0"/>
                                          </p:stCondLst>
                                        </p:cTn>
                                        <p:tgtEl>
                                          <p:spTgt spid="46"/>
                                        </p:tgtEl>
                                        <p:attrNameLst>
                                          <p:attrName>style.visibility</p:attrName>
                                        </p:attrNameLst>
                                      </p:cBhvr>
                                      <p:to>
                                        <p:strVal val="visible"/>
                                      </p:to>
                                    </p:set>
                                    <p:anim calcmode="lin" valueType="num">
                                      <p:cBhvr additive="base">
                                        <p:cTn id="24" dur="500" fill="hold"/>
                                        <p:tgtEl>
                                          <p:spTgt spid="46"/>
                                        </p:tgtEl>
                                        <p:attrNameLst>
                                          <p:attrName>ppt_x</p:attrName>
                                        </p:attrNameLst>
                                      </p:cBhvr>
                                      <p:tavLst>
                                        <p:tav tm="0">
                                          <p:val>
                                            <p:strVal val="1+#ppt_w/2"/>
                                          </p:val>
                                        </p:tav>
                                        <p:tav tm="100000">
                                          <p:val>
                                            <p:strVal val="#ppt_x"/>
                                          </p:val>
                                        </p:tav>
                                      </p:tavLst>
                                    </p:anim>
                                    <p:anim calcmode="lin" valueType="num">
                                      <p:cBhvr additive="base">
                                        <p:cTn id="25" dur="500" fill="hold"/>
                                        <p:tgtEl>
                                          <p:spTgt spid="46"/>
                                        </p:tgtEl>
                                        <p:attrNameLst>
                                          <p:attrName>ppt_y</p:attrName>
                                        </p:attrNameLst>
                                      </p:cBhvr>
                                      <p:tavLst>
                                        <p:tav tm="0">
                                          <p:val>
                                            <p:strVal val="#ppt_y"/>
                                          </p:val>
                                        </p:tav>
                                        <p:tav tm="100000">
                                          <p:val>
                                            <p:strVal val="#ppt_y"/>
                                          </p:val>
                                        </p:tav>
                                      </p:tavLst>
                                    </p:anim>
                                  </p:childTnLst>
                                </p:cTn>
                              </p:par>
                              <p:par>
                                <p:cTn id="26" presetID="2" presetClass="entr" presetSubtype="2"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1+#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1000"/>
                            </p:stCondLst>
                            <p:childTnLst>
                              <p:par>
                                <p:cTn id="31" presetID="2" presetClass="entr" presetSubtype="2" fill="hold" grpId="1" nodeType="afterEffect">
                                  <p:stCondLst>
                                    <p:cond delay="0"/>
                                  </p:stCondLst>
                                  <p:childTnLst>
                                    <p:set>
                                      <p:cBhvr>
                                        <p:cTn id="32" dur="1" fill="hold">
                                          <p:stCondLst>
                                            <p:cond delay="0"/>
                                          </p:stCondLst>
                                        </p:cTn>
                                        <p:tgtEl>
                                          <p:spTgt spid="54"/>
                                        </p:tgtEl>
                                        <p:attrNameLst>
                                          <p:attrName>style.visibility</p:attrName>
                                        </p:attrNameLst>
                                      </p:cBhvr>
                                      <p:to>
                                        <p:strVal val="visible"/>
                                      </p:to>
                                    </p:set>
                                    <p:anim calcmode="lin" valueType="num">
                                      <p:cBhvr additive="base">
                                        <p:cTn id="33" dur="500" fill="hold"/>
                                        <p:tgtEl>
                                          <p:spTgt spid="54"/>
                                        </p:tgtEl>
                                        <p:attrNameLst>
                                          <p:attrName>ppt_x</p:attrName>
                                        </p:attrNameLst>
                                      </p:cBhvr>
                                      <p:tavLst>
                                        <p:tav tm="0">
                                          <p:val>
                                            <p:strVal val="1+#ppt_w/2"/>
                                          </p:val>
                                        </p:tav>
                                        <p:tav tm="100000">
                                          <p:val>
                                            <p:strVal val="#ppt_x"/>
                                          </p:val>
                                        </p:tav>
                                      </p:tavLst>
                                    </p:anim>
                                    <p:anim calcmode="lin" valueType="num">
                                      <p:cBhvr additive="base">
                                        <p:cTn id="34" dur="500" fill="hold"/>
                                        <p:tgtEl>
                                          <p:spTgt spid="54"/>
                                        </p:tgtEl>
                                        <p:attrNameLst>
                                          <p:attrName>ppt_y</p:attrName>
                                        </p:attrNameLst>
                                      </p:cBhvr>
                                      <p:tavLst>
                                        <p:tav tm="0">
                                          <p:val>
                                            <p:strVal val="#ppt_y"/>
                                          </p:val>
                                        </p:tav>
                                        <p:tav tm="100000">
                                          <p:val>
                                            <p:strVal val="#ppt_y"/>
                                          </p:val>
                                        </p:tav>
                                      </p:tavLst>
                                    </p:anim>
                                  </p:childTnLst>
                                </p:cTn>
                              </p:par>
                              <p:par>
                                <p:cTn id="35" presetID="2" presetClass="entr" presetSubtype="2" fill="hold" grpId="1" nodeType="with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additive="base">
                                        <p:cTn id="37" dur="500" fill="hold"/>
                                        <p:tgtEl>
                                          <p:spTgt spid="53"/>
                                        </p:tgtEl>
                                        <p:attrNameLst>
                                          <p:attrName>ppt_x</p:attrName>
                                        </p:attrNameLst>
                                      </p:cBhvr>
                                      <p:tavLst>
                                        <p:tav tm="0">
                                          <p:val>
                                            <p:strVal val="1+#ppt_w/2"/>
                                          </p:val>
                                        </p:tav>
                                        <p:tav tm="100000">
                                          <p:val>
                                            <p:strVal val="#ppt_x"/>
                                          </p:val>
                                        </p:tav>
                                      </p:tavLst>
                                    </p:anim>
                                    <p:anim calcmode="lin" valueType="num">
                                      <p:cBhvr additive="base">
                                        <p:cTn id="38" dur="500" fill="hold"/>
                                        <p:tgtEl>
                                          <p:spTgt spid="53"/>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1+#ppt_w/2"/>
                                          </p:val>
                                        </p:tav>
                                        <p:tav tm="100000">
                                          <p:val>
                                            <p:strVal val="#ppt_x"/>
                                          </p:val>
                                        </p:tav>
                                      </p:tavLst>
                                    </p:anim>
                                    <p:anim calcmode="lin" valueType="num">
                                      <p:cBhvr additive="base">
                                        <p:cTn id="4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xit" presetSubtype="0" fill="hold" nodeType="clickEffect">
                                  <p:stCondLst>
                                    <p:cond delay="0"/>
                                  </p:stCondLst>
                                  <p:childTnLst>
                                    <p:set>
                                      <p:cBhvr>
                                        <p:cTn id="46" dur="1" fill="hold">
                                          <p:stCondLst>
                                            <p:cond delay="0"/>
                                          </p:stCondLst>
                                        </p:cTn>
                                        <p:tgtEl>
                                          <p:spTgt spid="4"/>
                                        </p:tgtEl>
                                        <p:attrNameLst>
                                          <p:attrName>style.visibility</p:attrName>
                                        </p:attrNameLst>
                                      </p:cBhvr>
                                      <p:to>
                                        <p:strVal val="hidden"/>
                                      </p:to>
                                    </p:set>
                                  </p:childTnLst>
                                </p:cTn>
                              </p:par>
                            </p:childTnLst>
                          </p:cTn>
                        </p:par>
                        <p:par>
                          <p:cTn id="47" fill="hold" nodeType="afterGroup">
                            <p:stCondLst>
                              <p:cond delay="0"/>
                            </p:stCondLst>
                            <p:childTnLst>
                              <p:par>
                                <p:cTn id="48" presetID="29" presetClass="exit" presetSubtype="0" fill="hold" grpId="0" nodeType="afterEffect">
                                  <p:stCondLst>
                                    <p:cond delay="500"/>
                                  </p:stCondLst>
                                  <p:childTnLst>
                                    <p:anim calcmode="lin" valueType="num">
                                      <p:cBhvr>
                                        <p:cTn id="49" dur="1000"/>
                                        <p:tgtEl>
                                          <p:spTgt spid="34"/>
                                        </p:tgtEl>
                                        <p:attrNameLst>
                                          <p:attrName>ppt_x</p:attrName>
                                        </p:attrNameLst>
                                      </p:cBhvr>
                                      <p:tavLst>
                                        <p:tav tm="0">
                                          <p:val>
                                            <p:strVal val="ppt_x"/>
                                          </p:val>
                                        </p:tav>
                                        <p:tav tm="100000">
                                          <p:val>
                                            <p:strVal val="ppt_x-.2"/>
                                          </p:val>
                                        </p:tav>
                                      </p:tavLst>
                                    </p:anim>
                                    <p:anim calcmode="lin" valueType="num">
                                      <p:cBhvr>
                                        <p:cTn id="50" dur="1000"/>
                                        <p:tgtEl>
                                          <p:spTgt spid="34"/>
                                        </p:tgtEl>
                                        <p:attrNameLst>
                                          <p:attrName>ppt_y</p:attrName>
                                        </p:attrNameLst>
                                      </p:cBhvr>
                                      <p:tavLst>
                                        <p:tav tm="0">
                                          <p:val>
                                            <p:strVal val="ppt_y"/>
                                          </p:val>
                                        </p:tav>
                                        <p:tav tm="100000">
                                          <p:val>
                                            <p:strVal val="ppt_y"/>
                                          </p:val>
                                        </p:tav>
                                      </p:tavLst>
                                    </p:anim>
                                    <p:animEffect transition="out" filter="fade">
                                      <p:cBhvr>
                                        <p:cTn id="51" dur="1000"/>
                                        <p:tgtEl>
                                          <p:spTgt spid="34"/>
                                        </p:tgtEl>
                                      </p:cBhvr>
                                    </p:animEffect>
                                    <p:set>
                                      <p:cBhvr>
                                        <p:cTn id="52" dur="1" fill="hold">
                                          <p:stCondLst>
                                            <p:cond delay="999"/>
                                          </p:stCondLst>
                                        </p:cTn>
                                        <p:tgtEl>
                                          <p:spTgt spid="34"/>
                                        </p:tgtEl>
                                        <p:attrNameLst>
                                          <p:attrName>style.visibility</p:attrName>
                                        </p:attrNameLst>
                                      </p:cBhvr>
                                      <p:to>
                                        <p:strVal val="hidden"/>
                                      </p:to>
                                    </p:set>
                                  </p:childTnLst>
                                </p:cTn>
                              </p:par>
                            </p:childTnLst>
                          </p:cTn>
                        </p:par>
                        <p:par>
                          <p:cTn id="53" fill="hold" nodeType="afterGroup">
                            <p:stCondLst>
                              <p:cond delay="1500"/>
                            </p:stCondLst>
                            <p:childTnLst>
                              <p:par>
                                <p:cTn id="54" presetID="42" presetClass="path" presetSubtype="0" accel="50000" decel="50000" fill="hold" grpId="0" nodeType="afterEffect">
                                  <p:stCondLst>
                                    <p:cond delay="0"/>
                                  </p:stCondLst>
                                  <p:childTnLst>
                                    <p:animMotion origin="layout" path="M 0.00156 -5.64292E-7 L -0.00139 0.3772 " pathEditMode="relative" rAng="0" ptsTypes="AA">
                                      <p:cBhvr>
                                        <p:cTn id="55" dur="1000" fill="hold"/>
                                        <p:tgtEl>
                                          <p:spTgt spid="31"/>
                                        </p:tgtEl>
                                        <p:attrNameLst>
                                          <p:attrName>ppt_x</p:attrName>
                                          <p:attrName>ppt_y</p:attrName>
                                        </p:attrNameLst>
                                      </p:cBhvr>
                                      <p:rCtr x="-200" y="18800"/>
                                    </p:animMotion>
                                  </p:childTnLst>
                                </p:cTn>
                              </p:par>
                            </p:childTnLst>
                          </p:cTn>
                        </p:par>
                        <p:par>
                          <p:cTn id="56" fill="hold" nodeType="afterGroup">
                            <p:stCondLst>
                              <p:cond delay="2500"/>
                            </p:stCondLst>
                            <p:childTnLst>
                              <p:par>
                                <p:cTn id="57" presetID="1" presetClass="exit" presetSubtype="0" fill="hold" nodeType="afterEffect">
                                  <p:stCondLst>
                                    <p:cond delay="500"/>
                                  </p:stCondLst>
                                  <p:childTnLst>
                                    <p:set>
                                      <p:cBhvr>
                                        <p:cTn id="58" dur="1" fill="hold">
                                          <p:stCondLst>
                                            <p:cond delay="0"/>
                                          </p:stCondLst>
                                        </p:cTn>
                                        <p:tgtEl>
                                          <p:spTgt spid="5"/>
                                        </p:tgtEl>
                                        <p:attrNameLst>
                                          <p:attrName>style.visibility</p:attrName>
                                        </p:attrNameLst>
                                      </p:cBhvr>
                                      <p:to>
                                        <p:strVal val="hidden"/>
                                      </p:to>
                                    </p:set>
                                  </p:childTnLst>
                                </p:cTn>
                              </p:par>
                            </p:childTnLst>
                          </p:cTn>
                        </p:par>
                        <p:par>
                          <p:cTn id="59" fill="hold" nodeType="afterGroup">
                            <p:stCondLst>
                              <p:cond delay="3000"/>
                            </p:stCondLst>
                            <p:childTnLst>
                              <p:par>
                                <p:cTn id="60" presetID="29" presetClass="exit" presetSubtype="0" fill="hold" grpId="0" nodeType="afterEffect">
                                  <p:stCondLst>
                                    <p:cond delay="500"/>
                                  </p:stCondLst>
                                  <p:childTnLst>
                                    <p:anim calcmode="lin" valueType="num">
                                      <p:cBhvr>
                                        <p:cTn id="61" dur="500"/>
                                        <p:tgtEl>
                                          <p:spTgt spid="49"/>
                                        </p:tgtEl>
                                        <p:attrNameLst>
                                          <p:attrName>ppt_x</p:attrName>
                                        </p:attrNameLst>
                                      </p:cBhvr>
                                      <p:tavLst>
                                        <p:tav tm="0">
                                          <p:val>
                                            <p:strVal val="ppt_x"/>
                                          </p:val>
                                        </p:tav>
                                        <p:tav tm="100000">
                                          <p:val>
                                            <p:strVal val="ppt_x-.2"/>
                                          </p:val>
                                        </p:tav>
                                      </p:tavLst>
                                    </p:anim>
                                    <p:anim calcmode="lin" valueType="num">
                                      <p:cBhvr>
                                        <p:cTn id="62" dur="500"/>
                                        <p:tgtEl>
                                          <p:spTgt spid="49"/>
                                        </p:tgtEl>
                                        <p:attrNameLst>
                                          <p:attrName>ppt_y</p:attrName>
                                        </p:attrNameLst>
                                      </p:cBhvr>
                                      <p:tavLst>
                                        <p:tav tm="0">
                                          <p:val>
                                            <p:strVal val="ppt_y"/>
                                          </p:val>
                                        </p:tav>
                                        <p:tav tm="100000">
                                          <p:val>
                                            <p:strVal val="ppt_y"/>
                                          </p:val>
                                        </p:tav>
                                      </p:tavLst>
                                    </p:anim>
                                    <p:animEffect transition="out" filter="fade">
                                      <p:cBhvr>
                                        <p:cTn id="63" dur="500"/>
                                        <p:tgtEl>
                                          <p:spTgt spid="49"/>
                                        </p:tgtEl>
                                      </p:cBhvr>
                                    </p:animEffect>
                                    <p:set>
                                      <p:cBhvr>
                                        <p:cTn id="64" dur="1" fill="hold">
                                          <p:stCondLst>
                                            <p:cond delay="499"/>
                                          </p:stCondLst>
                                        </p:cTn>
                                        <p:tgtEl>
                                          <p:spTgt spid="49"/>
                                        </p:tgtEl>
                                        <p:attrNameLst>
                                          <p:attrName>style.visibility</p:attrName>
                                        </p:attrNameLst>
                                      </p:cBhvr>
                                      <p:to>
                                        <p:strVal val="hidden"/>
                                      </p:to>
                                    </p:set>
                                  </p:childTnLst>
                                </p:cTn>
                              </p:par>
                            </p:childTnLst>
                          </p:cTn>
                        </p:par>
                        <p:par>
                          <p:cTn id="65" fill="hold" nodeType="afterGroup">
                            <p:stCondLst>
                              <p:cond delay="4000"/>
                            </p:stCondLst>
                            <p:childTnLst>
                              <p:par>
                                <p:cTn id="66" presetID="42" presetClass="path" presetSubtype="0" accel="50000" decel="50000" fill="hold" grpId="0" nodeType="afterEffect">
                                  <p:stCondLst>
                                    <p:cond delay="0"/>
                                  </p:stCondLst>
                                  <p:childTnLst>
                                    <p:animMotion origin="layout" path="M 0.0 -3.06358E-6 L 0.0 0.25156 " pathEditMode="relative" rAng="0" ptsTypes="AA">
                                      <p:cBhvr>
                                        <p:cTn id="67" dur="1000" fill="hold"/>
                                        <p:tgtEl>
                                          <p:spTgt spid="46"/>
                                        </p:tgtEl>
                                        <p:attrNameLst>
                                          <p:attrName>ppt_x</p:attrName>
                                          <p:attrName>ppt_y</p:attrName>
                                        </p:attrNameLst>
                                      </p:cBhvr>
                                      <p:rCtr x="0" y="12600"/>
                                    </p:animMotion>
                                  </p:childTnLst>
                                </p:cTn>
                              </p:par>
                            </p:childTnLst>
                          </p:cTn>
                        </p:par>
                        <p:par>
                          <p:cTn id="68" fill="hold" nodeType="afterGroup">
                            <p:stCondLst>
                              <p:cond delay="5000"/>
                            </p:stCondLst>
                            <p:childTnLst>
                              <p:par>
                                <p:cTn id="69" presetID="1" presetClass="exit" presetSubtype="0" fill="hold" nodeType="afterEffect">
                                  <p:stCondLst>
                                    <p:cond delay="500"/>
                                  </p:stCondLst>
                                  <p:childTnLst>
                                    <p:set>
                                      <p:cBhvr>
                                        <p:cTn id="70" dur="1" fill="hold">
                                          <p:stCondLst>
                                            <p:cond delay="0"/>
                                          </p:stCondLst>
                                        </p:cTn>
                                        <p:tgtEl>
                                          <p:spTgt spid="6"/>
                                        </p:tgtEl>
                                        <p:attrNameLst>
                                          <p:attrName>style.visibility</p:attrName>
                                        </p:attrNameLst>
                                      </p:cBhvr>
                                      <p:to>
                                        <p:strVal val="hidden"/>
                                      </p:to>
                                    </p:set>
                                  </p:childTnLst>
                                </p:cTn>
                              </p:par>
                            </p:childTnLst>
                          </p:cTn>
                        </p:par>
                        <p:par>
                          <p:cTn id="71" fill="hold" nodeType="afterGroup">
                            <p:stCondLst>
                              <p:cond delay="5500"/>
                            </p:stCondLst>
                            <p:childTnLst>
                              <p:par>
                                <p:cTn id="72" presetID="29" presetClass="exit" presetSubtype="0" fill="hold" grpId="0" nodeType="afterEffect">
                                  <p:stCondLst>
                                    <p:cond delay="500"/>
                                  </p:stCondLst>
                                  <p:childTnLst>
                                    <p:anim calcmode="lin" valueType="num">
                                      <p:cBhvr>
                                        <p:cTn id="73" dur="500"/>
                                        <p:tgtEl>
                                          <p:spTgt spid="54"/>
                                        </p:tgtEl>
                                        <p:attrNameLst>
                                          <p:attrName>ppt_x</p:attrName>
                                        </p:attrNameLst>
                                      </p:cBhvr>
                                      <p:tavLst>
                                        <p:tav tm="0">
                                          <p:val>
                                            <p:strVal val="ppt_x"/>
                                          </p:val>
                                        </p:tav>
                                        <p:tav tm="100000">
                                          <p:val>
                                            <p:strVal val="ppt_x-.2"/>
                                          </p:val>
                                        </p:tav>
                                      </p:tavLst>
                                    </p:anim>
                                    <p:anim calcmode="lin" valueType="num">
                                      <p:cBhvr>
                                        <p:cTn id="74" dur="500"/>
                                        <p:tgtEl>
                                          <p:spTgt spid="54"/>
                                        </p:tgtEl>
                                        <p:attrNameLst>
                                          <p:attrName>ppt_y</p:attrName>
                                        </p:attrNameLst>
                                      </p:cBhvr>
                                      <p:tavLst>
                                        <p:tav tm="0">
                                          <p:val>
                                            <p:strVal val="ppt_y"/>
                                          </p:val>
                                        </p:tav>
                                        <p:tav tm="100000">
                                          <p:val>
                                            <p:strVal val="ppt_y"/>
                                          </p:val>
                                        </p:tav>
                                      </p:tavLst>
                                    </p:anim>
                                    <p:animEffect transition="out" filter="fade">
                                      <p:cBhvr>
                                        <p:cTn id="75" dur="500"/>
                                        <p:tgtEl>
                                          <p:spTgt spid="54"/>
                                        </p:tgtEl>
                                      </p:cBhvr>
                                    </p:animEffect>
                                    <p:set>
                                      <p:cBhvr>
                                        <p:cTn id="76" dur="1" fill="hold">
                                          <p:stCondLst>
                                            <p:cond delay="499"/>
                                          </p:stCondLst>
                                        </p:cTn>
                                        <p:tgtEl>
                                          <p:spTgt spid="54"/>
                                        </p:tgtEl>
                                        <p:attrNameLst>
                                          <p:attrName>style.visibility</p:attrName>
                                        </p:attrNameLst>
                                      </p:cBhvr>
                                      <p:to>
                                        <p:strVal val="hidden"/>
                                      </p:to>
                                    </p:set>
                                  </p:childTnLst>
                                </p:cTn>
                              </p:par>
                            </p:childTnLst>
                          </p:cTn>
                        </p:par>
                        <p:par>
                          <p:cTn id="77" fill="hold" nodeType="afterGroup">
                            <p:stCondLst>
                              <p:cond delay="6500"/>
                            </p:stCondLst>
                            <p:childTnLst>
                              <p:par>
                                <p:cTn id="78" presetID="42" presetClass="path" presetSubtype="0" accel="50000" decel="50000" fill="hold" grpId="0" nodeType="afterEffect">
                                  <p:stCondLst>
                                    <p:cond delay="0"/>
                                  </p:stCondLst>
                                  <p:childTnLst>
                                    <p:animMotion origin="layout" path="M -3.33333E-6 -3.69942E-6 L -0.00052 0.12763 " pathEditMode="relative" rAng="0" ptsTypes="AA">
                                      <p:cBhvr>
                                        <p:cTn id="79" dur="1000" fill="hold"/>
                                        <p:tgtEl>
                                          <p:spTgt spid="53"/>
                                        </p:tgtEl>
                                        <p:attrNameLst>
                                          <p:attrName>ppt_x</p:attrName>
                                          <p:attrName>ppt_y</p:attrName>
                                        </p:attrNameLst>
                                      </p:cBhvr>
                                      <p:rCtr x="0" y="6400"/>
                                    </p:animMotion>
                                  </p:childTnLst>
                                </p:cTn>
                              </p:par>
                            </p:childTnLst>
                          </p:cTn>
                        </p:par>
                        <p:par>
                          <p:cTn id="80" fill="hold" nodeType="afterGroup">
                            <p:stCondLst>
                              <p:cond delay="7500"/>
                            </p:stCondLst>
                            <p:childTnLst>
                              <p:par>
                                <p:cTn id="81" presetID="3" presetClass="entr" presetSubtype="10" fill="hold" nodeType="afterEffect">
                                  <p:stCondLst>
                                    <p:cond delay="0"/>
                                  </p:stCondLst>
                                  <p:childTnLst>
                                    <p:set>
                                      <p:cBhvr>
                                        <p:cTn id="82" dur="1" fill="hold">
                                          <p:stCondLst>
                                            <p:cond delay="0"/>
                                          </p:stCondLst>
                                        </p:cTn>
                                        <p:tgtEl>
                                          <p:spTgt spid="2"/>
                                        </p:tgtEl>
                                        <p:attrNameLst>
                                          <p:attrName>style.visibility</p:attrName>
                                        </p:attrNameLst>
                                      </p:cBhvr>
                                      <p:to>
                                        <p:strVal val="visible"/>
                                      </p:to>
                                    </p:set>
                                    <p:animEffect transition="in" filter="blinds(horizontal)">
                                      <p:cBhvr>
                                        <p:cTn id="83" dur="500"/>
                                        <p:tgtEl>
                                          <p:spTgt spid="2"/>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blinds(horizontal)">
                                      <p:cBhvr>
                                        <p:cTn id="86" dur="500"/>
                                        <p:tgtEl>
                                          <p:spTgt spid="30"/>
                                        </p:tgtEl>
                                      </p:cBhvr>
                                    </p:animEffec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fade">
                                      <p:cBhvr>
                                        <p:cTn id="91" dur="1000"/>
                                        <p:tgtEl>
                                          <p:spTgt spid="7"/>
                                        </p:tgtEl>
                                      </p:cBhvr>
                                    </p:animEffect>
                                    <p:anim calcmode="lin" valueType="num">
                                      <p:cBhvr>
                                        <p:cTn id="92" dur="1000" fill="hold"/>
                                        <p:tgtEl>
                                          <p:spTgt spid="7"/>
                                        </p:tgtEl>
                                        <p:attrNameLst>
                                          <p:attrName>ppt_x</p:attrName>
                                        </p:attrNameLst>
                                      </p:cBhvr>
                                      <p:tavLst>
                                        <p:tav tm="0">
                                          <p:val>
                                            <p:strVal val="#ppt_x"/>
                                          </p:val>
                                        </p:tav>
                                        <p:tav tm="100000">
                                          <p:val>
                                            <p:strVal val="#ppt_x"/>
                                          </p:val>
                                        </p:tav>
                                      </p:tavLst>
                                    </p:anim>
                                    <p:anim calcmode="lin" valueType="num">
                                      <p:cBhvr>
                                        <p:cTn id="9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1" grpId="1" animBg="1"/>
      <p:bldP spid="34" grpId="0" animBg="1"/>
      <p:bldP spid="34" grpId="1" animBg="1"/>
      <p:bldP spid="46" grpId="0" animBg="1"/>
      <p:bldP spid="46" grpId="1" animBg="1"/>
      <p:bldP spid="49" grpId="0" animBg="1"/>
      <p:bldP spid="49" grpId="1" animBg="1"/>
      <p:bldP spid="53" grpId="0" animBg="1"/>
      <p:bldP spid="53" grpId="1" animBg="1"/>
      <p:bldP spid="54" grpId="0" animBg="1"/>
      <p:bldP spid="54"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7" name="Rectangle 3"/>
          <p:cNvSpPr>
            <a:spLocks noGrp="1" noChangeArrowheads="1"/>
          </p:cNvSpPr>
          <p:nvPr>
            <p:ph idx="1"/>
          </p:nvPr>
        </p:nvSpPr>
        <p:spPr>
          <a:xfrm>
            <a:off x="442800" y="1267200"/>
            <a:ext cx="7525408" cy="4895850"/>
          </a:xfrm>
        </p:spPr>
        <p:txBody>
          <a:bodyPr/>
          <a:lstStyle/>
          <a:p>
            <a:pPr eaLnBrk="1" hangingPunct="1">
              <a:lnSpc>
                <a:spcPct val="120000"/>
              </a:lnSpc>
            </a:pPr>
            <a:r>
              <a:rPr lang="zh-CN" altLang="en-US" b="1" dirty="0" smtClean="0"/>
              <a:t>路由器对分组的处理</a:t>
            </a:r>
            <a:endParaRPr lang="en-US" altLang="zh-CN" b="1" dirty="0" smtClean="0"/>
          </a:p>
          <a:p>
            <a:pPr lvl="1">
              <a:lnSpc>
                <a:spcPct val="120000"/>
              </a:lnSpc>
            </a:pPr>
            <a:r>
              <a:rPr lang="zh-CN" altLang="en-US" b="1" dirty="0" smtClean="0"/>
              <a:t>路由器采用</a:t>
            </a:r>
            <a:r>
              <a:rPr lang="zh-CN" altLang="en-US" b="1" dirty="0" smtClean="0">
                <a:solidFill>
                  <a:srgbClr val="C00000"/>
                </a:solidFill>
              </a:rPr>
              <a:t>存储转发</a:t>
            </a:r>
            <a:r>
              <a:rPr lang="zh-CN" altLang="en-US" b="1" dirty="0" smtClean="0"/>
              <a:t>技术先暂时存储收到的分组，然后根据</a:t>
            </a:r>
            <a:r>
              <a:rPr lang="zh-CN" altLang="en-US" b="1" dirty="0" smtClean="0">
                <a:solidFill>
                  <a:srgbClr val="C00000"/>
                </a:solidFill>
              </a:rPr>
              <a:t>首部</a:t>
            </a:r>
            <a:r>
              <a:rPr lang="zh-CN" altLang="en-US" b="1" dirty="0" smtClean="0"/>
              <a:t>中包含的</a:t>
            </a:r>
            <a:r>
              <a:rPr lang="zh-CN" altLang="en-US" b="1" dirty="0" smtClean="0">
                <a:solidFill>
                  <a:srgbClr val="C00000"/>
                </a:solidFill>
              </a:rPr>
              <a:t>目的地址</a:t>
            </a:r>
            <a:r>
              <a:rPr lang="zh-CN" altLang="en-US" b="1" dirty="0" smtClean="0"/>
              <a:t>等重要控制信息查找</a:t>
            </a:r>
            <a:r>
              <a:rPr lang="zh-CN" altLang="en-US" b="1" dirty="0" smtClean="0">
                <a:solidFill>
                  <a:srgbClr val="C00000"/>
                </a:solidFill>
              </a:rPr>
              <a:t>转发表</a:t>
            </a:r>
            <a:r>
              <a:rPr lang="zh-CN" altLang="en-US" b="1" dirty="0" smtClean="0"/>
              <a:t>进行转发。</a:t>
            </a:r>
            <a:endParaRPr lang="en-US" altLang="zh-CN" b="1" dirty="0" smtClean="0"/>
          </a:p>
          <a:p>
            <a:pPr lvl="1">
              <a:lnSpc>
                <a:spcPct val="120000"/>
              </a:lnSpc>
            </a:pPr>
            <a:r>
              <a:rPr lang="zh-CN" altLang="en-US" b="1" dirty="0"/>
              <a:t>各路由器之间定期交换各自掌握的路由信息，以创建和动态维护</a:t>
            </a:r>
            <a:r>
              <a:rPr lang="zh-CN" altLang="en-US" b="1" dirty="0">
                <a:solidFill>
                  <a:srgbClr val="C00000"/>
                </a:solidFill>
              </a:rPr>
              <a:t>转发表。</a:t>
            </a:r>
            <a:endParaRPr lang="en-US" altLang="zh-CN" b="1" dirty="0">
              <a:solidFill>
                <a:srgbClr val="C00000"/>
              </a:solidFill>
            </a:endParaRPr>
          </a:p>
          <a:p>
            <a:pPr lvl="1">
              <a:lnSpc>
                <a:spcPct val="120000"/>
              </a:lnSpc>
            </a:pPr>
            <a:r>
              <a:rPr lang="zh-CN" altLang="en-US" b="1" dirty="0" smtClean="0"/>
              <a:t>每</a:t>
            </a:r>
            <a:r>
              <a:rPr lang="zh-CN" altLang="en-US" b="1" dirty="0"/>
              <a:t>一个分组在互联网中</a:t>
            </a:r>
            <a:r>
              <a:rPr lang="zh-CN" altLang="en-US" b="1" dirty="0">
                <a:solidFill>
                  <a:srgbClr val="C00000"/>
                </a:solidFill>
              </a:rPr>
              <a:t>独立选择</a:t>
            </a:r>
            <a:r>
              <a:rPr lang="zh-CN" altLang="en-US" b="1" dirty="0"/>
              <a:t>传输</a:t>
            </a:r>
            <a:r>
              <a:rPr lang="zh-CN" altLang="en-US" b="1" dirty="0" smtClean="0"/>
              <a:t>路径</a:t>
            </a:r>
            <a:r>
              <a:rPr lang="zh-CN" altLang="en-US" b="1" dirty="0"/>
              <a:t>，</a:t>
            </a:r>
            <a:r>
              <a:rPr lang="zh-CN" altLang="en-US" b="1" dirty="0" smtClean="0"/>
              <a:t>位于</a:t>
            </a:r>
            <a:r>
              <a:rPr lang="zh-CN" altLang="en-US" b="1" dirty="0"/>
              <a:t>网络核心部分的</a:t>
            </a:r>
            <a:r>
              <a:rPr lang="zh-CN" altLang="en-US" b="1" dirty="0">
                <a:solidFill>
                  <a:srgbClr val="C00000"/>
                </a:solidFill>
              </a:rPr>
              <a:t>路由器</a:t>
            </a:r>
            <a:r>
              <a:rPr lang="zh-CN" altLang="en-US" b="1" dirty="0"/>
              <a:t>负责</a:t>
            </a:r>
            <a:r>
              <a:rPr lang="zh-CN" altLang="en-US" b="1" dirty="0">
                <a:solidFill>
                  <a:srgbClr val="C00000"/>
                </a:solidFill>
              </a:rPr>
              <a:t>转发分组，</a:t>
            </a:r>
            <a:r>
              <a:rPr lang="zh-CN" altLang="en-US" b="1" dirty="0"/>
              <a:t>即进行</a:t>
            </a:r>
            <a:r>
              <a:rPr lang="zh-CN" altLang="en-US" b="1" dirty="0">
                <a:solidFill>
                  <a:srgbClr val="C00000"/>
                </a:solidFill>
              </a:rPr>
              <a:t>分组交换</a:t>
            </a:r>
            <a:r>
              <a:rPr lang="zh-CN" altLang="en-US" b="1" dirty="0" smtClean="0"/>
              <a:t>。</a:t>
            </a:r>
            <a:endParaRPr lang="en-US" altLang="zh-CN" b="1" dirty="0" smtClean="0"/>
          </a:p>
          <a:p>
            <a:pPr eaLnBrk="1" hangingPunct="1"/>
            <a:endParaRPr lang="zh-CN" altLang="en-US" b="1" dirty="0"/>
          </a:p>
          <a:p>
            <a:pPr eaLnBrk="1" hangingPunct="1"/>
            <a:endParaRPr lang="zh-CN" altLang="en-US" b="1" dirty="0"/>
          </a:p>
        </p:txBody>
      </p:sp>
      <p:sp>
        <p:nvSpPr>
          <p:cNvPr id="9" name="圆角矩形 8"/>
          <p:cNvSpPr/>
          <p:nvPr/>
        </p:nvSpPr>
        <p:spPr>
          <a:xfrm>
            <a:off x="8526328" y="2174527"/>
            <a:ext cx="3258304" cy="561280"/>
          </a:xfrm>
          <a:prstGeom prst="roundRect">
            <a:avLst/>
          </a:prstGeom>
          <a:solidFill>
            <a:srgbClr val="D6E5BD"/>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smtClean="0">
                <a:solidFill>
                  <a:srgbClr val="000099"/>
                </a:solidFill>
                <a:latin typeface="微软雅黑" panose="020B0503020204020204" pitchFamily="34" charset="-122"/>
                <a:ea typeface="微软雅黑" panose="020B0503020204020204" pitchFamily="34" charset="-122"/>
              </a:rPr>
              <a:t>暂存收到的分组</a:t>
            </a:r>
            <a:endParaRPr lang="zh-CN" altLang="en-US" sz="1600" b="1" dirty="0">
              <a:solidFill>
                <a:srgbClr val="000099"/>
              </a:solidFill>
              <a:latin typeface="微软雅黑" panose="020B0503020204020204" pitchFamily="34" charset="-122"/>
              <a:ea typeface="微软雅黑" panose="020B0503020204020204" pitchFamily="34" charset="-122"/>
            </a:endParaRPr>
          </a:p>
        </p:txBody>
      </p:sp>
      <p:sp>
        <p:nvSpPr>
          <p:cNvPr id="10" name="圆角矩形 9"/>
          <p:cNvSpPr/>
          <p:nvPr/>
        </p:nvSpPr>
        <p:spPr>
          <a:xfrm>
            <a:off x="8526328" y="3127832"/>
            <a:ext cx="3258304" cy="561280"/>
          </a:xfrm>
          <a:prstGeom prst="roundRect">
            <a:avLst/>
          </a:prstGeom>
          <a:solidFill>
            <a:srgbClr val="D6E5BD"/>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smtClean="0">
                <a:solidFill>
                  <a:srgbClr val="000099"/>
                </a:solidFill>
                <a:latin typeface="微软雅黑" panose="020B0503020204020204" pitchFamily="34" charset="-122"/>
                <a:ea typeface="微软雅黑" panose="020B0503020204020204" pitchFamily="34" charset="-122"/>
              </a:rPr>
              <a:t>检查</a:t>
            </a:r>
            <a:r>
              <a:rPr lang="zh-CN" altLang="en-US" sz="1600" b="1" dirty="0">
                <a:solidFill>
                  <a:srgbClr val="000099"/>
                </a:solidFill>
                <a:latin typeface="微软雅黑" panose="020B0503020204020204" pitchFamily="34" charset="-122"/>
                <a:ea typeface="微软雅黑" panose="020B0503020204020204" pitchFamily="34" charset="-122"/>
              </a:rPr>
              <a:t>分组</a:t>
            </a:r>
            <a:r>
              <a:rPr lang="zh-CN" altLang="en-US" sz="1600" b="1" dirty="0" smtClean="0">
                <a:solidFill>
                  <a:srgbClr val="000099"/>
                </a:solidFill>
                <a:latin typeface="微软雅黑" panose="020B0503020204020204" pitchFamily="34" charset="-122"/>
                <a:ea typeface="微软雅黑" panose="020B0503020204020204" pitchFamily="34" charset="-122"/>
              </a:rPr>
              <a:t>首部</a:t>
            </a:r>
            <a:endParaRPr lang="zh-CN" altLang="en-US" sz="1600" b="1" dirty="0">
              <a:solidFill>
                <a:srgbClr val="000099"/>
              </a:solidFill>
              <a:latin typeface="微软雅黑" panose="020B0503020204020204" pitchFamily="34" charset="-122"/>
              <a:ea typeface="微软雅黑" panose="020B0503020204020204" pitchFamily="34" charset="-122"/>
            </a:endParaRPr>
          </a:p>
        </p:txBody>
      </p:sp>
      <p:sp>
        <p:nvSpPr>
          <p:cNvPr id="11" name="圆角矩形 10"/>
          <p:cNvSpPr/>
          <p:nvPr/>
        </p:nvSpPr>
        <p:spPr>
          <a:xfrm>
            <a:off x="8526328" y="4103234"/>
            <a:ext cx="3258304" cy="561280"/>
          </a:xfrm>
          <a:prstGeom prst="roundRect">
            <a:avLst/>
          </a:prstGeom>
          <a:solidFill>
            <a:srgbClr val="D6E5BD"/>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solidFill>
                  <a:srgbClr val="000099"/>
                </a:solidFill>
                <a:latin typeface="微软雅黑" panose="020B0503020204020204" pitchFamily="34" charset="-122"/>
                <a:ea typeface="微软雅黑" panose="020B0503020204020204" pitchFamily="34" charset="-122"/>
              </a:rPr>
              <a:t>查找转发</a:t>
            </a:r>
            <a:r>
              <a:rPr lang="zh-CN" altLang="en-US" sz="1600" b="1" dirty="0" smtClean="0">
                <a:solidFill>
                  <a:srgbClr val="000099"/>
                </a:solidFill>
                <a:latin typeface="微软雅黑" panose="020B0503020204020204" pitchFamily="34" charset="-122"/>
                <a:ea typeface="微软雅黑" panose="020B0503020204020204" pitchFamily="34" charset="-122"/>
              </a:rPr>
              <a:t>表</a:t>
            </a:r>
            <a:endParaRPr lang="zh-CN" altLang="en-US" sz="1600" b="1" dirty="0">
              <a:solidFill>
                <a:srgbClr val="000099"/>
              </a:solidFill>
              <a:latin typeface="微软雅黑" panose="020B0503020204020204" pitchFamily="34" charset="-122"/>
              <a:ea typeface="微软雅黑" panose="020B0503020204020204" pitchFamily="34" charset="-122"/>
            </a:endParaRPr>
          </a:p>
        </p:txBody>
      </p:sp>
      <p:sp>
        <p:nvSpPr>
          <p:cNvPr id="12" name="圆角矩形 11"/>
          <p:cNvSpPr/>
          <p:nvPr/>
        </p:nvSpPr>
        <p:spPr>
          <a:xfrm>
            <a:off x="8526328" y="5078639"/>
            <a:ext cx="3258304" cy="870641"/>
          </a:xfrm>
          <a:prstGeom prst="roundRect">
            <a:avLst/>
          </a:prstGeom>
          <a:solidFill>
            <a:srgbClr val="D6E5BD"/>
          </a:solidFill>
        </p:spPr>
        <p:style>
          <a:lnRef idx="1">
            <a:schemeClr val="accent1"/>
          </a:lnRef>
          <a:fillRef idx="2">
            <a:schemeClr val="accent1"/>
          </a:fillRef>
          <a:effectRef idx="1">
            <a:schemeClr val="accent1"/>
          </a:effectRef>
          <a:fontRef idx="minor">
            <a:schemeClr val="dk1"/>
          </a:fontRef>
        </p:style>
        <p:txBody>
          <a:bodyPr rtlCol="0" anchor="ctr"/>
          <a:lstStyle/>
          <a:p>
            <a:r>
              <a:rPr lang="zh-CN" altLang="en-US" sz="1600" b="1" dirty="0">
                <a:solidFill>
                  <a:srgbClr val="000099"/>
                </a:solidFill>
                <a:latin typeface="微软雅黑" panose="020B0503020204020204" pitchFamily="34" charset="-122"/>
                <a:ea typeface="微软雅黑" panose="020B0503020204020204" pitchFamily="34" charset="-122"/>
              </a:rPr>
              <a:t>按照首部中的目的地址，找到合适的</a:t>
            </a:r>
            <a:r>
              <a:rPr lang="zh-CN" altLang="en-US" sz="1600" b="1" dirty="0" smtClean="0">
                <a:solidFill>
                  <a:srgbClr val="000099"/>
                </a:solidFill>
                <a:latin typeface="微软雅黑" panose="020B0503020204020204" pitchFamily="34" charset="-122"/>
                <a:ea typeface="微软雅黑" panose="020B0503020204020204" pitchFamily="34" charset="-122"/>
              </a:rPr>
              <a:t>接口转发出去，把分组交给下一个路由器。</a:t>
            </a:r>
            <a:endParaRPr lang="zh-CN" altLang="en-US" sz="1600" b="1" dirty="0">
              <a:solidFill>
                <a:srgbClr val="000099"/>
              </a:solidFill>
              <a:latin typeface="微软雅黑" panose="020B0503020204020204" pitchFamily="34" charset="-122"/>
              <a:ea typeface="微软雅黑" panose="020B0503020204020204" pitchFamily="34" charset="-122"/>
            </a:endParaRPr>
          </a:p>
        </p:txBody>
      </p:sp>
      <p:cxnSp>
        <p:nvCxnSpPr>
          <p:cNvPr id="13" name="直接箭头连接符 12"/>
          <p:cNvCxnSpPr>
            <a:stCxn id="9" idx="2"/>
            <a:endCxn id="10" idx="0"/>
          </p:cNvCxnSpPr>
          <p:nvPr/>
        </p:nvCxnSpPr>
        <p:spPr>
          <a:xfrm>
            <a:off x="10155480" y="2735807"/>
            <a:ext cx="0" cy="39202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直接箭头连接符 13"/>
          <p:cNvCxnSpPr>
            <a:stCxn id="10" idx="2"/>
            <a:endCxn id="11" idx="0"/>
          </p:cNvCxnSpPr>
          <p:nvPr/>
        </p:nvCxnSpPr>
        <p:spPr>
          <a:xfrm>
            <a:off x="10155480" y="3689112"/>
            <a:ext cx="0" cy="414122"/>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 name="直接箭头连接符 14"/>
          <p:cNvCxnSpPr>
            <a:stCxn id="11" idx="2"/>
            <a:endCxn id="12" idx="0"/>
          </p:cNvCxnSpPr>
          <p:nvPr/>
        </p:nvCxnSpPr>
        <p:spPr>
          <a:xfrm>
            <a:off x="10155480" y="4664514"/>
            <a:ext cx="0" cy="414125"/>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6" name="矩形 15"/>
          <p:cNvSpPr/>
          <p:nvPr/>
        </p:nvSpPr>
        <p:spPr>
          <a:xfrm>
            <a:off x="8472264" y="1506058"/>
            <a:ext cx="331236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zh-CN" altLang="en-US" sz="2400" b="1" dirty="0">
                <a:solidFill>
                  <a:srgbClr val="1C1C1C"/>
                </a:solidFill>
                <a:latin typeface="微软雅黑" panose="020B0503020204020204" pitchFamily="34" charset="-122"/>
                <a:ea typeface="微软雅黑" panose="020B0503020204020204" pitchFamily="34" charset="-122"/>
              </a:rPr>
              <a:t>路由器处理分组的过程</a:t>
            </a:r>
          </a:p>
        </p:txBody>
      </p:sp>
      <p:grpSp>
        <p:nvGrpSpPr>
          <p:cNvPr id="17" name="组合 16"/>
          <p:cNvGrpSpPr/>
          <p:nvPr/>
        </p:nvGrpSpPr>
        <p:grpSpPr>
          <a:xfrm>
            <a:off x="1199456" y="6062481"/>
            <a:ext cx="6912768" cy="750895"/>
            <a:chOff x="7030635" y="2854325"/>
            <a:chExt cx="4897669" cy="1435746"/>
          </a:xfrm>
        </p:grpSpPr>
        <p:sp>
          <p:nvSpPr>
            <p:cNvPr id="18" name="圆角矩形 3"/>
            <p:cNvSpPr>
              <a:spLocks noChangeArrowheads="1"/>
            </p:cNvSpPr>
            <p:nvPr/>
          </p:nvSpPr>
          <p:spPr bwMode="auto">
            <a:xfrm>
              <a:off x="7030635" y="2854325"/>
              <a:ext cx="4897669" cy="1095967"/>
            </a:xfrm>
            <a:prstGeom prst="roundRect">
              <a:avLst>
                <a:gd name="adj" fmla="val 8708"/>
              </a:avLst>
            </a:prstGeom>
            <a:solidFill>
              <a:srgbClr val="0089FA"/>
            </a:solidFill>
            <a:ln>
              <a:noFill/>
            </a:ln>
            <a:effectLst/>
            <a:scene3d>
              <a:camera prst="orthographicFront">
                <a:rot lat="0" lon="0" rev="0"/>
              </a:camera>
              <a:lightRig rig="glow" dir="t">
                <a:rot lat="0" lon="0" rev="14100000"/>
              </a:lightRig>
            </a:scene3d>
            <a:sp3d prstMaterial="softEdge">
              <a:bevelT w="127000" prst="artDeco"/>
            </a:sp3d>
            <a:extLst/>
          </p:spPr>
          <p:txBody>
            <a:bodyPr anchor="ctr"/>
            <a:lstStyle/>
            <a:p>
              <a:pPr eaLnBrk="0" fontAlgn="auto" hangingPunct="0">
                <a:lnSpc>
                  <a:spcPct val="150000"/>
                </a:lnSpc>
                <a:spcBef>
                  <a:spcPts val="0"/>
                </a:spcBef>
                <a:spcAft>
                  <a:spcPts val="0"/>
                </a:spcAft>
                <a:defRPr/>
              </a:pPr>
              <a:endParaRPr lang="zh-CN" altLang="zh-CN" sz="2400" b="1" dirty="0">
                <a:solidFill>
                  <a:schemeClr val="bg1"/>
                </a:solidFill>
                <a:latin typeface="微软雅黑" pitchFamily="34" charset="-122"/>
                <a:ea typeface="微软雅黑" pitchFamily="34" charset="-122"/>
              </a:endParaRPr>
            </a:p>
          </p:txBody>
        </p:sp>
        <p:sp>
          <p:nvSpPr>
            <p:cNvPr id="19" name="TextBox 18"/>
            <p:cNvSpPr txBox="1"/>
            <p:nvPr/>
          </p:nvSpPr>
          <p:spPr>
            <a:xfrm>
              <a:off x="7218040" y="3054256"/>
              <a:ext cx="4646400" cy="1235815"/>
            </a:xfrm>
            <a:prstGeom prst="rect">
              <a:avLst/>
            </a:prstGeom>
            <a:noFill/>
          </p:spPr>
          <p:txBody>
            <a:bodyPr wrap="square" rtlCol="0" anchor="b">
              <a:spAutoFit/>
            </a:bodyPr>
            <a:lstStyle/>
            <a:p>
              <a:r>
                <a:rPr lang="zh-CN" altLang="en-US" b="1" dirty="0" smtClean="0">
                  <a:solidFill>
                    <a:schemeClr val="bg1"/>
                  </a:solidFill>
                  <a:latin typeface="微软雅黑" pitchFamily="34" charset="-122"/>
                  <a:ea typeface="微软雅黑" pitchFamily="34" charset="-122"/>
                </a:rPr>
                <a:t>通过多个路由器的“接力”传输，分组最终会到达目的主机。</a:t>
              </a:r>
            </a:p>
            <a:p>
              <a:endParaRPr lang="zh-CN" altLang="en-US" dirty="0"/>
            </a:p>
          </p:txBody>
        </p:sp>
      </p:grpSp>
    </p:spTree>
    <p:extLst>
      <p:ext uri="{BB962C8B-B14F-4D97-AF65-F5344CB8AC3E}">
        <p14:creationId xmlns:p14="http://schemas.microsoft.com/office/powerpoint/2010/main" val="25606489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fade">
                                      <p:cBhvr>
                                        <p:cTn id="21" dur="1000"/>
                                        <p:tgtEl>
                                          <p:spTgt spid="7">
                                            <p:txEl>
                                              <p:pRg st="3" end="3"/>
                                            </p:txEl>
                                          </p:spTgt>
                                        </p:tgtEl>
                                      </p:cBhvr>
                                    </p:animEffect>
                                    <p:anim calcmode="lin" valueType="num">
                                      <p:cBhvr>
                                        <p:cTn id="2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up)">
                                      <p:cBhvr>
                                        <p:cTn id="40" dur="500"/>
                                        <p:tgtEl>
                                          <p:spTgt spid="13"/>
                                        </p:tgtEl>
                                      </p:cBhvr>
                                    </p:animEffect>
                                  </p:childTnLst>
                                </p:cTn>
                              </p:par>
                            </p:childTnLst>
                          </p:cTn>
                        </p:par>
                        <p:par>
                          <p:cTn id="41" fill="hold">
                            <p:stCondLst>
                              <p:cond delay="500"/>
                            </p:stCondLst>
                            <p:childTnLst>
                              <p:par>
                                <p:cTn id="42" presetID="22" presetClass="entr" presetSubtype="1" fill="hold" grpId="0" nodeType="after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up)">
                                      <p:cBhvr>
                                        <p:cTn id="44" dur="5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up)">
                                      <p:cBhvr>
                                        <p:cTn id="49" dur="500"/>
                                        <p:tgtEl>
                                          <p:spTgt spid="14"/>
                                        </p:tgtEl>
                                      </p:cBhvr>
                                    </p:animEffect>
                                  </p:childTnLst>
                                </p:cTn>
                              </p:par>
                            </p:childTnLst>
                          </p:cTn>
                        </p:par>
                        <p:par>
                          <p:cTn id="50" fill="hold">
                            <p:stCondLst>
                              <p:cond delay="500"/>
                            </p:stCondLst>
                            <p:childTnLst>
                              <p:par>
                                <p:cTn id="51" presetID="22" presetClass="entr" presetSubtype="1"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up)">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up)">
                                      <p:cBhvr>
                                        <p:cTn id="58" dur="500"/>
                                        <p:tgtEl>
                                          <p:spTgt spid="15"/>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up)">
                                      <p:cBhvr>
                                        <p:cTn id="62" dur="500"/>
                                        <p:tgtEl>
                                          <p:spTgt spid="12"/>
                                        </p:tgtEl>
                                      </p:cBhvr>
                                    </p:animEffec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1000"/>
                                        <p:tgtEl>
                                          <p:spTgt spid="17"/>
                                        </p:tgtEl>
                                      </p:cBhvr>
                                    </p:animEffect>
                                    <p:anim calcmode="lin" valueType="num">
                                      <p:cBhvr>
                                        <p:cTn id="68" dur="1000" fill="hold"/>
                                        <p:tgtEl>
                                          <p:spTgt spid="17"/>
                                        </p:tgtEl>
                                        <p:attrNameLst>
                                          <p:attrName>ppt_x</p:attrName>
                                        </p:attrNameLst>
                                      </p:cBhvr>
                                      <p:tavLst>
                                        <p:tav tm="0">
                                          <p:val>
                                            <p:strVal val="#ppt_x"/>
                                          </p:val>
                                        </p:tav>
                                        <p:tav tm="100000">
                                          <p:val>
                                            <p:strVal val="#ppt_x"/>
                                          </p:val>
                                        </p:tav>
                                      </p:tavLst>
                                    </p:anim>
                                    <p:anim calcmode="lin" valueType="num">
                                      <p:cBhvr>
                                        <p:cTn id="6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3" name="Group 4"/>
          <p:cNvGrpSpPr>
            <a:grpSpLocks/>
          </p:cNvGrpSpPr>
          <p:nvPr/>
        </p:nvGrpSpPr>
        <p:grpSpPr bwMode="auto">
          <a:xfrm>
            <a:off x="3371850" y="2249488"/>
            <a:ext cx="4090988" cy="3667125"/>
            <a:chOff x="2256" y="2386"/>
            <a:chExt cx="2147" cy="1919"/>
          </a:xfrm>
        </p:grpSpPr>
        <p:sp>
          <p:nvSpPr>
            <p:cNvPr id="35891" name="Oval 5"/>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2" name="Oval 6"/>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3" name="Oval 7"/>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4" name="Oval 8"/>
            <p:cNvSpPr>
              <a:spLocks noChangeArrowheads="1"/>
            </p:cNvSpPr>
            <p:nvPr/>
          </p:nvSpPr>
          <p:spPr bwMode="auto">
            <a:xfrm rot="-3234972">
              <a:off x="3754" y="3108"/>
              <a:ext cx="687" cy="610"/>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5" name="Oval 9"/>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6" name="Oval 10"/>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7" name="Oval 11"/>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8" name="Oval 12"/>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5899" name="Freeform 13"/>
            <p:cNvSpPr>
              <a:spLocks/>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931"/>
                <a:gd name="T145" fmla="*/ 0 h 1684"/>
                <a:gd name="T146" fmla="*/ 1931 w 1931"/>
                <a:gd name="T147" fmla="*/ 1684 h 168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35844" name="Line 14"/>
          <p:cNvSpPr>
            <a:spLocks noChangeShapeType="1"/>
          </p:cNvSpPr>
          <p:nvPr/>
        </p:nvSpPr>
        <p:spPr bwMode="auto">
          <a:xfrm flipV="1">
            <a:off x="4503738" y="2484438"/>
            <a:ext cx="1281112"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5" name="Line 15"/>
          <p:cNvSpPr>
            <a:spLocks noChangeShapeType="1"/>
          </p:cNvSpPr>
          <p:nvPr/>
        </p:nvSpPr>
        <p:spPr bwMode="auto">
          <a:xfrm>
            <a:off x="5942013" y="2559050"/>
            <a:ext cx="757237" cy="1398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6" name="Line 16"/>
          <p:cNvSpPr>
            <a:spLocks noChangeShapeType="1"/>
          </p:cNvSpPr>
          <p:nvPr/>
        </p:nvSpPr>
        <p:spPr bwMode="auto">
          <a:xfrm flipH="1">
            <a:off x="3748088" y="3132138"/>
            <a:ext cx="665162" cy="1255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7" name="Line 17"/>
          <p:cNvSpPr>
            <a:spLocks noChangeShapeType="1"/>
          </p:cNvSpPr>
          <p:nvPr/>
        </p:nvSpPr>
        <p:spPr bwMode="auto">
          <a:xfrm>
            <a:off x="3789363" y="4565650"/>
            <a:ext cx="1520825"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8" name="Line 18"/>
          <p:cNvSpPr>
            <a:spLocks noChangeShapeType="1"/>
          </p:cNvSpPr>
          <p:nvPr/>
        </p:nvSpPr>
        <p:spPr bwMode="auto">
          <a:xfrm flipV="1">
            <a:off x="5373688" y="4233863"/>
            <a:ext cx="1325562" cy="13065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49" name="Line 19"/>
          <p:cNvSpPr>
            <a:spLocks noChangeShapeType="1"/>
          </p:cNvSpPr>
          <p:nvPr/>
        </p:nvSpPr>
        <p:spPr bwMode="auto">
          <a:xfrm>
            <a:off x="4556125" y="3138488"/>
            <a:ext cx="2125663" cy="946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0" name="Line 20"/>
          <p:cNvSpPr>
            <a:spLocks noChangeShapeType="1"/>
          </p:cNvSpPr>
          <p:nvPr/>
        </p:nvSpPr>
        <p:spPr bwMode="auto">
          <a:xfrm>
            <a:off x="4454525" y="2974975"/>
            <a:ext cx="1000125" cy="2471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1" name="Line 21"/>
          <p:cNvSpPr>
            <a:spLocks noChangeShapeType="1"/>
          </p:cNvSpPr>
          <p:nvPr/>
        </p:nvSpPr>
        <p:spPr bwMode="auto">
          <a:xfrm flipV="1">
            <a:off x="4778375" y="5518150"/>
            <a:ext cx="639763" cy="549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2" name="Line 22"/>
          <p:cNvSpPr>
            <a:spLocks noChangeShapeType="1"/>
          </p:cNvSpPr>
          <p:nvPr/>
        </p:nvSpPr>
        <p:spPr bwMode="auto">
          <a:xfrm rot="16200000">
            <a:off x="5702300" y="2168525"/>
            <a:ext cx="3365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3" name="Line 23"/>
          <p:cNvSpPr>
            <a:spLocks noChangeShapeType="1"/>
          </p:cNvSpPr>
          <p:nvPr/>
        </p:nvSpPr>
        <p:spPr bwMode="auto">
          <a:xfrm>
            <a:off x="6791325" y="4233863"/>
            <a:ext cx="639763" cy="1008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4" name="Line 24"/>
          <p:cNvSpPr>
            <a:spLocks noChangeShapeType="1"/>
          </p:cNvSpPr>
          <p:nvPr/>
        </p:nvSpPr>
        <p:spPr bwMode="auto">
          <a:xfrm flipV="1">
            <a:off x="2870200" y="4491038"/>
            <a:ext cx="64452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5" name="Line 25"/>
          <p:cNvSpPr>
            <a:spLocks noChangeShapeType="1"/>
          </p:cNvSpPr>
          <p:nvPr/>
        </p:nvSpPr>
        <p:spPr bwMode="auto">
          <a:xfrm rot="5400000" flipH="1">
            <a:off x="4027488" y="2600325"/>
            <a:ext cx="773112" cy="15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6" name="Text Box 26"/>
          <p:cNvSpPr txBox="1">
            <a:spLocks noChangeArrowheads="1"/>
          </p:cNvSpPr>
          <p:nvPr/>
        </p:nvSpPr>
        <p:spPr bwMode="auto">
          <a:xfrm>
            <a:off x="2525713" y="385603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1</a:t>
            </a:r>
            <a:endParaRPr kumimoji="1" lang="en-US" altLang="zh-CN" sz="2000">
              <a:solidFill>
                <a:srgbClr val="333399"/>
              </a:solidFill>
            </a:endParaRPr>
          </a:p>
        </p:txBody>
      </p:sp>
      <p:sp>
        <p:nvSpPr>
          <p:cNvPr id="35857" name="Oval 31"/>
          <p:cNvSpPr>
            <a:spLocks noChangeArrowheads="1"/>
          </p:cNvSpPr>
          <p:nvPr/>
        </p:nvSpPr>
        <p:spPr bwMode="auto">
          <a:xfrm>
            <a:off x="3498850" y="4233863"/>
            <a:ext cx="457200" cy="458787"/>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A</a:t>
            </a:r>
          </a:p>
        </p:txBody>
      </p:sp>
      <p:sp>
        <p:nvSpPr>
          <p:cNvPr id="35858" name="Line 39"/>
          <p:cNvSpPr>
            <a:spLocks noChangeShapeType="1"/>
          </p:cNvSpPr>
          <p:nvPr/>
        </p:nvSpPr>
        <p:spPr bwMode="auto">
          <a:xfrm flipV="1">
            <a:off x="6791325" y="3636963"/>
            <a:ext cx="806450" cy="412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9" name="AutoShape 43"/>
          <p:cNvSpPr>
            <a:spLocks noChangeArrowheads="1"/>
          </p:cNvSpPr>
          <p:nvPr/>
        </p:nvSpPr>
        <p:spPr bwMode="auto">
          <a:xfrm flipV="1">
            <a:off x="6343650" y="6083300"/>
            <a:ext cx="1150938" cy="334963"/>
          </a:xfrm>
          <a:prstGeom prst="wedgeRoundRectCallout">
            <a:avLst>
              <a:gd name="adj1" fmla="val -65315"/>
              <a:gd name="adj2" fmla="val 160426"/>
              <a:gd name="adj3" fmla="val 16667"/>
            </a:avLst>
          </a:prstGeom>
          <a:solidFill>
            <a:schemeClr val="bg1"/>
          </a:solidFill>
          <a:ln w="9525">
            <a:solidFill>
              <a:schemeClr val="tx1"/>
            </a:solidFill>
            <a:miter lim="800000"/>
            <a:headEnd/>
            <a:tailEnd/>
          </a:ln>
        </p:spPr>
        <p:txBody>
          <a:bodyPr rot="10800000" wrap="none" anchor="ctr"/>
          <a:lstStyle/>
          <a:p>
            <a:pPr algn="ctr" eaLnBrk="1" hangingPunct="1"/>
            <a:endParaRPr kumimoji="1" lang="en-US" altLang="zh-CN" sz="2400">
              <a:latin typeface="Times New Roman" pitchFamily="18" charset="0"/>
            </a:endParaRPr>
          </a:p>
        </p:txBody>
      </p:sp>
      <p:sp>
        <p:nvSpPr>
          <p:cNvPr id="35860" name="Text Box 44"/>
          <p:cNvSpPr txBox="1">
            <a:spLocks noChangeArrowheads="1"/>
          </p:cNvSpPr>
          <p:nvPr/>
        </p:nvSpPr>
        <p:spPr bwMode="auto">
          <a:xfrm>
            <a:off x="6446838" y="602138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latin typeface="Times New Roman" pitchFamily="18" charset="0"/>
                <a:ea typeface="黑体" pitchFamily="49" charset="-122"/>
              </a:rPr>
              <a:t>互联网</a:t>
            </a:r>
          </a:p>
        </p:txBody>
      </p:sp>
      <p:pic>
        <p:nvPicPr>
          <p:cNvPr id="35861"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250" y="1557338"/>
            <a:ext cx="5857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2"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3475" y="3271838"/>
            <a:ext cx="5873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3"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8525" y="5059363"/>
            <a:ext cx="5857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64"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8613" y="1755775"/>
            <a:ext cx="587375"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65" name="Oval 80"/>
          <p:cNvSpPr>
            <a:spLocks noChangeArrowheads="1"/>
          </p:cNvSpPr>
          <p:nvPr/>
        </p:nvSpPr>
        <p:spPr bwMode="auto">
          <a:xfrm>
            <a:off x="4222750" y="2867025"/>
            <a:ext cx="457200" cy="458788"/>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B</a:t>
            </a:r>
          </a:p>
        </p:txBody>
      </p:sp>
      <p:sp>
        <p:nvSpPr>
          <p:cNvPr id="35866" name="Oval 81"/>
          <p:cNvSpPr>
            <a:spLocks noChangeArrowheads="1"/>
          </p:cNvSpPr>
          <p:nvPr/>
        </p:nvSpPr>
        <p:spPr bwMode="auto">
          <a:xfrm>
            <a:off x="5643563" y="2255838"/>
            <a:ext cx="457200" cy="458787"/>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D</a:t>
            </a:r>
          </a:p>
        </p:txBody>
      </p:sp>
      <p:sp>
        <p:nvSpPr>
          <p:cNvPr id="35867" name="Oval 82"/>
          <p:cNvSpPr>
            <a:spLocks noChangeArrowheads="1"/>
          </p:cNvSpPr>
          <p:nvPr/>
        </p:nvSpPr>
        <p:spPr bwMode="auto">
          <a:xfrm>
            <a:off x="6497638" y="3884613"/>
            <a:ext cx="457200" cy="458787"/>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E</a:t>
            </a:r>
          </a:p>
        </p:txBody>
      </p:sp>
      <p:sp>
        <p:nvSpPr>
          <p:cNvPr id="35868" name="Oval 83"/>
          <p:cNvSpPr>
            <a:spLocks noChangeArrowheads="1"/>
          </p:cNvSpPr>
          <p:nvPr/>
        </p:nvSpPr>
        <p:spPr bwMode="auto">
          <a:xfrm>
            <a:off x="5189538" y="5203825"/>
            <a:ext cx="457200" cy="458788"/>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C</a:t>
            </a:r>
          </a:p>
        </p:txBody>
      </p:sp>
      <p:sp>
        <p:nvSpPr>
          <p:cNvPr id="35869" name="Text Box 84"/>
          <p:cNvSpPr txBox="1">
            <a:spLocks noChangeArrowheads="1"/>
          </p:cNvSpPr>
          <p:nvPr/>
        </p:nvSpPr>
        <p:spPr bwMode="auto">
          <a:xfrm>
            <a:off x="6919913" y="501332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5</a:t>
            </a:r>
            <a:endParaRPr kumimoji="1" lang="en-US" altLang="zh-CN" sz="2000">
              <a:solidFill>
                <a:srgbClr val="333399"/>
              </a:solidFill>
            </a:endParaRPr>
          </a:p>
        </p:txBody>
      </p:sp>
      <p:sp>
        <p:nvSpPr>
          <p:cNvPr id="35870" name="Text Box 85"/>
          <p:cNvSpPr txBox="1">
            <a:spLocks noChangeArrowheads="1"/>
          </p:cNvSpPr>
          <p:nvPr/>
        </p:nvSpPr>
        <p:spPr bwMode="auto">
          <a:xfrm>
            <a:off x="7927975" y="32131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6</a:t>
            </a:r>
            <a:endParaRPr kumimoji="1" lang="en-US" altLang="zh-CN" sz="2000">
              <a:solidFill>
                <a:srgbClr val="333399"/>
              </a:solidFill>
            </a:endParaRPr>
          </a:p>
        </p:txBody>
      </p:sp>
      <p:sp>
        <p:nvSpPr>
          <p:cNvPr id="35871" name="Text Box 86"/>
          <p:cNvSpPr txBox="1">
            <a:spLocks noChangeArrowheads="1"/>
          </p:cNvSpPr>
          <p:nvPr/>
        </p:nvSpPr>
        <p:spPr bwMode="auto">
          <a:xfrm>
            <a:off x="5191125" y="155733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4</a:t>
            </a:r>
            <a:endParaRPr kumimoji="1" lang="en-US" altLang="zh-CN" sz="2000">
              <a:solidFill>
                <a:srgbClr val="333399"/>
              </a:solidFill>
            </a:endParaRPr>
          </a:p>
        </p:txBody>
      </p:sp>
      <p:sp>
        <p:nvSpPr>
          <p:cNvPr id="35872" name="Text Box 87"/>
          <p:cNvSpPr txBox="1">
            <a:spLocks noChangeArrowheads="1"/>
          </p:cNvSpPr>
          <p:nvPr/>
        </p:nvSpPr>
        <p:spPr bwMode="auto">
          <a:xfrm>
            <a:off x="3822700" y="1701800"/>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2</a:t>
            </a:r>
            <a:endParaRPr kumimoji="1" lang="en-US" altLang="zh-CN" sz="2000">
              <a:solidFill>
                <a:srgbClr val="333399"/>
              </a:solidFill>
            </a:endParaRPr>
          </a:p>
        </p:txBody>
      </p:sp>
      <p:sp>
        <p:nvSpPr>
          <p:cNvPr id="35873" name="Text Box 88"/>
          <p:cNvSpPr txBox="1">
            <a:spLocks noChangeArrowheads="1"/>
          </p:cNvSpPr>
          <p:nvPr/>
        </p:nvSpPr>
        <p:spPr bwMode="auto">
          <a:xfrm>
            <a:off x="4038600" y="6237288"/>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3</a:t>
            </a:r>
            <a:endParaRPr kumimoji="1" lang="en-US" altLang="zh-CN" sz="2000">
              <a:solidFill>
                <a:srgbClr val="333399"/>
              </a:solidFill>
            </a:endParaRPr>
          </a:p>
        </p:txBody>
      </p:sp>
      <p:sp>
        <p:nvSpPr>
          <p:cNvPr id="45" name="Rectangle 95"/>
          <p:cNvSpPr>
            <a:spLocks noChangeArrowheads="1"/>
          </p:cNvSpPr>
          <p:nvPr/>
        </p:nvSpPr>
        <p:spPr bwMode="auto">
          <a:xfrm>
            <a:off x="4327525" y="1917700"/>
            <a:ext cx="217488" cy="217488"/>
          </a:xfrm>
          <a:prstGeom prst="rect">
            <a:avLst/>
          </a:prstGeom>
          <a:solidFill>
            <a:srgbClr val="333399"/>
          </a:solidFill>
          <a:ln w="9525">
            <a:solidFill>
              <a:srgbClr val="333399"/>
            </a:solidFill>
            <a:miter lim="800000"/>
            <a:headEnd/>
            <a:tailEnd/>
          </a:ln>
        </p:spPr>
        <p:txBody>
          <a:bodyPr wrap="none" anchor="ctr"/>
          <a:lstStyle/>
          <a:p>
            <a:pPr eaLnBrk="1" hangingPunct="1"/>
            <a:endParaRPr lang="en-US" altLang="zh-CN"/>
          </a:p>
        </p:txBody>
      </p:sp>
      <p:pic>
        <p:nvPicPr>
          <p:cNvPr id="35875"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54275" y="4233863"/>
            <a:ext cx="5873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Rectangle 92"/>
          <p:cNvSpPr>
            <a:spLocks noChangeArrowheads="1"/>
          </p:cNvSpPr>
          <p:nvPr/>
        </p:nvSpPr>
        <p:spPr bwMode="auto">
          <a:xfrm>
            <a:off x="2670175" y="4365625"/>
            <a:ext cx="217488" cy="217488"/>
          </a:xfrm>
          <a:prstGeom prst="rect">
            <a:avLst/>
          </a:prstGeom>
          <a:solidFill>
            <a:schemeClr val="hlink"/>
          </a:solidFill>
          <a:ln w="9525">
            <a:solidFill>
              <a:schemeClr val="hlink"/>
            </a:solidFill>
            <a:miter lim="800000"/>
            <a:headEnd/>
            <a:tailEnd/>
          </a:ln>
        </p:spPr>
        <p:txBody>
          <a:bodyPr wrap="none" anchor="ctr"/>
          <a:lstStyle/>
          <a:p>
            <a:pPr eaLnBrk="1" hangingPunct="1"/>
            <a:endParaRPr lang="en-US" altLang="zh-CN"/>
          </a:p>
        </p:txBody>
      </p:sp>
      <p:sp>
        <p:nvSpPr>
          <p:cNvPr id="48" name="Rectangle 94"/>
          <p:cNvSpPr>
            <a:spLocks noChangeArrowheads="1"/>
          </p:cNvSpPr>
          <p:nvPr/>
        </p:nvSpPr>
        <p:spPr bwMode="auto">
          <a:xfrm>
            <a:off x="2670175" y="4365625"/>
            <a:ext cx="217488" cy="217488"/>
          </a:xfrm>
          <a:prstGeom prst="rect">
            <a:avLst/>
          </a:prstGeom>
          <a:solidFill>
            <a:schemeClr val="hlink"/>
          </a:solidFill>
          <a:ln w="9525">
            <a:solidFill>
              <a:schemeClr val="hlink"/>
            </a:solidFill>
            <a:miter lim="800000"/>
            <a:headEnd/>
            <a:tailEnd/>
          </a:ln>
        </p:spPr>
        <p:txBody>
          <a:bodyPr wrap="none" anchor="ctr"/>
          <a:lstStyle/>
          <a:p>
            <a:pPr eaLnBrk="1" hangingPunct="1"/>
            <a:endParaRPr lang="en-US" altLang="zh-CN"/>
          </a:p>
        </p:txBody>
      </p:sp>
      <p:sp>
        <p:nvSpPr>
          <p:cNvPr id="35878" name="Text Box 98"/>
          <p:cNvSpPr txBox="1">
            <a:spLocks noChangeArrowheads="1"/>
          </p:cNvSpPr>
          <p:nvPr/>
        </p:nvSpPr>
        <p:spPr bwMode="auto">
          <a:xfrm>
            <a:off x="8070850" y="5157788"/>
            <a:ext cx="2609850" cy="466725"/>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dirty="0">
                <a:solidFill>
                  <a:srgbClr val="333399"/>
                </a:solidFill>
              </a:rPr>
              <a:t>H</a:t>
            </a:r>
            <a:r>
              <a:rPr kumimoji="1" lang="en-US" altLang="zh-CN" sz="2400" baseline="-25000" dirty="0">
                <a:solidFill>
                  <a:srgbClr val="333399"/>
                </a:solidFill>
              </a:rPr>
              <a:t>1 </a:t>
            </a:r>
            <a:r>
              <a:rPr kumimoji="1" lang="zh-CN" altLang="en-US" sz="2400" dirty="0">
                <a:solidFill>
                  <a:srgbClr val="333399"/>
                </a:solidFill>
                <a:ea typeface="黑体" pitchFamily="49" charset="-122"/>
              </a:rPr>
              <a:t>向 </a:t>
            </a:r>
            <a:r>
              <a:rPr kumimoji="1" lang="en-US" altLang="zh-CN" sz="2400" dirty="0">
                <a:solidFill>
                  <a:srgbClr val="333399"/>
                </a:solidFill>
                <a:ea typeface="黑体" pitchFamily="49" charset="-122"/>
              </a:rPr>
              <a:t>H</a:t>
            </a:r>
            <a:r>
              <a:rPr kumimoji="1" lang="en-US" altLang="zh-CN" sz="2400" baseline="-25000" dirty="0">
                <a:solidFill>
                  <a:srgbClr val="333399"/>
                </a:solidFill>
                <a:ea typeface="黑体" pitchFamily="49" charset="-122"/>
              </a:rPr>
              <a:t>5</a:t>
            </a:r>
            <a:r>
              <a:rPr kumimoji="1" lang="en-US" altLang="zh-CN" sz="2400" dirty="0">
                <a:solidFill>
                  <a:srgbClr val="333399"/>
                </a:solidFill>
                <a:ea typeface="黑体" pitchFamily="49" charset="-122"/>
              </a:rPr>
              <a:t> </a:t>
            </a:r>
            <a:r>
              <a:rPr kumimoji="1" lang="zh-CN" altLang="en-US" sz="2400" dirty="0">
                <a:solidFill>
                  <a:srgbClr val="333399"/>
                </a:solidFill>
                <a:ea typeface="黑体" pitchFamily="49" charset="-122"/>
              </a:rPr>
              <a:t>发送分组</a:t>
            </a:r>
          </a:p>
        </p:txBody>
      </p:sp>
      <p:sp>
        <p:nvSpPr>
          <p:cNvPr id="50" name="Text Box 99"/>
          <p:cNvSpPr txBox="1">
            <a:spLocks noChangeArrowheads="1"/>
          </p:cNvSpPr>
          <p:nvPr/>
        </p:nvSpPr>
        <p:spPr bwMode="auto">
          <a:xfrm>
            <a:off x="8070850" y="4292600"/>
            <a:ext cx="2609850" cy="466725"/>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400" dirty="0">
                <a:solidFill>
                  <a:srgbClr val="333399"/>
                </a:solidFill>
              </a:rPr>
              <a:t>H</a:t>
            </a:r>
            <a:r>
              <a:rPr kumimoji="1" lang="en-US" altLang="zh-CN" sz="2400" baseline="-25000" dirty="0">
                <a:solidFill>
                  <a:srgbClr val="333399"/>
                </a:solidFill>
              </a:rPr>
              <a:t>2 </a:t>
            </a:r>
            <a:r>
              <a:rPr kumimoji="1" lang="zh-CN" altLang="en-US" sz="2400" dirty="0">
                <a:solidFill>
                  <a:srgbClr val="333399"/>
                </a:solidFill>
                <a:ea typeface="黑体" pitchFamily="49" charset="-122"/>
              </a:rPr>
              <a:t>向 </a:t>
            </a:r>
            <a:r>
              <a:rPr kumimoji="1" lang="en-US" altLang="zh-CN" sz="2400" dirty="0">
                <a:solidFill>
                  <a:srgbClr val="333399"/>
                </a:solidFill>
                <a:ea typeface="黑体" pitchFamily="49" charset="-122"/>
              </a:rPr>
              <a:t>H</a:t>
            </a:r>
            <a:r>
              <a:rPr kumimoji="1" lang="en-US" altLang="zh-CN" sz="2400" baseline="-25000" dirty="0">
                <a:solidFill>
                  <a:srgbClr val="333399"/>
                </a:solidFill>
                <a:ea typeface="黑体" pitchFamily="49" charset="-122"/>
              </a:rPr>
              <a:t>6</a:t>
            </a:r>
            <a:r>
              <a:rPr kumimoji="1" lang="en-US" altLang="zh-CN" sz="2400" dirty="0">
                <a:solidFill>
                  <a:srgbClr val="333399"/>
                </a:solidFill>
                <a:ea typeface="黑体" pitchFamily="49" charset="-122"/>
              </a:rPr>
              <a:t> </a:t>
            </a:r>
            <a:r>
              <a:rPr kumimoji="1" lang="zh-CN" altLang="en-US" sz="2400" dirty="0">
                <a:solidFill>
                  <a:srgbClr val="333399"/>
                </a:solidFill>
                <a:ea typeface="黑体" pitchFamily="49" charset="-122"/>
              </a:rPr>
              <a:t>发送分组</a:t>
            </a:r>
          </a:p>
        </p:txBody>
      </p:sp>
      <p:sp>
        <p:nvSpPr>
          <p:cNvPr id="51" name="Rectangle 100"/>
          <p:cNvSpPr>
            <a:spLocks noChangeArrowheads="1"/>
          </p:cNvSpPr>
          <p:nvPr/>
        </p:nvSpPr>
        <p:spPr bwMode="auto">
          <a:xfrm>
            <a:off x="2670175" y="4365625"/>
            <a:ext cx="217488" cy="217488"/>
          </a:xfrm>
          <a:prstGeom prst="rect">
            <a:avLst/>
          </a:prstGeom>
          <a:solidFill>
            <a:schemeClr val="hlink"/>
          </a:solidFill>
          <a:ln w="9525">
            <a:solidFill>
              <a:schemeClr val="hlink"/>
            </a:solidFill>
            <a:miter lim="800000"/>
            <a:headEnd/>
            <a:tailEnd/>
          </a:ln>
        </p:spPr>
        <p:txBody>
          <a:bodyPr wrap="none" anchor="ctr"/>
          <a:lstStyle/>
          <a:p>
            <a:pPr eaLnBrk="1" hangingPunct="1"/>
            <a:endParaRPr lang="en-US" altLang="zh-CN"/>
          </a:p>
        </p:txBody>
      </p:sp>
      <p:sp>
        <p:nvSpPr>
          <p:cNvPr id="52" name="Rectangle 101"/>
          <p:cNvSpPr>
            <a:spLocks noChangeArrowheads="1"/>
          </p:cNvSpPr>
          <p:nvPr/>
        </p:nvSpPr>
        <p:spPr bwMode="auto">
          <a:xfrm>
            <a:off x="4327525" y="1917700"/>
            <a:ext cx="217488" cy="217488"/>
          </a:xfrm>
          <a:prstGeom prst="rect">
            <a:avLst/>
          </a:prstGeom>
          <a:solidFill>
            <a:srgbClr val="333399"/>
          </a:solidFill>
          <a:ln w="9525">
            <a:solidFill>
              <a:srgbClr val="333399"/>
            </a:solidFill>
            <a:miter lim="800000"/>
            <a:headEnd/>
            <a:tailEnd/>
          </a:ln>
        </p:spPr>
        <p:txBody>
          <a:bodyPr wrap="none" anchor="ctr"/>
          <a:lstStyle/>
          <a:p>
            <a:pPr eaLnBrk="1" hangingPunct="1"/>
            <a:endParaRPr lang="en-US" altLang="zh-CN"/>
          </a:p>
        </p:txBody>
      </p:sp>
      <p:sp>
        <p:nvSpPr>
          <p:cNvPr id="53" name="Rectangle 97"/>
          <p:cNvSpPr>
            <a:spLocks noChangeArrowheads="1"/>
          </p:cNvSpPr>
          <p:nvPr/>
        </p:nvSpPr>
        <p:spPr bwMode="auto">
          <a:xfrm>
            <a:off x="2670175" y="4365625"/>
            <a:ext cx="217488" cy="217488"/>
          </a:xfrm>
          <a:prstGeom prst="rect">
            <a:avLst/>
          </a:prstGeom>
          <a:solidFill>
            <a:schemeClr val="hlink"/>
          </a:solidFill>
          <a:ln w="9525">
            <a:solidFill>
              <a:srgbClr val="333399"/>
            </a:solidFill>
            <a:miter lim="800000"/>
            <a:headEnd/>
            <a:tailEnd/>
          </a:ln>
        </p:spPr>
        <p:txBody>
          <a:bodyPr wrap="none" anchor="ctr"/>
          <a:lstStyle/>
          <a:p>
            <a:pPr eaLnBrk="1" hangingPunct="1"/>
            <a:endParaRPr lang="en-US" altLang="zh-CN"/>
          </a:p>
        </p:txBody>
      </p:sp>
      <p:sp>
        <p:nvSpPr>
          <p:cNvPr id="54" name="Rectangle 96"/>
          <p:cNvSpPr>
            <a:spLocks noChangeArrowheads="1"/>
          </p:cNvSpPr>
          <p:nvPr/>
        </p:nvSpPr>
        <p:spPr bwMode="auto">
          <a:xfrm>
            <a:off x="4327525" y="1917700"/>
            <a:ext cx="217488" cy="217488"/>
          </a:xfrm>
          <a:prstGeom prst="rect">
            <a:avLst/>
          </a:prstGeom>
          <a:solidFill>
            <a:srgbClr val="333399"/>
          </a:solidFill>
          <a:ln w="9525">
            <a:solidFill>
              <a:srgbClr val="333399"/>
            </a:solidFill>
            <a:miter lim="800000"/>
            <a:headEnd/>
            <a:tailEnd/>
          </a:ln>
        </p:spPr>
        <p:txBody>
          <a:bodyPr wrap="none" anchor="ctr"/>
          <a:lstStyle/>
          <a:p>
            <a:pPr eaLnBrk="1" hangingPunct="1"/>
            <a:endParaRPr lang="en-US" altLang="zh-CN"/>
          </a:p>
        </p:txBody>
      </p:sp>
      <p:sp>
        <p:nvSpPr>
          <p:cNvPr id="35884" name="Text Box 103"/>
          <p:cNvSpPr txBox="1">
            <a:spLocks noChangeArrowheads="1"/>
          </p:cNvSpPr>
          <p:nvPr/>
        </p:nvSpPr>
        <p:spPr bwMode="auto">
          <a:xfrm>
            <a:off x="2589213" y="2493963"/>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路由器</a:t>
            </a:r>
          </a:p>
        </p:txBody>
      </p:sp>
      <p:sp>
        <p:nvSpPr>
          <p:cNvPr id="35885" name="Line 106"/>
          <p:cNvSpPr>
            <a:spLocks noChangeShapeType="1"/>
          </p:cNvSpPr>
          <p:nvPr/>
        </p:nvSpPr>
        <p:spPr bwMode="auto">
          <a:xfrm>
            <a:off x="3462338" y="2781300"/>
            <a:ext cx="792162" cy="2159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8" name="Text Box 102"/>
          <p:cNvSpPr txBox="1">
            <a:spLocks noChangeArrowheads="1"/>
          </p:cNvSpPr>
          <p:nvPr/>
        </p:nvSpPr>
        <p:spPr bwMode="auto">
          <a:xfrm>
            <a:off x="7434143" y="2186861"/>
            <a:ext cx="4134465" cy="954107"/>
          </a:xfrm>
          <a:prstGeom prst="rect">
            <a:avLst/>
          </a:prstGeom>
          <a:solidFill>
            <a:srgbClr val="FFFFCC"/>
          </a:solidFill>
          <a:ln w="76200" cmpd="tri">
            <a:solidFill>
              <a:srgbClr val="333399"/>
            </a:solidFill>
            <a:miter lim="800000"/>
            <a:headEnd/>
            <a:tailEnd/>
          </a:ln>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800" dirty="0" smtClean="0">
                <a:solidFill>
                  <a:srgbClr val="333399"/>
                </a:solidFill>
                <a:latin typeface="黑体" pitchFamily="49" charset="-122"/>
                <a:ea typeface="黑体" pitchFamily="49" charset="-122"/>
              </a:rPr>
              <a:t>由于链路状态不断变化，</a:t>
            </a:r>
            <a:endParaRPr kumimoji="1" lang="en-US" altLang="zh-CN" sz="2800" dirty="0" smtClean="0">
              <a:solidFill>
                <a:srgbClr val="333399"/>
              </a:solidFill>
              <a:latin typeface="黑体" pitchFamily="49" charset="-122"/>
              <a:ea typeface="黑体" pitchFamily="49" charset="-122"/>
            </a:endParaRPr>
          </a:p>
          <a:p>
            <a:pPr eaLnBrk="1" hangingPunct="1"/>
            <a:r>
              <a:rPr kumimoji="1" lang="zh-CN" altLang="en-US" sz="2800" dirty="0" smtClean="0">
                <a:solidFill>
                  <a:srgbClr val="333399"/>
                </a:solidFill>
                <a:latin typeface="黑体" pitchFamily="49" charset="-122"/>
                <a:ea typeface="黑体" pitchFamily="49" charset="-122"/>
              </a:rPr>
              <a:t>分组路径也会动态变化</a:t>
            </a:r>
            <a:r>
              <a:rPr kumimoji="1" lang="zh-CN" altLang="en-US" sz="2800" dirty="0">
                <a:solidFill>
                  <a:srgbClr val="333399"/>
                </a:solidFill>
                <a:latin typeface="黑体" pitchFamily="49" charset="-122"/>
                <a:ea typeface="黑体" pitchFamily="49" charset="-122"/>
              </a:rPr>
              <a:t>！</a:t>
            </a:r>
          </a:p>
        </p:txBody>
      </p:sp>
      <p:pic>
        <p:nvPicPr>
          <p:cNvPr id="35888"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38650" y="6148388"/>
            <a:ext cx="5857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89" name="Text Box 56"/>
          <p:cNvSpPr txBox="1">
            <a:spLocks noChangeArrowheads="1"/>
          </p:cNvSpPr>
          <p:nvPr/>
        </p:nvSpPr>
        <p:spPr bwMode="auto">
          <a:xfrm>
            <a:off x="2379514" y="4904333"/>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latin typeface="Times New Roman" pitchFamily="18" charset="0"/>
                <a:ea typeface="黑体" pitchFamily="49" charset="-122"/>
              </a:rPr>
              <a:t>主机</a:t>
            </a:r>
          </a:p>
        </p:txBody>
      </p:sp>
      <p:sp>
        <p:nvSpPr>
          <p:cNvPr id="6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3" name="TextBox 2"/>
          <p:cNvSpPr txBox="1"/>
          <p:nvPr/>
        </p:nvSpPr>
        <p:spPr>
          <a:xfrm>
            <a:off x="1365538" y="2060923"/>
            <a:ext cx="553998" cy="4384327"/>
          </a:xfrm>
          <a:prstGeom prst="rect">
            <a:avLst/>
          </a:prstGeom>
          <a:noFill/>
        </p:spPr>
        <p:txBody>
          <a:bodyPr vert="eaVert" wrap="square" rtlCol="0">
            <a:spAutoFit/>
          </a:bodyPr>
          <a:lstStyle/>
          <a:p>
            <a:r>
              <a:rPr lang="zh-CN" altLang="en-US" sz="2400" b="1" dirty="0" smtClean="0">
                <a:solidFill>
                  <a:srgbClr val="1C1C1C"/>
                </a:solidFill>
                <a:latin typeface="微软雅黑" pitchFamily="34" charset="-122"/>
                <a:ea typeface="微软雅黑" pitchFamily="34" charset="-122"/>
              </a:rPr>
              <a:t>每个</a:t>
            </a:r>
            <a:r>
              <a:rPr lang="zh-CN" altLang="en-US" sz="2400" b="1" dirty="0">
                <a:solidFill>
                  <a:srgbClr val="1C1C1C"/>
                </a:solidFill>
                <a:latin typeface="微软雅黑" pitchFamily="34" charset="-122"/>
                <a:ea typeface="微软雅黑" pitchFamily="34" charset="-122"/>
              </a:rPr>
              <a:t>分组</a:t>
            </a:r>
            <a:r>
              <a:rPr lang="zh-CN" altLang="en-US" sz="2400" b="1" dirty="0" smtClean="0">
                <a:solidFill>
                  <a:srgbClr val="1C1C1C"/>
                </a:solidFill>
                <a:latin typeface="微软雅黑" pitchFamily="34" charset="-122"/>
                <a:ea typeface="微软雅黑" pitchFamily="34" charset="-122"/>
              </a:rPr>
              <a:t>独立选择</a:t>
            </a:r>
            <a:r>
              <a:rPr lang="zh-CN" altLang="en-US" sz="2400" b="1" dirty="0">
                <a:solidFill>
                  <a:srgbClr val="1C1C1C"/>
                </a:solidFill>
                <a:latin typeface="微软雅黑" pitchFamily="34" charset="-122"/>
                <a:ea typeface="微软雅黑" pitchFamily="34" charset="-122"/>
              </a:rPr>
              <a:t>传输</a:t>
            </a:r>
            <a:r>
              <a:rPr lang="zh-CN" altLang="en-US" sz="2400" b="1" dirty="0" smtClean="0">
                <a:solidFill>
                  <a:srgbClr val="1C1C1C"/>
                </a:solidFill>
                <a:latin typeface="微软雅黑" pitchFamily="34" charset="-122"/>
                <a:ea typeface="微软雅黑" pitchFamily="34" charset="-122"/>
              </a:rPr>
              <a:t>路径</a:t>
            </a:r>
            <a:endParaRPr lang="zh-CN" altLang="en-US" sz="2400" b="1" dirty="0">
              <a:solidFill>
                <a:srgbClr val="1C1C1C"/>
              </a:solidFill>
              <a:latin typeface="微软雅黑" pitchFamily="34" charset="-122"/>
              <a:ea typeface="微软雅黑" pitchFamily="34" charset="-122"/>
            </a:endParaRPr>
          </a:p>
        </p:txBody>
      </p:sp>
      <p:sp>
        <p:nvSpPr>
          <p:cNvPr id="5" name="爆炸形 1 4"/>
          <p:cNvSpPr/>
          <p:nvPr/>
        </p:nvSpPr>
        <p:spPr>
          <a:xfrm>
            <a:off x="551384" y="1400969"/>
            <a:ext cx="864096" cy="1001712"/>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3"/>
          <p:cNvSpPr>
            <a:spLocks noChangeArrowheads="1"/>
          </p:cNvSpPr>
          <p:nvPr/>
        </p:nvSpPr>
        <p:spPr bwMode="auto">
          <a:xfrm>
            <a:off x="6343650" y="1330365"/>
            <a:ext cx="565700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r>
              <a:rPr kumimoji="1" lang="zh-CN" altLang="en-US" sz="2400" b="1" dirty="0" smtClean="0">
                <a:solidFill>
                  <a:srgbClr val="1C1C1C"/>
                </a:solidFill>
                <a:latin typeface="微软雅黑" panose="020B0503020204020204" pitchFamily="34" charset="-122"/>
                <a:ea typeface="微软雅黑" panose="020B0503020204020204" pitchFamily="34" charset="-122"/>
              </a:rPr>
              <a:t>当讨论路由器转发分组的过程时，</a:t>
            </a:r>
            <a:r>
              <a:rPr kumimoji="1" lang="zh-CN" altLang="zh-CN" sz="2400" b="1" dirty="0" smtClean="0">
                <a:solidFill>
                  <a:srgbClr val="1C1C1C"/>
                </a:solidFill>
                <a:latin typeface="微软雅黑" panose="020B0503020204020204" pitchFamily="34" charset="-122"/>
                <a:ea typeface="微软雅黑" panose="020B0503020204020204" pitchFamily="34" charset="-122"/>
              </a:rPr>
              <a:t>核心</a:t>
            </a:r>
            <a:r>
              <a:rPr kumimoji="1" lang="zh-CN" altLang="zh-CN" sz="2400" b="1" dirty="0">
                <a:solidFill>
                  <a:srgbClr val="1C1C1C"/>
                </a:solidFill>
                <a:latin typeface="微软雅黑" panose="020B0503020204020204" pitchFamily="34" charset="-122"/>
                <a:ea typeface="微软雅黑" panose="020B0503020204020204" pitchFamily="34" charset="-122"/>
              </a:rPr>
              <a:t>部分</a:t>
            </a:r>
            <a:r>
              <a:rPr kumimoji="1" lang="zh-CN" altLang="en-US" sz="2400" b="1" dirty="0">
                <a:solidFill>
                  <a:srgbClr val="1C1C1C"/>
                </a:solidFill>
                <a:latin typeface="微软雅黑" panose="020B0503020204020204" pitchFamily="34" charset="-122"/>
                <a:ea typeface="微软雅黑" panose="020B0503020204020204" pitchFamily="34" charset="-122"/>
              </a:rPr>
              <a:t>中</a:t>
            </a:r>
            <a:r>
              <a:rPr kumimoji="1" lang="zh-CN" altLang="zh-CN" sz="2400" b="1" dirty="0" smtClean="0">
                <a:solidFill>
                  <a:srgbClr val="1C1C1C"/>
                </a:solidFill>
                <a:latin typeface="微软雅黑" panose="020B0503020204020204" pitchFamily="34" charset="-122"/>
                <a:ea typeface="微软雅黑" panose="020B0503020204020204" pitchFamily="34" charset="-122"/>
              </a:rPr>
              <a:t>的</a:t>
            </a:r>
            <a:r>
              <a:rPr kumimoji="1" lang="zh-CN" altLang="en-US" sz="2400" b="1" dirty="0" smtClean="0">
                <a:solidFill>
                  <a:srgbClr val="1C1C1C"/>
                </a:solidFill>
                <a:latin typeface="微软雅黑" panose="020B0503020204020204" pitchFamily="34" charset="-122"/>
                <a:ea typeface="微软雅黑" panose="020B0503020204020204" pitchFamily="34" charset="-122"/>
              </a:rPr>
              <a:t>单个网络</a:t>
            </a:r>
            <a:r>
              <a:rPr kumimoji="1" lang="zh-CN" altLang="zh-CN" sz="2400" b="1" dirty="0" smtClean="0">
                <a:solidFill>
                  <a:srgbClr val="1C1C1C"/>
                </a:solidFill>
                <a:latin typeface="微软雅黑" panose="020B0503020204020204" pitchFamily="34" charset="-122"/>
                <a:ea typeface="微软雅黑" panose="020B0503020204020204" pitchFamily="34" charset="-122"/>
              </a:rPr>
              <a:t>可</a:t>
            </a:r>
            <a:r>
              <a:rPr kumimoji="1" lang="zh-CN" altLang="en-US" sz="2400" b="1" dirty="0" smtClean="0">
                <a:solidFill>
                  <a:srgbClr val="1C1C1C"/>
                </a:solidFill>
                <a:latin typeface="微软雅黑" panose="020B0503020204020204" pitchFamily="34" charset="-122"/>
                <a:ea typeface="微软雅黑" panose="020B0503020204020204" pitchFamily="34" charset="-122"/>
              </a:rPr>
              <a:t>简化为</a:t>
            </a:r>
            <a:r>
              <a:rPr kumimoji="1" lang="zh-CN" altLang="zh-CN" sz="2400" b="1" dirty="0" smtClean="0">
                <a:solidFill>
                  <a:srgbClr val="1C1C1C"/>
                </a:solidFill>
                <a:latin typeface="微软雅黑" panose="020B0503020204020204" pitchFamily="34" charset="-122"/>
                <a:ea typeface="微软雅黑" panose="020B0503020204020204" pitchFamily="34" charset="-122"/>
              </a:rPr>
              <a:t>一</a:t>
            </a:r>
            <a:r>
              <a:rPr kumimoji="1" lang="zh-CN" altLang="zh-CN" sz="2400" b="1" dirty="0">
                <a:solidFill>
                  <a:srgbClr val="1C1C1C"/>
                </a:solidFill>
                <a:latin typeface="微软雅黑" panose="020B0503020204020204" pitchFamily="34" charset="-122"/>
                <a:ea typeface="微软雅黑" panose="020B0503020204020204" pitchFamily="34" charset="-122"/>
              </a:rPr>
              <a:t>条</a:t>
            </a:r>
            <a:r>
              <a:rPr kumimoji="1" lang="zh-CN" altLang="zh-CN" sz="2400" b="1" dirty="0" smtClean="0">
                <a:solidFill>
                  <a:srgbClr val="1C1C1C"/>
                </a:solidFill>
                <a:latin typeface="微软雅黑" panose="020B0503020204020204" pitchFamily="34" charset="-122"/>
                <a:ea typeface="微软雅黑" panose="020B0503020204020204" pitchFamily="34" charset="-122"/>
              </a:rPr>
              <a:t>链路</a:t>
            </a:r>
            <a:endParaRPr kumimoji="1" lang="zh-CN" altLang="en-US" sz="2400" b="1" dirty="0">
              <a:solidFill>
                <a:srgbClr val="1C1C1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985399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60"/>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78"/>
                                        </p:tgtEl>
                                        <p:attrNameLst>
                                          <p:attrName>style.visibility</p:attrName>
                                        </p:attrNameLst>
                                      </p:cBhvr>
                                      <p:to>
                                        <p:strVal val="visible"/>
                                      </p:to>
                                    </p:set>
                                  </p:childTnLst>
                                </p:cTn>
                              </p:par>
                            </p:childTnLst>
                          </p:cTn>
                        </p:par>
                        <p:par>
                          <p:cTn id="11" fill="hold">
                            <p:stCondLst>
                              <p:cond delay="0"/>
                            </p:stCondLst>
                            <p:childTnLst>
                              <p:par>
                                <p:cTn id="12" presetID="35" presetClass="emph" presetSubtype="0" repeatCount="3000" fill="hold" grpId="1" nodeType="afterEffect">
                                  <p:stCondLst>
                                    <p:cond delay="0"/>
                                  </p:stCondLst>
                                  <p:childTnLst>
                                    <p:anim calcmode="discrete" valueType="str">
                                      <p:cBhvr>
                                        <p:cTn id="13" dur="1000" fill="hold"/>
                                        <p:tgtEl>
                                          <p:spTgt spid="35878"/>
                                        </p:tgtEl>
                                        <p:attrNameLst>
                                          <p:attrName>style.visibility</p:attrName>
                                        </p:attrNameLst>
                                      </p:cBhvr>
                                      <p:tavLst>
                                        <p:tav tm="0">
                                          <p:val>
                                            <p:strVal val="hidden"/>
                                          </p:val>
                                        </p:tav>
                                        <p:tav tm="50000">
                                          <p:val>
                                            <p:strVal val="visible"/>
                                          </p:val>
                                        </p:tav>
                                      </p:tavLst>
                                    </p:anim>
                                  </p:childTnLst>
                                </p:cTn>
                              </p:par>
                            </p:childTnLst>
                          </p:cTn>
                        </p:par>
                        <p:par>
                          <p:cTn id="14" fill="hold" nodeType="withGroup">
                            <p:stCondLst>
                              <p:cond delay="3000"/>
                            </p:stCondLst>
                            <p:childTnLst>
                              <p:par>
                                <p:cTn id="15" presetID="1" presetClass="entr" presetSubtype="0" fill="hold" grpId="0" nodeType="after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par>
                          <p:cTn id="17" fill="hold" nodeType="afterGroup">
                            <p:stCondLst>
                              <p:cond delay="3000"/>
                            </p:stCondLst>
                            <p:childTnLst>
                              <p:par>
                                <p:cTn id="18" presetID="0" presetClass="path" presetSubtype="0" accel="50000" decel="50000" fill="hold" grpId="1" nodeType="afterEffect">
                                  <p:stCondLst>
                                    <p:cond delay="0"/>
                                  </p:stCondLst>
                                  <p:childTnLst>
                                    <p:animMotion origin="layout" path="M -4.58333E-6 -0.00231 L 0.07813 -0.00231 L 0.21589 0.15 L 0.32722 -0.04722 L 0.39024 0.13264 " pathEditMode="relative" rAng="0" ptsTypes="AAAAA">
                                      <p:cBhvr>
                                        <p:cTn id="19" dur="2000" fill="hold"/>
                                        <p:tgtEl>
                                          <p:spTgt spid="47"/>
                                        </p:tgtEl>
                                        <p:attrNameLst>
                                          <p:attrName>ppt_x</p:attrName>
                                          <p:attrName>ppt_y</p:attrName>
                                        </p:attrNameLst>
                                      </p:cBhvr>
                                      <p:rCtr x="19505" y="5370"/>
                                    </p:animMotion>
                                  </p:childTnLst>
                                </p:cTn>
                              </p:par>
                            </p:childTnLst>
                          </p:cTn>
                        </p:par>
                        <p:par>
                          <p:cTn id="20" fill="hold" nodeType="afterGroup">
                            <p:stCondLst>
                              <p:cond delay="5000"/>
                            </p:stCondLst>
                            <p:childTnLst>
                              <p:par>
                                <p:cTn id="21" presetID="1" presetClass="exit" presetSubtype="0" fill="hold" grpId="2" nodeType="afterEffect">
                                  <p:stCondLst>
                                    <p:cond delay="0"/>
                                  </p:stCondLst>
                                  <p:childTnLst>
                                    <p:set>
                                      <p:cBhvr>
                                        <p:cTn id="22" dur="1" fill="hold">
                                          <p:stCondLst>
                                            <p:cond delay="0"/>
                                          </p:stCondLst>
                                        </p:cTn>
                                        <p:tgtEl>
                                          <p:spTgt spid="47"/>
                                        </p:tgtEl>
                                        <p:attrNameLst>
                                          <p:attrName>style.visibility</p:attrName>
                                        </p:attrNameLst>
                                      </p:cBhvr>
                                      <p:to>
                                        <p:strVal val="hidden"/>
                                      </p:to>
                                    </p:set>
                                  </p:childTnLst>
                                </p:cTn>
                              </p:par>
                            </p:childTnLst>
                          </p:cTn>
                        </p:par>
                        <p:par>
                          <p:cTn id="23" fill="hold" nodeType="afterGroup">
                            <p:stCondLst>
                              <p:cond delay="5000"/>
                            </p:stCondLst>
                            <p:childTnLst>
                              <p:par>
                                <p:cTn id="24" presetID="1" presetClass="entr" presetSubtype="0" fill="hold" grpId="0" nodeType="afterEffect">
                                  <p:stCondLst>
                                    <p:cond delay="0"/>
                                  </p:stCondLst>
                                  <p:childTnLst>
                                    <p:set>
                                      <p:cBhvr>
                                        <p:cTn id="25" dur="1" fill="hold">
                                          <p:stCondLst>
                                            <p:cond delay="0"/>
                                          </p:stCondLst>
                                        </p:cTn>
                                        <p:tgtEl>
                                          <p:spTgt spid="48"/>
                                        </p:tgtEl>
                                        <p:attrNameLst>
                                          <p:attrName>style.visibility</p:attrName>
                                        </p:attrNameLst>
                                      </p:cBhvr>
                                      <p:to>
                                        <p:strVal val="visible"/>
                                      </p:to>
                                    </p:set>
                                  </p:childTnLst>
                                </p:cTn>
                              </p:par>
                            </p:childTnLst>
                          </p:cTn>
                        </p:par>
                        <p:par>
                          <p:cTn id="26" fill="hold" nodeType="afterGroup">
                            <p:stCondLst>
                              <p:cond delay="5000"/>
                            </p:stCondLst>
                            <p:childTnLst>
                              <p:par>
                                <p:cTn id="27" presetID="0" presetClass="path" presetSubtype="0" accel="50000" decel="50000" fill="hold" grpId="1" nodeType="afterEffect">
                                  <p:stCondLst>
                                    <p:cond delay="0"/>
                                  </p:stCondLst>
                                  <p:childTnLst>
                                    <p:animMotion origin="layout" path="M -4.58333E-6 -0.00138 L 0.07657 0.0007 L 0.13308 -0.20717 L 0.31954 -0.05601 L 0.39024 0.14167 " pathEditMode="relative" rAng="0" ptsTypes="AAAAA">
                                      <p:cBhvr>
                                        <p:cTn id="28" dur="2000" fill="hold"/>
                                        <p:tgtEl>
                                          <p:spTgt spid="48"/>
                                        </p:tgtEl>
                                        <p:attrNameLst>
                                          <p:attrName>ppt_x</p:attrName>
                                          <p:attrName>ppt_y</p:attrName>
                                        </p:attrNameLst>
                                      </p:cBhvr>
                                      <p:rCtr x="19505" y="-3148"/>
                                    </p:animMotion>
                                  </p:childTnLst>
                                </p:cTn>
                              </p:par>
                            </p:childTnLst>
                          </p:cTn>
                        </p:par>
                        <p:par>
                          <p:cTn id="29" fill="hold" nodeType="afterGroup">
                            <p:stCondLst>
                              <p:cond delay="7000"/>
                            </p:stCondLst>
                            <p:childTnLst>
                              <p:par>
                                <p:cTn id="30" presetID="1" presetClass="exit" presetSubtype="0" fill="hold" grpId="2" nodeType="afterEffect">
                                  <p:stCondLst>
                                    <p:cond delay="0"/>
                                  </p:stCondLst>
                                  <p:childTnLst>
                                    <p:set>
                                      <p:cBhvr>
                                        <p:cTn id="31" dur="1" fill="hold">
                                          <p:stCondLst>
                                            <p:cond delay="0"/>
                                          </p:stCondLst>
                                        </p:cTn>
                                        <p:tgtEl>
                                          <p:spTgt spid="48"/>
                                        </p:tgtEl>
                                        <p:attrNameLst>
                                          <p:attrName>style.visibility</p:attrName>
                                        </p:attrNameLst>
                                      </p:cBhvr>
                                      <p:to>
                                        <p:strVal val="hidden"/>
                                      </p:to>
                                    </p:set>
                                  </p:childTnLst>
                                </p:cTn>
                              </p:par>
                            </p:childTnLst>
                          </p:cTn>
                        </p:par>
                        <p:par>
                          <p:cTn id="32" fill="hold">
                            <p:stCondLst>
                              <p:cond delay="7000"/>
                            </p:stCondLst>
                            <p:childTnLst>
                              <p:par>
                                <p:cTn id="33" presetID="42" presetClass="entr" presetSubtype="0" fill="hold" grpId="0"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1000"/>
                                        <p:tgtEl>
                                          <p:spTgt spid="3"/>
                                        </p:tgtEl>
                                      </p:cBhvr>
                                    </p:animEffect>
                                    <p:anim calcmode="lin" valueType="num">
                                      <p:cBhvr>
                                        <p:cTn id="36" dur="1000" fill="hold"/>
                                        <p:tgtEl>
                                          <p:spTgt spid="3"/>
                                        </p:tgtEl>
                                        <p:attrNameLst>
                                          <p:attrName>ppt_x</p:attrName>
                                        </p:attrNameLst>
                                      </p:cBhvr>
                                      <p:tavLst>
                                        <p:tav tm="0">
                                          <p:val>
                                            <p:strVal val="#ppt_x"/>
                                          </p:val>
                                        </p:tav>
                                        <p:tav tm="100000">
                                          <p:val>
                                            <p:strVal val="#ppt_x"/>
                                          </p:val>
                                        </p:tav>
                                      </p:tavLst>
                                    </p:anim>
                                    <p:anim calcmode="lin" valueType="num">
                                      <p:cBhvr>
                                        <p:cTn id="37" dur="1000" fill="hold"/>
                                        <p:tgtEl>
                                          <p:spTgt spid="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1000"/>
                                        <p:tgtEl>
                                          <p:spTgt spid="5"/>
                                        </p:tgtEl>
                                      </p:cBhvr>
                                    </p:animEffect>
                                    <p:anim calcmode="lin" valueType="num">
                                      <p:cBhvr>
                                        <p:cTn id="41" dur="1000" fill="hold"/>
                                        <p:tgtEl>
                                          <p:spTgt spid="5"/>
                                        </p:tgtEl>
                                        <p:attrNameLst>
                                          <p:attrName>ppt_x</p:attrName>
                                        </p:attrNameLst>
                                      </p:cBhvr>
                                      <p:tavLst>
                                        <p:tav tm="0">
                                          <p:val>
                                            <p:strVal val="#ppt_x"/>
                                          </p:val>
                                        </p:tav>
                                        <p:tav tm="100000">
                                          <p:val>
                                            <p:strVal val="#ppt_x"/>
                                          </p:val>
                                        </p:tav>
                                      </p:tavLst>
                                    </p:anim>
                                    <p:anim calcmode="lin" valueType="num">
                                      <p:cBhvr>
                                        <p:cTn id="4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2" nodeType="clickEffect">
                                  <p:stCondLst>
                                    <p:cond delay="0"/>
                                  </p:stCondLst>
                                  <p:childTnLst>
                                    <p:set>
                                      <p:cBhvr>
                                        <p:cTn id="46" dur="1" fill="hold">
                                          <p:stCondLst>
                                            <p:cond delay="0"/>
                                          </p:stCondLst>
                                        </p:cTn>
                                        <p:tgtEl>
                                          <p:spTgt spid="35878"/>
                                        </p:tgtEl>
                                        <p:attrNameLst>
                                          <p:attrName>style.visibility</p:attrName>
                                        </p:attrNameLst>
                                      </p:cBhvr>
                                      <p:to>
                                        <p:strVal val="hidden"/>
                                      </p:to>
                                    </p:set>
                                  </p:childTnLst>
                                </p:cTn>
                              </p:par>
                            </p:childTnLst>
                          </p:cTn>
                        </p:par>
                        <p:par>
                          <p:cTn id="47" fill="hold" nodeType="afterGroup">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50"/>
                                        </p:tgtEl>
                                        <p:attrNameLst>
                                          <p:attrName>style.visibility</p:attrName>
                                        </p:attrNameLst>
                                      </p:cBhvr>
                                      <p:to>
                                        <p:strVal val="visible"/>
                                      </p:to>
                                    </p:set>
                                  </p:childTnLst>
                                </p:cTn>
                              </p:par>
                            </p:childTnLst>
                          </p:cTn>
                        </p:par>
                        <p:par>
                          <p:cTn id="50" fill="hold" nodeType="afterGroup">
                            <p:stCondLst>
                              <p:cond delay="0"/>
                            </p:stCondLst>
                            <p:childTnLst>
                              <p:par>
                                <p:cTn id="51" presetID="35" presetClass="emph" presetSubtype="0" repeatCount="3000" fill="hold" grpId="1" nodeType="afterEffect">
                                  <p:stCondLst>
                                    <p:cond delay="0"/>
                                  </p:stCondLst>
                                  <p:childTnLst>
                                    <p:anim calcmode="discrete" valueType="str">
                                      <p:cBhvr>
                                        <p:cTn id="52" dur="1000" fill="hold"/>
                                        <p:tgtEl>
                                          <p:spTgt spid="50"/>
                                        </p:tgtEl>
                                        <p:attrNameLst>
                                          <p:attrName>style.visibility</p:attrName>
                                        </p:attrNameLst>
                                      </p:cBhvr>
                                      <p:tavLst>
                                        <p:tav tm="0">
                                          <p:val>
                                            <p:strVal val="hidden"/>
                                          </p:val>
                                        </p:tav>
                                        <p:tav tm="50000">
                                          <p:val>
                                            <p:strVal val="visible"/>
                                          </p:val>
                                        </p:tav>
                                      </p:tavLst>
                                    </p:anim>
                                  </p:childTnLst>
                                </p:cTn>
                              </p:par>
                            </p:childTnLst>
                          </p:cTn>
                        </p:par>
                        <p:par>
                          <p:cTn id="53" fill="hold" nodeType="afterGroup">
                            <p:stCondLst>
                              <p:cond delay="3000"/>
                            </p:stCondLst>
                            <p:childTnLst>
                              <p:par>
                                <p:cTn id="54" presetID="1" presetClass="entr" presetSubtype="0" fill="hold" grpId="0" nodeType="afterEffect">
                                  <p:stCondLst>
                                    <p:cond delay="0"/>
                                  </p:stCondLst>
                                  <p:childTnLst>
                                    <p:set>
                                      <p:cBhvr>
                                        <p:cTn id="55" dur="1" fill="hold">
                                          <p:stCondLst>
                                            <p:cond delay="0"/>
                                          </p:stCondLst>
                                        </p:cTn>
                                        <p:tgtEl>
                                          <p:spTgt spid="45"/>
                                        </p:tgtEl>
                                        <p:attrNameLst>
                                          <p:attrName>style.visibility</p:attrName>
                                        </p:attrNameLst>
                                      </p:cBhvr>
                                      <p:to>
                                        <p:strVal val="visible"/>
                                      </p:to>
                                    </p:set>
                                  </p:childTnLst>
                                </p:cTn>
                              </p:par>
                            </p:childTnLst>
                          </p:cTn>
                        </p:par>
                        <p:par>
                          <p:cTn id="56" fill="hold" nodeType="afterGroup">
                            <p:stCondLst>
                              <p:cond delay="3000"/>
                            </p:stCondLst>
                            <p:childTnLst>
                              <p:par>
                                <p:cTn id="57" presetID="0" presetClass="path" presetSubtype="0" accel="50000" decel="50000" fill="hold" grpId="1" nodeType="afterEffect">
                                  <p:stCondLst>
                                    <p:cond delay="0"/>
                                  </p:stCondLst>
                                  <p:childTnLst>
                                    <p:animMotion origin="layout" path="M -2.08333E-6 0.04722 L 0.00117 0.16806 L 0.19323 0.29792 L 0.278 0.2287 " pathEditMode="relative" rAng="0" ptsTypes="AAAA">
                                      <p:cBhvr>
                                        <p:cTn id="58" dur="2000" fill="hold"/>
                                        <p:tgtEl>
                                          <p:spTgt spid="45"/>
                                        </p:tgtEl>
                                        <p:attrNameLst>
                                          <p:attrName>ppt_x</p:attrName>
                                          <p:attrName>ppt_y</p:attrName>
                                        </p:attrNameLst>
                                      </p:cBhvr>
                                      <p:rCtr x="13893" y="12523"/>
                                    </p:animMotion>
                                  </p:childTnLst>
                                </p:cTn>
                              </p:par>
                            </p:childTnLst>
                          </p:cTn>
                        </p:par>
                        <p:par>
                          <p:cTn id="59" fill="hold">
                            <p:stCondLst>
                              <p:cond delay="5000"/>
                            </p:stCondLst>
                            <p:childTnLst>
                              <p:par>
                                <p:cTn id="60" presetID="1" presetClass="exit" presetSubtype="0" fill="hold" grpId="2" nodeType="afterEffect">
                                  <p:stCondLst>
                                    <p:cond delay="0"/>
                                  </p:stCondLst>
                                  <p:childTnLst>
                                    <p:set>
                                      <p:cBhvr>
                                        <p:cTn id="61" dur="1" fill="hold">
                                          <p:stCondLst>
                                            <p:cond delay="0"/>
                                          </p:stCondLst>
                                        </p:cTn>
                                        <p:tgtEl>
                                          <p:spTgt spid="45"/>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2" nodeType="clickEffect">
                                  <p:stCondLst>
                                    <p:cond delay="0"/>
                                  </p:stCondLst>
                                  <p:childTnLst>
                                    <p:set>
                                      <p:cBhvr>
                                        <p:cTn id="65" dur="1" fill="hold">
                                          <p:stCondLst>
                                            <p:cond delay="0"/>
                                          </p:stCondLst>
                                        </p:cTn>
                                        <p:tgtEl>
                                          <p:spTgt spid="50"/>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58"/>
                                        </p:tgtEl>
                                        <p:attrNameLst>
                                          <p:attrName>style.visibility</p:attrName>
                                        </p:attrNameLst>
                                      </p:cBhvr>
                                      <p:to>
                                        <p:strVal val="visible"/>
                                      </p:to>
                                    </p:set>
                                  </p:childTnLst>
                                </p:cTn>
                              </p:par>
                            </p:childTnLst>
                          </p:cTn>
                        </p:par>
                        <p:par>
                          <p:cTn id="68" fill="hold">
                            <p:stCondLst>
                              <p:cond delay="0"/>
                            </p:stCondLst>
                            <p:childTnLst>
                              <p:par>
                                <p:cTn id="69" presetID="35" presetClass="emph" presetSubtype="0" repeatCount="2000" fill="hold" grpId="1" nodeType="afterEffect">
                                  <p:stCondLst>
                                    <p:cond delay="0"/>
                                  </p:stCondLst>
                                  <p:childTnLst>
                                    <p:anim calcmode="discrete" valueType="str">
                                      <p:cBhvr>
                                        <p:cTn id="70" dur="1000" fill="hold"/>
                                        <p:tgtEl>
                                          <p:spTgt spid="58"/>
                                        </p:tgtEl>
                                        <p:attrNameLst>
                                          <p:attrName>style.visibility</p:attrName>
                                        </p:attrNameLst>
                                      </p:cBhvr>
                                      <p:tavLst>
                                        <p:tav tm="0">
                                          <p:val>
                                            <p:strVal val="hidden"/>
                                          </p:val>
                                        </p:tav>
                                        <p:tav tm="50000">
                                          <p:val>
                                            <p:strVal val="visible"/>
                                          </p:val>
                                        </p:tav>
                                      </p:tavLst>
                                    </p:anim>
                                  </p:childTnLst>
                                </p:cTn>
                              </p:par>
                            </p:childTnLst>
                          </p:cTn>
                        </p:par>
                        <p:par>
                          <p:cTn id="71" fill="hold" nodeType="afterGroup">
                            <p:stCondLst>
                              <p:cond delay="2000"/>
                            </p:stCondLst>
                            <p:childTnLst>
                              <p:par>
                                <p:cTn id="72" presetID="1" presetClass="entr" presetSubtype="0" fill="hold" grpId="0" nodeType="afterEffect">
                                  <p:stCondLst>
                                    <p:cond delay="0"/>
                                  </p:stCondLst>
                                  <p:childTnLst>
                                    <p:set>
                                      <p:cBhvr>
                                        <p:cTn id="73" dur="1" fill="hold">
                                          <p:stCondLst>
                                            <p:cond delay="0"/>
                                          </p:stCondLst>
                                        </p:cTn>
                                        <p:tgtEl>
                                          <p:spTgt spid="51"/>
                                        </p:tgtEl>
                                        <p:attrNameLst>
                                          <p:attrName>style.visibility</p:attrName>
                                        </p:attrNameLst>
                                      </p:cBhvr>
                                      <p:to>
                                        <p:strVal val="visible"/>
                                      </p:to>
                                    </p:set>
                                  </p:childTnLst>
                                </p:cTn>
                              </p:par>
                            </p:childTnLst>
                          </p:cTn>
                        </p:par>
                        <p:par>
                          <p:cTn id="74" fill="hold" nodeType="afterGroup">
                            <p:stCondLst>
                              <p:cond delay="2000"/>
                            </p:stCondLst>
                            <p:childTnLst>
                              <p:par>
                                <p:cTn id="75" presetID="0" presetClass="path" presetSubtype="0" accel="50000" decel="50000" fill="hold" grpId="1" nodeType="afterEffect">
                                  <p:stCondLst>
                                    <p:cond delay="0"/>
                                  </p:stCondLst>
                                  <p:childTnLst>
                                    <p:animMotion origin="layout" path="M -4.58333E-6 0.00093 L 0.07774 0.00301 L 0.13516 -0.20486 L 0.32435 -0.05393 L 0.39623 0.14375 " pathEditMode="relative" rAng="0" ptsTypes="AAAAA">
                                      <p:cBhvr>
                                        <p:cTn id="76" dur="2000" fill="hold"/>
                                        <p:tgtEl>
                                          <p:spTgt spid="51"/>
                                        </p:tgtEl>
                                        <p:attrNameLst>
                                          <p:attrName>ppt_x</p:attrName>
                                          <p:attrName>ppt_y</p:attrName>
                                        </p:attrNameLst>
                                      </p:cBhvr>
                                      <p:rCtr x="19805" y="-3148"/>
                                    </p:animMotion>
                                  </p:childTnLst>
                                </p:cTn>
                              </p:par>
                            </p:childTnLst>
                          </p:cTn>
                        </p:par>
                        <p:par>
                          <p:cTn id="77" fill="hold" nodeType="afterGroup">
                            <p:stCondLst>
                              <p:cond delay="4000"/>
                            </p:stCondLst>
                            <p:childTnLst>
                              <p:par>
                                <p:cTn id="78" presetID="1" presetClass="exit" presetSubtype="0" fill="hold" grpId="2" nodeType="afterEffect">
                                  <p:stCondLst>
                                    <p:cond delay="0"/>
                                  </p:stCondLst>
                                  <p:childTnLst>
                                    <p:set>
                                      <p:cBhvr>
                                        <p:cTn id="79" dur="1" fill="hold">
                                          <p:stCondLst>
                                            <p:cond delay="0"/>
                                          </p:stCondLst>
                                        </p:cTn>
                                        <p:tgtEl>
                                          <p:spTgt spid="51"/>
                                        </p:tgtEl>
                                        <p:attrNameLst>
                                          <p:attrName>style.visibility</p:attrName>
                                        </p:attrNameLst>
                                      </p:cBhvr>
                                      <p:to>
                                        <p:strVal val="hidden"/>
                                      </p:to>
                                    </p:set>
                                  </p:childTnLst>
                                </p:cTn>
                              </p:par>
                            </p:childTnLst>
                          </p:cTn>
                        </p:par>
                        <p:par>
                          <p:cTn id="80" fill="hold" nodeType="afterGroup">
                            <p:stCondLst>
                              <p:cond delay="4000"/>
                            </p:stCondLst>
                            <p:childTnLst>
                              <p:par>
                                <p:cTn id="81" presetID="1" presetClass="entr" presetSubtype="0" fill="hold" grpId="0" nodeType="afterEffect">
                                  <p:stCondLst>
                                    <p:cond delay="0"/>
                                  </p:stCondLst>
                                  <p:childTnLst>
                                    <p:set>
                                      <p:cBhvr>
                                        <p:cTn id="82" dur="1" fill="hold">
                                          <p:stCondLst>
                                            <p:cond delay="0"/>
                                          </p:stCondLst>
                                        </p:cTn>
                                        <p:tgtEl>
                                          <p:spTgt spid="52"/>
                                        </p:tgtEl>
                                        <p:attrNameLst>
                                          <p:attrName>style.visibility</p:attrName>
                                        </p:attrNameLst>
                                      </p:cBhvr>
                                      <p:to>
                                        <p:strVal val="visible"/>
                                      </p:to>
                                    </p:set>
                                  </p:childTnLst>
                                </p:cTn>
                              </p:par>
                            </p:childTnLst>
                          </p:cTn>
                        </p:par>
                        <p:par>
                          <p:cTn id="83" fill="hold" nodeType="afterGroup">
                            <p:stCondLst>
                              <p:cond delay="4000"/>
                            </p:stCondLst>
                            <p:childTnLst>
                              <p:par>
                                <p:cTn id="84" presetID="0" presetClass="path" presetSubtype="0" accel="50000" decel="50000" fill="hold" grpId="1" nodeType="afterEffect">
                                  <p:stCondLst>
                                    <p:cond delay="0"/>
                                  </p:stCondLst>
                                  <p:childTnLst>
                                    <p:animMotion origin="layout" path="M -2.08333E-6 0.03657 L 0.00104 0.1625 L 0.18906 0.29792 L 0.27201 0.22569 " pathEditMode="relative" rAng="0" ptsTypes="AAAA">
                                      <p:cBhvr>
                                        <p:cTn id="85" dur="2000" fill="hold"/>
                                        <p:tgtEl>
                                          <p:spTgt spid="52"/>
                                        </p:tgtEl>
                                        <p:attrNameLst>
                                          <p:attrName>ppt_x</p:attrName>
                                          <p:attrName>ppt_y</p:attrName>
                                        </p:attrNameLst>
                                      </p:cBhvr>
                                      <p:rCtr x="13594" y="13056"/>
                                    </p:animMotion>
                                  </p:childTnLst>
                                </p:cTn>
                              </p:par>
                            </p:childTnLst>
                          </p:cTn>
                        </p:par>
                        <p:par>
                          <p:cTn id="86" fill="hold" nodeType="afterGroup">
                            <p:stCondLst>
                              <p:cond delay="6000"/>
                            </p:stCondLst>
                            <p:childTnLst>
                              <p:par>
                                <p:cTn id="87" presetID="1" presetClass="exit" presetSubtype="0" fill="hold" grpId="2" nodeType="afterEffect">
                                  <p:stCondLst>
                                    <p:cond delay="0"/>
                                  </p:stCondLst>
                                  <p:childTnLst>
                                    <p:set>
                                      <p:cBhvr>
                                        <p:cTn id="88" dur="1" fill="hold">
                                          <p:stCondLst>
                                            <p:cond delay="0"/>
                                          </p:stCondLst>
                                        </p:cTn>
                                        <p:tgtEl>
                                          <p:spTgt spid="52"/>
                                        </p:tgtEl>
                                        <p:attrNameLst>
                                          <p:attrName>style.visibility</p:attrName>
                                        </p:attrNameLst>
                                      </p:cBhvr>
                                      <p:to>
                                        <p:strVal val="hidden"/>
                                      </p:to>
                                    </p:set>
                                  </p:childTnLst>
                                </p:cTn>
                              </p:par>
                            </p:childTnLst>
                          </p:cTn>
                        </p:par>
                        <p:par>
                          <p:cTn id="89" fill="hold" nodeType="afterGroup">
                            <p:stCondLst>
                              <p:cond delay="6000"/>
                            </p:stCondLst>
                            <p:childTnLst>
                              <p:par>
                                <p:cTn id="90" presetID="1" presetClass="entr" presetSubtype="0" fill="hold" grpId="0" nodeType="afterEffect">
                                  <p:stCondLst>
                                    <p:cond delay="0"/>
                                  </p:stCondLst>
                                  <p:childTnLst>
                                    <p:set>
                                      <p:cBhvr>
                                        <p:cTn id="91" dur="1" fill="hold">
                                          <p:stCondLst>
                                            <p:cond delay="0"/>
                                          </p:stCondLst>
                                        </p:cTn>
                                        <p:tgtEl>
                                          <p:spTgt spid="53"/>
                                        </p:tgtEl>
                                        <p:attrNameLst>
                                          <p:attrName>style.visibility</p:attrName>
                                        </p:attrNameLst>
                                      </p:cBhvr>
                                      <p:to>
                                        <p:strVal val="visible"/>
                                      </p:to>
                                    </p:set>
                                  </p:childTnLst>
                                </p:cTn>
                              </p:par>
                            </p:childTnLst>
                          </p:cTn>
                        </p:par>
                        <p:par>
                          <p:cTn id="92" fill="hold" nodeType="afterGroup">
                            <p:stCondLst>
                              <p:cond delay="6000"/>
                            </p:stCondLst>
                            <p:childTnLst>
                              <p:par>
                                <p:cTn id="93" presetID="0" presetClass="path" presetSubtype="0" accel="50000" decel="50000" fill="hold" grpId="1" nodeType="afterEffect">
                                  <p:stCondLst>
                                    <p:cond delay="0"/>
                                  </p:stCondLst>
                                  <p:childTnLst>
                                    <p:animMotion origin="layout" path="M -4.58333E-6 0.00186 L 0.07891 0.00602 L 0.14128 -0.19421 L 0.22136 0.14792 L 0.33021 -0.04629 L 0.39623 0.13727 " pathEditMode="relative" rAng="0" ptsTypes="AAAAAA">
                                      <p:cBhvr>
                                        <p:cTn id="94" dur="2000" fill="hold"/>
                                        <p:tgtEl>
                                          <p:spTgt spid="53"/>
                                        </p:tgtEl>
                                        <p:attrNameLst>
                                          <p:attrName>ppt_x</p:attrName>
                                          <p:attrName>ppt_y</p:attrName>
                                        </p:attrNameLst>
                                      </p:cBhvr>
                                      <p:rCtr x="19805" y="-2500"/>
                                    </p:animMotion>
                                  </p:childTnLst>
                                </p:cTn>
                              </p:par>
                            </p:childTnLst>
                          </p:cTn>
                        </p:par>
                        <p:par>
                          <p:cTn id="95" fill="hold" nodeType="afterGroup">
                            <p:stCondLst>
                              <p:cond delay="8000"/>
                            </p:stCondLst>
                            <p:childTnLst>
                              <p:par>
                                <p:cTn id="96" presetID="1" presetClass="exit" presetSubtype="0" fill="hold" grpId="2" nodeType="afterEffect">
                                  <p:stCondLst>
                                    <p:cond delay="0"/>
                                  </p:stCondLst>
                                  <p:childTnLst>
                                    <p:set>
                                      <p:cBhvr>
                                        <p:cTn id="97" dur="1" fill="hold">
                                          <p:stCondLst>
                                            <p:cond delay="0"/>
                                          </p:stCondLst>
                                        </p:cTn>
                                        <p:tgtEl>
                                          <p:spTgt spid="53"/>
                                        </p:tgtEl>
                                        <p:attrNameLst>
                                          <p:attrName>style.visibility</p:attrName>
                                        </p:attrNameLst>
                                      </p:cBhvr>
                                      <p:to>
                                        <p:strVal val="hidden"/>
                                      </p:to>
                                    </p:set>
                                  </p:childTnLst>
                                </p:cTn>
                              </p:par>
                            </p:childTnLst>
                          </p:cTn>
                        </p:par>
                        <p:par>
                          <p:cTn id="98" fill="hold" nodeType="afterGroup">
                            <p:stCondLst>
                              <p:cond delay="8000"/>
                            </p:stCondLst>
                            <p:childTnLst>
                              <p:par>
                                <p:cTn id="99" presetID="1" presetClass="entr" presetSubtype="0" fill="hold" grpId="0" nodeType="afterEffect">
                                  <p:stCondLst>
                                    <p:cond delay="0"/>
                                  </p:stCondLst>
                                  <p:childTnLst>
                                    <p:set>
                                      <p:cBhvr>
                                        <p:cTn id="100" dur="1" fill="hold">
                                          <p:stCondLst>
                                            <p:cond delay="0"/>
                                          </p:stCondLst>
                                        </p:cTn>
                                        <p:tgtEl>
                                          <p:spTgt spid="54"/>
                                        </p:tgtEl>
                                        <p:attrNameLst>
                                          <p:attrName>style.visibility</p:attrName>
                                        </p:attrNameLst>
                                      </p:cBhvr>
                                      <p:to>
                                        <p:strVal val="visible"/>
                                      </p:to>
                                    </p:set>
                                  </p:childTnLst>
                                </p:cTn>
                              </p:par>
                            </p:childTnLst>
                          </p:cTn>
                        </p:par>
                        <p:par>
                          <p:cTn id="101" fill="hold" nodeType="afterGroup">
                            <p:stCondLst>
                              <p:cond delay="8000"/>
                            </p:stCondLst>
                            <p:childTnLst>
                              <p:par>
                                <p:cTn id="102" presetID="0" presetClass="path" presetSubtype="0" accel="50000" decel="50000" fill="hold" grpId="1" nodeType="afterEffect">
                                  <p:stCondLst>
                                    <p:cond delay="0"/>
                                  </p:stCondLst>
                                  <p:childTnLst>
                                    <p:animMotion origin="layout" path="M -2.08333E-6 -0.00532 L 0.00117 0.16227 L 0.1181 0.06343 L 0.19089 0.3 L 0.278 0.21806 " pathEditMode="relative" rAng="0" ptsTypes="AAAAA">
                                      <p:cBhvr>
                                        <p:cTn id="103" dur="2000" fill="hold"/>
                                        <p:tgtEl>
                                          <p:spTgt spid="54"/>
                                        </p:tgtEl>
                                        <p:attrNameLst>
                                          <p:attrName>ppt_x</p:attrName>
                                          <p:attrName>ppt_y</p:attrName>
                                        </p:attrNameLst>
                                      </p:cBhvr>
                                      <p:rCtr x="13893" y="15255"/>
                                    </p:animMotion>
                                  </p:childTnLst>
                                </p:cTn>
                              </p:par>
                            </p:childTnLst>
                          </p:cTn>
                        </p:par>
                        <p:par>
                          <p:cTn id="104" fill="hold" nodeType="afterGroup">
                            <p:stCondLst>
                              <p:cond delay="10000"/>
                            </p:stCondLst>
                            <p:childTnLst>
                              <p:par>
                                <p:cTn id="105" presetID="1" presetClass="exit" presetSubtype="0" fill="hold" grpId="2" nodeType="afterEffect">
                                  <p:stCondLst>
                                    <p:cond delay="0"/>
                                  </p:stCondLst>
                                  <p:childTnLst>
                                    <p:set>
                                      <p:cBhvr>
                                        <p:cTn id="106"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5" grpId="1" animBg="1"/>
      <p:bldP spid="45" grpId="2" animBg="1"/>
      <p:bldP spid="47" grpId="0" animBg="1"/>
      <p:bldP spid="47" grpId="1" animBg="1"/>
      <p:bldP spid="47" grpId="2" animBg="1"/>
      <p:bldP spid="48" grpId="0" animBg="1"/>
      <p:bldP spid="48" grpId="1" animBg="1"/>
      <p:bldP spid="48" grpId="2" animBg="1"/>
      <p:bldP spid="35878" grpId="0" animBg="1"/>
      <p:bldP spid="35878" grpId="1" animBg="1"/>
      <p:bldP spid="35878" grpId="2" animBg="1"/>
      <p:bldP spid="50" grpId="0" animBg="1"/>
      <p:bldP spid="50" grpId="1" animBg="1"/>
      <p:bldP spid="50" grpId="2" animBg="1"/>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P spid="58" grpId="0" animBg="1"/>
      <p:bldP spid="58" grpId="1" animBg="1"/>
      <p:bldP spid="3" grpId="0"/>
      <p:bldP spid="5" grpId="0" animBg="1"/>
      <p:bldP spid="6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58"/>
          <p:cNvSpPr>
            <a:spLocks noGrp="1" noChangeArrowheads="1"/>
          </p:cNvSpPr>
          <p:nvPr>
            <p:ph idx="1"/>
          </p:nvPr>
        </p:nvSpPr>
        <p:spPr/>
        <p:txBody>
          <a:bodyPr/>
          <a:lstStyle/>
          <a:p>
            <a:pPr eaLnBrk="1" hangingPunct="1"/>
            <a:r>
              <a:rPr lang="zh-CN" altLang="en-US" b="1" dirty="0"/>
              <a:t>分组</a:t>
            </a:r>
            <a:r>
              <a:rPr lang="zh-CN" altLang="en-US" b="1" dirty="0" smtClean="0"/>
              <a:t>的</a:t>
            </a:r>
            <a:r>
              <a:rPr lang="zh-CN" altLang="en-US" b="1" dirty="0" smtClean="0">
                <a:solidFill>
                  <a:srgbClr val="FF0000"/>
                </a:solidFill>
              </a:rPr>
              <a:t>存储转发</a:t>
            </a:r>
            <a:r>
              <a:rPr lang="zh-CN" altLang="en-US" b="1" dirty="0" smtClean="0"/>
              <a:t>过程</a:t>
            </a:r>
            <a:endParaRPr lang="en-US" altLang="zh-CN" b="1" dirty="0"/>
          </a:p>
        </p:txBody>
      </p:sp>
      <p:grpSp>
        <p:nvGrpSpPr>
          <p:cNvPr id="36867" name="Group 3"/>
          <p:cNvGrpSpPr>
            <a:grpSpLocks/>
          </p:cNvGrpSpPr>
          <p:nvPr/>
        </p:nvGrpSpPr>
        <p:grpSpPr bwMode="auto">
          <a:xfrm>
            <a:off x="3052763" y="2536825"/>
            <a:ext cx="4090987" cy="3667125"/>
            <a:chOff x="2256" y="2386"/>
            <a:chExt cx="2147" cy="1919"/>
          </a:xfrm>
        </p:grpSpPr>
        <p:sp>
          <p:nvSpPr>
            <p:cNvPr id="36914"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15"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16"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17" name="Oval 7"/>
            <p:cNvSpPr>
              <a:spLocks noChangeArrowheads="1"/>
            </p:cNvSpPr>
            <p:nvPr/>
          </p:nvSpPr>
          <p:spPr bwMode="auto">
            <a:xfrm rot="-3234972">
              <a:off x="3754" y="3108"/>
              <a:ext cx="687" cy="610"/>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18"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19"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20"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21" name="Oval 11"/>
            <p:cNvSpPr>
              <a:spLocks noChangeArrowheads="1"/>
            </p:cNvSpPr>
            <p:nvPr/>
          </p:nvSpPr>
          <p:spPr bwMode="auto">
            <a:xfrm rot="-3534972">
              <a:off x="2160" y="3115"/>
              <a:ext cx="695" cy="504"/>
            </a:xfrm>
            <a:prstGeom prst="ellipse">
              <a:avLst/>
            </a:prstGeom>
            <a:solidFill>
              <a:srgbClr val="FFFF99"/>
            </a:solidFill>
            <a:ln w="12700">
              <a:solidFill>
                <a:schemeClr val="tx1"/>
              </a:solidFill>
              <a:round/>
              <a:headEnd/>
              <a:tailEnd/>
            </a:ln>
          </p:spPr>
          <p:txBody>
            <a:bodyPr wrap="none" anchor="ctr"/>
            <a:lstStyle/>
            <a:p>
              <a:pPr eaLnBrk="1" hangingPunct="1"/>
              <a:endParaRPr lang="en-US" altLang="zh-CN"/>
            </a:p>
          </p:txBody>
        </p:sp>
        <p:sp>
          <p:nvSpPr>
            <p:cNvPr id="36922" name="Freeform 12"/>
            <p:cNvSpPr>
              <a:spLocks/>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931"/>
                <a:gd name="T145" fmla="*/ 0 h 1684"/>
                <a:gd name="T146" fmla="*/ 1931 w 1931"/>
                <a:gd name="T147" fmla="*/ 1684 h 168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36868" name="Line 13"/>
          <p:cNvSpPr>
            <a:spLocks noChangeShapeType="1"/>
          </p:cNvSpPr>
          <p:nvPr/>
        </p:nvSpPr>
        <p:spPr bwMode="auto">
          <a:xfrm flipV="1">
            <a:off x="4184650" y="2771775"/>
            <a:ext cx="1281113"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69" name="Line 14"/>
          <p:cNvSpPr>
            <a:spLocks noChangeShapeType="1"/>
          </p:cNvSpPr>
          <p:nvPr/>
        </p:nvSpPr>
        <p:spPr bwMode="auto">
          <a:xfrm>
            <a:off x="5622925" y="2846388"/>
            <a:ext cx="757238" cy="1398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0" name="Line 15"/>
          <p:cNvSpPr>
            <a:spLocks noChangeShapeType="1"/>
          </p:cNvSpPr>
          <p:nvPr/>
        </p:nvSpPr>
        <p:spPr bwMode="auto">
          <a:xfrm flipH="1">
            <a:off x="3429000" y="3419475"/>
            <a:ext cx="665163" cy="12557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1" name="Line 16"/>
          <p:cNvSpPr>
            <a:spLocks noChangeShapeType="1"/>
          </p:cNvSpPr>
          <p:nvPr/>
        </p:nvSpPr>
        <p:spPr bwMode="auto">
          <a:xfrm>
            <a:off x="3470275" y="4852988"/>
            <a:ext cx="1520825"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2" name="Line 17"/>
          <p:cNvSpPr>
            <a:spLocks noChangeShapeType="1"/>
          </p:cNvSpPr>
          <p:nvPr/>
        </p:nvSpPr>
        <p:spPr bwMode="auto">
          <a:xfrm flipV="1">
            <a:off x="5054600" y="4521200"/>
            <a:ext cx="1325563" cy="13065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3" name="Line 18"/>
          <p:cNvSpPr>
            <a:spLocks noChangeShapeType="1"/>
          </p:cNvSpPr>
          <p:nvPr/>
        </p:nvSpPr>
        <p:spPr bwMode="auto">
          <a:xfrm>
            <a:off x="4237038" y="3425825"/>
            <a:ext cx="2125662" cy="946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4" name="Line 19"/>
          <p:cNvSpPr>
            <a:spLocks noChangeShapeType="1"/>
          </p:cNvSpPr>
          <p:nvPr/>
        </p:nvSpPr>
        <p:spPr bwMode="auto">
          <a:xfrm>
            <a:off x="4135438" y="3262313"/>
            <a:ext cx="1000125" cy="24717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5" name="Line 20"/>
          <p:cNvSpPr>
            <a:spLocks noChangeShapeType="1"/>
          </p:cNvSpPr>
          <p:nvPr/>
        </p:nvSpPr>
        <p:spPr bwMode="auto">
          <a:xfrm flipV="1">
            <a:off x="4459288" y="5805488"/>
            <a:ext cx="639762" cy="549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6" name="Line 21"/>
          <p:cNvSpPr>
            <a:spLocks noChangeShapeType="1"/>
          </p:cNvSpPr>
          <p:nvPr/>
        </p:nvSpPr>
        <p:spPr bwMode="auto">
          <a:xfrm rot="-5400000">
            <a:off x="5383213" y="2455863"/>
            <a:ext cx="3365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7" name="Line 22"/>
          <p:cNvSpPr>
            <a:spLocks noChangeShapeType="1"/>
          </p:cNvSpPr>
          <p:nvPr/>
        </p:nvSpPr>
        <p:spPr bwMode="auto">
          <a:xfrm>
            <a:off x="6472238" y="4521200"/>
            <a:ext cx="639762" cy="10080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8" name="Line 23"/>
          <p:cNvSpPr>
            <a:spLocks noChangeShapeType="1"/>
          </p:cNvSpPr>
          <p:nvPr/>
        </p:nvSpPr>
        <p:spPr bwMode="auto">
          <a:xfrm flipV="1">
            <a:off x="2551113" y="4778375"/>
            <a:ext cx="644525"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9" name="Line 24"/>
          <p:cNvSpPr>
            <a:spLocks noChangeShapeType="1"/>
          </p:cNvSpPr>
          <p:nvPr/>
        </p:nvSpPr>
        <p:spPr bwMode="auto">
          <a:xfrm rot="5400000" flipH="1">
            <a:off x="3708400" y="2887663"/>
            <a:ext cx="773113"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0" name="Text Box 25"/>
          <p:cNvSpPr txBox="1">
            <a:spLocks noChangeArrowheads="1"/>
          </p:cNvSpPr>
          <p:nvPr/>
        </p:nvSpPr>
        <p:spPr bwMode="auto">
          <a:xfrm>
            <a:off x="2206625" y="414337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1</a:t>
            </a:r>
            <a:endParaRPr kumimoji="1" lang="en-US" altLang="zh-CN" sz="2000">
              <a:solidFill>
                <a:srgbClr val="333399"/>
              </a:solidFill>
            </a:endParaRPr>
          </a:p>
        </p:txBody>
      </p:sp>
      <p:sp>
        <p:nvSpPr>
          <p:cNvPr id="36881" name="Oval 26"/>
          <p:cNvSpPr>
            <a:spLocks noChangeArrowheads="1"/>
          </p:cNvSpPr>
          <p:nvPr/>
        </p:nvSpPr>
        <p:spPr bwMode="auto">
          <a:xfrm>
            <a:off x="3179763" y="4521200"/>
            <a:ext cx="560387" cy="561975"/>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A</a:t>
            </a:r>
          </a:p>
        </p:txBody>
      </p:sp>
      <p:sp>
        <p:nvSpPr>
          <p:cNvPr id="36882" name="Line 27"/>
          <p:cNvSpPr>
            <a:spLocks noChangeShapeType="1"/>
          </p:cNvSpPr>
          <p:nvPr/>
        </p:nvSpPr>
        <p:spPr bwMode="auto">
          <a:xfrm flipV="1">
            <a:off x="6472238" y="3924300"/>
            <a:ext cx="806450" cy="412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83" name="AutoShape 28"/>
          <p:cNvSpPr>
            <a:spLocks noChangeArrowheads="1"/>
          </p:cNvSpPr>
          <p:nvPr/>
        </p:nvSpPr>
        <p:spPr bwMode="auto">
          <a:xfrm flipV="1">
            <a:off x="6240636" y="6210300"/>
            <a:ext cx="1079500" cy="387350"/>
          </a:xfrm>
          <a:prstGeom prst="wedgeRoundRectCallout">
            <a:avLst>
              <a:gd name="adj1" fmla="val -66181"/>
              <a:gd name="adj2" fmla="val 131963"/>
              <a:gd name="adj3" fmla="val 16667"/>
            </a:avLst>
          </a:prstGeom>
          <a:solidFill>
            <a:schemeClr val="bg1"/>
          </a:solidFill>
          <a:ln w="9525">
            <a:solidFill>
              <a:schemeClr val="tx1"/>
            </a:solidFill>
            <a:miter lim="800000"/>
            <a:headEnd/>
            <a:tailEnd/>
          </a:ln>
        </p:spPr>
        <p:txBody>
          <a:bodyPr rot="10800000" wrap="none" anchor="ctr"/>
          <a:lstStyle/>
          <a:p>
            <a:pPr algn="ctr" eaLnBrk="1" hangingPunct="1"/>
            <a:endParaRPr kumimoji="1" lang="en-US" altLang="zh-CN" sz="2400">
              <a:latin typeface="Times New Roman" pitchFamily="18" charset="0"/>
            </a:endParaRPr>
          </a:p>
        </p:txBody>
      </p:sp>
      <p:sp>
        <p:nvSpPr>
          <p:cNvPr id="36884" name="Text Box 29"/>
          <p:cNvSpPr txBox="1">
            <a:spLocks noChangeArrowheads="1"/>
          </p:cNvSpPr>
          <p:nvPr/>
        </p:nvSpPr>
        <p:spPr bwMode="auto">
          <a:xfrm>
            <a:off x="6343823" y="6200775"/>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latin typeface="Times New Roman" pitchFamily="18" charset="0"/>
                <a:ea typeface="黑体" pitchFamily="49" charset="-122"/>
              </a:rPr>
              <a:t>互联网</a:t>
            </a:r>
          </a:p>
        </p:txBody>
      </p:sp>
      <p:pic>
        <p:nvPicPr>
          <p:cNvPr id="36885"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7163" y="1844675"/>
            <a:ext cx="58578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6"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4388" y="3559175"/>
            <a:ext cx="5873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7"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94163" y="6264275"/>
            <a:ext cx="58578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8"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9438" y="5346700"/>
            <a:ext cx="58578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9"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9525" y="2043113"/>
            <a:ext cx="58737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90" name="Oval 35"/>
          <p:cNvSpPr>
            <a:spLocks noChangeArrowheads="1"/>
          </p:cNvSpPr>
          <p:nvPr/>
        </p:nvSpPr>
        <p:spPr bwMode="auto">
          <a:xfrm>
            <a:off x="3903663" y="3154363"/>
            <a:ext cx="528637" cy="530225"/>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B</a:t>
            </a:r>
          </a:p>
        </p:txBody>
      </p:sp>
      <p:sp>
        <p:nvSpPr>
          <p:cNvPr id="36891" name="Oval 36"/>
          <p:cNvSpPr>
            <a:spLocks noChangeArrowheads="1"/>
          </p:cNvSpPr>
          <p:nvPr/>
        </p:nvSpPr>
        <p:spPr bwMode="auto">
          <a:xfrm>
            <a:off x="5324475" y="2543175"/>
            <a:ext cx="515938" cy="517525"/>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D</a:t>
            </a:r>
          </a:p>
        </p:txBody>
      </p:sp>
      <p:sp>
        <p:nvSpPr>
          <p:cNvPr id="36892" name="Oval 37"/>
          <p:cNvSpPr>
            <a:spLocks noChangeArrowheads="1"/>
          </p:cNvSpPr>
          <p:nvPr/>
        </p:nvSpPr>
        <p:spPr bwMode="auto">
          <a:xfrm>
            <a:off x="6149975" y="4143375"/>
            <a:ext cx="574675" cy="576263"/>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E</a:t>
            </a:r>
          </a:p>
        </p:txBody>
      </p:sp>
      <p:sp>
        <p:nvSpPr>
          <p:cNvPr id="36893" name="Oval 38"/>
          <p:cNvSpPr>
            <a:spLocks noChangeArrowheads="1"/>
          </p:cNvSpPr>
          <p:nvPr/>
        </p:nvSpPr>
        <p:spPr bwMode="auto">
          <a:xfrm>
            <a:off x="4870450" y="5491163"/>
            <a:ext cx="546100" cy="547687"/>
          </a:xfrm>
          <a:prstGeom prst="ellipse">
            <a:avLst/>
          </a:prstGeom>
          <a:solidFill>
            <a:srgbClr val="66FF33"/>
          </a:solidFill>
          <a:ln w="19050">
            <a:solidFill>
              <a:schemeClr val="tx1"/>
            </a:solidFill>
            <a:round/>
            <a:headEnd/>
            <a:tailEnd/>
          </a:ln>
        </p:spPr>
        <p:txBody>
          <a:bodyPr wrap="none" anchor="ctr"/>
          <a:lstStyle/>
          <a:p>
            <a:pPr algn="ctr" eaLnBrk="1" hangingPunct="1"/>
            <a:r>
              <a:rPr lang="en-US" altLang="zh-CN" sz="2000"/>
              <a:t>C</a:t>
            </a:r>
          </a:p>
        </p:txBody>
      </p:sp>
      <p:sp>
        <p:nvSpPr>
          <p:cNvPr id="36894" name="Text Box 39"/>
          <p:cNvSpPr txBox="1">
            <a:spLocks noChangeArrowheads="1"/>
          </p:cNvSpPr>
          <p:nvPr/>
        </p:nvSpPr>
        <p:spPr bwMode="auto">
          <a:xfrm>
            <a:off x="6600825" y="530066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5</a:t>
            </a:r>
            <a:endParaRPr kumimoji="1" lang="en-US" altLang="zh-CN" sz="2000">
              <a:solidFill>
                <a:srgbClr val="333399"/>
              </a:solidFill>
            </a:endParaRPr>
          </a:p>
        </p:txBody>
      </p:sp>
      <p:sp>
        <p:nvSpPr>
          <p:cNvPr id="36895" name="Text Box 40"/>
          <p:cNvSpPr txBox="1">
            <a:spLocks noChangeArrowheads="1"/>
          </p:cNvSpPr>
          <p:nvPr/>
        </p:nvSpPr>
        <p:spPr bwMode="auto">
          <a:xfrm>
            <a:off x="7608888" y="350043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6</a:t>
            </a:r>
            <a:endParaRPr kumimoji="1" lang="en-US" altLang="zh-CN" sz="2000">
              <a:solidFill>
                <a:srgbClr val="333399"/>
              </a:solidFill>
            </a:endParaRPr>
          </a:p>
        </p:txBody>
      </p:sp>
      <p:sp>
        <p:nvSpPr>
          <p:cNvPr id="36896" name="Text Box 41"/>
          <p:cNvSpPr txBox="1">
            <a:spLocks noChangeArrowheads="1"/>
          </p:cNvSpPr>
          <p:nvPr/>
        </p:nvSpPr>
        <p:spPr bwMode="auto">
          <a:xfrm>
            <a:off x="4872038" y="18446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4</a:t>
            </a:r>
            <a:endParaRPr kumimoji="1" lang="en-US" altLang="zh-CN" sz="2000">
              <a:solidFill>
                <a:srgbClr val="333399"/>
              </a:solidFill>
            </a:endParaRPr>
          </a:p>
        </p:txBody>
      </p:sp>
      <p:sp>
        <p:nvSpPr>
          <p:cNvPr id="36897" name="Text Box 42"/>
          <p:cNvSpPr txBox="1">
            <a:spLocks noChangeArrowheads="1"/>
          </p:cNvSpPr>
          <p:nvPr/>
        </p:nvSpPr>
        <p:spPr bwMode="auto">
          <a:xfrm>
            <a:off x="3503613" y="198913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2</a:t>
            </a:r>
            <a:endParaRPr kumimoji="1" lang="en-US" altLang="zh-CN" sz="2000">
              <a:solidFill>
                <a:srgbClr val="333399"/>
              </a:solidFill>
            </a:endParaRPr>
          </a:p>
        </p:txBody>
      </p:sp>
      <p:sp>
        <p:nvSpPr>
          <p:cNvPr id="36898" name="Text Box 43"/>
          <p:cNvSpPr txBox="1">
            <a:spLocks noChangeArrowheads="1"/>
          </p:cNvSpPr>
          <p:nvPr/>
        </p:nvSpPr>
        <p:spPr bwMode="auto">
          <a:xfrm>
            <a:off x="3719513" y="6237288"/>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a:solidFill>
                  <a:srgbClr val="333399"/>
                </a:solidFill>
              </a:rPr>
              <a:t>H</a:t>
            </a:r>
            <a:r>
              <a:rPr kumimoji="1" lang="en-US" altLang="zh-CN" sz="2000" baseline="-25000">
                <a:solidFill>
                  <a:srgbClr val="333399"/>
                </a:solidFill>
              </a:rPr>
              <a:t>3</a:t>
            </a:r>
            <a:endParaRPr kumimoji="1" lang="en-US" altLang="zh-CN" sz="2000">
              <a:solidFill>
                <a:srgbClr val="333399"/>
              </a:solidFill>
            </a:endParaRPr>
          </a:p>
        </p:txBody>
      </p:sp>
      <p:pic>
        <p:nvPicPr>
          <p:cNvPr id="36899"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35188" y="4521200"/>
            <a:ext cx="5873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82" name="Rectangle 46"/>
          <p:cNvSpPr>
            <a:spLocks noChangeArrowheads="1"/>
          </p:cNvSpPr>
          <p:nvPr/>
        </p:nvSpPr>
        <p:spPr bwMode="auto">
          <a:xfrm>
            <a:off x="2351088" y="4652963"/>
            <a:ext cx="158750" cy="158750"/>
          </a:xfrm>
          <a:prstGeom prst="rect">
            <a:avLst/>
          </a:prstGeom>
          <a:solidFill>
            <a:schemeClr val="hlink"/>
          </a:solidFill>
          <a:ln w="9525">
            <a:solidFill>
              <a:schemeClr val="hlink"/>
            </a:solidFill>
            <a:miter lim="800000"/>
            <a:headEnd/>
            <a:tailEnd/>
          </a:ln>
        </p:spPr>
        <p:txBody>
          <a:bodyPr wrap="none" anchor="ctr"/>
          <a:lstStyle/>
          <a:p>
            <a:pPr eaLnBrk="1" hangingPunct="1"/>
            <a:endParaRPr lang="en-US" altLang="zh-CN"/>
          </a:p>
        </p:txBody>
      </p:sp>
      <p:sp>
        <p:nvSpPr>
          <p:cNvPr id="36901" name="Text Box 48"/>
          <p:cNvSpPr txBox="1">
            <a:spLocks noChangeArrowheads="1"/>
          </p:cNvSpPr>
          <p:nvPr/>
        </p:nvSpPr>
        <p:spPr bwMode="auto">
          <a:xfrm>
            <a:off x="7516813" y="4800600"/>
            <a:ext cx="2919412" cy="523875"/>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800" dirty="0">
                <a:solidFill>
                  <a:schemeClr val="hlink"/>
                </a:solidFill>
              </a:rPr>
              <a:t>H</a:t>
            </a:r>
            <a:r>
              <a:rPr kumimoji="1" lang="en-US" altLang="zh-CN" sz="2800" baseline="-25000" dirty="0">
                <a:solidFill>
                  <a:schemeClr val="hlink"/>
                </a:solidFill>
              </a:rPr>
              <a:t>1</a:t>
            </a:r>
            <a:r>
              <a:rPr kumimoji="1" lang="en-US" altLang="zh-CN" sz="1600" baseline="-25000" dirty="0">
                <a:solidFill>
                  <a:schemeClr val="hlink"/>
                </a:solidFill>
              </a:rPr>
              <a:t> </a:t>
            </a:r>
            <a:r>
              <a:rPr kumimoji="1" lang="zh-CN" altLang="en-US" sz="2800" dirty="0">
                <a:solidFill>
                  <a:schemeClr val="hlink"/>
                </a:solidFill>
                <a:ea typeface="黑体" pitchFamily="49" charset="-122"/>
              </a:rPr>
              <a:t>向</a:t>
            </a:r>
            <a:r>
              <a:rPr kumimoji="1" lang="zh-CN" altLang="en-US" sz="1600" dirty="0">
                <a:solidFill>
                  <a:schemeClr val="hlink"/>
                </a:solidFill>
                <a:ea typeface="黑体" pitchFamily="49" charset="-122"/>
              </a:rPr>
              <a:t> </a:t>
            </a:r>
            <a:r>
              <a:rPr kumimoji="1" lang="en-US" altLang="zh-CN" sz="2800" dirty="0">
                <a:solidFill>
                  <a:schemeClr val="hlink"/>
                </a:solidFill>
                <a:ea typeface="黑体" pitchFamily="49" charset="-122"/>
              </a:rPr>
              <a:t>H</a:t>
            </a:r>
            <a:r>
              <a:rPr kumimoji="1" lang="en-US" altLang="zh-CN" sz="2800" baseline="-25000" dirty="0">
                <a:solidFill>
                  <a:schemeClr val="hlink"/>
                </a:solidFill>
                <a:ea typeface="黑体" pitchFamily="49" charset="-122"/>
              </a:rPr>
              <a:t>5</a:t>
            </a:r>
            <a:r>
              <a:rPr kumimoji="1" lang="en-US" altLang="zh-CN" sz="1600" dirty="0">
                <a:solidFill>
                  <a:schemeClr val="hlink"/>
                </a:solidFill>
                <a:ea typeface="黑体" pitchFamily="49" charset="-122"/>
              </a:rPr>
              <a:t> </a:t>
            </a:r>
            <a:r>
              <a:rPr kumimoji="1" lang="zh-CN" altLang="en-US" sz="2800" dirty="0">
                <a:solidFill>
                  <a:schemeClr val="hlink"/>
                </a:solidFill>
                <a:ea typeface="黑体" pitchFamily="49" charset="-122"/>
              </a:rPr>
              <a:t>发送分组</a:t>
            </a:r>
          </a:p>
        </p:txBody>
      </p:sp>
      <p:sp>
        <p:nvSpPr>
          <p:cNvPr id="36902" name="Text Box 55"/>
          <p:cNvSpPr txBox="1">
            <a:spLocks noChangeArrowheads="1"/>
          </p:cNvSpPr>
          <p:nvPr/>
        </p:nvSpPr>
        <p:spPr bwMode="auto">
          <a:xfrm>
            <a:off x="2270125" y="285273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Times New Roman" pitchFamily="18" charset="0"/>
                <a:ea typeface="黑体" pitchFamily="49" charset="-122"/>
              </a:rPr>
              <a:t>路由器</a:t>
            </a:r>
          </a:p>
        </p:txBody>
      </p:sp>
      <p:sp>
        <p:nvSpPr>
          <p:cNvPr id="36903" name="Text Box 56"/>
          <p:cNvSpPr txBox="1">
            <a:spLocks noChangeArrowheads="1"/>
          </p:cNvSpPr>
          <p:nvPr/>
        </p:nvSpPr>
        <p:spPr bwMode="auto">
          <a:xfrm>
            <a:off x="2063552" y="5157192"/>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latin typeface="Times New Roman" pitchFamily="18" charset="0"/>
                <a:ea typeface="黑体" pitchFamily="49" charset="-122"/>
              </a:rPr>
              <a:t>主机</a:t>
            </a:r>
          </a:p>
        </p:txBody>
      </p:sp>
      <p:sp>
        <p:nvSpPr>
          <p:cNvPr id="36904" name="Line 57"/>
          <p:cNvSpPr>
            <a:spLocks noChangeShapeType="1"/>
          </p:cNvSpPr>
          <p:nvPr/>
        </p:nvSpPr>
        <p:spPr bwMode="auto">
          <a:xfrm>
            <a:off x="3143250" y="3068638"/>
            <a:ext cx="792163" cy="2159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5595" name="Rectangle 59"/>
          <p:cNvSpPr>
            <a:spLocks noChangeArrowheads="1"/>
          </p:cNvSpPr>
          <p:nvPr/>
        </p:nvSpPr>
        <p:spPr bwMode="auto">
          <a:xfrm>
            <a:off x="3214688" y="4652963"/>
            <a:ext cx="158750" cy="158750"/>
          </a:xfrm>
          <a:prstGeom prst="rect">
            <a:avLst/>
          </a:prstGeom>
          <a:solidFill>
            <a:schemeClr val="hlink"/>
          </a:solidFill>
          <a:ln w="9525">
            <a:solidFill>
              <a:schemeClr val="hlink"/>
            </a:solidFill>
            <a:miter lim="800000"/>
            <a:headEnd/>
            <a:tailEnd/>
          </a:ln>
        </p:spPr>
        <p:txBody>
          <a:bodyPr wrap="none" anchor="ctr"/>
          <a:lstStyle/>
          <a:p>
            <a:pPr eaLnBrk="1" hangingPunct="1"/>
            <a:endParaRPr lang="en-US" altLang="zh-CN"/>
          </a:p>
        </p:txBody>
      </p:sp>
      <p:sp>
        <p:nvSpPr>
          <p:cNvPr id="65597" name="Rectangle 61"/>
          <p:cNvSpPr>
            <a:spLocks noChangeArrowheads="1"/>
          </p:cNvSpPr>
          <p:nvPr/>
        </p:nvSpPr>
        <p:spPr bwMode="auto">
          <a:xfrm>
            <a:off x="5016500" y="5661025"/>
            <a:ext cx="144463" cy="144463"/>
          </a:xfrm>
          <a:prstGeom prst="rect">
            <a:avLst/>
          </a:prstGeom>
          <a:solidFill>
            <a:schemeClr val="hlink"/>
          </a:solidFill>
          <a:ln w="9525">
            <a:solidFill>
              <a:schemeClr val="hlink"/>
            </a:solidFill>
            <a:miter lim="800000"/>
            <a:headEnd/>
            <a:tailEnd/>
          </a:ln>
        </p:spPr>
        <p:txBody>
          <a:bodyPr wrap="none" anchor="ctr"/>
          <a:lstStyle/>
          <a:p>
            <a:pPr eaLnBrk="1" hangingPunct="1"/>
            <a:endParaRPr lang="en-US" altLang="zh-CN"/>
          </a:p>
        </p:txBody>
      </p:sp>
      <p:sp>
        <p:nvSpPr>
          <p:cNvPr id="65598" name="Text Box 62"/>
          <p:cNvSpPr txBox="1">
            <a:spLocks noChangeArrowheads="1"/>
          </p:cNvSpPr>
          <p:nvPr/>
        </p:nvSpPr>
        <p:spPr bwMode="auto">
          <a:xfrm>
            <a:off x="3143250" y="2205038"/>
            <a:ext cx="3671888" cy="1384300"/>
          </a:xfrm>
          <a:prstGeom prst="rect">
            <a:avLst/>
          </a:prstGeom>
          <a:solidFill>
            <a:srgbClr val="FFCCFF"/>
          </a:solidFill>
          <a:ln w="76200" cmpd="tri">
            <a:solidFill>
              <a:srgbClr val="333399"/>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E</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eaLnBrk="1" hangingPunct="1"/>
            <a:r>
              <a:rPr kumimoji="1" lang="zh-CN" altLang="en-US" sz="2800">
                <a:solidFill>
                  <a:srgbClr val="333399"/>
                </a:solidFill>
                <a:latin typeface="黑体" pitchFamily="49" charset="-122"/>
                <a:ea typeface="黑体" pitchFamily="49" charset="-122"/>
              </a:rPr>
              <a:t>查找转发表</a:t>
            </a:r>
          </a:p>
          <a:p>
            <a:pPr algn="ctr" eaLnBrk="1" hangingPunct="1"/>
            <a:r>
              <a:rPr kumimoji="1" lang="zh-CN" altLang="en-US" sz="2800">
                <a:solidFill>
                  <a:srgbClr val="333399"/>
                </a:solidFill>
                <a:latin typeface="黑体" pitchFamily="49" charset="-122"/>
                <a:ea typeface="黑体" pitchFamily="49" charset="-122"/>
              </a:rPr>
              <a:t>找到转发的端口</a:t>
            </a:r>
          </a:p>
        </p:txBody>
      </p:sp>
      <p:sp>
        <p:nvSpPr>
          <p:cNvPr id="65599" name="Rectangle 63"/>
          <p:cNvSpPr>
            <a:spLocks noChangeArrowheads="1"/>
          </p:cNvSpPr>
          <p:nvPr/>
        </p:nvSpPr>
        <p:spPr bwMode="auto">
          <a:xfrm>
            <a:off x="6311900" y="4508500"/>
            <a:ext cx="144463" cy="144463"/>
          </a:xfrm>
          <a:prstGeom prst="rect">
            <a:avLst/>
          </a:prstGeom>
          <a:solidFill>
            <a:schemeClr val="hlink"/>
          </a:solidFill>
          <a:ln w="9525">
            <a:solidFill>
              <a:schemeClr val="hlink"/>
            </a:solidFill>
            <a:miter lim="800000"/>
            <a:headEnd/>
            <a:tailEnd/>
          </a:ln>
        </p:spPr>
        <p:txBody>
          <a:bodyPr wrap="none" anchor="ctr"/>
          <a:lstStyle/>
          <a:p>
            <a:pPr eaLnBrk="1" hangingPunct="1"/>
            <a:endParaRPr lang="en-US" altLang="zh-CN"/>
          </a:p>
        </p:txBody>
      </p:sp>
      <p:sp>
        <p:nvSpPr>
          <p:cNvPr id="65600" name="Text Box 64"/>
          <p:cNvSpPr txBox="1">
            <a:spLocks noChangeArrowheads="1"/>
          </p:cNvSpPr>
          <p:nvPr/>
        </p:nvSpPr>
        <p:spPr bwMode="auto">
          <a:xfrm>
            <a:off x="3359150" y="2205038"/>
            <a:ext cx="3816350" cy="523875"/>
          </a:xfrm>
          <a:prstGeom prst="rect">
            <a:avLst/>
          </a:prstGeom>
          <a:solidFill>
            <a:srgbClr val="FFCCFF"/>
          </a:solidFill>
          <a:ln w="76200" cmpd="tri">
            <a:solidFill>
              <a:srgbClr val="333399"/>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最后到达目的主机</a:t>
            </a:r>
            <a:r>
              <a:rPr kumimoji="1" lang="zh-CN" altLang="en-US" sz="8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H</a:t>
            </a:r>
            <a:r>
              <a:rPr kumimoji="1" lang="en-US" altLang="zh-CN" sz="2800" baseline="-25000">
                <a:solidFill>
                  <a:srgbClr val="333399"/>
                </a:solidFill>
                <a:ea typeface="黑体" pitchFamily="49" charset="-122"/>
              </a:rPr>
              <a:t>5</a:t>
            </a:r>
          </a:p>
        </p:txBody>
      </p:sp>
      <p:sp>
        <p:nvSpPr>
          <p:cNvPr id="65596" name="Text Box 60"/>
          <p:cNvSpPr txBox="1">
            <a:spLocks noChangeArrowheads="1"/>
          </p:cNvSpPr>
          <p:nvPr/>
        </p:nvSpPr>
        <p:spPr bwMode="auto">
          <a:xfrm flipH="1">
            <a:off x="2855913" y="2205038"/>
            <a:ext cx="3671887" cy="1384300"/>
          </a:xfrm>
          <a:prstGeom prst="rect">
            <a:avLst/>
          </a:prstGeom>
          <a:solidFill>
            <a:srgbClr val="FFCCFF"/>
          </a:solidFill>
          <a:ln w="76200" cmpd="tri">
            <a:solidFill>
              <a:srgbClr val="333399"/>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C</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eaLnBrk="1" hangingPunct="1"/>
            <a:r>
              <a:rPr kumimoji="1" lang="zh-CN" altLang="en-US" sz="2800">
                <a:solidFill>
                  <a:srgbClr val="333399"/>
                </a:solidFill>
                <a:latin typeface="黑体" pitchFamily="49" charset="-122"/>
                <a:ea typeface="黑体" pitchFamily="49" charset="-122"/>
              </a:rPr>
              <a:t>查找转发表</a:t>
            </a:r>
          </a:p>
          <a:p>
            <a:pPr algn="ctr" eaLnBrk="1" hangingPunct="1"/>
            <a:r>
              <a:rPr kumimoji="1" lang="zh-CN" altLang="en-US" sz="2800">
                <a:solidFill>
                  <a:srgbClr val="333399"/>
                </a:solidFill>
                <a:latin typeface="黑体" pitchFamily="49" charset="-122"/>
                <a:ea typeface="黑体" pitchFamily="49" charset="-122"/>
              </a:rPr>
              <a:t>找到转发的端口</a:t>
            </a:r>
          </a:p>
        </p:txBody>
      </p:sp>
      <p:sp>
        <p:nvSpPr>
          <p:cNvPr id="65590" name="Text Box 54"/>
          <p:cNvSpPr txBox="1">
            <a:spLocks noChangeArrowheads="1"/>
          </p:cNvSpPr>
          <p:nvPr/>
        </p:nvSpPr>
        <p:spPr bwMode="auto">
          <a:xfrm>
            <a:off x="2640013" y="2205038"/>
            <a:ext cx="3671887" cy="1384300"/>
          </a:xfrm>
          <a:prstGeom prst="rect">
            <a:avLst/>
          </a:prstGeom>
          <a:solidFill>
            <a:srgbClr val="FFCCFF"/>
          </a:solidFill>
          <a:ln w="76200" cmpd="tri">
            <a:solidFill>
              <a:srgbClr val="333399"/>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kumimoji="1" lang="zh-CN" altLang="en-US" sz="2800">
                <a:solidFill>
                  <a:srgbClr val="333399"/>
                </a:solidFill>
                <a:latin typeface="黑体" pitchFamily="49" charset="-122"/>
                <a:ea typeface="黑体" pitchFamily="49" charset="-122"/>
              </a:rPr>
              <a:t>在路由器</a:t>
            </a:r>
            <a:r>
              <a:rPr kumimoji="1" lang="zh-CN" altLang="en-US" sz="1000">
                <a:solidFill>
                  <a:srgbClr val="333399"/>
                </a:solidFill>
                <a:latin typeface="黑体" pitchFamily="49" charset="-122"/>
                <a:ea typeface="黑体" pitchFamily="49" charset="-122"/>
              </a:rPr>
              <a:t> </a:t>
            </a:r>
            <a:r>
              <a:rPr kumimoji="1" lang="en-US" altLang="zh-CN" sz="2800">
                <a:solidFill>
                  <a:srgbClr val="333399"/>
                </a:solidFill>
                <a:ea typeface="黑体" pitchFamily="49" charset="-122"/>
              </a:rPr>
              <a:t>A</a:t>
            </a:r>
            <a:r>
              <a:rPr kumimoji="1" lang="en-US" altLang="zh-CN" sz="1000">
                <a:solidFill>
                  <a:srgbClr val="333399"/>
                </a:solidFill>
                <a:latin typeface="黑体" pitchFamily="49" charset="-122"/>
                <a:ea typeface="黑体" pitchFamily="49" charset="-122"/>
              </a:rPr>
              <a:t> </a:t>
            </a:r>
            <a:r>
              <a:rPr kumimoji="1" lang="zh-CN" altLang="en-US" sz="2800">
                <a:solidFill>
                  <a:srgbClr val="333399"/>
                </a:solidFill>
                <a:latin typeface="黑体" pitchFamily="49" charset="-122"/>
                <a:ea typeface="黑体" pitchFamily="49" charset="-122"/>
              </a:rPr>
              <a:t>暂存</a:t>
            </a:r>
          </a:p>
          <a:p>
            <a:pPr algn="ctr" eaLnBrk="1" hangingPunct="1"/>
            <a:r>
              <a:rPr kumimoji="1" lang="zh-CN" altLang="en-US" sz="2800">
                <a:solidFill>
                  <a:srgbClr val="333399"/>
                </a:solidFill>
                <a:latin typeface="黑体" pitchFamily="49" charset="-122"/>
                <a:ea typeface="黑体" pitchFamily="49" charset="-122"/>
              </a:rPr>
              <a:t>查找转发表</a:t>
            </a:r>
          </a:p>
          <a:p>
            <a:pPr algn="ctr" eaLnBrk="1" hangingPunct="1"/>
            <a:r>
              <a:rPr kumimoji="1" lang="zh-CN" altLang="en-US" sz="2800">
                <a:solidFill>
                  <a:srgbClr val="333399"/>
                </a:solidFill>
                <a:latin typeface="黑体" pitchFamily="49" charset="-122"/>
                <a:ea typeface="黑体" pitchFamily="49" charset="-122"/>
              </a:rPr>
              <a:t>找到转发的端口</a:t>
            </a:r>
          </a:p>
        </p:txBody>
      </p:sp>
      <p:sp>
        <p:nvSpPr>
          <p:cNvPr id="60"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Tree>
    <p:extLst>
      <p:ext uri="{BB962C8B-B14F-4D97-AF65-F5344CB8AC3E}">
        <p14:creationId xmlns:p14="http://schemas.microsoft.com/office/powerpoint/2010/main" val="37222065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nodeType="afterGroup">
                            <p:stCondLst>
                              <p:cond delay="0"/>
                            </p:stCondLst>
                            <p:childTnLst>
                              <p:par>
                                <p:cTn id="8" presetID="63" presetClass="path" presetSubtype="0" accel="50000" decel="50000" fill="hold" grpId="1" nodeType="afterEffect">
                                  <p:stCondLst>
                                    <p:cond delay="0"/>
                                  </p:stCondLst>
                                  <p:childTnLst>
                                    <p:animMotion origin="layout" path="M -4.79167E-6 1.11111E-6 L 0.07852 0.00625 " pathEditMode="relative" rAng="0" ptsTypes="AA">
                                      <p:cBhvr>
                                        <p:cTn id="9" dur="2000" fill="hold"/>
                                        <p:tgtEl>
                                          <p:spTgt spid="65582"/>
                                        </p:tgtEl>
                                        <p:attrNameLst>
                                          <p:attrName>ppt_x</p:attrName>
                                          <p:attrName>ppt_y</p:attrName>
                                        </p:attrNameLst>
                                      </p:cBhvr>
                                      <p:rCtr x="3919" y="301"/>
                                    </p:animMotion>
                                  </p:childTnLst>
                                </p:cTn>
                              </p:par>
                            </p:childTnLst>
                          </p:cTn>
                        </p:par>
                        <p:par>
                          <p:cTn id="10" fill="hold" nodeType="afterGroup">
                            <p:stCondLst>
                              <p:cond delay="2000"/>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nodeType="afterGroup">
                            <p:stCondLst>
                              <p:cond delay="2000"/>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childTnLst>
                    </p:cTn>
                  </p:par>
                  <p:par>
                    <p:cTn id="16" fill="hold">
                      <p:stCondLst>
                        <p:cond delay="indefinite"/>
                      </p:stCondLst>
                      <p:childTnLst>
                        <p:par>
                          <p:cTn id="17" fill="hold" nodeType="afterGroup">
                            <p:stCondLst>
                              <p:cond delay="0"/>
                            </p:stCondLst>
                            <p:childTnLst>
                              <p:par>
                                <p:cTn id="18" presetID="1" presetClass="exit" presetSubtype="0" fill="hold" grpId="2" nodeType="clickEffect">
                                  <p:stCondLst>
                                    <p:cond delay="0"/>
                                  </p:stCondLst>
                                  <p:childTnLst>
                                    <p:set>
                                      <p:cBhvr>
                                        <p:cTn id="19" dur="1" fill="hold">
                                          <p:stCondLst>
                                            <p:cond delay="0"/>
                                          </p:stCondLst>
                                        </p:cTn>
                                        <p:tgtEl>
                                          <p:spTgt spid="65590"/>
                                        </p:tgtEl>
                                        <p:attrNameLst>
                                          <p:attrName>style.visibility</p:attrName>
                                        </p:attrNameLst>
                                      </p:cBhvr>
                                      <p:to>
                                        <p:strVal val="hidden"/>
                                      </p:to>
                                    </p:set>
                                  </p:childTnLst>
                                </p:cTn>
                              </p:par>
                            </p:childTnLst>
                          </p:cTn>
                        </p:par>
                        <p:par>
                          <p:cTn id="20" fill="hold" nodeType="afterGroup">
                            <p:stCondLst>
                              <p:cond delay="0"/>
                            </p:stCondLst>
                            <p:childTnLst>
                              <p:par>
                                <p:cTn id="21" presetID="1" presetClass="exit" presetSubtype="0" fill="hold" grpId="2" nodeType="afterEffect">
                                  <p:stCondLst>
                                    <p:cond delay="0"/>
                                  </p:stCondLst>
                                  <p:childTnLst>
                                    <p:set>
                                      <p:cBhvr>
                                        <p:cTn id="22" dur="1" fill="hold">
                                          <p:stCondLst>
                                            <p:cond delay="0"/>
                                          </p:stCondLst>
                                        </p:cTn>
                                        <p:tgtEl>
                                          <p:spTgt spid="65582"/>
                                        </p:tgtEl>
                                        <p:attrNameLst>
                                          <p:attrName>style.visibility</p:attrName>
                                        </p:attrNameLst>
                                      </p:cBhvr>
                                      <p:to>
                                        <p:strVal val="hidden"/>
                                      </p:to>
                                    </p:set>
                                  </p:childTnLst>
                                </p:cTn>
                              </p:par>
                            </p:childTnLst>
                          </p:cTn>
                        </p:par>
                        <p:par>
                          <p:cTn id="23" fill="hold" nodeType="afterGroup">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65595"/>
                                        </p:tgtEl>
                                        <p:attrNameLst>
                                          <p:attrName>style.visibility</p:attrName>
                                        </p:attrNameLst>
                                      </p:cBhvr>
                                      <p:to>
                                        <p:strVal val="visible"/>
                                      </p:to>
                                    </p:set>
                                  </p:childTnLst>
                                </p:cTn>
                              </p:par>
                            </p:childTnLst>
                          </p:cTn>
                        </p:par>
                        <p:par>
                          <p:cTn id="26" fill="hold" nodeType="afterGroup">
                            <p:stCondLst>
                              <p:cond delay="0"/>
                            </p:stCondLst>
                            <p:childTnLst>
                              <p:par>
                                <p:cTn id="27" presetID="63" presetClass="path" presetSubtype="0" accel="50000" decel="50000" fill="hold" grpId="1" nodeType="afterEffect">
                                  <p:stCondLst>
                                    <p:cond delay="0"/>
                                  </p:stCondLst>
                                  <p:childTnLst>
                                    <p:animMotion origin="layout" path="M 0.00768 0.00625 L 0.15482 0.15231 " pathEditMode="relative" rAng="0" ptsTypes="AA">
                                      <p:cBhvr>
                                        <p:cTn id="28" dur="2000" fill="hold"/>
                                        <p:tgtEl>
                                          <p:spTgt spid="65595"/>
                                        </p:tgtEl>
                                        <p:attrNameLst>
                                          <p:attrName>ppt_x</p:attrName>
                                          <p:attrName>ppt_y</p:attrName>
                                        </p:attrNameLst>
                                      </p:cBhvr>
                                      <p:rCtr x="7357" y="7292"/>
                                    </p:animMotion>
                                  </p:childTnLst>
                                </p:cTn>
                              </p:par>
                            </p:childTnLst>
                          </p:cTn>
                        </p:par>
                        <p:par>
                          <p:cTn id="29" fill="hold" nodeType="afterGroup">
                            <p:stCondLst>
                              <p:cond delay="2000"/>
                            </p:stCondLst>
                            <p:childTnLst>
                              <p:par>
                                <p:cTn id="30" presetID="1" presetClass="entr" presetSubtype="0" fill="hold" grpId="0" nodeType="afterEffect">
                                  <p:stCondLst>
                                    <p:cond delay="0"/>
                                  </p:stCondLst>
                                  <p:childTnLst>
                                    <p:set>
                                      <p:cBhvr>
                                        <p:cTn id="31" dur="1" fill="hold">
                                          <p:stCondLst>
                                            <p:cond delay="0"/>
                                          </p:stCondLst>
                                        </p:cTn>
                                        <p:tgtEl>
                                          <p:spTgt spid="65596"/>
                                        </p:tgtEl>
                                        <p:attrNameLst>
                                          <p:attrName>style.visibility</p:attrName>
                                        </p:attrNameLst>
                                      </p:cBhvr>
                                      <p:to>
                                        <p:strVal val="visible"/>
                                      </p:to>
                                    </p:set>
                                  </p:childTnLst>
                                </p:cTn>
                              </p:par>
                            </p:childTnLst>
                          </p:cTn>
                        </p:par>
                        <p:par>
                          <p:cTn id="32" fill="hold" nodeType="afterGroup">
                            <p:stCondLst>
                              <p:cond delay="2000"/>
                            </p:stCondLst>
                            <p:childTnLst>
                              <p:par>
                                <p:cTn id="33" presetID="6" presetClass="emph" presetSubtype="0" fill="hold" grpId="1" nodeType="afterEffect">
                                  <p:stCondLst>
                                    <p:cond delay="0"/>
                                  </p:stCondLst>
                                  <p:childTnLst>
                                    <p:animScale>
                                      <p:cBhvr>
                                        <p:cTn id="34" dur="1000" fill="hold"/>
                                        <p:tgtEl>
                                          <p:spTgt spid="65596"/>
                                        </p:tgtEl>
                                      </p:cBhvr>
                                      <p:by x="150000" y="150000"/>
                                    </p:animScale>
                                  </p:childTnLst>
                                </p:cTn>
                              </p:par>
                            </p:childTnLst>
                          </p:cTn>
                        </p:par>
                      </p:childTnLst>
                    </p:cTn>
                  </p:par>
                  <p:par>
                    <p:cTn id="35" fill="hold">
                      <p:stCondLst>
                        <p:cond delay="indefinite"/>
                      </p:stCondLst>
                      <p:childTnLst>
                        <p:par>
                          <p:cTn id="36" fill="hold" nodeType="afterGroup">
                            <p:stCondLst>
                              <p:cond delay="0"/>
                            </p:stCondLst>
                            <p:childTnLst>
                              <p:par>
                                <p:cTn id="37" presetID="1" presetClass="exit" presetSubtype="0" fill="hold" grpId="2" nodeType="clickEffect">
                                  <p:stCondLst>
                                    <p:cond delay="0"/>
                                  </p:stCondLst>
                                  <p:childTnLst>
                                    <p:set>
                                      <p:cBhvr>
                                        <p:cTn id="38" dur="1" fill="hold">
                                          <p:stCondLst>
                                            <p:cond delay="0"/>
                                          </p:stCondLst>
                                        </p:cTn>
                                        <p:tgtEl>
                                          <p:spTgt spid="65596"/>
                                        </p:tgtEl>
                                        <p:attrNameLst>
                                          <p:attrName>style.visibility</p:attrName>
                                        </p:attrNameLst>
                                      </p:cBhvr>
                                      <p:to>
                                        <p:strVal val="hidden"/>
                                      </p:to>
                                    </p:set>
                                  </p:childTnLst>
                                </p:cTn>
                              </p:par>
                            </p:childTnLst>
                          </p:cTn>
                        </p:par>
                        <p:par>
                          <p:cTn id="39" fill="hold" nodeType="afterGroup">
                            <p:stCondLst>
                              <p:cond delay="0"/>
                            </p:stCondLst>
                            <p:childTnLst>
                              <p:par>
                                <p:cTn id="40" presetID="1" presetClass="exit" presetSubtype="0" fill="hold" grpId="2" nodeType="afterEffect">
                                  <p:stCondLst>
                                    <p:cond delay="0"/>
                                  </p:stCondLst>
                                  <p:childTnLst>
                                    <p:set>
                                      <p:cBhvr>
                                        <p:cTn id="41" dur="1" fill="hold">
                                          <p:stCondLst>
                                            <p:cond delay="0"/>
                                          </p:stCondLst>
                                        </p:cTn>
                                        <p:tgtEl>
                                          <p:spTgt spid="65595"/>
                                        </p:tgtEl>
                                        <p:attrNameLst>
                                          <p:attrName>style.visibility</p:attrName>
                                        </p:attrNameLst>
                                      </p:cBhvr>
                                      <p:to>
                                        <p:strVal val="hidden"/>
                                      </p:to>
                                    </p:set>
                                  </p:childTnLst>
                                </p:cTn>
                              </p:par>
                            </p:childTnLst>
                          </p:cTn>
                        </p:par>
                        <p:par>
                          <p:cTn id="42" fill="hold" nodeType="afterGroup">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65597"/>
                                        </p:tgtEl>
                                        <p:attrNameLst>
                                          <p:attrName>style.visibility</p:attrName>
                                        </p:attrNameLst>
                                      </p:cBhvr>
                                      <p:to>
                                        <p:strVal val="visible"/>
                                      </p:to>
                                    </p:set>
                                  </p:childTnLst>
                                </p:cTn>
                              </p:par>
                            </p:childTnLst>
                          </p:cTn>
                        </p:par>
                        <p:par>
                          <p:cTn id="45" fill="hold" nodeType="afterGroup">
                            <p:stCondLst>
                              <p:cond delay="0"/>
                            </p:stCondLst>
                            <p:childTnLst>
                              <p:par>
                                <p:cTn id="46" presetID="63" presetClass="path" presetSubtype="0" accel="50000" decel="50000" fill="hold" grpId="1" nodeType="afterEffect">
                                  <p:stCondLst>
                                    <p:cond delay="0"/>
                                  </p:stCondLst>
                                  <p:childTnLst>
                                    <p:animMotion origin="layout" path="M 0.00768 0.00648 L 0.11393 -0.18241 " pathEditMode="relative" rAng="0" ptsTypes="AA">
                                      <p:cBhvr>
                                        <p:cTn id="47" dur="2000" fill="hold"/>
                                        <p:tgtEl>
                                          <p:spTgt spid="65597"/>
                                        </p:tgtEl>
                                        <p:attrNameLst>
                                          <p:attrName>ppt_x</p:attrName>
                                          <p:attrName>ppt_y</p:attrName>
                                        </p:attrNameLst>
                                      </p:cBhvr>
                                      <p:rCtr x="5313" y="-9444"/>
                                    </p:animMotion>
                                  </p:childTnLst>
                                </p:cTn>
                              </p:par>
                            </p:childTnLst>
                          </p:cTn>
                        </p:par>
                        <p:par>
                          <p:cTn id="48" fill="hold" nodeType="afterGroup">
                            <p:stCondLst>
                              <p:cond delay="2000"/>
                            </p:stCondLst>
                            <p:childTnLst>
                              <p:par>
                                <p:cTn id="49" presetID="1" presetClass="entr" presetSubtype="0" fill="hold" grpId="0" nodeType="afterEffect">
                                  <p:stCondLst>
                                    <p:cond delay="0"/>
                                  </p:stCondLst>
                                  <p:childTnLst>
                                    <p:set>
                                      <p:cBhvr>
                                        <p:cTn id="50" dur="1" fill="hold">
                                          <p:stCondLst>
                                            <p:cond delay="0"/>
                                          </p:stCondLst>
                                        </p:cTn>
                                        <p:tgtEl>
                                          <p:spTgt spid="65598"/>
                                        </p:tgtEl>
                                        <p:attrNameLst>
                                          <p:attrName>style.visibility</p:attrName>
                                        </p:attrNameLst>
                                      </p:cBhvr>
                                      <p:to>
                                        <p:strVal val="visible"/>
                                      </p:to>
                                    </p:set>
                                  </p:childTnLst>
                                </p:cTn>
                              </p:par>
                            </p:childTnLst>
                          </p:cTn>
                        </p:par>
                        <p:par>
                          <p:cTn id="51" fill="hold" nodeType="afterGroup">
                            <p:stCondLst>
                              <p:cond delay="2000"/>
                            </p:stCondLst>
                            <p:childTnLst>
                              <p:par>
                                <p:cTn id="52" presetID="6" presetClass="emph" presetSubtype="0" fill="hold" grpId="1" nodeType="afterEffect">
                                  <p:stCondLst>
                                    <p:cond delay="0"/>
                                  </p:stCondLst>
                                  <p:childTnLst>
                                    <p:animScale>
                                      <p:cBhvr>
                                        <p:cTn id="53" dur="1000" fill="hold"/>
                                        <p:tgtEl>
                                          <p:spTgt spid="65598"/>
                                        </p:tgtEl>
                                      </p:cBhvr>
                                      <p:by x="150000" y="150000"/>
                                    </p:animScale>
                                  </p:childTnLst>
                                </p:cTn>
                              </p:par>
                            </p:childTnLst>
                          </p:cTn>
                        </p:par>
                      </p:childTnLst>
                    </p:cTn>
                  </p:par>
                  <p:par>
                    <p:cTn id="54" fill="hold">
                      <p:stCondLst>
                        <p:cond delay="indefinite"/>
                      </p:stCondLst>
                      <p:childTnLst>
                        <p:par>
                          <p:cTn id="55" fill="hold" nodeType="afterGroup">
                            <p:stCondLst>
                              <p:cond delay="0"/>
                            </p:stCondLst>
                            <p:childTnLst>
                              <p:par>
                                <p:cTn id="56" presetID="1" presetClass="exit" presetSubtype="0" fill="hold" grpId="2" nodeType="clickEffect">
                                  <p:stCondLst>
                                    <p:cond delay="0"/>
                                  </p:stCondLst>
                                  <p:childTnLst>
                                    <p:set>
                                      <p:cBhvr>
                                        <p:cTn id="57" dur="1" fill="hold">
                                          <p:stCondLst>
                                            <p:cond delay="0"/>
                                          </p:stCondLst>
                                        </p:cTn>
                                        <p:tgtEl>
                                          <p:spTgt spid="65598"/>
                                        </p:tgtEl>
                                        <p:attrNameLst>
                                          <p:attrName>style.visibility</p:attrName>
                                        </p:attrNameLst>
                                      </p:cBhvr>
                                      <p:to>
                                        <p:strVal val="hidden"/>
                                      </p:to>
                                    </p:set>
                                  </p:childTnLst>
                                </p:cTn>
                              </p:par>
                            </p:childTnLst>
                          </p:cTn>
                        </p:par>
                        <p:par>
                          <p:cTn id="58" fill="hold" nodeType="afterGroup">
                            <p:stCondLst>
                              <p:cond delay="0"/>
                            </p:stCondLst>
                            <p:childTnLst>
                              <p:par>
                                <p:cTn id="59" presetID="1" presetClass="exit" presetSubtype="0" fill="hold" grpId="2" nodeType="afterEffect">
                                  <p:stCondLst>
                                    <p:cond delay="0"/>
                                  </p:stCondLst>
                                  <p:childTnLst>
                                    <p:set>
                                      <p:cBhvr>
                                        <p:cTn id="60" dur="1" fill="hold">
                                          <p:stCondLst>
                                            <p:cond delay="0"/>
                                          </p:stCondLst>
                                        </p:cTn>
                                        <p:tgtEl>
                                          <p:spTgt spid="65597"/>
                                        </p:tgtEl>
                                        <p:attrNameLst>
                                          <p:attrName>style.visibility</p:attrName>
                                        </p:attrNameLst>
                                      </p:cBhvr>
                                      <p:to>
                                        <p:strVal val="hidden"/>
                                      </p:to>
                                    </p:set>
                                  </p:childTnLst>
                                </p:cTn>
                              </p:par>
                            </p:childTnLst>
                          </p:cTn>
                        </p:par>
                        <p:par>
                          <p:cTn id="61" fill="hold" nodeType="afterGroup">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65599"/>
                                        </p:tgtEl>
                                        <p:attrNameLst>
                                          <p:attrName>style.visibility</p:attrName>
                                        </p:attrNameLst>
                                      </p:cBhvr>
                                      <p:to>
                                        <p:strVal val="visible"/>
                                      </p:to>
                                    </p:set>
                                  </p:childTnLst>
                                </p:cTn>
                              </p:par>
                            </p:childTnLst>
                          </p:cTn>
                        </p:par>
                        <p:par>
                          <p:cTn id="64" fill="hold" nodeType="afterGroup">
                            <p:stCondLst>
                              <p:cond delay="0"/>
                            </p:stCondLst>
                            <p:childTnLst>
                              <p:par>
                                <p:cTn id="65" presetID="63" presetClass="path" presetSubtype="0" accel="50000" decel="50000" fill="hold" grpId="1" nodeType="afterEffect">
                                  <p:stCondLst>
                                    <p:cond delay="0"/>
                                  </p:stCondLst>
                                  <p:childTnLst>
                                    <p:animMotion origin="layout" path="M 0.00768 -0.01435 L 0.06498 0.13657 " pathEditMode="relative" rAng="0" ptsTypes="AA">
                                      <p:cBhvr>
                                        <p:cTn id="66" dur="2000" fill="hold"/>
                                        <p:tgtEl>
                                          <p:spTgt spid="65599"/>
                                        </p:tgtEl>
                                        <p:attrNameLst>
                                          <p:attrName>ppt_x</p:attrName>
                                          <p:attrName>ppt_y</p:attrName>
                                        </p:attrNameLst>
                                      </p:cBhvr>
                                      <p:rCtr x="2865" y="7546"/>
                                    </p:animMotion>
                                  </p:childTnLst>
                                </p:cTn>
                              </p:par>
                            </p:childTnLst>
                          </p:cTn>
                        </p:par>
                        <p:par>
                          <p:cTn id="67" fill="hold" nodeType="afterGroup">
                            <p:stCondLst>
                              <p:cond delay="2000"/>
                            </p:stCondLst>
                            <p:childTnLst>
                              <p:par>
                                <p:cTn id="68" presetID="1" presetClass="entr" presetSubtype="0" fill="hold" grpId="0" nodeType="afterEffect">
                                  <p:stCondLst>
                                    <p:cond delay="0"/>
                                  </p:stCondLst>
                                  <p:childTnLst>
                                    <p:set>
                                      <p:cBhvr>
                                        <p:cTn id="69" dur="1" fill="hold">
                                          <p:stCondLst>
                                            <p:cond delay="0"/>
                                          </p:stCondLst>
                                        </p:cTn>
                                        <p:tgtEl>
                                          <p:spTgt spid="65600"/>
                                        </p:tgtEl>
                                        <p:attrNameLst>
                                          <p:attrName>style.visibility</p:attrName>
                                        </p:attrNameLst>
                                      </p:cBhvr>
                                      <p:to>
                                        <p:strVal val="visible"/>
                                      </p:to>
                                    </p:set>
                                  </p:childTnLst>
                                </p:cTn>
                              </p:par>
                            </p:childTnLst>
                          </p:cTn>
                        </p:par>
                        <p:par>
                          <p:cTn id="70" fill="hold" nodeType="afterGroup">
                            <p:stCondLst>
                              <p:cond delay="2000"/>
                            </p:stCondLst>
                            <p:childTnLst>
                              <p:par>
                                <p:cTn id="71" presetID="6" presetClass="emph" presetSubtype="0" fill="hold" grpId="1" nodeType="afterEffect">
                                  <p:stCondLst>
                                    <p:cond delay="0"/>
                                  </p:stCondLst>
                                  <p:childTnLst>
                                    <p:animScale>
                                      <p:cBhvr>
                                        <p:cTn id="72"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169" name="Content Placeholder 58"/>
          <p:cNvSpPr>
            <a:spLocks noGrp="1" noChangeArrowheads="1"/>
          </p:cNvSpPr>
          <p:nvPr>
            <p:ph idx="1"/>
          </p:nvPr>
        </p:nvSpPr>
        <p:spPr>
          <a:xfrm>
            <a:off x="442800" y="1267200"/>
            <a:ext cx="11304587" cy="4895850"/>
          </a:xfrm>
        </p:spPr>
        <p:txBody>
          <a:bodyPr/>
          <a:lstStyle/>
          <a:p>
            <a:pPr eaLnBrk="1" hangingPunct="1"/>
            <a:r>
              <a:rPr lang="zh-CN" altLang="en-US" b="1" dirty="0" smtClean="0"/>
              <a:t>分组交换的注意事项（以</a:t>
            </a:r>
            <a:r>
              <a:rPr kumimoji="1" lang="en-US" altLang="zh-CN" b="1" dirty="0"/>
              <a:t>H</a:t>
            </a:r>
            <a:r>
              <a:rPr kumimoji="1" lang="en-US" altLang="zh-CN" b="1" baseline="-25000" dirty="0"/>
              <a:t>1 </a:t>
            </a:r>
            <a:r>
              <a:rPr kumimoji="1" lang="zh-CN" altLang="en-US" b="1" dirty="0"/>
              <a:t>向 </a:t>
            </a:r>
            <a:r>
              <a:rPr kumimoji="1" lang="en-US" altLang="zh-CN" b="1" dirty="0"/>
              <a:t>H</a:t>
            </a:r>
            <a:r>
              <a:rPr kumimoji="1" lang="en-US" altLang="zh-CN" b="1" baseline="-25000" dirty="0"/>
              <a:t>5</a:t>
            </a:r>
            <a:r>
              <a:rPr kumimoji="1" lang="en-US" altLang="zh-CN" b="1" dirty="0"/>
              <a:t> </a:t>
            </a:r>
            <a:r>
              <a:rPr kumimoji="1" lang="zh-CN" altLang="en-US" b="1" dirty="0"/>
              <a:t>发送</a:t>
            </a:r>
            <a:r>
              <a:rPr kumimoji="1" lang="zh-CN" altLang="en-US" b="1" dirty="0" smtClean="0"/>
              <a:t>分组为例）</a:t>
            </a:r>
            <a:r>
              <a:rPr lang="zh-CN" altLang="en-US" b="1" dirty="0" smtClean="0"/>
              <a:t>：</a:t>
            </a:r>
            <a:endParaRPr lang="en-US" altLang="zh-CN" b="1" dirty="0" smtClean="0"/>
          </a:p>
          <a:p>
            <a:pPr lvl="1" eaLnBrk="1" hangingPunct="1"/>
            <a:r>
              <a:rPr kumimoji="1" lang="en-US" altLang="zh-CN" b="1" dirty="0"/>
              <a:t>H</a:t>
            </a:r>
            <a:r>
              <a:rPr kumimoji="1" lang="en-US" altLang="zh-CN" b="1" baseline="-25000" dirty="0"/>
              <a:t>1</a:t>
            </a:r>
            <a:r>
              <a:rPr lang="zh-CN" altLang="en-US" b="1" dirty="0" smtClean="0"/>
              <a:t>先将分组连续地发往与它直接相连的路由器</a:t>
            </a:r>
            <a:r>
              <a:rPr lang="en-US" altLang="zh-CN" b="1" dirty="0" smtClean="0"/>
              <a:t>A</a:t>
            </a:r>
            <a:r>
              <a:rPr lang="zh-CN" altLang="en-US" b="1" dirty="0" smtClean="0"/>
              <a:t>，而不是等第一个分组到达</a:t>
            </a:r>
            <a:r>
              <a:rPr kumimoji="1" lang="en-US" altLang="zh-CN" b="1" dirty="0"/>
              <a:t>H</a:t>
            </a:r>
            <a:r>
              <a:rPr kumimoji="1" lang="en-US" altLang="zh-CN" b="1" baseline="-25000" dirty="0"/>
              <a:t>5 </a:t>
            </a:r>
            <a:r>
              <a:rPr kumimoji="1" lang="zh-CN" altLang="en-US" b="1" dirty="0" smtClean="0"/>
              <a:t>后再发送下一个分组</a:t>
            </a:r>
            <a:r>
              <a:rPr lang="zh-CN" altLang="en-US" b="1" dirty="0" smtClean="0"/>
              <a:t>；</a:t>
            </a:r>
            <a:endParaRPr lang="en-US" altLang="zh-CN" b="1" dirty="0" smtClean="0"/>
          </a:p>
          <a:p>
            <a:pPr lvl="1" eaLnBrk="1" hangingPunct="1"/>
            <a:r>
              <a:rPr lang="zh-CN" altLang="en-US" b="1" dirty="0"/>
              <a:t>每个分组</a:t>
            </a:r>
            <a:r>
              <a:rPr lang="zh-CN" altLang="en-US" b="1" dirty="0" smtClean="0"/>
              <a:t>独立选择</a:t>
            </a:r>
            <a:r>
              <a:rPr lang="zh-CN" altLang="en-US" b="1" dirty="0"/>
              <a:t>传输</a:t>
            </a:r>
            <a:r>
              <a:rPr lang="zh-CN" altLang="en-US" b="1" dirty="0" smtClean="0"/>
              <a:t>路径；</a:t>
            </a:r>
            <a:endParaRPr lang="en-US" altLang="zh-CN" b="1" dirty="0" smtClean="0"/>
          </a:p>
          <a:p>
            <a:pPr lvl="1" eaLnBrk="1" hangingPunct="1"/>
            <a:r>
              <a:rPr lang="zh-CN" altLang="en-US" b="1" dirty="0" smtClean="0"/>
              <a:t>单个分组经过</a:t>
            </a:r>
            <a:r>
              <a:rPr lang="zh-CN" altLang="en-US" b="1" dirty="0" smtClean="0">
                <a:solidFill>
                  <a:srgbClr val="C00000"/>
                </a:solidFill>
              </a:rPr>
              <a:t>多个</a:t>
            </a:r>
            <a:r>
              <a:rPr lang="zh-CN" altLang="en-US" b="1" dirty="0" smtClean="0"/>
              <a:t>路由器“接力”，最终到达目的主机</a:t>
            </a:r>
            <a:r>
              <a:rPr kumimoji="1" lang="en-US" altLang="zh-CN" b="1" dirty="0"/>
              <a:t>H</a:t>
            </a:r>
            <a:r>
              <a:rPr kumimoji="1" lang="en-US" altLang="zh-CN" b="1" baseline="-25000" dirty="0"/>
              <a:t>5 </a:t>
            </a:r>
            <a:r>
              <a:rPr lang="zh-CN" altLang="en-US" b="1" dirty="0" smtClean="0"/>
              <a:t>；</a:t>
            </a:r>
            <a:endParaRPr lang="en-US" altLang="zh-CN" b="1" dirty="0" smtClean="0"/>
          </a:p>
          <a:p>
            <a:pPr lvl="1" eaLnBrk="1" hangingPunct="1"/>
            <a:r>
              <a:rPr lang="zh-CN" altLang="en-US" b="1" dirty="0" smtClean="0"/>
              <a:t>单个分组对通信资源是</a:t>
            </a:r>
            <a:r>
              <a:rPr lang="zh-CN" altLang="en-US" b="1" dirty="0" smtClean="0">
                <a:solidFill>
                  <a:srgbClr val="C00000"/>
                </a:solidFill>
              </a:rPr>
              <a:t>逐段占用</a:t>
            </a:r>
            <a:r>
              <a:rPr lang="zh-CN" altLang="en-US" b="1" dirty="0" smtClean="0"/>
              <a:t>的，只有当分组在链路上</a:t>
            </a:r>
            <a:r>
              <a:rPr lang="zh-CN" altLang="en-US" b="1" dirty="0" smtClean="0">
                <a:solidFill>
                  <a:srgbClr val="C00000"/>
                </a:solidFill>
              </a:rPr>
              <a:t>发送</a:t>
            </a:r>
            <a:r>
              <a:rPr lang="zh-CN" altLang="en-US" b="1" dirty="0" smtClean="0"/>
              <a:t>时才占用该链路，发送完毕即释放该链路。</a:t>
            </a:r>
            <a:endParaRPr lang="en-US" altLang="zh-CN" b="1" dirty="0" smtClean="0"/>
          </a:p>
          <a:p>
            <a:pPr lvl="1" eaLnBrk="1" hangingPunct="1"/>
            <a:r>
              <a:rPr lang="zh-CN" altLang="en-US" b="1" dirty="0" smtClean="0"/>
              <a:t>所有分组到达目的主机</a:t>
            </a:r>
            <a:r>
              <a:rPr kumimoji="1" lang="en-US" altLang="zh-CN" b="1" dirty="0"/>
              <a:t>H</a:t>
            </a:r>
            <a:r>
              <a:rPr kumimoji="1" lang="en-US" altLang="zh-CN" b="1" baseline="-25000" dirty="0"/>
              <a:t>5 </a:t>
            </a:r>
            <a:r>
              <a:rPr kumimoji="1" lang="zh-CN" altLang="en-US" b="1" dirty="0" smtClean="0"/>
              <a:t>后，即可还原出原来的报文。</a:t>
            </a:r>
            <a:endParaRPr lang="en-US" altLang="zh-CN" b="1" dirty="0" smtClean="0"/>
          </a:p>
          <a:p>
            <a:pPr lvl="1" eaLnBrk="1" hangingPunct="1"/>
            <a:endParaRPr lang="en-US" altLang="zh-CN" b="1" dirty="0"/>
          </a:p>
        </p:txBody>
      </p:sp>
    </p:spTree>
    <p:extLst>
      <p:ext uri="{BB962C8B-B14F-4D97-AF65-F5344CB8AC3E}">
        <p14:creationId xmlns:p14="http://schemas.microsoft.com/office/powerpoint/2010/main" val="40715037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9">
                                            <p:txEl>
                                              <p:pRg st="1" end="1"/>
                                            </p:txEl>
                                          </p:spTgt>
                                        </p:tgtEl>
                                        <p:attrNameLst>
                                          <p:attrName>style.visibility</p:attrName>
                                        </p:attrNameLst>
                                      </p:cBhvr>
                                      <p:to>
                                        <p:strVal val="visible"/>
                                      </p:to>
                                    </p:set>
                                    <p:animEffect transition="in" filter="fade">
                                      <p:cBhvr>
                                        <p:cTn id="7" dur="1000"/>
                                        <p:tgtEl>
                                          <p:spTgt spid="169">
                                            <p:txEl>
                                              <p:pRg st="1" end="1"/>
                                            </p:txEl>
                                          </p:spTgt>
                                        </p:tgtEl>
                                      </p:cBhvr>
                                    </p:animEffect>
                                    <p:anim calcmode="lin" valueType="num">
                                      <p:cBhvr>
                                        <p:cTn id="8" dur="1000" fill="hold"/>
                                        <p:tgtEl>
                                          <p:spTgt spid="16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6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9">
                                            <p:txEl>
                                              <p:pRg st="2" end="2"/>
                                            </p:txEl>
                                          </p:spTgt>
                                        </p:tgtEl>
                                        <p:attrNameLst>
                                          <p:attrName>style.visibility</p:attrName>
                                        </p:attrNameLst>
                                      </p:cBhvr>
                                      <p:to>
                                        <p:strVal val="visible"/>
                                      </p:to>
                                    </p:set>
                                    <p:animEffect transition="in" filter="fade">
                                      <p:cBhvr>
                                        <p:cTn id="14" dur="1000"/>
                                        <p:tgtEl>
                                          <p:spTgt spid="169">
                                            <p:txEl>
                                              <p:pRg st="2" end="2"/>
                                            </p:txEl>
                                          </p:spTgt>
                                        </p:tgtEl>
                                      </p:cBhvr>
                                    </p:animEffect>
                                    <p:anim calcmode="lin" valueType="num">
                                      <p:cBhvr>
                                        <p:cTn id="15" dur="1000" fill="hold"/>
                                        <p:tgtEl>
                                          <p:spTgt spid="169">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6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9">
                                            <p:txEl>
                                              <p:pRg st="3" end="3"/>
                                            </p:txEl>
                                          </p:spTgt>
                                        </p:tgtEl>
                                        <p:attrNameLst>
                                          <p:attrName>style.visibility</p:attrName>
                                        </p:attrNameLst>
                                      </p:cBhvr>
                                      <p:to>
                                        <p:strVal val="visible"/>
                                      </p:to>
                                    </p:set>
                                    <p:animEffect transition="in" filter="fade">
                                      <p:cBhvr>
                                        <p:cTn id="21" dur="1000"/>
                                        <p:tgtEl>
                                          <p:spTgt spid="169">
                                            <p:txEl>
                                              <p:pRg st="3" end="3"/>
                                            </p:txEl>
                                          </p:spTgt>
                                        </p:tgtEl>
                                      </p:cBhvr>
                                    </p:animEffect>
                                    <p:anim calcmode="lin" valueType="num">
                                      <p:cBhvr>
                                        <p:cTn id="22" dur="1000" fill="hold"/>
                                        <p:tgtEl>
                                          <p:spTgt spid="169">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6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9">
                                            <p:txEl>
                                              <p:pRg st="4" end="4"/>
                                            </p:txEl>
                                          </p:spTgt>
                                        </p:tgtEl>
                                        <p:attrNameLst>
                                          <p:attrName>style.visibility</p:attrName>
                                        </p:attrNameLst>
                                      </p:cBhvr>
                                      <p:to>
                                        <p:strVal val="visible"/>
                                      </p:to>
                                    </p:set>
                                    <p:animEffect transition="in" filter="fade">
                                      <p:cBhvr>
                                        <p:cTn id="28" dur="1000"/>
                                        <p:tgtEl>
                                          <p:spTgt spid="169">
                                            <p:txEl>
                                              <p:pRg st="4" end="4"/>
                                            </p:txEl>
                                          </p:spTgt>
                                        </p:tgtEl>
                                      </p:cBhvr>
                                    </p:animEffect>
                                    <p:anim calcmode="lin" valueType="num">
                                      <p:cBhvr>
                                        <p:cTn id="29" dur="1000" fill="hold"/>
                                        <p:tgtEl>
                                          <p:spTgt spid="169">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69">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69">
                                            <p:txEl>
                                              <p:pRg st="5" end="5"/>
                                            </p:txEl>
                                          </p:spTgt>
                                        </p:tgtEl>
                                        <p:attrNameLst>
                                          <p:attrName>style.visibility</p:attrName>
                                        </p:attrNameLst>
                                      </p:cBhvr>
                                      <p:to>
                                        <p:strVal val="visible"/>
                                      </p:to>
                                    </p:set>
                                    <p:animEffect transition="in" filter="fade">
                                      <p:cBhvr>
                                        <p:cTn id="35" dur="1000"/>
                                        <p:tgtEl>
                                          <p:spTgt spid="169">
                                            <p:txEl>
                                              <p:pRg st="5" end="5"/>
                                            </p:txEl>
                                          </p:spTgt>
                                        </p:tgtEl>
                                      </p:cBhvr>
                                    </p:animEffect>
                                    <p:anim calcmode="lin" valueType="num">
                                      <p:cBhvr>
                                        <p:cTn id="36" dur="1000" fill="hold"/>
                                        <p:tgtEl>
                                          <p:spTgt spid="169">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69">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graphicFrame>
        <p:nvGraphicFramePr>
          <p:cNvPr id="7" name="内容占位符 2"/>
          <p:cNvGraphicFramePr/>
          <p:nvPr>
            <p:extLst>
              <p:ext uri="{D42A27DB-BD31-4B8C-83A1-F6EECF244321}">
                <p14:modId xmlns:p14="http://schemas.microsoft.com/office/powerpoint/2010/main" val="1690184303"/>
              </p:ext>
            </p:extLst>
          </p:nvPr>
        </p:nvGraphicFramePr>
        <p:xfrm>
          <a:off x="1418527" y="2492896"/>
          <a:ext cx="8133857" cy="2760664"/>
        </p:xfrm>
        <a:graphic>
          <a:graphicData uri="http://schemas.openxmlformats.org/drawingml/2006/table">
            <a:tbl>
              <a:tblPr firstRow="1" firstCol="1" bandRow="1" bandCol="1">
                <a:tableStyleId>{93296810-A885-4BE3-A3E7-6D5BEEA58F35}</a:tableStyleId>
              </a:tblPr>
              <a:tblGrid>
                <a:gridCol w="1017418">
                  <a:extLst>
                    <a:ext uri="{9D8B030D-6E8A-4147-A177-3AD203B41FA5}">
                      <a16:colId xmlns="" xmlns:a16="http://schemas.microsoft.com/office/drawing/2014/main" val="20000"/>
                    </a:ext>
                  </a:extLst>
                </a:gridCol>
                <a:gridCol w="7116439">
                  <a:extLst>
                    <a:ext uri="{9D8B030D-6E8A-4147-A177-3AD203B41FA5}">
                      <a16:colId xmlns="" xmlns:a16="http://schemas.microsoft.com/office/drawing/2014/main" val="20001"/>
                    </a:ext>
                  </a:extLst>
                </a:gridCol>
              </a:tblGrid>
              <a:tr h="47283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rPr>
                        <a:t>优点</a:t>
                      </a:r>
                      <a:endParaRPr kumimoji="0" lang="zh-CN" sz="1800" b="1" i="0"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cs typeface="+mn-cs"/>
                      </a:endParaRPr>
                    </a:p>
                  </a:txBody>
                  <a:tcPr marL="107997" marR="107997" marT="72025" marB="720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rPr>
                        <a:t>所采用的手段</a:t>
                      </a:r>
                      <a:endParaRPr kumimoji="0" lang="zh-CN" sz="1800" b="1" i="0"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CCFF"/>
                    </a:solidFill>
                  </a:tcPr>
                </a:tc>
                <a:extLst>
                  <a:ext uri="{0D108BD9-81ED-4DB2-BD59-A6C34878D82A}">
                    <a16:rowId xmlns="" xmlns:a16="http://schemas.microsoft.com/office/drawing/2014/main" val="10000"/>
                  </a:ext>
                </a:extLst>
              </a:tr>
              <a:tr h="467024">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rPr>
                        <a:t>高效</a:t>
                      </a:r>
                      <a:endParaRPr kumimoji="0" lang="zh-CN" sz="1800" b="1" i="0"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在分组传输的过程中</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rPr>
                        <a:t>动态分配</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传输带宽，对通信</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链路</a:t>
                      </a:r>
                      <a:r>
                        <a:rPr kumimoji="0" lang="zh-CN" sz="1800" b="1" u="none" strike="noStrike" kern="1200" cap="none" normalizeH="0" baseline="0" dirty="0" smtClean="0">
                          <a:ln>
                            <a:noFill/>
                          </a:ln>
                          <a:solidFill>
                            <a:srgbClr val="CC00CC"/>
                          </a:solidFill>
                          <a:effectLst/>
                          <a:latin typeface="微软雅黑" panose="020B0503020204020204" pitchFamily="34" charset="-122"/>
                          <a:ea typeface="微软雅黑" panose="020B0503020204020204" pitchFamily="34" charset="-122"/>
                          <a:cs typeface="+mn-cs"/>
                        </a:rPr>
                        <a:t>逐</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段</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占用</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535881">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rPr>
                        <a:t>灵活</a:t>
                      </a:r>
                      <a:endParaRPr kumimoji="0" lang="zh-CN" sz="1800" b="1" i="0"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为每一个分组</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独立</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地选择最合适的转发</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路由</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459519">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rPr>
                        <a:t>迅速</a:t>
                      </a:r>
                      <a:endParaRPr kumimoji="0" lang="zh-CN" sz="1800" b="1" i="0"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以分组作为传送单位</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a:t>
                      </a:r>
                      <a:r>
                        <a:rPr kumimoji="0" lang="zh-CN" sz="1800" b="1" u="none" strike="noStrike" kern="1200" cap="none" normalizeH="0" baseline="0" dirty="0" smtClean="0">
                          <a:ln>
                            <a:noFill/>
                          </a:ln>
                          <a:solidFill>
                            <a:srgbClr val="CC00CC"/>
                          </a:solidFill>
                          <a:effectLst/>
                          <a:latin typeface="微软雅黑" panose="020B0503020204020204" pitchFamily="34" charset="-122"/>
                          <a:ea typeface="微软雅黑" panose="020B0503020204020204" pitchFamily="34" charset="-122"/>
                          <a:cs typeface="+mn-cs"/>
                        </a:rPr>
                        <a:t>不</a:t>
                      </a:r>
                      <a:r>
                        <a:rPr kumimoji="0" lang="zh-CN" sz="1800" b="1" u="none" strike="noStrike" kern="1200" cap="none" normalizeH="0" baseline="0" dirty="0">
                          <a:ln>
                            <a:noFill/>
                          </a:ln>
                          <a:solidFill>
                            <a:srgbClr val="CC00CC"/>
                          </a:solidFill>
                          <a:effectLst/>
                          <a:latin typeface="微软雅黑" panose="020B0503020204020204" pitchFamily="34" charset="-122"/>
                          <a:ea typeface="微软雅黑" panose="020B0503020204020204" pitchFamily="34" charset="-122"/>
                          <a:cs typeface="+mn-cs"/>
                        </a:rPr>
                        <a:t>先建立连接</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就能向其他主机发送</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分组</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r h="825406">
                <a:tc>
                  <a:txBody>
                    <a:bodyPr/>
                    <a:lstStyle/>
                    <a:p>
                      <a:pPr marL="0" marR="0" lvl="0" indent="0" algn="ctr"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rPr>
                        <a:t>可靠</a:t>
                      </a:r>
                      <a:endParaRPr kumimoji="0" lang="zh-CN" sz="1800" b="1" i="0" u="none" strike="noStrike" kern="1200" cap="none" normalizeH="0" baseline="0" dirty="0">
                        <a:ln>
                          <a:noFill/>
                        </a:ln>
                        <a:solidFill>
                          <a:srgbClr val="1C1C1C"/>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c>
                  <a:txBody>
                    <a:bodyPr/>
                    <a:lstStyle/>
                    <a:p>
                      <a:pPr marL="0" marR="0" lvl="0" indent="0" algn="l" defTabSz="914400" rtl="0" eaLnBrk="0" fontAlgn="base" latinLnBrk="0" hangingPunct="0">
                        <a:lnSpc>
                          <a:spcPts val="2400"/>
                        </a:lnSpc>
                        <a:spcBef>
                          <a:spcPct val="0"/>
                        </a:spcBef>
                        <a:spcAft>
                          <a:spcPct val="0"/>
                        </a:spcAft>
                        <a:buClrTx/>
                        <a:buSzTx/>
                        <a:buFontTx/>
                        <a:buNone/>
                      </a:pP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保证可靠性的网络协议；分布式多路由</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的</a:t>
                      </a:r>
                      <a:r>
                        <a:rPr kumimoji="0" lang="zh-CN" sz="1800" b="1" u="none" strike="noStrike" kern="1200" cap="none" normalizeH="0" baseline="0" dirty="0" smtClean="0">
                          <a:ln>
                            <a:noFill/>
                          </a:ln>
                          <a:solidFill>
                            <a:srgbClr val="CC00CC"/>
                          </a:solidFill>
                          <a:effectLst/>
                          <a:latin typeface="微软雅黑" panose="020B0503020204020204" pitchFamily="34" charset="-122"/>
                          <a:ea typeface="微软雅黑" panose="020B0503020204020204" pitchFamily="34" charset="-122"/>
                        </a:rPr>
                        <a:t>网</a:t>
                      </a:r>
                      <a:r>
                        <a:rPr kumimoji="0" lang="zh-CN" altLang="en-US" sz="1800" b="1" u="none" strike="noStrike" kern="1200" cap="none" normalizeH="0" baseline="0" dirty="0" smtClean="0">
                          <a:ln>
                            <a:noFill/>
                          </a:ln>
                          <a:solidFill>
                            <a:srgbClr val="CC00CC"/>
                          </a:solidFill>
                          <a:effectLst/>
                          <a:latin typeface="微软雅黑" panose="020B0503020204020204" pitchFamily="34" charset="-122"/>
                          <a:ea typeface="微软雅黑" panose="020B0503020204020204" pitchFamily="34" charset="-122"/>
                        </a:rPr>
                        <a:t>状拓扑结构</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a:t>
                      </a:r>
                      <a:r>
                        <a:rPr kumimoji="0" lang="zh-CN" sz="1800" b="1"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rPr>
                        <a:t>使网络有很好的</a:t>
                      </a:r>
                      <a:r>
                        <a:rPr kumimoji="0" lang="zh-CN" sz="1800" b="1" u="none" strike="noStrike" kern="1200" cap="none" normalizeH="0" baseline="0" dirty="0" smtClean="0">
                          <a:ln>
                            <a:noFill/>
                          </a:ln>
                          <a:solidFill>
                            <a:srgbClr val="0000FF"/>
                          </a:solidFill>
                          <a:effectLst/>
                          <a:latin typeface="微软雅黑" panose="020B0503020204020204" pitchFamily="34" charset="-122"/>
                          <a:ea typeface="微软雅黑" panose="020B0503020204020204" pitchFamily="34" charset="-122"/>
                        </a:rPr>
                        <a:t>生存性</a:t>
                      </a:r>
                      <a:endParaRPr kumimoji="0" lang="zh-CN" sz="1800" b="1" i="0" u="none" strike="noStrike" kern="1200" cap="none" normalizeH="0" baseline="0" dirty="0">
                        <a:ln>
                          <a:noFill/>
                        </a:ln>
                        <a:solidFill>
                          <a:srgbClr val="0000FF"/>
                        </a:solidFill>
                        <a:effectLst/>
                        <a:latin typeface="微软雅黑" panose="020B0503020204020204" pitchFamily="34" charset="-122"/>
                        <a:ea typeface="微软雅黑" panose="020B0503020204020204" pitchFamily="34" charset="-122"/>
                        <a:cs typeface="+mn-cs"/>
                      </a:endParaRPr>
                    </a:p>
                  </a:txBody>
                  <a:tcPr marL="89998" marR="89998" marT="46816" marB="468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10004"/>
                  </a:ext>
                </a:extLst>
              </a:tr>
            </a:tbl>
          </a:graphicData>
        </a:graphic>
      </p:graphicFrame>
      <p:sp>
        <p:nvSpPr>
          <p:cNvPr id="9" name="Content Placeholder 58"/>
          <p:cNvSpPr>
            <a:spLocks noGrp="1" noChangeArrowheads="1"/>
          </p:cNvSpPr>
          <p:nvPr>
            <p:ph idx="1"/>
          </p:nvPr>
        </p:nvSpPr>
        <p:spPr>
          <a:xfrm>
            <a:off x="442800" y="1267200"/>
            <a:ext cx="11304587" cy="4895850"/>
          </a:xfrm>
        </p:spPr>
        <p:txBody>
          <a:bodyPr/>
          <a:lstStyle/>
          <a:p>
            <a:pPr eaLnBrk="1" hangingPunct="1"/>
            <a:r>
              <a:rPr lang="zh-CN" altLang="en-US" b="1" dirty="0" smtClean="0"/>
              <a:t>分组交换的优点：</a:t>
            </a:r>
            <a:endParaRPr lang="en-US" altLang="zh-CN" b="1" dirty="0"/>
          </a:p>
        </p:txBody>
      </p:sp>
    </p:spTree>
    <p:extLst>
      <p:ext uri="{BB962C8B-B14F-4D97-AF65-F5344CB8AC3E}">
        <p14:creationId xmlns:p14="http://schemas.microsoft.com/office/powerpoint/2010/main" val="3093589581"/>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9" name="Content Placeholder 58"/>
          <p:cNvSpPr>
            <a:spLocks noGrp="1" noChangeArrowheads="1"/>
          </p:cNvSpPr>
          <p:nvPr>
            <p:ph idx="1"/>
          </p:nvPr>
        </p:nvSpPr>
        <p:spPr>
          <a:xfrm>
            <a:off x="442800" y="1267200"/>
            <a:ext cx="11304587" cy="4895850"/>
          </a:xfrm>
        </p:spPr>
        <p:txBody>
          <a:bodyPr/>
          <a:lstStyle/>
          <a:p>
            <a:pPr eaLnBrk="1" hangingPunct="1"/>
            <a:r>
              <a:rPr lang="zh-CN" altLang="en-US" b="1" dirty="0" smtClean="0"/>
              <a:t>分组交换带来的问题：</a:t>
            </a:r>
            <a:endParaRPr lang="en-US" altLang="zh-CN" b="1" dirty="0" smtClean="0"/>
          </a:p>
          <a:p>
            <a:pPr lvl="1"/>
            <a:r>
              <a:rPr lang="zh-CN" altLang="en-US" b="1" dirty="0" smtClean="0">
                <a:solidFill>
                  <a:srgbClr val="C00000"/>
                </a:solidFill>
              </a:rPr>
              <a:t>时延：</a:t>
            </a:r>
            <a:r>
              <a:rPr lang="zh-CN" altLang="en-US" b="1" dirty="0"/>
              <a:t>分组在各路由器存储转发时需要排队。</a:t>
            </a:r>
            <a:endParaRPr lang="en-US" altLang="zh-CN" b="1" dirty="0"/>
          </a:p>
          <a:p>
            <a:pPr lvl="1"/>
            <a:r>
              <a:rPr lang="zh-CN" altLang="en-US" b="1" dirty="0">
                <a:solidFill>
                  <a:srgbClr val="C00000"/>
                </a:solidFill>
              </a:rPr>
              <a:t>不保证带宽</a:t>
            </a:r>
            <a:r>
              <a:rPr lang="zh-CN" altLang="en-US" b="1" dirty="0" smtClean="0">
                <a:solidFill>
                  <a:srgbClr val="C00000"/>
                </a:solidFill>
              </a:rPr>
              <a:t>：</a:t>
            </a:r>
            <a:r>
              <a:rPr lang="zh-CN" altLang="en-US" b="1" dirty="0" smtClean="0"/>
              <a:t>通信资源</a:t>
            </a:r>
            <a:r>
              <a:rPr lang="zh-CN" altLang="zh-CN" b="1" dirty="0" smtClean="0"/>
              <a:t>动态分配</a:t>
            </a:r>
            <a:r>
              <a:rPr lang="zh-CN" altLang="en-US" b="1" dirty="0"/>
              <a:t>。</a:t>
            </a:r>
            <a:endParaRPr lang="en-US" altLang="zh-CN" b="1" dirty="0"/>
          </a:p>
          <a:p>
            <a:pPr lvl="1"/>
            <a:r>
              <a:rPr lang="zh-CN" altLang="en-US" b="1" dirty="0">
                <a:solidFill>
                  <a:srgbClr val="C00000"/>
                </a:solidFill>
              </a:rPr>
              <a:t>增加开销：</a:t>
            </a:r>
            <a:r>
              <a:rPr lang="zh-CN" altLang="en-US" b="1" dirty="0"/>
              <a:t>各分组必须携带控制信息；路由器要暂存分组，维护转发表等。</a:t>
            </a:r>
          </a:p>
          <a:p>
            <a:pPr eaLnBrk="1" hangingPunct="1"/>
            <a:endParaRPr lang="en-US" altLang="zh-CN" dirty="0"/>
          </a:p>
        </p:txBody>
      </p:sp>
    </p:spTree>
    <p:extLst>
      <p:ext uri="{BB962C8B-B14F-4D97-AF65-F5344CB8AC3E}">
        <p14:creationId xmlns:p14="http://schemas.microsoft.com/office/powerpoint/2010/main" val="4117310810"/>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38914" name="Rectangle 3"/>
          <p:cNvSpPr>
            <a:spLocks noGrp="1" noChangeArrowheads="1"/>
          </p:cNvSpPr>
          <p:nvPr>
            <p:ph idx="1"/>
          </p:nvPr>
        </p:nvSpPr>
        <p:spPr/>
        <p:txBody>
          <a:bodyPr/>
          <a:lstStyle/>
          <a:p>
            <a:pPr eaLnBrk="1" hangingPunct="1"/>
            <a:r>
              <a:rPr lang="zh-CN" altLang="en-US" b="1" dirty="0" smtClean="0">
                <a:solidFill>
                  <a:srgbClr val="FF0000"/>
                </a:solidFill>
              </a:rPr>
              <a:t>报文</a:t>
            </a:r>
            <a:r>
              <a:rPr lang="zh-CN" altLang="en-US" b="1" dirty="0" smtClean="0"/>
              <a:t>交换 </a:t>
            </a:r>
            <a:r>
              <a:rPr lang="en-US" altLang="zh-CN" b="1" dirty="0" smtClean="0"/>
              <a:t>(Message </a:t>
            </a:r>
            <a:r>
              <a:rPr lang="en-US" altLang="zh-CN" b="1" dirty="0"/>
              <a:t>Switching)</a:t>
            </a:r>
          </a:p>
          <a:p>
            <a:pPr lvl="1"/>
            <a:r>
              <a:rPr lang="zh-CN" altLang="en-US" b="1" dirty="0" smtClean="0"/>
              <a:t>将整块数据作为一个</a:t>
            </a:r>
            <a:r>
              <a:rPr lang="zh-CN" altLang="en-US" b="1" dirty="0" smtClean="0">
                <a:solidFill>
                  <a:srgbClr val="C00000"/>
                </a:solidFill>
              </a:rPr>
              <a:t>报文</a:t>
            </a:r>
            <a:r>
              <a:rPr lang="zh-CN" altLang="en-US" b="1" dirty="0" smtClean="0"/>
              <a:t>，采用</a:t>
            </a:r>
            <a:r>
              <a:rPr lang="zh-CN" altLang="en-US" b="1" dirty="0" smtClean="0">
                <a:solidFill>
                  <a:srgbClr val="C00000"/>
                </a:solidFill>
              </a:rPr>
              <a:t>存储转发</a:t>
            </a:r>
            <a:r>
              <a:rPr lang="zh-CN" altLang="en-US" b="1" dirty="0" smtClean="0"/>
              <a:t>模式的数据交换方式叫做</a:t>
            </a:r>
            <a:r>
              <a:rPr lang="zh-CN" altLang="en-US" b="1" dirty="0" smtClean="0">
                <a:solidFill>
                  <a:srgbClr val="C00000"/>
                </a:solidFill>
              </a:rPr>
              <a:t>报文交换</a:t>
            </a:r>
            <a:r>
              <a:rPr lang="zh-CN" altLang="en-US" b="1" dirty="0" smtClean="0"/>
              <a:t> </a:t>
            </a:r>
            <a:r>
              <a:rPr lang="en-US" altLang="zh-CN" b="1" dirty="0"/>
              <a:t>(message switching)</a:t>
            </a:r>
            <a:r>
              <a:rPr lang="zh-CN" altLang="en-US" b="1" dirty="0"/>
              <a:t>。 </a:t>
            </a:r>
          </a:p>
          <a:p>
            <a:pPr lvl="1"/>
            <a:r>
              <a:rPr lang="zh-CN" altLang="en-US" b="1" dirty="0" smtClean="0"/>
              <a:t>报文交换</a:t>
            </a:r>
            <a:r>
              <a:rPr lang="zh-CN" altLang="en-US" b="1" dirty="0"/>
              <a:t>的时延较长</a:t>
            </a:r>
            <a:r>
              <a:rPr lang="zh-CN" altLang="en-US" b="1" dirty="0" smtClean="0"/>
              <a:t>，现在已经很少使用这种交换方式了</a:t>
            </a:r>
            <a:r>
              <a:rPr lang="zh-CN" altLang="en-US" b="1" dirty="0"/>
              <a:t>。 </a:t>
            </a:r>
          </a:p>
          <a:p>
            <a:pPr eaLnBrk="1" hangingPunct="1"/>
            <a:endParaRPr lang="zh-CN" altLang="en-US" b="1" dirty="0"/>
          </a:p>
        </p:txBody>
      </p:sp>
    </p:spTree>
    <p:extLst>
      <p:ext uri="{BB962C8B-B14F-4D97-AF65-F5344CB8AC3E}">
        <p14:creationId xmlns:p14="http://schemas.microsoft.com/office/powerpoint/2010/main" val="3530635815"/>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1" dirty="0"/>
              <a:t>电路交换、报文交换和分组交换的主要区别</a:t>
            </a:r>
          </a:p>
          <a:p>
            <a:endParaRPr lang="zh-CN" altLang="en-US" b="1" dirty="0"/>
          </a:p>
        </p:txBody>
      </p:sp>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4" name="圆角矩形 3"/>
          <p:cNvSpPr/>
          <p:nvPr/>
        </p:nvSpPr>
        <p:spPr>
          <a:xfrm>
            <a:off x="1703512" y="2060848"/>
            <a:ext cx="8219459" cy="4429322"/>
          </a:xfrm>
          <a:prstGeom prst="roundRect">
            <a:avLst>
              <a:gd name="adj" fmla="val 1297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13" name="Group 140"/>
          <p:cNvGrpSpPr/>
          <p:nvPr/>
        </p:nvGrpSpPr>
        <p:grpSpPr bwMode="auto">
          <a:xfrm>
            <a:off x="8803039" y="3092710"/>
            <a:ext cx="474960" cy="276631"/>
            <a:chOff x="4934" y="2023"/>
            <a:chExt cx="442" cy="280"/>
          </a:xfrm>
        </p:grpSpPr>
        <p:sp>
          <p:nvSpPr>
            <p:cNvPr id="16" name="AutoShape 29"/>
            <p:cNvSpPr>
              <a:spLocks noChangeArrowheads="1"/>
            </p:cNvSpPr>
            <p:nvPr/>
          </p:nvSpPr>
          <p:spPr bwMode="auto">
            <a:xfrm rot="5400000">
              <a:off x="5091" y="2000"/>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7" name="Text Box 30"/>
            <p:cNvSpPr txBox="1">
              <a:spLocks noChangeArrowheads="1"/>
            </p:cNvSpPr>
            <p:nvPr/>
          </p:nvSpPr>
          <p:spPr bwMode="auto">
            <a:xfrm rot="626605">
              <a:off x="4934" y="2023"/>
              <a:ext cx="354" cy="28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chemeClr val="bg1"/>
                  </a:solidFill>
                  <a:latin typeface="微软雅黑" panose="020B0503020204020204" pitchFamily="34" charset="-122"/>
                  <a:ea typeface="微软雅黑" panose="020B0503020204020204" pitchFamily="34" charset="-122"/>
                </a:rPr>
                <a:t>P2</a:t>
              </a:r>
            </a:p>
          </p:txBody>
        </p:sp>
        <p:sp>
          <p:nvSpPr>
            <p:cNvPr id="18"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33"/>
            <p:cNvSpPr>
              <a:spLocks noChangeArrowheads="1"/>
            </p:cNvSpPr>
            <p:nvPr/>
          </p:nvSpPr>
          <p:spPr bwMode="auto">
            <a:xfrm rot="746037">
              <a:off x="5215" y="2136"/>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202" name="组合 201"/>
          <p:cNvGrpSpPr/>
          <p:nvPr/>
        </p:nvGrpSpPr>
        <p:grpSpPr>
          <a:xfrm>
            <a:off x="8441546" y="3032577"/>
            <a:ext cx="462766" cy="277000"/>
            <a:chOff x="10601786" y="4170057"/>
            <a:chExt cx="462766" cy="277000"/>
          </a:xfrm>
        </p:grpSpPr>
        <p:grpSp>
          <p:nvGrpSpPr>
            <p:cNvPr id="12" name="Group 136"/>
            <p:cNvGrpSpPr/>
            <p:nvPr/>
          </p:nvGrpSpPr>
          <p:grpSpPr bwMode="auto">
            <a:xfrm>
              <a:off x="10671259" y="4213710"/>
              <a:ext cx="393293" cy="212412"/>
              <a:chOff x="4652" y="2004"/>
              <a:chExt cx="366" cy="215"/>
            </a:xfrm>
          </p:grpSpPr>
          <p:sp>
            <p:nvSpPr>
              <p:cNvPr id="21" name="AutoShape 14"/>
              <p:cNvSpPr>
                <a:spLocks noChangeArrowheads="1"/>
              </p:cNvSpPr>
              <p:nvPr/>
            </p:nvSpPr>
            <p:spPr bwMode="auto">
              <a:xfrm rot="5400000">
                <a:off x="4732" y="1934"/>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22"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AutoShape 18"/>
              <p:cNvSpPr>
                <a:spLocks noChangeArrowheads="1"/>
              </p:cNvSpPr>
              <p:nvPr/>
            </p:nvSpPr>
            <p:spPr bwMode="auto">
              <a:xfrm rot="746037">
                <a:off x="4857" y="2069"/>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sp>
          <p:nvSpPr>
            <p:cNvPr id="8" name="Text Box 15"/>
            <p:cNvSpPr txBox="1">
              <a:spLocks noChangeArrowheads="1"/>
            </p:cNvSpPr>
            <p:nvPr/>
          </p:nvSpPr>
          <p:spPr bwMode="auto">
            <a:xfrm rot="626605">
              <a:off x="10601786" y="4170057"/>
              <a:ext cx="380232" cy="277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chemeClr val="bg1"/>
                  </a:solidFill>
                  <a:latin typeface="微软雅黑" panose="020B0503020204020204" pitchFamily="34" charset="-122"/>
                  <a:ea typeface="微软雅黑" panose="020B0503020204020204" pitchFamily="34" charset="-122"/>
                </a:rPr>
                <a:t>P3</a:t>
              </a:r>
            </a:p>
          </p:txBody>
        </p:sp>
      </p:grpSp>
      <p:grpSp>
        <p:nvGrpSpPr>
          <p:cNvPr id="205" name="组合 204"/>
          <p:cNvGrpSpPr/>
          <p:nvPr/>
        </p:nvGrpSpPr>
        <p:grpSpPr>
          <a:xfrm>
            <a:off x="8448098" y="3201546"/>
            <a:ext cx="516792" cy="311386"/>
            <a:chOff x="10636004" y="3583927"/>
            <a:chExt cx="516792" cy="311386"/>
          </a:xfrm>
        </p:grpSpPr>
        <p:sp>
          <p:nvSpPr>
            <p:cNvPr id="26" name="AutoShape 54"/>
            <p:cNvSpPr>
              <a:spLocks noChangeArrowheads="1"/>
            </p:cNvSpPr>
            <p:nvPr/>
          </p:nvSpPr>
          <p:spPr bwMode="auto">
            <a:xfrm rot="5400000">
              <a:off x="10796205" y="3556791"/>
              <a:ext cx="209245" cy="385712"/>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28" name="Line 112"/>
            <p:cNvSpPr>
              <a:spLocks noChangeShapeType="1"/>
            </p:cNvSpPr>
            <p:nvPr/>
          </p:nvSpPr>
          <p:spPr bwMode="auto">
            <a:xfrm>
              <a:off x="10699946" y="3789040"/>
              <a:ext cx="388935" cy="63468"/>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p>
          </p:txBody>
        </p:sp>
        <p:grpSp>
          <p:nvGrpSpPr>
            <p:cNvPr id="29" name="Group 137"/>
            <p:cNvGrpSpPr/>
            <p:nvPr/>
          </p:nvGrpSpPr>
          <p:grpSpPr bwMode="auto">
            <a:xfrm>
              <a:off x="10636004" y="3583927"/>
              <a:ext cx="516792" cy="311386"/>
              <a:chOff x="4578" y="2133"/>
              <a:chExt cx="481" cy="314"/>
            </a:xfrm>
          </p:grpSpPr>
          <p:sp>
            <p:nvSpPr>
              <p:cNvPr id="32" name="AutoShape 19"/>
              <p:cNvSpPr>
                <a:spLocks noChangeArrowheads="1"/>
              </p:cNvSpPr>
              <p:nvPr/>
            </p:nvSpPr>
            <p:spPr bwMode="auto">
              <a:xfrm rot="5400000">
                <a:off x="4685" y="2072"/>
                <a:ext cx="314" cy="435"/>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33" name="Text Box 20"/>
              <p:cNvSpPr txBox="1">
                <a:spLocks noChangeArrowheads="1"/>
              </p:cNvSpPr>
              <p:nvPr/>
            </p:nvSpPr>
            <p:spPr bwMode="auto">
              <a:xfrm rot="626605">
                <a:off x="4578" y="2148"/>
                <a:ext cx="354" cy="27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chemeClr val="bg1"/>
                    </a:solidFill>
                    <a:latin typeface="微软雅黑" panose="020B0503020204020204" pitchFamily="34" charset="-122"/>
                    <a:ea typeface="微软雅黑" panose="020B0503020204020204" pitchFamily="34" charset="-122"/>
                  </a:rPr>
                  <a:t>P4</a:t>
                </a:r>
              </a:p>
            </p:txBody>
          </p:sp>
          <p:sp>
            <p:nvSpPr>
              <p:cNvPr id="34" name="Line 21"/>
              <p:cNvSpPr>
                <a:spLocks noChangeShapeType="1"/>
              </p:cNvSpPr>
              <p:nvPr/>
            </p:nvSpPr>
            <p:spPr bwMode="auto">
              <a:xfrm>
                <a:off x="4637" y="2177"/>
                <a:ext cx="339" cy="5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1200"/>
              </a:p>
            </p:txBody>
          </p:sp>
          <p:sp>
            <p:nvSpPr>
              <p:cNvPr id="35" name="Line 22"/>
              <p:cNvSpPr>
                <a:spLocks noChangeShapeType="1"/>
              </p:cNvSpPr>
              <p:nvPr/>
            </p:nvSpPr>
            <p:spPr bwMode="auto">
              <a:xfrm>
                <a:off x="4656" y="2331"/>
                <a:ext cx="362" cy="63"/>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sz="1200"/>
              </a:p>
            </p:txBody>
          </p:sp>
        </p:grpSp>
        <p:sp>
          <p:nvSpPr>
            <p:cNvPr id="30" name="AutoShape 38"/>
            <p:cNvSpPr>
              <a:spLocks noChangeArrowheads="1"/>
            </p:cNvSpPr>
            <p:nvPr/>
          </p:nvSpPr>
          <p:spPr bwMode="auto">
            <a:xfrm rot="746037">
              <a:off x="10924841" y="3696420"/>
              <a:ext cx="142896" cy="124951"/>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grpSp>
      <p:grpSp>
        <p:nvGrpSpPr>
          <p:cNvPr id="206" name="组合 205"/>
          <p:cNvGrpSpPr/>
          <p:nvPr/>
        </p:nvGrpSpPr>
        <p:grpSpPr>
          <a:xfrm>
            <a:off x="8808554" y="3284984"/>
            <a:ext cx="479512" cy="276999"/>
            <a:chOff x="11017088" y="4448145"/>
            <a:chExt cx="479512" cy="276999"/>
          </a:xfrm>
        </p:grpSpPr>
        <p:grpSp>
          <p:nvGrpSpPr>
            <p:cNvPr id="27" name="Group 141"/>
            <p:cNvGrpSpPr/>
            <p:nvPr/>
          </p:nvGrpSpPr>
          <p:grpSpPr bwMode="auto">
            <a:xfrm>
              <a:off x="11104441" y="4478848"/>
              <a:ext cx="392159" cy="224119"/>
              <a:chOff x="5014" y="2223"/>
              <a:chExt cx="365" cy="226"/>
            </a:xfrm>
          </p:grpSpPr>
          <p:sp>
            <p:nvSpPr>
              <p:cNvPr id="37" name="AutoShape 34"/>
              <p:cNvSpPr>
                <a:spLocks noChangeArrowheads="1"/>
              </p:cNvSpPr>
              <p:nvPr/>
            </p:nvSpPr>
            <p:spPr bwMode="auto">
              <a:xfrm rot="5400000">
                <a:off x="5094" y="2164"/>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38" name="Line 36"/>
              <p:cNvSpPr>
                <a:spLocks noChangeShapeType="1"/>
              </p:cNvSpPr>
              <p:nvPr/>
            </p:nvSpPr>
            <p:spPr bwMode="auto">
              <a:xfrm>
                <a:off x="5017" y="2223"/>
                <a:ext cx="335"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p>
            </p:txBody>
          </p:sp>
          <p:sp>
            <p:nvSpPr>
              <p:cNvPr id="39" name="Line 37"/>
              <p:cNvSpPr>
                <a:spLocks noChangeShapeType="1"/>
              </p:cNvSpPr>
              <p:nvPr/>
            </p:nvSpPr>
            <p:spPr bwMode="auto">
              <a:xfrm>
                <a:off x="5014" y="2374"/>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p>
            </p:txBody>
          </p:sp>
          <p:sp>
            <p:nvSpPr>
              <p:cNvPr id="40" name="AutoShape 38"/>
              <p:cNvSpPr>
                <a:spLocks noChangeArrowheads="1"/>
              </p:cNvSpPr>
              <p:nvPr/>
            </p:nvSpPr>
            <p:spPr bwMode="auto">
              <a:xfrm rot="746037">
                <a:off x="5208" y="2288"/>
                <a:ext cx="133" cy="126"/>
              </a:xfrm>
              <a:prstGeom prst="rightArrow">
                <a:avLst>
                  <a:gd name="adj1" fmla="val 50000"/>
                  <a:gd name="adj2" fmla="val 26389"/>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grpSp>
        <p:sp>
          <p:nvSpPr>
            <p:cNvPr id="31" name="Text Box 35"/>
            <p:cNvSpPr txBox="1">
              <a:spLocks noChangeArrowheads="1"/>
            </p:cNvSpPr>
            <p:nvPr/>
          </p:nvSpPr>
          <p:spPr bwMode="auto">
            <a:xfrm rot="626605">
              <a:off x="11017088" y="4448145"/>
              <a:ext cx="380232" cy="27699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chemeClr val="bg1"/>
                  </a:solidFill>
                  <a:latin typeface="微软雅黑" panose="020B0503020204020204" pitchFamily="34" charset="-122"/>
                  <a:ea typeface="微软雅黑" panose="020B0503020204020204" pitchFamily="34" charset="-122"/>
                </a:rPr>
                <a:t>P3</a:t>
              </a:r>
            </a:p>
          </p:txBody>
        </p:sp>
      </p:grpSp>
      <p:grpSp>
        <p:nvGrpSpPr>
          <p:cNvPr id="41" name="Group 127"/>
          <p:cNvGrpSpPr/>
          <p:nvPr/>
        </p:nvGrpSpPr>
        <p:grpSpPr bwMode="auto">
          <a:xfrm>
            <a:off x="6176106" y="3250137"/>
            <a:ext cx="425680" cy="676425"/>
            <a:chOff x="2869" y="2182"/>
            <a:chExt cx="396" cy="683"/>
          </a:xfrm>
          <a:solidFill>
            <a:srgbClr val="368AD6"/>
          </a:solidFill>
        </p:grpSpPr>
        <p:sp>
          <p:nvSpPr>
            <p:cNvPr id="42" name="AutoShape 59"/>
            <p:cNvSpPr>
              <a:spLocks noChangeArrowheads="1"/>
            </p:cNvSpPr>
            <p:nvPr/>
          </p:nvSpPr>
          <p:spPr bwMode="auto">
            <a:xfrm rot="5400000">
              <a:off x="2729" y="2350"/>
              <a:ext cx="674" cy="355"/>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43" name="Text Box 61"/>
            <p:cNvSpPr txBox="1">
              <a:spLocks noChangeArrowheads="1"/>
            </p:cNvSpPr>
            <p:nvPr/>
          </p:nvSpPr>
          <p:spPr bwMode="auto">
            <a:xfrm>
              <a:off x="2869" y="218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44" name="Line 62"/>
            <p:cNvSpPr>
              <a:spLocks noChangeShapeType="1"/>
            </p:cNvSpPr>
            <p:nvPr/>
          </p:nvSpPr>
          <p:spPr bwMode="auto">
            <a:xfrm>
              <a:off x="2876" y="2191"/>
              <a:ext cx="363" cy="57"/>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45" name="Line 63"/>
            <p:cNvSpPr>
              <a:spLocks noChangeShapeType="1"/>
            </p:cNvSpPr>
            <p:nvPr/>
          </p:nvSpPr>
          <p:spPr bwMode="auto">
            <a:xfrm>
              <a:off x="2876" y="2807"/>
              <a:ext cx="363"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46" name="AutoShape 60"/>
            <p:cNvSpPr>
              <a:spLocks noChangeArrowheads="1"/>
            </p:cNvSpPr>
            <p:nvPr/>
          </p:nvSpPr>
          <p:spPr bwMode="auto">
            <a:xfrm rot="746037">
              <a:off x="2960" y="2674"/>
              <a:ext cx="227" cy="127"/>
            </a:xfrm>
            <a:prstGeom prst="rightArrow">
              <a:avLst>
                <a:gd name="adj1" fmla="val 50000"/>
                <a:gd name="adj2" fmla="val 4468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47" name="Group 128"/>
          <p:cNvGrpSpPr/>
          <p:nvPr/>
        </p:nvGrpSpPr>
        <p:grpSpPr bwMode="auto">
          <a:xfrm>
            <a:off x="6586724" y="4077105"/>
            <a:ext cx="427826" cy="684350"/>
            <a:chOff x="3251" y="3017"/>
            <a:chExt cx="398" cy="691"/>
          </a:xfrm>
          <a:solidFill>
            <a:srgbClr val="368AD6"/>
          </a:solidFill>
        </p:grpSpPr>
        <p:sp>
          <p:nvSpPr>
            <p:cNvPr id="48" name="AutoShape 64"/>
            <p:cNvSpPr>
              <a:spLocks noChangeArrowheads="1"/>
            </p:cNvSpPr>
            <p:nvPr/>
          </p:nvSpPr>
          <p:spPr bwMode="auto">
            <a:xfrm rot="5400000">
              <a:off x="3102" y="3193"/>
              <a:ext cx="675" cy="355"/>
            </a:xfrm>
            <a:prstGeom prst="parallelogram">
              <a:avLst>
                <a:gd name="adj" fmla="val 18292"/>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49" name="Text Box 66"/>
            <p:cNvSpPr txBox="1">
              <a:spLocks noChangeArrowheads="1"/>
            </p:cNvSpPr>
            <p:nvPr/>
          </p:nvSpPr>
          <p:spPr bwMode="auto">
            <a:xfrm>
              <a:off x="3253" y="3017"/>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chemeClr val="accent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50" name="Line 67"/>
            <p:cNvSpPr>
              <a:spLocks noChangeShapeType="1"/>
            </p:cNvSpPr>
            <p:nvPr/>
          </p:nvSpPr>
          <p:spPr bwMode="auto">
            <a:xfrm>
              <a:off x="3251" y="3033"/>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1" name="Line 68"/>
            <p:cNvSpPr>
              <a:spLocks noChangeShapeType="1"/>
            </p:cNvSpPr>
            <p:nvPr/>
          </p:nvSpPr>
          <p:spPr bwMode="auto">
            <a:xfrm>
              <a:off x="3251" y="3650"/>
              <a:ext cx="362" cy="58"/>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2" name="AutoShape 65"/>
            <p:cNvSpPr>
              <a:spLocks noChangeArrowheads="1"/>
            </p:cNvSpPr>
            <p:nvPr/>
          </p:nvSpPr>
          <p:spPr bwMode="auto">
            <a:xfrm rot="746037">
              <a:off x="3331" y="3527"/>
              <a:ext cx="226" cy="126"/>
            </a:xfrm>
            <a:prstGeom prst="rightArrow">
              <a:avLst>
                <a:gd name="adj1" fmla="val 50000"/>
                <a:gd name="adj2" fmla="val 44841"/>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53" name="Group 126"/>
          <p:cNvGrpSpPr/>
          <p:nvPr/>
        </p:nvGrpSpPr>
        <p:grpSpPr bwMode="auto">
          <a:xfrm>
            <a:off x="5797726" y="2447935"/>
            <a:ext cx="425679" cy="685340"/>
            <a:chOff x="2517" y="1372"/>
            <a:chExt cx="396" cy="692"/>
          </a:xfrm>
          <a:solidFill>
            <a:srgbClr val="368AD6"/>
          </a:solidFill>
        </p:grpSpPr>
        <p:sp>
          <p:nvSpPr>
            <p:cNvPr id="54" name="AutoShape 69"/>
            <p:cNvSpPr>
              <a:spLocks noChangeArrowheads="1"/>
            </p:cNvSpPr>
            <p:nvPr/>
          </p:nvSpPr>
          <p:spPr bwMode="auto">
            <a:xfrm rot="5400000">
              <a:off x="2363" y="1546"/>
              <a:ext cx="674" cy="362"/>
            </a:xfrm>
            <a:prstGeom prst="parallelogram">
              <a:avLst>
                <a:gd name="adj" fmla="val 18265"/>
              </a:avLst>
            </a:prstGeom>
            <a:solidFill>
              <a:srgbClr val="9900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5" name="Text Box 71"/>
            <p:cNvSpPr txBox="1">
              <a:spLocks noChangeArrowheads="1"/>
            </p:cNvSpPr>
            <p:nvPr/>
          </p:nvSpPr>
          <p:spPr bwMode="auto">
            <a:xfrm>
              <a:off x="2517" y="1372"/>
              <a:ext cx="396" cy="568"/>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sz="1100" dirty="0">
                  <a:solidFill>
                    <a:schemeClr val="bg1"/>
                  </a:solidFill>
                </a:rPr>
                <a:t>报</a:t>
              </a:r>
            </a:p>
            <a:p>
              <a:pPr fontAlgn="auto">
                <a:spcBef>
                  <a:spcPts val="0"/>
                </a:spcBef>
                <a:spcAft>
                  <a:spcPts val="0"/>
                </a:spcAft>
                <a:defRPr/>
              </a:pPr>
              <a:r>
                <a:rPr lang="zh-CN" altLang="en-US" sz="1100" dirty="0">
                  <a:solidFill>
                    <a:schemeClr val="bg1"/>
                  </a:solidFill>
                </a:rPr>
                <a:t>文</a:t>
              </a:r>
            </a:p>
          </p:txBody>
        </p:sp>
        <p:sp>
          <p:nvSpPr>
            <p:cNvPr id="56" name="Line 72"/>
            <p:cNvSpPr>
              <a:spLocks noChangeShapeType="1"/>
            </p:cNvSpPr>
            <p:nvPr/>
          </p:nvSpPr>
          <p:spPr bwMode="auto">
            <a:xfrm>
              <a:off x="2519" y="1395"/>
              <a:ext cx="357" cy="5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7" name="Line 73"/>
            <p:cNvSpPr>
              <a:spLocks noChangeShapeType="1"/>
            </p:cNvSpPr>
            <p:nvPr/>
          </p:nvSpPr>
          <p:spPr bwMode="auto">
            <a:xfrm>
              <a:off x="2519" y="2001"/>
              <a:ext cx="357" cy="63"/>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58" name="AutoShape 70"/>
            <p:cNvSpPr>
              <a:spLocks noChangeArrowheads="1"/>
            </p:cNvSpPr>
            <p:nvPr/>
          </p:nvSpPr>
          <p:spPr bwMode="auto">
            <a:xfrm rot="746037">
              <a:off x="2591" y="1861"/>
              <a:ext cx="226" cy="127"/>
            </a:xfrm>
            <a:prstGeom prst="rightArrow">
              <a:avLst>
                <a:gd name="adj1" fmla="val 50000"/>
                <a:gd name="adj2" fmla="val 44488"/>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sp>
        <p:nvSpPr>
          <p:cNvPr id="59" name="Line 74"/>
          <p:cNvSpPr>
            <a:spLocks noChangeShapeType="1"/>
          </p:cNvSpPr>
          <p:nvPr/>
        </p:nvSpPr>
        <p:spPr bwMode="auto">
          <a:xfrm>
            <a:off x="3879093" y="2465210"/>
            <a:ext cx="0" cy="2379306"/>
          </a:xfrm>
          <a:prstGeom prst="line">
            <a:avLst/>
          </a:prstGeom>
          <a:noFill/>
          <a:ln w="19050">
            <a:solidFill>
              <a:srgbClr val="1C1C1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75"/>
          <p:cNvSpPr>
            <a:spLocks noChangeShapeType="1"/>
          </p:cNvSpPr>
          <p:nvPr/>
        </p:nvSpPr>
        <p:spPr bwMode="auto">
          <a:xfrm>
            <a:off x="4269476" y="2465210"/>
            <a:ext cx="0" cy="2379306"/>
          </a:xfrm>
          <a:prstGeom prst="line">
            <a:avLst/>
          </a:prstGeom>
          <a:noFill/>
          <a:ln w="19050">
            <a:solidFill>
              <a:srgbClr val="1C1C1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Text Box 76"/>
          <p:cNvSpPr txBox="1">
            <a:spLocks noChangeArrowheads="1"/>
          </p:cNvSpPr>
          <p:nvPr/>
        </p:nvSpPr>
        <p:spPr bwMode="auto">
          <a:xfrm>
            <a:off x="3347779" y="4827935"/>
            <a:ext cx="15151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0000FF"/>
                </a:solidFill>
                <a:latin typeface="微软雅黑" panose="020B0503020204020204" pitchFamily="34" charset="-122"/>
                <a:ea typeface="微软雅黑" panose="020B0503020204020204" pitchFamily="34" charset="-122"/>
              </a:rPr>
              <a:t>A    </a:t>
            </a:r>
            <a:r>
              <a:rPr lang="en-US" altLang="zh-CN" sz="1200" b="1" dirty="0" smtClean="0">
                <a:solidFill>
                  <a:srgbClr val="0000FF"/>
                </a:solidFill>
                <a:latin typeface="微软雅黑" panose="020B0503020204020204" pitchFamily="34" charset="-122"/>
                <a:ea typeface="微软雅黑" panose="020B0503020204020204" pitchFamily="34" charset="-122"/>
              </a:rPr>
              <a:t>  B      C      D </a:t>
            </a:r>
            <a:endParaRPr lang="en-US" altLang="zh-CN" sz="1200" b="1" dirty="0">
              <a:solidFill>
                <a:srgbClr val="0000FF"/>
              </a:solidFill>
              <a:latin typeface="微软雅黑" panose="020B0503020204020204" pitchFamily="34" charset="-122"/>
              <a:ea typeface="微软雅黑" panose="020B0503020204020204" pitchFamily="34" charset="-122"/>
            </a:endParaRPr>
          </a:p>
        </p:txBody>
      </p:sp>
      <p:sp>
        <p:nvSpPr>
          <p:cNvPr id="62" name="Text Box 77"/>
          <p:cNvSpPr txBox="1">
            <a:spLocks noChangeArrowheads="1"/>
          </p:cNvSpPr>
          <p:nvPr/>
        </p:nvSpPr>
        <p:spPr bwMode="auto">
          <a:xfrm>
            <a:off x="5663952" y="4827935"/>
            <a:ext cx="15151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990099"/>
                </a:solidFill>
                <a:latin typeface="微软雅黑" panose="020B0503020204020204" pitchFamily="34" charset="-122"/>
                <a:ea typeface="微软雅黑" panose="020B0503020204020204" pitchFamily="34" charset="-122"/>
              </a:rPr>
              <a:t>A   </a:t>
            </a:r>
            <a:r>
              <a:rPr lang="en-US" altLang="zh-CN" sz="1200" b="1" dirty="0" smtClean="0">
                <a:solidFill>
                  <a:srgbClr val="990099"/>
                </a:solidFill>
                <a:latin typeface="微软雅黑" panose="020B0503020204020204" pitchFamily="34" charset="-122"/>
                <a:ea typeface="微软雅黑" panose="020B0503020204020204" pitchFamily="34" charset="-122"/>
              </a:rPr>
              <a:t>   </a:t>
            </a:r>
            <a:r>
              <a:rPr lang="en-US" altLang="zh-CN" sz="1200" b="1" dirty="0">
                <a:solidFill>
                  <a:srgbClr val="990099"/>
                </a:solidFill>
                <a:latin typeface="微软雅黑" panose="020B0503020204020204" pitchFamily="34" charset="-122"/>
                <a:ea typeface="微软雅黑" panose="020B0503020204020204" pitchFamily="34" charset="-122"/>
              </a:rPr>
              <a:t>B    </a:t>
            </a:r>
            <a:r>
              <a:rPr lang="en-US" altLang="zh-CN" sz="1200" b="1" dirty="0" smtClean="0">
                <a:solidFill>
                  <a:srgbClr val="990099"/>
                </a:solidFill>
                <a:latin typeface="微软雅黑" panose="020B0503020204020204" pitchFamily="34" charset="-122"/>
                <a:ea typeface="微软雅黑" panose="020B0503020204020204" pitchFamily="34" charset="-122"/>
              </a:rPr>
              <a:t>  C       D</a:t>
            </a:r>
            <a:endParaRPr lang="en-US" altLang="zh-CN" sz="1200" b="1" dirty="0">
              <a:solidFill>
                <a:srgbClr val="990099"/>
              </a:solidFill>
              <a:latin typeface="微软雅黑" panose="020B0503020204020204" pitchFamily="34" charset="-122"/>
              <a:ea typeface="微软雅黑" panose="020B0503020204020204" pitchFamily="34" charset="-122"/>
            </a:endParaRPr>
          </a:p>
        </p:txBody>
      </p:sp>
      <p:sp>
        <p:nvSpPr>
          <p:cNvPr id="63" name="Text Box 78"/>
          <p:cNvSpPr txBox="1">
            <a:spLocks noChangeArrowheads="1"/>
          </p:cNvSpPr>
          <p:nvPr/>
        </p:nvSpPr>
        <p:spPr bwMode="auto">
          <a:xfrm>
            <a:off x="7944886" y="4827935"/>
            <a:ext cx="15151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rgbClr val="C00000"/>
                </a:solidFill>
                <a:latin typeface="微软雅黑" panose="020B0503020204020204" pitchFamily="34" charset="-122"/>
                <a:ea typeface="微软雅黑" panose="020B0503020204020204" pitchFamily="34" charset="-122"/>
              </a:rPr>
              <a:t>A    </a:t>
            </a:r>
            <a:r>
              <a:rPr lang="en-US" altLang="zh-CN" sz="1200" b="1" dirty="0" smtClean="0">
                <a:solidFill>
                  <a:srgbClr val="C00000"/>
                </a:solidFill>
                <a:latin typeface="微软雅黑" panose="020B0503020204020204" pitchFamily="34" charset="-122"/>
                <a:ea typeface="微软雅黑" panose="020B0503020204020204" pitchFamily="34" charset="-122"/>
              </a:rPr>
              <a:t>   B      C      D</a:t>
            </a:r>
            <a:endParaRPr lang="en-US" altLang="zh-CN" sz="1200" b="1" dirty="0">
              <a:solidFill>
                <a:srgbClr val="C00000"/>
              </a:solidFill>
              <a:latin typeface="微软雅黑" panose="020B0503020204020204" pitchFamily="34" charset="-122"/>
              <a:ea typeface="微软雅黑" panose="020B0503020204020204" pitchFamily="34" charset="-122"/>
            </a:endParaRPr>
          </a:p>
        </p:txBody>
      </p:sp>
      <p:sp>
        <p:nvSpPr>
          <p:cNvPr id="64" name="Line 79"/>
          <p:cNvSpPr>
            <a:spLocks noChangeShapeType="1"/>
          </p:cNvSpPr>
          <p:nvPr/>
        </p:nvSpPr>
        <p:spPr bwMode="auto">
          <a:xfrm>
            <a:off x="3488711" y="2548113"/>
            <a:ext cx="390383" cy="4145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80"/>
          <p:cNvSpPr>
            <a:spLocks noChangeShapeType="1"/>
          </p:cNvSpPr>
          <p:nvPr/>
        </p:nvSpPr>
        <p:spPr bwMode="auto">
          <a:xfrm>
            <a:off x="3879093" y="2715991"/>
            <a:ext cx="390383" cy="41451"/>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81"/>
          <p:cNvSpPr>
            <a:spLocks noChangeShapeType="1"/>
          </p:cNvSpPr>
          <p:nvPr/>
        </p:nvSpPr>
        <p:spPr bwMode="auto">
          <a:xfrm>
            <a:off x="4269476" y="2881796"/>
            <a:ext cx="390383" cy="43523"/>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82"/>
          <p:cNvSpPr>
            <a:spLocks noChangeShapeType="1"/>
          </p:cNvSpPr>
          <p:nvPr/>
        </p:nvSpPr>
        <p:spPr bwMode="auto">
          <a:xfrm flipH="1">
            <a:off x="3488711" y="3132576"/>
            <a:ext cx="1171148" cy="167878"/>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Text Box 87"/>
          <p:cNvSpPr txBox="1">
            <a:spLocks noChangeArrowheads="1"/>
          </p:cNvSpPr>
          <p:nvPr/>
        </p:nvSpPr>
        <p:spPr bwMode="auto">
          <a:xfrm>
            <a:off x="5807968" y="209422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2000" b="1" dirty="0">
                <a:solidFill>
                  <a:srgbClr val="990099"/>
                </a:solidFill>
                <a:latin typeface="微软雅黑" panose="020B0503020204020204" pitchFamily="34" charset="-122"/>
                <a:ea typeface="微软雅黑" panose="020B0503020204020204" pitchFamily="34" charset="-122"/>
              </a:rPr>
              <a:t>报文交换</a:t>
            </a:r>
          </a:p>
        </p:txBody>
      </p:sp>
      <p:sp>
        <p:nvSpPr>
          <p:cNvPr id="69" name="Text Box 88"/>
          <p:cNvSpPr txBox="1">
            <a:spLocks noChangeArrowheads="1"/>
          </p:cNvSpPr>
          <p:nvPr/>
        </p:nvSpPr>
        <p:spPr bwMode="auto">
          <a:xfrm>
            <a:off x="3503712" y="209422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2000" b="1" dirty="0">
                <a:solidFill>
                  <a:srgbClr val="0000FF"/>
                </a:solidFill>
                <a:latin typeface="微软雅黑" panose="020B0503020204020204" pitchFamily="34" charset="-122"/>
                <a:ea typeface="微软雅黑" panose="020B0503020204020204" pitchFamily="34" charset="-122"/>
              </a:rPr>
              <a:t>电路交换</a:t>
            </a:r>
          </a:p>
        </p:txBody>
      </p:sp>
      <p:sp>
        <p:nvSpPr>
          <p:cNvPr id="70" name="Text Box 89"/>
          <p:cNvSpPr txBox="1">
            <a:spLocks noChangeArrowheads="1"/>
          </p:cNvSpPr>
          <p:nvPr/>
        </p:nvSpPr>
        <p:spPr bwMode="auto">
          <a:xfrm>
            <a:off x="8112224" y="2085931"/>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2000" b="1" dirty="0">
                <a:solidFill>
                  <a:srgbClr val="C00000"/>
                </a:solidFill>
                <a:latin typeface="微软雅黑" panose="020B0503020204020204" pitchFamily="34" charset="-122"/>
                <a:ea typeface="微软雅黑" panose="020B0503020204020204" pitchFamily="34" charset="-122"/>
              </a:rPr>
              <a:t>分组交换</a:t>
            </a:r>
          </a:p>
        </p:txBody>
      </p:sp>
      <p:sp>
        <p:nvSpPr>
          <p:cNvPr id="71" name="Line 90"/>
          <p:cNvSpPr>
            <a:spLocks noChangeShapeType="1"/>
          </p:cNvSpPr>
          <p:nvPr/>
        </p:nvSpPr>
        <p:spPr bwMode="auto">
          <a:xfrm>
            <a:off x="5230897" y="2757442"/>
            <a:ext cx="0" cy="1711939"/>
          </a:xfrm>
          <a:prstGeom prst="line">
            <a:avLst/>
          </a:prstGeom>
          <a:noFill/>
          <a:ln w="28575">
            <a:solidFill>
              <a:srgbClr val="000099"/>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Text Box 91"/>
          <p:cNvSpPr txBox="1">
            <a:spLocks noChangeArrowheads="1"/>
          </p:cNvSpPr>
          <p:nvPr/>
        </p:nvSpPr>
        <p:spPr bwMode="auto">
          <a:xfrm>
            <a:off x="5106938" y="4377415"/>
            <a:ext cx="375967" cy="48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solidFill>
                  <a:srgbClr val="000099"/>
                </a:solidFill>
                <a:ea typeface="黑体" panose="02010609060101010101" pitchFamily="2" charset="-122"/>
              </a:rPr>
              <a:t>t</a:t>
            </a:r>
          </a:p>
        </p:txBody>
      </p:sp>
      <p:grpSp>
        <p:nvGrpSpPr>
          <p:cNvPr id="73" name="Group 123"/>
          <p:cNvGrpSpPr/>
          <p:nvPr/>
        </p:nvGrpSpPr>
        <p:grpSpPr bwMode="auto">
          <a:xfrm>
            <a:off x="2276033" y="3312890"/>
            <a:ext cx="1171148" cy="632132"/>
            <a:chOff x="-277" y="2246"/>
            <a:chExt cx="1089" cy="637"/>
          </a:xfrm>
        </p:grpSpPr>
        <p:sp>
          <p:nvSpPr>
            <p:cNvPr id="74" name="Line 93"/>
            <p:cNvSpPr>
              <a:spLocks noChangeShapeType="1"/>
            </p:cNvSpPr>
            <p:nvPr/>
          </p:nvSpPr>
          <p:spPr bwMode="auto">
            <a:xfrm>
              <a:off x="630" y="2881"/>
              <a:ext cx="182" cy="0"/>
            </a:xfrm>
            <a:prstGeom prst="line">
              <a:avLst/>
            </a:prstGeom>
            <a:noFill/>
            <a:ln w="9525">
              <a:solidFill>
                <a:srgbClr val="1C1C1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Text Box 96"/>
            <p:cNvSpPr txBox="1">
              <a:spLocks noChangeArrowheads="1"/>
            </p:cNvSpPr>
            <p:nvPr/>
          </p:nvSpPr>
          <p:spPr bwMode="auto">
            <a:xfrm>
              <a:off x="-277" y="2405"/>
              <a:ext cx="1030"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b="1" dirty="0">
                  <a:solidFill>
                    <a:srgbClr val="1C1C1C"/>
                  </a:solidFill>
                  <a:latin typeface="微软雅黑" panose="020B0503020204020204" pitchFamily="34" charset="-122"/>
                  <a:ea typeface="微软雅黑" panose="020B0503020204020204" pitchFamily="34" charset="-122"/>
                </a:rPr>
                <a:t>数据传送</a:t>
              </a:r>
            </a:p>
          </p:txBody>
        </p:sp>
        <p:sp>
          <p:nvSpPr>
            <p:cNvPr id="76" name="Line 98"/>
            <p:cNvSpPr>
              <a:spLocks noChangeShapeType="1"/>
            </p:cNvSpPr>
            <p:nvPr/>
          </p:nvSpPr>
          <p:spPr bwMode="auto">
            <a:xfrm>
              <a:off x="721" y="2246"/>
              <a:ext cx="0" cy="637"/>
            </a:xfrm>
            <a:prstGeom prst="line">
              <a:avLst/>
            </a:prstGeom>
            <a:noFill/>
            <a:ln w="9525">
              <a:solidFill>
                <a:srgbClr val="1C1C1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 name="Freeform 99"/>
          <p:cNvSpPr/>
          <p:nvPr/>
        </p:nvSpPr>
        <p:spPr bwMode="auto">
          <a:xfrm>
            <a:off x="3486635" y="2465210"/>
            <a:ext cx="2076" cy="2383451"/>
          </a:xfrm>
          <a:custGeom>
            <a:avLst/>
            <a:gdLst>
              <a:gd name="T0" fmla="*/ 2465 w 3"/>
              <a:gd name="T1" fmla="*/ 0 h 2742"/>
              <a:gd name="T2" fmla="*/ 0 w 3"/>
              <a:gd name="T3" fmla="*/ 1825917 h 2742"/>
              <a:gd name="T4" fmla="*/ 0 60000 65536"/>
              <a:gd name="T5" fmla="*/ 0 60000 65536"/>
            </a:gdLst>
            <a:ahLst/>
            <a:cxnLst>
              <a:cxn ang="T4">
                <a:pos x="T0" y="T1"/>
              </a:cxn>
              <a:cxn ang="T5">
                <a:pos x="T2" y="T3"/>
              </a:cxn>
            </a:cxnLst>
            <a:rect l="0" t="0" r="r" b="b"/>
            <a:pathLst>
              <a:path w="3" h="2742">
                <a:moveTo>
                  <a:pt x="3" y="0"/>
                </a:moveTo>
                <a:lnTo>
                  <a:pt x="0" y="2742"/>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Freeform 100"/>
          <p:cNvSpPr/>
          <p:nvPr/>
        </p:nvSpPr>
        <p:spPr bwMode="auto">
          <a:xfrm>
            <a:off x="6977236" y="2452775"/>
            <a:ext cx="2077" cy="2377234"/>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rgbClr val="1C1C1C"/>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104"/>
          <p:cNvSpPr>
            <a:spLocks noChangeShapeType="1"/>
          </p:cNvSpPr>
          <p:nvPr/>
        </p:nvSpPr>
        <p:spPr bwMode="auto">
          <a:xfrm>
            <a:off x="5797782" y="2452775"/>
            <a:ext cx="0" cy="2377234"/>
          </a:xfrm>
          <a:prstGeom prst="line">
            <a:avLst/>
          </a:prstGeom>
          <a:noFill/>
          <a:ln w="19050">
            <a:solidFill>
              <a:srgbClr val="1C1C1C"/>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105"/>
          <p:cNvSpPr>
            <a:spLocks noChangeShapeType="1"/>
          </p:cNvSpPr>
          <p:nvPr/>
        </p:nvSpPr>
        <p:spPr bwMode="auto">
          <a:xfrm>
            <a:off x="6184012" y="2452775"/>
            <a:ext cx="0" cy="2377234"/>
          </a:xfrm>
          <a:prstGeom prst="line">
            <a:avLst/>
          </a:prstGeom>
          <a:noFill/>
          <a:ln w="19050">
            <a:solidFill>
              <a:srgbClr val="1C1C1C"/>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106"/>
          <p:cNvSpPr>
            <a:spLocks noChangeShapeType="1"/>
          </p:cNvSpPr>
          <p:nvPr/>
        </p:nvSpPr>
        <p:spPr bwMode="auto">
          <a:xfrm>
            <a:off x="6584777" y="2452775"/>
            <a:ext cx="0" cy="2377234"/>
          </a:xfrm>
          <a:prstGeom prst="line">
            <a:avLst/>
          </a:prstGeom>
          <a:noFill/>
          <a:ln w="19050">
            <a:solidFill>
              <a:srgbClr val="1C1C1C"/>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2" name="Group 125"/>
          <p:cNvGrpSpPr/>
          <p:nvPr/>
        </p:nvGrpSpPr>
        <p:grpSpPr bwMode="auto">
          <a:xfrm>
            <a:off x="3479930" y="3305600"/>
            <a:ext cx="1196414" cy="798241"/>
            <a:chOff x="817" y="2238"/>
            <a:chExt cx="1113" cy="806"/>
          </a:xfrm>
          <a:solidFill>
            <a:srgbClr val="92D050"/>
          </a:solidFill>
        </p:grpSpPr>
        <p:sp>
          <p:nvSpPr>
            <p:cNvPr id="83" name="Line 83"/>
            <p:cNvSpPr>
              <a:spLocks noChangeShapeType="1"/>
            </p:cNvSpPr>
            <p:nvPr/>
          </p:nvSpPr>
          <p:spPr bwMode="auto">
            <a:xfrm>
              <a:off x="841" y="2268"/>
              <a:ext cx="1089" cy="168"/>
            </a:xfrm>
            <a:prstGeom prst="line">
              <a:avLst/>
            </a:prstGeom>
            <a:grpFill/>
            <a:ln>
              <a:noFill/>
            </a:ln>
            <a:effectLst/>
            <a:extLst>
              <a:ext uri="{91240B29-F687-4F45-9708-019B960494DF}">
                <a14:hiddenLine xmlns:a14="http://schemas.microsoft.com/office/drawing/2010/main" w="19050">
                  <a:solidFill>
                    <a:schemeClr val="bg2"/>
                  </a:solidFill>
                  <a:rou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84" name="AutoShape 84"/>
            <p:cNvSpPr>
              <a:spLocks noChangeArrowheads="1"/>
            </p:cNvSpPr>
            <p:nvPr/>
          </p:nvSpPr>
          <p:spPr bwMode="auto">
            <a:xfrm rot="5400000">
              <a:off x="976" y="2091"/>
              <a:ext cx="793" cy="1092"/>
            </a:xfrm>
            <a:prstGeom prst="parallelogram">
              <a:avLst>
                <a:gd name="adj" fmla="val 21176"/>
              </a:avLst>
            </a:prstGeom>
            <a:solidFill>
              <a:srgbClr val="00B05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85" name="Text Box 85"/>
            <p:cNvSpPr txBox="1">
              <a:spLocks noChangeArrowheads="1"/>
            </p:cNvSpPr>
            <p:nvPr/>
          </p:nvSpPr>
          <p:spPr bwMode="auto">
            <a:xfrm>
              <a:off x="1086" y="2373"/>
              <a:ext cx="599" cy="365"/>
            </a:xfrm>
            <a:prstGeom prst="rect">
              <a:avLst/>
            </a:prstGeom>
            <a:no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chemeClr val="bg1"/>
                  </a:solidFill>
                </a:rPr>
                <a:t>报文</a:t>
              </a:r>
            </a:p>
          </p:txBody>
        </p:sp>
        <p:sp>
          <p:nvSpPr>
            <p:cNvPr id="86" name="AutoShape 86"/>
            <p:cNvSpPr>
              <a:spLocks noChangeArrowheads="1"/>
            </p:cNvSpPr>
            <p:nvPr/>
          </p:nvSpPr>
          <p:spPr bwMode="auto">
            <a:xfrm rot="746037">
              <a:off x="1174" y="2713"/>
              <a:ext cx="408" cy="127"/>
            </a:xfrm>
            <a:prstGeom prst="rightArrow">
              <a:avLst>
                <a:gd name="adj1" fmla="val 50000"/>
                <a:gd name="adj2" fmla="val 80315"/>
              </a:avLst>
            </a:prstGeom>
            <a:solidFill>
              <a:schemeClr val="bg1"/>
            </a:solidFill>
            <a:ln w="9525">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87" name="Line 108"/>
            <p:cNvSpPr>
              <a:spLocks noChangeShapeType="1"/>
            </p:cNvSpPr>
            <p:nvPr/>
          </p:nvSpPr>
          <p:spPr bwMode="auto">
            <a:xfrm>
              <a:off x="823" y="2238"/>
              <a:ext cx="1094" cy="174"/>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sp>
          <p:nvSpPr>
            <p:cNvPr id="88" name="Line 109"/>
            <p:cNvSpPr>
              <a:spLocks noChangeShapeType="1"/>
            </p:cNvSpPr>
            <p:nvPr/>
          </p:nvSpPr>
          <p:spPr bwMode="auto">
            <a:xfrm>
              <a:off x="817" y="2865"/>
              <a:ext cx="1100" cy="179"/>
            </a:xfrm>
            <a:prstGeom prst="line">
              <a:avLst/>
            </a:prstGeom>
            <a:grp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a:solidFill>
                  <a:schemeClr val="bg1"/>
                </a:solidFill>
                <a:latin typeface="+mn-lt"/>
                <a:ea typeface="+mn-ea"/>
              </a:endParaRPr>
            </a:p>
          </p:txBody>
        </p:sp>
      </p:grpSp>
      <p:grpSp>
        <p:nvGrpSpPr>
          <p:cNvPr id="89" name="Group 130"/>
          <p:cNvGrpSpPr/>
          <p:nvPr/>
        </p:nvGrpSpPr>
        <p:grpSpPr bwMode="auto">
          <a:xfrm>
            <a:off x="8035094" y="2439769"/>
            <a:ext cx="470447" cy="276798"/>
            <a:chOff x="4220" y="1364"/>
            <a:chExt cx="437" cy="280"/>
          </a:xfrm>
        </p:grpSpPr>
        <p:sp>
          <p:nvSpPr>
            <p:cNvPr id="90" name="AutoShape 110"/>
            <p:cNvSpPr>
              <a:spLocks noChangeArrowheads="1"/>
            </p:cNvSpPr>
            <p:nvPr/>
          </p:nvSpPr>
          <p:spPr bwMode="auto">
            <a:xfrm rot="5400000">
              <a:off x="4371" y="1337"/>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91" name="Text Box 111"/>
            <p:cNvSpPr txBox="1">
              <a:spLocks noChangeArrowheads="1"/>
            </p:cNvSpPr>
            <p:nvPr/>
          </p:nvSpPr>
          <p:spPr bwMode="auto">
            <a:xfrm rot="626605">
              <a:off x="4220" y="1364"/>
              <a:ext cx="353" cy="28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chemeClr val="bg1"/>
                  </a:solidFill>
                  <a:latin typeface="微软雅黑" panose="020B0503020204020204" pitchFamily="34" charset="-122"/>
                  <a:ea typeface="微软雅黑" panose="020B0503020204020204" pitchFamily="34" charset="-122"/>
                </a:rPr>
                <a:t>P1</a:t>
              </a:r>
            </a:p>
          </p:txBody>
        </p:sp>
        <p:sp>
          <p:nvSpPr>
            <p:cNvPr id="92"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p>
          </p:txBody>
        </p:sp>
        <p:sp>
          <p:nvSpPr>
            <p:cNvPr id="93"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p>
          </p:txBody>
        </p:sp>
        <p:sp>
          <p:nvSpPr>
            <p:cNvPr id="94" name="AutoShape 114"/>
            <p:cNvSpPr>
              <a:spLocks noChangeArrowheads="1"/>
            </p:cNvSpPr>
            <p:nvPr/>
          </p:nvSpPr>
          <p:spPr bwMode="auto">
            <a:xfrm rot="746037">
              <a:off x="4485" y="1472"/>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grpSp>
      <p:sp>
        <p:nvSpPr>
          <p:cNvPr id="95" name="Line 116"/>
          <p:cNvSpPr>
            <a:spLocks noChangeShapeType="1"/>
          </p:cNvSpPr>
          <p:nvPr/>
        </p:nvSpPr>
        <p:spPr bwMode="auto">
          <a:xfrm>
            <a:off x="3486635" y="3996837"/>
            <a:ext cx="390383" cy="58032"/>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117"/>
          <p:cNvSpPr>
            <a:spLocks noChangeShapeType="1"/>
          </p:cNvSpPr>
          <p:nvPr/>
        </p:nvSpPr>
        <p:spPr bwMode="auto">
          <a:xfrm>
            <a:off x="3883246" y="4108755"/>
            <a:ext cx="384154" cy="60104"/>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118"/>
          <p:cNvSpPr>
            <a:spLocks noChangeShapeType="1"/>
          </p:cNvSpPr>
          <p:nvPr/>
        </p:nvSpPr>
        <p:spPr bwMode="auto">
          <a:xfrm>
            <a:off x="4267400" y="4226891"/>
            <a:ext cx="388305" cy="53887"/>
          </a:xfrm>
          <a:prstGeom prst="line">
            <a:avLst/>
          </a:prstGeom>
          <a:noFill/>
          <a:ln w="38100">
            <a:solidFill>
              <a:srgbClr val="0000FF"/>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8" name="Group 124"/>
          <p:cNvGrpSpPr/>
          <p:nvPr/>
        </p:nvGrpSpPr>
        <p:grpSpPr bwMode="auto">
          <a:xfrm>
            <a:off x="2271880" y="3930517"/>
            <a:ext cx="1158689" cy="372385"/>
            <a:chOff x="-281" y="2869"/>
            <a:chExt cx="1078" cy="376"/>
          </a:xfrm>
        </p:grpSpPr>
        <p:sp>
          <p:nvSpPr>
            <p:cNvPr id="99" name="Line 119"/>
            <p:cNvSpPr>
              <a:spLocks noChangeShapeType="1"/>
            </p:cNvSpPr>
            <p:nvPr/>
          </p:nvSpPr>
          <p:spPr bwMode="auto">
            <a:xfrm>
              <a:off x="615" y="3241"/>
              <a:ext cx="182" cy="0"/>
            </a:xfrm>
            <a:prstGeom prst="line">
              <a:avLst/>
            </a:prstGeom>
            <a:noFill/>
            <a:ln w="9525">
              <a:solidFill>
                <a:srgbClr val="1C1C1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120"/>
            <p:cNvSpPr>
              <a:spLocks noChangeShapeType="1"/>
            </p:cNvSpPr>
            <p:nvPr/>
          </p:nvSpPr>
          <p:spPr bwMode="auto">
            <a:xfrm>
              <a:off x="721" y="2869"/>
              <a:ext cx="0" cy="373"/>
            </a:xfrm>
            <a:prstGeom prst="line">
              <a:avLst/>
            </a:prstGeom>
            <a:noFill/>
            <a:ln w="9525">
              <a:solidFill>
                <a:srgbClr val="1C1C1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Text Box 121"/>
            <p:cNvSpPr txBox="1">
              <a:spLocks noChangeArrowheads="1"/>
            </p:cNvSpPr>
            <p:nvPr/>
          </p:nvSpPr>
          <p:spPr bwMode="auto">
            <a:xfrm>
              <a:off x="-281" y="2872"/>
              <a:ext cx="1031"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b="1" dirty="0">
                  <a:solidFill>
                    <a:srgbClr val="1C1C1C"/>
                  </a:solidFill>
                  <a:latin typeface="微软雅黑" panose="020B0503020204020204" pitchFamily="34" charset="-122"/>
                  <a:ea typeface="微软雅黑" panose="020B0503020204020204" pitchFamily="34" charset="-122"/>
                </a:rPr>
                <a:t>连接释放</a:t>
              </a:r>
            </a:p>
          </p:txBody>
        </p:sp>
      </p:grpSp>
      <p:sp>
        <p:nvSpPr>
          <p:cNvPr id="102" name="Freeform 107"/>
          <p:cNvSpPr/>
          <p:nvPr/>
        </p:nvSpPr>
        <p:spPr bwMode="auto">
          <a:xfrm>
            <a:off x="4659858" y="2479719"/>
            <a:ext cx="4153" cy="2379306"/>
          </a:xfrm>
          <a:custGeom>
            <a:avLst/>
            <a:gdLst>
              <a:gd name="T0" fmla="*/ 2465 w 3"/>
              <a:gd name="T1" fmla="*/ 0 h 2736"/>
              <a:gd name="T2" fmla="*/ 0 w 3"/>
              <a:gd name="T3" fmla="*/ 1822124 h 2736"/>
              <a:gd name="T4" fmla="*/ 0 60000 65536"/>
              <a:gd name="T5" fmla="*/ 0 60000 65536"/>
            </a:gdLst>
            <a:ahLst/>
            <a:cxnLst>
              <a:cxn ang="T4">
                <a:pos x="T0" y="T1"/>
              </a:cxn>
              <a:cxn ang="T5">
                <a:pos x="T2" y="T3"/>
              </a:cxn>
            </a:cxnLst>
            <a:rect l="0" t="0" r="r" b="b"/>
            <a:pathLst>
              <a:path w="3" h="2736">
                <a:moveTo>
                  <a:pt x="3" y="0"/>
                </a:moveTo>
                <a:lnTo>
                  <a:pt x="0" y="2736"/>
                </a:lnTo>
              </a:path>
            </a:pathLst>
          </a:custGeom>
          <a:noFill/>
          <a:ln w="19050" cap="flat" cmpd="sng">
            <a:solidFill>
              <a:srgbClr val="1C1C1C"/>
            </a:solidFill>
            <a:prstDash val="solid"/>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AutoShape 143"/>
          <p:cNvSpPr>
            <a:spLocks noChangeArrowheads="1"/>
          </p:cNvSpPr>
          <p:nvPr/>
        </p:nvSpPr>
        <p:spPr bwMode="auto">
          <a:xfrm>
            <a:off x="2456689" y="5236231"/>
            <a:ext cx="7250258" cy="1044573"/>
          </a:xfrm>
          <a:prstGeom prst="roundRect">
            <a:avLst>
              <a:gd name="adj" fmla="val 16667"/>
            </a:avLst>
          </a:prstGeom>
          <a:solidFill>
            <a:schemeClr val="bg1"/>
          </a:solidFill>
          <a:ln w="19050">
            <a:solidFill>
              <a:srgbClr val="339933"/>
            </a:solidFill>
            <a:round/>
            <a:headEnd type="none" w="sm" len="lg"/>
            <a:tailEnd type="none" w="sm" len="lg"/>
          </a:ln>
        </p:spPr>
        <p:txBody>
          <a:bodyPr wrap="none" anchor="ctr"/>
          <a:lstStyle/>
          <a:p>
            <a:endParaRPr lang="zh-CN" altLang="en-US"/>
          </a:p>
        </p:txBody>
      </p:sp>
      <p:sp>
        <p:nvSpPr>
          <p:cNvPr id="104" name="Line 144"/>
          <p:cNvSpPr>
            <a:spLocks noChangeShapeType="1"/>
          </p:cNvSpPr>
          <p:nvPr/>
        </p:nvSpPr>
        <p:spPr bwMode="auto">
          <a:xfrm>
            <a:off x="8153546" y="5874581"/>
            <a:ext cx="1135846"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 name="Line 145"/>
          <p:cNvSpPr>
            <a:spLocks noChangeShapeType="1"/>
          </p:cNvSpPr>
          <p:nvPr/>
        </p:nvSpPr>
        <p:spPr bwMode="auto">
          <a:xfrm>
            <a:off x="5788351" y="5874581"/>
            <a:ext cx="1135846"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6" name="Line 146"/>
          <p:cNvSpPr>
            <a:spLocks noChangeShapeType="1"/>
          </p:cNvSpPr>
          <p:nvPr/>
        </p:nvSpPr>
        <p:spPr bwMode="auto">
          <a:xfrm>
            <a:off x="3507400" y="5874581"/>
            <a:ext cx="1133771" cy="0"/>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7" name="Group 147"/>
          <p:cNvGrpSpPr/>
          <p:nvPr/>
        </p:nvGrpSpPr>
        <p:grpSpPr bwMode="auto">
          <a:xfrm>
            <a:off x="3454935" y="5779908"/>
            <a:ext cx="1289933" cy="142613"/>
            <a:chOff x="768" y="2544"/>
            <a:chExt cx="1200" cy="144"/>
          </a:xfrm>
          <a:solidFill>
            <a:srgbClr val="339933"/>
          </a:solidFill>
        </p:grpSpPr>
        <p:sp>
          <p:nvSpPr>
            <p:cNvPr id="108" name="AutoShape 14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09" name="AutoShape 14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10" name="AutoShape 15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11" name="AutoShape 15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112" name="Group 152"/>
          <p:cNvGrpSpPr/>
          <p:nvPr/>
        </p:nvGrpSpPr>
        <p:grpSpPr bwMode="auto">
          <a:xfrm>
            <a:off x="5737560" y="5779908"/>
            <a:ext cx="1289933" cy="142613"/>
            <a:chOff x="768" y="2544"/>
            <a:chExt cx="1200" cy="144"/>
          </a:xfrm>
          <a:solidFill>
            <a:srgbClr val="368AD6"/>
          </a:solidFill>
        </p:grpSpPr>
        <p:sp>
          <p:nvSpPr>
            <p:cNvPr id="113" name="AutoShape 153"/>
            <p:cNvSpPr>
              <a:spLocks noChangeArrowheads="1"/>
            </p:cNvSpPr>
            <p:nvPr/>
          </p:nvSpPr>
          <p:spPr bwMode="auto">
            <a:xfrm>
              <a:off x="768" y="2544"/>
              <a:ext cx="144" cy="144"/>
            </a:xfrm>
            <a:prstGeom prst="cube">
              <a:avLst>
                <a:gd name="adj" fmla="val 25000"/>
              </a:avLst>
            </a:prstGeom>
            <a:solidFill>
              <a:srgbClr val="CC00CC"/>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14" name="AutoShape 154"/>
            <p:cNvSpPr>
              <a:spLocks noChangeArrowheads="1"/>
            </p:cNvSpPr>
            <p:nvPr/>
          </p:nvSpPr>
          <p:spPr bwMode="auto">
            <a:xfrm>
              <a:off x="1120" y="2544"/>
              <a:ext cx="144" cy="144"/>
            </a:xfrm>
            <a:prstGeom prst="cube">
              <a:avLst>
                <a:gd name="adj" fmla="val 25000"/>
              </a:avLst>
            </a:prstGeom>
            <a:solidFill>
              <a:srgbClr val="CC00CC"/>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15" name="AutoShape 155"/>
            <p:cNvSpPr>
              <a:spLocks noChangeArrowheads="1"/>
            </p:cNvSpPr>
            <p:nvPr/>
          </p:nvSpPr>
          <p:spPr bwMode="auto">
            <a:xfrm>
              <a:off x="1472" y="2544"/>
              <a:ext cx="144" cy="144"/>
            </a:xfrm>
            <a:prstGeom prst="cube">
              <a:avLst>
                <a:gd name="adj" fmla="val 25000"/>
              </a:avLst>
            </a:prstGeom>
            <a:solidFill>
              <a:srgbClr val="CC00CC"/>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16" name="AutoShape 156"/>
            <p:cNvSpPr>
              <a:spLocks noChangeArrowheads="1"/>
            </p:cNvSpPr>
            <p:nvPr/>
          </p:nvSpPr>
          <p:spPr bwMode="auto">
            <a:xfrm>
              <a:off x="1824" y="2544"/>
              <a:ext cx="144" cy="144"/>
            </a:xfrm>
            <a:prstGeom prst="cube">
              <a:avLst>
                <a:gd name="adj" fmla="val 25000"/>
              </a:avLst>
            </a:prstGeom>
            <a:solidFill>
              <a:srgbClr val="CC00CC"/>
            </a:solid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grpSp>
        <p:nvGrpSpPr>
          <p:cNvPr id="117" name="Group 157"/>
          <p:cNvGrpSpPr/>
          <p:nvPr/>
        </p:nvGrpSpPr>
        <p:grpSpPr bwMode="auto">
          <a:xfrm>
            <a:off x="8102304" y="5779908"/>
            <a:ext cx="1289933" cy="142613"/>
            <a:chOff x="768" y="2544"/>
            <a:chExt cx="1200" cy="144"/>
          </a:xfrm>
          <a:solidFill>
            <a:srgbClr val="C00000"/>
          </a:solidFill>
        </p:grpSpPr>
        <p:sp>
          <p:nvSpPr>
            <p:cNvPr id="118" name="AutoShape 158"/>
            <p:cNvSpPr>
              <a:spLocks noChangeArrowheads="1"/>
            </p:cNvSpPr>
            <p:nvPr/>
          </p:nvSpPr>
          <p:spPr bwMode="auto">
            <a:xfrm>
              <a:off x="768"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19" name="AutoShape 159"/>
            <p:cNvSpPr>
              <a:spLocks noChangeArrowheads="1"/>
            </p:cNvSpPr>
            <p:nvPr/>
          </p:nvSpPr>
          <p:spPr bwMode="auto">
            <a:xfrm>
              <a:off x="1120"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20" name="AutoShape 160"/>
            <p:cNvSpPr>
              <a:spLocks noChangeArrowheads="1"/>
            </p:cNvSpPr>
            <p:nvPr/>
          </p:nvSpPr>
          <p:spPr bwMode="auto">
            <a:xfrm>
              <a:off x="1472"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sp>
          <p:nvSpPr>
            <p:cNvPr id="121" name="AutoShape 161"/>
            <p:cNvSpPr>
              <a:spLocks noChangeArrowheads="1"/>
            </p:cNvSpPr>
            <p:nvPr/>
          </p:nvSpPr>
          <p:spPr bwMode="auto">
            <a:xfrm>
              <a:off x="1824" y="2544"/>
              <a:ext cx="144" cy="144"/>
            </a:xfrm>
            <a:prstGeom prst="cube">
              <a:avLst>
                <a:gd name="adj" fmla="val 25000"/>
              </a:avLst>
            </a:prstGeom>
            <a:grpFill/>
            <a:ln w="9525">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a:latin typeface="+mn-lt"/>
                <a:ea typeface="+mn-ea"/>
              </a:endParaRPr>
            </a:p>
          </p:txBody>
        </p:sp>
      </p:grpSp>
      <p:sp>
        <p:nvSpPr>
          <p:cNvPr id="122" name="AutoShape 162"/>
          <p:cNvSpPr>
            <a:spLocks noChangeArrowheads="1"/>
          </p:cNvSpPr>
          <p:nvPr/>
        </p:nvSpPr>
        <p:spPr bwMode="auto">
          <a:xfrm>
            <a:off x="5738515" y="5542971"/>
            <a:ext cx="463060" cy="188603"/>
          </a:xfrm>
          <a:prstGeom prst="curvedDownArrow">
            <a:avLst>
              <a:gd name="adj1" fmla="val 49533"/>
              <a:gd name="adj2" fmla="val 94777"/>
              <a:gd name="adj3" fmla="val 52602"/>
            </a:avLst>
          </a:prstGeom>
          <a:solidFill>
            <a:srgbClr val="CC00CC"/>
          </a:solidFill>
          <a:ln w="9525">
            <a:solidFill>
              <a:schemeClr val="tx1"/>
            </a:solidFill>
            <a:miter lim="800000"/>
            <a:headEnd type="none" w="sm" len="lg"/>
            <a:tailEnd type="none" w="sm" len="lg"/>
          </a:ln>
        </p:spPr>
        <p:txBody>
          <a:bodyPr wrap="none" anchor="ctr"/>
          <a:lstStyle/>
          <a:p>
            <a:endParaRPr lang="zh-CN" altLang="en-US"/>
          </a:p>
        </p:txBody>
      </p:sp>
      <p:sp>
        <p:nvSpPr>
          <p:cNvPr id="123" name="AutoShape 163"/>
          <p:cNvSpPr>
            <a:spLocks noChangeArrowheads="1"/>
          </p:cNvSpPr>
          <p:nvPr/>
        </p:nvSpPr>
        <p:spPr bwMode="auto">
          <a:xfrm>
            <a:off x="6176657" y="5542971"/>
            <a:ext cx="463061" cy="188603"/>
          </a:xfrm>
          <a:prstGeom prst="curvedDownArrow">
            <a:avLst>
              <a:gd name="adj1" fmla="val 49533"/>
              <a:gd name="adj2" fmla="val 94778"/>
              <a:gd name="adj3" fmla="val 52602"/>
            </a:avLst>
          </a:prstGeom>
          <a:solidFill>
            <a:srgbClr val="CC00CC"/>
          </a:solidFill>
          <a:ln w="9525">
            <a:solidFill>
              <a:schemeClr val="tx1"/>
            </a:solidFill>
            <a:miter lim="800000"/>
            <a:headEnd type="none" w="sm" len="lg"/>
            <a:tailEnd type="none" w="sm" len="lg"/>
          </a:ln>
        </p:spPr>
        <p:txBody>
          <a:bodyPr wrap="none" anchor="ctr"/>
          <a:lstStyle/>
          <a:p>
            <a:endParaRPr lang="zh-CN" altLang="en-US"/>
          </a:p>
        </p:txBody>
      </p:sp>
      <p:sp>
        <p:nvSpPr>
          <p:cNvPr id="124" name="AutoShape 164"/>
          <p:cNvSpPr>
            <a:spLocks noChangeArrowheads="1"/>
          </p:cNvSpPr>
          <p:nvPr/>
        </p:nvSpPr>
        <p:spPr bwMode="auto">
          <a:xfrm>
            <a:off x="6614799" y="5542971"/>
            <a:ext cx="465137" cy="188603"/>
          </a:xfrm>
          <a:prstGeom prst="curvedDownArrow">
            <a:avLst>
              <a:gd name="adj1" fmla="val 49755"/>
              <a:gd name="adj2" fmla="val 95203"/>
              <a:gd name="adj3" fmla="val 52602"/>
            </a:avLst>
          </a:prstGeom>
          <a:solidFill>
            <a:srgbClr val="CC00CC"/>
          </a:solidFill>
          <a:ln w="9525">
            <a:solidFill>
              <a:schemeClr val="tx1"/>
            </a:solidFill>
            <a:miter lim="800000"/>
            <a:headEnd type="none" w="sm" len="lg"/>
            <a:tailEnd type="none" w="sm" len="lg"/>
          </a:ln>
        </p:spPr>
        <p:txBody>
          <a:bodyPr wrap="none" anchor="ctr"/>
          <a:lstStyle/>
          <a:p>
            <a:endParaRPr lang="zh-CN" altLang="en-US"/>
          </a:p>
        </p:txBody>
      </p:sp>
      <p:sp>
        <p:nvSpPr>
          <p:cNvPr id="125" name="AutoShape 165"/>
          <p:cNvSpPr>
            <a:spLocks noChangeArrowheads="1"/>
          </p:cNvSpPr>
          <p:nvPr/>
        </p:nvSpPr>
        <p:spPr bwMode="auto">
          <a:xfrm>
            <a:off x="3480472" y="5542971"/>
            <a:ext cx="1289508" cy="188603"/>
          </a:xfrm>
          <a:prstGeom prst="rightArrow">
            <a:avLst>
              <a:gd name="adj1" fmla="val 58333"/>
              <a:gd name="adj2" fmla="val 110230"/>
            </a:avLst>
          </a:prstGeom>
          <a:solidFill>
            <a:srgbClr val="00B050"/>
          </a:solidFill>
          <a:ln w="9525">
            <a:solidFill>
              <a:schemeClr val="tx1"/>
            </a:solidFill>
            <a:miter lim="800000"/>
            <a:headEnd type="none" w="sm" len="lg"/>
            <a:tailEnd type="none" w="sm" len="lg"/>
          </a:ln>
        </p:spPr>
        <p:txBody>
          <a:bodyPr wrap="none" anchor="ctr"/>
          <a:lstStyle/>
          <a:p>
            <a:endParaRPr lang="zh-CN" altLang="en-US"/>
          </a:p>
        </p:txBody>
      </p:sp>
      <p:sp>
        <p:nvSpPr>
          <p:cNvPr id="126" name="AutoShape 166"/>
          <p:cNvSpPr>
            <a:spLocks noChangeArrowheads="1"/>
          </p:cNvSpPr>
          <p:nvPr/>
        </p:nvSpPr>
        <p:spPr bwMode="auto">
          <a:xfrm>
            <a:off x="8101633" y="5542971"/>
            <a:ext cx="465137" cy="188603"/>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127" name="AutoShape 167"/>
          <p:cNvSpPr>
            <a:spLocks noChangeArrowheads="1"/>
          </p:cNvSpPr>
          <p:nvPr/>
        </p:nvSpPr>
        <p:spPr bwMode="auto">
          <a:xfrm>
            <a:off x="8514858" y="5542971"/>
            <a:ext cx="465137" cy="188603"/>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128" name="AutoShape 168"/>
          <p:cNvSpPr>
            <a:spLocks noChangeArrowheads="1"/>
          </p:cNvSpPr>
          <p:nvPr/>
        </p:nvSpPr>
        <p:spPr bwMode="auto">
          <a:xfrm>
            <a:off x="8928081" y="5542971"/>
            <a:ext cx="465137" cy="188603"/>
          </a:xfrm>
          <a:prstGeom prst="curvedDownArrow">
            <a:avLst>
              <a:gd name="adj1" fmla="val 13675"/>
              <a:gd name="adj2" fmla="val 67328"/>
              <a:gd name="adj3" fmla="val 36977"/>
            </a:avLst>
          </a:prstGeom>
          <a:solidFill>
            <a:srgbClr val="C00000"/>
          </a:solidFill>
          <a:ln w="9525">
            <a:solidFill>
              <a:schemeClr val="tx1"/>
            </a:solidFill>
            <a:miter lim="800000"/>
            <a:headEnd type="none" w="sm" len="lg"/>
            <a:tailEnd type="none" w="sm" len="lg"/>
          </a:ln>
        </p:spPr>
        <p:txBody>
          <a:bodyPr wrap="none" anchor="ctr"/>
          <a:lstStyle/>
          <a:p>
            <a:endParaRPr lang="zh-CN" altLang="en-US"/>
          </a:p>
        </p:txBody>
      </p:sp>
      <p:sp>
        <p:nvSpPr>
          <p:cNvPr id="129" name="Text Box 169"/>
          <p:cNvSpPr txBox="1">
            <a:spLocks noChangeArrowheads="1"/>
          </p:cNvSpPr>
          <p:nvPr/>
        </p:nvSpPr>
        <p:spPr bwMode="auto">
          <a:xfrm>
            <a:off x="2598046" y="5319565"/>
            <a:ext cx="643716" cy="843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数据</a:t>
            </a:r>
            <a:endParaRPr lang="en-US" altLang="zh-CN" sz="1200" b="1" dirty="0">
              <a:solidFill>
                <a:srgbClr val="0000FF"/>
              </a:solidFill>
              <a:latin typeface="微软雅黑" panose="020B0503020204020204" pitchFamily="34" charset="-122"/>
              <a:ea typeface="微软雅黑" panose="020B0503020204020204" pitchFamily="34" charset="-122"/>
            </a:endParaRP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传送</a:t>
            </a:r>
          </a:p>
          <a:p>
            <a:pPr eaLnBrk="0" hangingPunct="0"/>
            <a:r>
              <a:rPr lang="zh-CN" altLang="en-US" sz="1200" b="1" dirty="0">
                <a:solidFill>
                  <a:srgbClr val="0000FF"/>
                </a:solidFill>
                <a:latin typeface="微软雅黑" panose="020B0503020204020204" pitchFamily="34" charset="-122"/>
                <a:ea typeface="微软雅黑" panose="020B0503020204020204" pitchFamily="34" charset="-122"/>
              </a:rPr>
              <a:t>特点</a:t>
            </a:r>
          </a:p>
        </p:txBody>
      </p:sp>
      <p:sp>
        <p:nvSpPr>
          <p:cNvPr id="130" name="Text Box 170"/>
          <p:cNvSpPr txBox="1">
            <a:spLocks noChangeArrowheads="1"/>
          </p:cNvSpPr>
          <p:nvPr/>
        </p:nvSpPr>
        <p:spPr bwMode="auto">
          <a:xfrm>
            <a:off x="3441580" y="5279754"/>
            <a:ext cx="12618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rgbClr val="1C1C1C"/>
                </a:solidFill>
              </a:rPr>
              <a:t>比特流直达终点</a:t>
            </a:r>
          </a:p>
        </p:txBody>
      </p:sp>
      <p:sp>
        <p:nvSpPr>
          <p:cNvPr id="131" name="Text Box 171"/>
          <p:cNvSpPr txBox="1">
            <a:spLocks noChangeArrowheads="1"/>
          </p:cNvSpPr>
          <p:nvPr/>
        </p:nvSpPr>
        <p:spPr bwMode="auto">
          <a:xfrm>
            <a:off x="5684526" y="524037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rgbClr val="1C1C1C"/>
                </a:solidFill>
              </a:rPr>
              <a:t>报文</a:t>
            </a:r>
          </a:p>
        </p:txBody>
      </p:sp>
      <p:sp>
        <p:nvSpPr>
          <p:cNvPr id="132" name="Text Box 172"/>
          <p:cNvSpPr txBox="1">
            <a:spLocks noChangeArrowheads="1"/>
          </p:cNvSpPr>
          <p:nvPr/>
        </p:nvSpPr>
        <p:spPr bwMode="auto">
          <a:xfrm>
            <a:off x="6128898" y="524037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rgbClr val="1C1C1C"/>
                </a:solidFill>
              </a:rPr>
              <a:t>报文</a:t>
            </a:r>
          </a:p>
        </p:txBody>
      </p:sp>
      <p:sp>
        <p:nvSpPr>
          <p:cNvPr id="133" name="Text Box 173"/>
          <p:cNvSpPr txBox="1">
            <a:spLocks noChangeArrowheads="1"/>
          </p:cNvSpPr>
          <p:nvPr/>
        </p:nvSpPr>
        <p:spPr bwMode="auto">
          <a:xfrm>
            <a:off x="6567039" y="524037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rgbClr val="1C1C1C"/>
                </a:solidFill>
              </a:rPr>
              <a:t>报文</a:t>
            </a:r>
          </a:p>
        </p:txBody>
      </p:sp>
      <p:sp>
        <p:nvSpPr>
          <p:cNvPr id="134" name="Text Box 174"/>
          <p:cNvSpPr txBox="1">
            <a:spLocks noChangeArrowheads="1"/>
          </p:cNvSpPr>
          <p:nvPr/>
        </p:nvSpPr>
        <p:spPr bwMode="auto">
          <a:xfrm>
            <a:off x="8077301" y="524037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rgbClr val="1C1C1C"/>
                </a:solidFill>
              </a:rPr>
              <a:t>分组</a:t>
            </a:r>
          </a:p>
        </p:txBody>
      </p:sp>
      <p:sp>
        <p:nvSpPr>
          <p:cNvPr id="135" name="Text Box 175"/>
          <p:cNvSpPr txBox="1">
            <a:spLocks noChangeArrowheads="1"/>
          </p:cNvSpPr>
          <p:nvPr/>
        </p:nvSpPr>
        <p:spPr bwMode="auto">
          <a:xfrm>
            <a:off x="8502985" y="524037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rgbClr val="1C1C1C"/>
                </a:solidFill>
              </a:rPr>
              <a:t>分组</a:t>
            </a:r>
          </a:p>
        </p:txBody>
      </p:sp>
      <p:sp>
        <p:nvSpPr>
          <p:cNvPr id="136" name="Text Box 176"/>
          <p:cNvSpPr txBox="1">
            <a:spLocks noChangeArrowheads="1"/>
          </p:cNvSpPr>
          <p:nvPr/>
        </p:nvSpPr>
        <p:spPr bwMode="auto">
          <a:xfrm>
            <a:off x="8930744" y="524037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a:solidFill>
                  <a:srgbClr val="1C1C1C"/>
                </a:solidFill>
              </a:rPr>
              <a:t>分组</a:t>
            </a:r>
          </a:p>
        </p:txBody>
      </p:sp>
      <p:sp>
        <p:nvSpPr>
          <p:cNvPr id="137" name="Text Box 177"/>
          <p:cNvSpPr txBox="1">
            <a:spLocks noChangeArrowheads="1"/>
          </p:cNvSpPr>
          <p:nvPr/>
        </p:nvSpPr>
        <p:spPr bwMode="auto">
          <a:xfrm>
            <a:off x="5555783" y="5969919"/>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smtClean="0">
                <a:solidFill>
                  <a:srgbClr val="1C1C1C"/>
                </a:solidFill>
              </a:rPr>
              <a:t>存储转发</a:t>
            </a:r>
            <a:endParaRPr lang="zh-CN" altLang="en-US" dirty="0">
              <a:solidFill>
                <a:srgbClr val="1C1C1C"/>
              </a:solidFill>
            </a:endParaRPr>
          </a:p>
        </p:txBody>
      </p:sp>
      <p:grpSp>
        <p:nvGrpSpPr>
          <p:cNvPr id="153" name="Group 139"/>
          <p:cNvGrpSpPr/>
          <p:nvPr/>
        </p:nvGrpSpPr>
        <p:grpSpPr bwMode="auto">
          <a:xfrm>
            <a:off x="8805068" y="2927649"/>
            <a:ext cx="467374" cy="276970"/>
            <a:chOff x="4946" y="1856"/>
            <a:chExt cx="435" cy="280"/>
          </a:xfrm>
        </p:grpSpPr>
        <p:sp>
          <p:nvSpPr>
            <p:cNvPr id="162" name="AutoShape 24"/>
            <p:cNvSpPr>
              <a:spLocks noChangeArrowheads="1"/>
            </p:cNvSpPr>
            <p:nvPr/>
          </p:nvSpPr>
          <p:spPr bwMode="auto">
            <a:xfrm rot="5400000">
              <a:off x="5096" y="1821"/>
              <a:ext cx="210"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63" name="Text Box 25"/>
            <p:cNvSpPr txBox="1">
              <a:spLocks noChangeArrowheads="1"/>
            </p:cNvSpPr>
            <p:nvPr/>
          </p:nvSpPr>
          <p:spPr bwMode="auto">
            <a:xfrm rot="626605">
              <a:off x="4946" y="1856"/>
              <a:ext cx="354" cy="28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chemeClr val="bg1"/>
                  </a:solidFill>
                  <a:latin typeface="微软雅黑" panose="020B0503020204020204" pitchFamily="34" charset="-122"/>
                  <a:ea typeface="微软雅黑" panose="020B0503020204020204" pitchFamily="34" charset="-122"/>
                </a:rPr>
                <a:t>P1</a:t>
              </a:r>
            </a:p>
          </p:txBody>
        </p:sp>
        <p:sp>
          <p:nvSpPr>
            <p:cNvPr id="164"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5"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 name="AutoShape 28"/>
            <p:cNvSpPr>
              <a:spLocks noChangeArrowheads="1"/>
            </p:cNvSpPr>
            <p:nvPr/>
          </p:nvSpPr>
          <p:spPr bwMode="auto">
            <a:xfrm rot="746037">
              <a:off x="5209" y="1957"/>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54" name="Group 132"/>
          <p:cNvGrpSpPr/>
          <p:nvPr/>
        </p:nvGrpSpPr>
        <p:grpSpPr bwMode="auto">
          <a:xfrm>
            <a:off x="8038699" y="2793120"/>
            <a:ext cx="459853" cy="276970"/>
            <a:chOff x="4228" y="1720"/>
            <a:chExt cx="428" cy="280"/>
          </a:xfrm>
        </p:grpSpPr>
        <p:sp>
          <p:nvSpPr>
            <p:cNvPr id="157" name="AutoShape 49"/>
            <p:cNvSpPr>
              <a:spLocks noChangeArrowheads="1"/>
            </p:cNvSpPr>
            <p:nvPr/>
          </p:nvSpPr>
          <p:spPr bwMode="auto">
            <a:xfrm rot="5400000">
              <a:off x="4371" y="1691"/>
              <a:ext cx="210" cy="360"/>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58" name="Text Box 50"/>
            <p:cNvSpPr txBox="1">
              <a:spLocks noChangeArrowheads="1"/>
            </p:cNvSpPr>
            <p:nvPr/>
          </p:nvSpPr>
          <p:spPr bwMode="auto">
            <a:xfrm rot="626605">
              <a:off x="4228" y="1720"/>
              <a:ext cx="354" cy="28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chemeClr val="bg1"/>
                  </a:solidFill>
                  <a:latin typeface="微软雅黑" panose="020B0503020204020204" pitchFamily="34" charset="-122"/>
                  <a:ea typeface="微软雅黑" panose="020B0503020204020204" pitchFamily="34" charset="-122"/>
                </a:rPr>
                <a:t>P3</a:t>
              </a:r>
            </a:p>
          </p:txBody>
        </p:sp>
        <p:sp>
          <p:nvSpPr>
            <p:cNvPr id="159"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0"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 name="AutoShape 53"/>
            <p:cNvSpPr>
              <a:spLocks noChangeArrowheads="1"/>
            </p:cNvSpPr>
            <p:nvPr/>
          </p:nvSpPr>
          <p:spPr bwMode="auto">
            <a:xfrm rot="746037">
              <a:off x="4496" y="1827"/>
              <a:ext cx="133" cy="127"/>
            </a:xfrm>
            <a:prstGeom prst="rightArrow">
              <a:avLst>
                <a:gd name="adj1" fmla="val 50000"/>
                <a:gd name="adj2" fmla="val 2618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96" name="组合 195"/>
          <p:cNvGrpSpPr/>
          <p:nvPr/>
        </p:nvGrpSpPr>
        <p:grpSpPr>
          <a:xfrm>
            <a:off x="8442366" y="2875796"/>
            <a:ext cx="461946" cy="277000"/>
            <a:chOff x="8417260" y="2872224"/>
            <a:chExt cx="461946" cy="277000"/>
          </a:xfrm>
        </p:grpSpPr>
        <p:grpSp>
          <p:nvGrpSpPr>
            <p:cNvPr id="152" name="Group 135"/>
            <p:cNvGrpSpPr/>
            <p:nvPr/>
          </p:nvGrpSpPr>
          <p:grpSpPr bwMode="auto">
            <a:xfrm>
              <a:off x="8484892" y="2900936"/>
              <a:ext cx="394314" cy="211684"/>
              <a:chOff x="4648" y="1829"/>
              <a:chExt cx="367" cy="214"/>
            </a:xfrm>
          </p:grpSpPr>
          <p:sp>
            <p:nvSpPr>
              <p:cNvPr id="167" name="AutoShape 9"/>
              <p:cNvSpPr>
                <a:spLocks noChangeArrowheads="1"/>
              </p:cNvSpPr>
              <p:nvPr/>
            </p:nvSpPr>
            <p:spPr bwMode="auto">
              <a:xfrm rot="5400000">
                <a:off x="4729" y="1758"/>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68"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5" name="Text Box 10"/>
            <p:cNvSpPr txBox="1">
              <a:spLocks noChangeArrowheads="1"/>
            </p:cNvSpPr>
            <p:nvPr/>
          </p:nvSpPr>
          <p:spPr bwMode="auto">
            <a:xfrm rot="626605">
              <a:off x="8417260" y="2872224"/>
              <a:ext cx="380232" cy="277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chemeClr val="bg1"/>
                  </a:solidFill>
                  <a:latin typeface="微软雅黑" panose="020B0503020204020204" pitchFamily="34" charset="-122"/>
                  <a:ea typeface="微软雅黑" panose="020B0503020204020204" pitchFamily="34" charset="-122"/>
                </a:rPr>
                <a:t>P2</a:t>
              </a:r>
            </a:p>
          </p:txBody>
        </p:sp>
        <p:sp>
          <p:nvSpPr>
            <p:cNvPr id="156" name="AutoShape 13"/>
            <p:cNvSpPr>
              <a:spLocks noChangeArrowheads="1"/>
            </p:cNvSpPr>
            <p:nvPr/>
          </p:nvSpPr>
          <p:spPr bwMode="auto">
            <a:xfrm rot="746037">
              <a:off x="8707284" y="2959886"/>
              <a:ext cx="141824" cy="124636"/>
            </a:xfrm>
            <a:prstGeom prst="rightArrow">
              <a:avLst>
                <a:gd name="adj1" fmla="val 50000"/>
                <a:gd name="adj2" fmla="val 26192"/>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40" name="Group 131"/>
          <p:cNvGrpSpPr/>
          <p:nvPr/>
        </p:nvGrpSpPr>
        <p:grpSpPr bwMode="auto">
          <a:xfrm>
            <a:off x="8040216" y="2616991"/>
            <a:ext cx="455363" cy="277257"/>
            <a:chOff x="4229" y="1543"/>
            <a:chExt cx="424" cy="279"/>
          </a:xfrm>
        </p:grpSpPr>
        <p:sp>
          <p:nvSpPr>
            <p:cNvPr id="143" name="AutoShape 44"/>
            <p:cNvSpPr>
              <a:spLocks noChangeArrowheads="1"/>
            </p:cNvSpPr>
            <p:nvPr/>
          </p:nvSpPr>
          <p:spPr bwMode="auto">
            <a:xfrm rot="5400000">
              <a:off x="4367" y="1516"/>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44" name="Text Box 45"/>
            <p:cNvSpPr txBox="1">
              <a:spLocks noChangeArrowheads="1"/>
            </p:cNvSpPr>
            <p:nvPr/>
          </p:nvSpPr>
          <p:spPr bwMode="auto">
            <a:xfrm rot="626605">
              <a:off x="4229" y="1543"/>
              <a:ext cx="354" cy="27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chemeClr val="bg1"/>
                  </a:solidFill>
                  <a:latin typeface="微软雅黑" panose="020B0503020204020204" pitchFamily="34" charset="-122"/>
                  <a:ea typeface="微软雅黑" panose="020B0503020204020204" pitchFamily="34" charset="-122"/>
                </a:rPr>
                <a:t>P2</a:t>
              </a:r>
            </a:p>
          </p:txBody>
        </p:sp>
        <p:sp>
          <p:nvSpPr>
            <p:cNvPr id="145"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 name="AutoShape 48"/>
            <p:cNvSpPr>
              <a:spLocks noChangeArrowheads="1"/>
            </p:cNvSpPr>
            <p:nvPr/>
          </p:nvSpPr>
          <p:spPr bwMode="auto">
            <a:xfrm rot="746037">
              <a:off x="4493" y="1652"/>
              <a:ext cx="132" cy="126"/>
            </a:xfrm>
            <a:prstGeom prst="rightArrow">
              <a:avLst>
                <a:gd name="adj1" fmla="val 50000"/>
                <a:gd name="adj2" fmla="val 26190"/>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47"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 name="组合 193"/>
          <p:cNvGrpSpPr/>
          <p:nvPr/>
        </p:nvGrpSpPr>
        <p:grpSpPr>
          <a:xfrm>
            <a:off x="8439541" y="2687786"/>
            <a:ext cx="454309" cy="276999"/>
            <a:chOff x="8439541" y="2687786"/>
            <a:chExt cx="454309" cy="276999"/>
          </a:xfrm>
        </p:grpSpPr>
        <p:grpSp>
          <p:nvGrpSpPr>
            <p:cNvPr id="139" name="Group 134"/>
            <p:cNvGrpSpPr/>
            <p:nvPr/>
          </p:nvGrpSpPr>
          <p:grpSpPr bwMode="auto">
            <a:xfrm>
              <a:off x="8500778" y="2723328"/>
              <a:ext cx="393072" cy="212664"/>
              <a:chOff x="4653" y="1650"/>
              <a:chExt cx="366" cy="214"/>
            </a:xfrm>
          </p:grpSpPr>
          <p:sp>
            <p:nvSpPr>
              <p:cNvPr id="148" name="AutoShape 4"/>
              <p:cNvSpPr>
                <a:spLocks noChangeArrowheads="1"/>
              </p:cNvSpPr>
              <p:nvPr/>
            </p:nvSpPr>
            <p:spPr bwMode="auto">
              <a:xfrm rot="5400000">
                <a:off x="4733" y="1579"/>
                <a:ext cx="211" cy="359"/>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49"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0"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1" name="Text Box 5"/>
            <p:cNvSpPr txBox="1">
              <a:spLocks noChangeArrowheads="1"/>
            </p:cNvSpPr>
            <p:nvPr/>
          </p:nvSpPr>
          <p:spPr bwMode="auto">
            <a:xfrm rot="626605">
              <a:off x="8439541" y="2687786"/>
              <a:ext cx="380232" cy="27699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chemeClr val="bg1"/>
                  </a:solidFill>
                  <a:latin typeface="微软雅黑" panose="020B0503020204020204" pitchFamily="34" charset="-122"/>
                  <a:ea typeface="微软雅黑" panose="020B0503020204020204" pitchFamily="34" charset="-122"/>
                </a:rPr>
                <a:t>P1</a:t>
              </a:r>
            </a:p>
          </p:txBody>
        </p:sp>
        <p:sp>
          <p:nvSpPr>
            <p:cNvPr id="142" name="AutoShape 8"/>
            <p:cNvSpPr>
              <a:spLocks noChangeArrowheads="1"/>
            </p:cNvSpPr>
            <p:nvPr/>
          </p:nvSpPr>
          <p:spPr bwMode="auto">
            <a:xfrm rot="746037">
              <a:off x="8709128" y="2785822"/>
              <a:ext cx="142837" cy="125213"/>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grpSp>
      <p:grpSp>
        <p:nvGrpSpPr>
          <p:cNvPr id="170" name="组合 169"/>
          <p:cNvGrpSpPr/>
          <p:nvPr/>
        </p:nvGrpSpPr>
        <p:grpSpPr bwMode="auto">
          <a:xfrm>
            <a:off x="8813758" y="3451034"/>
            <a:ext cx="517472" cy="319882"/>
            <a:chOff x="7051329" y="2898841"/>
            <a:chExt cx="602378" cy="372234"/>
          </a:xfrm>
        </p:grpSpPr>
        <p:sp>
          <p:nvSpPr>
            <p:cNvPr id="171" name="AutoShape 54"/>
            <p:cNvSpPr>
              <a:spLocks noChangeArrowheads="1"/>
            </p:cNvSpPr>
            <p:nvPr/>
          </p:nvSpPr>
          <p:spPr bwMode="auto">
            <a:xfrm rot="5400000">
              <a:off x="7244991" y="2836979"/>
              <a:ext cx="243919" cy="449589"/>
            </a:xfrm>
            <a:prstGeom prst="parallelogram">
              <a:avLst>
                <a:gd name="adj" fmla="val 29162"/>
              </a:avLst>
            </a:prstGeom>
            <a:solidFill>
              <a:srgbClr val="C000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grpSp>
          <p:nvGrpSpPr>
            <p:cNvPr id="172" name="组合 181"/>
            <p:cNvGrpSpPr/>
            <p:nvPr/>
          </p:nvGrpSpPr>
          <p:grpSpPr bwMode="auto">
            <a:xfrm>
              <a:off x="7051329" y="2898841"/>
              <a:ext cx="602378" cy="372234"/>
              <a:chOff x="7051329" y="2898841"/>
              <a:chExt cx="602378" cy="372234"/>
            </a:xfrm>
          </p:grpSpPr>
          <p:grpSp>
            <p:nvGrpSpPr>
              <p:cNvPr id="173" name="Group 142"/>
              <p:cNvGrpSpPr/>
              <p:nvPr/>
            </p:nvGrpSpPr>
            <p:grpSpPr bwMode="auto">
              <a:xfrm>
                <a:off x="7051329" y="2898841"/>
                <a:ext cx="602378" cy="372234"/>
                <a:chOff x="4941" y="2367"/>
                <a:chExt cx="481" cy="322"/>
              </a:xfrm>
            </p:grpSpPr>
            <p:sp>
              <p:nvSpPr>
                <p:cNvPr id="176" name="AutoShape 39"/>
                <p:cNvSpPr>
                  <a:spLocks noChangeArrowheads="1"/>
                </p:cNvSpPr>
                <p:nvPr/>
              </p:nvSpPr>
              <p:spPr bwMode="auto">
                <a:xfrm rot="5400000">
                  <a:off x="5048" y="2315"/>
                  <a:ext cx="314" cy="434"/>
                </a:xfrm>
                <a:prstGeom prst="parallelogram">
                  <a:avLst>
                    <a:gd name="adj" fmla="val 29162"/>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177" name="Text Box 40"/>
                <p:cNvSpPr txBox="1">
                  <a:spLocks noChangeArrowheads="1"/>
                </p:cNvSpPr>
                <p:nvPr/>
              </p:nvSpPr>
              <p:spPr bwMode="auto">
                <a:xfrm rot="626605">
                  <a:off x="4941" y="2367"/>
                  <a:ext cx="353" cy="27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a:solidFill>
                        <a:schemeClr val="bg1"/>
                      </a:solidFill>
                      <a:latin typeface="微软雅黑" panose="020B0503020204020204" pitchFamily="34" charset="-122"/>
                      <a:ea typeface="微软雅黑" panose="020B0503020204020204" pitchFamily="34" charset="-122"/>
                    </a:rPr>
                    <a:t>P4</a:t>
                  </a:r>
                </a:p>
              </p:txBody>
            </p:sp>
          </p:grpSp>
          <p:sp>
            <p:nvSpPr>
              <p:cNvPr id="174" name="Line 112"/>
              <p:cNvSpPr>
                <a:spLocks noChangeShapeType="1"/>
              </p:cNvSpPr>
              <p:nvPr/>
            </p:nvSpPr>
            <p:spPr bwMode="auto">
              <a:xfrm>
                <a:off x="7129282" y="3113994"/>
                <a:ext cx="453346" cy="73985"/>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p>
            </p:txBody>
          </p:sp>
          <p:sp>
            <p:nvSpPr>
              <p:cNvPr id="175" name="AutoShape 38"/>
              <p:cNvSpPr>
                <a:spLocks noChangeArrowheads="1"/>
              </p:cNvSpPr>
              <p:nvPr/>
            </p:nvSpPr>
            <p:spPr bwMode="auto">
              <a:xfrm rot="746037">
                <a:off x="7396188" y="3007881"/>
                <a:ext cx="166561" cy="145657"/>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grpSp>
      </p:grpSp>
      <p:sp>
        <p:nvSpPr>
          <p:cNvPr id="178" name="Text Box 177"/>
          <p:cNvSpPr txBox="1">
            <a:spLocks noChangeArrowheads="1"/>
          </p:cNvSpPr>
          <p:nvPr/>
        </p:nvSpPr>
        <p:spPr bwMode="auto">
          <a:xfrm>
            <a:off x="6363542" y="5969919"/>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smtClean="0">
                <a:solidFill>
                  <a:srgbClr val="1C1C1C"/>
                </a:solidFill>
              </a:rPr>
              <a:t>存储转发</a:t>
            </a:r>
            <a:endParaRPr lang="zh-CN" altLang="en-US" dirty="0">
              <a:solidFill>
                <a:srgbClr val="1C1C1C"/>
              </a:solidFill>
            </a:endParaRPr>
          </a:p>
        </p:txBody>
      </p:sp>
      <p:sp>
        <p:nvSpPr>
          <p:cNvPr id="179" name="Text Box 177"/>
          <p:cNvSpPr txBox="1">
            <a:spLocks noChangeArrowheads="1"/>
          </p:cNvSpPr>
          <p:nvPr/>
        </p:nvSpPr>
        <p:spPr bwMode="auto">
          <a:xfrm>
            <a:off x="7935090" y="5969919"/>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smtClean="0">
                <a:solidFill>
                  <a:srgbClr val="1C1C1C"/>
                </a:solidFill>
              </a:rPr>
              <a:t>存储转发</a:t>
            </a:r>
            <a:endParaRPr lang="zh-CN" altLang="en-US" dirty="0">
              <a:solidFill>
                <a:srgbClr val="1C1C1C"/>
              </a:solidFill>
            </a:endParaRPr>
          </a:p>
        </p:txBody>
      </p:sp>
      <p:sp>
        <p:nvSpPr>
          <p:cNvPr id="180" name="Text Box 177"/>
          <p:cNvSpPr txBox="1">
            <a:spLocks noChangeArrowheads="1"/>
          </p:cNvSpPr>
          <p:nvPr/>
        </p:nvSpPr>
        <p:spPr bwMode="auto">
          <a:xfrm>
            <a:off x="8752165" y="5969919"/>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ru-RU"/>
            </a:defPPr>
            <a:lvl1pPr eaLnBrk="0" hangingPunct="0">
              <a:defRPr sz="1200" b="1">
                <a:solidFill>
                  <a:srgbClr val="339933"/>
                </a:solidFill>
                <a:latin typeface="微软雅黑" panose="020B0503020204020204" pitchFamily="34" charset="-122"/>
                <a:ea typeface="微软雅黑" panose="020B0503020204020204" pitchFamily="34" charset="-122"/>
              </a:defRPr>
            </a:lvl1pPr>
            <a:lvl2pPr eaLnBrk="0" hangingPunct="0">
              <a:defRPr>
                <a:ea typeface="+mn-ea"/>
              </a:defRPr>
            </a:lvl2pPr>
            <a:lvl3pPr eaLnBrk="0" hangingPunct="0">
              <a:defRPr>
                <a:ea typeface="+mn-ea"/>
              </a:defRPr>
            </a:lvl3pPr>
            <a:lvl4pPr eaLnBrk="0" hangingPunct="0">
              <a:defRPr>
                <a:ea typeface="+mn-ea"/>
              </a:defRPr>
            </a:lvl4pPr>
            <a:lvl5pPr eaLnBrk="0" hangingPunct="0">
              <a:defRPr>
                <a:ea typeface="+mn-ea"/>
              </a:defRPr>
            </a:lvl5pPr>
            <a:lvl6pPr>
              <a:defRPr>
                <a:ea typeface="+mn-ea"/>
              </a:defRPr>
            </a:lvl6pPr>
            <a:lvl7pPr>
              <a:defRPr>
                <a:ea typeface="+mn-ea"/>
              </a:defRPr>
            </a:lvl7pPr>
            <a:lvl8pPr>
              <a:defRPr>
                <a:ea typeface="+mn-ea"/>
              </a:defRPr>
            </a:lvl8pPr>
            <a:lvl9pPr>
              <a:defRPr>
                <a:ea typeface="+mn-ea"/>
              </a:defRPr>
            </a:lvl9pPr>
          </a:lstStyle>
          <a:p>
            <a:pPr fontAlgn="auto">
              <a:spcBef>
                <a:spcPts val="0"/>
              </a:spcBef>
              <a:spcAft>
                <a:spcPts val="0"/>
              </a:spcAft>
              <a:defRPr/>
            </a:pPr>
            <a:r>
              <a:rPr lang="zh-CN" altLang="en-US" dirty="0" smtClean="0">
                <a:solidFill>
                  <a:srgbClr val="1C1C1C"/>
                </a:solidFill>
              </a:rPr>
              <a:t>存储转发</a:t>
            </a:r>
            <a:endParaRPr lang="zh-CN" altLang="en-US" dirty="0">
              <a:solidFill>
                <a:srgbClr val="1C1C1C"/>
              </a:solidFill>
            </a:endParaRPr>
          </a:p>
        </p:txBody>
      </p:sp>
      <p:grpSp>
        <p:nvGrpSpPr>
          <p:cNvPr id="181" name="组合 180"/>
          <p:cNvGrpSpPr/>
          <p:nvPr/>
        </p:nvGrpSpPr>
        <p:grpSpPr bwMode="auto">
          <a:xfrm>
            <a:off x="2303028" y="2496299"/>
            <a:ext cx="1156611" cy="797937"/>
            <a:chOff x="1986461" y="1436989"/>
            <a:chExt cx="883227" cy="610785"/>
          </a:xfrm>
        </p:grpSpPr>
        <p:grpSp>
          <p:nvGrpSpPr>
            <p:cNvPr id="182" name="Group 122"/>
            <p:cNvGrpSpPr/>
            <p:nvPr/>
          </p:nvGrpSpPr>
          <p:grpSpPr bwMode="auto">
            <a:xfrm>
              <a:off x="1986461" y="1436989"/>
              <a:ext cx="846456" cy="587904"/>
              <a:chOff x="71" y="1473"/>
              <a:chExt cx="1030" cy="775"/>
            </a:xfrm>
          </p:grpSpPr>
          <p:sp>
            <p:nvSpPr>
              <p:cNvPr id="186" name="Line 92"/>
              <p:cNvSpPr>
                <a:spLocks noChangeShapeType="1"/>
              </p:cNvSpPr>
              <p:nvPr/>
            </p:nvSpPr>
            <p:spPr bwMode="auto">
              <a:xfrm>
                <a:off x="630" y="1474"/>
                <a:ext cx="182"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7" name="Line 94"/>
              <p:cNvSpPr>
                <a:spLocks noChangeShapeType="1"/>
              </p:cNvSpPr>
              <p:nvPr/>
            </p:nvSpPr>
            <p:spPr bwMode="auto">
              <a:xfrm>
                <a:off x="622" y="2248"/>
                <a:ext cx="181"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8" name="Text Box 95"/>
              <p:cNvSpPr txBox="1">
                <a:spLocks noChangeArrowheads="1"/>
              </p:cNvSpPr>
              <p:nvPr/>
            </p:nvSpPr>
            <p:spPr bwMode="auto">
              <a:xfrm>
                <a:off x="71" y="1733"/>
                <a:ext cx="1030"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zh-CN" altLang="en-US" b="1" dirty="0">
                    <a:solidFill>
                      <a:srgbClr val="1C1C1C"/>
                    </a:solidFill>
                    <a:latin typeface="微软雅黑" panose="020B0503020204020204" pitchFamily="34" charset="-122"/>
                    <a:ea typeface="微软雅黑" panose="020B0503020204020204" pitchFamily="34" charset="-122"/>
                  </a:rPr>
                  <a:t>连接建立</a:t>
                </a:r>
              </a:p>
            </p:txBody>
          </p:sp>
          <p:sp>
            <p:nvSpPr>
              <p:cNvPr id="189" name="Line 97"/>
              <p:cNvSpPr>
                <a:spLocks noChangeShapeType="1"/>
              </p:cNvSpPr>
              <p:nvPr/>
            </p:nvSpPr>
            <p:spPr bwMode="auto">
              <a:xfrm>
                <a:off x="720" y="1473"/>
                <a:ext cx="0" cy="759"/>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83" name="Line 98"/>
            <p:cNvSpPr>
              <a:spLocks noChangeShapeType="1"/>
            </p:cNvSpPr>
            <p:nvPr/>
          </p:nvSpPr>
          <p:spPr bwMode="auto">
            <a:xfrm>
              <a:off x="2785557" y="1492950"/>
              <a:ext cx="0" cy="504318"/>
            </a:xfrm>
            <a:prstGeom prst="line">
              <a:avLst/>
            </a:prstGeom>
            <a:noFill/>
            <a:ln w="9525">
              <a:solidFill>
                <a:srgbClr val="1C1C1C"/>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 name="Line 93"/>
            <p:cNvSpPr>
              <a:spLocks noChangeShapeType="1"/>
            </p:cNvSpPr>
            <p:nvPr/>
          </p:nvSpPr>
          <p:spPr bwMode="auto">
            <a:xfrm>
              <a:off x="2708145" y="2047774"/>
              <a:ext cx="149568" cy="0"/>
            </a:xfrm>
            <a:prstGeom prst="line">
              <a:avLst/>
            </a:prstGeom>
            <a:noFill/>
            <a:ln w="9525">
              <a:solidFill>
                <a:srgbClr val="1C1C1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5" name="Line 93"/>
            <p:cNvSpPr>
              <a:spLocks noChangeShapeType="1"/>
            </p:cNvSpPr>
            <p:nvPr/>
          </p:nvSpPr>
          <p:spPr bwMode="auto">
            <a:xfrm>
              <a:off x="2720120" y="1448209"/>
              <a:ext cx="149568" cy="0"/>
            </a:xfrm>
            <a:prstGeom prst="line">
              <a:avLst/>
            </a:prstGeom>
            <a:noFill/>
            <a:ln w="9525">
              <a:solidFill>
                <a:srgbClr val="1C1C1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0" name="Line 102"/>
          <p:cNvSpPr>
            <a:spLocks noChangeShapeType="1"/>
          </p:cNvSpPr>
          <p:nvPr/>
        </p:nvSpPr>
        <p:spPr bwMode="auto">
          <a:xfrm>
            <a:off x="8889696" y="2473500"/>
            <a:ext cx="0" cy="2379306"/>
          </a:xfrm>
          <a:prstGeom prst="line">
            <a:avLst/>
          </a:prstGeom>
          <a:noFill/>
          <a:ln w="19050">
            <a:solidFill>
              <a:srgbClr val="1C1C1C"/>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1" name="Line 103"/>
          <p:cNvSpPr>
            <a:spLocks noChangeShapeType="1"/>
          </p:cNvSpPr>
          <p:nvPr/>
        </p:nvSpPr>
        <p:spPr bwMode="auto">
          <a:xfrm>
            <a:off x="8505542" y="2452775"/>
            <a:ext cx="0" cy="2377234"/>
          </a:xfrm>
          <a:prstGeom prst="line">
            <a:avLst/>
          </a:prstGeom>
          <a:noFill/>
          <a:ln w="19050">
            <a:solidFill>
              <a:srgbClr val="1C1C1C"/>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2" name="Line 101"/>
          <p:cNvSpPr>
            <a:spLocks noChangeShapeType="1"/>
          </p:cNvSpPr>
          <p:nvPr/>
        </p:nvSpPr>
        <p:spPr bwMode="auto">
          <a:xfrm>
            <a:off x="9280078" y="2481790"/>
            <a:ext cx="0" cy="2379306"/>
          </a:xfrm>
          <a:prstGeom prst="line">
            <a:avLst/>
          </a:prstGeom>
          <a:noFill/>
          <a:ln w="19050">
            <a:solidFill>
              <a:srgbClr val="1C1C1C"/>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 name="Line 115"/>
          <p:cNvSpPr>
            <a:spLocks noChangeShapeType="1"/>
          </p:cNvSpPr>
          <p:nvPr/>
        </p:nvSpPr>
        <p:spPr bwMode="auto">
          <a:xfrm>
            <a:off x="8108930" y="2456920"/>
            <a:ext cx="0" cy="2379306"/>
          </a:xfrm>
          <a:prstGeom prst="line">
            <a:avLst/>
          </a:prstGeom>
          <a:noFill/>
          <a:ln w="19050">
            <a:solidFill>
              <a:srgbClr val="1C1C1C"/>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1" name="组合 200"/>
          <p:cNvGrpSpPr/>
          <p:nvPr/>
        </p:nvGrpSpPr>
        <p:grpSpPr>
          <a:xfrm>
            <a:off x="8040216" y="2960569"/>
            <a:ext cx="455076" cy="276998"/>
            <a:chOff x="10423480" y="4105842"/>
            <a:chExt cx="455076" cy="276998"/>
          </a:xfrm>
        </p:grpSpPr>
        <p:grpSp>
          <p:nvGrpSpPr>
            <p:cNvPr id="198" name="组合 197"/>
            <p:cNvGrpSpPr/>
            <p:nvPr/>
          </p:nvGrpSpPr>
          <p:grpSpPr>
            <a:xfrm>
              <a:off x="10488488" y="4148514"/>
              <a:ext cx="390068" cy="211425"/>
              <a:chOff x="10488488" y="4148514"/>
              <a:chExt cx="390068" cy="211425"/>
            </a:xfrm>
          </p:grpSpPr>
          <p:sp>
            <p:nvSpPr>
              <p:cNvPr id="9" name="AutoShape 54"/>
              <p:cNvSpPr>
                <a:spLocks noChangeArrowheads="1"/>
              </p:cNvSpPr>
              <p:nvPr/>
            </p:nvSpPr>
            <p:spPr bwMode="auto">
              <a:xfrm rot="5400000">
                <a:off x="10577143" y="4062823"/>
                <a:ext cx="208461" cy="385770"/>
              </a:xfrm>
              <a:prstGeom prst="parallelogram">
                <a:avLst>
                  <a:gd name="adj" fmla="val 29162"/>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0" name="Line 56"/>
              <p:cNvSpPr>
                <a:spLocks noChangeShapeType="1"/>
              </p:cNvSpPr>
              <p:nvPr/>
            </p:nvSpPr>
            <p:spPr bwMode="auto">
              <a:xfrm>
                <a:off x="10488488" y="4148514"/>
                <a:ext cx="390068" cy="62242"/>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57"/>
              <p:cNvSpPr>
                <a:spLocks noChangeShapeType="1"/>
              </p:cNvSpPr>
              <p:nvPr/>
            </p:nvSpPr>
            <p:spPr bwMode="auto">
              <a:xfrm>
                <a:off x="10488488" y="4297697"/>
                <a:ext cx="388994" cy="62242"/>
              </a:xfrm>
              <a:prstGeom prst="line">
                <a:avLst/>
              </a:prstGeom>
              <a:noFill/>
              <a:ln w="952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5" name="AutoShape 58"/>
            <p:cNvSpPr>
              <a:spLocks noChangeArrowheads="1"/>
            </p:cNvSpPr>
            <p:nvPr/>
          </p:nvSpPr>
          <p:spPr bwMode="auto">
            <a:xfrm rot="746037">
              <a:off x="10716238" y="4212727"/>
              <a:ext cx="142918" cy="124483"/>
            </a:xfrm>
            <a:prstGeom prst="rightArrow">
              <a:avLst>
                <a:gd name="adj1" fmla="val 50000"/>
                <a:gd name="adj2" fmla="val 26391"/>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chemeClr val="bg1"/>
                </a:solidFill>
                <a:latin typeface="微软雅黑" panose="020B0503020204020204" pitchFamily="34" charset="-122"/>
                <a:ea typeface="微软雅黑" panose="020B0503020204020204" pitchFamily="34" charset="-122"/>
              </a:endParaRPr>
            </a:p>
          </p:txBody>
        </p:sp>
        <p:sp>
          <p:nvSpPr>
            <p:cNvPr id="14" name="Text Box 55"/>
            <p:cNvSpPr txBox="1">
              <a:spLocks noChangeArrowheads="1"/>
            </p:cNvSpPr>
            <p:nvPr/>
          </p:nvSpPr>
          <p:spPr bwMode="auto">
            <a:xfrm rot="626605">
              <a:off x="10423480" y="4105842"/>
              <a:ext cx="380232" cy="27699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lang="en-US" altLang="zh-CN" sz="1200" b="1" dirty="0">
                  <a:solidFill>
                    <a:schemeClr val="bg1"/>
                  </a:solidFill>
                  <a:latin typeface="微软雅黑" panose="020B0503020204020204" pitchFamily="34" charset="-122"/>
                  <a:ea typeface="微软雅黑" panose="020B0503020204020204" pitchFamily="34" charset="-122"/>
                </a:rPr>
                <a:t>P4</a:t>
              </a:r>
            </a:p>
          </p:txBody>
        </p:sp>
      </p:grpSp>
    </p:spTree>
    <p:extLst>
      <p:ext uri="{BB962C8B-B14F-4D97-AF65-F5344CB8AC3E}">
        <p14:creationId xmlns:p14="http://schemas.microsoft.com/office/powerpoint/2010/main" val="27281850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wipe(left)">
                                      <p:cBhvr>
                                        <p:cTn id="7" dur="1000"/>
                                        <p:tgtEl>
                                          <p:spTgt spid="181"/>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wipe(up)">
                                      <p:cBhvr>
                                        <p:cTn id="11" dur="1000"/>
                                        <p:tgtEl>
                                          <p:spTgt spid="64"/>
                                        </p:tgtEl>
                                      </p:cBhvr>
                                    </p:animEffect>
                                  </p:childTnLst>
                                </p:cTn>
                              </p:par>
                            </p:childTnLst>
                          </p:cTn>
                        </p:par>
                        <p:par>
                          <p:cTn id="12" fill="hold">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wipe(up)">
                                      <p:cBhvr>
                                        <p:cTn id="15" dur="1000"/>
                                        <p:tgtEl>
                                          <p:spTgt spid="65"/>
                                        </p:tgtEl>
                                      </p:cBhvr>
                                    </p:animEffect>
                                  </p:childTnLst>
                                </p:cTn>
                              </p:par>
                            </p:childTnLst>
                          </p:cTn>
                        </p:par>
                        <p:par>
                          <p:cTn id="16" fill="hold">
                            <p:stCondLst>
                              <p:cond delay="3000"/>
                            </p:stCondLst>
                            <p:childTnLst>
                              <p:par>
                                <p:cTn id="17" presetID="22" presetClass="entr" presetSubtype="1" fill="hold" grpId="0" nodeType="after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wipe(up)">
                                      <p:cBhvr>
                                        <p:cTn id="19" dur="1000"/>
                                        <p:tgtEl>
                                          <p:spTgt spid="66"/>
                                        </p:tgtEl>
                                      </p:cBhvr>
                                    </p:animEffect>
                                  </p:childTnLst>
                                </p:cTn>
                              </p:par>
                            </p:childTnLst>
                          </p:cTn>
                        </p:par>
                        <p:par>
                          <p:cTn id="20" fill="hold">
                            <p:stCondLst>
                              <p:cond delay="4000"/>
                            </p:stCondLst>
                            <p:childTnLst>
                              <p:par>
                                <p:cTn id="21" presetID="22" presetClass="entr" presetSubtype="1" fill="hold" grpId="0" nodeType="after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wipe(up)">
                                      <p:cBhvr>
                                        <p:cTn id="23" dur="1000"/>
                                        <p:tgtEl>
                                          <p:spTgt spid="6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wipe(left)">
                                      <p:cBhvr>
                                        <p:cTn id="28" dur="1000"/>
                                        <p:tgtEl>
                                          <p:spTgt spid="73"/>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82"/>
                                        </p:tgtEl>
                                        <p:attrNameLst>
                                          <p:attrName>style.visibility</p:attrName>
                                        </p:attrNameLst>
                                      </p:cBhvr>
                                      <p:to>
                                        <p:strVal val="visible"/>
                                      </p:to>
                                    </p:set>
                                    <p:animEffect transition="in" filter="wipe(up)">
                                      <p:cBhvr>
                                        <p:cTn id="32" dur="2000"/>
                                        <p:tgtEl>
                                          <p:spTgt spid="8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8"/>
                                        </p:tgtEl>
                                        <p:attrNameLst>
                                          <p:attrName>style.visibility</p:attrName>
                                        </p:attrNameLst>
                                      </p:cBhvr>
                                      <p:to>
                                        <p:strVal val="visible"/>
                                      </p:to>
                                    </p:set>
                                    <p:animEffect transition="in" filter="wipe(left)">
                                      <p:cBhvr>
                                        <p:cTn id="37" dur="1000"/>
                                        <p:tgtEl>
                                          <p:spTgt spid="98"/>
                                        </p:tgtEl>
                                      </p:cBhvr>
                                    </p:animEffect>
                                  </p:childTnLst>
                                </p:cTn>
                              </p:par>
                            </p:childTnLst>
                          </p:cTn>
                        </p:par>
                        <p:par>
                          <p:cTn id="38" fill="hold">
                            <p:stCondLst>
                              <p:cond delay="1000"/>
                            </p:stCondLst>
                            <p:childTnLst>
                              <p:par>
                                <p:cTn id="39" presetID="22" presetClass="entr" presetSubtype="1" fill="hold" grpId="0" nodeType="afterEffect">
                                  <p:stCondLst>
                                    <p:cond delay="0"/>
                                  </p:stCondLst>
                                  <p:childTnLst>
                                    <p:set>
                                      <p:cBhvr>
                                        <p:cTn id="40" dur="1" fill="hold">
                                          <p:stCondLst>
                                            <p:cond delay="0"/>
                                          </p:stCondLst>
                                        </p:cTn>
                                        <p:tgtEl>
                                          <p:spTgt spid="95"/>
                                        </p:tgtEl>
                                        <p:attrNameLst>
                                          <p:attrName>style.visibility</p:attrName>
                                        </p:attrNameLst>
                                      </p:cBhvr>
                                      <p:to>
                                        <p:strVal val="visible"/>
                                      </p:to>
                                    </p:set>
                                    <p:animEffect transition="in" filter="wipe(up)">
                                      <p:cBhvr>
                                        <p:cTn id="41" dur="1000"/>
                                        <p:tgtEl>
                                          <p:spTgt spid="95"/>
                                        </p:tgtEl>
                                      </p:cBhvr>
                                    </p:animEffect>
                                  </p:childTnLst>
                                </p:cTn>
                              </p:par>
                            </p:childTnLst>
                          </p:cTn>
                        </p:par>
                        <p:par>
                          <p:cTn id="42" fill="hold">
                            <p:stCondLst>
                              <p:cond delay="2000"/>
                            </p:stCondLst>
                            <p:childTnLst>
                              <p:par>
                                <p:cTn id="43" presetID="22" presetClass="entr" presetSubtype="1" fill="hold" grpId="0" nodeType="after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wipe(up)">
                                      <p:cBhvr>
                                        <p:cTn id="45" dur="1000"/>
                                        <p:tgtEl>
                                          <p:spTgt spid="96"/>
                                        </p:tgtEl>
                                      </p:cBhvr>
                                    </p:animEffect>
                                  </p:childTnLst>
                                </p:cTn>
                              </p:par>
                            </p:childTnLst>
                          </p:cTn>
                        </p:par>
                        <p:par>
                          <p:cTn id="46" fill="hold">
                            <p:stCondLst>
                              <p:cond delay="3000"/>
                            </p:stCondLst>
                            <p:childTnLst>
                              <p:par>
                                <p:cTn id="47" presetID="22" presetClass="entr" presetSubtype="1" fill="hold" grpId="0" nodeType="afterEffect">
                                  <p:stCondLst>
                                    <p:cond delay="0"/>
                                  </p:stCondLst>
                                  <p:childTnLst>
                                    <p:set>
                                      <p:cBhvr>
                                        <p:cTn id="48" dur="1" fill="hold">
                                          <p:stCondLst>
                                            <p:cond delay="0"/>
                                          </p:stCondLst>
                                        </p:cTn>
                                        <p:tgtEl>
                                          <p:spTgt spid="97"/>
                                        </p:tgtEl>
                                        <p:attrNameLst>
                                          <p:attrName>style.visibility</p:attrName>
                                        </p:attrNameLst>
                                      </p:cBhvr>
                                      <p:to>
                                        <p:strVal val="visible"/>
                                      </p:to>
                                    </p:set>
                                    <p:animEffect transition="in" filter="wipe(up)">
                                      <p:cBhvr>
                                        <p:cTn id="49" dur="1000"/>
                                        <p:tgtEl>
                                          <p:spTgt spid="9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53"/>
                                        </p:tgtEl>
                                        <p:attrNameLst>
                                          <p:attrName>style.visibility</p:attrName>
                                        </p:attrNameLst>
                                      </p:cBhvr>
                                      <p:to>
                                        <p:strVal val="visible"/>
                                      </p:to>
                                    </p:set>
                                    <p:animEffect transition="in" filter="wipe(up)">
                                      <p:cBhvr>
                                        <p:cTn id="54" dur="2000"/>
                                        <p:tgtEl>
                                          <p:spTgt spid="5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up)">
                                      <p:cBhvr>
                                        <p:cTn id="59" dur="2000"/>
                                        <p:tgtEl>
                                          <p:spTgt spid="4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wipe(up)">
                                      <p:cBhvr>
                                        <p:cTn id="64" dur="2000"/>
                                        <p:tgtEl>
                                          <p:spTgt spid="47"/>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89"/>
                                        </p:tgtEl>
                                        <p:attrNameLst>
                                          <p:attrName>style.visibility</p:attrName>
                                        </p:attrNameLst>
                                      </p:cBhvr>
                                      <p:to>
                                        <p:strVal val="visible"/>
                                      </p:to>
                                    </p:set>
                                    <p:animEffect transition="in" filter="wipe(up)">
                                      <p:cBhvr>
                                        <p:cTn id="69" dur="500"/>
                                        <p:tgtEl>
                                          <p:spTgt spid="8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140"/>
                                        </p:tgtEl>
                                        <p:attrNameLst>
                                          <p:attrName>style.visibility</p:attrName>
                                        </p:attrNameLst>
                                      </p:cBhvr>
                                      <p:to>
                                        <p:strVal val="visible"/>
                                      </p:to>
                                    </p:set>
                                    <p:animEffect transition="in" filter="wipe(up)">
                                      <p:cBhvr>
                                        <p:cTn id="74" dur="500"/>
                                        <p:tgtEl>
                                          <p:spTgt spid="140"/>
                                        </p:tgtEl>
                                      </p:cBhvr>
                                    </p:animEffect>
                                  </p:childTnLst>
                                </p:cTn>
                              </p:par>
                              <p:par>
                                <p:cTn id="75" presetID="22" presetClass="entr" presetSubtype="1" fill="hold" nodeType="withEffect">
                                  <p:stCondLst>
                                    <p:cond delay="0"/>
                                  </p:stCondLst>
                                  <p:childTnLst>
                                    <p:set>
                                      <p:cBhvr>
                                        <p:cTn id="76" dur="1" fill="hold">
                                          <p:stCondLst>
                                            <p:cond delay="0"/>
                                          </p:stCondLst>
                                        </p:cTn>
                                        <p:tgtEl>
                                          <p:spTgt spid="194"/>
                                        </p:tgtEl>
                                        <p:attrNameLst>
                                          <p:attrName>style.visibility</p:attrName>
                                        </p:attrNameLst>
                                      </p:cBhvr>
                                      <p:to>
                                        <p:strVal val="visible"/>
                                      </p:to>
                                    </p:set>
                                    <p:animEffect transition="in" filter="wipe(up)">
                                      <p:cBhvr>
                                        <p:cTn id="77" dur="500"/>
                                        <p:tgtEl>
                                          <p:spTgt spid="19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154"/>
                                        </p:tgtEl>
                                        <p:attrNameLst>
                                          <p:attrName>style.visibility</p:attrName>
                                        </p:attrNameLst>
                                      </p:cBhvr>
                                      <p:to>
                                        <p:strVal val="visible"/>
                                      </p:to>
                                    </p:set>
                                    <p:animEffect transition="in" filter="wipe(up)">
                                      <p:cBhvr>
                                        <p:cTn id="82" dur="500"/>
                                        <p:tgtEl>
                                          <p:spTgt spid="154"/>
                                        </p:tgtEl>
                                      </p:cBhvr>
                                    </p:animEffect>
                                  </p:childTnLst>
                                </p:cTn>
                              </p:par>
                              <p:par>
                                <p:cTn id="83" presetID="22" presetClass="entr" presetSubtype="1" fill="hold" nodeType="withEffect">
                                  <p:stCondLst>
                                    <p:cond delay="0"/>
                                  </p:stCondLst>
                                  <p:childTnLst>
                                    <p:set>
                                      <p:cBhvr>
                                        <p:cTn id="84" dur="1" fill="hold">
                                          <p:stCondLst>
                                            <p:cond delay="0"/>
                                          </p:stCondLst>
                                        </p:cTn>
                                        <p:tgtEl>
                                          <p:spTgt spid="196"/>
                                        </p:tgtEl>
                                        <p:attrNameLst>
                                          <p:attrName>style.visibility</p:attrName>
                                        </p:attrNameLst>
                                      </p:cBhvr>
                                      <p:to>
                                        <p:strVal val="visible"/>
                                      </p:to>
                                    </p:set>
                                    <p:animEffect transition="in" filter="wipe(up)">
                                      <p:cBhvr>
                                        <p:cTn id="85" dur="500"/>
                                        <p:tgtEl>
                                          <p:spTgt spid="196"/>
                                        </p:tgtEl>
                                      </p:cBhvr>
                                    </p:animEffect>
                                  </p:childTnLst>
                                </p:cTn>
                              </p:par>
                              <p:par>
                                <p:cTn id="86" presetID="22" presetClass="entr" presetSubtype="1" fill="hold" nodeType="withEffect">
                                  <p:stCondLst>
                                    <p:cond delay="0"/>
                                  </p:stCondLst>
                                  <p:childTnLst>
                                    <p:set>
                                      <p:cBhvr>
                                        <p:cTn id="87" dur="1" fill="hold">
                                          <p:stCondLst>
                                            <p:cond delay="0"/>
                                          </p:stCondLst>
                                        </p:cTn>
                                        <p:tgtEl>
                                          <p:spTgt spid="153"/>
                                        </p:tgtEl>
                                        <p:attrNameLst>
                                          <p:attrName>style.visibility</p:attrName>
                                        </p:attrNameLst>
                                      </p:cBhvr>
                                      <p:to>
                                        <p:strVal val="visible"/>
                                      </p:to>
                                    </p:set>
                                    <p:animEffect transition="in" filter="wipe(up)">
                                      <p:cBhvr>
                                        <p:cTn id="88" dur="500"/>
                                        <p:tgtEl>
                                          <p:spTgt spid="15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nodeType="clickEffect">
                                  <p:stCondLst>
                                    <p:cond delay="0"/>
                                  </p:stCondLst>
                                  <p:childTnLst>
                                    <p:set>
                                      <p:cBhvr>
                                        <p:cTn id="92" dur="1" fill="hold">
                                          <p:stCondLst>
                                            <p:cond delay="0"/>
                                          </p:stCondLst>
                                        </p:cTn>
                                        <p:tgtEl>
                                          <p:spTgt spid="201"/>
                                        </p:tgtEl>
                                        <p:attrNameLst>
                                          <p:attrName>style.visibility</p:attrName>
                                        </p:attrNameLst>
                                      </p:cBhvr>
                                      <p:to>
                                        <p:strVal val="visible"/>
                                      </p:to>
                                    </p:set>
                                    <p:animEffect transition="in" filter="wipe(up)">
                                      <p:cBhvr>
                                        <p:cTn id="93" dur="500"/>
                                        <p:tgtEl>
                                          <p:spTgt spid="201"/>
                                        </p:tgtEl>
                                      </p:cBhvr>
                                    </p:animEffect>
                                  </p:childTnLst>
                                </p:cTn>
                              </p:par>
                              <p:par>
                                <p:cTn id="94" presetID="22" presetClass="entr" presetSubtype="1" fill="hold" nodeType="withEffect">
                                  <p:stCondLst>
                                    <p:cond delay="0"/>
                                  </p:stCondLst>
                                  <p:childTnLst>
                                    <p:set>
                                      <p:cBhvr>
                                        <p:cTn id="95" dur="1" fill="hold">
                                          <p:stCondLst>
                                            <p:cond delay="0"/>
                                          </p:stCondLst>
                                        </p:cTn>
                                        <p:tgtEl>
                                          <p:spTgt spid="202"/>
                                        </p:tgtEl>
                                        <p:attrNameLst>
                                          <p:attrName>style.visibility</p:attrName>
                                        </p:attrNameLst>
                                      </p:cBhvr>
                                      <p:to>
                                        <p:strVal val="visible"/>
                                      </p:to>
                                    </p:set>
                                    <p:animEffect transition="in" filter="wipe(up)">
                                      <p:cBhvr>
                                        <p:cTn id="96" dur="500"/>
                                        <p:tgtEl>
                                          <p:spTgt spid="202"/>
                                        </p:tgtEl>
                                      </p:cBhvr>
                                    </p:animEffect>
                                  </p:childTnLst>
                                </p:cTn>
                              </p:par>
                              <p:par>
                                <p:cTn id="97" presetID="22" presetClass="entr" presetSubtype="1" fill="hold" nodeType="withEffect">
                                  <p:stCondLst>
                                    <p:cond delay="0"/>
                                  </p:stCondLst>
                                  <p:childTnLst>
                                    <p:set>
                                      <p:cBhvr>
                                        <p:cTn id="98" dur="1" fill="hold">
                                          <p:stCondLst>
                                            <p:cond delay="0"/>
                                          </p:stCondLst>
                                        </p:cTn>
                                        <p:tgtEl>
                                          <p:spTgt spid="13"/>
                                        </p:tgtEl>
                                        <p:attrNameLst>
                                          <p:attrName>style.visibility</p:attrName>
                                        </p:attrNameLst>
                                      </p:cBhvr>
                                      <p:to>
                                        <p:strVal val="visible"/>
                                      </p:to>
                                    </p:set>
                                    <p:animEffect transition="in" filter="wipe(up)">
                                      <p:cBhvr>
                                        <p:cTn id="99" dur="500"/>
                                        <p:tgtEl>
                                          <p:spTgt spid="13"/>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205"/>
                                        </p:tgtEl>
                                        <p:attrNameLst>
                                          <p:attrName>style.visibility</p:attrName>
                                        </p:attrNameLst>
                                      </p:cBhvr>
                                      <p:to>
                                        <p:strVal val="visible"/>
                                      </p:to>
                                    </p:set>
                                    <p:animEffect transition="in" filter="wipe(up)">
                                      <p:cBhvr>
                                        <p:cTn id="104" dur="500"/>
                                        <p:tgtEl>
                                          <p:spTgt spid="205"/>
                                        </p:tgtEl>
                                      </p:cBhvr>
                                    </p:animEffect>
                                  </p:childTnLst>
                                </p:cTn>
                              </p:par>
                              <p:par>
                                <p:cTn id="105" presetID="22" presetClass="entr" presetSubtype="1" fill="hold" nodeType="withEffect">
                                  <p:stCondLst>
                                    <p:cond delay="0"/>
                                  </p:stCondLst>
                                  <p:childTnLst>
                                    <p:set>
                                      <p:cBhvr>
                                        <p:cTn id="106" dur="1" fill="hold">
                                          <p:stCondLst>
                                            <p:cond delay="0"/>
                                          </p:stCondLst>
                                        </p:cTn>
                                        <p:tgtEl>
                                          <p:spTgt spid="206"/>
                                        </p:tgtEl>
                                        <p:attrNameLst>
                                          <p:attrName>style.visibility</p:attrName>
                                        </p:attrNameLst>
                                      </p:cBhvr>
                                      <p:to>
                                        <p:strVal val="visible"/>
                                      </p:to>
                                    </p:set>
                                    <p:animEffect transition="in" filter="wipe(up)">
                                      <p:cBhvr>
                                        <p:cTn id="107" dur="500"/>
                                        <p:tgtEl>
                                          <p:spTgt spid="206"/>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nodeType="clickEffect">
                                  <p:stCondLst>
                                    <p:cond delay="0"/>
                                  </p:stCondLst>
                                  <p:childTnLst>
                                    <p:set>
                                      <p:cBhvr>
                                        <p:cTn id="111" dur="1" fill="hold">
                                          <p:stCondLst>
                                            <p:cond delay="0"/>
                                          </p:stCondLst>
                                        </p:cTn>
                                        <p:tgtEl>
                                          <p:spTgt spid="170"/>
                                        </p:tgtEl>
                                        <p:attrNameLst>
                                          <p:attrName>style.visibility</p:attrName>
                                        </p:attrNameLst>
                                      </p:cBhvr>
                                      <p:to>
                                        <p:strVal val="visible"/>
                                      </p:to>
                                    </p:set>
                                    <p:animEffect transition="in" filter="wipe(up)">
                                      <p:cBhvr>
                                        <p:cTn id="112"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95" grpId="0" animBg="1"/>
      <p:bldP spid="96" grpId="0" animBg="1"/>
      <p:bldP spid="9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1.3.2 </a:t>
            </a:r>
            <a:r>
              <a:rPr lang="zh-CN" altLang="en-US" dirty="0" smtClean="0"/>
              <a:t>互联网</a:t>
            </a:r>
            <a:r>
              <a:rPr lang="zh-CN" altLang="en-US" dirty="0"/>
              <a:t>的核心部分</a:t>
            </a:r>
          </a:p>
        </p:txBody>
      </p:sp>
      <p:sp>
        <p:nvSpPr>
          <p:cNvPr id="5" name="内容占位符 1"/>
          <p:cNvSpPr>
            <a:spLocks noGrp="1"/>
          </p:cNvSpPr>
          <p:nvPr>
            <p:ph idx="1"/>
          </p:nvPr>
        </p:nvSpPr>
        <p:spPr>
          <a:xfrm>
            <a:off x="442800" y="1267200"/>
            <a:ext cx="11304587" cy="4895850"/>
          </a:xfrm>
        </p:spPr>
        <p:txBody>
          <a:bodyPr/>
          <a:lstStyle/>
          <a:p>
            <a:r>
              <a:rPr lang="zh-CN" altLang="en-US" b="1" dirty="0"/>
              <a:t>三种交换方式的</a:t>
            </a:r>
            <a:r>
              <a:rPr lang="zh-CN" altLang="en-US" b="1" dirty="0" smtClean="0"/>
              <a:t>比较</a:t>
            </a:r>
            <a:endParaRPr lang="en-US" altLang="zh-CN" b="1" dirty="0" smtClean="0"/>
          </a:p>
          <a:p>
            <a:pPr lvl="1"/>
            <a:r>
              <a:rPr lang="zh-CN" altLang="en-US" b="1" dirty="0"/>
              <a:t>若要连续传送</a:t>
            </a:r>
            <a:r>
              <a:rPr lang="zh-CN" altLang="en-US" b="1" dirty="0">
                <a:solidFill>
                  <a:srgbClr val="0000CC"/>
                </a:solidFill>
              </a:rPr>
              <a:t>大量</a:t>
            </a:r>
            <a:r>
              <a:rPr lang="zh-CN" altLang="en-US" b="1" dirty="0"/>
              <a:t>的数据，且其传送时间</a:t>
            </a:r>
            <a:r>
              <a:rPr lang="zh-CN" altLang="en-US" b="1" dirty="0">
                <a:solidFill>
                  <a:srgbClr val="0000CC"/>
                </a:solidFill>
              </a:rPr>
              <a:t>远大于</a:t>
            </a:r>
            <a:r>
              <a:rPr lang="zh-CN" altLang="en-US" b="1" dirty="0"/>
              <a:t>连接建立时间，则</a:t>
            </a:r>
            <a:r>
              <a:rPr lang="zh-CN" altLang="en-US" b="1" dirty="0">
                <a:solidFill>
                  <a:srgbClr val="C00000"/>
                </a:solidFill>
              </a:rPr>
              <a:t>电路交换</a:t>
            </a:r>
            <a:r>
              <a:rPr lang="zh-CN" altLang="en-US" b="1" dirty="0"/>
              <a:t>的传输速率较快。</a:t>
            </a:r>
          </a:p>
          <a:p>
            <a:pPr lvl="1"/>
            <a:r>
              <a:rPr lang="zh-CN" altLang="en-US" b="1" dirty="0">
                <a:solidFill>
                  <a:srgbClr val="C00000"/>
                </a:solidFill>
              </a:rPr>
              <a:t>报文交换</a:t>
            </a:r>
            <a:r>
              <a:rPr lang="zh-CN" altLang="en-US" b="1" dirty="0"/>
              <a:t>和</a:t>
            </a:r>
            <a:r>
              <a:rPr lang="zh-CN" altLang="en-US" b="1" dirty="0">
                <a:solidFill>
                  <a:srgbClr val="C00000"/>
                </a:solidFill>
              </a:rPr>
              <a:t>分组交换</a:t>
            </a:r>
            <a:r>
              <a:rPr lang="zh-CN" altLang="en-US" b="1" dirty="0"/>
              <a:t>不需要预先分配传输带宽，在传送</a:t>
            </a:r>
            <a:r>
              <a:rPr lang="zh-CN" altLang="en-US" b="1" dirty="0">
                <a:solidFill>
                  <a:srgbClr val="0000CC"/>
                </a:solidFill>
              </a:rPr>
              <a:t>突发数据</a:t>
            </a:r>
            <a:r>
              <a:rPr lang="zh-CN" altLang="en-US" b="1" dirty="0"/>
              <a:t>时可提高整个网络的</a:t>
            </a:r>
            <a:r>
              <a:rPr lang="zh-CN" altLang="en-US" b="1" dirty="0">
                <a:solidFill>
                  <a:srgbClr val="CC00CC"/>
                </a:solidFill>
              </a:rPr>
              <a:t>信道</a:t>
            </a:r>
            <a:r>
              <a:rPr lang="zh-CN" altLang="en-US" b="1" dirty="0"/>
              <a:t>利用率。</a:t>
            </a:r>
          </a:p>
          <a:p>
            <a:pPr lvl="1"/>
            <a:r>
              <a:rPr lang="zh-CN" altLang="en-US" b="1" dirty="0"/>
              <a:t>由于一个分组的长度往往</a:t>
            </a:r>
            <a:r>
              <a:rPr lang="zh-CN" altLang="en-US" b="1" dirty="0">
                <a:solidFill>
                  <a:srgbClr val="0000CC"/>
                </a:solidFill>
              </a:rPr>
              <a:t>远小于</a:t>
            </a:r>
            <a:r>
              <a:rPr lang="zh-CN" altLang="en-US" b="1" dirty="0"/>
              <a:t>整个报文的长度，因此</a:t>
            </a:r>
            <a:r>
              <a:rPr lang="zh-CN" altLang="en-US" b="1" dirty="0">
                <a:solidFill>
                  <a:srgbClr val="C00000"/>
                </a:solidFill>
              </a:rPr>
              <a:t>分组交换</a:t>
            </a:r>
            <a:r>
              <a:rPr lang="zh-CN" altLang="en-US" b="1" dirty="0"/>
              <a:t>比报文交换的时延小，同时也具有更好的灵活性。</a:t>
            </a:r>
          </a:p>
          <a:p>
            <a:endParaRPr lang="zh-CN" altLang="en-US" b="1" dirty="0"/>
          </a:p>
          <a:p>
            <a:endParaRPr lang="zh-CN" altLang="en-US" b="1" dirty="0" smtClean="0"/>
          </a:p>
          <a:p>
            <a:endParaRPr lang="zh-CN" altLang="en-US" b="1" dirty="0"/>
          </a:p>
        </p:txBody>
      </p:sp>
    </p:spTree>
    <p:extLst>
      <p:ext uri="{BB962C8B-B14F-4D97-AF65-F5344CB8AC3E}">
        <p14:creationId xmlns:p14="http://schemas.microsoft.com/office/powerpoint/2010/main" val="985456130"/>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指引</a:t>
            </a:r>
          </a:p>
        </p:txBody>
      </p:sp>
      <p:sp>
        <p:nvSpPr>
          <p:cNvPr id="11267" name="Rectangle 3"/>
          <p:cNvSpPr>
            <a:spLocks noGrp="1" noChangeArrowheads="1"/>
          </p:cNvSpPr>
          <p:nvPr>
            <p:ph idx="1"/>
          </p:nvPr>
        </p:nvSpPr>
        <p:spPr/>
        <p:txBody>
          <a:bodyPr/>
          <a:lstStyle/>
          <a:p>
            <a:r>
              <a:rPr lang="zh-CN" altLang="en-US" dirty="0"/>
              <a:t>计算机网络在信息时代的作用</a:t>
            </a:r>
          </a:p>
          <a:p>
            <a:r>
              <a:rPr lang="zh-CN" altLang="en-US" dirty="0"/>
              <a:t>互联网概述</a:t>
            </a:r>
          </a:p>
          <a:p>
            <a:r>
              <a:rPr lang="zh-CN" altLang="en-US" dirty="0"/>
              <a:t>互联网的组成</a:t>
            </a:r>
            <a:endParaRPr lang="en-US" altLang="zh-CN" dirty="0"/>
          </a:p>
          <a:p>
            <a:r>
              <a:rPr lang="zh-CN" altLang="en-US" dirty="0">
                <a:solidFill>
                  <a:srgbClr val="C00000"/>
                </a:solidFill>
              </a:rPr>
              <a:t>计算机网络在我国的发展</a:t>
            </a:r>
          </a:p>
          <a:p>
            <a:r>
              <a:rPr lang="zh-CN" altLang="en-US" dirty="0"/>
              <a:t>计算机网络的类别</a:t>
            </a:r>
          </a:p>
          <a:p>
            <a:r>
              <a:rPr lang="zh-CN" altLang="en-US" dirty="0"/>
              <a:t>计算机网络的性能</a:t>
            </a:r>
            <a:endParaRPr lang="en-US" altLang="zh-CN" dirty="0"/>
          </a:p>
          <a:p>
            <a:r>
              <a:rPr lang="zh-CN" altLang="en-US" dirty="0"/>
              <a:t>计算机网络的体系结构</a:t>
            </a:r>
          </a:p>
          <a:p>
            <a:pPr eaLnBrk="1" hangingPunct="1">
              <a:buFont typeface="Wingdings" pitchFamily="2" charset="2"/>
              <a:buNone/>
            </a:pPr>
            <a:endParaRPr lang="zh-CN" altLang="en-US" sz="2800" dirty="0"/>
          </a:p>
          <a:p>
            <a:pPr eaLnBrk="1" hangingPunct="1">
              <a:buFont typeface="Wingdings" pitchFamily="2" charset="2"/>
              <a:buNone/>
            </a:pPr>
            <a:r>
              <a:rPr lang="zh-CN" altLang="en-US" sz="2800" dirty="0"/>
              <a:t>     </a:t>
            </a:r>
          </a:p>
        </p:txBody>
      </p:sp>
    </p:spTree>
    <p:extLst>
      <p:ext uri="{BB962C8B-B14F-4D97-AF65-F5344CB8AC3E}">
        <p14:creationId xmlns:p14="http://schemas.microsoft.com/office/powerpoint/2010/main" val="2757410383"/>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1.4 </a:t>
            </a:r>
            <a:r>
              <a:rPr lang="zh-CN" altLang="en-US" dirty="0" smtClean="0"/>
              <a:t>计算机网络</a:t>
            </a:r>
            <a:r>
              <a:rPr lang="zh-CN" altLang="en-US" dirty="0"/>
              <a:t>在我国的发展</a:t>
            </a:r>
          </a:p>
        </p:txBody>
      </p:sp>
      <p:sp>
        <p:nvSpPr>
          <p:cNvPr id="2" name="内容占位符 1"/>
          <p:cNvSpPr>
            <a:spLocks noGrp="1"/>
          </p:cNvSpPr>
          <p:nvPr>
            <p:ph idx="1"/>
          </p:nvPr>
        </p:nvSpPr>
        <p:spPr/>
        <p:txBody>
          <a:bodyPr/>
          <a:lstStyle/>
          <a:p>
            <a:r>
              <a:rPr lang="en-US" altLang="zh-CN" sz="2800" b="1" dirty="0"/>
              <a:t>1980 </a:t>
            </a:r>
            <a:r>
              <a:rPr lang="zh-CN" altLang="en-US" sz="2800" b="1" dirty="0"/>
              <a:t>年，铁道部开始进行计算机联网实验。</a:t>
            </a:r>
          </a:p>
          <a:p>
            <a:r>
              <a:rPr lang="en-US" altLang="zh-CN" sz="2800" b="1" dirty="0"/>
              <a:t>1989 </a:t>
            </a:r>
            <a:r>
              <a:rPr lang="zh-CN" altLang="en-US" sz="2800" b="1" dirty="0"/>
              <a:t>年 </a:t>
            </a:r>
            <a:r>
              <a:rPr lang="en-US" altLang="zh-CN" sz="2800" b="1" dirty="0"/>
              <a:t>11 </a:t>
            </a:r>
            <a:r>
              <a:rPr lang="zh-CN" altLang="en-US" sz="2800" b="1" dirty="0"/>
              <a:t>月，我国第一个公用分组交换网 </a:t>
            </a:r>
            <a:r>
              <a:rPr lang="en-US" altLang="zh-CN" sz="2800" b="1" dirty="0"/>
              <a:t>CNPAC </a:t>
            </a:r>
            <a:r>
              <a:rPr lang="zh-CN" altLang="en-US" sz="2800" b="1" dirty="0"/>
              <a:t>建成运行。 </a:t>
            </a:r>
          </a:p>
          <a:p>
            <a:r>
              <a:rPr lang="en-US" altLang="zh-CN" sz="2800" b="1" dirty="0"/>
              <a:t>1994 </a:t>
            </a:r>
            <a:r>
              <a:rPr lang="zh-CN" altLang="en-US" sz="2800" b="1" dirty="0"/>
              <a:t>年 </a:t>
            </a:r>
            <a:r>
              <a:rPr lang="en-US" altLang="zh-CN" sz="2800" b="1" dirty="0"/>
              <a:t>4 </a:t>
            </a:r>
            <a:r>
              <a:rPr lang="zh-CN" altLang="en-US" sz="2800" b="1" dirty="0"/>
              <a:t>月 </a:t>
            </a:r>
            <a:r>
              <a:rPr lang="en-US" altLang="zh-CN" sz="2800" b="1" dirty="0"/>
              <a:t>20 </a:t>
            </a:r>
            <a:r>
              <a:rPr lang="zh-CN" altLang="en-US" sz="2800" b="1" dirty="0"/>
              <a:t>日，我国用 </a:t>
            </a:r>
            <a:r>
              <a:rPr lang="en-US" altLang="zh-CN" sz="2800" b="1" dirty="0"/>
              <a:t>64 </a:t>
            </a:r>
            <a:r>
              <a:rPr lang="en-US" altLang="zh-CN" sz="2800" b="1" dirty="0" err="1"/>
              <a:t>kbit</a:t>
            </a:r>
            <a:r>
              <a:rPr lang="en-US" altLang="zh-CN" sz="2800" b="1" dirty="0"/>
              <a:t>/s </a:t>
            </a:r>
            <a:r>
              <a:rPr lang="zh-CN" altLang="en-US" sz="2800" b="1" dirty="0"/>
              <a:t>专线正式连入互联网，我国被国际上正式承认为接入互联网的国家。</a:t>
            </a:r>
          </a:p>
          <a:p>
            <a:r>
              <a:rPr lang="en-US" altLang="zh-CN" sz="2800" b="1" dirty="0"/>
              <a:t>1994 </a:t>
            </a:r>
            <a:r>
              <a:rPr lang="zh-CN" altLang="en-US" sz="2800" b="1" dirty="0"/>
              <a:t>年 </a:t>
            </a:r>
            <a:r>
              <a:rPr lang="en-US" altLang="zh-CN" sz="2800" b="1" dirty="0"/>
              <a:t>5 </a:t>
            </a:r>
            <a:r>
              <a:rPr lang="zh-CN" altLang="en-US" sz="2800" b="1" dirty="0"/>
              <a:t>月，中国科学院高能物理研究所设立了我国的第一个万维网服务器。</a:t>
            </a:r>
          </a:p>
          <a:p>
            <a:r>
              <a:rPr lang="en-US" altLang="zh-CN" sz="2800" b="1" dirty="0"/>
              <a:t>1994 </a:t>
            </a:r>
            <a:r>
              <a:rPr lang="zh-CN" altLang="en-US" sz="2800" b="1" dirty="0"/>
              <a:t>年 </a:t>
            </a:r>
            <a:r>
              <a:rPr lang="en-US" altLang="zh-CN" sz="2800" b="1" dirty="0"/>
              <a:t>9 </a:t>
            </a:r>
            <a:r>
              <a:rPr lang="zh-CN" altLang="en-US" sz="2800" b="1" dirty="0"/>
              <a:t>月，中国公用计算机互联网 </a:t>
            </a:r>
            <a:r>
              <a:rPr lang="en-US" altLang="zh-CN" sz="2800" b="1" dirty="0"/>
              <a:t>CHINANET </a:t>
            </a:r>
            <a:r>
              <a:rPr lang="zh-CN" altLang="en-US" sz="2800" b="1" dirty="0"/>
              <a:t>正式启动。</a:t>
            </a:r>
          </a:p>
          <a:p>
            <a:endParaRPr lang="zh-CN" altLang="en-US" b="1" dirty="0"/>
          </a:p>
          <a:p>
            <a:endParaRPr lang="zh-CN" altLang="en-US" b="1" dirty="0"/>
          </a:p>
        </p:txBody>
      </p:sp>
    </p:spTree>
    <p:extLst>
      <p:ext uri="{BB962C8B-B14F-4D97-AF65-F5344CB8AC3E}">
        <p14:creationId xmlns:p14="http://schemas.microsoft.com/office/powerpoint/2010/main" val="2067396604"/>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1.4 </a:t>
            </a:r>
            <a:r>
              <a:rPr lang="zh-CN" altLang="en-US" dirty="0" smtClean="0"/>
              <a:t>计算机网络</a:t>
            </a:r>
            <a:r>
              <a:rPr lang="zh-CN" altLang="en-US" dirty="0"/>
              <a:t>在我国的发展</a:t>
            </a:r>
          </a:p>
        </p:txBody>
      </p:sp>
      <p:sp>
        <p:nvSpPr>
          <p:cNvPr id="2" name="内容占位符 1"/>
          <p:cNvSpPr>
            <a:spLocks noGrp="1"/>
          </p:cNvSpPr>
          <p:nvPr>
            <p:ph idx="1"/>
          </p:nvPr>
        </p:nvSpPr>
        <p:spPr/>
        <p:txBody>
          <a:bodyPr/>
          <a:lstStyle/>
          <a:p>
            <a:r>
              <a:rPr lang="zh-CN" altLang="en-US" sz="2800" b="1" dirty="0"/>
              <a:t>到目前为止，我国陆续建造了基于互联网技术的并能够和互联网互连的多个全国范围的公用计算机网络，其中规模最大的就是下面这五个：</a:t>
            </a:r>
          </a:p>
          <a:p>
            <a:pPr lvl="1"/>
            <a:r>
              <a:rPr lang="zh-CN" altLang="en-US" sz="2400" b="1" dirty="0"/>
              <a:t>中国电信互联网 </a:t>
            </a:r>
            <a:r>
              <a:rPr lang="en-US" altLang="zh-CN" sz="2400" b="1" dirty="0"/>
              <a:t>CHINANET</a:t>
            </a:r>
            <a:r>
              <a:rPr lang="zh-CN" altLang="en-US" sz="2400" b="1" dirty="0"/>
              <a:t>（也就是原来的中国公用计算机互联网）</a:t>
            </a:r>
          </a:p>
          <a:p>
            <a:pPr lvl="1"/>
            <a:r>
              <a:rPr lang="zh-CN" altLang="en-US" sz="2400" b="1" dirty="0"/>
              <a:t>中国联通互联网 </a:t>
            </a:r>
            <a:r>
              <a:rPr lang="en-US" altLang="zh-CN" sz="2400" b="1" dirty="0"/>
              <a:t>UNINET</a:t>
            </a:r>
          </a:p>
          <a:p>
            <a:pPr lvl="1"/>
            <a:r>
              <a:rPr lang="zh-CN" altLang="en-US" sz="2400" b="1" dirty="0"/>
              <a:t>中国移动互联网 </a:t>
            </a:r>
            <a:r>
              <a:rPr lang="en-US" altLang="zh-CN" sz="2400" b="1" dirty="0"/>
              <a:t>CMNET</a:t>
            </a:r>
          </a:p>
          <a:p>
            <a:pPr lvl="1"/>
            <a:r>
              <a:rPr lang="zh-CN" altLang="en-US" sz="2400" b="1" dirty="0"/>
              <a:t>中国教育和科研计算机网 </a:t>
            </a:r>
            <a:r>
              <a:rPr lang="en-US" altLang="zh-CN" sz="2400" b="1" dirty="0"/>
              <a:t>CERNET</a:t>
            </a:r>
          </a:p>
          <a:p>
            <a:pPr lvl="1"/>
            <a:r>
              <a:rPr lang="zh-CN" altLang="en-US" sz="2400" b="1" dirty="0"/>
              <a:t>中国科学技术网 </a:t>
            </a:r>
            <a:r>
              <a:rPr lang="en-US" altLang="zh-CN" sz="2400" b="1" dirty="0"/>
              <a:t>CSTNET</a:t>
            </a:r>
          </a:p>
          <a:p>
            <a:endParaRPr lang="zh-CN" altLang="en-US" sz="2800" b="1" dirty="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1.4 </a:t>
            </a:r>
            <a:r>
              <a:rPr lang="zh-CN" altLang="en-US" dirty="0" smtClean="0"/>
              <a:t>计算机网络</a:t>
            </a:r>
            <a:r>
              <a:rPr lang="zh-CN" altLang="en-US" dirty="0"/>
              <a:t>在我国的发展</a:t>
            </a:r>
          </a:p>
        </p:txBody>
      </p:sp>
      <p:sp>
        <p:nvSpPr>
          <p:cNvPr id="2" name="内容占位符 1"/>
          <p:cNvSpPr>
            <a:spLocks noGrp="1"/>
          </p:cNvSpPr>
          <p:nvPr>
            <p:ph idx="1"/>
          </p:nvPr>
        </p:nvSpPr>
        <p:spPr/>
        <p:txBody>
          <a:bodyPr/>
          <a:lstStyle/>
          <a:p>
            <a:r>
              <a:rPr lang="zh-CN" altLang="en-US" sz="2800" b="1" dirty="0"/>
              <a:t> </a:t>
            </a:r>
            <a:r>
              <a:rPr lang="zh-CN" altLang="en-US" sz="2800" b="1" dirty="0" smtClean="0"/>
              <a:t>              中国</a:t>
            </a:r>
            <a:r>
              <a:rPr lang="zh-CN" altLang="en-US" sz="2800" b="1" dirty="0"/>
              <a:t>教育和科研计算机网 </a:t>
            </a:r>
            <a:r>
              <a:rPr lang="en-US" altLang="zh-CN" sz="2800" b="1" dirty="0"/>
              <a:t>CERNET (China Education and Research </a:t>
            </a:r>
            <a:r>
              <a:rPr lang="en-US" altLang="zh-CN" sz="2800" b="1" dirty="0" err="1"/>
              <a:t>NETwork</a:t>
            </a:r>
            <a:r>
              <a:rPr lang="en-US" altLang="zh-CN" sz="2800" b="1" dirty="0"/>
              <a:t>) </a:t>
            </a:r>
            <a:r>
              <a:rPr lang="zh-CN" altLang="en-US" sz="2800" b="1" dirty="0"/>
              <a:t>是我国第一个 </a:t>
            </a:r>
            <a:r>
              <a:rPr lang="en-US" altLang="zh-CN" sz="2800" b="1" dirty="0"/>
              <a:t>IPv4 </a:t>
            </a:r>
            <a:r>
              <a:rPr lang="zh-CN" altLang="en-US" sz="2800" b="1" dirty="0"/>
              <a:t>互联网主干网。</a:t>
            </a:r>
          </a:p>
          <a:p>
            <a:r>
              <a:rPr lang="en-US" altLang="zh-CN" sz="2800" b="1" dirty="0"/>
              <a:t>2004 </a:t>
            </a:r>
            <a:r>
              <a:rPr lang="zh-CN" altLang="en-US" sz="2800" b="1" dirty="0"/>
              <a:t>年 </a:t>
            </a:r>
            <a:r>
              <a:rPr lang="en-US" altLang="zh-CN" sz="2800" b="1" dirty="0"/>
              <a:t>2 </a:t>
            </a:r>
            <a:r>
              <a:rPr lang="zh-CN" altLang="en-US" sz="2800" b="1" dirty="0"/>
              <a:t>月，我国的第一个下一代互联网 </a:t>
            </a:r>
            <a:r>
              <a:rPr lang="en-US" altLang="zh-CN" sz="2800" b="1" dirty="0"/>
              <a:t>CNGI </a:t>
            </a:r>
            <a:r>
              <a:rPr lang="zh-CN" altLang="en-US" sz="2800" b="1" dirty="0"/>
              <a:t>的主干网 </a:t>
            </a:r>
            <a:r>
              <a:rPr lang="en-US" altLang="zh-CN" sz="2800" b="1" dirty="0"/>
              <a:t>CERNET2 </a:t>
            </a:r>
            <a:r>
              <a:rPr lang="zh-CN" altLang="en-US" sz="2800" b="1" dirty="0"/>
              <a:t>试验网正式开通，并提供服务。</a:t>
            </a:r>
          </a:p>
          <a:p>
            <a:pPr lvl="1"/>
            <a:r>
              <a:rPr lang="zh-CN" altLang="en-US" sz="2400" b="1" dirty="0"/>
              <a:t>试验网以 </a:t>
            </a:r>
            <a:r>
              <a:rPr lang="en-US" altLang="zh-CN" sz="2400" b="1" dirty="0"/>
              <a:t>2.5~10 </a:t>
            </a:r>
            <a:r>
              <a:rPr lang="en-US" altLang="zh-CN" sz="2400" b="1" dirty="0" err="1"/>
              <a:t>Gbit</a:t>
            </a:r>
            <a:r>
              <a:rPr lang="en-US" altLang="zh-CN" sz="2400" b="1" dirty="0"/>
              <a:t>/s </a:t>
            </a:r>
            <a:r>
              <a:rPr lang="zh-CN" altLang="en-US" sz="2400" b="1" dirty="0"/>
              <a:t>的速率连接北京、上海和广州三个 </a:t>
            </a:r>
            <a:r>
              <a:rPr lang="en-US" altLang="zh-CN" sz="2400" b="1" dirty="0"/>
              <a:t>CERNET </a:t>
            </a:r>
            <a:r>
              <a:rPr lang="zh-CN" altLang="en-US" sz="2400" b="1" dirty="0"/>
              <a:t>核心节点，并与国际下一代互联网相连接。</a:t>
            </a:r>
          </a:p>
          <a:p>
            <a:r>
              <a:rPr lang="zh-CN" altLang="en-US" sz="2800" b="1" dirty="0"/>
              <a:t>               中国互联网络信息中心 </a:t>
            </a:r>
            <a:r>
              <a:rPr lang="en-US" altLang="zh-CN" sz="2800" b="1" dirty="0"/>
              <a:t>CNNIC (</a:t>
            </a:r>
            <a:r>
              <a:rPr lang="en-US" altLang="zh-CN" sz="2800" b="1" dirty="0" err="1"/>
              <a:t>ChiNa</a:t>
            </a:r>
            <a:r>
              <a:rPr lang="en-US" altLang="zh-CN" sz="2800" b="1" dirty="0"/>
              <a:t> Network Information Center)  </a:t>
            </a:r>
            <a:r>
              <a:rPr lang="zh-CN" altLang="en-US" sz="2800" b="1" dirty="0"/>
              <a:t>每年两次公布我国互联网的发展情况</a:t>
            </a:r>
            <a:r>
              <a:rPr lang="zh-CN" altLang="en-US" sz="2800" b="1" dirty="0" smtClean="0"/>
              <a:t>。</a:t>
            </a:r>
            <a:endParaRPr lang="zh-CN" altLang="en-US" sz="2800" b="1" dirty="0"/>
          </a:p>
        </p:txBody>
      </p:sp>
      <p:pic>
        <p:nvPicPr>
          <p:cNvPr id="6" name="图片 5"/>
          <p:cNvPicPr>
            <a:picLocks noChangeAspect="1"/>
          </p:cNvPicPr>
          <p:nvPr/>
        </p:nvPicPr>
        <p:blipFill rotWithShape="1">
          <a:blip r:embed="rId3" cstate="print"/>
          <a:srcRect l="5940" t="20867" r="9032" b="12357"/>
          <a:stretch/>
        </p:blipFill>
        <p:spPr>
          <a:xfrm>
            <a:off x="1199456" y="5085184"/>
            <a:ext cx="1440160" cy="504056"/>
          </a:xfrm>
          <a:prstGeom prst="rect">
            <a:avLst/>
          </a:prstGeom>
          <a:effectLst>
            <a:glow rad="63500">
              <a:schemeClr val="accent1">
                <a:satMod val="175000"/>
                <a:alpha val="40000"/>
              </a:schemeClr>
            </a:glow>
          </a:effectLst>
        </p:spPr>
      </p:pic>
      <p:pic>
        <p:nvPicPr>
          <p:cNvPr id="7" name="图片 6"/>
          <p:cNvPicPr>
            <a:picLocks noChangeAspect="1"/>
          </p:cNvPicPr>
          <p:nvPr/>
        </p:nvPicPr>
        <p:blipFill rotWithShape="1">
          <a:blip r:embed="rId4"/>
          <a:srcRect l="6500" t="16439" r="68843" b="15068"/>
          <a:stretch/>
        </p:blipFill>
        <p:spPr>
          <a:xfrm>
            <a:off x="1164024" y="1413149"/>
            <a:ext cx="1499976" cy="520825"/>
          </a:xfrm>
          <a:prstGeom prst="rect">
            <a:avLst/>
          </a:prstGeom>
          <a:effectLst>
            <a:glow rad="63500">
              <a:schemeClr val="accent1">
                <a:satMod val="175000"/>
                <a:alpha val="40000"/>
              </a:schemeClr>
            </a:glow>
          </a:effectLst>
        </p:spPr>
      </p:pic>
    </p:spTree>
    <p:extLst>
      <p:ext uri="{BB962C8B-B14F-4D97-AF65-F5344CB8AC3E}">
        <p14:creationId xmlns:p14="http://schemas.microsoft.com/office/powerpoint/2010/main" val="2615046362"/>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1.4 </a:t>
            </a:r>
            <a:r>
              <a:rPr lang="zh-CN" altLang="en-US" dirty="0" smtClean="0"/>
              <a:t>计算机网络</a:t>
            </a:r>
            <a:r>
              <a:rPr lang="zh-CN" altLang="en-US" dirty="0"/>
              <a:t>在我国的发展</a:t>
            </a:r>
          </a:p>
        </p:txBody>
      </p:sp>
      <p:pic>
        <p:nvPicPr>
          <p:cNvPr id="706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592" y="2676103"/>
            <a:ext cx="6675437"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内容占位符 1"/>
          <p:cNvSpPr>
            <a:spLocks noGrp="1"/>
          </p:cNvSpPr>
          <p:nvPr>
            <p:ph idx="1"/>
          </p:nvPr>
        </p:nvSpPr>
        <p:spPr/>
        <p:txBody>
          <a:bodyPr/>
          <a:lstStyle/>
          <a:p>
            <a:r>
              <a:rPr lang="zh-CN" altLang="en-US" b="1" dirty="0"/>
              <a:t>截至</a:t>
            </a:r>
            <a:r>
              <a:rPr lang="en-US" altLang="zh-CN" b="1" dirty="0"/>
              <a:t>2021</a:t>
            </a:r>
            <a:r>
              <a:rPr lang="zh-CN" altLang="en-US" b="1" dirty="0"/>
              <a:t>年</a:t>
            </a:r>
            <a:r>
              <a:rPr lang="en-US" altLang="zh-CN" b="1" dirty="0"/>
              <a:t>12</a:t>
            </a:r>
            <a:r>
              <a:rPr lang="zh-CN" altLang="en-US" b="1" dirty="0"/>
              <a:t>月，我国网民规模达</a:t>
            </a:r>
            <a:r>
              <a:rPr lang="en-US" altLang="zh-CN" b="1" dirty="0"/>
              <a:t>10.32</a:t>
            </a:r>
            <a:r>
              <a:rPr lang="zh-CN" altLang="en-US" b="1" dirty="0"/>
              <a:t>亿，较</a:t>
            </a:r>
            <a:r>
              <a:rPr lang="en-US" altLang="zh-CN" b="1" dirty="0"/>
              <a:t>2020</a:t>
            </a:r>
            <a:r>
              <a:rPr lang="zh-CN" altLang="en-US" b="1" dirty="0"/>
              <a:t>年</a:t>
            </a:r>
            <a:r>
              <a:rPr lang="en-US" altLang="zh-CN" b="1" dirty="0"/>
              <a:t>12</a:t>
            </a:r>
            <a:r>
              <a:rPr lang="zh-CN" altLang="en-US" b="1" dirty="0"/>
              <a:t>月增长</a:t>
            </a:r>
            <a:r>
              <a:rPr lang="en-US" altLang="zh-CN" b="1" dirty="0"/>
              <a:t>4296</a:t>
            </a:r>
            <a:r>
              <a:rPr lang="zh-CN" altLang="en-US" b="1" dirty="0"/>
              <a:t>万，互联网普及率达</a:t>
            </a:r>
            <a:r>
              <a:rPr lang="en-US" altLang="zh-CN" b="1" dirty="0"/>
              <a:t>73.0</a:t>
            </a:r>
            <a:r>
              <a:rPr lang="en-US" altLang="zh-CN" b="1" dirty="0" smtClean="0"/>
              <a:t>%</a:t>
            </a:r>
            <a:r>
              <a:rPr lang="zh-CN" altLang="en-US" b="1" dirty="0" smtClean="0"/>
              <a:t>。</a:t>
            </a:r>
            <a:endParaRPr lang="zh-CN" altLang="en-US" b="1" dirty="0"/>
          </a:p>
        </p:txBody>
      </p:sp>
    </p:spTree>
    <p:extLst>
      <p:ext uri="{BB962C8B-B14F-4D97-AF65-F5344CB8AC3E}">
        <p14:creationId xmlns:p14="http://schemas.microsoft.com/office/powerpoint/2010/main" val="1953099220"/>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指引</a:t>
            </a:r>
          </a:p>
        </p:txBody>
      </p:sp>
      <p:sp>
        <p:nvSpPr>
          <p:cNvPr id="11267" name="Rectangle 3"/>
          <p:cNvSpPr>
            <a:spLocks noGrp="1" noChangeArrowheads="1"/>
          </p:cNvSpPr>
          <p:nvPr>
            <p:ph idx="1"/>
          </p:nvPr>
        </p:nvSpPr>
        <p:spPr/>
        <p:txBody>
          <a:bodyPr/>
          <a:lstStyle/>
          <a:p>
            <a:r>
              <a:rPr lang="zh-CN" altLang="en-US" dirty="0"/>
              <a:t>计算机网络在信息时代的作用</a:t>
            </a:r>
          </a:p>
          <a:p>
            <a:r>
              <a:rPr lang="zh-CN" altLang="en-US" dirty="0"/>
              <a:t>互联网概述</a:t>
            </a:r>
          </a:p>
          <a:p>
            <a:r>
              <a:rPr lang="zh-CN" altLang="en-US" dirty="0"/>
              <a:t>互联网的组成</a:t>
            </a:r>
            <a:endParaRPr lang="en-US" altLang="zh-CN" dirty="0"/>
          </a:p>
          <a:p>
            <a:r>
              <a:rPr lang="zh-CN" altLang="en-US" dirty="0"/>
              <a:t>计算机网络在我国的发展</a:t>
            </a:r>
          </a:p>
          <a:p>
            <a:r>
              <a:rPr lang="zh-CN" altLang="en-US" dirty="0">
                <a:solidFill>
                  <a:srgbClr val="C00000"/>
                </a:solidFill>
              </a:rPr>
              <a:t>计算机网络的类别</a:t>
            </a:r>
          </a:p>
          <a:p>
            <a:r>
              <a:rPr lang="zh-CN" altLang="en-US" dirty="0"/>
              <a:t>计算机网络的性能</a:t>
            </a:r>
            <a:endParaRPr lang="en-US" altLang="zh-CN" dirty="0"/>
          </a:p>
          <a:p>
            <a:r>
              <a:rPr lang="zh-CN" altLang="en-US" dirty="0"/>
              <a:t>计算机网络的体系结构</a:t>
            </a:r>
          </a:p>
          <a:p>
            <a:pPr eaLnBrk="1" hangingPunct="1">
              <a:buFont typeface="Wingdings" pitchFamily="2" charset="2"/>
              <a:buNone/>
            </a:pPr>
            <a:endParaRPr lang="zh-CN" altLang="en-US" sz="2800" dirty="0"/>
          </a:p>
          <a:p>
            <a:pPr eaLnBrk="1" hangingPunct="1">
              <a:buFont typeface="Wingdings" pitchFamily="2" charset="2"/>
              <a:buNone/>
            </a:pPr>
            <a:r>
              <a:rPr lang="zh-CN" altLang="en-US" sz="2800" dirty="0"/>
              <a:t>     </a:t>
            </a:r>
          </a:p>
        </p:txBody>
      </p:sp>
    </p:spTree>
    <p:extLst>
      <p:ext uri="{BB962C8B-B14F-4D97-AF65-F5344CB8AC3E}">
        <p14:creationId xmlns:p14="http://schemas.microsoft.com/office/powerpoint/2010/main" val="3652928779"/>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idx="1"/>
          </p:nvPr>
        </p:nvSpPr>
        <p:spPr/>
        <p:txBody>
          <a:bodyPr/>
          <a:lstStyle/>
          <a:p>
            <a:r>
              <a:rPr lang="zh-CN" altLang="en-US" b="1" dirty="0"/>
              <a:t>根据</a:t>
            </a:r>
            <a:r>
              <a:rPr lang="zh-CN" altLang="en-US" b="1" dirty="0" smtClean="0"/>
              <a:t>不同</a:t>
            </a:r>
            <a:r>
              <a:rPr lang="zh-CN" altLang="en-US" b="1" dirty="0"/>
              <a:t>的</a:t>
            </a:r>
            <a:r>
              <a:rPr lang="zh-CN" altLang="en-US" b="1" dirty="0" smtClean="0"/>
              <a:t>分类标准，计算机网络可以分为不同的类别：</a:t>
            </a:r>
            <a:endParaRPr lang="en-US" altLang="zh-CN" b="1" dirty="0"/>
          </a:p>
        </p:txBody>
      </p:sp>
      <p:graphicFrame>
        <p:nvGraphicFramePr>
          <p:cNvPr id="5" name="Diagram 4"/>
          <p:cNvGraphicFramePr/>
          <p:nvPr>
            <p:extLst>
              <p:ext uri="{D42A27DB-BD31-4B8C-83A1-F6EECF244321}">
                <p14:modId xmlns:p14="http://schemas.microsoft.com/office/powerpoint/2010/main" val="2078532395"/>
              </p:ext>
            </p:extLst>
          </p:nvPr>
        </p:nvGraphicFramePr>
        <p:xfrm>
          <a:off x="1847528" y="2348880"/>
          <a:ext cx="8856984" cy="33843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1.5 </a:t>
            </a:r>
            <a:r>
              <a:rPr lang="zh-CN" altLang="en-US" dirty="0" smtClean="0"/>
              <a:t>计算机网络</a:t>
            </a:r>
            <a:r>
              <a:rPr lang="zh-CN" altLang="en-US" dirty="0"/>
              <a:t>的类别</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1.5 </a:t>
            </a:r>
            <a:r>
              <a:rPr lang="zh-CN" altLang="en-US" dirty="0" smtClean="0"/>
              <a:t>计算机网络</a:t>
            </a:r>
            <a:r>
              <a:rPr lang="zh-CN" altLang="en-US" dirty="0"/>
              <a:t>的类别</a:t>
            </a:r>
          </a:p>
        </p:txBody>
      </p:sp>
      <p:sp>
        <p:nvSpPr>
          <p:cNvPr id="2" name="内容占位符 1"/>
          <p:cNvSpPr>
            <a:spLocks noGrp="1"/>
          </p:cNvSpPr>
          <p:nvPr>
            <p:ph idx="1"/>
          </p:nvPr>
        </p:nvSpPr>
        <p:spPr/>
        <p:txBody>
          <a:bodyPr/>
          <a:lstStyle/>
          <a:p>
            <a:r>
              <a:rPr lang="zh-CN" altLang="en-US" b="1" dirty="0"/>
              <a:t>按照网络的作用范围进行分类</a:t>
            </a:r>
          </a:p>
        </p:txBody>
      </p:sp>
      <p:graphicFrame>
        <p:nvGraphicFramePr>
          <p:cNvPr id="7" name="内容占位符 5"/>
          <p:cNvGraphicFramePr>
            <a:graphicFrameLocks/>
          </p:cNvGraphicFramePr>
          <p:nvPr>
            <p:extLst>
              <p:ext uri="{D42A27DB-BD31-4B8C-83A1-F6EECF244321}">
                <p14:modId xmlns:p14="http://schemas.microsoft.com/office/powerpoint/2010/main" val="1707865420"/>
              </p:ext>
            </p:extLst>
          </p:nvPr>
        </p:nvGraphicFramePr>
        <p:xfrm>
          <a:off x="1398172" y="2361416"/>
          <a:ext cx="8730276" cy="3697584"/>
        </p:xfrm>
        <a:graphic>
          <a:graphicData uri="http://schemas.openxmlformats.org/drawingml/2006/table">
            <a:tbl>
              <a:tblPr firstRow="1" bandRow="1" bandCol="1">
                <a:tableStyleId>{69012ECD-51FC-41F1-AA8D-1B2483CD663E}</a:tableStyleId>
              </a:tblPr>
              <a:tblGrid>
                <a:gridCol w="3855219">
                  <a:extLst>
                    <a:ext uri="{9D8B030D-6E8A-4147-A177-3AD203B41FA5}">
                      <a16:colId xmlns:a16="http://schemas.microsoft.com/office/drawing/2014/main" xmlns="" val="2752561288"/>
                    </a:ext>
                  </a:extLst>
                </a:gridCol>
                <a:gridCol w="4875057">
                  <a:extLst>
                    <a:ext uri="{9D8B030D-6E8A-4147-A177-3AD203B41FA5}">
                      <a16:colId xmlns:a16="http://schemas.microsoft.com/office/drawing/2014/main" xmlns="" val="1271823278"/>
                    </a:ext>
                  </a:extLst>
                </a:gridCol>
              </a:tblGrid>
              <a:tr h="435429">
                <a:tc>
                  <a:txBody>
                    <a:body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类别</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E5BD"/>
                    </a:solidFill>
                  </a:tcPr>
                </a:tc>
                <a:tc>
                  <a:txBody>
                    <a:body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作用范围或距离</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E5BD"/>
                    </a:solidFill>
                  </a:tcPr>
                </a:tc>
                <a:extLst>
                  <a:ext uri="{0D108BD9-81ED-4DB2-BD59-A6C34878D82A}">
                    <a16:rowId xmlns:a16="http://schemas.microsoft.com/office/drawing/2014/main" xmlns="" val="3833287312"/>
                  </a:ext>
                </a:extLst>
              </a:tr>
              <a:tr h="752105">
                <a:tc>
                  <a:txBody>
                    <a:bodyPr/>
                    <a:lstStyle/>
                    <a:p>
                      <a:pPr algn="l"/>
                      <a:r>
                        <a:rPr lang="zh-CN" altLang="en-US" sz="2000" b="1" dirty="0" smtClean="0">
                          <a:solidFill>
                            <a:srgbClr val="0000FF"/>
                          </a:solidFill>
                          <a:latin typeface="微软雅黑" panose="020B0503020204020204" pitchFamily="34" charset="-122"/>
                          <a:ea typeface="微软雅黑" panose="020B0503020204020204" pitchFamily="34" charset="-122"/>
                        </a:rPr>
                        <a:t>广域网 </a:t>
                      </a:r>
                      <a:r>
                        <a:rPr lang="en-US" altLang="zh-CN" sz="2000" b="1" dirty="0" smtClean="0">
                          <a:solidFill>
                            <a:srgbClr val="0000FF"/>
                          </a:solidFill>
                          <a:latin typeface="微软雅黑" panose="020B0503020204020204" pitchFamily="34" charset="-122"/>
                          <a:ea typeface="微软雅黑" panose="020B0503020204020204" pitchFamily="34" charset="-122"/>
                        </a:rPr>
                        <a:t>WAN </a:t>
                      </a:r>
                    </a:p>
                    <a:p>
                      <a:pPr algn="l"/>
                      <a:r>
                        <a:rPr lang="en-US" altLang="zh-CN" sz="2000" b="1" dirty="0" smtClean="0">
                          <a:solidFill>
                            <a:srgbClr val="1C1C1C"/>
                          </a:solidFill>
                          <a:latin typeface="微软雅黑" panose="020B0503020204020204" pitchFamily="34" charset="-122"/>
                          <a:ea typeface="微软雅黑" panose="020B0503020204020204" pitchFamily="34" charset="-122"/>
                        </a:rPr>
                        <a:t>(Wide Area Network)</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2000" b="1" dirty="0" smtClean="0">
                          <a:solidFill>
                            <a:srgbClr val="1C1C1C"/>
                          </a:solidFill>
                          <a:latin typeface="微软雅黑" panose="020B0503020204020204" pitchFamily="34" charset="-122"/>
                          <a:ea typeface="微软雅黑" panose="020B0503020204020204" pitchFamily="34" charset="-122"/>
                        </a:rPr>
                        <a:t>通常为几十到几千公里，是互联网的核心部分。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01952148"/>
                  </a:ext>
                </a:extLst>
              </a:tr>
              <a:tr h="752105">
                <a:tc>
                  <a:txBody>
                    <a:bodyPr/>
                    <a:lstStyle/>
                    <a:p>
                      <a:pPr algn="l"/>
                      <a:r>
                        <a:rPr lang="zh-CN" altLang="en-US" sz="2000" b="1" kern="1200" dirty="0" smtClean="0">
                          <a:solidFill>
                            <a:srgbClr val="0000FF"/>
                          </a:solidFill>
                          <a:latin typeface="微软雅黑" panose="020B0503020204020204" pitchFamily="34" charset="-122"/>
                          <a:ea typeface="微软雅黑" panose="020B0503020204020204" pitchFamily="34" charset="-122"/>
                          <a:cs typeface="+mn-cs"/>
                        </a:rPr>
                        <a:t>城域网 </a:t>
                      </a:r>
                      <a:r>
                        <a:rPr lang="en-US" altLang="zh-CN" sz="2000" b="1" kern="1200" dirty="0" smtClean="0">
                          <a:solidFill>
                            <a:srgbClr val="0000FF"/>
                          </a:solidFill>
                          <a:latin typeface="微软雅黑" panose="020B0503020204020204" pitchFamily="34" charset="-122"/>
                          <a:ea typeface="微软雅黑" panose="020B0503020204020204" pitchFamily="34" charset="-122"/>
                          <a:cs typeface="+mn-cs"/>
                        </a:rPr>
                        <a:t>MAN </a:t>
                      </a:r>
                    </a:p>
                    <a:p>
                      <a:pPr algn="l"/>
                      <a:r>
                        <a:rPr lang="en-US" altLang="zh-CN" sz="2000" b="1" dirty="0" smtClean="0">
                          <a:solidFill>
                            <a:srgbClr val="1C1C1C"/>
                          </a:solidFill>
                          <a:latin typeface="微软雅黑" panose="020B0503020204020204" pitchFamily="34" charset="-122"/>
                          <a:ea typeface="微软雅黑" panose="020B0503020204020204" pitchFamily="34" charset="-122"/>
                        </a:rPr>
                        <a:t>(Metropolitan Area Network)</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2000" b="1" dirty="0" smtClean="0">
                          <a:solidFill>
                            <a:srgbClr val="1C1C1C"/>
                          </a:solidFill>
                          <a:latin typeface="微软雅黑" panose="020B0503020204020204" pitchFamily="34" charset="-122"/>
                          <a:ea typeface="微软雅黑" panose="020B0503020204020204" pitchFamily="34" charset="-122"/>
                        </a:rPr>
                        <a:t>作用范围一般是一个城市，作用距离约为 </a:t>
                      </a:r>
                      <a:r>
                        <a:rPr lang="en-US" altLang="zh-CN" sz="2000" b="1" dirty="0" smtClean="0">
                          <a:solidFill>
                            <a:srgbClr val="1C1C1C"/>
                          </a:solidFill>
                          <a:latin typeface="微软雅黑" panose="020B0503020204020204" pitchFamily="34" charset="-122"/>
                          <a:ea typeface="微软雅黑" panose="020B0503020204020204" pitchFamily="34" charset="-122"/>
                        </a:rPr>
                        <a:t>5~50 </a:t>
                      </a:r>
                      <a:r>
                        <a:rPr lang="zh-CN" altLang="en-US" sz="2000" b="1" dirty="0" smtClean="0">
                          <a:solidFill>
                            <a:srgbClr val="1C1C1C"/>
                          </a:solidFill>
                          <a:latin typeface="微软雅黑" panose="020B0503020204020204" pitchFamily="34" charset="-122"/>
                          <a:ea typeface="微软雅黑" panose="020B0503020204020204" pitchFamily="34" charset="-122"/>
                        </a:rPr>
                        <a:t>公里。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436720"/>
                  </a:ext>
                </a:extLst>
              </a:tr>
              <a:tr h="752105">
                <a:tc>
                  <a:txBody>
                    <a:bodyPr/>
                    <a:lstStyle/>
                    <a:p>
                      <a:pPr marL="0" algn="l" defTabSz="914400" rtl="0" eaLnBrk="1" latinLnBrk="0" hangingPunct="1"/>
                      <a:r>
                        <a:rPr lang="zh-CN" altLang="en-US" sz="2000" b="1" kern="1200" dirty="0" smtClean="0">
                          <a:solidFill>
                            <a:srgbClr val="0000FF"/>
                          </a:solidFill>
                          <a:latin typeface="微软雅黑" panose="020B0503020204020204" pitchFamily="34" charset="-122"/>
                          <a:ea typeface="微软雅黑" panose="020B0503020204020204" pitchFamily="34" charset="-122"/>
                          <a:cs typeface="+mn-cs"/>
                        </a:rPr>
                        <a:t>局域网 </a:t>
                      </a:r>
                      <a:r>
                        <a:rPr lang="en-US" altLang="zh-CN" sz="2000" b="1" kern="1200" dirty="0" smtClean="0">
                          <a:solidFill>
                            <a:srgbClr val="0000FF"/>
                          </a:solidFill>
                          <a:latin typeface="微软雅黑" panose="020B0503020204020204" pitchFamily="34" charset="-122"/>
                          <a:ea typeface="微软雅黑" panose="020B0503020204020204" pitchFamily="34" charset="-122"/>
                          <a:cs typeface="+mn-cs"/>
                        </a:rPr>
                        <a:t>LAN </a:t>
                      </a:r>
                    </a:p>
                    <a:p>
                      <a:pPr algn="l"/>
                      <a:r>
                        <a:rPr lang="en-US" altLang="zh-CN" sz="2000" b="1" dirty="0" smtClean="0">
                          <a:solidFill>
                            <a:srgbClr val="1C1C1C"/>
                          </a:solidFill>
                          <a:latin typeface="微软雅黑" panose="020B0503020204020204" pitchFamily="34" charset="-122"/>
                          <a:ea typeface="微软雅黑" panose="020B0503020204020204" pitchFamily="34" charset="-122"/>
                        </a:rPr>
                        <a:t>(Local Area Network) </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2000" b="1" dirty="0" smtClean="0">
                          <a:solidFill>
                            <a:srgbClr val="1C1C1C"/>
                          </a:solidFill>
                          <a:latin typeface="微软雅黑" panose="020B0503020204020204" pitchFamily="34" charset="-122"/>
                          <a:ea typeface="微软雅黑" panose="020B0503020204020204" pitchFamily="34" charset="-122"/>
                        </a:rPr>
                        <a:t>局限在较小的范围（如 </a:t>
                      </a:r>
                      <a:r>
                        <a:rPr lang="en-US" altLang="zh-CN" sz="2000" b="1" dirty="0" smtClean="0">
                          <a:solidFill>
                            <a:srgbClr val="1C1C1C"/>
                          </a:solidFill>
                          <a:latin typeface="微软雅黑" panose="020B0503020204020204" pitchFamily="34" charset="-122"/>
                          <a:ea typeface="微软雅黑" panose="020B0503020204020204" pitchFamily="34" charset="-122"/>
                        </a:rPr>
                        <a:t>1 </a:t>
                      </a:r>
                      <a:r>
                        <a:rPr lang="zh-CN" altLang="en-US" sz="2000" b="1" dirty="0" smtClean="0">
                          <a:solidFill>
                            <a:srgbClr val="1C1C1C"/>
                          </a:solidFill>
                          <a:latin typeface="微软雅黑" panose="020B0503020204020204" pitchFamily="34" charset="-122"/>
                          <a:ea typeface="微软雅黑" panose="020B0503020204020204" pitchFamily="34" charset="-122"/>
                        </a:rPr>
                        <a:t>公里左右）。通常采用高速通信线路。</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12654821"/>
                  </a:ext>
                </a:extLst>
              </a:tr>
              <a:tr h="752105">
                <a:tc>
                  <a:txBody>
                    <a:bodyPr/>
                    <a:lstStyle/>
                    <a:p>
                      <a:pPr algn="l"/>
                      <a:r>
                        <a:rPr lang="zh-CN" altLang="en-US" sz="2000" b="1" kern="1200" dirty="0" smtClean="0">
                          <a:solidFill>
                            <a:srgbClr val="0000FF"/>
                          </a:solidFill>
                          <a:latin typeface="微软雅黑" panose="020B0503020204020204" pitchFamily="34" charset="-122"/>
                          <a:ea typeface="微软雅黑" panose="020B0503020204020204" pitchFamily="34" charset="-122"/>
                          <a:cs typeface="+mn-cs"/>
                        </a:rPr>
                        <a:t>个人区域网 </a:t>
                      </a:r>
                      <a:r>
                        <a:rPr lang="en-US" altLang="zh-CN" sz="2000" b="1" kern="1200" dirty="0" smtClean="0">
                          <a:solidFill>
                            <a:srgbClr val="0000FF"/>
                          </a:solidFill>
                          <a:latin typeface="微软雅黑" panose="020B0503020204020204" pitchFamily="34" charset="-122"/>
                          <a:ea typeface="微软雅黑" panose="020B0503020204020204" pitchFamily="34" charset="-122"/>
                          <a:cs typeface="+mn-cs"/>
                        </a:rPr>
                        <a:t>PAN </a:t>
                      </a:r>
                    </a:p>
                    <a:p>
                      <a:pPr algn="l"/>
                      <a:r>
                        <a:rPr lang="en-US" altLang="zh-CN" sz="2000" b="1" dirty="0" smtClean="0">
                          <a:solidFill>
                            <a:srgbClr val="1C1C1C"/>
                          </a:solidFill>
                          <a:latin typeface="微软雅黑" panose="020B0503020204020204" pitchFamily="34" charset="-122"/>
                          <a:ea typeface="微软雅黑" panose="020B0503020204020204" pitchFamily="34" charset="-122"/>
                        </a:rPr>
                        <a:t>(Personal Area Network) </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2000" b="1" dirty="0" smtClean="0">
                          <a:solidFill>
                            <a:srgbClr val="1C1C1C"/>
                          </a:solidFill>
                          <a:latin typeface="微软雅黑" panose="020B0503020204020204" pitchFamily="34" charset="-122"/>
                          <a:ea typeface="微软雅黑" panose="020B0503020204020204" pitchFamily="34" charset="-122"/>
                        </a:rPr>
                        <a:t>范围很小，大约在 </a:t>
                      </a:r>
                      <a:r>
                        <a:rPr lang="en-US" altLang="zh-CN" sz="2000" b="1" dirty="0" smtClean="0">
                          <a:solidFill>
                            <a:srgbClr val="1C1C1C"/>
                          </a:solidFill>
                          <a:latin typeface="微软雅黑" panose="020B0503020204020204" pitchFamily="34" charset="-122"/>
                          <a:ea typeface="微软雅黑" panose="020B0503020204020204" pitchFamily="34" charset="-122"/>
                        </a:rPr>
                        <a:t>10 </a:t>
                      </a:r>
                      <a:r>
                        <a:rPr lang="zh-CN" altLang="en-US" sz="2000" b="1" dirty="0" smtClean="0">
                          <a:solidFill>
                            <a:srgbClr val="1C1C1C"/>
                          </a:solidFill>
                          <a:latin typeface="微软雅黑" panose="020B0503020204020204" pitchFamily="34" charset="-122"/>
                          <a:ea typeface="微软雅黑" panose="020B0503020204020204" pitchFamily="34" charset="-122"/>
                        </a:rPr>
                        <a:t>米左右。有时也称为</a:t>
                      </a:r>
                      <a:r>
                        <a:rPr lang="zh-CN" altLang="en-US" sz="2000" b="1" dirty="0" smtClean="0">
                          <a:solidFill>
                            <a:srgbClr val="0000FF"/>
                          </a:solidFill>
                          <a:latin typeface="微软雅黑" panose="020B0503020204020204" pitchFamily="34" charset="-122"/>
                          <a:ea typeface="微软雅黑" panose="020B0503020204020204" pitchFamily="34" charset="-122"/>
                        </a:rPr>
                        <a:t>无线个人区域网</a:t>
                      </a:r>
                      <a:r>
                        <a:rPr lang="zh-CN" altLang="en-US" sz="2000" b="1" dirty="0" smtClean="0">
                          <a:latin typeface="微软雅黑" panose="020B0503020204020204" pitchFamily="34" charset="-122"/>
                          <a:ea typeface="微软雅黑" panose="020B0503020204020204" pitchFamily="34" charset="-122"/>
                        </a:rPr>
                        <a:t> </a:t>
                      </a:r>
                      <a:r>
                        <a:rPr lang="en-US" altLang="zh-CN" sz="2000" b="1" dirty="0" smtClean="0">
                          <a:solidFill>
                            <a:srgbClr val="1C1C1C"/>
                          </a:solidFill>
                          <a:latin typeface="微软雅黑" panose="020B0503020204020204" pitchFamily="34" charset="-122"/>
                          <a:ea typeface="微软雅黑" panose="020B0503020204020204" pitchFamily="34" charset="-122"/>
                        </a:rPr>
                        <a:t>WPAN (Wireless PAN)</a:t>
                      </a:r>
                      <a:r>
                        <a:rPr lang="zh-CN" altLang="en-US" sz="2000" b="1" dirty="0" smtClean="0">
                          <a:solidFill>
                            <a:srgbClr val="1C1C1C"/>
                          </a:solidFill>
                          <a:latin typeface="微软雅黑" panose="020B0503020204020204" pitchFamily="34" charset="-122"/>
                          <a:ea typeface="微软雅黑" panose="020B0503020204020204" pitchFamily="34" charset="-122"/>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39985109"/>
                  </a:ext>
                </a:extLst>
              </a:tr>
            </a:tbl>
          </a:graphicData>
        </a:graphic>
      </p:graphicFrame>
    </p:spTree>
    <p:extLst>
      <p:ext uri="{BB962C8B-B14F-4D97-AF65-F5344CB8AC3E}">
        <p14:creationId xmlns:p14="http://schemas.microsoft.com/office/powerpoint/2010/main" val="3164082887"/>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idx="1"/>
          </p:nvPr>
        </p:nvSpPr>
        <p:spPr/>
        <p:txBody>
          <a:bodyPr/>
          <a:lstStyle/>
          <a:p>
            <a:r>
              <a:rPr lang="zh-CN" altLang="en-US" b="1" dirty="0"/>
              <a:t>按照网络的使用者进行分类</a:t>
            </a:r>
          </a:p>
        </p:txBody>
      </p:sp>
      <p:sp>
        <p:nvSpPr>
          <p:cNvPr id="6" name="标题 1"/>
          <p:cNvSpPr txBox="1">
            <a:spLocks/>
          </p:cNvSpPr>
          <p:nvPr/>
        </p:nvSpPr>
        <p:spPr bwMode="auto">
          <a:xfrm>
            <a:off x="609600" y="274638"/>
            <a:ext cx="10972800" cy="81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bg1"/>
                </a:solidFill>
                <a:latin typeface="+mj-ea"/>
                <a:ea typeface="+mj-ea"/>
                <a:cs typeface="+mj-cs"/>
              </a:defRPr>
            </a:lvl1pPr>
            <a:lvl2pPr algn="l" rtl="0" eaLnBrk="0" fontAlgn="base" hangingPunct="0">
              <a:spcBef>
                <a:spcPct val="0"/>
              </a:spcBef>
              <a:spcAft>
                <a:spcPct val="0"/>
              </a:spcAft>
              <a:defRPr sz="4000">
                <a:solidFill>
                  <a:schemeClr val="bg1"/>
                </a:solidFill>
                <a:latin typeface="黑体" pitchFamily="2" charset="-122"/>
                <a:ea typeface="黑体" pitchFamily="2" charset="-122"/>
              </a:defRPr>
            </a:lvl2pPr>
            <a:lvl3pPr algn="l" rtl="0" eaLnBrk="0" fontAlgn="base" hangingPunct="0">
              <a:spcBef>
                <a:spcPct val="0"/>
              </a:spcBef>
              <a:spcAft>
                <a:spcPct val="0"/>
              </a:spcAft>
              <a:defRPr sz="4000">
                <a:solidFill>
                  <a:schemeClr val="bg1"/>
                </a:solidFill>
                <a:latin typeface="黑体" pitchFamily="2" charset="-122"/>
                <a:ea typeface="黑体" pitchFamily="2" charset="-122"/>
              </a:defRPr>
            </a:lvl3pPr>
            <a:lvl4pPr algn="l" rtl="0" eaLnBrk="0" fontAlgn="base" hangingPunct="0">
              <a:spcBef>
                <a:spcPct val="0"/>
              </a:spcBef>
              <a:spcAft>
                <a:spcPct val="0"/>
              </a:spcAft>
              <a:defRPr sz="4000">
                <a:solidFill>
                  <a:schemeClr val="bg1"/>
                </a:solidFill>
                <a:latin typeface="黑体" pitchFamily="2" charset="-122"/>
                <a:ea typeface="黑体" pitchFamily="2" charset="-122"/>
              </a:defRPr>
            </a:lvl4pPr>
            <a:lvl5pPr algn="l" rtl="0" eaLnBrk="0" fontAlgn="base" hangingPunct="0">
              <a:spcBef>
                <a:spcPct val="0"/>
              </a:spcBef>
              <a:spcAft>
                <a:spcPct val="0"/>
              </a:spcAft>
              <a:defRPr sz="4000">
                <a:solidFill>
                  <a:schemeClr val="bg1"/>
                </a:solidFill>
                <a:latin typeface="黑体" pitchFamily="2" charset="-122"/>
                <a:ea typeface="黑体" pitchFamily="2" charset="-122"/>
              </a:defRPr>
            </a:lvl5pPr>
            <a:lvl6pPr marL="457200" algn="l" rtl="0" eaLnBrk="1" fontAlgn="base" hangingPunct="1">
              <a:spcBef>
                <a:spcPct val="0"/>
              </a:spcBef>
              <a:spcAft>
                <a:spcPct val="0"/>
              </a:spcAft>
              <a:defRPr sz="2400">
                <a:solidFill>
                  <a:srgbClr val="1C1C1C"/>
                </a:solidFill>
                <a:latin typeface="黑体" pitchFamily="2" charset="-122"/>
                <a:ea typeface="黑体" pitchFamily="2" charset="-122"/>
              </a:defRPr>
            </a:lvl6pPr>
            <a:lvl7pPr marL="914400" algn="l" rtl="0" eaLnBrk="1" fontAlgn="base" hangingPunct="1">
              <a:spcBef>
                <a:spcPct val="0"/>
              </a:spcBef>
              <a:spcAft>
                <a:spcPct val="0"/>
              </a:spcAft>
              <a:defRPr sz="2400">
                <a:solidFill>
                  <a:srgbClr val="1C1C1C"/>
                </a:solidFill>
                <a:latin typeface="黑体" pitchFamily="2" charset="-122"/>
                <a:ea typeface="黑体" pitchFamily="2" charset="-122"/>
              </a:defRPr>
            </a:lvl7pPr>
            <a:lvl8pPr marL="1371600" algn="l" rtl="0" eaLnBrk="1" fontAlgn="base" hangingPunct="1">
              <a:spcBef>
                <a:spcPct val="0"/>
              </a:spcBef>
              <a:spcAft>
                <a:spcPct val="0"/>
              </a:spcAft>
              <a:defRPr sz="2400">
                <a:solidFill>
                  <a:srgbClr val="1C1C1C"/>
                </a:solidFill>
                <a:latin typeface="黑体" pitchFamily="2" charset="-122"/>
                <a:ea typeface="黑体" pitchFamily="2" charset="-122"/>
              </a:defRPr>
            </a:lvl8pPr>
            <a:lvl9pPr marL="1828800" algn="l" rtl="0" eaLnBrk="1" fontAlgn="base" hangingPunct="1">
              <a:spcBef>
                <a:spcPct val="0"/>
              </a:spcBef>
              <a:spcAft>
                <a:spcPct val="0"/>
              </a:spcAft>
              <a:defRPr sz="2400">
                <a:solidFill>
                  <a:srgbClr val="1C1C1C"/>
                </a:solidFill>
                <a:latin typeface="黑体" pitchFamily="2" charset="-122"/>
                <a:ea typeface="黑体" pitchFamily="2" charset="-122"/>
              </a:defRPr>
            </a:lvl9pPr>
          </a:lstStyle>
          <a:p>
            <a:r>
              <a:rPr lang="en-US" altLang="zh-CN" dirty="0"/>
              <a:t>1.5 </a:t>
            </a:r>
            <a:r>
              <a:rPr lang="zh-CN" altLang="en-US" dirty="0" smtClean="0"/>
              <a:t>计算机网络</a:t>
            </a:r>
            <a:r>
              <a:rPr lang="zh-CN" altLang="en-US" dirty="0"/>
              <a:t>的类别</a:t>
            </a:r>
          </a:p>
        </p:txBody>
      </p:sp>
      <p:graphicFrame>
        <p:nvGraphicFramePr>
          <p:cNvPr id="7" name="内容占位符 5"/>
          <p:cNvGraphicFramePr>
            <a:graphicFrameLocks/>
          </p:cNvGraphicFramePr>
          <p:nvPr>
            <p:extLst>
              <p:ext uri="{D42A27DB-BD31-4B8C-83A1-F6EECF244321}">
                <p14:modId xmlns:p14="http://schemas.microsoft.com/office/powerpoint/2010/main" val="186828466"/>
              </p:ext>
            </p:extLst>
          </p:nvPr>
        </p:nvGraphicFramePr>
        <p:xfrm>
          <a:off x="1465501" y="2439536"/>
          <a:ext cx="8662947" cy="2645648"/>
        </p:xfrm>
        <a:graphic>
          <a:graphicData uri="http://schemas.openxmlformats.org/drawingml/2006/table">
            <a:tbl>
              <a:tblPr firstRow="1" bandRow="1" bandCol="1">
                <a:tableStyleId>{69012ECD-51FC-41F1-AA8D-1B2483CD663E}</a:tableStyleId>
              </a:tblPr>
              <a:tblGrid>
                <a:gridCol w="3518399">
                  <a:extLst>
                    <a:ext uri="{9D8B030D-6E8A-4147-A177-3AD203B41FA5}">
                      <a16:colId xmlns:a16="http://schemas.microsoft.com/office/drawing/2014/main" xmlns="" val="2752561288"/>
                    </a:ext>
                  </a:extLst>
                </a:gridCol>
                <a:gridCol w="5144548">
                  <a:extLst>
                    <a:ext uri="{9D8B030D-6E8A-4147-A177-3AD203B41FA5}">
                      <a16:colId xmlns:a16="http://schemas.microsoft.com/office/drawing/2014/main" xmlns="" val="1271823278"/>
                    </a:ext>
                  </a:extLst>
                </a:gridCol>
              </a:tblGrid>
              <a:tr h="498455">
                <a:tc>
                  <a:txBody>
                    <a:body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类别</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E5BD"/>
                    </a:solidFill>
                  </a:tcPr>
                </a:tc>
                <a:tc>
                  <a:txBody>
                    <a:body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使用者</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6E5BD"/>
                    </a:solidFill>
                  </a:tcPr>
                </a:tc>
                <a:extLst>
                  <a:ext uri="{0D108BD9-81ED-4DB2-BD59-A6C34878D82A}">
                    <a16:rowId xmlns:a16="http://schemas.microsoft.com/office/drawing/2014/main" xmlns="" val="3833287312"/>
                  </a:ext>
                </a:extLst>
              </a:tr>
              <a:tr h="881883">
                <a:tc>
                  <a:txBody>
                    <a:bodyPr/>
                    <a:lstStyle/>
                    <a:p>
                      <a:pPr algn="l"/>
                      <a:r>
                        <a:rPr lang="zh-CN" altLang="en-US" sz="2000" b="1" kern="1200" dirty="0" smtClean="0">
                          <a:solidFill>
                            <a:srgbClr val="0000FF"/>
                          </a:solidFill>
                          <a:latin typeface="微软雅黑" pitchFamily="34" charset="-122"/>
                          <a:ea typeface="微软雅黑" pitchFamily="34" charset="-122"/>
                          <a:cs typeface="+mn-cs"/>
                        </a:rPr>
                        <a:t>公用网 </a:t>
                      </a:r>
                      <a:endParaRPr lang="en-US" altLang="zh-CN" sz="2000" b="1" kern="1200" dirty="0" smtClean="0">
                        <a:solidFill>
                          <a:srgbClr val="0000FF"/>
                        </a:solidFill>
                        <a:latin typeface="微软雅黑" pitchFamily="34" charset="-122"/>
                        <a:ea typeface="微软雅黑" pitchFamily="34" charset="-122"/>
                        <a:cs typeface="+mn-cs"/>
                      </a:endParaRPr>
                    </a:p>
                    <a:p>
                      <a:pPr algn="l"/>
                      <a:r>
                        <a:rPr lang="en-US" altLang="zh-CN" sz="2000" b="1" dirty="0" smtClean="0">
                          <a:solidFill>
                            <a:srgbClr val="1C1C1C"/>
                          </a:solidFill>
                          <a:latin typeface="微软雅黑" panose="020B0503020204020204" pitchFamily="34" charset="-122"/>
                          <a:ea typeface="微软雅黑" panose="020B0503020204020204" pitchFamily="34" charset="-122"/>
                        </a:rPr>
                        <a:t>(public network)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2000" b="1" dirty="0" smtClean="0">
                          <a:solidFill>
                            <a:srgbClr val="1C1C1C"/>
                          </a:solidFill>
                          <a:latin typeface="微软雅黑" panose="020B0503020204020204" pitchFamily="34" charset="-122"/>
                          <a:ea typeface="微软雅黑" panose="020B0503020204020204" pitchFamily="34" charset="-122"/>
                        </a:rPr>
                        <a:t>按电信公司的规定交纳费用的人都可以使用的网络。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01952148"/>
                  </a:ext>
                </a:extLst>
              </a:tr>
              <a:tr h="1265310">
                <a:tc>
                  <a:txBody>
                    <a:bodyPr/>
                    <a:lstStyle/>
                    <a:p>
                      <a:pPr algn="l"/>
                      <a:r>
                        <a:rPr lang="zh-CN" altLang="en-US" sz="2000" b="1" dirty="0" smtClean="0">
                          <a:solidFill>
                            <a:srgbClr val="0000FF"/>
                          </a:solidFill>
                          <a:latin typeface="微软雅黑" pitchFamily="34" charset="-122"/>
                          <a:ea typeface="微软雅黑" pitchFamily="34" charset="-122"/>
                        </a:rPr>
                        <a:t>专用网</a:t>
                      </a:r>
                      <a:r>
                        <a:rPr lang="zh-CN" altLang="en-US" sz="2000" b="1" dirty="0" smtClean="0">
                          <a:latin typeface="微软雅黑" pitchFamily="34" charset="-122"/>
                          <a:ea typeface="微软雅黑" pitchFamily="34" charset="-122"/>
                        </a:rPr>
                        <a:t> </a:t>
                      </a:r>
                      <a:endParaRPr lang="en-US" altLang="zh-CN" sz="2000" b="1" dirty="0" smtClean="0">
                        <a:latin typeface="微软雅黑" pitchFamily="34" charset="-122"/>
                        <a:ea typeface="微软雅黑" pitchFamily="34" charset="-122"/>
                      </a:endParaRPr>
                    </a:p>
                    <a:p>
                      <a:pPr algn="l"/>
                      <a:r>
                        <a:rPr lang="en-US" altLang="zh-CN" sz="2000" b="1" dirty="0" smtClean="0">
                          <a:solidFill>
                            <a:srgbClr val="1C1C1C"/>
                          </a:solidFill>
                          <a:latin typeface="微软雅黑" pitchFamily="34" charset="-122"/>
                          <a:ea typeface="微软雅黑" pitchFamily="34" charset="-122"/>
                        </a:rPr>
                        <a:t>(private network) </a:t>
                      </a:r>
                      <a:endParaRPr lang="zh-CN" altLang="en-US" sz="2000" b="1" dirty="0">
                        <a:solidFill>
                          <a:srgbClr val="1C1C1C"/>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2000" b="1" dirty="0" smtClean="0">
                          <a:solidFill>
                            <a:srgbClr val="1C1C1C"/>
                          </a:solidFill>
                          <a:latin typeface="微软雅黑" panose="020B0503020204020204" pitchFamily="34" charset="-122"/>
                          <a:ea typeface="微软雅黑" panose="020B0503020204020204" pitchFamily="34" charset="-122"/>
                        </a:rPr>
                        <a:t>某部门为满足本单位的特殊业务需要而建造的网络，不向本单位以外的个人提供服务。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0436720"/>
                  </a:ext>
                </a:extLst>
              </a:tr>
            </a:tbl>
          </a:graphicData>
        </a:graphic>
      </p:graphicFrame>
    </p:spTree>
    <p:extLst>
      <p:ext uri="{BB962C8B-B14F-4D97-AF65-F5344CB8AC3E}">
        <p14:creationId xmlns:p14="http://schemas.microsoft.com/office/powerpoint/2010/main" val="361105676"/>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指引</a:t>
            </a:r>
          </a:p>
        </p:txBody>
      </p:sp>
      <p:sp>
        <p:nvSpPr>
          <p:cNvPr id="11267" name="Rectangle 3"/>
          <p:cNvSpPr>
            <a:spLocks noGrp="1" noChangeArrowheads="1"/>
          </p:cNvSpPr>
          <p:nvPr>
            <p:ph idx="1"/>
          </p:nvPr>
        </p:nvSpPr>
        <p:spPr/>
        <p:txBody>
          <a:bodyPr/>
          <a:lstStyle/>
          <a:p>
            <a:r>
              <a:rPr lang="zh-CN" altLang="en-US" dirty="0"/>
              <a:t>计算机网络在信息时代的作用</a:t>
            </a:r>
          </a:p>
          <a:p>
            <a:r>
              <a:rPr lang="zh-CN" altLang="en-US" dirty="0"/>
              <a:t>互联网概述</a:t>
            </a:r>
          </a:p>
          <a:p>
            <a:r>
              <a:rPr lang="zh-CN" altLang="en-US" dirty="0"/>
              <a:t>互联网的组成</a:t>
            </a:r>
            <a:endParaRPr lang="en-US" altLang="zh-CN" dirty="0"/>
          </a:p>
          <a:p>
            <a:r>
              <a:rPr lang="zh-CN" altLang="en-US" dirty="0"/>
              <a:t>计算机网络在我国的发展</a:t>
            </a:r>
          </a:p>
          <a:p>
            <a:r>
              <a:rPr lang="zh-CN" altLang="en-US" dirty="0"/>
              <a:t>计算机网络的类别</a:t>
            </a:r>
          </a:p>
          <a:p>
            <a:r>
              <a:rPr lang="zh-CN" altLang="en-US" dirty="0">
                <a:solidFill>
                  <a:srgbClr val="C00000"/>
                </a:solidFill>
              </a:rPr>
              <a:t>计算机网络的性能</a:t>
            </a:r>
            <a:endParaRPr lang="en-US" altLang="zh-CN" dirty="0">
              <a:solidFill>
                <a:srgbClr val="C00000"/>
              </a:solidFill>
            </a:endParaRPr>
          </a:p>
          <a:p>
            <a:r>
              <a:rPr lang="zh-CN" altLang="en-US" dirty="0"/>
              <a:t>计算机网络的体系结构</a:t>
            </a:r>
          </a:p>
          <a:p>
            <a:pPr eaLnBrk="1" hangingPunct="1">
              <a:buFont typeface="Wingdings" pitchFamily="2" charset="2"/>
              <a:buNone/>
            </a:pPr>
            <a:endParaRPr lang="zh-CN" altLang="en-US" sz="2800" dirty="0"/>
          </a:p>
          <a:p>
            <a:pPr eaLnBrk="1" hangingPunct="1">
              <a:buFont typeface="Wingdings" pitchFamily="2" charset="2"/>
              <a:buNone/>
            </a:pPr>
            <a:r>
              <a:rPr lang="zh-CN" altLang="en-US" sz="2800" dirty="0"/>
              <a:t>     </a:t>
            </a:r>
          </a:p>
        </p:txBody>
      </p:sp>
    </p:spTree>
    <p:extLst>
      <p:ext uri="{BB962C8B-B14F-4D97-AF65-F5344CB8AC3E}">
        <p14:creationId xmlns:p14="http://schemas.microsoft.com/office/powerpoint/2010/main" val="302540987"/>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2"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7388545"/>
              </p:ext>
            </p:extLst>
          </p:nvPr>
        </p:nvGraphicFramePr>
        <p:xfrm>
          <a:off x="442913" y="1557486"/>
          <a:ext cx="11304587"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6083" name="Text Placeholder 7"/>
          <p:cNvSpPr>
            <a:spLocks noGrp="1" noChangeArrowheads="1"/>
          </p:cNvSpPr>
          <p:nvPr>
            <p:ph type="body" idx="4294967295"/>
          </p:nvPr>
        </p:nvSpPr>
        <p:spPr>
          <a:xfrm>
            <a:off x="0" y="1196975"/>
            <a:ext cx="8229600" cy="792163"/>
          </a:xfrm>
        </p:spPr>
        <p:txBody>
          <a:bodyPr/>
          <a:lstStyle/>
          <a:p>
            <a:pPr eaLnBrk="1" hangingPunct="1"/>
            <a:r>
              <a:rPr lang="en-US" altLang="zh-CN" b="1" dirty="0">
                <a:cs typeface="Arial" charset="0"/>
              </a:rPr>
              <a:t> </a:t>
            </a:r>
            <a:r>
              <a:rPr lang="zh-CN" altLang="en-US" b="1" dirty="0">
                <a:cs typeface="Arial" charset="0"/>
              </a:rPr>
              <a:t>计算机网络的</a:t>
            </a:r>
            <a:r>
              <a:rPr lang="zh-CN" altLang="en-US" b="1" dirty="0" smtClean="0">
                <a:cs typeface="Arial" charset="0"/>
              </a:rPr>
              <a:t>性能指标</a:t>
            </a:r>
            <a:endParaRPr lang="en-US" altLang="zh-CN" b="1" dirty="0">
              <a:cs typeface="Arial" charset="0"/>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7" name="Group 6"/>
          <p:cNvGrpSpPr>
            <a:grpSpLocks/>
          </p:cNvGrpSpPr>
          <p:nvPr/>
        </p:nvGrpSpPr>
        <p:grpSpPr bwMode="auto">
          <a:xfrm>
            <a:off x="569590" y="1791023"/>
            <a:ext cx="1277938" cy="1277937"/>
            <a:chOff x="3476127" y="42101"/>
            <a:chExt cx="1277346" cy="1277346"/>
          </a:xfrm>
        </p:grpSpPr>
        <p:sp>
          <p:nvSpPr>
            <p:cNvPr id="8"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9"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1.</a:t>
              </a:r>
              <a:r>
                <a:rPr lang="zh-CN" altLang="en-US" sz="2400" b="1" dirty="0">
                  <a:solidFill>
                    <a:srgbClr val="4D4D4D"/>
                  </a:solidFill>
                  <a:latin typeface="微软雅黑" pitchFamily="34" charset="-122"/>
                  <a:ea typeface="微软雅黑" pitchFamily="34" charset="-122"/>
                </a:rPr>
                <a:t>速率</a:t>
              </a:r>
              <a:endParaRPr lang="en-US" sz="2400" b="1" dirty="0">
                <a:solidFill>
                  <a:srgbClr val="4D4D4D"/>
                </a:solidFill>
                <a:latin typeface="微软雅黑" pitchFamily="34" charset="-122"/>
                <a:ea typeface="微软雅黑" pitchFamily="34" charset="-122"/>
              </a:endParaRPr>
            </a:p>
          </p:txBody>
        </p:sp>
      </p:grpSp>
      <p:sp>
        <p:nvSpPr>
          <p:cNvPr id="47109"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sp>
        <p:nvSpPr>
          <p:cNvPr id="7"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lnSpc>
                <a:spcPct val="140000"/>
              </a:lnSpc>
            </a:pPr>
            <a:r>
              <a:rPr lang="zh-CN" altLang="en-US" sz="2800" b="1" dirty="0"/>
              <a:t>速率指的是</a:t>
            </a:r>
            <a:r>
              <a:rPr lang="zh-CN" altLang="en-US" sz="2800" b="1" dirty="0">
                <a:solidFill>
                  <a:srgbClr val="C00000"/>
                </a:solidFill>
              </a:rPr>
              <a:t>数据的传送速率</a:t>
            </a:r>
            <a:r>
              <a:rPr lang="zh-CN" altLang="en-US" sz="2800" b="1" dirty="0"/>
              <a:t>，也称为</a:t>
            </a:r>
            <a:r>
              <a:rPr lang="zh-CN" altLang="en-US" sz="2800" b="1" dirty="0">
                <a:solidFill>
                  <a:srgbClr val="C00000"/>
                </a:solidFill>
              </a:rPr>
              <a:t>数据率</a:t>
            </a:r>
            <a:r>
              <a:rPr lang="zh-CN" altLang="en-US" sz="2800" b="1" dirty="0"/>
              <a:t> </a:t>
            </a:r>
            <a:r>
              <a:rPr lang="en-US" altLang="zh-CN" sz="2800" b="1" dirty="0"/>
              <a:t>(data rate) </a:t>
            </a:r>
            <a:r>
              <a:rPr lang="zh-CN" altLang="en-US" sz="2800" b="1" dirty="0"/>
              <a:t>或</a:t>
            </a:r>
            <a:r>
              <a:rPr lang="zh-CN" altLang="en-US" sz="2800" b="1" dirty="0">
                <a:solidFill>
                  <a:srgbClr val="C00000"/>
                </a:solidFill>
              </a:rPr>
              <a:t>比特率</a:t>
            </a:r>
            <a:r>
              <a:rPr lang="zh-CN" altLang="en-US" sz="2800" b="1" dirty="0"/>
              <a:t> </a:t>
            </a:r>
            <a:r>
              <a:rPr lang="en-US" altLang="zh-CN" sz="2800" b="1" dirty="0"/>
              <a:t>(bit rate)</a:t>
            </a:r>
            <a:r>
              <a:rPr lang="zh-CN" altLang="en-US" sz="2800" b="1" dirty="0"/>
              <a:t>，是计算机网络中</a:t>
            </a:r>
            <a:r>
              <a:rPr lang="zh-CN" altLang="en-US" sz="2800" b="1" dirty="0">
                <a:solidFill>
                  <a:srgbClr val="C00000"/>
                </a:solidFill>
              </a:rPr>
              <a:t>最重要</a:t>
            </a:r>
            <a:r>
              <a:rPr lang="zh-CN" altLang="en-US" sz="2800" b="1" dirty="0"/>
              <a:t>的一个性能指标</a:t>
            </a:r>
            <a:r>
              <a:rPr lang="zh-CN" altLang="en-US" sz="2800" b="1" dirty="0" smtClean="0"/>
              <a:t>。当提到</a:t>
            </a:r>
            <a:r>
              <a:rPr lang="zh-CN" altLang="en-US" sz="2800" b="1" dirty="0" smtClean="0">
                <a:solidFill>
                  <a:srgbClr val="C00000"/>
                </a:solidFill>
              </a:rPr>
              <a:t>网络的速率</a:t>
            </a:r>
            <a:r>
              <a:rPr lang="zh-CN" altLang="en-US" sz="2800" b="1" dirty="0" smtClean="0"/>
              <a:t>时，指的是</a:t>
            </a:r>
            <a:r>
              <a:rPr lang="zh-CN" altLang="en-US" sz="2800" b="1" dirty="0" smtClean="0">
                <a:solidFill>
                  <a:srgbClr val="C00000"/>
                </a:solidFill>
              </a:rPr>
              <a:t>额定速率</a:t>
            </a:r>
            <a:r>
              <a:rPr lang="zh-CN" altLang="en-US" sz="2800" b="1" dirty="0" smtClean="0"/>
              <a:t>或</a:t>
            </a:r>
            <a:r>
              <a:rPr lang="zh-CN" altLang="en-US" sz="2800" b="1" dirty="0" smtClean="0">
                <a:solidFill>
                  <a:srgbClr val="C00000"/>
                </a:solidFill>
              </a:rPr>
              <a:t>标称速率</a:t>
            </a:r>
            <a:r>
              <a:rPr lang="zh-CN" altLang="en-US" sz="2800" b="1" dirty="0" smtClean="0"/>
              <a:t>。</a:t>
            </a:r>
            <a:endParaRPr lang="en-US" altLang="zh-CN" sz="2800" b="1" dirty="0"/>
          </a:p>
          <a:p>
            <a:pPr marL="457200" indent="-457200" eaLnBrk="1" hangingPunct="1">
              <a:lnSpc>
                <a:spcPct val="140000"/>
              </a:lnSpc>
            </a:pPr>
            <a:r>
              <a:rPr lang="zh-CN" altLang="en-US" sz="2800" b="1" dirty="0"/>
              <a:t>速率的单位是</a:t>
            </a:r>
            <a:r>
              <a:rPr lang="en-US" altLang="zh-CN" sz="2800" b="1" dirty="0"/>
              <a:t>bit/s</a:t>
            </a:r>
            <a:r>
              <a:rPr lang="zh-CN" altLang="en-US" sz="2800" b="1" dirty="0"/>
              <a:t>（或</a:t>
            </a:r>
            <a:r>
              <a:rPr lang="en-US" altLang="zh-CN" sz="2800" b="1" dirty="0"/>
              <a:t>b/s</a:t>
            </a:r>
            <a:r>
              <a:rPr lang="zh-CN" altLang="en-US" sz="2800" b="1" dirty="0"/>
              <a:t>、</a:t>
            </a:r>
            <a:r>
              <a:rPr lang="en-US" altLang="zh-CN" sz="2800" b="1" dirty="0"/>
              <a:t>bps</a:t>
            </a:r>
            <a:r>
              <a:rPr lang="zh-CN" altLang="en-US" sz="2800" b="1" dirty="0"/>
              <a:t>），当数据率较高时，就在前面加上 </a:t>
            </a:r>
            <a:r>
              <a:rPr lang="en-US" altLang="zh-CN" sz="2800" b="1" dirty="0"/>
              <a:t>k</a:t>
            </a:r>
            <a:r>
              <a:rPr lang="zh-CN" altLang="en-US" sz="2800" b="1" dirty="0"/>
              <a:t>、</a:t>
            </a:r>
            <a:r>
              <a:rPr lang="en-US" altLang="zh-CN" sz="2800" b="1" dirty="0"/>
              <a:t>M</a:t>
            </a:r>
            <a:r>
              <a:rPr lang="zh-CN" altLang="en-US" sz="2800" b="1" dirty="0"/>
              <a:t>、</a:t>
            </a:r>
            <a:r>
              <a:rPr lang="en-US" altLang="zh-CN" sz="2800" b="1" dirty="0"/>
              <a:t>G </a:t>
            </a:r>
            <a:r>
              <a:rPr lang="zh-CN" altLang="en-US" sz="2800" b="1" dirty="0"/>
              <a:t>等表示数量的字母。</a:t>
            </a:r>
            <a:endParaRPr lang="en-US" altLang="zh-CN" sz="2800" b="1" dirty="0"/>
          </a:p>
          <a:p>
            <a:pPr marL="457200" indent="-457200" eaLnBrk="1" hangingPunct="1">
              <a:lnSpc>
                <a:spcPct val="140000"/>
              </a:lnSpc>
            </a:pPr>
            <a:r>
              <a:rPr lang="zh-CN" altLang="en-US" sz="2800" b="1" dirty="0"/>
              <a:t>表示速率时，</a:t>
            </a:r>
            <a:r>
              <a:rPr lang="en-US" altLang="zh-CN" sz="2800" b="1" dirty="0"/>
              <a:t>k</a:t>
            </a:r>
            <a:r>
              <a:rPr lang="zh-CN" altLang="en-US" sz="2800" b="1" dirty="0"/>
              <a:t>（小写）</a:t>
            </a:r>
            <a:r>
              <a:rPr lang="en-US" altLang="zh-CN" sz="2800" b="1" dirty="0"/>
              <a:t> = 10</a:t>
            </a:r>
            <a:r>
              <a:rPr lang="en-US" altLang="zh-CN" sz="2800" b="1" baseline="30000" dirty="0"/>
              <a:t>3</a:t>
            </a:r>
            <a:r>
              <a:rPr lang="en-US" altLang="zh-CN" sz="2800" b="1" dirty="0"/>
              <a:t> = </a:t>
            </a:r>
            <a:r>
              <a:rPr lang="zh-CN" altLang="en-US" sz="2800" b="1" dirty="0"/>
              <a:t>千，</a:t>
            </a:r>
            <a:r>
              <a:rPr lang="en-US" altLang="zh-CN" sz="2800" b="1" dirty="0"/>
              <a:t>M = 10</a:t>
            </a:r>
            <a:r>
              <a:rPr lang="en-US" altLang="zh-CN" sz="2800" b="1" baseline="30000" dirty="0"/>
              <a:t>6</a:t>
            </a:r>
            <a:r>
              <a:rPr lang="en-US" altLang="zh-CN" sz="2800" b="1" dirty="0"/>
              <a:t> = </a:t>
            </a:r>
            <a:r>
              <a:rPr lang="zh-CN" altLang="en-US" sz="2800" b="1" dirty="0"/>
              <a:t>兆，</a:t>
            </a:r>
            <a:r>
              <a:rPr lang="en-US" altLang="zh-CN" sz="2800" b="1" dirty="0"/>
              <a:t>G = 10</a:t>
            </a:r>
            <a:r>
              <a:rPr lang="en-US" altLang="zh-CN" sz="2800" b="1" baseline="30000" dirty="0"/>
              <a:t>9</a:t>
            </a:r>
            <a:r>
              <a:rPr lang="en-US" altLang="zh-CN" sz="2800" b="1" dirty="0"/>
              <a:t> =</a:t>
            </a:r>
            <a:r>
              <a:rPr lang="zh-CN" altLang="en-US" sz="2800" b="1" dirty="0"/>
              <a:t>吉；但表示数据量时，</a:t>
            </a:r>
            <a:r>
              <a:rPr lang="en-US" altLang="zh-CN" sz="2800" b="1" dirty="0"/>
              <a:t>K</a:t>
            </a:r>
            <a:r>
              <a:rPr lang="zh-CN" altLang="en-US" sz="2800" b="1" dirty="0"/>
              <a:t>（大写）</a:t>
            </a:r>
            <a:r>
              <a:rPr lang="en-US" altLang="zh-CN" sz="2800" b="1" dirty="0"/>
              <a:t> = 2</a:t>
            </a:r>
            <a:r>
              <a:rPr lang="en-US" altLang="zh-CN" sz="2800" b="1" baseline="30000" dirty="0"/>
              <a:t>10</a:t>
            </a:r>
            <a:r>
              <a:rPr lang="en-US" altLang="zh-CN" sz="2800" b="1" dirty="0"/>
              <a:t> = </a:t>
            </a:r>
            <a:r>
              <a:rPr lang="zh-CN" altLang="en-US" sz="2800" b="1" dirty="0"/>
              <a:t>千，</a:t>
            </a:r>
            <a:r>
              <a:rPr lang="en-US" altLang="zh-CN" sz="2800" b="1" dirty="0"/>
              <a:t>M = 2</a:t>
            </a:r>
            <a:r>
              <a:rPr lang="en-US" altLang="zh-CN" sz="2800" b="1" baseline="30000" dirty="0"/>
              <a:t>20</a:t>
            </a:r>
            <a:r>
              <a:rPr lang="en-US" altLang="zh-CN" sz="2800" b="1" dirty="0"/>
              <a:t> = </a:t>
            </a:r>
            <a:r>
              <a:rPr lang="zh-CN" altLang="en-US" sz="2800" b="1" dirty="0"/>
              <a:t>兆，</a:t>
            </a:r>
            <a:r>
              <a:rPr lang="en-US" altLang="zh-CN" sz="2800" b="1" dirty="0"/>
              <a:t>G = 2</a:t>
            </a:r>
            <a:r>
              <a:rPr lang="en-US" altLang="zh-CN" sz="2800" b="1" baseline="30000" dirty="0"/>
              <a:t>30</a:t>
            </a:r>
            <a:r>
              <a:rPr lang="en-US" altLang="zh-CN" sz="2800" b="1" dirty="0"/>
              <a:t> =</a:t>
            </a:r>
            <a:r>
              <a:rPr lang="zh-CN" altLang="en-US" sz="2800" b="1" dirty="0"/>
              <a:t>吉。</a:t>
            </a:r>
            <a:endParaRPr lang="en-US" altLang="zh-CN" sz="2800" b="1" dirty="0"/>
          </a:p>
        </p:txBody>
      </p:sp>
    </p:spTree>
    <p:extLst>
      <p:ext uri="{BB962C8B-B14F-4D97-AF65-F5344CB8AC3E}">
        <p14:creationId xmlns:p14="http://schemas.microsoft.com/office/powerpoint/2010/main" val="19390047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animEffect transition="in" filter="fade">
                                      <p:cBhvr>
                                        <p:cTn id="14" dur="1000"/>
                                        <p:tgtEl>
                                          <p:spTgt spid="7">
                                            <p:txEl>
                                              <p:pRg st="2" end="2"/>
                                            </p:txEl>
                                          </p:spTgt>
                                        </p:tgtEl>
                                      </p:cBhvr>
                                    </p:animEffect>
                                    <p:anim calcmode="lin" valueType="num">
                                      <p:cBhvr>
                                        <p:cTn id="1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7" name="Group 6"/>
          <p:cNvGrpSpPr>
            <a:grpSpLocks/>
          </p:cNvGrpSpPr>
          <p:nvPr/>
        </p:nvGrpSpPr>
        <p:grpSpPr bwMode="auto">
          <a:xfrm>
            <a:off x="569590" y="1791023"/>
            <a:ext cx="1277938" cy="1277937"/>
            <a:chOff x="3476127" y="42101"/>
            <a:chExt cx="1277346" cy="1277346"/>
          </a:xfrm>
        </p:grpSpPr>
        <p:sp>
          <p:nvSpPr>
            <p:cNvPr id="8"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9"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2</a:t>
              </a:r>
              <a:r>
                <a:rPr lang="en-US" altLang="zh-CN" sz="2400" b="1" dirty="0" smtClean="0">
                  <a:solidFill>
                    <a:srgbClr val="4D4D4D"/>
                  </a:solidFill>
                  <a:latin typeface="微软雅黑" pitchFamily="34" charset="-122"/>
                  <a:ea typeface="微软雅黑" pitchFamily="34" charset="-122"/>
                </a:rPr>
                <a:t>.</a:t>
              </a:r>
              <a:r>
                <a:rPr lang="zh-CN" altLang="en-US" sz="2400" b="1" dirty="0">
                  <a:solidFill>
                    <a:srgbClr val="4D4D4D"/>
                  </a:solidFill>
                  <a:latin typeface="微软雅黑" pitchFamily="34" charset="-122"/>
                  <a:ea typeface="微软雅黑" pitchFamily="34" charset="-122"/>
                </a:rPr>
                <a:t>带宽</a:t>
              </a:r>
              <a:endParaRPr lang="en-US" sz="2400" b="1" dirty="0">
                <a:solidFill>
                  <a:srgbClr val="4D4D4D"/>
                </a:solidFill>
                <a:latin typeface="微软雅黑" pitchFamily="34" charset="-122"/>
                <a:ea typeface="微软雅黑" pitchFamily="34" charset="-122"/>
              </a:endParaRPr>
            </a:p>
          </p:txBody>
        </p:sp>
      </p:grpSp>
      <p:sp>
        <p:nvSpPr>
          <p:cNvPr id="47109"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sp>
        <p:nvSpPr>
          <p:cNvPr id="10"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b="1" dirty="0"/>
              <a:t>带宽有以下两种不同的含义</a:t>
            </a:r>
            <a:r>
              <a:rPr lang="zh-CN" altLang="en-US" b="1" dirty="0" smtClean="0"/>
              <a:t>：</a:t>
            </a:r>
            <a:endParaRPr lang="en-US" altLang="zh-CN" b="1" dirty="0"/>
          </a:p>
        </p:txBody>
      </p:sp>
      <p:graphicFrame>
        <p:nvGraphicFramePr>
          <p:cNvPr id="11" name="图示 10"/>
          <p:cNvGraphicFramePr/>
          <p:nvPr>
            <p:extLst>
              <p:ext uri="{D42A27DB-BD31-4B8C-83A1-F6EECF244321}">
                <p14:modId xmlns:p14="http://schemas.microsoft.com/office/powerpoint/2010/main" val="1645724689"/>
              </p:ext>
            </p:extLst>
          </p:nvPr>
        </p:nvGraphicFramePr>
        <p:xfrm>
          <a:off x="2301782" y="2276872"/>
          <a:ext cx="7898674" cy="23948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矩形 12"/>
          <p:cNvSpPr/>
          <p:nvPr/>
        </p:nvSpPr>
        <p:spPr>
          <a:xfrm>
            <a:off x="3496640" y="5013176"/>
            <a:ext cx="5911728" cy="1092607"/>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285750" indent="-285750">
              <a:lnSpc>
                <a:spcPts val="2600"/>
              </a:lnSpc>
              <a:spcBef>
                <a:spcPts val="0"/>
              </a:spcBef>
              <a:spcAft>
                <a:spcPts val="0"/>
              </a:spcAft>
              <a:buSzPct val="85000"/>
              <a:buFont typeface="Wingdings" panose="05000000000000000000" pitchFamily="2" charset="2"/>
              <a:buChar char="u"/>
            </a:pPr>
            <a:r>
              <a:rPr lang="zh-CN" altLang="en-US" b="1" dirty="0">
                <a:solidFill>
                  <a:srgbClr val="1C1C1C"/>
                </a:solidFill>
                <a:latin typeface="微软雅黑" pitchFamily="34" charset="-122"/>
                <a:ea typeface="微软雅黑" pitchFamily="34" charset="-122"/>
              </a:rPr>
              <a:t>两者</a:t>
            </a:r>
            <a:r>
              <a:rPr lang="zh-CN" altLang="zh-CN" b="1" dirty="0" smtClean="0">
                <a:solidFill>
                  <a:srgbClr val="C00000"/>
                </a:solidFill>
                <a:latin typeface="微软雅黑" pitchFamily="34" charset="-122"/>
                <a:ea typeface="微软雅黑" pitchFamily="34" charset="-122"/>
              </a:rPr>
              <a:t>本质相同</a:t>
            </a:r>
            <a:r>
              <a:rPr lang="zh-CN" altLang="zh-CN" b="1" dirty="0" smtClean="0">
                <a:solidFill>
                  <a:srgbClr val="1C1C1C"/>
                </a:solidFill>
                <a:latin typeface="微软雅黑" pitchFamily="34" charset="-122"/>
                <a:ea typeface="微软雅黑" pitchFamily="34" charset="-122"/>
              </a:rPr>
              <a:t>。</a:t>
            </a:r>
            <a:endParaRPr lang="en-US" altLang="zh-CN" b="1" dirty="0" smtClean="0">
              <a:solidFill>
                <a:srgbClr val="1C1C1C"/>
              </a:solidFill>
              <a:latin typeface="微软雅黑" pitchFamily="34" charset="-122"/>
              <a:ea typeface="微软雅黑" pitchFamily="34" charset="-122"/>
            </a:endParaRPr>
          </a:p>
          <a:p>
            <a:pPr marL="285750" indent="-285750">
              <a:lnSpc>
                <a:spcPts val="2600"/>
              </a:lnSpc>
              <a:spcBef>
                <a:spcPts val="0"/>
              </a:spcBef>
              <a:spcAft>
                <a:spcPts val="0"/>
              </a:spcAft>
              <a:buSzPct val="85000"/>
              <a:buFont typeface="Wingdings" panose="05000000000000000000" pitchFamily="2" charset="2"/>
              <a:buChar char="u"/>
            </a:pPr>
            <a:r>
              <a:rPr lang="zh-CN" altLang="zh-CN" b="1" dirty="0" smtClean="0">
                <a:solidFill>
                  <a:srgbClr val="1C1C1C"/>
                </a:solidFill>
                <a:latin typeface="微软雅黑" pitchFamily="34" charset="-122"/>
                <a:ea typeface="微软雅黑" pitchFamily="34" charset="-122"/>
              </a:rPr>
              <a:t>一</a:t>
            </a:r>
            <a:r>
              <a:rPr lang="zh-CN" altLang="zh-CN" b="1" dirty="0">
                <a:solidFill>
                  <a:srgbClr val="1C1C1C"/>
                </a:solidFill>
                <a:latin typeface="微软雅黑" pitchFamily="34" charset="-122"/>
                <a:ea typeface="微软雅黑" pitchFamily="34" charset="-122"/>
              </a:rPr>
              <a:t>条通信链路的“带宽”越宽，其所能传输的“最高数据率”也越高。</a:t>
            </a:r>
          </a:p>
        </p:txBody>
      </p:sp>
    </p:spTree>
    <p:extLst>
      <p:ext uri="{BB962C8B-B14F-4D97-AF65-F5344CB8AC3E}">
        <p14:creationId xmlns:p14="http://schemas.microsoft.com/office/powerpoint/2010/main" val="3097964201"/>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7" name="Group 6"/>
          <p:cNvGrpSpPr>
            <a:grpSpLocks/>
          </p:cNvGrpSpPr>
          <p:nvPr/>
        </p:nvGrpSpPr>
        <p:grpSpPr bwMode="auto">
          <a:xfrm>
            <a:off x="569590" y="1791023"/>
            <a:ext cx="1277938" cy="1277937"/>
            <a:chOff x="3476127" y="42101"/>
            <a:chExt cx="1277346" cy="1277346"/>
          </a:xfrm>
        </p:grpSpPr>
        <p:sp>
          <p:nvSpPr>
            <p:cNvPr id="8"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9"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3</a:t>
              </a:r>
              <a:r>
                <a:rPr lang="en-US" altLang="zh-CN" sz="2400" b="1" dirty="0" smtClean="0">
                  <a:solidFill>
                    <a:srgbClr val="4D4D4D"/>
                  </a:solidFill>
                  <a:latin typeface="微软雅黑" pitchFamily="34" charset="-122"/>
                  <a:ea typeface="微软雅黑" pitchFamily="34" charset="-122"/>
                </a:rPr>
                <a:t>.</a:t>
              </a:r>
              <a:r>
                <a:rPr lang="zh-CN" altLang="en-US" sz="2400" b="1" dirty="0">
                  <a:solidFill>
                    <a:srgbClr val="4D4D4D"/>
                  </a:solidFill>
                  <a:latin typeface="微软雅黑" pitchFamily="34" charset="-122"/>
                  <a:ea typeface="微软雅黑" pitchFamily="34" charset="-122"/>
                </a:rPr>
                <a:t>吞吐量</a:t>
              </a:r>
              <a:endParaRPr lang="en-US" sz="2400" b="1" dirty="0">
                <a:solidFill>
                  <a:srgbClr val="4D4D4D"/>
                </a:solidFill>
                <a:latin typeface="微软雅黑" pitchFamily="34" charset="-122"/>
                <a:ea typeface="微软雅黑" pitchFamily="34" charset="-122"/>
              </a:endParaRPr>
            </a:p>
          </p:txBody>
        </p:sp>
      </p:grpSp>
      <p:sp>
        <p:nvSpPr>
          <p:cNvPr id="47109"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sp>
        <p:nvSpPr>
          <p:cNvPr id="7"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b="1" dirty="0" smtClean="0"/>
              <a:t>吞吐量表示在单位</a:t>
            </a:r>
            <a:r>
              <a:rPr lang="zh-CN" altLang="en-US" b="1" dirty="0"/>
              <a:t>时间内通过某个网络（或信道、接口）的实际数据量。</a:t>
            </a:r>
          </a:p>
          <a:p>
            <a:pPr marL="457200" indent="-457200" eaLnBrk="1" hangingPunct="1"/>
            <a:r>
              <a:rPr lang="zh-CN" altLang="en-US" b="1" dirty="0" smtClean="0"/>
              <a:t>吞吐量受</a:t>
            </a:r>
            <a:r>
              <a:rPr lang="zh-CN" altLang="en-US" b="1" dirty="0"/>
              <a:t>网络的带宽或网络的</a:t>
            </a:r>
            <a:r>
              <a:rPr lang="zh-CN" altLang="en-US" b="1" dirty="0">
                <a:solidFill>
                  <a:srgbClr val="C00000"/>
                </a:solidFill>
              </a:rPr>
              <a:t>额定速率</a:t>
            </a:r>
            <a:r>
              <a:rPr lang="zh-CN" altLang="en-US" b="1" dirty="0"/>
              <a:t>的限制。</a:t>
            </a:r>
          </a:p>
          <a:p>
            <a:pPr marL="457200" indent="-457200" eaLnBrk="1" hangingPunct="1"/>
            <a:endParaRPr lang="zh-CN" altLang="en-US" b="1" dirty="0"/>
          </a:p>
        </p:txBody>
      </p:sp>
    </p:spTree>
    <p:extLst>
      <p:ext uri="{BB962C8B-B14F-4D97-AF65-F5344CB8AC3E}">
        <p14:creationId xmlns:p14="http://schemas.microsoft.com/office/powerpoint/2010/main" val="2010434978"/>
      </p:ext>
    </p:extLst>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1" name="Group 6"/>
          <p:cNvGrpSpPr>
            <a:grpSpLocks/>
          </p:cNvGrpSpPr>
          <p:nvPr/>
        </p:nvGrpSpPr>
        <p:grpSpPr bwMode="auto">
          <a:xfrm>
            <a:off x="569590" y="1791023"/>
            <a:ext cx="1277938" cy="1277937"/>
            <a:chOff x="3476127" y="42101"/>
            <a:chExt cx="1277346" cy="1277346"/>
          </a:xfrm>
        </p:grpSpPr>
        <p:sp>
          <p:nvSpPr>
            <p:cNvPr id="13"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4"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sp>
        <p:nvSpPr>
          <p:cNvPr id="15"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b="1" dirty="0"/>
              <a:t>指数据（一个报文或分组，甚至比特）从网络（或链路）的</a:t>
            </a:r>
            <a:r>
              <a:rPr lang="zh-CN" altLang="en-US" b="1" dirty="0">
                <a:solidFill>
                  <a:srgbClr val="C00000"/>
                </a:solidFill>
              </a:rPr>
              <a:t>一端传送到另一端</a:t>
            </a:r>
            <a:r>
              <a:rPr lang="zh-CN" altLang="en-US" b="1" dirty="0"/>
              <a:t>所需的</a:t>
            </a:r>
            <a:r>
              <a:rPr lang="zh-CN" altLang="en-US" b="1" dirty="0">
                <a:solidFill>
                  <a:schemeClr val="tx2">
                    <a:lumMod val="60000"/>
                    <a:lumOff val="40000"/>
                  </a:schemeClr>
                </a:solidFill>
              </a:rPr>
              <a:t>时间</a:t>
            </a:r>
            <a:r>
              <a:rPr lang="zh-CN" altLang="en-US" b="1" dirty="0"/>
              <a:t>。</a:t>
            </a:r>
          </a:p>
          <a:p>
            <a:pPr marL="457200" indent="-457200" eaLnBrk="1" hangingPunct="1"/>
            <a:r>
              <a:rPr lang="zh-CN" altLang="en-US" b="1" dirty="0" smtClean="0"/>
              <a:t>网络中的时延由以下</a:t>
            </a:r>
            <a:r>
              <a:rPr lang="en-US" altLang="zh-CN" b="1" dirty="0" smtClean="0"/>
              <a:t>4</a:t>
            </a:r>
            <a:r>
              <a:rPr lang="zh-CN" altLang="en-US" b="1" dirty="0" smtClean="0"/>
              <a:t>个部分组成：</a:t>
            </a:r>
            <a:endParaRPr lang="en-US" altLang="zh-CN" b="1" dirty="0" smtClean="0"/>
          </a:p>
          <a:p>
            <a:pPr marL="935038" lvl="1" indent="-457200" eaLnBrk="1" hangingPunct="1"/>
            <a:r>
              <a:rPr lang="zh-CN" altLang="en-US" b="1" dirty="0"/>
              <a:t>（</a:t>
            </a:r>
            <a:r>
              <a:rPr lang="en-US" altLang="zh-CN" b="1" dirty="0"/>
              <a:t>1</a:t>
            </a:r>
            <a:r>
              <a:rPr lang="zh-CN" altLang="en-US" b="1" dirty="0"/>
              <a:t>）发送</a:t>
            </a:r>
            <a:r>
              <a:rPr lang="zh-CN" altLang="en-US" b="1" dirty="0" smtClean="0"/>
              <a:t>时延</a:t>
            </a:r>
            <a:endParaRPr lang="en-US" altLang="zh-CN" b="1" dirty="0" smtClean="0"/>
          </a:p>
          <a:p>
            <a:pPr marL="935038" lvl="1" indent="-457200" eaLnBrk="1" hangingPunct="1"/>
            <a:r>
              <a:rPr lang="zh-CN" altLang="en-US" b="1" dirty="0"/>
              <a:t>（</a:t>
            </a:r>
            <a:r>
              <a:rPr lang="en-US" altLang="zh-CN" b="1" dirty="0"/>
              <a:t>2</a:t>
            </a:r>
            <a:r>
              <a:rPr lang="zh-CN" altLang="en-US" b="1" dirty="0"/>
              <a:t>）传播</a:t>
            </a:r>
            <a:r>
              <a:rPr lang="zh-CN" altLang="en-US" b="1" dirty="0" smtClean="0"/>
              <a:t>时延</a:t>
            </a:r>
            <a:endParaRPr lang="en-US" altLang="zh-CN" b="1" dirty="0" smtClean="0"/>
          </a:p>
          <a:p>
            <a:pPr marL="935038" lvl="1" indent="-457200" eaLnBrk="1" hangingPunct="1"/>
            <a:r>
              <a:rPr lang="zh-CN" altLang="en-US" b="1" dirty="0"/>
              <a:t>（</a:t>
            </a:r>
            <a:r>
              <a:rPr lang="en-US" altLang="zh-CN" b="1" dirty="0"/>
              <a:t>3</a:t>
            </a:r>
            <a:r>
              <a:rPr lang="zh-CN" altLang="en-US" b="1" dirty="0"/>
              <a:t>）处理</a:t>
            </a:r>
            <a:r>
              <a:rPr lang="zh-CN" altLang="en-US" b="1" dirty="0" smtClean="0"/>
              <a:t>时延</a:t>
            </a:r>
            <a:endParaRPr lang="en-US" altLang="zh-CN" b="1" dirty="0" smtClean="0"/>
          </a:p>
          <a:p>
            <a:pPr marL="935038" lvl="1" indent="-457200" eaLnBrk="1" hangingPunct="1"/>
            <a:r>
              <a:rPr lang="zh-CN" altLang="en-US" b="1" dirty="0"/>
              <a:t>（</a:t>
            </a:r>
            <a:r>
              <a:rPr lang="en-US" altLang="zh-CN" b="1" dirty="0"/>
              <a:t>4</a:t>
            </a:r>
            <a:r>
              <a:rPr lang="zh-CN" altLang="en-US" b="1" dirty="0"/>
              <a:t>）排队时延</a:t>
            </a:r>
            <a:endParaRPr lang="en-US" altLang="zh-CN" b="1" dirty="0"/>
          </a:p>
          <a:p>
            <a:pPr marL="935038" lvl="1" indent="-457200" eaLnBrk="1" hangingPunct="1"/>
            <a:endParaRPr lang="zh-CN" altLang="en-US" b="1" dirty="0"/>
          </a:p>
          <a:p>
            <a:pPr marL="457200" indent="-457200" eaLnBrk="1" hangingPunct="1"/>
            <a:endParaRPr lang="zh-CN" altLang="en-US" b="1" dirty="0"/>
          </a:p>
          <a:p>
            <a:pPr marL="457200" indent="-457200" eaLnBrk="1" hangingPunct="1"/>
            <a:endParaRPr lang="zh-CN" altLang="en-US" b="1" dirty="0"/>
          </a:p>
          <a:p>
            <a:pPr marL="935038" lvl="1" indent="-457200" eaLnBrk="1" hangingPunct="1"/>
            <a:endParaRPr lang="zh-CN" altLang="en-US" b="1" dirty="0"/>
          </a:p>
        </p:txBody>
      </p:sp>
    </p:spTree>
    <p:extLst>
      <p:ext uri="{BB962C8B-B14F-4D97-AF65-F5344CB8AC3E}">
        <p14:creationId xmlns:p14="http://schemas.microsoft.com/office/powerpoint/2010/main" val="1498265986"/>
      </p:ext>
    </p:extLst>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extLst>
              <p:ext uri="{D42A27DB-BD31-4B8C-83A1-F6EECF244321}">
                <p14:modId xmlns:p14="http://schemas.microsoft.com/office/powerpoint/2010/main" val="1742592298"/>
              </p:ext>
            </p:extLst>
          </p:nvPr>
        </p:nvGraphicFramePr>
        <p:xfrm>
          <a:off x="3096344" y="1277680"/>
          <a:ext cx="6096000" cy="2857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0180" name="Group 17"/>
          <p:cNvGrpSpPr>
            <a:grpSpLocks/>
          </p:cNvGrpSpPr>
          <p:nvPr/>
        </p:nvGrpSpPr>
        <p:grpSpPr bwMode="auto">
          <a:xfrm>
            <a:off x="3213100" y="3847442"/>
            <a:ext cx="5097463" cy="1225550"/>
            <a:chOff x="1574" y="3066"/>
            <a:chExt cx="3211" cy="772"/>
          </a:xfrm>
        </p:grpSpPr>
        <p:sp>
          <p:nvSpPr>
            <p:cNvPr id="50183" name="Rectangle 14"/>
            <p:cNvSpPr>
              <a:spLocks noChangeArrowheads="1"/>
            </p:cNvSpPr>
            <p:nvPr/>
          </p:nvSpPr>
          <p:spPr bwMode="auto">
            <a:xfrm>
              <a:off x="1574" y="3066"/>
              <a:ext cx="3211" cy="772"/>
            </a:xfrm>
            <a:prstGeom prst="rect">
              <a:avLst/>
            </a:prstGeom>
            <a:solidFill>
              <a:srgbClr val="FFFF99"/>
            </a:solidFill>
            <a:ln w="76200" cmpd="tri">
              <a:solidFill>
                <a:schemeClr val="folHlink"/>
              </a:solidFill>
              <a:miter lim="800000"/>
              <a:headEnd/>
              <a:tailEnd/>
            </a:ln>
          </p:spPr>
          <p:txBody>
            <a:bodyPr wrap="none" anchor="ctr"/>
            <a:lstStyle/>
            <a:p>
              <a:pPr eaLnBrk="1" hangingPunct="1"/>
              <a:endParaRPr lang="en-US" altLang="zh-CN" b="1"/>
            </a:p>
          </p:txBody>
        </p:sp>
        <p:sp>
          <p:nvSpPr>
            <p:cNvPr id="50184" name="Text Box 9"/>
            <p:cNvSpPr txBox="1">
              <a:spLocks noChangeArrowheads="1"/>
            </p:cNvSpPr>
            <p:nvPr/>
          </p:nvSpPr>
          <p:spPr bwMode="auto">
            <a:xfrm>
              <a:off x="1688" y="3286"/>
              <a:ext cx="1167" cy="29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333399"/>
                  </a:solidFill>
                  <a:latin typeface="Tahoma" pitchFamily="34" charset="0"/>
                  <a:ea typeface="黑体" pitchFamily="49" charset="-122"/>
                </a:rPr>
                <a:t>发送时延 </a:t>
              </a:r>
              <a:r>
                <a:rPr lang="en-US" altLang="zh-CN" sz="2400" b="1" dirty="0">
                  <a:solidFill>
                    <a:srgbClr val="333399"/>
                  </a:solidFill>
                  <a:latin typeface="Tahoma" pitchFamily="34" charset="0"/>
                  <a:ea typeface="黑体" pitchFamily="49" charset="-122"/>
                </a:rPr>
                <a:t>= </a:t>
              </a:r>
            </a:p>
          </p:txBody>
        </p:sp>
        <p:sp>
          <p:nvSpPr>
            <p:cNvPr id="50185" name="Text Box 10"/>
            <p:cNvSpPr txBox="1">
              <a:spLocks noChangeArrowheads="1"/>
            </p:cNvSpPr>
            <p:nvPr/>
          </p:nvSpPr>
          <p:spPr bwMode="auto">
            <a:xfrm>
              <a:off x="2789" y="3142"/>
              <a:ext cx="1870" cy="29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333399"/>
                  </a:solidFill>
                  <a:latin typeface="Tahoma" pitchFamily="34" charset="0"/>
                  <a:ea typeface="黑体" pitchFamily="49" charset="-122"/>
                </a:rPr>
                <a:t>数据块长度（</a:t>
              </a:r>
              <a:r>
                <a:rPr lang="zh-CN" altLang="en-US" sz="2400" b="1" dirty="0">
                  <a:solidFill>
                    <a:schemeClr val="hlink"/>
                  </a:solidFill>
                  <a:latin typeface="Tahoma" pitchFamily="34" charset="0"/>
                  <a:ea typeface="黑体" pitchFamily="49" charset="-122"/>
                </a:rPr>
                <a:t>比特</a:t>
              </a:r>
              <a:r>
                <a:rPr lang="zh-CN" altLang="en-US" sz="2400" b="1" dirty="0">
                  <a:solidFill>
                    <a:srgbClr val="333399"/>
                  </a:solidFill>
                  <a:latin typeface="Tahoma" pitchFamily="34" charset="0"/>
                  <a:ea typeface="黑体" pitchFamily="49" charset="-122"/>
                </a:rPr>
                <a:t>）</a:t>
              </a:r>
            </a:p>
          </p:txBody>
        </p:sp>
        <p:sp>
          <p:nvSpPr>
            <p:cNvPr id="50186" name="Text Box 11"/>
            <p:cNvSpPr txBox="1">
              <a:spLocks noChangeArrowheads="1"/>
            </p:cNvSpPr>
            <p:nvPr/>
          </p:nvSpPr>
          <p:spPr bwMode="auto">
            <a:xfrm>
              <a:off x="2778" y="3467"/>
              <a:ext cx="1982" cy="29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a:solidFill>
                    <a:srgbClr val="333399"/>
                  </a:solidFill>
                  <a:latin typeface="Tahoma" pitchFamily="34" charset="0"/>
                  <a:ea typeface="黑体" pitchFamily="49" charset="-122"/>
                </a:rPr>
                <a:t>信道带宽（</a:t>
              </a:r>
              <a:r>
                <a:rPr lang="zh-CN" altLang="en-US" sz="2400" b="1">
                  <a:solidFill>
                    <a:schemeClr val="hlink"/>
                  </a:solidFill>
                  <a:latin typeface="Tahoma" pitchFamily="34" charset="0"/>
                  <a:ea typeface="黑体" pitchFamily="49" charset="-122"/>
                </a:rPr>
                <a:t>比特</a:t>
              </a:r>
              <a:r>
                <a:rPr lang="en-US" altLang="zh-CN" sz="2400" b="1">
                  <a:solidFill>
                    <a:schemeClr val="hlink"/>
                  </a:solidFill>
                  <a:latin typeface="Tahoma" pitchFamily="34" charset="0"/>
                  <a:ea typeface="黑体" pitchFamily="49" charset="-122"/>
                </a:rPr>
                <a:t>/</a:t>
              </a:r>
              <a:r>
                <a:rPr lang="zh-CN" altLang="en-US" sz="2400" b="1">
                  <a:solidFill>
                    <a:schemeClr val="hlink"/>
                  </a:solidFill>
                  <a:latin typeface="Tahoma" pitchFamily="34" charset="0"/>
                  <a:ea typeface="黑体" pitchFamily="49" charset="-122"/>
                </a:rPr>
                <a:t>秒</a:t>
              </a:r>
              <a:r>
                <a:rPr lang="zh-CN" altLang="en-US" sz="2400" b="1">
                  <a:solidFill>
                    <a:srgbClr val="333399"/>
                  </a:solidFill>
                  <a:latin typeface="Tahoma" pitchFamily="34" charset="0"/>
                  <a:ea typeface="黑体" pitchFamily="49" charset="-122"/>
                </a:rPr>
                <a:t>）</a:t>
              </a:r>
            </a:p>
          </p:txBody>
        </p:sp>
        <p:sp>
          <p:nvSpPr>
            <p:cNvPr id="50187" name="Line 12"/>
            <p:cNvSpPr>
              <a:spLocks noChangeShapeType="1"/>
            </p:cNvSpPr>
            <p:nvPr/>
          </p:nvSpPr>
          <p:spPr bwMode="auto">
            <a:xfrm>
              <a:off x="2789" y="3459"/>
              <a:ext cx="1844"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1" name="Down Arrow 20"/>
          <p:cNvSpPr/>
          <p:nvPr/>
        </p:nvSpPr>
        <p:spPr>
          <a:xfrm>
            <a:off x="3575720" y="3199370"/>
            <a:ext cx="500062" cy="50006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0182"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1" name="Group 6"/>
          <p:cNvGrpSpPr>
            <a:grpSpLocks/>
          </p:cNvGrpSpPr>
          <p:nvPr/>
        </p:nvGrpSpPr>
        <p:grpSpPr bwMode="auto">
          <a:xfrm>
            <a:off x="569590" y="1791023"/>
            <a:ext cx="1277938" cy="1277937"/>
            <a:chOff x="3476127" y="42101"/>
            <a:chExt cx="1277346" cy="1277346"/>
          </a:xfrm>
        </p:grpSpPr>
        <p:sp>
          <p:nvSpPr>
            <p:cNvPr id="13"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4"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sp>
        <p:nvSpPr>
          <p:cNvPr id="15" name="Text Placeholder 7"/>
          <p:cNvSpPr txBox="1">
            <a:spLocks noChangeArrowheads="1"/>
          </p:cNvSpPr>
          <p:nvPr/>
        </p:nvSpPr>
        <p:spPr bwMode="auto">
          <a:xfrm>
            <a:off x="1931728" y="5217008"/>
            <a:ext cx="9492864" cy="1357179"/>
          </a:xfrm>
          <a:prstGeom prst="rect">
            <a:avLst/>
          </a:prstGeom>
          <a:solidFill>
            <a:srgbClr val="D6E5BD"/>
          </a:solidFill>
          <a:ln>
            <a:noFill/>
          </a:ln>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0" indent="0" eaLnBrk="1" hangingPunct="1">
              <a:lnSpc>
                <a:spcPct val="100000"/>
              </a:lnSpc>
              <a:buNone/>
            </a:pPr>
            <a:r>
              <a:rPr lang="zh-CN" altLang="en-US" sz="2800" b="1" dirty="0" smtClean="0">
                <a:solidFill>
                  <a:srgbClr val="1C1C1C"/>
                </a:solidFill>
              </a:rPr>
              <a:t>发送时延是</a:t>
            </a:r>
            <a:r>
              <a:rPr lang="zh-CN" altLang="en-US" sz="2800" b="1" dirty="0">
                <a:solidFill>
                  <a:srgbClr val="1C1C1C"/>
                </a:solidFill>
              </a:rPr>
              <a:t>主机或路由器发送</a:t>
            </a:r>
            <a:r>
              <a:rPr lang="zh-CN" altLang="en-US" sz="2800" b="1" dirty="0" smtClean="0">
                <a:solidFill>
                  <a:srgbClr val="1C1C1C"/>
                </a:solidFill>
              </a:rPr>
              <a:t>数据所</a:t>
            </a:r>
            <a:r>
              <a:rPr lang="zh-CN" altLang="en-US" sz="2800" b="1" dirty="0">
                <a:solidFill>
                  <a:srgbClr val="1C1C1C"/>
                </a:solidFill>
              </a:rPr>
              <a:t>需要的时间，也就是从发送</a:t>
            </a:r>
            <a:r>
              <a:rPr lang="zh-CN" altLang="en-US" sz="2800" b="1" dirty="0" smtClean="0">
                <a:solidFill>
                  <a:srgbClr val="1C1C1C"/>
                </a:solidFill>
              </a:rPr>
              <a:t>数据的</a:t>
            </a:r>
            <a:r>
              <a:rPr lang="zh-CN" altLang="en-US" sz="2800" b="1" dirty="0">
                <a:solidFill>
                  <a:srgbClr val="C00000"/>
                </a:solidFill>
              </a:rPr>
              <a:t>第一个比特</a:t>
            </a:r>
            <a:r>
              <a:rPr lang="zh-CN" altLang="en-US" sz="2800" b="1" dirty="0">
                <a:solidFill>
                  <a:srgbClr val="1C1C1C"/>
                </a:solidFill>
              </a:rPr>
              <a:t>算起，</a:t>
            </a:r>
            <a:r>
              <a:rPr lang="zh-CN" altLang="en-US" sz="2800" b="1" dirty="0" smtClean="0">
                <a:solidFill>
                  <a:srgbClr val="1C1C1C"/>
                </a:solidFill>
              </a:rPr>
              <a:t>到发送完</a:t>
            </a:r>
            <a:r>
              <a:rPr lang="zh-CN" altLang="en-US" sz="2800" b="1" dirty="0" smtClean="0">
                <a:solidFill>
                  <a:srgbClr val="1C1C1C"/>
                </a:solidFill>
              </a:rPr>
              <a:t>该</a:t>
            </a:r>
            <a:r>
              <a:rPr lang="zh-CN" altLang="en-US" sz="2800" b="1" dirty="0">
                <a:solidFill>
                  <a:srgbClr val="1C1C1C"/>
                </a:solidFill>
              </a:rPr>
              <a:t>数据</a:t>
            </a:r>
            <a:r>
              <a:rPr lang="zh-CN" altLang="en-US" sz="2800" b="1" dirty="0" smtClean="0">
                <a:solidFill>
                  <a:srgbClr val="1C1C1C"/>
                </a:solidFill>
              </a:rPr>
              <a:t>的</a:t>
            </a:r>
            <a:r>
              <a:rPr lang="zh-CN" altLang="en-US" sz="2800" b="1" dirty="0">
                <a:solidFill>
                  <a:srgbClr val="C00000"/>
                </a:solidFill>
              </a:rPr>
              <a:t>最后一个</a:t>
            </a:r>
            <a:r>
              <a:rPr lang="zh-CN" altLang="en-US" sz="2800" b="1" dirty="0" smtClean="0">
                <a:solidFill>
                  <a:srgbClr val="C00000"/>
                </a:solidFill>
              </a:rPr>
              <a:t>比特</a:t>
            </a:r>
            <a:r>
              <a:rPr lang="zh-CN" altLang="en-US" sz="2800" b="1" dirty="0" smtClean="0">
                <a:solidFill>
                  <a:srgbClr val="1C1C1C"/>
                </a:solidFill>
              </a:rPr>
              <a:t>为止所</a:t>
            </a:r>
            <a:r>
              <a:rPr lang="zh-CN" altLang="en-US" sz="2800" b="1" dirty="0">
                <a:solidFill>
                  <a:srgbClr val="1C1C1C"/>
                </a:solidFill>
              </a:rPr>
              <a:t>需的时间。</a:t>
            </a:r>
          </a:p>
          <a:p>
            <a:pPr marL="457200" indent="-457200" eaLnBrk="1" hangingPunct="1"/>
            <a:endParaRPr lang="zh-CN" altLang="en-US" b="1" dirty="0"/>
          </a:p>
          <a:p>
            <a:pPr marL="457200" indent="-457200" eaLnBrk="1" hangingPunct="1"/>
            <a:endParaRPr lang="zh-CN" altLang="en-US" b="1" dirty="0"/>
          </a:p>
          <a:p>
            <a:pPr marL="935038" lvl="1" indent="-457200" eaLnBrk="1" hangingPunct="1"/>
            <a:endParaRPr lang="zh-CN" altLang="en-US" b="1" dirty="0"/>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extLst>
              <p:ext uri="{D42A27DB-BD31-4B8C-83A1-F6EECF244321}">
                <p14:modId xmlns:p14="http://schemas.microsoft.com/office/powerpoint/2010/main" val="1279312140"/>
              </p:ext>
            </p:extLst>
          </p:nvPr>
        </p:nvGraphicFramePr>
        <p:xfrm>
          <a:off x="3096344" y="764704"/>
          <a:ext cx="6096000" cy="2857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Down Arrow 4"/>
          <p:cNvSpPr/>
          <p:nvPr/>
        </p:nvSpPr>
        <p:spPr>
          <a:xfrm>
            <a:off x="5087888" y="3194170"/>
            <a:ext cx="500062" cy="50006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1205" name="Group 20"/>
          <p:cNvGrpSpPr>
            <a:grpSpLocks/>
          </p:cNvGrpSpPr>
          <p:nvPr/>
        </p:nvGrpSpPr>
        <p:grpSpPr bwMode="auto">
          <a:xfrm>
            <a:off x="2711450" y="3838248"/>
            <a:ext cx="6984950" cy="1225550"/>
            <a:chOff x="1020" y="2840"/>
            <a:chExt cx="4264" cy="772"/>
          </a:xfrm>
        </p:grpSpPr>
        <p:sp>
          <p:nvSpPr>
            <p:cNvPr id="51207" name="Rectangle 7"/>
            <p:cNvSpPr>
              <a:spLocks noChangeArrowheads="1"/>
            </p:cNvSpPr>
            <p:nvPr/>
          </p:nvSpPr>
          <p:spPr bwMode="auto">
            <a:xfrm>
              <a:off x="1020" y="2840"/>
              <a:ext cx="4264" cy="772"/>
            </a:xfrm>
            <a:prstGeom prst="rect">
              <a:avLst/>
            </a:prstGeom>
            <a:solidFill>
              <a:srgbClr val="FFFF99"/>
            </a:solidFill>
            <a:ln w="76200" cmpd="tri">
              <a:solidFill>
                <a:schemeClr val="folHlink"/>
              </a:solidFill>
              <a:miter lim="800000"/>
              <a:headEnd/>
              <a:tailEnd/>
            </a:ln>
          </p:spPr>
          <p:txBody>
            <a:bodyPr wrap="none" anchor="ctr"/>
            <a:lstStyle/>
            <a:p>
              <a:pPr eaLnBrk="1" hangingPunct="1"/>
              <a:endParaRPr lang="en-US" altLang="zh-CN" b="1"/>
            </a:p>
          </p:txBody>
        </p:sp>
        <p:sp>
          <p:nvSpPr>
            <p:cNvPr id="51208" name="Text Box 9"/>
            <p:cNvSpPr txBox="1">
              <a:spLocks noChangeArrowheads="1"/>
            </p:cNvSpPr>
            <p:nvPr/>
          </p:nvSpPr>
          <p:spPr bwMode="auto">
            <a:xfrm>
              <a:off x="1134" y="3060"/>
              <a:ext cx="1167" cy="29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333399"/>
                  </a:solidFill>
                  <a:latin typeface="Tahoma" pitchFamily="34" charset="0"/>
                  <a:ea typeface="黑体" pitchFamily="49" charset="-122"/>
                </a:rPr>
                <a:t>传播时延 </a:t>
              </a:r>
              <a:r>
                <a:rPr lang="en-US" altLang="zh-CN" sz="2400" b="1" dirty="0">
                  <a:solidFill>
                    <a:srgbClr val="333399"/>
                  </a:solidFill>
                  <a:latin typeface="Tahoma" pitchFamily="34" charset="0"/>
                  <a:ea typeface="黑体" pitchFamily="49" charset="-122"/>
                </a:rPr>
                <a:t>= </a:t>
              </a:r>
            </a:p>
          </p:txBody>
        </p:sp>
        <p:sp>
          <p:nvSpPr>
            <p:cNvPr id="51209" name="Text Box 10"/>
            <p:cNvSpPr txBox="1">
              <a:spLocks noChangeArrowheads="1"/>
            </p:cNvSpPr>
            <p:nvPr/>
          </p:nvSpPr>
          <p:spPr bwMode="auto">
            <a:xfrm>
              <a:off x="3007" y="2916"/>
              <a:ext cx="1481" cy="29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333399"/>
                  </a:solidFill>
                  <a:latin typeface="Tahoma" pitchFamily="34" charset="0"/>
                  <a:ea typeface="黑体" pitchFamily="49" charset="-122"/>
                </a:rPr>
                <a:t>信道长度（</a:t>
              </a:r>
              <a:r>
                <a:rPr lang="zh-CN" altLang="en-US" sz="2400" b="1" dirty="0">
                  <a:solidFill>
                    <a:schemeClr val="hlink"/>
                  </a:solidFill>
                  <a:latin typeface="Tahoma" pitchFamily="34" charset="0"/>
                  <a:ea typeface="黑体" pitchFamily="49" charset="-122"/>
                </a:rPr>
                <a:t>米</a:t>
              </a:r>
              <a:r>
                <a:rPr lang="zh-CN" altLang="en-US" sz="2400" b="1" dirty="0">
                  <a:solidFill>
                    <a:srgbClr val="333399"/>
                  </a:solidFill>
                  <a:latin typeface="Tahoma" pitchFamily="34" charset="0"/>
                  <a:ea typeface="黑体" pitchFamily="49" charset="-122"/>
                </a:rPr>
                <a:t>）</a:t>
              </a:r>
            </a:p>
          </p:txBody>
        </p:sp>
        <p:sp>
          <p:nvSpPr>
            <p:cNvPr id="51210" name="Text Box 11"/>
            <p:cNvSpPr txBox="1">
              <a:spLocks noChangeArrowheads="1"/>
            </p:cNvSpPr>
            <p:nvPr/>
          </p:nvSpPr>
          <p:spPr bwMode="auto">
            <a:xfrm>
              <a:off x="2203" y="3241"/>
              <a:ext cx="2993" cy="29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a:solidFill>
                    <a:srgbClr val="333399"/>
                  </a:solidFill>
                  <a:latin typeface="Tahoma" pitchFamily="34" charset="0"/>
                  <a:ea typeface="黑体" pitchFamily="49" charset="-122"/>
                </a:rPr>
                <a:t>信号在信道上的传播速率（</a:t>
              </a:r>
              <a:r>
                <a:rPr lang="zh-CN" altLang="en-US" sz="2400" b="1" dirty="0">
                  <a:solidFill>
                    <a:schemeClr val="hlink"/>
                  </a:solidFill>
                  <a:latin typeface="Tahoma" pitchFamily="34" charset="0"/>
                  <a:ea typeface="黑体" pitchFamily="49" charset="-122"/>
                </a:rPr>
                <a:t>米</a:t>
              </a:r>
              <a:r>
                <a:rPr lang="en-US" altLang="zh-CN" sz="2400" b="1" dirty="0">
                  <a:solidFill>
                    <a:schemeClr val="hlink"/>
                  </a:solidFill>
                  <a:latin typeface="Tahoma" pitchFamily="34" charset="0"/>
                  <a:ea typeface="黑体" pitchFamily="49" charset="-122"/>
                </a:rPr>
                <a:t>/</a:t>
              </a:r>
              <a:r>
                <a:rPr lang="zh-CN" altLang="en-US" sz="2400" b="1" dirty="0">
                  <a:solidFill>
                    <a:schemeClr val="hlink"/>
                  </a:solidFill>
                  <a:latin typeface="Tahoma" pitchFamily="34" charset="0"/>
                  <a:ea typeface="黑体" pitchFamily="49" charset="-122"/>
                </a:rPr>
                <a:t>秒</a:t>
              </a:r>
              <a:r>
                <a:rPr lang="zh-CN" altLang="en-US" sz="2400" b="1" dirty="0">
                  <a:solidFill>
                    <a:srgbClr val="333399"/>
                  </a:solidFill>
                  <a:latin typeface="Tahoma" pitchFamily="34" charset="0"/>
                  <a:ea typeface="黑体" pitchFamily="49" charset="-122"/>
                </a:rPr>
                <a:t>）</a:t>
              </a:r>
            </a:p>
          </p:txBody>
        </p:sp>
        <p:sp>
          <p:nvSpPr>
            <p:cNvPr id="51211" name="Line 12"/>
            <p:cNvSpPr>
              <a:spLocks noChangeShapeType="1"/>
            </p:cNvSpPr>
            <p:nvPr/>
          </p:nvSpPr>
          <p:spPr bwMode="auto">
            <a:xfrm>
              <a:off x="2190" y="3233"/>
              <a:ext cx="291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51206"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1" name="Group 6"/>
          <p:cNvGrpSpPr>
            <a:grpSpLocks/>
          </p:cNvGrpSpPr>
          <p:nvPr/>
        </p:nvGrpSpPr>
        <p:grpSpPr bwMode="auto">
          <a:xfrm>
            <a:off x="569590" y="1791023"/>
            <a:ext cx="1277938" cy="1277937"/>
            <a:chOff x="3476127" y="42101"/>
            <a:chExt cx="1277346" cy="1277346"/>
          </a:xfrm>
        </p:grpSpPr>
        <p:sp>
          <p:nvSpPr>
            <p:cNvPr id="13"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4"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sp>
        <p:nvSpPr>
          <p:cNvPr id="15" name="Text Placeholder 7"/>
          <p:cNvSpPr txBox="1">
            <a:spLocks noChangeArrowheads="1"/>
          </p:cNvSpPr>
          <p:nvPr/>
        </p:nvSpPr>
        <p:spPr bwMode="auto">
          <a:xfrm>
            <a:off x="1931728" y="5117901"/>
            <a:ext cx="9492864" cy="1772816"/>
          </a:xfrm>
          <a:prstGeom prst="rect">
            <a:avLst/>
          </a:prstGeom>
          <a:solidFill>
            <a:srgbClr val="D6E5BD"/>
          </a:solidFill>
          <a:ln>
            <a:noFill/>
          </a:ln>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0" indent="0" eaLnBrk="1" hangingPunct="1">
              <a:lnSpc>
                <a:spcPct val="100000"/>
              </a:lnSpc>
              <a:buNone/>
            </a:pPr>
            <a:r>
              <a:rPr lang="zh-CN" altLang="en-US" sz="2800" b="1" dirty="0" smtClean="0">
                <a:solidFill>
                  <a:srgbClr val="1C1C1C"/>
                </a:solidFill>
              </a:rPr>
              <a:t>传播时延是</a:t>
            </a:r>
            <a:r>
              <a:rPr lang="zh-CN" altLang="en-US" sz="2800" b="1" dirty="0">
                <a:solidFill>
                  <a:srgbClr val="C00000"/>
                </a:solidFill>
              </a:rPr>
              <a:t>电磁波</a:t>
            </a:r>
            <a:r>
              <a:rPr lang="zh-CN" altLang="en-US" sz="2800" b="1" dirty="0">
                <a:solidFill>
                  <a:srgbClr val="1C1C1C"/>
                </a:solidFill>
              </a:rPr>
              <a:t>在信道中传播一定的距离需要花费的</a:t>
            </a:r>
            <a:r>
              <a:rPr lang="zh-CN" altLang="en-US" sz="2800" b="1" dirty="0" smtClean="0">
                <a:solidFill>
                  <a:srgbClr val="1C1C1C"/>
                </a:solidFill>
              </a:rPr>
              <a:t>时间。电磁波在自由空间的传播速率是</a:t>
            </a:r>
            <a:r>
              <a:rPr lang="en-US" altLang="zh-CN" sz="2800" b="1" dirty="0" smtClean="0">
                <a:solidFill>
                  <a:srgbClr val="1C1C1C"/>
                </a:solidFill>
              </a:rPr>
              <a:t> 3.0</a:t>
            </a:r>
            <a:r>
              <a:rPr lang="zh-CN" altLang="en-US" sz="2800" b="1" dirty="0" smtClean="0">
                <a:solidFill>
                  <a:srgbClr val="1C1C1C"/>
                </a:solidFill>
              </a:rPr>
              <a:t>ⅹ</a:t>
            </a:r>
            <a:r>
              <a:rPr lang="en-US" altLang="zh-CN" sz="2800" b="1" dirty="0" smtClean="0">
                <a:solidFill>
                  <a:srgbClr val="1C1C1C"/>
                </a:solidFill>
              </a:rPr>
              <a:t>10</a:t>
            </a:r>
            <a:r>
              <a:rPr lang="en-US" altLang="zh-CN" sz="2800" b="1" baseline="30000" dirty="0" smtClean="0">
                <a:solidFill>
                  <a:srgbClr val="1C1C1C"/>
                </a:solidFill>
              </a:rPr>
              <a:t>5</a:t>
            </a:r>
            <a:r>
              <a:rPr lang="en-US" altLang="zh-CN" sz="2800" b="1" dirty="0" smtClean="0">
                <a:solidFill>
                  <a:srgbClr val="1C1C1C"/>
                </a:solidFill>
              </a:rPr>
              <a:t> km/s</a:t>
            </a:r>
            <a:r>
              <a:rPr lang="zh-CN" altLang="en-US" sz="2800" b="1" dirty="0" smtClean="0">
                <a:solidFill>
                  <a:srgbClr val="1C1C1C"/>
                </a:solidFill>
              </a:rPr>
              <a:t>，在</a:t>
            </a:r>
            <a:r>
              <a:rPr lang="zh-CN" altLang="en-US" sz="2800" b="1" dirty="0">
                <a:solidFill>
                  <a:srgbClr val="1C1C1C"/>
                </a:solidFill>
              </a:rPr>
              <a:t>铜线电缆中的传播速率</a:t>
            </a:r>
            <a:r>
              <a:rPr lang="zh-CN" altLang="en-US" sz="2800" b="1" dirty="0" smtClean="0">
                <a:solidFill>
                  <a:srgbClr val="1C1C1C"/>
                </a:solidFill>
              </a:rPr>
              <a:t>约为</a:t>
            </a:r>
            <a:r>
              <a:rPr lang="en-US" altLang="zh-CN" sz="2800" b="1" dirty="0" smtClean="0">
                <a:solidFill>
                  <a:srgbClr val="1C1C1C"/>
                </a:solidFill>
              </a:rPr>
              <a:t> 2.3</a:t>
            </a:r>
            <a:r>
              <a:rPr lang="zh-CN" altLang="en-US" sz="2800" b="1" dirty="0" smtClean="0">
                <a:solidFill>
                  <a:srgbClr val="1C1C1C"/>
                </a:solidFill>
              </a:rPr>
              <a:t>ⅹ</a:t>
            </a:r>
            <a:r>
              <a:rPr lang="en-US" altLang="zh-CN" sz="2800" b="1" dirty="0" smtClean="0">
                <a:solidFill>
                  <a:srgbClr val="1C1C1C"/>
                </a:solidFill>
              </a:rPr>
              <a:t>10</a:t>
            </a:r>
            <a:r>
              <a:rPr lang="en-US" altLang="zh-CN" sz="2800" b="1" baseline="30000" dirty="0" smtClean="0">
                <a:solidFill>
                  <a:srgbClr val="1C1C1C"/>
                </a:solidFill>
              </a:rPr>
              <a:t>5</a:t>
            </a:r>
            <a:r>
              <a:rPr lang="en-US" altLang="zh-CN" sz="2800" b="1" dirty="0" smtClean="0">
                <a:solidFill>
                  <a:srgbClr val="1C1C1C"/>
                </a:solidFill>
              </a:rPr>
              <a:t> km/s</a:t>
            </a:r>
            <a:r>
              <a:rPr lang="zh-CN" altLang="en-US" sz="2800" b="1" dirty="0" smtClean="0">
                <a:solidFill>
                  <a:srgbClr val="1C1C1C"/>
                </a:solidFill>
              </a:rPr>
              <a:t>，在</a:t>
            </a:r>
            <a:r>
              <a:rPr lang="zh-CN" altLang="en-US" sz="2800" b="1" dirty="0">
                <a:solidFill>
                  <a:srgbClr val="1C1C1C"/>
                </a:solidFill>
              </a:rPr>
              <a:t>光纤中的传播速率</a:t>
            </a:r>
            <a:r>
              <a:rPr lang="zh-CN" altLang="en-US" sz="2800" b="1" dirty="0" smtClean="0">
                <a:solidFill>
                  <a:srgbClr val="1C1C1C"/>
                </a:solidFill>
              </a:rPr>
              <a:t>约为 </a:t>
            </a:r>
            <a:r>
              <a:rPr lang="en-US" altLang="zh-CN" sz="2800" b="1" dirty="0" smtClean="0">
                <a:solidFill>
                  <a:srgbClr val="1C1C1C"/>
                </a:solidFill>
              </a:rPr>
              <a:t>2.0</a:t>
            </a:r>
            <a:r>
              <a:rPr lang="zh-CN" altLang="en-US" sz="2800" b="1" dirty="0" smtClean="0">
                <a:solidFill>
                  <a:srgbClr val="1C1C1C"/>
                </a:solidFill>
              </a:rPr>
              <a:t>ⅹ</a:t>
            </a:r>
            <a:r>
              <a:rPr lang="en-US" altLang="zh-CN" sz="2800" b="1" dirty="0" smtClean="0">
                <a:solidFill>
                  <a:srgbClr val="1C1C1C"/>
                </a:solidFill>
              </a:rPr>
              <a:t>10</a:t>
            </a:r>
            <a:r>
              <a:rPr lang="en-US" altLang="zh-CN" sz="2800" b="1" baseline="30000" dirty="0" smtClean="0">
                <a:solidFill>
                  <a:srgbClr val="1C1C1C"/>
                </a:solidFill>
              </a:rPr>
              <a:t>5</a:t>
            </a:r>
            <a:r>
              <a:rPr lang="en-US" altLang="zh-CN" sz="2800" b="1" dirty="0" smtClean="0">
                <a:solidFill>
                  <a:srgbClr val="1C1C1C"/>
                </a:solidFill>
              </a:rPr>
              <a:t> </a:t>
            </a:r>
            <a:r>
              <a:rPr lang="en-US" altLang="zh-CN" sz="2800" b="1" dirty="0">
                <a:solidFill>
                  <a:srgbClr val="1C1C1C"/>
                </a:solidFill>
              </a:rPr>
              <a:t>km/s</a:t>
            </a:r>
          </a:p>
          <a:p>
            <a:pPr marL="0" indent="0" eaLnBrk="1" hangingPunct="1">
              <a:lnSpc>
                <a:spcPct val="100000"/>
              </a:lnSpc>
              <a:buNone/>
            </a:pPr>
            <a:endParaRPr lang="zh-CN" altLang="en-US" b="1" dirty="0" smtClean="0">
              <a:solidFill>
                <a:srgbClr val="1C1C1C"/>
              </a:solidFill>
            </a:endParaRPr>
          </a:p>
          <a:p>
            <a:pPr marL="0" indent="0" eaLnBrk="1" hangingPunct="1">
              <a:buNone/>
            </a:pPr>
            <a:endParaRPr lang="zh-CN" altLang="en-US" b="1" dirty="0"/>
          </a:p>
          <a:p>
            <a:pPr marL="457200" indent="-457200" eaLnBrk="1" hangingPunct="1"/>
            <a:endParaRPr lang="zh-CN" altLang="en-US" b="1" dirty="0"/>
          </a:p>
          <a:p>
            <a:pPr marL="935038" lvl="1" indent="-457200" eaLnBrk="1" hangingPunct="1"/>
            <a:endParaRPr lang="zh-CN" altLang="en-US" b="1" dirty="0"/>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1" name="Group 6"/>
          <p:cNvGrpSpPr>
            <a:grpSpLocks/>
          </p:cNvGrpSpPr>
          <p:nvPr/>
        </p:nvGrpSpPr>
        <p:grpSpPr bwMode="auto">
          <a:xfrm>
            <a:off x="569590" y="1791023"/>
            <a:ext cx="1277938" cy="1277937"/>
            <a:chOff x="3476127" y="42101"/>
            <a:chExt cx="1277346" cy="1277346"/>
          </a:xfrm>
        </p:grpSpPr>
        <p:sp>
          <p:nvSpPr>
            <p:cNvPr id="13"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4"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sp>
        <p:nvSpPr>
          <p:cNvPr id="16"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b="1" dirty="0"/>
              <a:t>注意：</a:t>
            </a:r>
            <a:r>
              <a:rPr lang="zh-CN" altLang="en-US" b="1" dirty="0">
                <a:solidFill>
                  <a:srgbClr val="C00000"/>
                </a:solidFill>
              </a:rPr>
              <a:t>发送时延</a:t>
            </a:r>
            <a:r>
              <a:rPr lang="zh-CN" altLang="en-US" b="1" dirty="0"/>
              <a:t>与</a:t>
            </a:r>
            <a:r>
              <a:rPr lang="zh-CN" altLang="en-US" b="1" dirty="0">
                <a:solidFill>
                  <a:srgbClr val="C00000"/>
                </a:solidFill>
              </a:rPr>
              <a:t>传播时延</a:t>
            </a:r>
            <a:r>
              <a:rPr lang="zh-CN" altLang="en-US" b="1" dirty="0"/>
              <a:t>有本质上的不同。</a:t>
            </a:r>
          </a:p>
          <a:p>
            <a:pPr marL="935038" lvl="1" indent="-457200" eaLnBrk="1" hangingPunct="1"/>
            <a:r>
              <a:rPr lang="zh-CN" altLang="en-US" b="1" dirty="0">
                <a:solidFill>
                  <a:srgbClr val="C00000"/>
                </a:solidFill>
              </a:rPr>
              <a:t>发送时延</a:t>
            </a:r>
            <a:r>
              <a:rPr lang="zh-CN" altLang="en-US" b="1" dirty="0"/>
              <a:t>发生在机器内部的</a:t>
            </a:r>
            <a:r>
              <a:rPr lang="zh-CN" altLang="en-US" b="1" dirty="0" smtClean="0"/>
              <a:t>发送器（网卡）中</a:t>
            </a:r>
            <a:r>
              <a:rPr lang="zh-CN" altLang="en-US" b="1" dirty="0"/>
              <a:t>，与传输信道的长度（或信号传送的距离）没有任何</a:t>
            </a:r>
            <a:r>
              <a:rPr lang="zh-CN" altLang="en-US" b="1" dirty="0" smtClean="0"/>
              <a:t>关系；</a:t>
            </a:r>
            <a:endParaRPr lang="zh-CN" altLang="en-US" b="1" dirty="0"/>
          </a:p>
          <a:p>
            <a:pPr marL="935038" lvl="1" indent="-457200" eaLnBrk="1" hangingPunct="1"/>
            <a:r>
              <a:rPr lang="zh-CN" altLang="en-US" b="1" dirty="0">
                <a:solidFill>
                  <a:srgbClr val="C00000"/>
                </a:solidFill>
              </a:rPr>
              <a:t>传播时延</a:t>
            </a:r>
            <a:r>
              <a:rPr lang="zh-CN" altLang="en-US" b="1" dirty="0"/>
              <a:t>则发生在机器外部的传输信道媒体上，而与信号的发送速率无关。信号传送的距离越远，传播时延就越大。</a:t>
            </a:r>
          </a:p>
          <a:p>
            <a:pPr marL="457200" indent="-457200" eaLnBrk="1" hangingPunct="1"/>
            <a:endParaRPr lang="zh-CN" altLang="en-US" b="1" dirty="0" smtClean="0"/>
          </a:p>
          <a:p>
            <a:pPr marL="457200" indent="-457200" eaLnBrk="1" hangingPunct="1"/>
            <a:endParaRPr lang="zh-CN" altLang="en-US" b="1" dirty="0"/>
          </a:p>
          <a:p>
            <a:pPr marL="457200" indent="-457200" eaLnBrk="1" hangingPunct="1"/>
            <a:endParaRPr lang="zh-CN" altLang="en-US" b="1" dirty="0"/>
          </a:p>
          <a:p>
            <a:pPr marL="935038" lvl="1" indent="-457200" eaLnBrk="1" hangingPunct="1"/>
            <a:endParaRPr lang="zh-CN" altLang="en-US" b="1" dirty="0"/>
          </a:p>
        </p:txBody>
      </p:sp>
    </p:spTree>
    <p:extLst>
      <p:ext uri="{BB962C8B-B14F-4D97-AF65-F5344CB8AC3E}">
        <p14:creationId xmlns:p14="http://schemas.microsoft.com/office/powerpoint/2010/main" val="2750532585"/>
      </p:ext>
    </p:extLst>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11"/>
          <p:cNvGraphicFramePr/>
          <p:nvPr>
            <p:extLst>
              <p:ext uri="{D42A27DB-BD31-4B8C-83A1-F6EECF244321}">
                <p14:modId xmlns:p14="http://schemas.microsoft.com/office/powerpoint/2010/main" val="4237801803"/>
              </p:ext>
            </p:extLst>
          </p:nvPr>
        </p:nvGraphicFramePr>
        <p:xfrm>
          <a:off x="3096344" y="764704"/>
          <a:ext cx="6096000" cy="2857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Down Arrow 4"/>
          <p:cNvSpPr/>
          <p:nvPr/>
        </p:nvSpPr>
        <p:spPr>
          <a:xfrm>
            <a:off x="6748065" y="3190176"/>
            <a:ext cx="500063" cy="50006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2229" name="TextBox 5"/>
          <p:cNvSpPr txBox="1">
            <a:spLocks noChangeArrowheads="1"/>
          </p:cNvSpPr>
          <p:nvPr/>
        </p:nvSpPr>
        <p:spPr bwMode="auto">
          <a:xfrm>
            <a:off x="5738813" y="3982264"/>
            <a:ext cx="2857500" cy="830997"/>
          </a:xfrm>
          <a:prstGeom prst="rect">
            <a:avLst/>
          </a:prstGeom>
          <a:solidFill>
            <a:srgbClr val="FFFF99"/>
          </a:solidFill>
          <a:ln w="38100">
            <a:solidFill>
              <a:srgbClr val="EB641B"/>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smtClean="0">
                <a:solidFill>
                  <a:srgbClr val="333399"/>
                </a:solidFill>
                <a:latin typeface="黑体" pitchFamily="49" charset="-122"/>
                <a:ea typeface="黑体" pitchFamily="49" charset="-122"/>
              </a:rPr>
              <a:t>网络节点</a:t>
            </a:r>
            <a:r>
              <a:rPr lang="zh-CN" altLang="en-US" sz="2400" b="1" dirty="0">
                <a:solidFill>
                  <a:srgbClr val="333399"/>
                </a:solidFill>
                <a:latin typeface="黑体" pitchFamily="49" charset="-122"/>
                <a:ea typeface="黑体" pitchFamily="49" charset="-122"/>
              </a:rPr>
              <a:t>存储转发处理时间</a:t>
            </a:r>
            <a:endParaRPr lang="en-US" altLang="zh-CN" sz="2400" b="1" dirty="0">
              <a:solidFill>
                <a:srgbClr val="333399"/>
              </a:solidFill>
              <a:latin typeface="黑体" pitchFamily="49" charset="-122"/>
              <a:ea typeface="黑体" pitchFamily="49" charset="-122"/>
            </a:endParaRPr>
          </a:p>
        </p:txBody>
      </p:sp>
      <p:sp>
        <p:nvSpPr>
          <p:cNvPr id="52230"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6" name="Group 6"/>
          <p:cNvGrpSpPr>
            <a:grpSpLocks/>
          </p:cNvGrpSpPr>
          <p:nvPr/>
        </p:nvGrpSpPr>
        <p:grpSpPr bwMode="auto">
          <a:xfrm>
            <a:off x="569590" y="1791023"/>
            <a:ext cx="1277938" cy="1277937"/>
            <a:chOff x="3476127" y="42101"/>
            <a:chExt cx="1277346" cy="1277346"/>
          </a:xfrm>
        </p:grpSpPr>
        <p:sp>
          <p:nvSpPr>
            <p:cNvPr id="7"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9"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sp>
        <p:nvSpPr>
          <p:cNvPr id="10" name="Text Placeholder 7"/>
          <p:cNvSpPr txBox="1">
            <a:spLocks noChangeArrowheads="1"/>
          </p:cNvSpPr>
          <p:nvPr/>
        </p:nvSpPr>
        <p:spPr bwMode="auto">
          <a:xfrm>
            <a:off x="1931728" y="5217008"/>
            <a:ext cx="9492864" cy="1357179"/>
          </a:xfrm>
          <a:prstGeom prst="rect">
            <a:avLst/>
          </a:prstGeom>
          <a:solidFill>
            <a:srgbClr val="D6E5BD"/>
          </a:solidFill>
          <a:ln>
            <a:noFill/>
          </a:ln>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0" indent="0" eaLnBrk="1" hangingPunct="1">
              <a:lnSpc>
                <a:spcPct val="100000"/>
              </a:lnSpc>
              <a:buNone/>
            </a:pPr>
            <a:r>
              <a:rPr lang="zh-CN" altLang="en-US" sz="2800" b="1" dirty="0" smtClean="0">
                <a:solidFill>
                  <a:srgbClr val="1C1C1C"/>
                </a:solidFill>
              </a:rPr>
              <a:t>主机</a:t>
            </a:r>
            <a:r>
              <a:rPr lang="zh-CN" altLang="en-US" sz="2800" b="1" dirty="0">
                <a:solidFill>
                  <a:srgbClr val="1C1C1C"/>
                </a:solidFill>
              </a:rPr>
              <a:t>或路由器在收到分组时，为处理分组（例如分析首部、提取数据、差错检验或</a:t>
            </a:r>
            <a:r>
              <a:rPr lang="zh-CN" altLang="en-US" sz="2800" b="1" dirty="0" smtClean="0">
                <a:solidFill>
                  <a:srgbClr val="1C1C1C"/>
                </a:solidFill>
              </a:rPr>
              <a:t>查找转发表等）</a:t>
            </a:r>
            <a:r>
              <a:rPr lang="zh-CN" altLang="en-US" sz="2800" b="1" dirty="0">
                <a:solidFill>
                  <a:srgbClr val="1C1C1C"/>
                </a:solidFill>
              </a:rPr>
              <a:t>所花费的时间。 </a:t>
            </a:r>
          </a:p>
          <a:p>
            <a:pPr marL="0" indent="0" eaLnBrk="1" hangingPunct="1">
              <a:lnSpc>
                <a:spcPct val="100000"/>
              </a:lnSpc>
              <a:buNone/>
            </a:pPr>
            <a:endParaRPr lang="zh-CN" altLang="en-US" b="1" dirty="0" smtClean="0">
              <a:solidFill>
                <a:srgbClr val="1C1C1C"/>
              </a:solidFill>
            </a:endParaRPr>
          </a:p>
          <a:p>
            <a:pPr marL="0" indent="0" eaLnBrk="1" hangingPunct="1">
              <a:buNone/>
            </a:pPr>
            <a:endParaRPr lang="zh-CN" altLang="en-US" b="1" dirty="0"/>
          </a:p>
          <a:p>
            <a:pPr marL="457200" indent="-457200" eaLnBrk="1" hangingPunct="1"/>
            <a:endParaRPr lang="zh-CN" altLang="en-US" b="1" dirty="0"/>
          </a:p>
          <a:p>
            <a:pPr marL="935038" lvl="1" indent="-457200" eaLnBrk="1" hangingPunct="1"/>
            <a:endParaRPr lang="zh-CN" altLang="en-US" b="1" dirty="0"/>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own Arrow 4"/>
          <p:cNvSpPr/>
          <p:nvPr/>
        </p:nvSpPr>
        <p:spPr>
          <a:xfrm>
            <a:off x="8310563" y="3171371"/>
            <a:ext cx="500062" cy="500062"/>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3253" name="TextBox 5"/>
          <p:cNvSpPr txBox="1">
            <a:spLocks noChangeArrowheads="1"/>
          </p:cNvSpPr>
          <p:nvPr/>
        </p:nvSpPr>
        <p:spPr bwMode="auto">
          <a:xfrm>
            <a:off x="7167563" y="3957183"/>
            <a:ext cx="2857500" cy="830997"/>
          </a:xfrm>
          <a:prstGeom prst="rect">
            <a:avLst/>
          </a:prstGeom>
          <a:solidFill>
            <a:srgbClr val="FFFF99"/>
          </a:solidFill>
          <a:ln w="38100">
            <a:solidFill>
              <a:srgbClr val="EB641B"/>
            </a:solidFill>
            <a:miter lim="800000"/>
            <a:headEnd/>
            <a:tailEnd/>
          </a:ln>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400" b="1" dirty="0" smtClean="0">
                <a:solidFill>
                  <a:srgbClr val="333399"/>
                </a:solidFill>
                <a:latin typeface="黑体" pitchFamily="49" charset="-122"/>
                <a:ea typeface="黑体" pitchFamily="49" charset="-122"/>
              </a:rPr>
              <a:t>网络节点</a:t>
            </a:r>
            <a:r>
              <a:rPr lang="zh-CN" altLang="en-US" sz="2400" b="1" dirty="0">
                <a:solidFill>
                  <a:srgbClr val="333399"/>
                </a:solidFill>
                <a:latin typeface="黑体" pitchFamily="49" charset="-122"/>
                <a:ea typeface="黑体" pitchFamily="49" charset="-122"/>
              </a:rPr>
              <a:t>缓存队列排队时间</a:t>
            </a:r>
            <a:endParaRPr lang="en-US" altLang="zh-CN" sz="2400" b="1" dirty="0">
              <a:solidFill>
                <a:srgbClr val="333399"/>
              </a:solidFill>
              <a:latin typeface="黑体" pitchFamily="49" charset="-122"/>
              <a:ea typeface="黑体" pitchFamily="49" charset="-122"/>
            </a:endParaRPr>
          </a:p>
        </p:txBody>
      </p:sp>
      <p:sp>
        <p:nvSpPr>
          <p:cNvPr id="53254"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aphicFrame>
        <p:nvGraphicFramePr>
          <p:cNvPr id="8" name="Diagram 11"/>
          <p:cNvGraphicFramePr/>
          <p:nvPr>
            <p:extLst>
              <p:ext uri="{D42A27DB-BD31-4B8C-83A1-F6EECF244321}">
                <p14:modId xmlns:p14="http://schemas.microsoft.com/office/powerpoint/2010/main" val="560872142"/>
              </p:ext>
            </p:extLst>
          </p:nvPr>
        </p:nvGraphicFramePr>
        <p:xfrm>
          <a:off x="3096344" y="764704"/>
          <a:ext cx="6096000" cy="2857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6" name="Group 6"/>
          <p:cNvGrpSpPr>
            <a:grpSpLocks/>
          </p:cNvGrpSpPr>
          <p:nvPr/>
        </p:nvGrpSpPr>
        <p:grpSpPr bwMode="auto">
          <a:xfrm>
            <a:off x="569590" y="1791023"/>
            <a:ext cx="1277938" cy="1277937"/>
            <a:chOff x="3476127" y="42101"/>
            <a:chExt cx="1277346" cy="1277346"/>
          </a:xfrm>
        </p:grpSpPr>
        <p:sp>
          <p:nvSpPr>
            <p:cNvPr id="7"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9"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sp>
        <p:nvSpPr>
          <p:cNvPr id="10" name="Text Placeholder 7"/>
          <p:cNvSpPr txBox="1">
            <a:spLocks noChangeArrowheads="1"/>
          </p:cNvSpPr>
          <p:nvPr/>
        </p:nvSpPr>
        <p:spPr bwMode="auto">
          <a:xfrm>
            <a:off x="1931728" y="5217008"/>
            <a:ext cx="9492864" cy="1357179"/>
          </a:xfrm>
          <a:prstGeom prst="rect">
            <a:avLst/>
          </a:prstGeom>
          <a:solidFill>
            <a:srgbClr val="D6E5BD"/>
          </a:solidFill>
          <a:ln>
            <a:noFill/>
          </a:ln>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0" indent="0" eaLnBrk="1" hangingPunct="1">
              <a:lnSpc>
                <a:spcPct val="100000"/>
              </a:lnSpc>
              <a:buNone/>
            </a:pPr>
            <a:r>
              <a:rPr lang="zh-CN" altLang="en-US" sz="2800" b="1" dirty="0">
                <a:solidFill>
                  <a:srgbClr val="1C1C1C"/>
                </a:solidFill>
              </a:rPr>
              <a:t>分组</a:t>
            </a:r>
            <a:r>
              <a:rPr lang="zh-CN" altLang="en-US" sz="2800" b="1" dirty="0" smtClean="0">
                <a:solidFill>
                  <a:srgbClr val="1C1C1C"/>
                </a:solidFill>
              </a:rPr>
              <a:t>在进入路由器后要先在输入队列中排队等待处理，在确定了转发接口后还要在输出</a:t>
            </a:r>
            <a:r>
              <a:rPr lang="zh-CN" altLang="en-US" sz="2800" b="1" dirty="0">
                <a:solidFill>
                  <a:srgbClr val="1C1C1C"/>
                </a:solidFill>
              </a:rPr>
              <a:t>队列中排队</a:t>
            </a:r>
            <a:r>
              <a:rPr lang="zh-CN" altLang="en-US" sz="2800" b="1" dirty="0" smtClean="0">
                <a:solidFill>
                  <a:srgbClr val="1C1C1C"/>
                </a:solidFill>
              </a:rPr>
              <a:t>等待转发，这就产生了排队时延</a:t>
            </a:r>
            <a:r>
              <a:rPr lang="zh-CN" altLang="en-US" sz="2800" b="1" dirty="0">
                <a:solidFill>
                  <a:srgbClr val="1C1C1C"/>
                </a:solidFill>
              </a:rPr>
              <a:t>。</a:t>
            </a:r>
          </a:p>
          <a:p>
            <a:pPr marL="0" indent="0" eaLnBrk="1" hangingPunct="1">
              <a:lnSpc>
                <a:spcPct val="100000"/>
              </a:lnSpc>
              <a:buNone/>
            </a:pPr>
            <a:endParaRPr lang="zh-CN" altLang="en-US" b="1" dirty="0" smtClean="0">
              <a:solidFill>
                <a:srgbClr val="1C1C1C"/>
              </a:solidFill>
            </a:endParaRPr>
          </a:p>
          <a:p>
            <a:pPr marL="0" indent="0" eaLnBrk="1" hangingPunct="1">
              <a:buNone/>
            </a:pPr>
            <a:endParaRPr lang="zh-CN" altLang="en-US" b="1" dirty="0"/>
          </a:p>
          <a:p>
            <a:pPr marL="457200" indent="-457200" eaLnBrk="1" hangingPunct="1"/>
            <a:endParaRPr lang="zh-CN" altLang="en-US" b="1" dirty="0"/>
          </a:p>
          <a:p>
            <a:pPr marL="935038" lvl="1" indent="-457200" eaLnBrk="1" hangingPunct="1"/>
            <a:endParaRPr lang="zh-CN" altLang="en-US" b="1" dirty="0"/>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b="1" dirty="0" smtClean="0"/>
              <a:t>四种时延产生的地方</a:t>
            </a:r>
            <a:endParaRPr lang="zh-CN" altLang="en-US" b="1" dirty="0"/>
          </a:p>
        </p:txBody>
      </p:sp>
      <p:sp>
        <p:nvSpPr>
          <p:cNvPr id="54277"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5" name="Group 6"/>
          <p:cNvGrpSpPr>
            <a:grpSpLocks/>
          </p:cNvGrpSpPr>
          <p:nvPr/>
        </p:nvGrpSpPr>
        <p:grpSpPr bwMode="auto">
          <a:xfrm>
            <a:off x="569590" y="1791023"/>
            <a:ext cx="1277938" cy="1277937"/>
            <a:chOff x="3476127" y="42101"/>
            <a:chExt cx="1277346" cy="1277346"/>
          </a:xfrm>
        </p:grpSpPr>
        <p:sp>
          <p:nvSpPr>
            <p:cNvPr id="6"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7"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grpSp>
        <p:nvGrpSpPr>
          <p:cNvPr id="4" name="组合 3"/>
          <p:cNvGrpSpPr/>
          <p:nvPr/>
        </p:nvGrpSpPr>
        <p:grpSpPr>
          <a:xfrm>
            <a:off x="1847527" y="2085367"/>
            <a:ext cx="8690282" cy="4092536"/>
            <a:chOff x="775063" y="1002436"/>
            <a:chExt cx="7323908" cy="2989713"/>
          </a:xfrm>
        </p:grpSpPr>
        <p:sp>
          <p:nvSpPr>
            <p:cNvPr id="49" name="圆角矩形 48"/>
            <p:cNvSpPr/>
            <p:nvPr/>
          </p:nvSpPr>
          <p:spPr>
            <a:xfrm>
              <a:off x="775063" y="1008593"/>
              <a:ext cx="7323908" cy="2983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50" name="Rectangle 7"/>
            <p:cNvSpPr>
              <a:spLocks noChangeArrowheads="1"/>
            </p:cNvSpPr>
            <p:nvPr/>
          </p:nvSpPr>
          <p:spPr bwMode="auto">
            <a:xfrm>
              <a:off x="3006696" y="3030623"/>
              <a:ext cx="3849687" cy="169862"/>
            </a:xfrm>
            <a:prstGeom prst="rect">
              <a:avLst/>
            </a:prstGeom>
            <a:gradFill rotWithShape="1">
              <a:gsLst>
                <a:gs pos="0">
                  <a:srgbClr val="339933"/>
                </a:gs>
                <a:gs pos="50000">
                  <a:srgbClr val="CDF3CD"/>
                </a:gs>
                <a:gs pos="100000">
                  <a:srgbClr val="339933"/>
                </a:gs>
              </a:gsLst>
              <a:lin ang="5400000" scaled="1"/>
            </a:gradFill>
            <a:ln w="9525">
              <a:solidFill>
                <a:schemeClr val="folHlink"/>
              </a:solidFill>
              <a:miter lim="800000"/>
              <a:headEnd/>
              <a:tailEnd/>
            </a:ln>
          </p:spPr>
          <p:txBody>
            <a:bodyPr wrap="none" anchor="ctr"/>
            <a:lstStyle/>
            <a:p>
              <a:endParaRPr lang="zh-CN" altLang="en-US" sz="1200" b="1">
                <a:ea typeface="黑体" pitchFamily="49" charset="-122"/>
              </a:endParaRPr>
            </a:p>
          </p:txBody>
        </p:sp>
        <p:sp>
          <p:nvSpPr>
            <p:cNvPr id="51" name="Oval 9"/>
            <p:cNvSpPr>
              <a:spLocks noChangeArrowheads="1"/>
            </p:cNvSpPr>
            <p:nvPr/>
          </p:nvSpPr>
          <p:spPr bwMode="auto">
            <a:xfrm>
              <a:off x="2122882" y="2686973"/>
              <a:ext cx="947043" cy="856832"/>
            </a:xfrm>
            <a:prstGeom prst="ellipse">
              <a:avLst/>
            </a:prstGeom>
            <a:gradFill flip="none" rotWithShape="1">
              <a:gsLst>
                <a:gs pos="2000">
                  <a:srgbClr val="CDF3CD"/>
                </a:gs>
                <a:gs pos="100000">
                  <a:srgbClr val="339933"/>
                </a:gs>
              </a:gsLst>
              <a:path path="circle">
                <a:fillToRect l="50000" t="50000" r="50000" b="50000"/>
              </a:path>
              <a:tileRect/>
            </a:gradFill>
            <a:ln w="9525">
              <a:noFill/>
              <a:round/>
              <a:headEnd/>
              <a:tailEnd/>
            </a:ln>
            <a:effectLst/>
            <a:extLst/>
          </p:spPr>
          <p:txBody>
            <a:bodyPr wrap="none" anchor="ctr"/>
            <a:lstStyle/>
            <a:p>
              <a:pPr fontAlgn="auto">
                <a:spcBef>
                  <a:spcPts val="0"/>
                </a:spcBef>
                <a:spcAft>
                  <a:spcPts val="0"/>
                </a:spcAft>
                <a:defRPr/>
              </a:pPr>
              <a:endParaRPr lang="zh-CN" altLang="en-US" sz="1200" b="1">
                <a:latin typeface="+mn-lt"/>
                <a:ea typeface="黑体" pitchFamily="2" charset="-122"/>
              </a:endParaRPr>
            </a:p>
          </p:txBody>
        </p:sp>
        <p:sp>
          <p:nvSpPr>
            <p:cNvPr id="52" name="Oval 10"/>
            <p:cNvSpPr>
              <a:spLocks noChangeArrowheads="1"/>
            </p:cNvSpPr>
            <p:nvPr/>
          </p:nvSpPr>
          <p:spPr bwMode="auto">
            <a:xfrm>
              <a:off x="6792883" y="2687723"/>
              <a:ext cx="947738" cy="855662"/>
            </a:xfrm>
            <a:prstGeom prst="ellipse">
              <a:avLst/>
            </a:prstGeom>
            <a:gradFill rotWithShape="1">
              <a:gsLst>
                <a:gs pos="0">
                  <a:srgbClr val="85D1F7"/>
                </a:gs>
                <a:gs pos="100000">
                  <a:srgbClr val="0070C0"/>
                </a:gs>
              </a:gsLst>
              <a:path path="shape">
                <a:fillToRect l="50000" t="50000" r="50000" b="50000"/>
              </a:path>
            </a:gradFill>
            <a:ln w="9525">
              <a:solidFill>
                <a:schemeClr val="folHlink"/>
              </a:solidFill>
              <a:round/>
              <a:headEnd/>
              <a:tailEnd/>
            </a:ln>
          </p:spPr>
          <p:txBody>
            <a:bodyPr wrap="none" anchor="ctr"/>
            <a:lstStyle/>
            <a:p>
              <a:endParaRPr lang="zh-CN" altLang="en-US" sz="1200" b="1">
                <a:ea typeface="黑体" pitchFamily="49" charset="-122"/>
              </a:endParaRPr>
            </a:p>
          </p:txBody>
        </p:sp>
        <p:grpSp>
          <p:nvGrpSpPr>
            <p:cNvPr id="53" name="Group 11"/>
            <p:cNvGrpSpPr>
              <a:grpSpLocks/>
            </p:cNvGrpSpPr>
            <p:nvPr/>
          </p:nvGrpSpPr>
          <p:grpSpPr bwMode="auto">
            <a:xfrm>
              <a:off x="2374871" y="2949660"/>
              <a:ext cx="504825" cy="295275"/>
              <a:chOff x="1567" y="1056"/>
              <a:chExt cx="384" cy="336"/>
            </a:xfrm>
          </p:grpSpPr>
          <p:sp>
            <p:nvSpPr>
              <p:cNvPr id="54" name="Rectangle 12"/>
              <p:cNvSpPr>
                <a:spLocks noChangeArrowheads="1"/>
              </p:cNvSpPr>
              <p:nvPr/>
            </p:nvSpPr>
            <p:spPr bwMode="auto">
              <a:xfrm>
                <a:off x="1664" y="1056"/>
                <a:ext cx="287" cy="336"/>
              </a:xfrm>
              <a:prstGeom prst="rect">
                <a:avLst/>
              </a:prstGeom>
              <a:solidFill>
                <a:srgbClr val="85D1F7"/>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1200"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ea typeface="黑体" pitchFamily="2" charset="-122"/>
                </a:endParaRPr>
              </a:p>
            </p:txBody>
          </p:sp>
          <p:sp>
            <p:nvSpPr>
              <p:cNvPr id="55" name="Freeform 13"/>
              <p:cNvSpPr>
                <a:spLocks/>
              </p:cNvSpPr>
              <p:nvPr/>
            </p:nvSpPr>
            <p:spPr bwMode="auto">
              <a:xfrm>
                <a:off x="1567" y="1056"/>
                <a:ext cx="384" cy="336"/>
              </a:xfrm>
              <a:custGeom>
                <a:avLst/>
                <a:gdLst>
                  <a:gd name="T0" fmla="*/ 0 w 384"/>
                  <a:gd name="T1" fmla="*/ 0 h 336"/>
                  <a:gd name="T2" fmla="*/ 384 w 384"/>
                  <a:gd name="T3" fmla="*/ 0 h 336"/>
                  <a:gd name="T4" fmla="*/ 384 w 384"/>
                  <a:gd name="T5" fmla="*/ 336 h 336"/>
                  <a:gd name="T6" fmla="*/ 0 w 384"/>
                  <a:gd name="T7" fmla="*/ 336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4" h="336">
                    <a:moveTo>
                      <a:pt x="0" y="0"/>
                    </a:moveTo>
                    <a:lnTo>
                      <a:pt x="384" y="0"/>
                    </a:lnTo>
                    <a:lnTo>
                      <a:pt x="384" y="336"/>
                    </a:lnTo>
                    <a:lnTo>
                      <a:pt x="0" y="336"/>
                    </a:lnTo>
                  </a:path>
                </a:pathLst>
              </a:custGeom>
              <a:noFill/>
              <a:ln w="28575"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4"/>
              <p:cNvSpPr>
                <a:spLocks noChangeShapeType="1"/>
              </p:cNvSpPr>
              <p:nvPr/>
            </p:nvSpPr>
            <p:spPr bwMode="auto">
              <a:xfrm>
                <a:off x="1855"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5"/>
              <p:cNvSpPr>
                <a:spLocks noChangeShapeType="1"/>
              </p:cNvSpPr>
              <p:nvPr/>
            </p:nvSpPr>
            <p:spPr bwMode="auto">
              <a:xfrm>
                <a:off x="1759"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Line 16"/>
              <p:cNvSpPr>
                <a:spLocks noChangeShapeType="1"/>
              </p:cNvSpPr>
              <p:nvPr/>
            </p:nvSpPr>
            <p:spPr bwMode="auto">
              <a:xfrm>
                <a:off x="1663" y="1056"/>
                <a:ext cx="0" cy="33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9" name="Line 17"/>
            <p:cNvSpPr>
              <a:spLocks noChangeShapeType="1"/>
            </p:cNvSpPr>
            <p:nvPr/>
          </p:nvSpPr>
          <p:spPr bwMode="auto">
            <a:xfrm>
              <a:off x="2876521" y="3108410"/>
              <a:ext cx="188912" cy="317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Rectangle 18"/>
            <p:cNvSpPr>
              <a:spLocks noChangeArrowheads="1"/>
            </p:cNvSpPr>
            <p:nvPr/>
          </p:nvSpPr>
          <p:spPr bwMode="auto">
            <a:xfrm>
              <a:off x="2927321" y="3048085"/>
              <a:ext cx="119062" cy="123825"/>
            </a:xfrm>
            <a:prstGeom prst="rect">
              <a:avLst/>
            </a:prstGeom>
            <a:solidFill>
              <a:srgbClr val="9AFEA6"/>
            </a:solidFill>
            <a:ln w="19050">
              <a:solidFill>
                <a:srgbClr val="0000FF"/>
              </a:solidFill>
              <a:miter lim="800000"/>
              <a:headEnd/>
              <a:tailEnd/>
            </a:ln>
          </p:spPr>
          <p:txBody>
            <a:bodyPr wrap="none" anchor="ctr"/>
            <a:lstStyle/>
            <a:p>
              <a:endParaRPr lang="zh-CN" altLang="en-US" sz="1200" b="1">
                <a:ea typeface="黑体" pitchFamily="49" charset="-122"/>
              </a:endParaRPr>
            </a:p>
          </p:txBody>
        </p:sp>
        <p:sp>
          <p:nvSpPr>
            <p:cNvPr id="61" name="AutoShape 21"/>
            <p:cNvSpPr>
              <a:spLocks noChangeArrowheads="1"/>
            </p:cNvSpPr>
            <p:nvPr/>
          </p:nvSpPr>
          <p:spPr bwMode="auto">
            <a:xfrm>
              <a:off x="3448021" y="3063960"/>
              <a:ext cx="882650" cy="114300"/>
            </a:xfrm>
            <a:prstGeom prst="rightArrow">
              <a:avLst>
                <a:gd name="adj1" fmla="val 50000"/>
                <a:gd name="adj2" fmla="val 178219"/>
              </a:avLst>
            </a:prstGeom>
            <a:solidFill>
              <a:srgbClr val="FFCC00"/>
            </a:solidFill>
            <a:ln>
              <a:solidFill>
                <a:srgbClr val="000066"/>
              </a:solidFill>
            </a:ln>
            <a:extLst/>
          </p:spPr>
          <p:txBody>
            <a:bodyPr wrap="none" anchor="ctr"/>
            <a:lstStyle/>
            <a:p>
              <a:endParaRPr lang="zh-CN" altLang="en-US" sz="1200" b="1">
                <a:ea typeface="黑体" pitchFamily="49" charset="-122"/>
              </a:endParaRPr>
            </a:p>
          </p:txBody>
        </p:sp>
        <p:sp>
          <p:nvSpPr>
            <p:cNvPr id="62" name="AutoShape 26"/>
            <p:cNvSpPr>
              <a:spLocks noChangeArrowheads="1"/>
            </p:cNvSpPr>
            <p:nvPr/>
          </p:nvSpPr>
          <p:spPr bwMode="auto">
            <a:xfrm>
              <a:off x="1703358" y="3063960"/>
              <a:ext cx="795338" cy="114300"/>
            </a:xfrm>
            <a:prstGeom prst="rightArrow">
              <a:avLst>
                <a:gd name="adj1" fmla="val 50000"/>
                <a:gd name="adj2" fmla="val 178436"/>
              </a:avLst>
            </a:prstGeom>
            <a:solidFill>
              <a:srgbClr val="FFCC00"/>
            </a:solidFill>
            <a:ln>
              <a:solidFill>
                <a:srgbClr val="000066"/>
              </a:solidFill>
            </a:ln>
            <a:extLst/>
          </p:spPr>
          <p:txBody>
            <a:bodyPr wrap="none" anchor="ctr"/>
            <a:lstStyle/>
            <a:p>
              <a:endParaRPr lang="zh-CN" altLang="en-US" sz="1200" b="1">
                <a:ea typeface="黑体" pitchFamily="49" charset="-122"/>
              </a:endParaRPr>
            </a:p>
          </p:txBody>
        </p:sp>
        <p:sp>
          <p:nvSpPr>
            <p:cNvPr id="63" name="AutoShape 27"/>
            <p:cNvSpPr>
              <a:spLocks noChangeArrowheads="1"/>
            </p:cNvSpPr>
            <p:nvPr/>
          </p:nvSpPr>
          <p:spPr bwMode="auto">
            <a:xfrm>
              <a:off x="6313458" y="3059198"/>
              <a:ext cx="882650" cy="112712"/>
            </a:xfrm>
            <a:prstGeom prst="rightArrow">
              <a:avLst>
                <a:gd name="adj1" fmla="val 50000"/>
                <a:gd name="adj2" fmla="val 180730"/>
              </a:avLst>
            </a:prstGeom>
            <a:solidFill>
              <a:srgbClr val="FFCC00"/>
            </a:solidFill>
            <a:ln>
              <a:solidFill>
                <a:srgbClr val="000066"/>
              </a:solidFill>
            </a:ln>
            <a:extLst/>
          </p:spPr>
          <p:txBody>
            <a:bodyPr wrap="none" anchor="ctr"/>
            <a:lstStyle/>
            <a:p>
              <a:endParaRPr lang="zh-CN" altLang="en-US" sz="1200" b="1">
                <a:ea typeface="黑体" pitchFamily="49" charset="-122"/>
              </a:endParaRPr>
            </a:p>
          </p:txBody>
        </p:sp>
        <p:sp>
          <p:nvSpPr>
            <p:cNvPr id="64" name="Text Box 29"/>
            <p:cNvSpPr txBox="1">
              <a:spLocks noChangeArrowheads="1"/>
            </p:cNvSpPr>
            <p:nvPr/>
          </p:nvSpPr>
          <p:spPr bwMode="auto">
            <a:xfrm>
              <a:off x="5473671" y="2954199"/>
              <a:ext cx="309640" cy="292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en-US" altLang="zh-CN" sz="2000" b="1" dirty="0">
                  <a:solidFill>
                    <a:srgbClr val="1C1C1C"/>
                  </a:solidFill>
                  <a:ea typeface="黑体" pitchFamily="49" charset="-122"/>
                </a:rPr>
                <a:t>…</a:t>
              </a:r>
            </a:p>
          </p:txBody>
        </p:sp>
        <p:sp>
          <p:nvSpPr>
            <p:cNvPr id="65" name="Text Box 32"/>
            <p:cNvSpPr txBox="1">
              <a:spLocks noChangeArrowheads="1"/>
            </p:cNvSpPr>
            <p:nvPr/>
          </p:nvSpPr>
          <p:spPr bwMode="auto">
            <a:xfrm>
              <a:off x="3273396" y="3371935"/>
              <a:ext cx="609554" cy="224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1C1C1C"/>
                  </a:solidFill>
                  <a:latin typeface="微软雅黑" pitchFamily="34" charset="-122"/>
                  <a:ea typeface="微软雅黑" pitchFamily="34" charset="-122"/>
                </a:rPr>
                <a:t>发送器</a:t>
              </a:r>
            </a:p>
          </p:txBody>
        </p:sp>
        <p:sp>
          <p:nvSpPr>
            <p:cNvPr id="66" name="Text Box 34"/>
            <p:cNvSpPr txBox="1">
              <a:spLocks noChangeArrowheads="1"/>
            </p:cNvSpPr>
            <p:nvPr/>
          </p:nvSpPr>
          <p:spPr bwMode="auto">
            <a:xfrm>
              <a:off x="2389158" y="3217992"/>
              <a:ext cx="458247" cy="224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1C1C1C"/>
                  </a:solidFill>
                  <a:ea typeface="黑体" pitchFamily="49" charset="-122"/>
                </a:rPr>
                <a:t>队列</a:t>
              </a:r>
            </a:p>
          </p:txBody>
        </p:sp>
        <p:grpSp>
          <p:nvGrpSpPr>
            <p:cNvPr id="67" name="Group 45"/>
            <p:cNvGrpSpPr>
              <a:grpSpLocks/>
            </p:cNvGrpSpPr>
            <p:nvPr/>
          </p:nvGrpSpPr>
          <p:grpSpPr bwMode="auto">
            <a:xfrm>
              <a:off x="5110637" y="1883843"/>
              <a:ext cx="1644048" cy="1037594"/>
              <a:chOff x="3363" y="1933"/>
              <a:chExt cx="1486" cy="1016"/>
            </a:xfrm>
            <a:solidFill>
              <a:srgbClr val="0070C0"/>
            </a:solidFill>
          </p:grpSpPr>
          <p:sp>
            <p:nvSpPr>
              <p:cNvPr id="68" name="Line 33"/>
              <p:cNvSpPr>
                <a:spLocks noChangeShapeType="1"/>
              </p:cNvSpPr>
              <p:nvPr/>
            </p:nvSpPr>
            <p:spPr bwMode="auto">
              <a:xfrm flipH="1">
                <a:off x="3363" y="2369"/>
                <a:ext cx="322" cy="580"/>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ln>
                    <a:solidFill>
                      <a:srgbClr val="993300"/>
                    </a:solidFill>
                  </a:ln>
                  <a:solidFill>
                    <a:schemeClr val="accent3"/>
                  </a:solidFill>
                  <a:latin typeface="微软雅黑" pitchFamily="34" charset="-122"/>
                  <a:ea typeface="微软雅黑" pitchFamily="34" charset="-122"/>
                </a:endParaRPr>
              </a:p>
            </p:txBody>
          </p:sp>
          <p:sp>
            <p:nvSpPr>
              <p:cNvPr id="69" name="Text Box 36"/>
              <p:cNvSpPr txBox="1">
                <a:spLocks noChangeArrowheads="1"/>
              </p:cNvSpPr>
              <p:nvPr/>
            </p:nvSpPr>
            <p:spPr bwMode="auto">
              <a:xfrm>
                <a:off x="3506" y="1933"/>
                <a:ext cx="1343" cy="512"/>
              </a:xfrm>
              <a:prstGeom prst="rect">
                <a:avLst/>
              </a:prstGeom>
              <a:solidFill>
                <a:srgbClr val="6633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在链路上产生</a:t>
                </a:r>
              </a:p>
              <a:p>
                <a:pPr algn="ctr" fontAlgn="auto">
                  <a:spcBef>
                    <a:spcPts val="0"/>
                  </a:spcBef>
                  <a:spcAft>
                    <a:spcPts val="0"/>
                  </a:spcAft>
                  <a:defRPr/>
                </a:pPr>
                <a:r>
                  <a:rPr kumimoji="1" lang="zh-CN" altLang="en-US" sz="1400" b="1" dirty="0">
                    <a:solidFill>
                      <a:schemeClr val="bg1"/>
                    </a:solidFill>
                    <a:latin typeface="微软雅黑" pitchFamily="34" charset="-122"/>
                    <a:ea typeface="微软雅黑" pitchFamily="34" charset="-122"/>
                  </a:rPr>
                  <a:t>传播时延</a:t>
                </a:r>
              </a:p>
            </p:txBody>
          </p:sp>
        </p:grpSp>
        <p:sp>
          <p:nvSpPr>
            <p:cNvPr id="70" name="Text Box 37"/>
            <p:cNvSpPr txBox="1">
              <a:spLocks noChangeArrowheads="1"/>
            </p:cNvSpPr>
            <p:nvPr/>
          </p:nvSpPr>
          <p:spPr bwMode="auto">
            <a:xfrm>
              <a:off x="6891308" y="3560076"/>
              <a:ext cx="7969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B</a:t>
              </a:r>
            </a:p>
          </p:txBody>
        </p:sp>
        <p:sp>
          <p:nvSpPr>
            <p:cNvPr id="71" name="Text Box 38"/>
            <p:cNvSpPr txBox="1">
              <a:spLocks noChangeArrowheads="1"/>
            </p:cNvSpPr>
            <p:nvPr/>
          </p:nvSpPr>
          <p:spPr bwMode="auto">
            <a:xfrm>
              <a:off x="2208866" y="3555536"/>
              <a:ext cx="811212"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a:solidFill>
                    <a:srgbClr val="0000FF"/>
                  </a:solidFill>
                  <a:latin typeface="微软雅黑" pitchFamily="34" charset="-122"/>
                  <a:ea typeface="微软雅黑" pitchFamily="34" charset="-122"/>
                </a:rPr>
                <a:t>结点 </a:t>
              </a:r>
              <a:r>
                <a:rPr kumimoji="1" lang="en-US" altLang="zh-CN" sz="1600" b="1" dirty="0">
                  <a:solidFill>
                    <a:srgbClr val="0000FF"/>
                  </a:solidFill>
                  <a:latin typeface="微软雅黑" pitchFamily="34" charset="-122"/>
                  <a:ea typeface="微软雅黑" pitchFamily="34" charset="-122"/>
                </a:rPr>
                <a:t>A</a:t>
              </a:r>
            </a:p>
          </p:txBody>
        </p:sp>
        <p:grpSp>
          <p:nvGrpSpPr>
            <p:cNvPr id="72" name="Group 44"/>
            <p:cNvGrpSpPr>
              <a:grpSpLocks/>
            </p:cNvGrpSpPr>
            <p:nvPr/>
          </p:nvGrpSpPr>
          <p:grpSpPr bwMode="auto">
            <a:xfrm>
              <a:off x="2987414" y="1812017"/>
              <a:ext cx="1762428" cy="1295971"/>
              <a:chOff x="1118" y="1863"/>
              <a:chExt cx="1593" cy="1269"/>
            </a:xfrm>
            <a:solidFill>
              <a:srgbClr val="0070C0"/>
            </a:solidFill>
          </p:grpSpPr>
          <p:sp>
            <p:nvSpPr>
              <p:cNvPr id="73" name="Line 40"/>
              <p:cNvSpPr>
                <a:spLocks noChangeShapeType="1"/>
              </p:cNvSpPr>
              <p:nvPr/>
            </p:nvSpPr>
            <p:spPr bwMode="auto">
              <a:xfrm flipH="1">
                <a:off x="1118" y="2195"/>
                <a:ext cx="122" cy="937"/>
              </a:xfrm>
              <a:prstGeom prst="line">
                <a:avLst/>
              </a:prstGeom>
              <a:grpFill/>
              <a:ln w="28575">
                <a:solidFill>
                  <a:srgbClr val="993300"/>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600" b="1">
                  <a:solidFill>
                    <a:schemeClr val="accent3"/>
                  </a:solidFill>
                  <a:latin typeface="微软雅黑" pitchFamily="34" charset="-122"/>
                  <a:ea typeface="微软雅黑" pitchFamily="34" charset="-122"/>
                </a:endParaRPr>
              </a:p>
            </p:txBody>
          </p:sp>
          <p:sp>
            <p:nvSpPr>
              <p:cNvPr id="74" name="Text Box 24"/>
              <p:cNvSpPr txBox="1">
                <a:spLocks noChangeArrowheads="1"/>
              </p:cNvSpPr>
              <p:nvPr/>
            </p:nvSpPr>
            <p:spPr bwMode="auto">
              <a:xfrm>
                <a:off x="1203" y="1863"/>
                <a:ext cx="1508" cy="374"/>
              </a:xfrm>
              <a:prstGeom prst="rect">
                <a:avLst/>
              </a:prstGeom>
              <a:solidFill>
                <a:srgbClr val="006600"/>
              </a:solidFill>
              <a:ln w="76200" cmpd="tri">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fontAlgn="auto">
                  <a:spcBef>
                    <a:spcPts val="0"/>
                  </a:spcBef>
                  <a:spcAft>
                    <a:spcPts val="0"/>
                  </a:spcAft>
                  <a:defRPr/>
                </a:pPr>
                <a:r>
                  <a:rPr kumimoji="1" lang="zh-CN" altLang="en-US" sz="1400" b="1" dirty="0" smtClean="0">
                    <a:solidFill>
                      <a:schemeClr val="bg1"/>
                    </a:solidFill>
                    <a:latin typeface="微软雅黑" pitchFamily="34" charset="-122"/>
                    <a:ea typeface="微软雅黑" pitchFamily="34" charset="-122"/>
                  </a:rPr>
                  <a:t>在发送器产生</a:t>
                </a:r>
                <a:r>
                  <a:rPr kumimoji="1" lang="zh-CN" altLang="en-US" sz="1400" b="1" dirty="0">
                    <a:solidFill>
                      <a:schemeClr val="bg1"/>
                    </a:solidFill>
                    <a:latin typeface="微软雅黑" pitchFamily="34" charset="-122"/>
                    <a:ea typeface="微软雅黑" pitchFamily="34" charset="-122"/>
                  </a:rPr>
                  <a:t>发送</a:t>
                </a:r>
                <a:r>
                  <a:rPr kumimoji="1" lang="zh-CN" altLang="en-US" sz="1400" b="1" dirty="0" smtClean="0">
                    <a:solidFill>
                      <a:schemeClr val="bg1"/>
                    </a:solidFill>
                    <a:latin typeface="微软雅黑" pitchFamily="34" charset="-122"/>
                    <a:ea typeface="微软雅黑" pitchFamily="34" charset="-122"/>
                  </a:rPr>
                  <a:t>时延</a:t>
                </a:r>
              </a:p>
              <a:p>
                <a:pPr algn="ctr" fontAlgn="auto">
                  <a:spcBef>
                    <a:spcPts val="0"/>
                  </a:spcBef>
                  <a:spcAft>
                    <a:spcPts val="0"/>
                  </a:spcAft>
                  <a:defRPr/>
                </a:pPr>
                <a:endParaRPr kumimoji="1" lang="en-US" altLang="zh-CN" sz="1400" b="1" dirty="0">
                  <a:solidFill>
                    <a:schemeClr val="bg1"/>
                  </a:solidFill>
                  <a:latin typeface="微软雅黑" pitchFamily="34" charset="-122"/>
                  <a:ea typeface="微软雅黑" pitchFamily="34" charset="-122"/>
                </a:endParaRPr>
              </a:p>
            </p:txBody>
          </p:sp>
        </p:grpSp>
        <p:sp>
          <p:nvSpPr>
            <p:cNvPr id="75" name="Line 41"/>
            <p:cNvSpPr>
              <a:spLocks noChangeShapeType="1"/>
            </p:cNvSpPr>
            <p:nvPr/>
          </p:nvSpPr>
          <p:spPr bwMode="auto">
            <a:xfrm flipH="1" flipV="1">
              <a:off x="3027332" y="3178260"/>
              <a:ext cx="280986" cy="365123"/>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 name="组合 40"/>
            <p:cNvGrpSpPr>
              <a:grpSpLocks/>
            </p:cNvGrpSpPr>
            <p:nvPr/>
          </p:nvGrpSpPr>
          <p:grpSpPr bwMode="auto">
            <a:xfrm>
              <a:off x="1085946" y="1676855"/>
              <a:ext cx="1619919" cy="1384349"/>
              <a:chOff x="1065141" y="1819146"/>
              <a:chExt cx="1620161" cy="1384449"/>
            </a:xfrm>
          </p:grpSpPr>
          <p:sp>
            <p:nvSpPr>
              <p:cNvPr id="77" name="Line 39"/>
              <p:cNvSpPr>
                <a:spLocks noChangeShapeType="1"/>
              </p:cNvSpPr>
              <p:nvPr/>
            </p:nvSpPr>
            <p:spPr bwMode="auto">
              <a:xfrm>
                <a:off x="2011307" y="2293868"/>
                <a:ext cx="673995" cy="909727"/>
              </a:xfrm>
              <a:prstGeom prst="line">
                <a:avLst/>
              </a:prstGeom>
              <a:noFill/>
              <a:ln w="28575">
                <a:solidFill>
                  <a:srgbClr val="9933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Text Box 42"/>
              <p:cNvSpPr txBox="1">
                <a:spLocks noChangeArrowheads="1"/>
              </p:cNvSpPr>
              <p:nvPr/>
            </p:nvSpPr>
            <p:spPr bwMode="auto">
              <a:xfrm>
                <a:off x="1065141" y="1819146"/>
                <a:ext cx="1517628" cy="382255"/>
              </a:xfrm>
              <a:prstGeom prst="rect">
                <a:avLst/>
              </a:prstGeom>
              <a:solidFill>
                <a:srgbClr val="000099"/>
              </a:solidFill>
              <a:ln>
                <a:noFill/>
              </a:ln>
              <a:extLst>
                <a:ext uri="{91240B29-F687-4F45-9708-019B960494DF}">
                  <a14:hiddenLine xmlns:a14="http://schemas.microsoft.com/office/drawing/2010/main" w="76200" cmpd="tri">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kumimoji="1" lang="zh-CN" altLang="en-US" sz="1400" b="1" dirty="0" smtClean="0">
                    <a:solidFill>
                      <a:schemeClr val="bg1"/>
                    </a:solidFill>
                    <a:latin typeface="微软雅黑" pitchFamily="34" charset="-122"/>
                    <a:ea typeface="微软雅黑" pitchFamily="34" charset="-122"/>
                  </a:rPr>
                  <a:t>在节点内部产生</a:t>
                </a:r>
                <a:endParaRPr kumimoji="1" lang="zh-CN" altLang="en-US" sz="1400" b="1" dirty="0">
                  <a:solidFill>
                    <a:schemeClr val="bg1"/>
                  </a:solidFill>
                  <a:latin typeface="微软雅黑" pitchFamily="34" charset="-122"/>
                  <a:ea typeface="微软雅黑" pitchFamily="34" charset="-122"/>
                </a:endParaRPr>
              </a:p>
              <a:p>
                <a:pPr algn="ctr"/>
                <a:r>
                  <a:rPr kumimoji="1" lang="zh-CN" altLang="en-US" sz="1400" b="1" dirty="0">
                    <a:solidFill>
                      <a:schemeClr val="bg1"/>
                    </a:solidFill>
                    <a:latin typeface="微软雅黑" pitchFamily="34" charset="-122"/>
                    <a:ea typeface="微软雅黑" pitchFamily="34" charset="-122"/>
                  </a:rPr>
                  <a:t>处理时延和排队时延</a:t>
                </a:r>
              </a:p>
            </p:txBody>
          </p:sp>
        </p:grpSp>
        <p:sp>
          <p:nvSpPr>
            <p:cNvPr id="79" name="Text Box 46"/>
            <p:cNvSpPr txBox="1">
              <a:spLocks noChangeArrowheads="1"/>
            </p:cNvSpPr>
            <p:nvPr/>
          </p:nvSpPr>
          <p:spPr bwMode="auto">
            <a:xfrm>
              <a:off x="1665258" y="3244935"/>
              <a:ext cx="458247" cy="224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1C1C1C"/>
                  </a:solidFill>
                  <a:latin typeface="微软雅黑" pitchFamily="34" charset="-122"/>
                  <a:ea typeface="微软雅黑" pitchFamily="34" charset="-122"/>
                </a:rPr>
                <a:t>数据</a:t>
              </a:r>
            </a:p>
          </p:txBody>
        </p:sp>
        <p:sp>
          <p:nvSpPr>
            <p:cNvPr id="80" name="Text Box 47"/>
            <p:cNvSpPr txBox="1">
              <a:spLocks noChangeArrowheads="1"/>
            </p:cNvSpPr>
            <p:nvPr/>
          </p:nvSpPr>
          <p:spPr bwMode="auto">
            <a:xfrm>
              <a:off x="2266589" y="1002436"/>
              <a:ext cx="4343217"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lnSpc>
                  <a:spcPts val="2700"/>
                </a:lnSpc>
                <a:spcBef>
                  <a:spcPts val="600"/>
                </a:spcBef>
              </a:pPr>
              <a:r>
                <a:rPr kumimoji="1" lang="zh-CN" altLang="en-US" b="1" dirty="0">
                  <a:solidFill>
                    <a:srgbClr val="0000FF"/>
                  </a:solidFill>
                  <a:latin typeface="微软雅黑" pitchFamily="34" charset="-122"/>
                  <a:ea typeface="微软雅黑" pitchFamily="34" charset="-122"/>
                </a:rPr>
                <a:t>假设从结点 </a:t>
              </a:r>
              <a:r>
                <a:rPr kumimoji="1" lang="en-US" altLang="zh-CN" b="1" dirty="0">
                  <a:solidFill>
                    <a:srgbClr val="0000FF"/>
                  </a:solidFill>
                  <a:latin typeface="微软雅黑" pitchFamily="34" charset="-122"/>
                  <a:ea typeface="微软雅黑" pitchFamily="34" charset="-122"/>
                </a:rPr>
                <a:t>A </a:t>
              </a:r>
              <a:r>
                <a:rPr kumimoji="1" lang="zh-CN" altLang="en-US" b="1" dirty="0">
                  <a:solidFill>
                    <a:srgbClr val="0000FF"/>
                  </a:solidFill>
                  <a:latin typeface="微软雅黑" pitchFamily="34" charset="-122"/>
                  <a:ea typeface="微软雅黑" pitchFamily="34" charset="-122"/>
                </a:rPr>
                <a:t>向结点 </a:t>
              </a:r>
              <a:r>
                <a:rPr kumimoji="1" lang="en-US" altLang="zh-CN" b="1" dirty="0">
                  <a:solidFill>
                    <a:srgbClr val="0000FF"/>
                  </a:solidFill>
                  <a:latin typeface="微软雅黑" pitchFamily="34" charset="-122"/>
                  <a:ea typeface="微软雅黑" pitchFamily="34" charset="-122"/>
                </a:rPr>
                <a:t>B </a:t>
              </a:r>
              <a:r>
                <a:rPr kumimoji="1" lang="zh-CN" altLang="en-US" b="1" dirty="0">
                  <a:solidFill>
                    <a:srgbClr val="0000FF"/>
                  </a:solidFill>
                  <a:latin typeface="微软雅黑" pitchFamily="34" charset="-122"/>
                  <a:ea typeface="微软雅黑" pitchFamily="34" charset="-122"/>
                </a:rPr>
                <a:t>发送数据</a:t>
              </a:r>
            </a:p>
          </p:txBody>
        </p:sp>
        <p:sp>
          <p:nvSpPr>
            <p:cNvPr id="81" name="Text Box 48"/>
            <p:cNvSpPr txBox="1">
              <a:spLocks noChangeArrowheads="1"/>
            </p:cNvSpPr>
            <p:nvPr/>
          </p:nvSpPr>
          <p:spPr bwMode="auto">
            <a:xfrm>
              <a:off x="4552921" y="3230648"/>
              <a:ext cx="458247" cy="224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400" b="1" dirty="0">
                  <a:solidFill>
                    <a:srgbClr val="1C1C1C"/>
                  </a:solidFill>
                  <a:latin typeface="微软雅黑" pitchFamily="34" charset="-122"/>
                  <a:ea typeface="微软雅黑" pitchFamily="34" charset="-122"/>
                </a:rPr>
                <a:t>链路</a:t>
              </a:r>
            </a:p>
          </p:txBody>
        </p:sp>
        <p:cxnSp>
          <p:nvCxnSpPr>
            <p:cNvPr id="82" name="直接连接符 81"/>
            <p:cNvCxnSpPr/>
            <p:nvPr/>
          </p:nvCxnSpPr>
          <p:spPr>
            <a:xfrm>
              <a:off x="3069925" y="2781657"/>
              <a:ext cx="0" cy="287090"/>
            </a:xfrm>
            <a:prstGeom prst="line">
              <a:avLst/>
            </a:prstGeom>
            <a:ln w="19050">
              <a:solidFill>
                <a:srgbClr val="1C1C1C"/>
              </a:solidFill>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6792883" y="2781657"/>
              <a:ext cx="0" cy="287090"/>
            </a:xfrm>
            <a:prstGeom prst="line">
              <a:avLst/>
            </a:prstGeom>
            <a:ln w="19050">
              <a:solidFill>
                <a:srgbClr val="1C1C1C"/>
              </a:solidFill>
            </a:ln>
          </p:spPr>
          <p:style>
            <a:lnRef idx="1">
              <a:schemeClr val="dk1"/>
            </a:lnRef>
            <a:fillRef idx="0">
              <a:schemeClr val="dk1"/>
            </a:fillRef>
            <a:effectRef idx="0">
              <a:schemeClr val="dk1"/>
            </a:effectRef>
            <a:fontRef idx="minor">
              <a:schemeClr val="tx1"/>
            </a:fontRef>
          </p:style>
        </p:cxnSp>
        <p:cxnSp>
          <p:nvCxnSpPr>
            <p:cNvPr id="84" name="直接箭头连接符 83"/>
            <p:cNvCxnSpPr/>
            <p:nvPr/>
          </p:nvCxnSpPr>
          <p:spPr>
            <a:xfrm>
              <a:off x="3069925" y="2921437"/>
              <a:ext cx="3684858" cy="0"/>
            </a:xfrm>
            <a:prstGeom prst="straightConnector1">
              <a:avLst/>
            </a:prstGeom>
            <a:ln w="19050">
              <a:solidFill>
                <a:srgbClr val="1C1C1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Freeform 119"/>
            <p:cNvSpPr>
              <a:spLocks/>
            </p:cNvSpPr>
            <p:nvPr/>
          </p:nvSpPr>
          <p:spPr bwMode="auto">
            <a:xfrm>
              <a:off x="4372342" y="3065349"/>
              <a:ext cx="1006222" cy="96385"/>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680"/>
                <a:gd name="T79" fmla="*/ 0 h 90"/>
                <a:gd name="T80" fmla="*/ 680 w 680"/>
                <a:gd name="T81" fmla="*/ 90 h 9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9050" cmpd="sng">
              <a:solidFill>
                <a:srgbClr val="1C1C1C"/>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b="1" dirty="0"/>
              <a:t>容易产生的错误</a:t>
            </a:r>
            <a:r>
              <a:rPr lang="zh-CN" altLang="en-US" b="1" dirty="0" smtClean="0"/>
              <a:t>概念</a:t>
            </a:r>
            <a:endParaRPr lang="en-US" altLang="zh-CN" b="1" dirty="0" smtClean="0"/>
          </a:p>
          <a:p>
            <a:pPr marL="457200" indent="-457200" eaLnBrk="1" hangingPunct="1"/>
            <a:endParaRPr lang="en-US" altLang="zh-CN" b="1" dirty="0"/>
          </a:p>
          <a:p>
            <a:pPr marL="457200" indent="-457200" eaLnBrk="1" hangingPunct="1"/>
            <a:endParaRPr lang="en-US" altLang="zh-CN" b="1" dirty="0" smtClean="0"/>
          </a:p>
          <a:p>
            <a:pPr marL="457200" indent="-457200" eaLnBrk="1" hangingPunct="1"/>
            <a:r>
              <a:rPr lang="zh-CN" altLang="en-US" b="1" dirty="0"/>
              <a:t>对于高速网络链路，我们提高的仅仅是数据的发送速率，而不是比特在链路上的传播速率。</a:t>
            </a:r>
          </a:p>
          <a:p>
            <a:pPr marL="457200" indent="-457200" eaLnBrk="1" hangingPunct="1"/>
            <a:r>
              <a:rPr lang="zh-CN" altLang="en-US" b="1" dirty="0"/>
              <a:t>提高数据的发送速率只是减小了数据的发送时延。</a:t>
            </a:r>
          </a:p>
          <a:p>
            <a:pPr marL="457200" indent="-457200" eaLnBrk="1" hangingPunct="1"/>
            <a:endParaRPr lang="zh-CN" altLang="en-US" b="1" dirty="0" smtClean="0"/>
          </a:p>
          <a:p>
            <a:pPr marL="0" indent="0" eaLnBrk="1" hangingPunct="1">
              <a:buNone/>
            </a:pPr>
            <a:endParaRPr lang="zh-CN" altLang="en-US" b="1" dirty="0"/>
          </a:p>
        </p:txBody>
      </p:sp>
      <p:sp>
        <p:nvSpPr>
          <p:cNvPr id="54277"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5" name="Group 6"/>
          <p:cNvGrpSpPr>
            <a:grpSpLocks/>
          </p:cNvGrpSpPr>
          <p:nvPr/>
        </p:nvGrpSpPr>
        <p:grpSpPr bwMode="auto">
          <a:xfrm>
            <a:off x="569590" y="1791023"/>
            <a:ext cx="1277938" cy="1277937"/>
            <a:chOff x="3476127" y="42101"/>
            <a:chExt cx="1277346" cy="1277346"/>
          </a:xfrm>
        </p:grpSpPr>
        <p:sp>
          <p:nvSpPr>
            <p:cNvPr id="6"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7"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smtClean="0">
                  <a:solidFill>
                    <a:srgbClr val="4D4D4D"/>
                  </a:solidFill>
                  <a:latin typeface="微软雅黑" pitchFamily="34" charset="-122"/>
                  <a:ea typeface="微软雅黑" pitchFamily="34" charset="-122"/>
                </a:rPr>
                <a:t>4.</a:t>
              </a:r>
              <a:r>
                <a:rPr lang="zh-CN" altLang="en-US" sz="2400" b="1" dirty="0" smtClean="0">
                  <a:solidFill>
                    <a:srgbClr val="4D4D4D"/>
                  </a:solidFill>
                  <a:latin typeface="微软雅黑" pitchFamily="34" charset="-122"/>
                  <a:ea typeface="微软雅黑" pitchFamily="34" charset="-122"/>
                </a:rPr>
                <a:t>时延</a:t>
              </a:r>
              <a:endParaRPr lang="en-US" sz="2400" b="1" dirty="0">
                <a:solidFill>
                  <a:srgbClr val="4D4D4D"/>
                </a:solidFill>
                <a:latin typeface="微软雅黑" pitchFamily="34" charset="-122"/>
                <a:ea typeface="微软雅黑" pitchFamily="34" charset="-122"/>
              </a:endParaRPr>
            </a:p>
          </p:txBody>
        </p:sp>
      </p:grpSp>
      <p:sp>
        <p:nvSpPr>
          <p:cNvPr id="45" name="矩形 44"/>
          <p:cNvSpPr/>
          <p:nvPr/>
        </p:nvSpPr>
        <p:spPr>
          <a:xfrm>
            <a:off x="2423592" y="2135176"/>
            <a:ext cx="7776864" cy="1384995"/>
          </a:xfrm>
          <a:prstGeom prst="rect">
            <a:avLst/>
          </a:prstGeom>
          <a:solidFill>
            <a:srgbClr val="D6E5BD"/>
          </a:solidFill>
        </p:spPr>
        <p:style>
          <a:lnRef idx="1">
            <a:schemeClr val="accent3"/>
          </a:lnRef>
          <a:fillRef idx="2">
            <a:schemeClr val="accent3"/>
          </a:fillRef>
          <a:effectRef idx="1">
            <a:schemeClr val="accent3"/>
          </a:effectRef>
          <a:fontRef idx="minor">
            <a:schemeClr val="dk1"/>
          </a:fontRef>
        </p:style>
        <p:txBody>
          <a:bodyPr wrap="square">
            <a:spAutoFit/>
          </a:bodyPr>
          <a:lstStyle/>
          <a:p>
            <a:pPr>
              <a:spcBef>
                <a:spcPts val="0"/>
              </a:spcBef>
            </a:pPr>
            <a:r>
              <a:rPr lang="zh-CN" altLang="en-US" sz="2800" b="1" dirty="0" smtClean="0">
                <a:solidFill>
                  <a:srgbClr val="1C1C1C"/>
                </a:solidFill>
                <a:latin typeface="微软雅黑" pitchFamily="34" charset="-122"/>
                <a:ea typeface="微软雅黑" pitchFamily="34" charset="-122"/>
              </a:rPr>
              <a:t>以下</a:t>
            </a:r>
            <a:r>
              <a:rPr lang="zh-CN" altLang="en-US" sz="2800" b="1" dirty="0">
                <a:solidFill>
                  <a:srgbClr val="1C1C1C"/>
                </a:solidFill>
                <a:latin typeface="微软雅黑" pitchFamily="34" charset="-122"/>
                <a:ea typeface="微软雅黑" pitchFamily="34" charset="-122"/>
              </a:rPr>
              <a:t>说法是</a:t>
            </a:r>
            <a:r>
              <a:rPr lang="zh-CN" altLang="en-US" sz="2800" b="1" dirty="0">
                <a:solidFill>
                  <a:srgbClr val="C00000"/>
                </a:solidFill>
                <a:latin typeface="微软雅黑" pitchFamily="34" charset="-122"/>
                <a:ea typeface="微软雅黑" pitchFamily="34" charset="-122"/>
              </a:rPr>
              <a:t>错误</a:t>
            </a:r>
            <a:r>
              <a:rPr lang="zh-CN" altLang="en-US" sz="2800" b="1" dirty="0">
                <a:solidFill>
                  <a:srgbClr val="1C1C1C"/>
                </a:solidFill>
                <a:latin typeface="微软雅黑" pitchFamily="34" charset="-122"/>
                <a:ea typeface="微软雅黑" pitchFamily="34" charset="-122"/>
              </a:rPr>
              <a:t>的：</a:t>
            </a:r>
            <a:endParaRPr lang="en-US" altLang="zh-CN" sz="2800" b="1" dirty="0">
              <a:solidFill>
                <a:srgbClr val="1C1C1C"/>
              </a:solidFill>
              <a:latin typeface="微软雅黑" pitchFamily="34" charset="-122"/>
              <a:ea typeface="微软雅黑" pitchFamily="34" charset="-122"/>
            </a:endParaRPr>
          </a:p>
          <a:p>
            <a:pPr>
              <a:spcBef>
                <a:spcPts val="0"/>
              </a:spcBef>
            </a:pPr>
            <a:r>
              <a:rPr lang="zh-CN" altLang="zh-CN" sz="2800" b="1" dirty="0">
                <a:solidFill>
                  <a:srgbClr val="1C1C1C"/>
                </a:solidFill>
                <a:latin typeface="微软雅黑" pitchFamily="34" charset="-122"/>
                <a:ea typeface="微软雅黑" pitchFamily="34" charset="-122"/>
              </a:rPr>
              <a:t>“在高速链路（或高带宽链路）上，</a:t>
            </a:r>
            <a:r>
              <a:rPr lang="zh-CN" altLang="zh-CN" sz="2800" b="1" dirty="0" smtClean="0">
                <a:solidFill>
                  <a:srgbClr val="1C1C1C"/>
                </a:solidFill>
                <a:latin typeface="微软雅黑" pitchFamily="34" charset="-122"/>
                <a:ea typeface="微软雅黑" pitchFamily="34" charset="-122"/>
              </a:rPr>
              <a:t>比特</a:t>
            </a:r>
            <a:r>
              <a:rPr lang="zh-CN" altLang="en-US" sz="2800" b="1" dirty="0" smtClean="0">
                <a:solidFill>
                  <a:srgbClr val="1C1C1C"/>
                </a:solidFill>
                <a:latin typeface="微软雅黑" pitchFamily="34" charset="-122"/>
                <a:ea typeface="微软雅黑" pitchFamily="34" charset="-122"/>
              </a:rPr>
              <a:t>的传播速度</a:t>
            </a:r>
            <a:r>
              <a:rPr lang="zh-CN" altLang="zh-CN" sz="2800" b="1" dirty="0" smtClean="0">
                <a:solidFill>
                  <a:srgbClr val="1C1C1C"/>
                </a:solidFill>
                <a:latin typeface="微软雅黑" pitchFamily="34" charset="-122"/>
                <a:ea typeface="微软雅黑" pitchFamily="34" charset="-122"/>
              </a:rPr>
              <a:t>会更</a:t>
            </a:r>
            <a:r>
              <a:rPr lang="zh-CN" altLang="zh-CN" sz="2800" b="1" dirty="0">
                <a:solidFill>
                  <a:srgbClr val="1C1C1C"/>
                </a:solidFill>
                <a:latin typeface="微软雅黑" pitchFamily="34" charset="-122"/>
                <a:ea typeface="微软雅黑" pitchFamily="34" charset="-122"/>
              </a:rPr>
              <a:t>快些”。</a:t>
            </a:r>
            <a:endParaRPr lang="zh-CN" altLang="en-US" sz="2800" b="1" dirty="0">
              <a:solidFill>
                <a:srgbClr val="1C1C1C"/>
              </a:solidFill>
              <a:latin typeface="微软雅黑" pitchFamily="34" charset="-122"/>
              <a:ea typeface="微软雅黑" pitchFamily="34" charset="-122"/>
            </a:endParaRPr>
          </a:p>
        </p:txBody>
      </p:sp>
    </p:spTree>
    <p:extLst>
      <p:ext uri="{BB962C8B-B14F-4D97-AF65-F5344CB8AC3E}">
        <p14:creationId xmlns:p14="http://schemas.microsoft.com/office/powerpoint/2010/main" val="4063652754"/>
      </p:ext>
    </p:extLst>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课堂练习</a:t>
            </a:r>
            <a:endParaRPr lang="zh-CN" altLang="en-US" dirty="0"/>
          </a:p>
        </p:txBody>
      </p:sp>
      <p:sp>
        <p:nvSpPr>
          <p:cNvPr id="3" name="内容占位符 2"/>
          <p:cNvSpPr>
            <a:spLocks noGrp="1"/>
          </p:cNvSpPr>
          <p:nvPr>
            <p:ph idx="1"/>
          </p:nvPr>
        </p:nvSpPr>
        <p:spPr/>
        <p:txBody>
          <a:bodyPr/>
          <a:lstStyle/>
          <a:p>
            <a:r>
              <a:rPr lang="zh-CN" altLang="en-US" sz="2800" b="1" dirty="0"/>
              <a:t>在下图所示的采用“存储</a:t>
            </a:r>
            <a:r>
              <a:rPr lang="en-US" altLang="zh-CN" sz="2800" b="1" dirty="0"/>
              <a:t>-</a:t>
            </a:r>
            <a:r>
              <a:rPr lang="zh-CN" altLang="en-US" sz="2800" b="1" dirty="0"/>
              <a:t>转发”方式</a:t>
            </a:r>
            <a:r>
              <a:rPr lang="zh-CN" altLang="en-US" sz="2800" b="1" dirty="0" smtClean="0"/>
              <a:t>的网络中</a:t>
            </a:r>
            <a:r>
              <a:rPr lang="zh-CN" altLang="en-US" sz="2800" b="1" dirty="0"/>
              <a:t>，所有结点的发送</a:t>
            </a:r>
            <a:r>
              <a:rPr lang="zh-CN" altLang="en-US" sz="2800" b="1" dirty="0" smtClean="0"/>
              <a:t>速率均为</a:t>
            </a:r>
            <a:r>
              <a:rPr lang="en-US" altLang="zh-CN" sz="2800" b="1" dirty="0" smtClean="0"/>
              <a:t>100Mbps</a:t>
            </a:r>
            <a:r>
              <a:rPr lang="zh-CN" altLang="en-US" sz="2800" b="1" dirty="0"/>
              <a:t>，分组大小为</a:t>
            </a:r>
            <a:r>
              <a:rPr lang="en-US" altLang="zh-CN" sz="2800" b="1" dirty="0"/>
              <a:t>1000bit</a:t>
            </a:r>
            <a:r>
              <a:rPr lang="zh-CN" altLang="en-US" sz="2800" b="1" dirty="0"/>
              <a:t>，其中包含分组头大小</a:t>
            </a:r>
            <a:r>
              <a:rPr lang="en-US" altLang="zh-CN" sz="2800" b="1" dirty="0"/>
              <a:t>160bit</a:t>
            </a:r>
            <a:r>
              <a:rPr lang="zh-CN" altLang="en-US" sz="2800" b="1" dirty="0"/>
              <a:t>。若主机</a:t>
            </a:r>
            <a:r>
              <a:rPr lang="en-US" altLang="zh-CN" sz="2800" b="1" dirty="0"/>
              <a:t>H</a:t>
            </a:r>
            <a:r>
              <a:rPr lang="en-US" altLang="zh-CN" sz="2800" b="1" baseline="-25000" dirty="0"/>
              <a:t>1</a:t>
            </a:r>
            <a:r>
              <a:rPr lang="zh-CN" altLang="en-US" sz="2800" b="1" dirty="0"/>
              <a:t>向主机</a:t>
            </a:r>
            <a:r>
              <a:rPr lang="en-US" altLang="zh-CN" sz="2800" b="1" dirty="0"/>
              <a:t>H</a:t>
            </a:r>
            <a:r>
              <a:rPr lang="en-US" altLang="zh-CN" sz="2800" b="1" baseline="-25000" dirty="0"/>
              <a:t>2</a:t>
            </a:r>
            <a:r>
              <a:rPr lang="zh-CN" altLang="en-US" sz="2800" b="1" dirty="0"/>
              <a:t>发送一个大小为</a:t>
            </a:r>
            <a:r>
              <a:rPr lang="en-US" altLang="zh-CN" sz="2800" b="1" dirty="0"/>
              <a:t>84000bit</a:t>
            </a:r>
            <a:r>
              <a:rPr lang="zh-CN" altLang="en-US" sz="2800" b="1" dirty="0"/>
              <a:t>的文件，则在不</a:t>
            </a:r>
            <a:r>
              <a:rPr lang="zh-CN" altLang="en-US" sz="2800" b="1" dirty="0" smtClean="0"/>
              <a:t>考虑传播时延、处理时延和排队时延的</a:t>
            </a:r>
            <a:r>
              <a:rPr lang="zh-CN" altLang="en-US" sz="2800" b="1" dirty="0"/>
              <a:t>情况下，从</a:t>
            </a:r>
            <a:r>
              <a:rPr lang="en-US" altLang="zh-CN" sz="2800" b="1" dirty="0"/>
              <a:t>H</a:t>
            </a:r>
            <a:r>
              <a:rPr lang="en-US" altLang="zh-CN" sz="2800" b="1" baseline="-25000" dirty="0"/>
              <a:t>1</a:t>
            </a:r>
            <a:r>
              <a:rPr lang="zh-CN" altLang="en-US" sz="2800" b="1" dirty="0"/>
              <a:t>发送开始到</a:t>
            </a:r>
            <a:r>
              <a:rPr lang="en-US" altLang="zh-CN" sz="2800" b="1" dirty="0"/>
              <a:t>H</a:t>
            </a:r>
            <a:r>
              <a:rPr lang="en-US" altLang="zh-CN" sz="2800" b="1" baseline="-25000" dirty="0"/>
              <a:t>2</a:t>
            </a:r>
            <a:r>
              <a:rPr lang="zh-CN" altLang="en-US" sz="2800" b="1" dirty="0"/>
              <a:t>接收完为止</a:t>
            </a:r>
            <a:r>
              <a:rPr lang="zh-CN" altLang="en-US" sz="2800" b="1" dirty="0" smtClean="0"/>
              <a:t>，采用</a:t>
            </a:r>
            <a:r>
              <a:rPr lang="zh-CN" altLang="en-US" sz="2800" b="1" dirty="0" smtClean="0">
                <a:solidFill>
                  <a:srgbClr val="C00000"/>
                </a:solidFill>
              </a:rPr>
              <a:t>分组交换</a:t>
            </a:r>
            <a:r>
              <a:rPr lang="zh-CN" altLang="en-US" sz="2800" b="1" dirty="0" smtClean="0"/>
              <a:t>和</a:t>
            </a:r>
            <a:r>
              <a:rPr lang="zh-CN" altLang="en-US" sz="2800" b="1" dirty="0" smtClean="0">
                <a:solidFill>
                  <a:srgbClr val="C00000"/>
                </a:solidFill>
              </a:rPr>
              <a:t>报文交换</a:t>
            </a:r>
            <a:r>
              <a:rPr lang="zh-CN" altLang="en-US" sz="2800" b="1" dirty="0" smtClean="0"/>
              <a:t>各需要</a:t>
            </a:r>
            <a:r>
              <a:rPr lang="zh-CN" altLang="en-US" sz="2800" b="1" dirty="0"/>
              <a:t>多少</a:t>
            </a:r>
            <a:r>
              <a:rPr lang="zh-CN" altLang="en-US" sz="2800" b="1" dirty="0" smtClean="0"/>
              <a:t>时间？</a:t>
            </a:r>
            <a:endParaRPr lang="zh-CN" altLang="en-US" sz="2800" b="1" dirty="0"/>
          </a:p>
        </p:txBody>
      </p:sp>
      <p:pic>
        <p:nvPicPr>
          <p:cNvPr id="706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480" y="4653136"/>
            <a:ext cx="8350379"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885593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课堂练习</a:t>
            </a:r>
            <a:endParaRPr lang="zh-CN" altLang="en-US" dirty="0"/>
          </a:p>
        </p:txBody>
      </p:sp>
      <p:sp>
        <p:nvSpPr>
          <p:cNvPr id="3" name="内容占位符 2"/>
          <p:cNvSpPr>
            <a:spLocks noGrp="1"/>
          </p:cNvSpPr>
          <p:nvPr>
            <p:ph idx="1"/>
          </p:nvPr>
        </p:nvSpPr>
        <p:spPr/>
        <p:txBody>
          <a:bodyPr/>
          <a:lstStyle/>
          <a:p>
            <a:r>
              <a:rPr lang="zh-CN" altLang="en-US" b="1" dirty="0" smtClean="0"/>
              <a:t>解：</a:t>
            </a:r>
            <a:endParaRPr lang="en-US" altLang="zh-CN" b="1" dirty="0" smtClean="0"/>
          </a:p>
          <a:p>
            <a:pPr lvl="1"/>
            <a:r>
              <a:rPr lang="zh-CN" altLang="en-US" b="1" dirty="0"/>
              <a:t>分析分组情况，求得分组</a:t>
            </a:r>
            <a:r>
              <a:rPr lang="zh-CN" altLang="en-US" b="1" dirty="0" smtClean="0"/>
              <a:t>个数为：</a:t>
            </a:r>
            <a:r>
              <a:rPr lang="en-US" altLang="zh-CN" b="1" dirty="0" smtClean="0"/>
              <a:t>84000bit/(1000-160)bit = 100</a:t>
            </a:r>
            <a:r>
              <a:rPr lang="zh-CN" altLang="en-US" b="1" dirty="0" smtClean="0"/>
              <a:t>。</a:t>
            </a:r>
            <a:endParaRPr lang="en-US" altLang="zh-CN" b="1" dirty="0" smtClean="0"/>
          </a:p>
          <a:p>
            <a:pPr lvl="1"/>
            <a:r>
              <a:rPr lang="zh-CN" altLang="en-US" b="1" dirty="0" smtClean="0"/>
              <a:t>分组交换的时延为：</a:t>
            </a:r>
            <a:r>
              <a:rPr lang="en-US" altLang="zh-CN" b="1" dirty="0" smtClean="0"/>
              <a:t>t = (1000*100)bit/100Mbps + 1000bit/100Mbps </a:t>
            </a:r>
            <a:r>
              <a:rPr lang="en-US" altLang="zh-CN" b="1" dirty="0"/>
              <a:t>+ 1000bit/100Mbps </a:t>
            </a:r>
            <a:r>
              <a:rPr lang="en-US" altLang="zh-CN" b="1" dirty="0" smtClean="0"/>
              <a:t>= 1.02ms</a:t>
            </a:r>
          </a:p>
          <a:p>
            <a:pPr lvl="1"/>
            <a:r>
              <a:rPr lang="zh-CN" altLang="en-US" b="1" dirty="0" smtClean="0"/>
              <a:t>而采用报文交换的时延为：</a:t>
            </a:r>
            <a:r>
              <a:rPr lang="en-US" altLang="zh-CN" b="1" dirty="0" smtClean="0"/>
              <a:t>t = (84000bit/100Mbps)*3 = 2.52ms</a:t>
            </a:r>
          </a:p>
          <a:p>
            <a:pPr marL="812800" lvl="1" indent="0">
              <a:buNone/>
            </a:pPr>
            <a:endParaRPr lang="zh-CN" altLang="en-US" b="1" dirty="0"/>
          </a:p>
        </p:txBody>
      </p:sp>
    </p:spTree>
    <p:extLst>
      <p:ext uri="{BB962C8B-B14F-4D97-AF65-F5344CB8AC3E}">
        <p14:creationId xmlns:p14="http://schemas.microsoft.com/office/powerpoint/2010/main" val="201719207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8" name="Group 6"/>
          <p:cNvGrpSpPr>
            <a:grpSpLocks/>
          </p:cNvGrpSpPr>
          <p:nvPr/>
        </p:nvGrpSpPr>
        <p:grpSpPr bwMode="auto">
          <a:xfrm>
            <a:off x="569590" y="1791023"/>
            <a:ext cx="1277938" cy="1277937"/>
            <a:chOff x="3476127" y="42101"/>
            <a:chExt cx="1277346" cy="1277346"/>
          </a:xfrm>
        </p:grpSpPr>
        <p:sp>
          <p:nvSpPr>
            <p:cNvPr id="9"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2"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5</a:t>
              </a:r>
              <a:r>
                <a:rPr lang="en-US" altLang="zh-CN" sz="2400" b="1" dirty="0" smtClean="0">
                  <a:solidFill>
                    <a:srgbClr val="4D4D4D"/>
                  </a:solidFill>
                  <a:latin typeface="微软雅黑" pitchFamily="34" charset="-122"/>
                  <a:ea typeface="微软雅黑" pitchFamily="34" charset="-122"/>
                </a:rPr>
                <a:t>.</a:t>
              </a:r>
              <a:r>
                <a:rPr lang="zh-CN" altLang="en-US" sz="2400" b="1" dirty="0" smtClean="0">
                  <a:solidFill>
                    <a:srgbClr val="4D4D4D"/>
                  </a:solidFill>
                  <a:latin typeface="微软雅黑" pitchFamily="34" charset="-122"/>
                  <a:ea typeface="微软雅黑" pitchFamily="34" charset="-122"/>
                </a:rPr>
                <a:t>时延</a:t>
              </a:r>
              <a:endParaRPr lang="en-US" altLang="zh-CN" sz="2400" b="1" dirty="0" smtClean="0">
                <a:solidFill>
                  <a:srgbClr val="4D4D4D"/>
                </a:solidFill>
                <a:latin typeface="微软雅黑" pitchFamily="34" charset="-122"/>
                <a:ea typeface="微软雅黑" pitchFamily="34" charset="-122"/>
              </a:endParaRPr>
            </a:p>
            <a:p>
              <a:pPr algn="ctr" defTabSz="977900" eaLnBrk="1" hangingPunct="1">
                <a:lnSpc>
                  <a:spcPct val="90000"/>
                </a:lnSpc>
                <a:spcAft>
                  <a:spcPct val="35000"/>
                </a:spcAft>
                <a:defRPr/>
              </a:pPr>
              <a:r>
                <a:rPr lang="zh-CN" altLang="en-US" sz="2400" b="1" dirty="0" smtClean="0">
                  <a:solidFill>
                    <a:srgbClr val="4D4D4D"/>
                  </a:solidFill>
                  <a:latin typeface="微软雅黑" pitchFamily="34" charset="-122"/>
                  <a:ea typeface="微软雅黑" pitchFamily="34" charset="-122"/>
                </a:rPr>
                <a:t>带宽积</a:t>
              </a:r>
              <a:endParaRPr lang="en-US" altLang="zh-CN" sz="2400" b="1" dirty="0" smtClean="0">
                <a:solidFill>
                  <a:srgbClr val="4D4D4D"/>
                </a:solidFill>
                <a:latin typeface="微软雅黑" pitchFamily="34" charset="-122"/>
                <a:ea typeface="微软雅黑" pitchFamily="34" charset="-122"/>
              </a:endParaRPr>
            </a:p>
          </p:txBody>
        </p:sp>
      </p:grpSp>
      <p:sp>
        <p:nvSpPr>
          <p:cNvPr id="21" name="矩形 12"/>
          <p:cNvSpPr>
            <a:spLocks noChangeArrowheads="1"/>
          </p:cNvSpPr>
          <p:nvPr/>
        </p:nvSpPr>
        <p:spPr bwMode="auto">
          <a:xfrm>
            <a:off x="1703512" y="4941168"/>
            <a:ext cx="9145016" cy="1384995"/>
          </a:xfrm>
          <a:prstGeom prst="rect">
            <a:avLst/>
          </a:prstGeom>
          <a:solidFill>
            <a:srgbClr val="D6E5BD"/>
          </a:solidFill>
          <a:ln/>
          <a:extLst/>
        </p:spPr>
        <p:style>
          <a:lnRef idx="1">
            <a:schemeClr val="accent3"/>
          </a:lnRef>
          <a:fillRef idx="2">
            <a:schemeClr val="accent3"/>
          </a:fillRef>
          <a:effectRef idx="1">
            <a:schemeClr val="accent3"/>
          </a:effectRef>
          <a:fontRef idx="minor">
            <a:schemeClr val="dk1"/>
          </a:fontRef>
        </p:style>
        <p:txBody>
          <a:bodyPr wrap="square">
            <a:spAutoFit/>
          </a:bodyPr>
          <a:lstStyle/>
          <a:p>
            <a:r>
              <a:rPr lang="zh-CN" altLang="en-US" sz="2800" b="1" dirty="0">
                <a:solidFill>
                  <a:srgbClr val="1C1C1C"/>
                </a:solidFill>
                <a:latin typeface="微软雅黑" pitchFamily="34" charset="-122"/>
                <a:ea typeface="微软雅黑" pitchFamily="34" charset="-122"/>
              </a:rPr>
              <a:t>链路的</a:t>
            </a:r>
            <a:r>
              <a:rPr lang="zh-CN" altLang="en-US" sz="2800" b="1" dirty="0">
                <a:solidFill>
                  <a:srgbClr val="C00000"/>
                </a:solidFill>
                <a:latin typeface="微软雅黑" pitchFamily="34" charset="-122"/>
                <a:ea typeface="微软雅黑" pitchFamily="34" charset="-122"/>
              </a:rPr>
              <a:t>时延带宽</a:t>
            </a:r>
            <a:r>
              <a:rPr lang="zh-CN" altLang="en-US" sz="2800" b="1" dirty="0" smtClean="0">
                <a:solidFill>
                  <a:srgbClr val="C00000"/>
                </a:solidFill>
                <a:latin typeface="微软雅黑" pitchFamily="34" charset="-122"/>
                <a:ea typeface="微软雅黑" pitchFamily="34" charset="-122"/>
              </a:rPr>
              <a:t>积</a:t>
            </a:r>
            <a:r>
              <a:rPr lang="zh-CN" altLang="en-US" sz="2800" b="1" dirty="0" smtClean="0">
                <a:solidFill>
                  <a:srgbClr val="1C1C1C"/>
                </a:solidFill>
                <a:latin typeface="微软雅黑" pitchFamily="34" charset="-122"/>
                <a:ea typeface="微软雅黑" pitchFamily="34" charset="-122"/>
              </a:rPr>
              <a:t>表示这样的链路可以容纳多少个比特。</a:t>
            </a:r>
            <a:endParaRPr lang="en-US" altLang="zh-CN" sz="2800" b="1" dirty="0" smtClean="0">
              <a:solidFill>
                <a:srgbClr val="1C1C1C"/>
              </a:solidFill>
              <a:latin typeface="微软雅黑" pitchFamily="34" charset="-122"/>
              <a:ea typeface="微软雅黑" pitchFamily="34" charset="-122"/>
            </a:endParaRPr>
          </a:p>
          <a:p>
            <a:r>
              <a:rPr lang="zh-CN" altLang="en-US" sz="2800" b="1" dirty="0" smtClean="0">
                <a:solidFill>
                  <a:srgbClr val="1C1C1C"/>
                </a:solidFill>
                <a:latin typeface="微软雅黑" pitchFamily="34" charset="-122"/>
                <a:ea typeface="微软雅黑" pitchFamily="34" charset="-122"/>
              </a:rPr>
              <a:t>管道中的比特数表示从发送端发出</a:t>
            </a:r>
            <a:r>
              <a:rPr lang="zh-CN" altLang="en-US" sz="2800" b="1" dirty="0" smtClean="0">
                <a:solidFill>
                  <a:srgbClr val="0000CC"/>
                </a:solidFill>
                <a:latin typeface="微软雅黑" pitchFamily="34" charset="-122"/>
                <a:ea typeface="微软雅黑" pitchFamily="34" charset="-122"/>
              </a:rPr>
              <a:t>但尚未</a:t>
            </a:r>
            <a:r>
              <a:rPr lang="zh-CN" altLang="en-US" sz="2800" b="1" dirty="0" smtClean="0">
                <a:solidFill>
                  <a:srgbClr val="1C1C1C"/>
                </a:solidFill>
                <a:latin typeface="微软雅黑" pitchFamily="34" charset="-122"/>
                <a:ea typeface="微软雅黑" pitchFamily="34" charset="-122"/>
              </a:rPr>
              <a:t>到达接收端的比特数。</a:t>
            </a:r>
            <a:endParaRPr lang="en-US" altLang="zh-CN" sz="2800" b="1" dirty="0" smtClean="0">
              <a:solidFill>
                <a:srgbClr val="1C1C1C"/>
              </a:solidFill>
              <a:latin typeface="微软雅黑" pitchFamily="34" charset="-122"/>
              <a:ea typeface="微软雅黑" pitchFamily="34" charset="-122"/>
            </a:endParaRPr>
          </a:p>
        </p:txBody>
      </p:sp>
      <p:grpSp>
        <p:nvGrpSpPr>
          <p:cNvPr id="2" name="组合 1"/>
          <p:cNvGrpSpPr/>
          <p:nvPr/>
        </p:nvGrpSpPr>
        <p:grpSpPr>
          <a:xfrm>
            <a:off x="2443200" y="1574264"/>
            <a:ext cx="7757256" cy="3006864"/>
            <a:chOff x="2443200" y="1574264"/>
            <a:chExt cx="6749144" cy="2263197"/>
          </a:xfrm>
        </p:grpSpPr>
        <p:sp>
          <p:nvSpPr>
            <p:cNvPr id="13" name="圆角矩形 12"/>
            <p:cNvSpPr/>
            <p:nvPr/>
          </p:nvSpPr>
          <p:spPr>
            <a:xfrm>
              <a:off x="2443200" y="1574264"/>
              <a:ext cx="6749144" cy="226319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14" name="AutoShape 37"/>
            <p:cNvSpPr>
              <a:spLocks noChangeArrowheads="1"/>
            </p:cNvSpPr>
            <p:nvPr/>
          </p:nvSpPr>
          <p:spPr bwMode="auto">
            <a:xfrm rot="-5400000">
              <a:off x="5882430" y="642391"/>
              <a:ext cx="564106" cy="4572000"/>
            </a:xfrm>
            <a:prstGeom prst="can">
              <a:avLst>
                <a:gd name="adj" fmla="val 49784"/>
              </a:avLst>
            </a:prstGeom>
            <a:gradFill rotWithShape="1">
              <a:gsLst>
                <a:gs pos="0">
                  <a:srgbClr val="004776"/>
                </a:gs>
                <a:gs pos="50000">
                  <a:srgbClr val="0099FF"/>
                </a:gs>
                <a:gs pos="100000">
                  <a:srgbClr val="0047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solidFill>
                  <a:srgbClr val="1956B9"/>
                </a:solidFill>
                <a:latin typeface="微软雅黑" pitchFamily="34" charset="-122"/>
                <a:ea typeface="微软雅黑" pitchFamily="34" charset="-122"/>
              </a:endParaRPr>
            </a:p>
          </p:txBody>
        </p:sp>
        <p:sp>
          <p:nvSpPr>
            <p:cNvPr id="15" name="Line 38"/>
            <p:cNvSpPr>
              <a:spLocks noChangeShapeType="1"/>
            </p:cNvSpPr>
            <p:nvPr/>
          </p:nvSpPr>
          <p:spPr bwMode="auto">
            <a:xfrm>
              <a:off x="4027708" y="2493937"/>
              <a:ext cx="4273550" cy="0"/>
            </a:xfrm>
            <a:prstGeom prst="line">
              <a:avLst/>
            </a:prstGeom>
            <a:noFill/>
            <a:ln w="254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16" name="Text Box 39"/>
            <p:cNvSpPr txBox="1">
              <a:spLocks noChangeArrowheads="1"/>
            </p:cNvSpPr>
            <p:nvPr/>
          </p:nvSpPr>
          <p:spPr bwMode="auto">
            <a:xfrm>
              <a:off x="5212527" y="2149449"/>
              <a:ext cx="2726817" cy="2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b="1" dirty="0">
                  <a:solidFill>
                    <a:srgbClr val="1C1C1C"/>
                  </a:solidFill>
                  <a:latin typeface="微软雅黑" pitchFamily="34" charset="-122"/>
                  <a:ea typeface="微软雅黑" pitchFamily="34" charset="-122"/>
                </a:rPr>
                <a:t>（传播）</a:t>
              </a:r>
              <a:r>
                <a:rPr lang="zh-CN" altLang="en-US" b="1" dirty="0" smtClean="0">
                  <a:solidFill>
                    <a:srgbClr val="1C1C1C"/>
                  </a:solidFill>
                  <a:latin typeface="微软雅黑" pitchFamily="34" charset="-122"/>
                  <a:ea typeface="微软雅黑" pitchFamily="34" charset="-122"/>
                </a:rPr>
                <a:t>时延（管道长度）</a:t>
              </a:r>
              <a:endParaRPr lang="zh-CN" altLang="en-US" b="1" dirty="0">
                <a:solidFill>
                  <a:srgbClr val="1C1C1C"/>
                </a:solidFill>
                <a:latin typeface="微软雅黑" pitchFamily="34" charset="-122"/>
                <a:ea typeface="微软雅黑" pitchFamily="34" charset="-122"/>
              </a:endParaRPr>
            </a:p>
          </p:txBody>
        </p:sp>
        <p:sp>
          <p:nvSpPr>
            <p:cNvPr id="17" name="Text Box 40"/>
            <p:cNvSpPr txBox="1">
              <a:spLocks noChangeArrowheads="1"/>
            </p:cNvSpPr>
            <p:nvPr/>
          </p:nvSpPr>
          <p:spPr bwMode="auto">
            <a:xfrm>
              <a:off x="5866033" y="2801912"/>
              <a:ext cx="6556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600" b="1">
                  <a:solidFill>
                    <a:schemeClr val="bg1"/>
                  </a:solidFill>
                  <a:latin typeface="微软雅黑" pitchFamily="34" charset="-122"/>
                  <a:ea typeface="微软雅黑" pitchFamily="34" charset="-122"/>
                </a:rPr>
                <a:t>链 路</a:t>
              </a:r>
            </a:p>
          </p:txBody>
        </p:sp>
        <p:sp>
          <p:nvSpPr>
            <p:cNvPr id="18" name="Text Box 41"/>
            <p:cNvSpPr txBox="1">
              <a:spLocks noChangeArrowheads="1"/>
            </p:cNvSpPr>
            <p:nvPr/>
          </p:nvSpPr>
          <p:spPr bwMode="auto">
            <a:xfrm>
              <a:off x="2549745" y="2265697"/>
              <a:ext cx="1578292" cy="486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pPr algn="ctr"/>
              <a:r>
                <a:rPr lang="zh-CN" altLang="en-US" b="1" dirty="0" smtClean="0">
                  <a:solidFill>
                    <a:srgbClr val="1C1C1C"/>
                  </a:solidFill>
                  <a:latin typeface="微软雅黑" pitchFamily="34" charset="-122"/>
                  <a:ea typeface="微软雅黑" pitchFamily="34" charset="-122"/>
                </a:rPr>
                <a:t>带宽</a:t>
              </a:r>
              <a:endParaRPr lang="en-US" altLang="zh-CN" b="1" dirty="0" smtClean="0">
                <a:solidFill>
                  <a:srgbClr val="1C1C1C"/>
                </a:solidFill>
                <a:latin typeface="微软雅黑" pitchFamily="34" charset="-122"/>
                <a:ea typeface="微软雅黑" pitchFamily="34" charset="-122"/>
              </a:endParaRPr>
            </a:p>
            <a:p>
              <a:pPr algn="ctr"/>
              <a:r>
                <a:rPr lang="zh-CN" altLang="en-US" b="1" dirty="0" smtClean="0">
                  <a:solidFill>
                    <a:srgbClr val="1C1C1C"/>
                  </a:solidFill>
                  <a:latin typeface="微软雅黑" pitchFamily="34" charset="-122"/>
                  <a:ea typeface="微软雅黑" pitchFamily="34" charset="-122"/>
                </a:rPr>
                <a:t>（管道截面积）</a:t>
              </a:r>
              <a:endParaRPr lang="zh-CN" altLang="en-US" b="1" dirty="0">
                <a:solidFill>
                  <a:srgbClr val="1C1C1C"/>
                </a:solidFill>
                <a:latin typeface="微软雅黑" pitchFamily="34" charset="-122"/>
                <a:ea typeface="微软雅黑" pitchFamily="34" charset="-122"/>
              </a:endParaRPr>
            </a:p>
          </p:txBody>
        </p:sp>
        <p:sp>
          <p:nvSpPr>
            <p:cNvPr id="19" name="Line 42"/>
            <p:cNvSpPr>
              <a:spLocks noChangeShapeType="1"/>
            </p:cNvSpPr>
            <p:nvPr/>
          </p:nvSpPr>
          <p:spPr bwMode="auto">
            <a:xfrm>
              <a:off x="3662401" y="2755547"/>
              <a:ext cx="365307" cy="213052"/>
            </a:xfrm>
            <a:prstGeom prst="line">
              <a:avLst/>
            </a:prstGeom>
            <a:noFill/>
            <a:ln w="25400">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sz="1200" b="1">
                <a:ln>
                  <a:solidFill>
                    <a:schemeClr val="accent3"/>
                  </a:solidFill>
                </a:ln>
                <a:solidFill>
                  <a:srgbClr val="1956B9"/>
                </a:solidFill>
                <a:latin typeface="微软雅黑" pitchFamily="34" charset="-122"/>
                <a:ea typeface="微软雅黑" pitchFamily="34" charset="-122"/>
              </a:endParaRPr>
            </a:p>
          </p:txBody>
        </p:sp>
        <p:sp>
          <p:nvSpPr>
            <p:cNvPr id="20" name="Text Box 43"/>
            <p:cNvSpPr txBox="1">
              <a:spLocks noChangeArrowheads="1"/>
            </p:cNvSpPr>
            <p:nvPr/>
          </p:nvSpPr>
          <p:spPr bwMode="auto">
            <a:xfrm>
              <a:off x="4128038" y="1657372"/>
              <a:ext cx="3650358" cy="400110"/>
            </a:xfrm>
            <a:prstGeom prst="rect">
              <a:avLst/>
            </a:prstGeom>
            <a:solidFill>
              <a:srgbClr val="FFCC66"/>
            </a:solidFill>
            <a:ln>
              <a:noFill/>
            </a:ln>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99"/>
                  </a:solidFill>
                  <a:latin typeface="微软雅黑" pitchFamily="34" charset="-122"/>
                  <a:ea typeface="微软雅黑" pitchFamily="34" charset="-122"/>
                </a:rPr>
                <a:t>时延带宽积 </a:t>
              </a:r>
              <a:r>
                <a:rPr lang="en-US" altLang="zh-CN" sz="2000" b="1" dirty="0">
                  <a:solidFill>
                    <a:srgbClr val="000099"/>
                  </a:solidFill>
                  <a:latin typeface="微软雅黑" pitchFamily="34" charset="-122"/>
                  <a:ea typeface="微软雅黑" pitchFamily="34" charset="-122"/>
                </a:rPr>
                <a:t>= </a:t>
              </a:r>
              <a:r>
                <a:rPr lang="zh-CN" altLang="en-US" sz="2000" b="1" dirty="0">
                  <a:solidFill>
                    <a:srgbClr val="000099"/>
                  </a:solidFill>
                  <a:latin typeface="微软雅黑" pitchFamily="34" charset="-122"/>
                  <a:ea typeface="微软雅黑" pitchFamily="34" charset="-122"/>
                </a:rPr>
                <a:t>传播时延 </a:t>
              </a:r>
              <a:r>
                <a:rPr lang="zh-CN" altLang="en-US" sz="2000" b="1" dirty="0">
                  <a:solidFill>
                    <a:srgbClr val="000099"/>
                  </a:solidFill>
                  <a:latin typeface="微软雅黑" pitchFamily="34" charset="-122"/>
                  <a:ea typeface="微软雅黑" pitchFamily="34" charset="-122"/>
                  <a:sym typeface="Symbol" pitchFamily="18" charset="2"/>
                </a:rPr>
                <a:t> 带宽</a:t>
              </a:r>
            </a:p>
          </p:txBody>
        </p:sp>
        <p:sp>
          <p:nvSpPr>
            <p:cNvPr id="22" name="矩形 13"/>
            <p:cNvSpPr>
              <a:spLocks noChangeArrowheads="1"/>
            </p:cNvSpPr>
            <p:nvPr/>
          </p:nvSpPr>
          <p:spPr bwMode="auto">
            <a:xfrm>
              <a:off x="4689696" y="3301292"/>
              <a:ext cx="30083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zh-CN" b="1" dirty="0">
                  <a:solidFill>
                    <a:srgbClr val="1C1C1C"/>
                  </a:solidFill>
                  <a:latin typeface="微软雅黑" pitchFamily="34" charset="-122"/>
                  <a:ea typeface="微软雅黑" pitchFamily="34" charset="-122"/>
                </a:rPr>
                <a:t>链路像一条空心管道</a:t>
              </a:r>
              <a:endParaRPr lang="zh-CN" altLang="en-US" b="1" dirty="0">
                <a:solidFill>
                  <a:srgbClr val="1C1C1C"/>
                </a:solidFill>
                <a:latin typeface="微软雅黑" pitchFamily="34" charset="-122"/>
                <a:ea typeface="微软雅黑" pitchFamily="34" charset="-122"/>
              </a:endParaRPr>
            </a:p>
          </p:txBody>
        </p:sp>
      </p:gr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7"/>
          <p:cNvSpPr txBox="1">
            <a:spLocks noChangeArrowheads="1"/>
          </p:cNvSpPr>
          <p:nvPr/>
        </p:nvSpPr>
        <p:spPr bwMode="auto">
          <a:xfrm>
            <a:off x="1931728" y="1279733"/>
            <a:ext cx="9492864" cy="531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sz="2800" b="1" dirty="0" smtClean="0"/>
              <a:t>往返时间 </a:t>
            </a:r>
            <a:r>
              <a:rPr lang="en-US" altLang="zh-CN" sz="2800" b="1" dirty="0" smtClean="0"/>
              <a:t>RTT(Round-Trip </a:t>
            </a:r>
            <a:r>
              <a:rPr lang="en-US" altLang="zh-CN" sz="2800" b="1" dirty="0"/>
              <a:t>Time</a:t>
            </a:r>
            <a:r>
              <a:rPr lang="en-US" altLang="zh-CN" sz="2800" b="1" dirty="0" smtClean="0"/>
              <a:t>)</a:t>
            </a:r>
            <a:r>
              <a:rPr lang="zh-CN" altLang="en-US" sz="2800" b="1" dirty="0" smtClean="0"/>
              <a:t>表示从</a:t>
            </a:r>
            <a:r>
              <a:rPr lang="zh-CN" altLang="en-US" sz="2800" b="1" dirty="0"/>
              <a:t>发送方</a:t>
            </a:r>
            <a:r>
              <a:rPr lang="zh-CN" altLang="en-US" sz="2800" b="1" dirty="0">
                <a:solidFill>
                  <a:srgbClr val="C00000"/>
                </a:solidFill>
              </a:rPr>
              <a:t>发送完数据</a:t>
            </a:r>
            <a:r>
              <a:rPr lang="zh-CN" altLang="en-US" sz="2800" b="1" dirty="0"/>
              <a:t>到发送方</a:t>
            </a:r>
            <a:r>
              <a:rPr lang="zh-CN" altLang="en-US" sz="2800" b="1" dirty="0">
                <a:solidFill>
                  <a:srgbClr val="C00000"/>
                </a:solidFill>
              </a:rPr>
              <a:t>收到接收方的确认</a:t>
            </a:r>
            <a:r>
              <a:rPr lang="zh-CN" altLang="en-US" sz="2800" b="1" dirty="0"/>
              <a:t>所经过的时间</a:t>
            </a:r>
            <a:r>
              <a:rPr lang="zh-CN" altLang="en-US" sz="2800" b="1" dirty="0" smtClean="0"/>
              <a:t>。</a:t>
            </a:r>
            <a:endParaRPr lang="en-US" altLang="zh-CN" sz="2800" b="1" dirty="0" smtClean="0"/>
          </a:p>
          <a:p>
            <a:pPr marL="457200" indent="-457200" eaLnBrk="1" hangingPunct="1"/>
            <a:r>
              <a:rPr lang="zh-CN" altLang="en-US" sz="2800" b="1" dirty="0" smtClean="0"/>
              <a:t>举例</a:t>
            </a:r>
            <a:r>
              <a:rPr lang="zh-CN" altLang="en-US" sz="2800" b="1" dirty="0"/>
              <a:t>分析</a:t>
            </a:r>
            <a:r>
              <a:rPr lang="zh-CN" altLang="en-US" sz="2800" b="1" dirty="0" smtClean="0"/>
              <a:t>：结点 </a:t>
            </a:r>
            <a:r>
              <a:rPr lang="en-US" altLang="zh-CN" sz="2800" b="1" dirty="0"/>
              <a:t>A </a:t>
            </a:r>
            <a:r>
              <a:rPr lang="zh-CN" altLang="en-US" sz="2800" b="1" dirty="0"/>
              <a:t>要将一个 </a:t>
            </a:r>
            <a:r>
              <a:rPr lang="en-US" altLang="zh-CN" sz="2800" b="1" dirty="0"/>
              <a:t>100 MB </a:t>
            </a:r>
            <a:r>
              <a:rPr lang="zh-CN" altLang="en-US" sz="2800" b="1" dirty="0"/>
              <a:t>数据以 </a:t>
            </a:r>
            <a:r>
              <a:rPr lang="en-US" altLang="zh-CN" sz="2800" b="1" dirty="0"/>
              <a:t>100 Mbit/s </a:t>
            </a:r>
            <a:r>
              <a:rPr lang="zh-CN" altLang="en-US" sz="2800" b="1" dirty="0"/>
              <a:t>的速率发送给结点 </a:t>
            </a:r>
            <a:r>
              <a:rPr lang="en-US" altLang="zh-CN" sz="2800" b="1" dirty="0"/>
              <a:t>B</a:t>
            </a:r>
            <a:r>
              <a:rPr lang="zh-CN" altLang="en-US" sz="2800" b="1" dirty="0"/>
              <a:t>，</a:t>
            </a:r>
            <a:r>
              <a:rPr lang="en-US" altLang="zh-CN" sz="2800" b="1" dirty="0"/>
              <a:t>B </a:t>
            </a:r>
            <a:r>
              <a:rPr lang="zh-CN" altLang="en-US" sz="2800" b="1" dirty="0"/>
              <a:t>正确收完该数据后，就立即向 </a:t>
            </a:r>
            <a:r>
              <a:rPr lang="en-US" altLang="zh-CN" sz="2800" b="1" dirty="0"/>
              <a:t>A </a:t>
            </a:r>
            <a:r>
              <a:rPr lang="zh-CN" altLang="en-US" sz="2800" b="1" dirty="0"/>
              <a:t>发送确认。假定 </a:t>
            </a:r>
            <a:r>
              <a:rPr lang="en-US" altLang="zh-CN" sz="2800" b="1" dirty="0"/>
              <a:t>A </a:t>
            </a:r>
            <a:r>
              <a:rPr lang="zh-CN" altLang="en-US" sz="2800" b="1" dirty="0"/>
              <a:t>只有在收到 </a:t>
            </a:r>
            <a:r>
              <a:rPr lang="en-US" altLang="zh-CN" sz="2800" b="1" dirty="0"/>
              <a:t>B </a:t>
            </a:r>
            <a:r>
              <a:rPr lang="zh-CN" altLang="en-US" sz="2800" b="1" dirty="0"/>
              <a:t>的确认信息后，才能继续向 </a:t>
            </a:r>
            <a:r>
              <a:rPr lang="en-US" altLang="zh-CN" sz="2800" b="1" dirty="0"/>
              <a:t>B </a:t>
            </a:r>
            <a:r>
              <a:rPr lang="zh-CN" altLang="en-US" sz="2800" b="1" dirty="0"/>
              <a:t>发送数据，且确认信息很</a:t>
            </a:r>
            <a:r>
              <a:rPr lang="zh-CN" altLang="en-US" sz="2800" b="1" dirty="0" smtClean="0"/>
              <a:t>短，可忽略 </a:t>
            </a:r>
            <a:r>
              <a:rPr lang="en-US" altLang="zh-CN" sz="2800" b="1" dirty="0" smtClean="0"/>
              <a:t>B </a:t>
            </a:r>
            <a:r>
              <a:rPr lang="zh-CN" altLang="en-US" sz="2800" b="1" dirty="0" smtClean="0"/>
              <a:t>发送确认的</a:t>
            </a:r>
            <a:r>
              <a:rPr lang="zh-CN" altLang="en-US" sz="2800" b="1" dirty="0" smtClean="0">
                <a:solidFill>
                  <a:srgbClr val="C00000"/>
                </a:solidFill>
              </a:rPr>
              <a:t>发送时延</a:t>
            </a:r>
            <a:r>
              <a:rPr lang="zh-CN" altLang="en-US" sz="2800" b="1" dirty="0" smtClean="0"/>
              <a:t>。如果 </a:t>
            </a:r>
            <a:r>
              <a:rPr lang="en-US" altLang="zh-CN" sz="2800" b="1" dirty="0" smtClean="0"/>
              <a:t>RTT = 2s</a:t>
            </a:r>
            <a:r>
              <a:rPr lang="zh-CN" altLang="en-US" sz="2800" b="1" dirty="0" smtClean="0"/>
              <a:t>，计算 </a:t>
            </a:r>
            <a:r>
              <a:rPr lang="en-US" altLang="zh-CN" sz="2800" b="1" dirty="0"/>
              <a:t>A </a:t>
            </a:r>
            <a:r>
              <a:rPr lang="zh-CN" altLang="en-US" sz="2800" b="1" dirty="0"/>
              <a:t>向 </a:t>
            </a:r>
            <a:r>
              <a:rPr lang="en-US" altLang="zh-CN" sz="2800" b="1" dirty="0"/>
              <a:t>B </a:t>
            </a:r>
            <a:r>
              <a:rPr lang="zh-CN" altLang="en-US" sz="2800" b="1" dirty="0"/>
              <a:t>发送数据的</a:t>
            </a:r>
            <a:r>
              <a:rPr lang="zh-CN" altLang="en-US" sz="2800" b="1" dirty="0">
                <a:solidFill>
                  <a:srgbClr val="C00000"/>
                </a:solidFill>
              </a:rPr>
              <a:t>有效数据率</a:t>
            </a:r>
            <a:r>
              <a:rPr lang="zh-CN" altLang="en-US" sz="2800" b="1" dirty="0"/>
              <a:t>。</a:t>
            </a:r>
          </a:p>
          <a:p>
            <a:pPr marL="457200" indent="-457200" eaLnBrk="1" hangingPunct="1"/>
            <a:endParaRPr lang="zh-CN" altLang="en-US" sz="2800" b="1" dirty="0" smtClean="0"/>
          </a:p>
          <a:p>
            <a:pPr marL="0" indent="0" eaLnBrk="1" hangingPunct="1">
              <a:buNone/>
            </a:pPr>
            <a:endParaRPr lang="zh-CN" altLang="en-US" sz="2800" b="1" dirty="0"/>
          </a:p>
        </p:txBody>
      </p:sp>
      <p:sp>
        <p:nvSpPr>
          <p:cNvPr id="56325"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0" name="Group 6"/>
          <p:cNvGrpSpPr>
            <a:grpSpLocks/>
          </p:cNvGrpSpPr>
          <p:nvPr/>
        </p:nvGrpSpPr>
        <p:grpSpPr bwMode="auto">
          <a:xfrm>
            <a:off x="569590" y="1791023"/>
            <a:ext cx="1277938" cy="1277937"/>
            <a:chOff x="3476127" y="42101"/>
            <a:chExt cx="1277346" cy="1277346"/>
          </a:xfrm>
        </p:grpSpPr>
        <p:sp>
          <p:nvSpPr>
            <p:cNvPr id="11"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2"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6.</a:t>
              </a:r>
              <a:r>
                <a:rPr lang="zh-CN" altLang="en-US" sz="2400" b="1" dirty="0">
                  <a:solidFill>
                    <a:srgbClr val="4D4D4D"/>
                  </a:solidFill>
                  <a:latin typeface="微软雅黑" pitchFamily="34" charset="-122"/>
                  <a:ea typeface="微软雅黑" pitchFamily="34" charset="-122"/>
                </a:rPr>
                <a:t>往返</a:t>
              </a:r>
              <a:endParaRPr lang="en-US" altLang="zh-CN" sz="2400" b="1" dirty="0">
                <a:solidFill>
                  <a:srgbClr val="4D4D4D"/>
                </a:solidFill>
                <a:latin typeface="微软雅黑" pitchFamily="34" charset="-122"/>
                <a:ea typeface="微软雅黑" pitchFamily="34" charset="-122"/>
              </a:endParaRPr>
            </a:p>
            <a:p>
              <a:pPr algn="ctr" defTabSz="977900" eaLnBrk="1" hangingPunct="1">
                <a:lnSpc>
                  <a:spcPct val="90000"/>
                </a:lnSpc>
                <a:spcAft>
                  <a:spcPct val="35000"/>
                </a:spcAft>
                <a:defRPr/>
              </a:pPr>
              <a:r>
                <a:rPr lang="zh-CN" altLang="en-US" sz="2400" b="1" dirty="0" smtClean="0">
                  <a:solidFill>
                    <a:srgbClr val="4D4D4D"/>
                  </a:solidFill>
                  <a:latin typeface="微软雅黑" pitchFamily="34" charset="-122"/>
                  <a:ea typeface="微软雅黑" pitchFamily="34" charset="-122"/>
                </a:rPr>
                <a:t>   时间</a:t>
              </a:r>
              <a:endParaRPr lang="en-US" altLang="zh-CN" sz="2400" b="1" dirty="0">
                <a:solidFill>
                  <a:srgbClr val="4D4D4D"/>
                </a:solidFill>
                <a:latin typeface="微软雅黑" pitchFamily="34" charset="-122"/>
                <a:ea typeface="微软雅黑" pitchFamily="34"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fade">
                                      <p:cBhvr>
                                        <p:cTn id="7" dur="1000"/>
                                        <p:tgtEl>
                                          <p:spTgt spid="13">
                                            <p:txEl>
                                              <p:pRg st="1" end="1"/>
                                            </p:txEl>
                                          </p:spTgt>
                                        </p:tgtEl>
                                      </p:cBhvr>
                                    </p:animEffect>
                                    <p:anim calcmode="lin" valueType="num">
                                      <p:cBhvr>
                                        <p:cTn id="8"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sz="2800" b="1" dirty="0" smtClean="0"/>
              <a:t>解：</a:t>
            </a:r>
            <a:endParaRPr lang="zh-CN" altLang="en-US" sz="2800" b="1" dirty="0"/>
          </a:p>
        </p:txBody>
      </p:sp>
      <p:sp>
        <p:nvSpPr>
          <p:cNvPr id="56325"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0" name="Group 6"/>
          <p:cNvGrpSpPr>
            <a:grpSpLocks/>
          </p:cNvGrpSpPr>
          <p:nvPr/>
        </p:nvGrpSpPr>
        <p:grpSpPr bwMode="auto">
          <a:xfrm>
            <a:off x="569590" y="1791023"/>
            <a:ext cx="1277938" cy="1277937"/>
            <a:chOff x="3476127" y="42101"/>
            <a:chExt cx="1277346" cy="1277346"/>
          </a:xfrm>
        </p:grpSpPr>
        <p:sp>
          <p:nvSpPr>
            <p:cNvPr id="11"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2"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6.</a:t>
              </a:r>
              <a:r>
                <a:rPr lang="zh-CN" altLang="en-US" sz="2400" b="1" dirty="0">
                  <a:solidFill>
                    <a:srgbClr val="4D4D4D"/>
                  </a:solidFill>
                  <a:latin typeface="微软雅黑" pitchFamily="34" charset="-122"/>
                  <a:ea typeface="微软雅黑" pitchFamily="34" charset="-122"/>
                </a:rPr>
                <a:t>往返</a:t>
              </a:r>
              <a:endParaRPr lang="en-US" altLang="zh-CN" sz="2400" b="1" dirty="0">
                <a:solidFill>
                  <a:srgbClr val="4D4D4D"/>
                </a:solidFill>
                <a:latin typeface="微软雅黑" pitchFamily="34" charset="-122"/>
                <a:ea typeface="微软雅黑" pitchFamily="34" charset="-122"/>
              </a:endParaRPr>
            </a:p>
            <a:p>
              <a:pPr algn="ctr" defTabSz="977900" eaLnBrk="1" hangingPunct="1">
                <a:lnSpc>
                  <a:spcPct val="90000"/>
                </a:lnSpc>
                <a:spcAft>
                  <a:spcPct val="35000"/>
                </a:spcAft>
                <a:defRPr/>
              </a:pPr>
              <a:r>
                <a:rPr lang="zh-CN" altLang="en-US" sz="2400" b="1" dirty="0" smtClean="0">
                  <a:solidFill>
                    <a:srgbClr val="4D4D4D"/>
                  </a:solidFill>
                  <a:latin typeface="微软雅黑" pitchFamily="34" charset="-122"/>
                  <a:ea typeface="微软雅黑" pitchFamily="34" charset="-122"/>
                </a:rPr>
                <a:t>   时间</a:t>
              </a:r>
              <a:endParaRPr lang="en-US" altLang="zh-CN" sz="2400" b="1" dirty="0">
                <a:solidFill>
                  <a:srgbClr val="4D4D4D"/>
                </a:solidFill>
                <a:latin typeface="微软雅黑" pitchFamily="34" charset="-122"/>
                <a:ea typeface="微软雅黑" pitchFamily="34" charset="-122"/>
              </a:endParaRPr>
            </a:p>
          </p:txBody>
        </p:sp>
      </p:grpSp>
      <p:grpSp>
        <p:nvGrpSpPr>
          <p:cNvPr id="7" name="组合 6"/>
          <p:cNvGrpSpPr/>
          <p:nvPr/>
        </p:nvGrpSpPr>
        <p:grpSpPr>
          <a:xfrm>
            <a:off x="1847528" y="2060848"/>
            <a:ext cx="8208912" cy="1352014"/>
            <a:chOff x="940526" y="2682598"/>
            <a:chExt cx="6049099" cy="1352014"/>
          </a:xfrm>
        </p:grpSpPr>
        <p:sp>
          <p:nvSpPr>
            <p:cNvPr id="8" name="文本框 3"/>
            <p:cNvSpPr txBox="1"/>
            <p:nvPr/>
          </p:nvSpPr>
          <p:spPr>
            <a:xfrm>
              <a:off x="940526" y="2867264"/>
              <a:ext cx="2109873" cy="523220"/>
            </a:xfrm>
            <a:prstGeom prst="rect">
              <a:avLst/>
            </a:prstGeom>
            <a:noFill/>
          </p:spPr>
          <p:txBody>
            <a:bodyPr wrap="none" rtlCol="0">
              <a:spAutoFit/>
            </a:bodyPr>
            <a:lstStyle/>
            <a:p>
              <a:r>
                <a:rPr lang="zh-CN" altLang="en-US" sz="2800" b="1" dirty="0" smtClean="0">
                  <a:solidFill>
                    <a:srgbClr val="1C1C1C"/>
                  </a:solidFill>
                  <a:latin typeface="微软雅黑" panose="020B0503020204020204" pitchFamily="34" charset="-122"/>
                  <a:ea typeface="微软雅黑" panose="020B0503020204020204" pitchFamily="34" charset="-122"/>
                </a:rPr>
                <a:t>发送时延 </a:t>
              </a:r>
              <a:r>
                <a:rPr lang="en-US" altLang="zh-CN" sz="2800" b="1" dirty="0" smtClean="0">
                  <a:solidFill>
                    <a:srgbClr val="1C1C1C"/>
                  </a:solidFill>
                  <a:latin typeface="微软雅黑" panose="020B0503020204020204" pitchFamily="34" charset="-122"/>
                  <a:ea typeface="微软雅黑" panose="020B0503020204020204" pitchFamily="34" charset="-122"/>
                </a:rPr>
                <a:t>= </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9" name="文本框 12"/>
            <p:cNvSpPr txBox="1"/>
            <p:nvPr/>
          </p:nvSpPr>
          <p:spPr>
            <a:xfrm>
              <a:off x="2360014" y="2682598"/>
              <a:ext cx="1620957" cy="523220"/>
            </a:xfrm>
            <a:prstGeom prst="rect">
              <a:avLst/>
            </a:prstGeom>
            <a:noFill/>
          </p:spPr>
          <p:txBody>
            <a:bodyPr wrap="none" rtlCol="0">
              <a:spAutoFit/>
            </a:bodyPr>
            <a:lstStyle/>
            <a:p>
              <a:r>
                <a:rPr lang="zh-CN" altLang="en-US" sz="2800" b="1" dirty="0" smtClean="0">
                  <a:solidFill>
                    <a:srgbClr val="1C1C1C"/>
                  </a:solidFill>
                  <a:latin typeface="微软雅黑" panose="020B0503020204020204" pitchFamily="34" charset="-122"/>
                  <a:ea typeface="微软雅黑" panose="020B0503020204020204" pitchFamily="34" charset="-122"/>
                </a:rPr>
                <a:t>数据长度</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360014" y="3080505"/>
              <a:ext cx="1620957" cy="523220"/>
            </a:xfrm>
            <a:prstGeom prst="rect">
              <a:avLst/>
            </a:prstGeom>
            <a:noFill/>
          </p:spPr>
          <p:txBody>
            <a:bodyPr wrap="none" rtlCol="0">
              <a:spAutoFit/>
            </a:bodyPr>
            <a:lstStyle/>
            <a:p>
              <a:r>
                <a:rPr lang="zh-CN" altLang="en-US" sz="2800" b="1" dirty="0" smtClean="0">
                  <a:solidFill>
                    <a:srgbClr val="1C1C1C"/>
                  </a:solidFill>
                  <a:latin typeface="微软雅黑" panose="020B0503020204020204" pitchFamily="34" charset="-122"/>
                  <a:ea typeface="微软雅黑" panose="020B0503020204020204" pitchFamily="34" charset="-122"/>
                </a:rPr>
                <a:t>发送速率</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2308678" y="3143221"/>
              <a:ext cx="1233930" cy="0"/>
            </a:xfrm>
            <a:prstGeom prst="line">
              <a:avLst/>
            </a:prstGeom>
            <a:ln w="19050"/>
          </p:spPr>
          <p:style>
            <a:lnRef idx="1">
              <a:schemeClr val="dk1"/>
            </a:lnRef>
            <a:fillRef idx="0">
              <a:schemeClr val="dk1"/>
            </a:fillRef>
            <a:effectRef idx="0">
              <a:schemeClr val="dk1"/>
            </a:effectRef>
            <a:fontRef idx="minor">
              <a:schemeClr val="tx1"/>
            </a:fontRef>
          </p:style>
        </p:cxnSp>
        <p:sp>
          <p:nvSpPr>
            <p:cNvPr id="16" name="文本框 22"/>
            <p:cNvSpPr txBox="1"/>
            <p:nvPr/>
          </p:nvSpPr>
          <p:spPr>
            <a:xfrm>
              <a:off x="3468010" y="2867264"/>
              <a:ext cx="458780" cy="523220"/>
            </a:xfrm>
            <a:prstGeom prst="rect">
              <a:avLst/>
            </a:prstGeom>
            <a:noFill/>
          </p:spPr>
          <p:txBody>
            <a:bodyPr wrap="none" rtlCol="0">
              <a:spAutoFit/>
            </a:bodyPr>
            <a:lstStyle/>
            <a:p>
              <a:r>
                <a:rPr lang="en-US" altLang="zh-CN" sz="2800" b="1" dirty="0" smtClean="0">
                  <a:solidFill>
                    <a:srgbClr val="1C1C1C"/>
                  </a:solidFill>
                  <a:latin typeface="微软雅黑" panose="020B0503020204020204" pitchFamily="34" charset="-122"/>
                  <a:ea typeface="微软雅黑" panose="020B0503020204020204" pitchFamily="34" charset="-122"/>
                </a:rPr>
                <a:t>=</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17" name="文本框 23"/>
            <p:cNvSpPr txBox="1"/>
            <p:nvPr/>
          </p:nvSpPr>
          <p:spPr>
            <a:xfrm>
              <a:off x="3838954" y="2682598"/>
              <a:ext cx="1710084" cy="954107"/>
            </a:xfrm>
            <a:prstGeom prst="rect">
              <a:avLst/>
            </a:prstGeom>
            <a:noFill/>
          </p:spPr>
          <p:txBody>
            <a:bodyPr wrap="square" rtlCol="0">
              <a:spAutoFit/>
            </a:bodyPr>
            <a:lstStyle/>
            <a:p>
              <a:pPr algn="ctr"/>
              <a:r>
                <a:rPr lang="en-US" altLang="zh-CN" sz="2800" b="1" dirty="0" smtClean="0">
                  <a:solidFill>
                    <a:srgbClr val="1C1C1C"/>
                  </a:solidFill>
                  <a:latin typeface="微软雅黑" panose="020B0503020204020204" pitchFamily="34" charset="-122"/>
                  <a:ea typeface="微软雅黑" panose="020B0503020204020204" pitchFamily="34" charset="-122"/>
                </a:rPr>
                <a:t>100×2</a:t>
              </a:r>
              <a:r>
                <a:rPr lang="en-US" altLang="zh-CN" sz="2800" b="1" baseline="30000" dirty="0" smtClean="0">
                  <a:solidFill>
                    <a:srgbClr val="1C1C1C"/>
                  </a:solidFill>
                  <a:latin typeface="微软雅黑" panose="020B0503020204020204" pitchFamily="34" charset="-122"/>
                  <a:ea typeface="微软雅黑" panose="020B0503020204020204" pitchFamily="34" charset="-122"/>
                </a:rPr>
                <a:t>20</a:t>
              </a:r>
              <a:r>
                <a:rPr lang="en-US" altLang="zh-CN" sz="2800" b="1" dirty="0" smtClean="0">
                  <a:solidFill>
                    <a:srgbClr val="1C1C1C"/>
                  </a:solidFill>
                  <a:latin typeface="微软雅黑" panose="020B0503020204020204" pitchFamily="34" charset="-122"/>
                  <a:ea typeface="微软雅黑" panose="020B0503020204020204" pitchFamily="34" charset="-122"/>
                </a:rPr>
                <a:t>×8</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18" name="文本框 24"/>
            <p:cNvSpPr txBox="1"/>
            <p:nvPr/>
          </p:nvSpPr>
          <p:spPr>
            <a:xfrm>
              <a:off x="3871785" y="3080505"/>
              <a:ext cx="1489895" cy="954107"/>
            </a:xfrm>
            <a:prstGeom prst="rect">
              <a:avLst/>
            </a:prstGeom>
            <a:noFill/>
          </p:spPr>
          <p:txBody>
            <a:bodyPr wrap="square" rtlCol="0">
              <a:spAutoFit/>
            </a:bodyPr>
            <a:lstStyle/>
            <a:p>
              <a:pPr algn="ctr"/>
              <a:r>
                <a:rPr lang="en-US" altLang="zh-CN" sz="2800" b="1" dirty="0" smtClean="0">
                  <a:solidFill>
                    <a:srgbClr val="1C1C1C"/>
                  </a:solidFill>
                  <a:latin typeface="微软雅黑" panose="020B0503020204020204" pitchFamily="34" charset="-122"/>
                  <a:ea typeface="微软雅黑" panose="020B0503020204020204" pitchFamily="34" charset="-122"/>
                </a:rPr>
                <a:t>100×10</a:t>
              </a:r>
              <a:r>
                <a:rPr lang="en-US" altLang="zh-CN" sz="2800" b="1" baseline="30000" dirty="0" smtClean="0">
                  <a:solidFill>
                    <a:srgbClr val="1C1C1C"/>
                  </a:solidFill>
                  <a:latin typeface="微软雅黑" panose="020B0503020204020204" pitchFamily="34" charset="-122"/>
                  <a:ea typeface="微软雅黑" panose="020B0503020204020204" pitchFamily="34" charset="-122"/>
                </a:rPr>
                <a:t>6</a:t>
              </a:r>
              <a:endParaRPr lang="zh-CN" altLang="en-US" sz="2800" b="1" baseline="30000" dirty="0">
                <a:solidFill>
                  <a:srgbClr val="1C1C1C"/>
                </a:solidFill>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3838953" y="3147180"/>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20" name="文本框 26"/>
            <p:cNvSpPr txBox="1"/>
            <p:nvPr/>
          </p:nvSpPr>
          <p:spPr>
            <a:xfrm>
              <a:off x="5371874" y="2867264"/>
              <a:ext cx="1617751" cy="523220"/>
            </a:xfrm>
            <a:prstGeom prst="rect">
              <a:avLst/>
            </a:prstGeom>
            <a:noFill/>
          </p:spPr>
          <p:txBody>
            <a:bodyPr wrap="none" rtlCol="0">
              <a:spAutoFit/>
            </a:bodyPr>
            <a:lstStyle/>
            <a:p>
              <a:r>
                <a:rPr lang="en-US" altLang="zh-CN" sz="2800" b="1" dirty="0" smtClean="0">
                  <a:solidFill>
                    <a:srgbClr val="1C1C1C"/>
                  </a:solidFill>
                  <a:latin typeface="微软雅黑" panose="020B0503020204020204" pitchFamily="34" charset="-122"/>
                  <a:ea typeface="微软雅黑" panose="020B0503020204020204" pitchFamily="34" charset="-122"/>
                </a:rPr>
                <a:t>≈ 8.39 s</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1491784" y="3397642"/>
            <a:ext cx="10364857" cy="1371064"/>
            <a:chOff x="940526" y="3549953"/>
            <a:chExt cx="7591358" cy="1371064"/>
          </a:xfrm>
        </p:grpSpPr>
        <p:sp>
          <p:nvSpPr>
            <p:cNvPr id="22" name="文本框 30"/>
            <p:cNvSpPr txBox="1"/>
            <p:nvPr/>
          </p:nvSpPr>
          <p:spPr>
            <a:xfrm>
              <a:off x="940526" y="3734619"/>
              <a:ext cx="2468946" cy="523220"/>
            </a:xfrm>
            <a:prstGeom prst="rect">
              <a:avLst/>
            </a:prstGeom>
            <a:noFill/>
          </p:spPr>
          <p:txBody>
            <a:bodyPr wrap="none" rtlCol="0">
              <a:spAutoFit/>
            </a:bodyPr>
            <a:lstStyle/>
            <a:p>
              <a:r>
                <a:rPr lang="zh-CN" altLang="en-US" sz="2800" b="1" dirty="0" smtClean="0">
                  <a:solidFill>
                    <a:srgbClr val="1C1C1C"/>
                  </a:solidFill>
                  <a:latin typeface="微软雅黑" panose="020B0503020204020204" pitchFamily="34" charset="-122"/>
                  <a:ea typeface="微软雅黑" panose="020B0503020204020204" pitchFamily="34" charset="-122"/>
                </a:rPr>
                <a:t>有效数据率 </a:t>
              </a:r>
              <a:r>
                <a:rPr lang="en-US" altLang="zh-CN" sz="2800" b="1" dirty="0" smtClean="0">
                  <a:solidFill>
                    <a:srgbClr val="1C1C1C"/>
                  </a:solidFill>
                  <a:latin typeface="微软雅黑" panose="020B0503020204020204" pitchFamily="34" charset="-122"/>
                  <a:ea typeface="微软雅黑" panose="020B0503020204020204" pitchFamily="34" charset="-122"/>
                </a:rPr>
                <a:t>= </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23" name="文本框 31"/>
            <p:cNvSpPr txBox="1"/>
            <p:nvPr/>
          </p:nvSpPr>
          <p:spPr>
            <a:xfrm>
              <a:off x="2560318" y="3549953"/>
              <a:ext cx="1811385" cy="523220"/>
            </a:xfrm>
            <a:prstGeom prst="rect">
              <a:avLst/>
            </a:prstGeom>
            <a:noFill/>
          </p:spPr>
          <p:txBody>
            <a:bodyPr wrap="square" rtlCol="0">
              <a:spAutoFit/>
            </a:bodyPr>
            <a:lstStyle/>
            <a:p>
              <a:pPr algn="ctr"/>
              <a:r>
                <a:rPr lang="zh-CN" altLang="en-US" sz="2800" b="1" dirty="0" smtClean="0">
                  <a:solidFill>
                    <a:srgbClr val="1C1C1C"/>
                  </a:solidFill>
                  <a:latin typeface="微软雅黑" panose="020B0503020204020204" pitchFamily="34" charset="-122"/>
                  <a:ea typeface="微软雅黑" panose="020B0503020204020204" pitchFamily="34" charset="-122"/>
                </a:rPr>
                <a:t>数据长度</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24" name="文本框 32"/>
            <p:cNvSpPr txBox="1"/>
            <p:nvPr/>
          </p:nvSpPr>
          <p:spPr>
            <a:xfrm>
              <a:off x="2560319" y="3966910"/>
              <a:ext cx="2808461" cy="523220"/>
            </a:xfrm>
            <a:prstGeom prst="rect">
              <a:avLst/>
            </a:prstGeom>
            <a:noFill/>
          </p:spPr>
          <p:txBody>
            <a:bodyPr wrap="none" rtlCol="0">
              <a:spAutoFit/>
            </a:bodyPr>
            <a:lstStyle/>
            <a:p>
              <a:r>
                <a:rPr lang="zh-CN" altLang="en-US" sz="2800" b="1" dirty="0" smtClean="0">
                  <a:solidFill>
                    <a:srgbClr val="1C1C1C"/>
                  </a:solidFill>
                  <a:latin typeface="微软雅黑" panose="020B0503020204020204" pitchFamily="34" charset="-122"/>
                  <a:ea typeface="微软雅黑" panose="020B0503020204020204" pitchFamily="34" charset="-122"/>
                </a:rPr>
                <a:t>发送时间 </a:t>
              </a:r>
              <a:r>
                <a:rPr lang="en-US" altLang="zh-CN" sz="2800" b="1" dirty="0" smtClean="0">
                  <a:solidFill>
                    <a:srgbClr val="1C1C1C"/>
                  </a:solidFill>
                  <a:latin typeface="微软雅黑" panose="020B0503020204020204" pitchFamily="34" charset="-122"/>
                  <a:ea typeface="微软雅黑" panose="020B0503020204020204" pitchFamily="34" charset="-122"/>
                </a:rPr>
                <a:t>+ RTT</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2575387" y="4025434"/>
              <a:ext cx="1965539" cy="0"/>
            </a:xfrm>
            <a:prstGeom prst="line">
              <a:avLst/>
            </a:prstGeom>
            <a:ln w="19050"/>
          </p:spPr>
          <p:style>
            <a:lnRef idx="1">
              <a:schemeClr val="dk1"/>
            </a:lnRef>
            <a:fillRef idx="0">
              <a:schemeClr val="dk1"/>
            </a:fillRef>
            <a:effectRef idx="0">
              <a:schemeClr val="dk1"/>
            </a:effectRef>
            <a:fontRef idx="minor">
              <a:schemeClr val="tx1"/>
            </a:fontRef>
          </p:style>
        </p:cxnSp>
        <p:sp>
          <p:nvSpPr>
            <p:cNvPr id="26" name="文本框 34"/>
            <p:cNvSpPr txBox="1"/>
            <p:nvPr/>
          </p:nvSpPr>
          <p:spPr>
            <a:xfrm>
              <a:off x="4547882" y="3734619"/>
              <a:ext cx="458780" cy="523220"/>
            </a:xfrm>
            <a:prstGeom prst="rect">
              <a:avLst/>
            </a:prstGeom>
            <a:noFill/>
          </p:spPr>
          <p:txBody>
            <a:bodyPr wrap="none" rtlCol="0">
              <a:spAutoFit/>
            </a:bodyPr>
            <a:lstStyle/>
            <a:p>
              <a:r>
                <a:rPr lang="en-US" altLang="zh-CN" sz="2800" b="1" dirty="0" smtClean="0">
                  <a:solidFill>
                    <a:srgbClr val="1C1C1C"/>
                  </a:solidFill>
                  <a:latin typeface="微软雅黑" panose="020B0503020204020204" pitchFamily="34" charset="-122"/>
                  <a:ea typeface="微软雅黑" panose="020B0503020204020204" pitchFamily="34" charset="-122"/>
                </a:rPr>
                <a:t>=</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27" name="文本框 35"/>
            <p:cNvSpPr txBox="1"/>
            <p:nvPr/>
          </p:nvSpPr>
          <p:spPr>
            <a:xfrm>
              <a:off x="4918826" y="3549953"/>
              <a:ext cx="1663636" cy="954107"/>
            </a:xfrm>
            <a:prstGeom prst="rect">
              <a:avLst/>
            </a:prstGeom>
            <a:noFill/>
          </p:spPr>
          <p:txBody>
            <a:bodyPr wrap="square" rtlCol="0">
              <a:spAutoFit/>
            </a:bodyPr>
            <a:lstStyle/>
            <a:p>
              <a:pPr algn="ctr"/>
              <a:r>
                <a:rPr lang="en-US" altLang="zh-CN" sz="2800" b="1" dirty="0" smtClean="0">
                  <a:solidFill>
                    <a:srgbClr val="1C1C1C"/>
                  </a:solidFill>
                  <a:latin typeface="微软雅黑" panose="020B0503020204020204" pitchFamily="34" charset="-122"/>
                  <a:ea typeface="微软雅黑" panose="020B0503020204020204" pitchFamily="34" charset="-122"/>
                </a:rPr>
                <a:t>100×2</a:t>
              </a:r>
              <a:r>
                <a:rPr lang="en-US" altLang="zh-CN" sz="2800" b="1" baseline="30000" dirty="0" smtClean="0">
                  <a:solidFill>
                    <a:srgbClr val="1C1C1C"/>
                  </a:solidFill>
                  <a:latin typeface="微软雅黑" panose="020B0503020204020204" pitchFamily="34" charset="-122"/>
                  <a:ea typeface="微软雅黑" panose="020B0503020204020204" pitchFamily="34" charset="-122"/>
                </a:rPr>
                <a:t>20</a:t>
              </a:r>
              <a:r>
                <a:rPr lang="en-US" altLang="zh-CN" sz="2800" b="1" dirty="0" smtClean="0">
                  <a:solidFill>
                    <a:srgbClr val="1C1C1C"/>
                  </a:solidFill>
                  <a:latin typeface="微软雅黑" panose="020B0503020204020204" pitchFamily="34" charset="-122"/>
                  <a:ea typeface="微软雅黑" panose="020B0503020204020204" pitchFamily="34" charset="-122"/>
                </a:rPr>
                <a:t>×8</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
          <p:nvSpPr>
            <p:cNvPr id="28" name="文本框 36"/>
            <p:cNvSpPr txBox="1"/>
            <p:nvPr/>
          </p:nvSpPr>
          <p:spPr>
            <a:xfrm>
              <a:off x="4951657" y="3966910"/>
              <a:ext cx="1489895" cy="954107"/>
            </a:xfrm>
            <a:prstGeom prst="rect">
              <a:avLst/>
            </a:prstGeom>
            <a:noFill/>
          </p:spPr>
          <p:txBody>
            <a:bodyPr wrap="square" rtlCol="0">
              <a:spAutoFit/>
            </a:bodyPr>
            <a:lstStyle/>
            <a:p>
              <a:pPr algn="ctr"/>
              <a:r>
                <a:rPr lang="en-US" altLang="zh-CN" sz="2800" b="1" dirty="0" smtClean="0">
                  <a:solidFill>
                    <a:srgbClr val="1C1C1C"/>
                  </a:solidFill>
                  <a:latin typeface="微软雅黑" panose="020B0503020204020204" pitchFamily="34" charset="-122"/>
                  <a:ea typeface="微软雅黑" panose="020B0503020204020204" pitchFamily="34" charset="-122"/>
                </a:rPr>
                <a:t>8.39 + 2</a:t>
              </a:r>
              <a:endParaRPr lang="zh-CN" altLang="en-US" sz="2800" b="1" baseline="30000" dirty="0">
                <a:solidFill>
                  <a:srgbClr val="1C1C1C"/>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4918825" y="4014535"/>
              <a:ext cx="1532921" cy="0"/>
            </a:xfrm>
            <a:prstGeom prst="line">
              <a:avLst/>
            </a:prstGeom>
            <a:ln w="19050"/>
          </p:spPr>
          <p:style>
            <a:lnRef idx="1">
              <a:schemeClr val="dk1"/>
            </a:lnRef>
            <a:fillRef idx="0">
              <a:schemeClr val="dk1"/>
            </a:fillRef>
            <a:effectRef idx="0">
              <a:schemeClr val="dk1"/>
            </a:effectRef>
            <a:fontRef idx="minor">
              <a:schemeClr val="tx1"/>
            </a:fontRef>
          </p:style>
        </p:cxnSp>
        <p:sp>
          <p:nvSpPr>
            <p:cNvPr id="30" name="文本框 38"/>
            <p:cNvSpPr txBox="1"/>
            <p:nvPr/>
          </p:nvSpPr>
          <p:spPr>
            <a:xfrm>
              <a:off x="6451747" y="3734619"/>
              <a:ext cx="2080137" cy="523220"/>
            </a:xfrm>
            <a:prstGeom prst="rect">
              <a:avLst/>
            </a:prstGeom>
            <a:noFill/>
          </p:spPr>
          <p:txBody>
            <a:bodyPr wrap="square" rtlCol="0">
              <a:spAutoFit/>
            </a:bodyPr>
            <a:lstStyle/>
            <a:p>
              <a:r>
                <a:rPr lang="en-US" altLang="zh-CN" sz="2800" b="1" dirty="0" smtClean="0">
                  <a:solidFill>
                    <a:srgbClr val="1C1C1C"/>
                  </a:solidFill>
                  <a:latin typeface="微软雅黑" panose="020B0503020204020204" pitchFamily="34" charset="-122"/>
                  <a:ea typeface="微软雅黑" panose="020B0503020204020204" pitchFamily="34" charset="-122"/>
                </a:rPr>
                <a:t>≈ 80.7 Mbit/s</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89194216"/>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2"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0" name="Group 6"/>
          <p:cNvGrpSpPr>
            <a:grpSpLocks/>
          </p:cNvGrpSpPr>
          <p:nvPr/>
        </p:nvGrpSpPr>
        <p:grpSpPr bwMode="auto">
          <a:xfrm>
            <a:off x="569590" y="1791023"/>
            <a:ext cx="1277938" cy="1277937"/>
            <a:chOff x="3476127" y="42101"/>
            <a:chExt cx="1277346" cy="1277346"/>
          </a:xfrm>
        </p:grpSpPr>
        <p:sp>
          <p:nvSpPr>
            <p:cNvPr id="14"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5"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7.</a:t>
              </a:r>
              <a:r>
                <a:rPr lang="zh-CN" altLang="en-US" sz="2400" b="1" dirty="0">
                  <a:solidFill>
                    <a:srgbClr val="4D4D4D"/>
                  </a:solidFill>
                  <a:latin typeface="微软雅黑" pitchFamily="34" charset="-122"/>
                  <a:ea typeface="微软雅黑" pitchFamily="34" charset="-122"/>
                </a:rPr>
                <a:t>利用率</a:t>
              </a:r>
              <a:endParaRPr lang="en-US" altLang="zh-CN" sz="2400" b="1" dirty="0">
                <a:solidFill>
                  <a:srgbClr val="4D4D4D"/>
                </a:solidFill>
                <a:latin typeface="微软雅黑" pitchFamily="34" charset="-122"/>
                <a:ea typeface="微软雅黑" pitchFamily="34" charset="-122"/>
              </a:endParaRPr>
            </a:p>
          </p:txBody>
        </p:sp>
      </p:grpSp>
      <p:graphicFrame>
        <p:nvGraphicFramePr>
          <p:cNvPr id="16" name="图示 15"/>
          <p:cNvGraphicFramePr/>
          <p:nvPr>
            <p:extLst>
              <p:ext uri="{D42A27DB-BD31-4B8C-83A1-F6EECF244321}">
                <p14:modId xmlns:p14="http://schemas.microsoft.com/office/powerpoint/2010/main" val="2826823075"/>
              </p:ext>
            </p:extLst>
          </p:nvPr>
        </p:nvGraphicFramePr>
        <p:xfrm>
          <a:off x="3024336" y="1743823"/>
          <a:ext cx="7392144" cy="4421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7"/>
          <p:cNvSpPr txBox="1">
            <a:spLocks noChangeArrowheads="1"/>
          </p:cNvSpPr>
          <p:nvPr/>
        </p:nvSpPr>
        <p:spPr bwMode="auto">
          <a:xfrm>
            <a:off x="1931728" y="1279733"/>
            <a:ext cx="9492864" cy="474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marL="457200" indent="-457200" eaLnBrk="1" hangingPunct="1"/>
            <a:r>
              <a:rPr lang="zh-CN" altLang="en-US" sz="2800" b="1" dirty="0"/>
              <a:t>信道利用率并非越高越好。根据排队论，当某信道的利用率增大时</a:t>
            </a:r>
            <a:r>
              <a:rPr lang="zh-CN" altLang="en-US" sz="2800" b="1" dirty="0" smtClean="0"/>
              <a:t>，该信道的时延</a:t>
            </a:r>
            <a:r>
              <a:rPr lang="zh-CN" altLang="en-US" sz="2800" b="1" dirty="0"/>
              <a:t>会迅速增加。</a:t>
            </a:r>
          </a:p>
          <a:p>
            <a:pPr marL="457200" indent="-457200" eaLnBrk="1" hangingPunct="1"/>
            <a:endParaRPr lang="zh-CN" altLang="en-US" sz="2800" b="1" dirty="0"/>
          </a:p>
        </p:txBody>
      </p:sp>
      <p:sp>
        <p:nvSpPr>
          <p:cNvPr id="57352"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grpSp>
        <p:nvGrpSpPr>
          <p:cNvPr id="10" name="Group 6"/>
          <p:cNvGrpSpPr>
            <a:grpSpLocks/>
          </p:cNvGrpSpPr>
          <p:nvPr/>
        </p:nvGrpSpPr>
        <p:grpSpPr bwMode="auto">
          <a:xfrm>
            <a:off x="569590" y="1791023"/>
            <a:ext cx="1277938" cy="1277937"/>
            <a:chOff x="3476127" y="42101"/>
            <a:chExt cx="1277346" cy="1277346"/>
          </a:xfrm>
        </p:grpSpPr>
        <p:sp>
          <p:nvSpPr>
            <p:cNvPr id="14" name="Oval 7"/>
            <p:cNvSpPr/>
            <p:nvPr/>
          </p:nvSpPr>
          <p:spPr>
            <a:xfrm>
              <a:off x="3476127" y="42101"/>
              <a:ext cx="1277346" cy="1277346"/>
            </a:xfrm>
            <a:prstGeom prst="ellipse">
              <a:avLst/>
            </a:pr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5" name="Oval 4"/>
            <p:cNvSpPr/>
            <p:nvPr/>
          </p:nvSpPr>
          <p:spPr>
            <a:xfrm>
              <a:off x="3476128" y="42102"/>
              <a:ext cx="1277344" cy="1277345"/>
            </a:xfrm>
            <a:prstGeom prst="rect">
              <a:avLst/>
            </a:prstGeom>
          </p:spPr>
          <p:style>
            <a:lnRef idx="0">
              <a:scrgbClr r="0" g="0" b="0"/>
            </a:lnRef>
            <a:fillRef idx="0">
              <a:scrgbClr r="0" g="0" b="0"/>
            </a:fillRef>
            <a:effectRef idx="0">
              <a:scrgbClr r="0" g="0" b="0"/>
            </a:effectRef>
            <a:fontRef idx="minor">
              <a:schemeClr val="tx1"/>
            </a:fontRef>
          </p:style>
          <p:txBody>
            <a:bodyPr lIns="27940" tIns="27940" rIns="27940" bIns="27940" spcCol="1270" anchor="ctr"/>
            <a:lstStyle/>
            <a:p>
              <a:pPr algn="ctr" defTabSz="977900" eaLnBrk="1" hangingPunct="1">
                <a:lnSpc>
                  <a:spcPct val="90000"/>
                </a:lnSpc>
                <a:spcAft>
                  <a:spcPct val="35000"/>
                </a:spcAft>
                <a:defRPr/>
              </a:pPr>
              <a:r>
                <a:rPr lang="en-US" altLang="zh-CN" sz="2400" b="1" dirty="0">
                  <a:solidFill>
                    <a:srgbClr val="4D4D4D"/>
                  </a:solidFill>
                  <a:latin typeface="微软雅黑" pitchFamily="34" charset="-122"/>
                  <a:ea typeface="微软雅黑" pitchFamily="34" charset="-122"/>
                </a:rPr>
                <a:t>7.</a:t>
              </a:r>
              <a:r>
                <a:rPr lang="zh-CN" altLang="en-US" sz="2400" b="1" dirty="0">
                  <a:solidFill>
                    <a:srgbClr val="4D4D4D"/>
                  </a:solidFill>
                  <a:latin typeface="微软雅黑" pitchFamily="34" charset="-122"/>
                  <a:ea typeface="微软雅黑" pitchFamily="34" charset="-122"/>
                </a:rPr>
                <a:t>利用率</a:t>
              </a:r>
              <a:endParaRPr lang="en-US" altLang="zh-CN" sz="2400" b="1" dirty="0">
                <a:solidFill>
                  <a:srgbClr val="4D4D4D"/>
                </a:solidFill>
                <a:latin typeface="微软雅黑" pitchFamily="34" charset="-122"/>
                <a:ea typeface="微软雅黑" pitchFamily="34" charset="-122"/>
              </a:endParaRPr>
            </a:p>
          </p:txBody>
        </p:sp>
      </p:grpSp>
      <p:sp>
        <p:nvSpPr>
          <p:cNvPr id="12" name="矩形 5"/>
          <p:cNvSpPr>
            <a:spLocks noChangeArrowheads="1"/>
          </p:cNvSpPr>
          <p:nvPr/>
        </p:nvSpPr>
        <p:spPr bwMode="auto">
          <a:xfrm>
            <a:off x="2571301" y="4092850"/>
            <a:ext cx="3088101" cy="1631216"/>
          </a:xfrm>
          <a:prstGeom prst="rect">
            <a:avLst/>
          </a:prstGeom>
          <a:noFill/>
          <a:ln>
            <a:noFill/>
          </a:ln>
          <a:extLst/>
        </p:spPr>
        <p:txBody>
          <a:bodyPr wrap="square">
            <a:spAutoFit/>
          </a:bodyPr>
          <a:lstStyle/>
          <a:p>
            <a:pPr>
              <a:lnSpc>
                <a:spcPts val="2400"/>
              </a:lnSpc>
            </a:pPr>
            <a:r>
              <a:rPr lang="zh-CN" altLang="en-US" sz="2000" b="1" dirty="0">
                <a:solidFill>
                  <a:srgbClr val="1C1C1C"/>
                </a:solidFill>
                <a:latin typeface="微软雅黑" pitchFamily="34" charset="-122"/>
                <a:ea typeface="微软雅黑" pitchFamily="34" charset="-122"/>
              </a:rPr>
              <a:t>其中</a:t>
            </a:r>
            <a:r>
              <a:rPr lang="zh-CN" altLang="en-US" sz="2000" b="1" dirty="0" smtClean="0">
                <a:solidFill>
                  <a:srgbClr val="1C1C1C"/>
                </a:solidFill>
                <a:latin typeface="微软雅黑" pitchFamily="34" charset="-122"/>
                <a:ea typeface="微软雅黑" pitchFamily="34" charset="-122"/>
              </a:rPr>
              <a:t>：</a:t>
            </a:r>
            <a:endParaRPr lang="en-US" altLang="zh-CN" sz="2000" b="1" dirty="0" smtClean="0">
              <a:solidFill>
                <a:srgbClr val="1C1C1C"/>
              </a:solidFill>
              <a:latin typeface="微软雅黑" pitchFamily="34" charset="-122"/>
              <a:ea typeface="微软雅黑" pitchFamily="34" charset="-122"/>
            </a:endParaRPr>
          </a:p>
          <a:p>
            <a:pPr>
              <a:lnSpc>
                <a:spcPts val="2400"/>
              </a:lnSpc>
            </a:pPr>
            <a:r>
              <a:rPr lang="en-US" altLang="zh-CN" sz="2000" b="1" dirty="0" smtClean="0">
                <a:solidFill>
                  <a:srgbClr val="1C1C1C"/>
                </a:solidFill>
                <a:latin typeface="微软雅黑" pitchFamily="34" charset="-122"/>
                <a:ea typeface="微软雅黑" pitchFamily="34" charset="-122"/>
              </a:rPr>
              <a:t>D</a:t>
            </a:r>
            <a:r>
              <a:rPr lang="en-US" altLang="zh-CN" sz="2000" b="1" baseline="-25000" dirty="0" smtClean="0">
                <a:solidFill>
                  <a:srgbClr val="1C1C1C"/>
                </a:solidFill>
                <a:latin typeface="微软雅黑" pitchFamily="34" charset="-122"/>
                <a:ea typeface="微软雅黑" pitchFamily="34" charset="-122"/>
              </a:rPr>
              <a:t>0</a:t>
            </a:r>
            <a:r>
              <a:rPr lang="zh-CN" altLang="en-US" sz="2000" b="1" dirty="0">
                <a:solidFill>
                  <a:srgbClr val="1C1C1C"/>
                </a:solidFill>
                <a:latin typeface="微软雅黑" pitchFamily="34" charset="-122"/>
                <a:ea typeface="微软雅黑" pitchFamily="34" charset="-122"/>
              </a:rPr>
              <a:t>：网络空闲时的</a:t>
            </a:r>
            <a:r>
              <a:rPr lang="zh-CN" altLang="en-US" sz="2000" b="1" dirty="0" smtClean="0">
                <a:solidFill>
                  <a:srgbClr val="1C1C1C"/>
                </a:solidFill>
                <a:latin typeface="微软雅黑" pitchFamily="34" charset="-122"/>
                <a:ea typeface="微软雅黑" pitchFamily="34" charset="-122"/>
              </a:rPr>
              <a:t>时延</a:t>
            </a:r>
            <a:endParaRPr lang="en-US" altLang="zh-CN" sz="2000" b="1" dirty="0" smtClean="0">
              <a:solidFill>
                <a:srgbClr val="1C1C1C"/>
              </a:solidFill>
              <a:latin typeface="微软雅黑" pitchFamily="34" charset="-122"/>
              <a:ea typeface="微软雅黑" pitchFamily="34" charset="-122"/>
            </a:endParaRPr>
          </a:p>
          <a:p>
            <a:pPr>
              <a:lnSpc>
                <a:spcPts val="2400"/>
              </a:lnSpc>
            </a:pPr>
            <a:r>
              <a:rPr lang="en-US" altLang="zh-CN" sz="2000" b="1" dirty="0" smtClean="0">
                <a:solidFill>
                  <a:srgbClr val="1C1C1C"/>
                </a:solidFill>
                <a:latin typeface="微软雅黑" pitchFamily="34" charset="-122"/>
                <a:ea typeface="微软雅黑" pitchFamily="34" charset="-122"/>
              </a:rPr>
              <a:t>D</a:t>
            </a:r>
            <a:r>
              <a:rPr lang="zh-CN" altLang="en-US" sz="2000" b="1" dirty="0">
                <a:solidFill>
                  <a:srgbClr val="1C1C1C"/>
                </a:solidFill>
                <a:latin typeface="微软雅黑" pitchFamily="34" charset="-122"/>
                <a:ea typeface="微软雅黑" pitchFamily="34" charset="-122"/>
              </a:rPr>
              <a:t>：网络在当前的</a:t>
            </a:r>
            <a:r>
              <a:rPr lang="zh-CN" altLang="en-US" sz="2000" b="1" dirty="0" smtClean="0">
                <a:solidFill>
                  <a:srgbClr val="1C1C1C"/>
                </a:solidFill>
                <a:latin typeface="微软雅黑" pitchFamily="34" charset="-122"/>
                <a:ea typeface="微软雅黑" pitchFamily="34" charset="-122"/>
              </a:rPr>
              <a:t>时延</a:t>
            </a:r>
            <a:endParaRPr lang="en-US" altLang="zh-CN" sz="2000" b="1" dirty="0" smtClean="0">
              <a:solidFill>
                <a:srgbClr val="1C1C1C"/>
              </a:solidFill>
              <a:latin typeface="微软雅黑" pitchFamily="34" charset="-122"/>
              <a:ea typeface="微软雅黑" pitchFamily="34" charset="-122"/>
            </a:endParaRPr>
          </a:p>
          <a:p>
            <a:pPr marL="357188" indent="-357188">
              <a:lnSpc>
                <a:spcPts val="2400"/>
              </a:lnSpc>
            </a:pPr>
            <a:r>
              <a:rPr lang="en-US" altLang="zh-CN" sz="2000" b="1" dirty="0" smtClean="0">
                <a:solidFill>
                  <a:srgbClr val="1C1C1C"/>
                </a:solidFill>
                <a:latin typeface="微软雅黑" pitchFamily="34" charset="-122"/>
                <a:ea typeface="微软雅黑" pitchFamily="34" charset="-122"/>
              </a:rPr>
              <a:t>U</a:t>
            </a:r>
            <a:r>
              <a:rPr lang="zh-CN" altLang="en-US" sz="2000" b="1" dirty="0" smtClean="0">
                <a:solidFill>
                  <a:srgbClr val="1C1C1C"/>
                </a:solidFill>
                <a:latin typeface="微软雅黑" pitchFamily="34" charset="-122"/>
                <a:ea typeface="微软雅黑" pitchFamily="34" charset="-122"/>
              </a:rPr>
              <a:t>：网络当前的</a:t>
            </a:r>
            <a:r>
              <a:rPr lang="zh-CN" altLang="en-US" sz="2000" b="1" dirty="0">
                <a:solidFill>
                  <a:srgbClr val="1C1C1C"/>
                </a:solidFill>
                <a:latin typeface="微软雅黑" pitchFamily="34" charset="-122"/>
                <a:ea typeface="微软雅黑" pitchFamily="34" charset="-122"/>
              </a:rPr>
              <a:t>利用率，数值在 </a:t>
            </a:r>
            <a:r>
              <a:rPr lang="en-US" altLang="zh-CN" sz="2000" b="1" dirty="0">
                <a:solidFill>
                  <a:srgbClr val="1C1C1C"/>
                </a:solidFill>
                <a:latin typeface="微软雅黑" pitchFamily="34" charset="-122"/>
                <a:ea typeface="微软雅黑" pitchFamily="34" charset="-122"/>
              </a:rPr>
              <a:t>0 </a:t>
            </a:r>
            <a:r>
              <a:rPr lang="zh-CN" altLang="en-US" sz="2000" b="1" dirty="0">
                <a:solidFill>
                  <a:srgbClr val="1C1C1C"/>
                </a:solidFill>
                <a:latin typeface="微软雅黑" pitchFamily="34" charset="-122"/>
                <a:ea typeface="微软雅黑" pitchFamily="34" charset="-122"/>
              </a:rPr>
              <a:t>到 </a:t>
            </a:r>
            <a:r>
              <a:rPr lang="en-US" altLang="zh-CN" sz="2000" b="1" dirty="0">
                <a:solidFill>
                  <a:srgbClr val="1C1C1C"/>
                </a:solidFill>
                <a:latin typeface="微软雅黑" pitchFamily="34" charset="-122"/>
                <a:ea typeface="微软雅黑" pitchFamily="34" charset="-122"/>
              </a:rPr>
              <a:t>1 </a:t>
            </a:r>
            <a:r>
              <a:rPr lang="zh-CN" altLang="en-US" sz="2000" b="1" dirty="0" smtClean="0">
                <a:solidFill>
                  <a:srgbClr val="1C1C1C"/>
                </a:solidFill>
                <a:latin typeface="微软雅黑" pitchFamily="34" charset="-122"/>
                <a:ea typeface="微软雅黑" pitchFamily="34" charset="-122"/>
              </a:rPr>
              <a:t>之间</a:t>
            </a:r>
            <a:endParaRPr lang="en-US" altLang="zh-CN" sz="2000" b="1" dirty="0" smtClean="0">
              <a:solidFill>
                <a:srgbClr val="1C1C1C"/>
              </a:solidFill>
              <a:latin typeface="微软雅黑" pitchFamily="34" charset="-122"/>
              <a:ea typeface="微软雅黑" pitchFamily="34" charset="-122"/>
            </a:endParaRPr>
          </a:p>
        </p:txBody>
      </p:sp>
      <p:grpSp>
        <p:nvGrpSpPr>
          <p:cNvPr id="13" name="组合 12"/>
          <p:cNvGrpSpPr/>
          <p:nvPr/>
        </p:nvGrpSpPr>
        <p:grpSpPr>
          <a:xfrm>
            <a:off x="3032832" y="3005519"/>
            <a:ext cx="1611086" cy="894481"/>
            <a:chOff x="2760617" y="1739421"/>
            <a:chExt cx="1611086" cy="894481"/>
          </a:xfrm>
          <a:solidFill>
            <a:srgbClr val="FFCC66"/>
          </a:solidFill>
        </p:grpSpPr>
        <p:sp>
          <p:nvSpPr>
            <p:cNvPr id="16" name="圆角矩形 15"/>
            <p:cNvSpPr/>
            <p:nvPr/>
          </p:nvSpPr>
          <p:spPr>
            <a:xfrm>
              <a:off x="2760617" y="1739421"/>
              <a:ext cx="1611086" cy="894481"/>
            </a:xfrm>
            <a:prstGeom prst="roundRect">
              <a:avLst/>
            </a:prstGeom>
            <a:grp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2000">
                <a:solidFill>
                  <a:srgbClr val="1C1C1C"/>
                </a:solidFill>
              </a:endParaRPr>
            </a:p>
          </p:txBody>
        </p:sp>
        <p:grpSp>
          <p:nvGrpSpPr>
            <p:cNvPr id="17" name="组合 16"/>
            <p:cNvGrpSpPr/>
            <p:nvPr/>
          </p:nvGrpSpPr>
          <p:grpSpPr>
            <a:xfrm>
              <a:off x="2830280" y="1827192"/>
              <a:ext cx="1419505" cy="769442"/>
              <a:chOff x="801181" y="1895238"/>
              <a:chExt cx="1419505" cy="769442"/>
            </a:xfrm>
            <a:grpFill/>
          </p:grpSpPr>
          <p:sp>
            <p:nvSpPr>
              <p:cNvPr id="18" name="文本框 7"/>
              <p:cNvSpPr txBox="1"/>
              <p:nvPr/>
            </p:nvSpPr>
            <p:spPr>
              <a:xfrm>
                <a:off x="801181" y="2079904"/>
                <a:ext cx="737702" cy="400110"/>
              </a:xfrm>
              <a:prstGeom prst="rect">
                <a:avLst/>
              </a:prstGeom>
              <a:grpFill/>
            </p:spPr>
            <p:txBody>
              <a:bodyPr wrap="none" rtlCol="0">
                <a:spAutoFit/>
              </a:bodyPr>
              <a:lstStyle/>
              <a:p>
                <a:r>
                  <a:rPr lang="en-US" altLang="zh-CN" sz="2000" b="1" dirty="0" smtClean="0">
                    <a:solidFill>
                      <a:srgbClr val="1C1C1C"/>
                    </a:solidFill>
                    <a:latin typeface="微软雅黑" panose="020B0503020204020204" pitchFamily="34" charset="-122"/>
                    <a:ea typeface="微软雅黑" panose="020B0503020204020204" pitchFamily="34" charset="-122"/>
                  </a:rPr>
                  <a:t>D = </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sp>
            <p:nvSpPr>
              <p:cNvPr id="19" name="文本框 8"/>
              <p:cNvSpPr txBox="1"/>
              <p:nvPr/>
            </p:nvSpPr>
            <p:spPr>
              <a:xfrm>
                <a:off x="1489152" y="1895238"/>
                <a:ext cx="618323" cy="400110"/>
              </a:xfrm>
              <a:prstGeom prst="rect">
                <a:avLst/>
              </a:prstGeom>
              <a:grpFill/>
            </p:spPr>
            <p:txBody>
              <a:bodyPr wrap="square" rtlCol="0">
                <a:spAutoFit/>
              </a:bodyPr>
              <a:lstStyle/>
              <a:p>
                <a:r>
                  <a:rPr lang="en-US" altLang="zh-CN" sz="2000" b="1" dirty="0" smtClean="0">
                    <a:solidFill>
                      <a:srgbClr val="1C1C1C"/>
                    </a:solidFill>
                    <a:latin typeface="微软雅黑" panose="020B0503020204020204" pitchFamily="34" charset="-122"/>
                    <a:ea typeface="微软雅黑" panose="020B0503020204020204" pitchFamily="34" charset="-122"/>
                  </a:rPr>
                  <a:t>D</a:t>
                </a:r>
                <a:r>
                  <a:rPr lang="en-US" altLang="zh-CN" sz="2000" b="1" baseline="-25000" dirty="0" smtClean="0">
                    <a:solidFill>
                      <a:srgbClr val="1C1C1C"/>
                    </a:solidFill>
                    <a:latin typeface="微软雅黑" panose="020B0503020204020204" pitchFamily="34" charset="-122"/>
                    <a:ea typeface="微软雅黑" panose="020B0503020204020204" pitchFamily="34" charset="-122"/>
                  </a:rPr>
                  <a:t>0</a:t>
                </a:r>
                <a:r>
                  <a:rPr lang="en-US" altLang="zh-CN" sz="2000" b="1" dirty="0" smtClean="0">
                    <a:solidFill>
                      <a:srgbClr val="1C1C1C"/>
                    </a:solidFill>
                    <a:latin typeface="微软雅黑" panose="020B0503020204020204" pitchFamily="34" charset="-122"/>
                    <a:ea typeface="微软雅黑" panose="020B0503020204020204" pitchFamily="34" charset="-122"/>
                  </a:rPr>
                  <a:t> </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sp>
            <p:nvSpPr>
              <p:cNvPr id="20" name="文本框 9"/>
              <p:cNvSpPr txBox="1"/>
              <p:nvPr/>
            </p:nvSpPr>
            <p:spPr>
              <a:xfrm>
                <a:off x="1361216" y="2264570"/>
                <a:ext cx="859470" cy="400110"/>
              </a:xfrm>
              <a:prstGeom prst="rect">
                <a:avLst/>
              </a:prstGeom>
              <a:grpFill/>
            </p:spPr>
            <p:txBody>
              <a:bodyPr wrap="square" rtlCol="0">
                <a:spAutoFit/>
              </a:bodyPr>
              <a:lstStyle/>
              <a:p>
                <a:r>
                  <a:rPr lang="en-US" altLang="zh-CN" sz="2000" b="1" dirty="0" smtClean="0">
                    <a:solidFill>
                      <a:srgbClr val="1C1C1C"/>
                    </a:solidFill>
                    <a:latin typeface="微软雅黑" panose="020B0503020204020204" pitchFamily="34" charset="-122"/>
                    <a:ea typeface="微软雅黑" panose="020B0503020204020204" pitchFamily="34" charset="-122"/>
                  </a:rPr>
                  <a:t>1 - U</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1361215" y="2264570"/>
                <a:ext cx="859471" cy="0"/>
              </a:xfrm>
              <a:prstGeom prst="line">
                <a:avLst/>
              </a:prstGeom>
              <a:grpFill/>
              <a:ln w="19050">
                <a:solidFill>
                  <a:srgbClr val="1C1C1C"/>
                </a:solidFill>
              </a:ln>
            </p:spPr>
            <p:style>
              <a:lnRef idx="1">
                <a:schemeClr val="dk1"/>
              </a:lnRef>
              <a:fillRef idx="0">
                <a:schemeClr val="dk1"/>
              </a:fillRef>
              <a:effectRef idx="0">
                <a:schemeClr val="dk1"/>
              </a:effectRef>
              <a:fontRef idx="minor">
                <a:schemeClr val="tx1"/>
              </a:fontRef>
            </p:style>
          </p:cxnSp>
        </p:grpSp>
      </p:grpSp>
      <p:grpSp>
        <p:nvGrpSpPr>
          <p:cNvPr id="23" name="组合 22"/>
          <p:cNvGrpSpPr/>
          <p:nvPr/>
        </p:nvGrpSpPr>
        <p:grpSpPr>
          <a:xfrm>
            <a:off x="5926351" y="2944304"/>
            <a:ext cx="3991761" cy="2300344"/>
            <a:chOff x="4580707" y="1670485"/>
            <a:chExt cx="3729507" cy="2089059"/>
          </a:xfrm>
        </p:grpSpPr>
        <p:sp>
          <p:nvSpPr>
            <p:cNvPr id="24" name="圆角矩形 23"/>
            <p:cNvSpPr/>
            <p:nvPr/>
          </p:nvSpPr>
          <p:spPr>
            <a:xfrm>
              <a:off x="4580707" y="1670485"/>
              <a:ext cx="3724192" cy="2086103"/>
            </a:xfrm>
            <a:prstGeom prst="roundRect">
              <a:avLst>
                <a:gd name="adj" fmla="val 10067"/>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dirty="0"/>
            </a:p>
          </p:txBody>
        </p:sp>
        <p:grpSp>
          <p:nvGrpSpPr>
            <p:cNvPr id="25" name="组合 4"/>
            <p:cNvGrpSpPr>
              <a:grpSpLocks/>
            </p:cNvGrpSpPr>
            <p:nvPr/>
          </p:nvGrpSpPr>
          <p:grpSpPr bwMode="auto">
            <a:xfrm>
              <a:off x="4695973" y="1783699"/>
              <a:ext cx="3614241" cy="1975845"/>
              <a:chOff x="2135973" y="2446456"/>
              <a:chExt cx="5198372" cy="2785820"/>
            </a:xfrm>
          </p:grpSpPr>
          <p:sp>
            <p:nvSpPr>
              <p:cNvPr id="26" name="Rectangle 4"/>
              <p:cNvSpPr>
                <a:spLocks noChangeArrowheads="1"/>
              </p:cNvSpPr>
              <p:nvPr/>
            </p:nvSpPr>
            <p:spPr bwMode="auto">
              <a:xfrm>
                <a:off x="4631067" y="2641057"/>
                <a:ext cx="921221" cy="2086023"/>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000" b="1">
                  <a:solidFill>
                    <a:srgbClr val="1956B9"/>
                  </a:solidFill>
                  <a:latin typeface="微软雅黑" pitchFamily="34" charset="-122"/>
                  <a:ea typeface="微软雅黑" pitchFamily="34" charset="-122"/>
                </a:endParaRPr>
              </a:p>
            </p:txBody>
          </p:sp>
          <p:sp>
            <p:nvSpPr>
              <p:cNvPr id="27" name="Text Box 5"/>
              <p:cNvSpPr txBox="1">
                <a:spLocks noChangeArrowheads="1"/>
              </p:cNvSpPr>
              <p:nvPr/>
            </p:nvSpPr>
            <p:spPr bwMode="auto">
              <a:xfrm>
                <a:off x="2135973" y="2446456"/>
                <a:ext cx="1314451" cy="512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时延 </a:t>
                </a:r>
                <a:r>
                  <a:rPr lang="en-US" altLang="zh-CN" sz="2000" b="1" i="1" dirty="0">
                    <a:solidFill>
                      <a:srgbClr val="000066"/>
                    </a:solidFill>
                    <a:latin typeface="微软雅黑" pitchFamily="34" charset="-122"/>
                    <a:ea typeface="微软雅黑" pitchFamily="34" charset="-122"/>
                  </a:rPr>
                  <a:t>D</a:t>
                </a:r>
              </a:p>
            </p:txBody>
          </p:sp>
          <p:sp>
            <p:nvSpPr>
              <p:cNvPr id="28" name="Line 6"/>
              <p:cNvSpPr>
                <a:spLocks noChangeShapeType="1"/>
              </p:cNvSpPr>
              <p:nvPr/>
            </p:nvSpPr>
            <p:spPr bwMode="auto">
              <a:xfrm flipV="1">
                <a:off x="3029805" y="2543654"/>
                <a:ext cx="0" cy="2183427"/>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9" name="Line 7"/>
              <p:cNvSpPr>
                <a:spLocks noChangeShapeType="1"/>
              </p:cNvSpPr>
              <p:nvPr/>
            </p:nvSpPr>
            <p:spPr bwMode="auto">
              <a:xfrm rot="5400000" flipV="1">
                <a:off x="4836015" y="2920871"/>
                <a:ext cx="0" cy="3612419"/>
              </a:xfrm>
              <a:prstGeom prst="line">
                <a:avLst/>
              </a:prstGeom>
              <a:noFill/>
              <a:ln w="25400">
                <a:solidFill>
                  <a:srgbClr val="1956B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0" name="Line 8"/>
              <p:cNvSpPr>
                <a:spLocks noChangeShapeType="1"/>
              </p:cNvSpPr>
              <p:nvPr/>
            </p:nvSpPr>
            <p:spPr bwMode="auto">
              <a:xfrm>
                <a:off x="5552286" y="2568280"/>
                <a:ext cx="0" cy="2158801"/>
              </a:xfrm>
              <a:prstGeom prst="line">
                <a:avLst/>
              </a:prstGeom>
              <a:noFill/>
              <a:ln w="952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1" name="Arc 9"/>
              <p:cNvSpPr>
                <a:spLocks/>
              </p:cNvSpPr>
              <p:nvPr/>
            </p:nvSpPr>
            <p:spPr bwMode="auto">
              <a:xfrm flipV="1">
                <a:off x="3029804" y="2641057"/>
                <a:ext cx="2510540" cy="1942842"/>
              </a:xfrm>
              <a:custGeom>
                <a:avLst/>
                <a:gdLst>
                  <a:gd name="T0" fmla="*/ 0 w 21600"/>
                  <a:gd name="T1" fmla="*/ 0 h 21612"/>
                  <a:gd name="T2" fmla="*/ 2510540 w 21600"/>
                  <a:gd name="T3" fmla="*/ 1942842 h 21612"/>
                  <a:gd name="T4" fmla="*/ 0 w 21600"/>
                  <a:gd name="T5" fmla="*/ 1941763 h 21612"/>
                  <a:gd name="T6" fmla="*/ 0 60000 65536"/>
                  <a:gd name="T7" fmla="*/ 0 60000 65536"/>
                  <a:gd name="T8" fmla="*/ 0 60000 65536"/>
                </a:gdLst>
                <a:ahLst/>
                <a:cxnLst>
                  <a:cxn ang="T6">
                    <a:pos x="T0" y="T1"/>
                  </a:cxn>
                  <a:cxn ang="T7">
                    <a:pos x="T2" y="T3"/>
                  </a:cxn>
                  <a:cxn ang="T8">
                    <a:pos x="T4" y="T5"/>
                  </a:cxn>
                </a:cxnLst>
                <a:rect l="0" t="0" r="r" b="b"/>
                <a:pathLst>
                  <a:path w="21600" h="21612" fill="none" extrusionOk="0">
                    <a:moveTo>
                      <a:pt x="-1" y="0"/>
                    </a:moveTo>
                    <a:cubicBezTo>
                      <a:pt x="11929" y="0"/>
                      <a:pt x="21600" y="9670"/>
                      <a:pt x="21600" y="21600"/>
                    </a:cubicBezTo>
                    <a:cubicBezTo>
                      <a:pt x="21600" y="21603"/>
                      <a:pt x="21599" y="21607"/>
                      <a:pt x="21599" y="21611"/>
                    </a:cubicBezTo>
                  </a:path>
                  <a:path w="21600" h="21612" stroke="0" extrusionOk="0">
                    <a:moveTo>
                      <a:pt x="-1" y="0"/>
                    </a:moveTo>
                    <a:cubicBezTo>
                      <a:pt x="11929" y="0"/>
                      <a:pt x="21600" y="9670"/>
                      <a:pt x="21600" y="21600"/>
                    </a:cubicBezTo>
                    <a:cubicBezTo>
                      <a:pt x="21600" y="21603"/>
                      <a:pt x="21599" y="21607"/>
                      <a:pt x="21599" y="21611"/>
                    </a:cubicBezTo>
                    <a:lnTo>
                      <a:pt x="0" y="21600"/>
                    </a:lnTo>
                    <a:lnTo>
                      <a:pt x="-1" y="0"/>
                    </a:lnTo>
                    <a:close/>
                  </a:path>
                </a:pathLst>
              </a:custGeom>
              <a:noFill/>
              <a:ln w="38100">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2" name="Text Box 10"/>
              <p:cNvSpPr txBox="1">
                <a:spLocks noChangeArrowheads="1"/>
              </p:cNvSpPr>
              <p:nvPr/>
            </p:nvSpPr>
            <p:spPr bwMode="auto">
              <a:xfrm>
                <a:off x="5681698" y="4198277"/>
                <a:ext cx="1652647" cy="512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2000" b="1" dirty="0">
                    <a:solidFill>
                      <a:srgbClr val="000066"/>
                    </a:solidFill>
                    <a:latin typeface="微软雅黑" pitchFamily="34" charset="-122"/>
                    <a:ea typeface="微软雅黑" pitchFamily="34" charset="-122"/>
                  </a:rPr>
                  <a:t>利用率 </a:t>
                </a:r>
                <a:r>
                  <a:rPr lang="en-US" altLang="zh-CN" sz="2000" b="1" i="1" dirty="0">
                    <a:solidFill>
                      <a:srgbClr val="000066"/>
                    </a:solidFill>
                    <a:latin typeface="微软雅黑" pitchFamily="34" charset="-122"/>
                    <a:ea typeface="微软雅黑" pitchFamily="34" charset="-122"/>
                  </a:rPr>
                  <a:t>U</a:t>
                </a:r>
              </a:p>
            </p:txBody>
          </p:sp>
          <p:sp>
            <p:nvSpPr>
              <p:cNvPr id="33" name="Text Box 11"/>
              <p:cNvSpPr txBox="1">
                <a:spLocks noChangeArrowheads="1"/>
              </p:cNvSpPr>
              <p:nvPr/>
            </p:nvSpPr>
            <p:spPr bwMode="auto">
              <a:xfrm>
                <a:off x="5400721" y="4719961"/>
                <a:ext cx="461415" cy="512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2000" b="1">
                    <a:solidFill>
                      <a:srgbClr val="000066"/>
                    </a:solidFill>
                    <a:latin typeface="微软雅黑" pitchFamily="34" charset="-122"/>
                    <a:ea typeface="微软雅黑" pitchFamily="34" charset="-122"/>
                  </a:rPr>
                  <a:t>1</a:t>
                </a:r>
                <a:endParaRPr lang="en-US" altLang="zh-CN" sz="2000" b="1" i="1">
                  <a:solidFill>
                    <a:srgbClr val="000066"/>
                  </a:solidFill>
                  <a:latin typeface="微软雅黑" pitchFamily="34" charset="-122"/>
                  <a:ea typeface="微软雅黑" pitchFamily="34" charset="-122"/>
                </a:endParaRPr>
              </a:p>
            </p:txBody>
          </p:sp>
          <p:sp>
            <p:nvSpPr>
              <p:cNvPr id="34" name="Text Box 12"/>
              <p:cNvSpPr txBox="1">
                <a:spLocks noChangeArrowheads="1"/>
              </p:cNvSpPr>
              <p:nvPr/>
            </p:nvSpPr>
            <p:spPr bwMode="auto">
              <a:xfrm>
                <a:off x="2828045" y="4685155"/>
                <a:ext cx="461415" cy="512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2000" b="1">
                    <a:solidFill>
                      <a:srgbClr val="000066"/>
                    </a:solidFill>
                    <a:latin typeface="微软雅黑" pitchFamily="34" charset="-122"/>
                    <a:ea typeface="微软雅黑" pitchFamily="34" charset="-122"/>
                  </a:rPr>
                  <a:t>0</a:t>
                </a:r>
                <a:endParaRPr lang="en-US" altLang="zh-CN" sz="2000" b="1" i="1">
                  <a:solidFill>
                    <a:srgbClr val="000066"/>
                  </a:solidFill>
                  <a:latin typeface="微软雅黑" pitchFamily="34" charset="-122"/>
                  <a:ea typeface="微软雅黑" pitchFamily="34" charset="-122"/>
                </a:endParaRPr>
              </a:p>
            </p:txBody>
          </p:sp>
          <p:sp>
            <p:nvSpPr>
              <p:cNvPr id="35" name="Text Box 13"/>
              <p:cNvSpPr txBox="1">
                <a:spLocks noChangeArrowheads="1"/>
              </p:cNvSpPr>
              <p:nvPr/>
            </p:nvSpPr>
            <p:spPr bwMode="auto">
              <a:xfrm>
                <a:off x="2391692" y="4290477"/>
                <a:ext cx="663903" cy="512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en-US" altLang="zh-CN" sz="2000" b="1" i="1" dirty="0">
                    <a:solidFill>
                      <a:srgbClr val="000066"/>
                    </a:solidFill>
                    <a:latin typeface="微软雅黑" pitchFamily="34" charset="-122"/>
                    <a:ea typeface="微软雅黑" pitchFamily="34" charset="-122"/>
                  </a:rPr>
                  <a:t>D</a:t>
                </a:r>
                <a:r>
                  <a:rPr lang="en-US" altLang="zh-CN" sz="2000" b="1" baseline="-25000" dirty="0">
                    <a:solidFill>
                      <a:srgbClr val="000066"/>
                    </a:solidFill>
                    <a:latin typeface="微软雅黑" pitchFamily="34" charset="-122"/>
                    <a:ea typeface="微软雅黑" pitchFamily="34" charset="-122"/>
                  </a:rPr>
                  <a:t>0</a:t>
                </a:r>
                <a:endParaRPr lang="en-US" altLang="zh-CN" sz="2000" b="1" i="1" baseline="-25000" dirty="0">
                  <a:solidFill>
                    <a:srgbClr val="000066"/>
                  </a:solidFill>
                  <a:latin typeface="微软雅黑" pitchFamily="34" charset="-122"/>
                  <a:ea typeface="微软雅黑" pitchFamily="34" charset="-122"/>
                </a:endParaRPr>
              </a:p>
            </p:txBody>
          </p:sp>
          <p:sp>
            <p:nvSpPr>
              <p:cNvPr id="36" name="Text Box 14"/>
              <p:cNvSpPr txBox="1">
                <a:spLocks noChangeArrowheads="1"/>
              </p:cNvSpPr>
              <p:nvPr/>
            </p:nvSpPr>
            <p:spPr bwMode="auto">
              <a:xfrm>
                <a:off x="4656119" y="2647004"/>
                <a:ext cx="704682" cy="827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lang="zh-CN" altLang="en-US" sz="1200" b="1" dirty="0">
                    <a:solidFill>
                      <a:schemeClr val="bg1"/>
                    </a:solidFill>
                    <a:latin typeface="微软雅黑" pitchFamily="34" charset="-122"/>
                    <a:ea typeface="微软雅黑" pitchFamily="34" charset="-122"/>
                  </a:rPr>
                  <a:t>时延急剧增大</a:t>
                </a:r>
                <a:endParaRPr lang="zh-CN" altLang="en-US" sz="1200" b="1" i="1" dirty="0">
                  <a:solidFill>
                    <a:schemeClr val="bg1"/>
                  </a:solidFill>
                  <a:latin typeface="微软雅黑" pitchFamily="34" charset="-122"/>
                  <a:ea typeface="微软雅黑" pitchFamily="34" charset="-122"/>
                </a:endParaRPr>
              </a:p>
            </p:txBody>
          </p:sp>
        </p:grpSp>
      </p:grpSp>
      <p:sp>
        <p:nvSpPr>
          <p:cNvPr id="37" name="矩形 16"/>
          <p:cNvSpPr>
            <a:spLocks noChangeArrowheads="1"/>
          </p:cNvSpPr>
          <p:nvPr/>
        </p:nvSpPr>
        <p:spPr bwMode="auto">
          <a:xfrm>
            <a:off x="6045817" y="5241394"/>
            <a:ext cx="37969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ts val="2400"/>
              </a:lnSpc>
            </a:pPr>
            <a:r>
              <a:rPr lang="zh-CN" altLang="en-US" sz="2000" b="1" dirty="0">
                <a:solidFill>
                  <a:srgbClr val="1C1C1C"/>
                </a:solidFill>
                <a:latin typeface="微软雅黑" pitchFamily="34" charset="-122"/>
                <a:ea typeface="微软雅黑" pitchFamily="34" charset="-122"/>
              </a:rPr>
              <a:t>当信道的利用率增大时</a:t>
            </a:r>
            <a:r>
              <a:rPr lang="zh-CN" altLang="en-US" sz="2000" b="1" dirty="0" smtClean="0">
                <a:solidFill>
                  <a:srgbClr val="1C1C1C"/>
                </a:solidFill>
                <a:latin typeface="微软雅黑" pitchFamily="34" charset="-122"/>
                <a:ea typeface="微软雅黑" pitchFamily="34" charset="-122"/>
              </a:rPr>
              <a:t>，</a:t>
            </a:r>
            <a:endParaRPr lang="en-US" altLang="zh-CN" sz="2000" b="1" dirty="0" smtClean="0">
              <a:solidFill>
                <a:srgbClr val="1C1C1C"/>
              </a:solidFill>
              <a:latin typeface="微软雅黑" pitchFamily="34" charset="-122"/>
              <a:ea typeface="微软雅黑" pitchFamily="34" charset="-122"/>
            </a:endParaRPr>
          </a:p>
          <a:p>
            <a:pPr algn="ctr">
              <a:lnSpc>
                <a:spcPts val="2400"/>
              </a:lnSpc>
            </a:pPr>
            <a:r>
              <a:rPr lang="zh-CN" altLang="en-US" sz="2000" b="1" dirty="0" smtClean="0">
                <a:solidFill>
                  <a:srgbClr val="1C1C1C"/>
                </a:solidFill>
                <a:latin typeface="微软雅黑" pitchFamily="34" charset="-122"/>
                <a:ea typeface="微软雅黑" pitchFamily="34" charset="-122"/>
              </a:rPr>
              <a:t>该</a:t>
            </a:r>
            <a:r>
              <a:rPr lang="zh-CN" altLang="en-US" sz="2000" b="1" dirty="0">
                <a:solidFill>
                  <a:srgbClr val="1C1C1C"/>
                </a:solidFill>
                <a:latin typeface="微软雅黑" pitchFamily="34" charset="-122"/>
                <a:ea typeface="微软雅黑" pitchFamily="34" charset="-122"/>
              </a:rPr>
              <a:t>信道引起的时延迅速</a:t>
            </a:r>
            <a:r>
              <a:rPr lang="zh-CN" altLang="en-US" sz="2000" b="1" dirty="0" smtClean="0">
                <a:solidFill>
                  <a:srgbClr val="1C1C1C"/>
                </a:solidFill>
                <a:latin typeface="微软雅黑" pitchFamily="34" charset="-122"/>
                <a:ea typeface="微软雅黑" pitchFamily="34" charset="-122"/>
              </a:rPr>
              <a:t>增加</a:t>
            </a:r>
            <a:endParaRPr lang="zh-CN" altLang="en-US" sz="2000" b="1" dirty="0">
              <a:solidFill>
                <a:srgbClr val="1C1C1C"/>
              </a:solidFill>
              <a:latin typeface="微软雅黑" pitchFamily="34" charset="-122"/>
              <a:ea typeface="微软雅黑" pitchFamily="34" charset="-122"/>
            </a:endParaRPr>
          </a:p>
        </p:txBody>
      </p:sp>
    </p:spTree>
    <p:extLst>
      <p:ext uri="{BB962C8B-B14F-4D97-AF65-F5344CB8AC3E}">
        <p14:creationId xmlns:p14="http://schemas.microsoft.com/office/powerpoint/2010/main" val="3275215576"/>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520776357"/>
              </p:ext>
            </p:extLst>
          </p:nvPr>
        </p:nvGraphicFramePr>
        <p:xfrm>
          <a:off x="2009804" y="1855366"/>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8372" name="标题 14"/>
          <p:cNvSpPr>
            <a:spLocks noGrp="1" noChangeArrowheads="1"/>
          </p:cNvSpPr>
          <p:nvPr>
            <p:ph type="title"/>
          </p:nvPr>
        </p:nvSpPr>
        <p:spPr/>
        <p:txBody>
          <a:bodyPr/>
          <a:lstStyle/>
          <a:p>
            <a:r>
              <a:rPr lang="en-US" altLang="zh-CN" dirty="0"/>
              <a:t>1.6 </a:t>
            </a:r>
            <a:r>
              <a:rPr lang="zh-CN" altLang="en-US" dirty="0" smtClean="0"/>
              <a:t>计算机网络</a:t>
            </a:r>
            <a:r>
              <a:rPr lang="zh-CN" altLang="en-US" dirty="0"/>
              <a:t>的性能</a:t>
            </a:r>
          </a:p>
        </p:txBody>
      </p:sp>
      <p:sp>
        <p:nvSpPr>
          <p:cNvPr id="4" name="Text Placeholder 7"/>
          <p:cNvSpPr txBox="1">
            <a:spLocks noChangeArrowheads="1"/>
          </p:cNvSpPr>
          <p:nvPr/>
        </p:nvSpPr>
        <p:spPr bwMode="auto">
          <a:xfrm>
            <a:off x="479376" y="1268685"/>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12700" algn="l" rtl="0" eaLnBrk="0" fontAlgn="base" hangingPunct="0">
              <a:lnSpc>
                <a:spcPct val="150000"/>
              </a:lnSpc>
              <a:spcBef>
                <a:spcPct val="0"/>
              </a:spcBef>
              <a:spcAft>
                <a:spcPct val="0"/>
              </a:spcAft>
              <a:buClr>
                <a:srgbClr val="1C1C1C"/>
              </a:buClr>
              <a:buFont typeface="Wingdings" pitchFamily="2" charset="2"/>
              <a:buChar char="Ø"/>
              <a:defRPr sz="3200">
                <a:solidFill>
                  <a:srgbClr val="4D4D4D"/>
                </a:solidFill>
                <a:latin typeface="微软雅黑" panose="020B0503020204020204" pitchFamily="34" charset="-122"/>
                <a:ea typeface="微软雅黑" panose="020B0503020204020204" pitchFamily="34" charset="-122"/>
                <a:cs typeface="+mn-cs"/>
              </a:defRPr>
            </a:lvl1pPr>
            <a:lvl2pPr marL="820738" indent="-7938" algn="l" rtl="0" eaLnBrk="0" fontAlgn="base" hangingPunct="0">
              <a:lnSpc>
                <a:spcPct val="150000"/>
              </a:lnSpc>
              <a:spcBef>
                <a:spcPct val="0"/>
              </a:spcBef>
              <a:spcAft>
                <a:spcPct val="0"/>
              </a:spcAft>
              <a:buClr>
                <a:schemeClr val="tx2"/>
              </a:buClr>
              <a:buFont typeface="Wingdings" pitchFamily="2" charset="2"/>
              <a:buChar char="§"/>
              <a:defRPr sz="2800">
                <a:solidFill>
                  <a:srgbClr val="4D4D4D"/>
                </a:solidFill>
                <a:latin typeface="微软雅黑" panose="020B0503020204020204" pitchFamily="34" charset="-122"/>
                <a:ea typeface="微软雅黑" panose="020B0503020204020204" pitchFamily="34" charset="-122"/>
              </a:defRPr>
            </a:lvl2pPr>
            <a:lvl3pPr marL="1257300" indent="-342900" algn="l" rtl="0" eaLnBrk="0" fontAlgn="base" hangingPunct="0">
              <a:lnSpc>
                <a:spcPct val="150000"/>
              </a:lnSpc>
              <a:spcBef>
                <a:spcPct val="0"/>
              </a:spcBef>
              <a:spcAft>
                <a:spcPct val="0"/>
              </a:spcAft>
              <a:buClr>
                <a:schemeClr val="tx1"/>
              </a:buClr>
              <a:buChar char="•"/>
              <a:defRPr sz="2400">
                <a:solidFill>
                  <a:srgbClr val="4D4D4D"/>
                </a:solidFill>
                <a:latin typeface="微软雅黑" panose="020B0503020204020204" pitchFamily="34" charset="-122"/>
                <a:ea typeface="微软雅黑" panose="020B0503020204020204" pitchFamily="34" charset="-122"/>
              </a:defRPr>
            </a:lvl3pPr>
            <a:lvl4pPr marL="1371600" algn="l" rtl="0" eaLnBrk="0" fontAlgn="base" hangingPunct="0">
              <a:lnSpc>
                <a:spcPct val="150000"/>
              </a:lnSpc>
              <a:spcBef>
                <a:spcPct val="0"/>
              </a:spcBef>
              <a:spcAft>
                <a:spcPct val="0"/>
              </a:spcAft>
              <a:defRPr sz="2000">
                <a:solidFill>
                  <a:srgbClr val="4D4D4D"/>
                </a:solidFill>
                <a:latin typeface="微软雅黑" panose="020B0503020204020204" pitchFamily="34" charset="-122"/>
                <a:ea typeface="微软雅黑" panose="020B0503020204020204" pitchFamily="34" charset="-122"/>
              </a:defRPr>
            </a:lvl4pPr>
            <a:lvl5pPr marL="1828800" algn="l" rtl="0" eaLnBrk="0" fontAlgn="base" hangingPunct="0">
              <a:lnSpc>
                <a:spcPct val="150000"/>
              </a:lnSpc>
              <a:spcBef>
                <a:spcPct val="0"/>
              </a:spcBef>
              <a:spcAft>
                <a:spcPct val="0"/>
              </a:spcAft>
              <a:defRPr>
                <a:solidFill>
                  <a:srgbClr val="4D4D4D"/>
                </a:solidFill>
                <a:latin typeface="微软雅黑" panose="020B0503020204020204" pitchFamily="34" charset="-122"/>
                <a:ea typeface="微软雅黑" panose="020B0503020204020204" pitchFamily="34" charset="-122"/>
              </a:defRPr>
            </a:lvl5pPr>
            <a:lvl6pPr marL="2425700" algn="l" rtl="0" eaLnBrk="1" fontAlgn="base" hangingPunct="1">
              <a:spcBef>
                <a:spcPct val="20000"/>
              </a:spcBef>
              <a:spcAft>
                <a:spcPct val="0"/>
              </a:spcAft>
              <a:buChar char="»"/>
              <a:defRPr sz="1600">
                <a:solidFill>
                  <a:srgbClr val="1C1C1C"/>
                </a:solidFill>
                <a:latin typeface="+mn-lt"/>
                <a:ea typeface="+mn-ea"/>
              </a:defRPr>
            </a:lvl6pPr>
            <a:lvl7pPr marL="2882900" algn="l" rtl="0" eaLnBrk="1" fontAlgn="base" hangingPunct="1">
              <a:spcBef>
                <a:spcPct val="20000"/>
              </a:spcBef>
              <a:spcAft>
                <a:spcPct val="0"/>
              </a:spcAft>
              <a:buChar char="»"/>
              <a:defRPr sz="1600">
                <a:solidFill>
                  <a:srgbClr val="1C1C1C"/>
                </a:solidFill>
                <a:latin typeface="+mn-lt"/>
                <a:ea typeface="+mn-ea"/>
              </a:defRPr>
            </a:lvl7pPr>
            <a:lvl8pPr marL="3340100" algn="l" rtl="0" eaLnBrk="1" fontAlgn="base" hangingPunct="1">
              <a:spcBef>
                <a:spcPct val="20000"/>
              </a:spcBef>
              <a:spcAft>
                <a:spcPct val="0"/>
              </a:spcAft>
              <a:buChar char="»"/>
              <a:defRPr sz="1600">
                <a:solidFill>
                  <a:srgbClr val="1C1C1C"/>
                </a:solidFill>
                <a:latin typeface="+mn-lt"/>
                <a:ea typeface="+mn-ea"/>
              </a:defRPr>
            </a:lvl8pPr>
            <a:lvl9pPr marL="3797300" algn="l" rtl="0" eaLnBrk="1" fontAlgn="base" hangingPunct="1">
              <a:spcBef>
                <a:spcPct val="20000"/>
              </a:spcBef>
              <a:spcAft>
                <a:spcPct val="0"/>
              </a:spcAft>
              <a:buChar char="»"/>
              <a:defRPr sz="1600">
                <a:solidFill>
                  <a:srgbClr val="1C1C1C"/>
                </a:solidFill>
                <a:latin typeface="+mn-lt"/>
                <a:ea typeface="+mn-ea"/>
              </a:defRPr>
            </a:lvl9pPr>
          </a:lstStyle>
          <a:p>
            <a:pPr eaLnBrk="1" hangingPunct="1"/>
            <a:r>
              <a:rPr lang="en-US" altLang="zh-CN" b="1" dirty="0" smtClean="0">
                <a:cs typeface="Arial" charset="0"/>
              </a:rPr>
              <a:t> </a:t>
            </a:r>
            <a:r>
              <a:rPr lang="zh-CN" altLang="en-US" b="1" dirty="0" smtClean="0">
                <a:cs typeface="Arial" charset="0"/>
              </a:rPr>
              <a:t>计算机网络的非性能特征</a:t>
            </a:r>
            <a:endParaRPr lang="en-US" altLang="zh-CN" b="1" dirty="0">
              <a:cs typeface="Arial" charset="0"/>
            </a:endParaRP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t>指引</a:t>
            </a:r>
          </a:p>
        </p:txBody>
      </p:sp>
      <p:sp>
        <p:nvSpPr>
          <p:cNvPr id="11267" name="Rectangle 3"/>
          <p:cNvSpPr>
            <a:spLocks noGrp="1" noChangeArrowheads="1"/>
          </p:cNvSpPr>
          <p:nvPr>
            <p:ph idx="1"/>
          </p:nvPr>
        </p:nvSpPr>
        <p:spPr/>
        <p:txBody>
          <a:bodyPr/>
          <a:lstStyle/>
          <a:p>
            <a:r>
              <a:rPr lang="zh-CN" altLang="en-US" dirty="0"/>
              <a:t>计算机网络在信息时代的作用</a:t>
            </a:r>
          </a:p>
          <a:p>
            <a:r>
              <a:rPr lang="zh-CN" altLang="en-US" dirty="0"/>
              <a:t>互联网概述</a:t>
            </a:r>
          </a:p>
          <a:p>
            <a:r>
              <a:rPr lang="zh-CN" altLang="en-US" dirty="0"/>
              <a:t>互联网的组成</a:t>
            </a:r>
            <a:endParaRPr lang="en-US" altLang="zh-CN" dirty="0"/>
          </a:p>
          <a:p>
            <a:r>
              <a:rPr lang="zh-CN" altLang="en-US" dirty="0"/>
              <a:t>计算机网络在我国的发展</a:t>
            </a:r>
          </a:p>
          <a:p>
            <a:r>
              <a:rPr lang="zh-CN" altLang="en-US" dirty="0"/>
              <a:t>计算机网络的类别</a:t>
            </a:r>
          </a:p>
          <a:p>
            <a:r>
              <a:rPr lang="zh-CN" altLang="en-US" dirty="0"/>
              <a:t>计算机网络的性能</a:t>
            </a:r>
            <a:endParaRPr lang="en-US" altLang="zh-CN" dirty="0"/>
          </a:p>
          <a:p>
            <a:r>
              <a:rPr lang="zh-CN" altLang="en-US" dirty="0">
                <a:solidFill>
                  <a:srgbClr val="C00000"/>
                </a:solidFill>
              </a:rPr>
              <a:t>计算机网络的体系结构</a:t>
            </a:r>
          </a:p>
          <a:p>
            <a:pPr eaLnBrk="1" hangingPunct="1">
              <a:buFont typeface="Wingdings" pitchFamily="2" charset="2"/>
              <a:buNone/>
            </a:pPr>
            <a:endParaRPr lang="zh-CN" altLang="en-US" sz="2800" dirty="0"/>
          </a:p>
          <a:p>
            <a:pPr eaLnBrk="1" hangingPunct="1">
              <a:buFont typeface="Wingdings" pitchFamily="2" charset="2"/>
              <a:buNone/>
            </a:pPr>
            <a:r>
              <a:rPr lang="zh-CN" altLang="en-US" sz="2800" dirty="0"/>
              <a:t>     </a:t>
            </a:r>
          </a:p>
        </p:txBody>
      </p:sp>
    </p:spTree>
    <p:extLst>
      <p:ext uri="{BB962C8B-B14F-4D97-AF65-F5344CB8AC3E}">
        <p14:creationId xmlns:p14="http://schemas.microsoft.com/office/powerpoint/2010/main" val="3202396239"/>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1.7.1 </a:t>
            </a:r>
            <a:r>
              <a:rPr lang="zh-CN" altLang="en-US" dirty="0" smtClean="0"/>
              <a:t>计算机网络体系结构的形成</a:t>
            </a:r>
            <a:endParaRPr lang="zh-CN" altLang="en-US" dirty="0"/>
          </a:p>
        </p:txBody>
      </p:sp>
      <p:sp>
        <p:nvSpPr>
          <p:cNvPr id="3" name="内容占位符 2"/>
          <p:cNvSpPr>
            <a:spLocks noGrp="1"/>
          </p:cNvSpPr>
          <p:nvPr>
            <p:ph idx="1"/>
          </p:nvPr>
        </p:nvSpPr>
        <p:spPr/>
        <p:txBody>
          <a:bodyPr/>
          <a:lstStyle/>
          <a:p>
            <a:r>
              <a:rPr lang="zh-CN" altLang="en-US" b="1" dirty="0" smtClean="0"/>
              <a:t>网络上的两</a:t>
            </a:r>
            <a:r>
              <a:rPr lang="zh-CN" altLang="en-US" b="1" dirty="0"/>
              <a:t>台计算机要互相传送文件</a:t>
            </a:r>
            <a:r>
              <a:rPr lang="zh-CN" altLang="en-US" b="1" dirty="0" smtClean="0"/>
              <a:t>需要解决</a:t>
            </a:r>
            <a:r>
              <a:rPr lang="zh-CN" altLang="en-US" b="1" dirty="0"/>
              <a:t>很多</a:t>
            </a:r>
            <a:r>
              <a:rPr lang="zh-CN" altLang="en-US" b="1" dirty="0" smtClean="0"/>
              <a:t>问题：</a:t>
            </a:r>
            <a:endParaRPr lang="zh-CN" altLang="en-US" b="1" dirty="0"/>
          </a:p>
          <a:p>
            <a:endParaRPr lang="zh-CN" altLang="en-US" sz="3600" b="1" dirty="0"/>
          </a:p>
        </p:txBody>
      </p:sp>
      <p:grpSp>
        <p:nvGrpSpPr>
          <p:cNvPr id="4" name="组合 3"/>
          <p:cNvGrpSpPr/>
          <p:nvPr/>
        </p:nvGrpSpPr>
        <p:grpSpPr>
          <a:xfrm>
            <a:off x="1055441" y="2142532"/>
            <a:ext cx="10081119" cy="4646953"/>
            <a:chOff x="1615151" y="2102822"/>
            <a:chExt cx="8081249" cy="3126378"/>
          </a:xfrm>
        </p:grpSpPr>
        <p:sp>
          <p:nvSpPr>
            <p:cNvPr id="7" name="Line 1453"/>
            <p:cNvSpPr>
              <a:spLocks noChangeShapeType="1"/>
            </p:cNvSpPr>
            <p:nvPr/>
          </p:nvSpPr>
          <p:spPr bwMode="auto">
            <a:xfrm flipH="1">
              <a:off x="1970492" y="3527914"/>
              <a:ext cx="1381272" cy="0"/>
            </a:xfrm>
            <a:prstGeom prst="line">
              <a:avLst/>
            </a:prstGeom>
            <a:noFill/>
            <a:ln w="3810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9" name="Picture 24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983" y="3231735"/>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1453"/>
            <p:cNvSpPr>
              <a:spLocks noChangeShapeType="1"/>
            </p:cNvSpPr>
            <p:nvPr/>
          </p:nvSpPr>
          <p:spPr bwMode="auto">
            <a:xfrm flipH="1">
              <a:off x="8158919" y="3527914"/>
              <a:ext cx="907434" cy="0"/>
            </a:xfrm>
            <a:prstGeom prst="line">
              <a:avLst/>
            </a:prstGeom>
            <a:noFill/>
            <a:ln w="38100">
              <a:solidFill>
                <a:srgbClr val="000000"/>
              </a:solidFill>
              <a:round/>
              <a:headEnd/>
              <a:tailEnd/>
            </a:ln>
            <a:extLst/>
          </p:spPr>
          <p:txBody>
            <a:bodyPr/>
            <a:lstStyle/>
            <a:p>
              <a:pPr fontAlgn="auto">
                <a:spcBef>
                  <a:spcPts val="0"/>
                </a:spcBef>
                <a:spcAft>
                  <a:spcPts val="0"/>
                </a:spcAft>
                <a:defRPr/>
              </a:pPr>
              <a:endParaRPr lang="zh-CN" altLang="en-US" sz="2000" b="1" kern="0">
                <a:solidFill>
                  <a:sysClr val="windowText" lastClr="000000"/>
                </a:solidFill>
                <a:latin typeface="+mn-lt"/>
                <a:ea typeface="+mn-ea"/>
              </a:endParaRPr>
            </a:p>
          </p:txBody>
        </p:sp>
        <p:pic>
          <p:nvPicPr>
            <p:cNvPr id="11" name="Picture 246" descr="jisuanj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4228" y="3231735"/>
              <a:ext cx="661039" cy="66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组合 11"/>
            <p:cNvGrpSpPr/>
            <p:nvPr/>
          </p:nvGrpSpPr>
          <p:grpSpPr>
            <a:xfrm>
              <a:off x="2759582" y="2102822"/>
              <a:ext cx="5964008" cy="3126378"/>
              <a:chOff x="2002985" y="1193073"/>
              <a:chExt cx="5964008" cy="3370217"/>
            </a:xfrm>
          </p:grpSpPr>
          <p:grpSp>
            <p:nvGrpSpPr>
              <p:cNvPr id="13" name="组合 12"/>
              <p:cNvGrpSpPr/>
              <p:nvPr/>
            </p:nvGrpSpPr>
            <p:grpSpPr>
              <a:xfrm>
                <a:off x="2002985" y="1193073"/>
                <a:ext cx="5964008" cy="3370217"/>
                <a:chOff x="2002985" y="1193073"/>
                <a:chExt cx="5964008" cy="3370217"/>
              </a:xfrm>
            </p:grpSpPr>
            <p:sp>
              <p:nvSpPr>
                <p:cNvPr id="15" name="Oval 1507"/>
                <p:cNvSpPr>
                  <a:spLocks noChangeArrowheads="1"/>
                </p:cNvSpPr>
                <p:nvPr/>
              </p:nvSpPr>
              <p:spPr bwMode="auto">
                <a:xfrm rot="21341795">
                  <a:off x="5839397" y="2482362"/>
                  <a:ext cx="2127596" cy="1867215"/>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6" name="Oval 1508"/>
                <p:cNvSpPr>
                  <a:spLocks noChangeArrowheads="1"/>
                </p:cNvSpPr>
                <p:nvPr/>
              </p:nvSpPr>
              <p:spPr bwMode="auto">
                <a:xfrm rot="21341795">
                  <a:off x="2002985" y="2096229"/>
                  <a:ext cx="1967142" cy="1681512"/>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7" name="Oval 1509"/>
                <p:cNvSpPr>
                  <a:spLocks noChangeArrowheads="1"/>
                </p:cNvSpPr>
                <p:nvPr/>
              </p:nvSpPr>
              <p:spPr bwMode="auto">
                <a:xfrm rot="21341795">
                  <a:off x="5449660" y="1367840"/>
                  <a:ext cx="2295437" cy="1886844"/>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8" name="Oval 1510"/>
                <p:cNvSpPr>
                  <a:spLocks noChangeArrowheads="1"/>
                </p:cNvSpPr>
                <p:nvPr/>
              </p:nvSpPr>
              <p:spPr bwMode="auto">
                <a:xfrm rot="21341795">
                  <a:off x="4391764" y="2851426"/>
                  <a:ext cx="2298063" cy="1711864"/>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19" name="Oval 1511"/>
                <p:cNvSpPr>
                  <a:spLocks noChangeArrowheads="1"/>
                </p:cNvSpPr>
                <p:nvPr/>
              </p:nvSpPr>
              <p:spPr bwMode="auto">
                <a:xfrm rot="21341795">
                  <a:off x="2405455" y="2831144"/>
                  <a:ext cx="2295437" cy="1622830"/>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0" name="Oval 1512"/>
                <p:cNvSpPr>
                  <a:spLocks noChangeArrowheads="1"/>
                </p:cNvSpPr>
                <p:nvPr/>
              </p:nvSpPr>
              <p:spPr bwMode="auto">
                <a:xfrm rot="21341795">
                  <a:off x="4041542" y="1193073"/>
                  <a:ext cx="2256042" cy="1677465"/>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1" name="Oval 1513"/>
                <p:cNvSpPr>
                  <a:spLocks noChangeArrowheads="1"/>
                </p:cNvSpPr>
                <p:nvPr/>
              </p:nvSpPr>
              <p:spPr bwMode="auto">
                <a:xfrm rot="21341795">
                  <a:off x="2366784" y="1286239"/>
                  <a:ext cx="2256042" cy="1616760"/>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sp>
              <p:nvSpPr>
                <p:cNvPr id="22" name="Oval 1514"/>
                <p:cNvSpPr>
                  <a:spLocks noChangeArrowheads="1"/>
                </p:cNvSpPr>
                <p:nvPr/>
              </p:nvSpPr>
              <p:spPr bwMode="auto">
                <a:xfrm rot="21341795">
                  <a:off x="2175632" y="1600537"/>
                  <a:ext cx="5289099" cy="2415001"/>
                </a:xfrm>
                <a:prstGeom prst="ellipse">
                  <a:avLst/>
                </a:prstGeom>
                <a:solidFill>
                  <a:schemeClr val="accent1">
                    <a:lumMod val="40000"/>
                    <a:lumOff val="60000"/>
                  </a:schemeClr>
                </a:solidFill>
                <a:ln w="19050">
                  <a:noFill/>
                  <a:prstDash val="solid"/>
                  <a:round/>
                  <a:headEnd/>
                  <a:tailEnd/>
                </a:ln>
                <a:effectLst/>
                <a:extLst/>
              </p:spPr>
              <p:txBody>
                <a:bodyPr/>
                <a:lstStyle/>
                <a:p>
                  <a:pPr fontAlgn="auto">
                    <a:spcBef>
                      <a:spcPts val="0"/>
                    </a:spcBef>
                    <a:spcAft>
                      <a:spcPts val="0"/>
                    </a:spcAft>
                    <a:defRPr/>
                  </a:pPr>
                  <a:endParaRPr lang="zh-CN" altLang="en-US" sz="2000" b="1">
                    <a:solidFill>
                      <a:srgbClr val="000000"/>
                    </a:solidFill>
                    <a:latin typeface="+mn-lt"/>
                    <a:ea typeface="+mn-ea"/>
                  </a:endParaRPr>
                </a:p>
              </p:txBody>
            </p:sp>
          </p:grpSp>
          <p:sp>
            <p:nvSpPr>
              <p:cNvPr id="14" name="文本框 162"/>
              <p:cNvSpPr txBox="1"/>
              <p:nvPr/>
            </p:nvSpPr>
            <p:spPr>
              <a:xfrm>
                <a:off x="2551158" y="1474710"/>
                <a:ext cx="5252812" cy="2580251"/>
              </a:xfrm>
              <a:prstGeom prst="rect">
                <a:avLst/>
              </a:prstGeom>
              <a:noFill/>
              <a:ln>
                <a:noFill/>
              </a:ln>
            </p:spPr>
            <p:txBody>
              <a:bodyPr wrap="square" rtlCol="0">
                <a:spAutoFit/>
              </a:bodyPr>
              <a:lstStyle/>
              <a:p>
                <a:r>
                  <a:rPr lang="en-US" altLang="zh-CN" sz="2400" b="1" dirty="0" smtClean="0">
                    <a:solidFill>
                      <a:srgbClr val="1C1C1C"/>
                    </a:solidFill>
                    <a:latin typeface="微软雅黑" panose="020B0503020204020204" pitchFamily="34" charset="-122"/>
                    <a:ea typeface="微软雅黑" panose="020B0503020204020204" pitchFamily="34" charset="-122"/>
                  </a:rPr>
                  <a:t>(</a:t>
                </a:r>
                <a:r>
                  <a:rPr lang="en-US" altLang="zh-CN" sz="2400" b="1" dirty="0">
                    <a:solidFill>
                      <a:srgbClr val="1C1C1C"/>
                    </a:solidFill>
                    <a:latin typeface="微软雅黑" panose="020B0503020204020204" pitchFamily="34" charset="-122"/>
                    <a:ea typeface="微软雅黑" panose="020B0503020204020204" pitchFamily="34" charset="-122"/>
                  </a:rPr>
                  <a:t>1</a:t>
                </a:r>
                <a:r>
                  <a:rPr lang="en-US" altLang="zh-CN" sz="2400" b="1" dirty="0" smtClean="0">
                    <a:solidFill>
                      <a:srgbClr val="1C1C1C"/>
                    </a:solidFill>
                    <a:latin typeface="微软雅黑" panose="020B0503020204020204" pitchFamily="34" charset="-122"/>
                    <a:ea typeface="微软雅黑" panose="020B0503020204020204" pitchFamily="34" charset="-122"/>
                  </a:rPr>
                  <a:t>) </a:t>
                </a:r>
                <a:r>
                  <a:rPr lang="zh-CN" altLang="en-US" sz="2400" b="1" dirty="0" smtClean="0">
                    <a:solidFill>
                      <a:srgbClr val="1C1C1C"/>
                    </a:solidFill>
                    <a:latin typeface="微软雅黑" panose="020B0503020204020204" pitchFamily="34" charset="-122"/>
                    <a:ea typeface="微软雅黑" panose="020B0503020204020204" pitchFamily="34" charset="-122"/>
                  </a:rPr>
                  <a:t>必须</a:t>
                </a:r>
                <a:r>
                  <a:rPr lang="zh-CN" altLang="en-US" sz="2400" b="1" dirty="0">
                    <a:solidFill>
                      <a:srgbClr val="1C1C1C"/>
                    </a:solidFill>
                    <a:latin typeface="微软雅黑" panose="020B0503020204020204" pitchFamily="34" charset="-122"/>
                    <a:ea typeface="微软雅黑" panose="020B0503020204020204" pitchFamily="34" charset="-122"/>
                  </a:rPr>
                  <a:t>有一条传送数据的通路。</a:t>
                </a:r>
                <a:endParaRPr lang="en-US" altLang="zh-CN" sz="2400" b="1" dirty="0" smtClean="0">
                  <a:solidFill>
                    <a:srgbClr val="1C1C1C"/>
                  </a:solidFill>
                  <a:latin typeface="微软雅黑" panose="020B0503020204020204" pitchFamily="34" charset="-122"/>
                  <a:ea typeface="微软雅黑" panose="020B0503020204020204" pitchFamily="34" charset="-122"/>
                </a:endParaRPr>
              </a:p>
              <a:p>
                <a:r>
                  <a:rPr lang="en-US" altLang="zh-CN" sz="2400" b="1" dirty="0" smtClean="0">
                    <a:solidFill>
                      <a:srgbClr val="1C1C1C"/>
                    </a:solidFill>
                    <a:latin typeface="微软雅黑" panose="020B0503020204020204" pitchFamily="34" charset="-122"/>
                    <a:ea typeface="微软雅黑" panose="020B0503020204020204" pitchFamily="34" charset="-122"/>
                  </a:rPr>
                  <a:t>(2) </a:t>
                </a:r>
                <a:r>
                  <a:rPr lang="zh-CN" altLang="en-US" sz="2400" b="1" dirty="0" smtClean="0">
                    <a:solidFill>
                      <a:srgbClr val="1C1C1C"/>
                    </a:solidFill>
                    <a:latin typeface="微软雅黑" panose="020B0503020204020204" pitchFamily="34" charset="-122"/>
                    <a:ea typeface="微软雅黑" panose="020B0503020204020204" pitchFamily="34" charset="-122"/>
                  </a:rPr>
                  <a:t>保证数据能在这条通路上正确发送和接收。</a:t>
                </a:r>
                <a:endParaRPr lang="zh-CN" altLang="en-US" sz="2400" b="1" dirty="0">
                  <a:solidFill>
                    <a:srgbClr val="1C1C1C"/>
                  </a:solidFill>
                  <a:latin typeface="微软雅黑" panose="020B0503020204020204" pitchFamily="34" charset="-122"/>
                  <a:ea typeface="微软雅黑" panose="020B0503020204020204" pitchFamily="34" charset="-122"/>
                </a:endParaRPr>
              </a:p>
              <a:p>
                <a:r>
                  <a:rPr lang="en-US" altLang="zh-CN" sz="2400" b="1" dirty="0" smtClean="0">
                    <a:solidFill>
                      <a:srgbClr val="1C1C1C"/>
                    </a:solidFill>
                    <a:latin typeface="微软雅黑" panose="020B0503020204020204" pitchFamily="34" charset="-122"/>
                    <a:ea typeface="微软雅黑" panose="020B0503020204020204" pitchFamily="34" charset="-122"/>
                  </a:rPr>
                  <a:t>(3) </a:t>
                </a:r>
                <a:r>
                  <a:rPr lang="zh-CN" altLang="en-US" sz="2400" b="1" dirty="0">
                    <a:solidFill>
                      <a:srgbClr val="1C1C1C"/>
                    </a:solidFill>
                    <a:latin typeface="微软雅黑" panose="020B0503020204020204" pitchFamily="34" charset="-122"/>
                    <a:ea typeface="微软雅黑" panose="020B0503020204020204" pitchFamily="34" charset="-122"/>
                  </a:rPr>
                  <a:t>要告诉网络如何识别</a:t>
                </a:r>
                <a:r>
                  <a:rPr lang="zh-CN" altLang="en-US" sz="2400" b="1" dirty="0" smtClean="0">
                    <a:solidFill>
                      <a:srgbClr val="1C1C1C"/>
                    </a:solidFill>
                    <a:latin typeface="微软雅黑" panose="020B0503020204020204" pitchFamily="34" charset="-122"/>
                    <a:ea typeface="微软雅黑" panose="020B0503020204020204" pitchFamily="34" charset="-122"/>
                  </a:rPr>
                  <a:t>接收方。</a:t>
                </a:r>
                <a:endParaRPr lang="zh-CN" altLang="en-US" sz="2400" b="1" dirty="0">
                  <a:solidFill>
                    <a:srgbClr val="1C1C1C"/>
                  </a:solidFill>
                  <a:latin typeface="微软雅黑" panose="020B0503020204020204" pitchFamily="34" charset="-122"/>
                  <a:ea typeface="微软雅黑" panose="020B0503020204020204" pitchFamily="34" charset="-122"/>
                </a:endParaRPr>
              </a:p>
              <a:p>
                <a:r>
                  <a:rPr lang="en-US" altLang="zh-CN" sz="2400" b="1" dirty="0" smtClean="0">
                    <a:solidFill>
                      <a:srgbClr val="1C1C1C"/>
                    </a:solidFill>
                    <a:latin typeface="微软雅黑" panose="020B0503020204020204" pitchFamily="34" charset="-122"/>
                    <a:ea typeface="微软雅黑" panose="020B0503020204020204" pitchFamily="34" charset="-122"/>
                  </a:rPr>
                  <a:t>(4) </a:t>
                </a:r>
                <a:r>
                  <a:rPr lang="zh-CN" altLang="en-US" sz="2400" b="1" dirty="0" smtClean="0">
                    <a:solidFill>
                      <a:srgbClr val="1C1C1C"/>
                    </a:solidFill>
                    <a:latin typeface="微软雅黑" panose="020B0503020204020204" pitchFamily="34" charset="-122"/>
                    <a:ea typeface="微软雅黑" panose="020B0503020204020204" pitchFamily="34" charset="-122"/>
                  </a:rPr>
                  <a:t>发起方要弄清楚对方是否</a:t>
                </a:r>
                <a:r>
                  <a:rPr lang="zh-CN" altLang="en-US" sz="2400" b="1" dirty="0">
                    <a:solidFill>
                      <a:srgbClr val="1C1C1C"/>
                    </a:solidFill>
                    <a:latin typeface="微软雅黑" panose="020B0503020204020204" pitchFamily="34" charset="-122"/>
                    <a:ea typeface="微软雅黑" panose="020B0503020204020204" pitchFamily="34" charset="-122"/>
                  </a:rPr>
                  <a:t>已开机</a:t>
                </a:r>
                <a:r>
                  <a:rPr lang="zh-CN" altLang="en-US" sz="2400" b="1" dirty="0" smtClean="0">
                    <a:solidFill>
                      <a:srgbClr val="1C1C1C"/>
                    </a:solidFill>
                    <a:latin typeface="微软雅黑" panose="020B0503020204020204" pitchFamily="34" charset="-122"/>
                    <a:ea typeface="微软雅黑" panose="020B0503020204020204" pitchFamily="34" charset="-122"/>
                  </a:rPr>
                  <a:t>，且</a:t>
                </a:r>
                <a:r>
                  <a:rPr lang="zh-CN" altLang="en-US" sz="2400" b="1" dirty="0">
                    <a:solidFill>
                      <a:srgbClr val="1C1C1C"/>
                    </a:solidFill>
                    <a:latin typeface="微软雅黑" panose="020B0503020204020204" pitchFamily="34" charset="-122"/>
                    <a:ea typeface="微软雅黑" panose="020B0503020204020204" pitchFamily="34" charset="-122"/>
                  </a:rPr>
                  <a:t>与网络连接正常。</a:t>
                </a:r>
              </a:p>
              <a:p>
                <a:r>
                  <a:rPr lang="en-US" altLang="zh-CN" sz="2400" b="1" dirty="0" smtClean="0">
                    <a:solidFill>
                      <a:srgbClr val="1C1C1C"/>
                    </a:solidFill>
                    <a:latin typeface="微软雅黑" panose="020B0503020204020204" pitchFamily="34" charset="-122"/>
                    <a:ea typeface="微软雅黑" panose="020B0503020204020204" pitchFamily="34" charset="-122"/>
                  </a:rPr>
                  <a:t>(5) </a:t>
                </a:r>
                <a:r>
                  <a:rPr lang="zh-CN" altLang="en-US" sz="2400" b="1" dirty="0" smtClean="0">
                    <a:solidFill>
                      <a:srgbClr val="1C1C1C"/>
                    </a:solidFill>
                    <a:latin typeface="微软雅黑" panose="020B0503020204020204" pitchFamily="34" charset="-122"/>
                    <a:ea typeface="微软雅黑" panose="020B0503020204020204" pitchFamily="34" charset="-122"/>
                  </a:rPr>
                  <a:t>发起方要弄清楚对方是否准备好接收和</a:t>
                </a:r>
                <a:r>
                  <a:rPr lang="zh-CN" altLang="en-US" sz="2400" b="1" dirty="0">
                    <a:solidFill>
                      <a:srgbClr val="1C1C1C"/>
                    </a:solidFill>
                    <a:latin typeface="微软雅黑" panose="020B0503020204020204" pitchFamily="34" charset="-122"/>
                    <a:ea typeface="微软雅黑" panose="020B0503020204020204" pitchFamily="34" charset="-122"/>
                  </a:rPr>
                  <a:t>存储</a:t>
                </a:r>
                <a:r>
                  <a:rPr lang="zh-CN" altLang="en-US" sz="2400" b="1" dirty="0" smtClean="0">
                    <a:solidFill>
                      <a:srgbClr val="1C1C1C"/>
                    </a:solidFill>
                    <a:latin typeface="微软雅黑" panose="020B0503020204020204" pitchFamily="34" charset="-122"/>
                    <a:ea typeface="微软雅黑" panose="020B0503020204020204" pitchFamily="34" charset="-122"/>
                  </a:rPr>
                  <a:t>文件。</a:t>
                </a:r>
                <a:endParaRPr lang="zh-CN" altLang="en-US" sz="2400" b="1" dirty="0">
                  <a:solidFill>
                    <a:srgbClr val="1C1C1C"/>
                  </a:solidFill>
                  <a:latin typeface="微软雅黑" panose="020B0503020204020204" pitchFamily="34" charset="-122"/>
                  <a:ea typeface="微软雅黑" panose="020B0503020204020204" pitchFamily="34" charset="-122"/>
                </a:endParaRPr>
              </a:p>
              <a:p>
                <a:r>
                  <a:rPr lang="en-US" altLang="zh-CN" sz="2400" b="1" dirty="0" smtClean="0">
                    <a:solidFill>
                      <a:srgbClr val="1C1C1C"/>
                    </a:solidFill>
                    <a:latin typeface="微软雅黑" panose="020B0503020204020204" pitchFamily="34" charset="-122"/>
                    <a:ea typeface="微软雅黑" panose="020B0503020204020204" pitchFamily="34" charset="-122"/>
                  </a:rPr>
                  <a:t>(6) </a:t>
                </a:r>
                <a:r>
                  <a:rPr lang="zh-CN" altLang="en-US" sz="2400" b="1" dirty="0" smtClean="0">
                    <a:solidFill>
                      <a:srgbClr val="1C1C1C"/>
                    </a:solidFill>
                    <a:latin typeface="微软雅黑" panose="020B0503020204020204" pitchFamily="34" charset="-122"/>
                    <a:ea typeface="微软雅黑" panose="020B0503020204020204" pitchFamily="34" charset="-122"/>
                  </a:rPr>
                  <a:t>若文件</a:t>
                </a:r>
                <a:r>
                  <a:rPr lang="zh-CN" altLang="en-US" sz="2400" b="1" dirty="0">
                    <a:solidFill>
                      <a:srgbClr val="1C1C1C"/>
                    </a:solidFill>
                    <a:latin typeface="微软雅黑" panose="020B0503020204020204" pitchFamily="34" charset="-122"/>
                    <a:ea typeface="微软雅黑" panose="020B0503020204020204" pitchFamily="34" charset="-122"/>
                  </a:rPr>
                  <a:t>格式不兼容</a:t>
                </a:r>
                <a:r>
                  <a:rPr lang="zh-CN" altLang="en-US" sz="2400" b="1" dirty="0" smtClean="0">
                    <a:solidFill>
                      <a:srgbClr val="1C1C1C"/>
                    </a:solidFill>
                    <a:latin typeface="微软雅黑" panose="020B0503020204020204" pitchFamily="34" charset="-122"/>
                    <a:ea typeface="微软雅黑" panose="020B0503020204020204" pitchFamily="34" charset="-122"/>
                  </a:rPr>
                  <a:t>，要完成格式的转换。</a:t>
                </a:r>
                <a:endParaRPr lang="zh-CN" altLang="en-US" sz="2400" b="1" dirty="0">
                  <a:solidFill>
                    <a:srgbClr val="1C1C1C"/>
                  </a:solidFill>
                  <a:latin typeface="微软雅黑" panose="020B0503020204020204" pitchFamily="34" charset="-122"/>
                  <a:ea typeface="微软雅黑" panose="020B0503020204020204" pitchFamily="34" charset="-122"/>
                </a:endParaRPr>
              </a:p>
              <a:p>
                <a:r>
                  <a:rPr lang="en-US" altLang="zh-CN" sz="2400" b="1" dirty="0" smtClean="0">
                    <a:solidFill>
                      <a:srgbClr val="1C1C1C"/>
                    </a:solidFill>
                    <a:latin typeface="微软雅黑" panose="020B0503020204020204" pitchFamily="34" charset="-122"/>
                    <a:ea typeface="微软雅黑" panose="020B0503020204020204" pitchFamily="34" charset="-122"/>
                  </a:rPr>
                  <a:t>(7) </a:t>
                </a:r>
                <a:r>
                  <a:rPr lang="zh-CN" altLang="en-US" sz="2400" b="1" dirty="0" smtClean="0">
                    <a:solidFill>
                      <a:srgbClr val="1C1C1C"/>
                    </a:solidFill>
                    <a:latin typeface="微软雅黑" panose="020B0503020204020204" pitchFamily="34" charset="-122"/>
                    <a:ea typeface="微软雅黑" panose="020B0503020204020204" pitchFamily="34" charset="-122"/>
                  </a:rPr>
                  <a:t>要处理各种</a:t>
                </a:r>
                <a:r>
                  <a:rPr lang="zh-CN" altLang="en-US" sz="2400" b="1" dirty="0">
                    <a:solidFill>
                      <a:srgbClr val="1C1C1C"/>
                    </a:solidFill>
                    <a:latin typeface="微软雅黑" panose="020B0503020204020204" pitchFamily="34" charset="-122"/>
                    <a:ea typeface="微软雅黑" panose="020B0503020204020204" pitchFamily="34" charset="-122"/>
                  </a:rPr>
                  <a:t>差错和意外事故，</a:t>
                </a:r>
                <a:r>
                  <a:rPr lang="zh-CN" altLang="en-US" sz="2400" b="1" dirty="0" smtClean="0">
                    <a:solidFill>
                      <a:srgbClr val="1C1C1C"/>
                    </a:solidFill>
                    <a:latin typeface="微软雅黑" panose="020B0503020204020204" pitchFamily="34" charset="-122"/>
                    <a:ea typeface="微软雅黑" panose="020B0503020204020204" pitchFamily="34" charset="-122"/>
                  </a:rPr>
                  <a:t>保证接收方收到正确的文件。</a:t>
                </a:r>
                <a:endParaRPr lang="zh-CN" altLang="en-US" sz="2400" b="1" dirty="0">
                  <a:solidFill>
                    <a:srgbClr val="1C1C1C"/>
                  </a:solidFill>
                  <a:latin typeface="微软雅黑" panose="020B0503020204020204" pitchFamily="34" charset="-122"/>
                  <a:ea typeface="微软雅黑" panose="020B0503020204020204" pitchFamily="34" charset="-122"/>
                </a:endParaRPr>
              </a:p>
            </p:txBody>
          </p:sp>
        </p:grpSp>
        <p:sp>
          <p:nvSpPr>
            <p:cNvPr id="23" name="Text Box 38"/>
            <p:cNvSpPr txBox="1">
              <a:spLocks noChangeArrowheads="1"/>
            </p:cNvSpPr>
            <p:nvPr/>
          </p:nvSpPr>
          <p:spPr bwMode="auto">
            <a:xfrm>
              <a:off x="1615151" y="3888848"/>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smtClean="0">
                  <a:solidFill>
                    <a:srgbClr val="0000FF"/>
                  </a:solidFill>
                  <a:latin typeface="微软雅黑" pitchFamily="34" charset="-122"/>
                  <a:ea typeface="微软雅黑" pitchFamily="34" charset="-122"/>
                </a:rPr>
                <a:t>计算机 </a:t>
              </a:r>
              <a:r>
                <a:rPr kumimoji="1" lang="en-US" altLang="zh-CN" sz="1600" b="1" dirty="0">
                  <a:solidFill>
                    <a:srgbClr val="0000FF"/>
                  </a:solidFill>
                  <a:latin typeface="微软雅黑" pitchFamily="34" charset="-122"/>
                  <a:ea typeface="微软雅黑" pitchFamily="34" charset="-122"/>
                </a:rPr>
                <a:t>A</a:t>
              </a:r>
            </a:p>
          </p:txBody>
        </p:sp>
        <p:sp>
          <p:nvSpPr>
            <p:cNvPr id="24" name="Text Box 38"/>
            <p:cNvSpPr txBox="1">
              <a:spLocks noChangeArrowheads="1"/>
            </p:cNvSpPr>
            <p:nvPr/>
          </p:nvSpPr>
          <p:spPr bwMode="auto">
            <a:xfrm>
              <a:off x="8681379" y="3888848"/>
              <a:ext cx="101502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itchFamily="34" charset="0"/>
                  <a:ea typeface="宋体" charset="-122"/>
                </a:defRPr>
              </a:lvl1pPr>
              <a:lvl2pPr marL="742950" indent="-285750">
                <a:defRPr>
                  <a:solidFill>
                    <a:schemeClr val="tx1"/>
                  </a:solidFill>
                  <a:latin typeface="Calibri" pitchFamily="34" charset="0"/>
                  <a:ea typeface="宋体" charset="-122"/>
                </a:defRPr>
              </a:lvl2pPr>
              <a:lvl3pPr marL="1143000" indent="-228600">
                <a:defRPr>
                  <a:solidFill>
                    <a:schemeClr val="tx1"/>
                  </a:solidFill>
                  <a:latin typeface="Calibri" pitchFamily="34" charset="0"/>
                  <a:ea typeface="宋体" charset="-122"/>
                </a:defRPr>
              </a:lvl3pPr>
              <a:lvl4pPr marL="1600200" indent="-228600">
                <a:defRPr>
                  <a:solidFill>
                    <a:schemeClr val="tx1"/>
                  </a:solidFill>
                  <a:latin typeface="Calibri" pitchFamily="34" charset="0"/>
                  <a:ea typeface="宋体" charset="-122"/>
                </a:defRPr>
              </a:lvl4pPr>
              <a:lvl5pPr marL="2057400" indent="-228600">
                <a:defRPr>
                  <a:solidFill>
                    <a:schemeClr val="tx1"/>
                  </a:solidFill>
                  <a:latin typeface="Calibri" pitchFamily="34" charset="0"/>
                  <a:ea typeface="宋体" charset="-122"/>
                </a:defRPr>
              </a:lvl5pPr>
              <a:lvl6pPr marL="2514600" indent="-228600" fontAlgn="base">
                <a:spcBef>
                  <a:spcPct val="0"/>
                </a:spcBef>
                <a:spcAft>
                  <a:spcPct val="0"/>
                </a:spcAft>
                <a:defRPr>
                  <a:solidFill>
                    <a:schemeClr val="tx1"/>
                  </a:solidFill>
                  <a:latin typeface="Calibri" pitchFamily="34" charset="0"/>
                  <a:ea typeface="宋体" charset="-122"/>
                </a:defRPr>
              </a:lvl6pPr>
              <a:lvl7pPr marL="2971800" indent="-228600" fontAlgn="base">
                <a:spcBef>
                  <a:spcPct val="0"/>
                </a:spcBef>
                <a:spcAft>
                  <a:spcPct val="0"/>
                </a:spcAft>
                <a:defRPr>
                  <a:solidFill>
                    <a:schemeClr val="tx1"/>
                  </a:solidFill>
                  <a:latin typeface="Calibri" pitchFamily="34" charset="0"/>
                  <a:ea typeface="宋体" charset="-122"/>
                </a:defRPr>
              </a:lvl7pPr>
              <a:lvl8pPr marL="3429000" indent="-228600" fontAlgn="base">
                <a:spcBef>
                  <a:spcPct val="0"/>
                </a:spcBef>
                <a:spcAft>
                  <a:spcPct val="0"/>
                </a:spcAft>
                <a:defRPr>
                  <a:solidFill>
                    <a:schemeClr val="tx1"/>
                  </a:solidFill>
                  <a:latin typeface="Calibri" pitchFamily="34" charset="0"/>
                  <a:ea typeface="宋体" charset="-122"/>
                </a:defRPr>
              </a:lvl8pPr>
              <a:lvl9pPr marL="3886200" indent="-228600" fontAlgn="base">
                <a:spcBef>
                  <a:spcPct val="0"/>
                </a:spcBef>
                <a:spcAft>
                  <a:spcPct val="0"/>
                </a:spcAft>
                <a:defRPr>
                  <a:solidFill>
                    <a:schemeClr val="tx1"/>
                  </a:solidFill>
                  <a:latin typeface="Calibri" pitchFamily="34" charset="0"/>
                  <a:ea typeface="宋体" charset="-122"/>
                </a:defRPr>
              </a:lvl9pPr>
            </a:lstStyle>
            <a:p>
              <a:r>
                <a:rPr kumimoji="1" lang="zh-CN" altLang="en-US" sz="1600" b="1" dirty="0" smtClean="0">
                  <a:solidFill>
                    <a:srgbClr val="0000FF"/>
                  </a:solidFill>
                  <a:latin typeface="微软雅黑" pitchFamily="34" charset="-122"/>
                  <a:ea typeface="微软雅黑" pitchFamily="34" charset="-122"/>
                </a:rPr>
                <a:t>计算机 </a:t>
              </a:r>
              <a:r>
                <a:rPr kumimoji="1" lang="en-US" altLang="zh-CN" sz="1600" b="1" dirty="0" smtClean="0">
                  <a:solidFill>
                    <a:srgbClr val="0000FF"/>
                  </a:solidFill>
                  <a:latin typeface="微软雅黑" pitchFamily="34" charset="-122"/>
                  <a:ea typeface="微软雅黑" pitchFamily="34" charset="-122"/>
                </a:rPr>
                <a:t>B</a:t>
              </a:r>
              <a:endParaRPr kumimoji="1" lang="en-US" altLang="zh-CN" sz="1600" b="1" dirty="0">
                <a:solidFill>
                  <a:srgbClr val="0000FF"/>
                </a:solidFill>
                <a:latin typeface="微软雅黑" pitchFamily="34" charset="-122"/>
                <a:ea typeface="微软雅黑" pitchFamily="34" charset="-122"/>
              </a:endParaRPr>
            </a:p>
          </p:txBody>
        </p:sp>
      </p:gr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1.7.1 </a:t>
            </a:r>
            <a:r>
              <a:rPr lang="zh-CN" altLang="en-US" dirty="0" smtClean="0"/>
              <a:t>计算机网络体系结构的形成</a:t>
            </a:r>
            <a:endParaRPr lang="zh-CN" altLang="en-US" dirty="0"/>
          </a:p>
        </p:txBody>
      </p:sp>
      <p:sp>
        <p:nvSpPr>
          <p:cNvPr id="3" name="内容占位符 2"/>
          <p:cNvSpPr>
            <a:spLocks noGrp="1"/>
          </p:cNvSpPr>
          <p:nvPr>
            <p:ph idx="1"/>
          </p:nvPr>
        </p:nvSpPr>
        <p:spPr>
          <a:xfrm>
            <a:off x="442800" y="1267200"/>
            <a:ext cx="11845888" cy="4895850"/>
          </a:xfrm>
        </p:spPr>
        <p:txBody>
          <a:bodyPr/>
          <a:lstStyle/>
          <a:p>
            <a:r>
              <a:rPr lang="zh-CN" altLang="en-US" b="1" dirty="0"/>
              <a:t>最初的 </a:t>
            </a:r>
            <a:r>
              <a:rPr lang="en-US" altLang="zh-CN" b="1" dirty="0">
                <a:solidFill>
                  <a:srgbClr val="C00000"/>
                </a:solidFill>
              </a:rPr>
              <a:t>ARPANET</a:t>
            </a:r>
            <a:r>
              <a:rPr lang="en-US" altLang="zh-CN" b="1" dirty="0"/>
              <a:t> </a:t>
            </a:r>
            <a:r>
              <a:rPr lang="zh-CN" altLang="en-US" b="1" dirty="0"/>
              <a:t>设计时提出了</a:t>
            </a:r>
            <a:r>
              <a:rPr lang="zh-CN" altLang="en-US" b="1" dirty="0">
                <a:solidFill>
                  <a:srgbClr val="0000FF"/>
                </a:solidFill>
              </a:rPr>
              <a:t>分层</a:t>
            </a:r>
            <a:r>
              <a:rPr lang="zh-CN" altLang="en-US" b="1" dirty="0"/>
              <a:t>的设计方法。</a:t>
            </a:r>
          </a:p>
          <a:p>
            <a:r>
              <a:rPr lang="zh-CN" altLang="en-US" b="1" dirty="0" smtClean="0">
                <a:solidFill>
                  <a:srgbClr val="C00000"/>
                </a:solidFill>
              </a:rPr>
              <a:t>分层</a:t>
            </a:r>
            <a:r>
              <a:rPr lang="zh-CN" altLang="en-US" b="1" dirty="0" smtClean="0"/>
              <a:t>可将</a:t>
            </a:r>
            <a:r>
              <a:rPr lang="zh-CN" altLang="en-US" b="1" dirty="0"/>
              <a:t>庞大而复杂的问题，转化为若干较小</a:t>
            </a:r>
            <a:r>
              <a:rPr lang="zh-CN" altLang="en-US" b="1" dirty="0" smtClean="0"/>
              <a:t>的简单问题</a:t>
            </a:r>
            <a:r>
              <a:rPr lang="zh-CN" altLang="en-US" b="1" dirty="0"/>
              <a:t>。</a:t>
            </a:r>
            <a:endParaRPr lang="en-US" altLang="zh-CN" b="1" dirty="0"/>
          </a:p>
          <a:p>
            <a:r>
              <a:rPr lang="en-US" altLang="zh-CN" b="1" dirty="0"/>
              <a:t>1974 </a:t>
            </a:r>
            <a:r>
              <a:rPr lang="zh-CN" altLang="en-US" b="1" dirty="0"/>
              <a:t>年，</a:t>
            </a:r>
            <a:r>
              <a:rPr lang="en-US" altLang="zh-CN" b="1" dirty="0"/>
              <a:t>IBM </a:t>
            </a:r>
            <a:r>
              <a:rPr lang="zh-CN" altLang="en-US" b="1" dirty="0"/>
              <a:t>按照分层的方法制定并提出了</a:t>
            </a:r>
            <a:r>
              <a:rPr lang="zh-CN" altLang="en-US" b="1" dirty="0">
                <a:solidFill>
                  <a:srgbClr val="C00000"/>
                </a:solidFill>
              </a:rPr>
              <a:t>系统网络体系结构 </a:t>
            </a:r>
            <a:r>
              <a:rPr lang="en-US" altLang="zh-CN" b="1" dirty="0">
                <a:solidFill>
                  <a:srgbClr val="C00000"/>
                </a:solidFill>
              </a:rPr>
              <a:t>SNA </a:t>
            </a:r>
            <a:r>
              <a:rPr lang="en-US" altLang="zh-CN" b="1" dirty="0"/>
              <a:t>(System Network Architecture)</a:t>
            </a:r>
            <a:r>
              <a:rPr lang="zh-CN" altLang="en-US" b="1" dirty="0"/>
              <a:t> 。</a:t>
            </a:r>
          </a:p>
          <a:p>
            <a:r>
              <a:rPr lang="zh-CN" altLang="en-US" b="1" dirty="0"/>
              <a:t>此后，其他一些公司也相继推出了具有不同名称的体系结构</a:t>
            </a:r>
            <a:r>
              <a:rPr lang="zh-CN" altLang="en-US" b="1" dirty="0" smtClean="0"/>
              <a:t>。</a:t>
            </a:r>
            <a:r>
              <a:rPr lang="zh-CN" altLang="en-US" b="1" dirty="0"/>
              <a:t>但由于网络体系结构的不同，不同公司的设备很难互相连通。</a:t>
            </a:r>
          </a:p>
          <a:p>
            <a:endParaRPr lang="zh-CN" altLang="en-US" b="1" dirty="0"/>
          </a:p>
          <a:p>
            <a:endParaRPr lang="zh-CN" altLang="en-US" sz="3600" b="1" dirty="0"/>
          </a:p>
        </p:txBody>
      </p:sp>
    </p:spTree>
    <p:extLst>
      <p:ext uri="{BB962C8B-B14F-4D97-AF65-F5344CB8AC3E}">
        <p14:creationId xmlns:p14="http://schemas.microsoft.com/office/powerpoint/2010/main" val="1451745712"/>
      </p:ext>
    </p:extLst>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1.7.1 </a:t>
            </a:r>
            <a:r>
              <a:rPr lang="zh-CN" altLang="en-US" dirty="0" smtClean="0"/>
              <a:t>计算机网络体系结构的形成</a:t>
            </a:r>
            <a:endParaRPr lang="zh-CN" altLang="en-US" dirty="0"/>
          </a:p>
        </p:txBody>
      </p:sp>
      <p:sp>
        <p:nvSpPr>
          <p:cNvPr id="3" name="内容占位符 2"/>
          <p:cNvSpPr>
            <a:spLocks noGrp="1"/>
          </p:cNvSpPr>
          <p:nvPr>
            <p:ph idx="1"/>
          </p:nvPr>
        </p:nvSpPr>
        <p:spPr/>
        <p:txBody>
          <a:bodyPr/>
          <a:lstStyle/>
          <a:p>
            <a:r>
              <a:rPr lang="zh-CN" altLang="en-US" b="1" dirty="0" smtClean="0"/>
              <a:t>为了使不同体系结构的计算机网络都能互连，</a:t>
            </a:r>
            <a:r>
              <a:rPr lang="en-US" altLang="zh-CN" b="1" dirty="0" smtClean="0"/>
              <a:t>ISO </a:t>
            </a:r>
            <a:r>
              <a:rPr lang="en-US" altLang="zh-CN" b="1" dirty="0"/>
              <a:t>(</a:t>
            </a:r>
            <a:r>
              <a:rPr lang="zh-CN" altLang="en-US" b="1" dirty="0"/>
              <a:t>国际标准化组织</a:t>
            </a:r>
            <a:r>
              <a:rPr lang="en-US" altLang="zh-CN" b="1" dirty="0"/>
              <a:t>) </a:t>
            </a:r>
            <a:r>
              <a:rPr lang="zh-CN" altLang="en-US" b="1" dirty="0" smtClean="0"/>
              <a:t>提出了 </a:t>
            </a:r>
            <a:r>
              <a:rPr lang="en-US" altLang="zh-CN" b="1" dirty="0">
                <a:solidFill>
                  <a:srgbClr val="C00000"/>
                </a:solidFill>
              </a:rPr>
              <a:t>OSI/RM</a:t>
            </a:r>
            <a:r>
              <a:rPr lang="en-US" altLang="zh-CN" b="1" dirty="0"/>
              <a:t> (Open Systems Interconnection Reference Model) </a:t>
            </a:r>
            <a:r>
              <a:rPr lang="zh-CN" altLang="en-US" b="1" dirty="0" smtClean="0">
                <a:solidFill>
                  <a:srgbClr val="C00000"/>
                </a:solidFill>
              </a:rPr>
              <a:t>标准</a:t>
            </a:r>
            <a:r>
              <a:rPr lang="zh-CN" altLang="en-US" b="1" dirty="0">
                <a:solidFill>
                  <a:srgbClr val="C00000"/>
                </a:solidFill>
              </a:rPr>
              <a:t>框架。</a:t>
            </a:r>
            <a:endParaRPr lang="en-US" altLang="zh-CN" b="1" dirty="0">
              <a:solidFill>
                <a:srgbClr val="C00000"/>
              </a:solidFill>
            </a:endParaRPr>
          </a:p>
          <a:p>
            <a:r>
              <a:rPr lang="en-US" altLang="zh-CN" b="1" dirty="0" smtClean="0"/>
              <a:t>1983</a:t>
            </a:r>
            <a:r>
              <a:rPr lang="zh-CN" altLang="en-US" b="1" dirty="0"/>
              <a:t>年，形成了著名的 </a:t>
            </a:r>
            <a:r>
              <a:rPr lang="en-US" altLang="zh-CN" b="1" dirty="0"/>
              <a:t>ISO 7498 </a:t>
            </a:r>
            <a:r>
              <a:rPr lang="zh-CN" altLang="en-US" b="1" dirty="0"/>
              <a:t>国际标准，即</a:t>
            </a:r>
            <a:r>
              <a:rPr lang="zh-CN" altLang="en-US" b="1" dirty="0">
                <a:solidFill>
                  <a:srgbClr val="C00000"/>
                </a:solidFill>
              </a:rPr>
              <a:t>七层协议的体系结构。</a:t>
            </a:r>
          </a:p>
          <a:p>
            <a:endParaRPr lang="zh-CN" altLang="en-US" b="1" dirty="0"/>
          </a:p>
          <a:p>
            <a:endParaRPr lang="zh-CN" altLang="en-US" sz="3600" b="1" dirty="0"/>
          </a:p>
        </p:txBody>
      </p:sp>
    </p:spTree>
    <p:extLst>
      <p:ext uri="{BB962C8B-B14F-4D97-AF65-F5344CB8AC3E}">
        <p14:creationId xmlns:p14="http://schemas.microsoft.com/office/powerpoint/2010/main" val="2710484629"/>
      </p:ext>
    </p:extLst>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1.7.1 </a:t>
            </a:r>
            <a:r>
              <a:rPr lang="zh-CN" altLang="en-US" dirty="0" smtClean="0"/>
              <a:t>计算机网络体系结构的形成</a:t>
            </a:r>
            <a:endParaRPr lang="zh-CN" altLang="en-US" dirty="0"/>
          </a:p>
        </p:txBody>
      </p:sp>
      <p:sp>
        <p:nvSpPr>
          <p:cNvPr id="3" name="内容占位符 2"/>
          <p:cNvSpPr>
            <a:spLocks noGrp="1"/>
          </p:cNvSpPr>
          <p:nvPr>
            <p:ph idx="1"/>
          </p:nvPr>
        </p:nvSpPr>
        <p:spPr>
          <a:xfrm>
            <a:off x="442800" y="1267200"/>
            <a:ext cx="11485848" cy="4895850"/>
          </a:xfrm>
        </p:spPr>
        <p:txBody>
          <a:bodyPr/>
          <a:lstStyle/>
          <a:p>
            <a:r>
              <a:rPr lang="en-US" altLang="zh-CN" sz="2800" b="1" dirty="0" smtClean="0"/>
              <a:t>OSI/RM </a:t>
            </a:r>
            <a:r>
              <a:rPr lang="zh-CN" altLang="en-US" sz="2800" b="1" dirty="0"/>
              <a:t>最终</a:t>
            </a:r>
            <a:r>
              <a:rPr lang="zh-CN" altLang="en-US" sz="2800" b="1" dirty="0" smtClean="0"/>
              <a:t>失败了，原因如下：</a:t>
            </a:r>
            <a:endParaRPr lang="en-US" altLang="zh-CN" sz="2800" b="1" dirty="0">
              <a:solidFill>
                <a:srgbClr val="C00000"/>
              </a:solidFill>
            </a:endParaRPr>
          </a:p>
          <a:p>
            <a:pPr lvl="1"/>
            <a:r>
              <a:rPr lang="zh-CN" altLang="en-US" sz="2400" b="1" dirty="0" smtClean="0">
                <a:solidFill>
                  <a:srgbClr val="0000FF"/>
                </a:solidFill>
              </a:rPr>
              <a:t>基于 </a:t>
            </a:r>
            <a:r>
              <a:rPr lang="en-US" altLang="zh-CN" sz="2400" b="1" dirty="0">
                <a:solidFill>
                  <a:srgbClr val="0000FF"/>
                </a:solidFill>
              </a:rPr>
              <a:t>TCP/IP </a:t>
            </a:r>
            <a:r>
              <a:rPr lang="zh-CN" altLang="en-US" sz="2400" b="1" dirty="0">
                <a:solidFill>
                  <a:srgbClr val="0000FF"/>
                </a:solidFill>
              </a:rPr>
              <a:t>的互联网已抢先在全球相当大的范围成功地运行</a:t>
            </a:r>
            <a:r>
              <a:rPr lang="zh-CN" altLang="en-US" sz="2400" b="1" dirty="0" smtClean="0">
                <a:solidFill>
                  <a:srgbClr val="0000FF"/>
                </a:solidFill>
              </a:rPr>
              <a:t>了；</a:t>
            </a:r>
            <a:endParaRPr lang="en-US" altLang="zh-CN" sz="2400" b="1" dirty="0">
              <a:solidFill>
                <a:srgbClr val="0000FF"/>
              </a:solidFill>
            </a:endParaRPr>
          </a:p>
          <a:p>
            <a:pPr lvl="1"/>
            <a:r>
              <a:rPr lang="en-US" altLang="zh-CN" sz="2400" b="1" dirty="0"/>
              <a:t>OSI </a:t>
            </a:r>
            <a:r>
              <a:rPr lang="zh-CN" altLang="en-US" sz="2400" b="1" dirty="0"/>
              <a:t>的</a:t>
            </a:r>
            <a:r>
              <a:rPr lang="zh-CN" altLang="en-US" sz="2400" b="1" dirty="0" smtClean="0"/>
              <a:t>专家们缺乏实际经验，在</a:t>
            </a:r>
            <a:r>
              <a:rPr lang="zh-CN" altLang="en-US" sz="2400" b="1" dirty="0"/>
              <a:t>完成 </a:t>
            </a:r>
            <a:r>
              <a:rPr lang="en-US" altLang="zh-CN" sz="2400" b="1" dirty="0"/>
              <a:t>OSI </a:t>
            </a:r>
            <a:r>
              <a:rPr lang="zh-CN" altLang="en-US" sz="2400" b="1" dirty="0"/>
              <a:t>标准时</a:t>
            </a:r>
            <a:r>
              <a:rPr lang="zh-CN" altLang="en-US" sz="2400" b="1" dirty="0">
                <a:solidFill>
                  <a:srgbClr val="C00000"/>
                </a:solidFill>
              </a:rPr>
              <a:t>没有商业驱动力；</a:t>
            </a:r>
          </a:p>
          <a:p>
            <a:pPr lvl="1"/>
            <a:r>
              <a:rPr lang="en-US" altLang="zh-CN" sz="2400" b="1" dirty="0"/>
              <a:t>OSI </a:t>
            </a:r>
            <a:r>
              <a:rPr lang="zh-CN" altLang="en-US" sz="2400" b="1" dirty="0"/>
              <a:t>的协议实现起来</a:t>
            </a:r>
            <a:r>
              <a:rPr lang="zh-CN" altLang="en-US" sz="2400" b="1" dirty="0">
                <a:solidFill>
                  <a:srgbClr val="C00000"/>
                </a:solidFill>
              </a:rPr>
              <a:t>过分复杂，</a:t>
            </a:r>
            <a:r>
              <a:rPr lang="zh-CN" altLang="en-US" sz="2400" b="1" dirty="0"/>
              <a:t>且运行效率很低；</a:t>
            </a:r>
          </a:p>
          <a:p>
            <a:pPr lvl="1"/>
            <a:r>
              <a:rPr lang="en-US" altLang="zh-CN" sz="2400" b="1" dirty="0"/>
              <a:t>OSI </a:t>
            </a:r>
            <a:r>
              <a:rPr lang="zh-CN" altLang="en-US" sz="2400" b="1" dirty="0"/>
              <a:t>标准的制定</a:t>
            </a:r>
            <a:r>
              <a:rPr lang="zh-CN" altLang="en-US" sz="2400" b="1" dirty="0">
                <a:solidFill>
                  <a:srgbClr val="C00000"/>
                </a:solidFill>
              </a:rPr>
              <a:t>周期太长，</a:t>
            </a:r>
            <a:r>
              <a:rPr lang="zh-CN" altLang="en-US" sz="2400" b="1" dirty="0"/>
              <a:t>使得按 </a:t>
            </a:r>
            <a:r>
              <a:rPr lang="en-US" altLang="zh-CN" sz="2400" b="1" dirty="0"/>
              <a:t>OSI </a:t>
            </a:r>
            <a:r>
              <a:rPr lang="zh-CN" altLang="en-US" sz="2400" b="1" dirty="0"/>
              <a:t>标准生产的设备无法及时进入市场；</a:t>
            </a:r>
          </a:p>
          <a:p>
            <a:pPr lvl="1"/>
            <a:r>
              <a:rPr lang="en-US" altLang="zh-CN" sz="2400" b="1" dirty="0"/>
              <a:t>OSI </a:t>
            </a:r>
            <a:r>
              <a:rPr lang="zh-CN" altLang="en-US" sz="2400" b="1" dirty="0"/>
              <a:t>的层次</a:t>
            </a:r>
            <a:r>
              <a:rPr lang="zh-CN" altLang="en-US" sz="2400" b="1" dirty="0" smtClean="0">
                <a:solidFill>
                  <a:srgbClr val="C00000"/>
                </a:solidFill>
              </a:rPr>
              <a:t>划分不</a:t>
            </a:r>
            <a:r>
              <a:rPr lang="zh-CN" altLang="en-US" sz="2400" b="1" dirty="0">
                <a:solidFill>
                  <a:srgbClr val="C00000"/>
                </a:solidFill>
              </a:rPr>
              <a:t>太合理，</a:t>
            </a:r>
            <a:r>
              <a:rPr lang="zh-CN" altLang="en-US" sz="2400" b="1" dirty="0"/>
              <a:t>有些功能在多个层次中重复出现。 </a:t>
            </a:r>
          </a:p>
          <a:p>
            <a:r>
              <a:rPr lang="zh-CN" altLang="en-US" sz="2800" b="1" dirty="0" smtClean="0"/>
              <a:t>虽然</a:t>
            </a:r>
            <a:r>
              <a:rPr lang="en-US" altLang="zh-CN" sz="2800" b="1" dirty="0" smtClean="0"/>
              <a:t>OSI</a:t>
            </a:r>
            <a:r>
              <a:rPr lang="zh-CN" altLang="en-US" sz="2800" b="1" dirty="0" smtClean="0"/>
              <a:t>是</a:t>
            </a:r>
            <a:r>
              <a:rPr lang="zh-CN" altLang="en-US" sz="2800" b="1" dirty="0" smtClean="0">
                <a:solidFill>
                  <a:srgbClr val="C00000"/>
                </a:solidFill>
              </a:rPr>
              <a:t>法律上的</a:t>
            </a:r>
            <a:r>
              <a:rPr lang="zh-CN" altLang="en-US" sz="2800" b="1" dirty="0" smtClean="0"/>
              <a:t>国际标准，但</a:t>
            </a:r>
            <a:r>
              <a:rPr lang="en-US" altLang="zh-CN" sz="2800" b="1" dirty="0" smtClean="0"/>
              <a:t>TCP/IP</a:t>
            </a:r>
            <a:r>
              <a:rPr lang="zh-CN" altLang="en-US" sz="2800" b="1" dirty="0"/>
              <a:t>却是</a:t>
            </a:r>
            <a:r>
              <a:rPr lang="zh-CN" altLang="en-US" sz="2800" b="1" dirty="0">
                <a:solidFill>
                  <a:srgbClr val="C00000"/>
                </a:solidFill>
              </a:rPr>
              <a:t>事实上</a:t>
            </a:r>
            <a:r>
              <a:rPr lang="zh-CN" altLang="en-US" sz="2800" b="1" dirty="0" smtClean="0">
                <a:solidFill>
                  <a:srgbClr val="C00000"/>
                </a:solidFill>
              </a:rPr>
              <a:t>的</a:t>
            </a:r>
            <a:r>
              <a:rPr lang="zh-CN" altLang="en-US" sz="2800" b="1" dirty="0" smtClean="0"/>
              <a:t>国际标准。</a:t>
            </a:r>
            <a:endParaRPr lang="zh-CN" altLang="en-US" sz="2800" b="1" dirty="0"/>
          </a:p>
          <a:p>
            <a:endParaRPr lang="en-US" altLang="zh-CN" sz="2800" b="1" dirty="0" smtClean="0"/>
          </a:p>
          <a:p>
            <a:endParaRPr lang="zh-CN" altLang="en-US" sz="2800" b="1" dirty="0" smtClean="0"/>
          </a:p>
          <a:p>
            <a:endParaRPr lang="zh-CN" altLang="en-US" sz="2800" b="1" dirty="0" smtClean="0"/>
          </a:p>
          <a:p>
            <a:endParaRPr lang="zh-CN" altLang="en-US" b="1" dirty="0"/>
          </a:p>
        </p:txBody>
      </p:sp>
    </p:spTree>
    <p:extLst>
      <p:ext uri="{BB962C8B-B14F-4D97-AF65-F5344CB8AC3E}">
        <p14:creationId xmlns:p14="http://schemas.microsoft.com/office/powerpoint/2010/main" val="1530325949"/>
      </p:ext>
    </p:extLst>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1.7.2 </a:t>
            </a:r>
            <a:r>
              <a:rPr lang="zh-CN" altLang="en-US" dirty="0" smtClean="0"/>
              <a:t>协议与划分层次</a:t>
            </a:r>
            <a:endParaRPr lang="zh-CN" altLang="en-US" dirty="0"/>
          </a:p>
        </p:txBody>
      </p:sp>
      <p:sp>
        <p:nvSpPr>
          <p:cNvPr id="3" name="内容占位符 2"/>
          <p:cNvSpPr>
            <a:spLocks noGrp="1"/>
          </p:cNvSpPr>
          <p:nvPr>
            <p:ph idx="1"/>
          </p:nvPr>
        </p:nvSpPr>
        <p:spPr/>
        <p:txBody>
          <a:bodyPr/>
          <a:lstStyle/>
          <a:p>
            <a:r>
              <a:rPr lang="zh-CN" altLang="en-US" b="1" dirty="0" smtClean="0"/>
              <a:t>在网络中交换数据，必须遵守相关的网络协议。</a:t>
            </a:r>
            <a:r>
              <a:rPr lang="zh-CN" altLang="en-US" b="1" dirty="0">
                <a:solidFill>
                  <a:srgbClr val="C00000"/>
                </a:solidFill>
              </a:rPr>
              <a:t>网络协议</a:t>
            </a:r>
            <a:r>
              <a:rPr lang="zh-CN" altLang="en-US" b="1" dirty="0"/>
              <a:t> </a:t>
            </a:r>
            <a:r>
              <a:rPr lang="en-US" altLang="zh-CN" b="1" dirty="0"/>
              <a:t>(network protocol)</a:t>
            </a:r>
            <a:r>
              <a:rPr lang="zh-CN" altLang="en-US" b="1" dirty="0"/>
              <a:t>，简称为</a:t>
            </a:r>
            <a:r>
              <a:rPr lang="zh-CN" altLang="en-US" b="1" dirty="0">
                <a:solidFill>
                  <a:srgbClr val="0000FF"/>
                </a:solidFill>
              </a:rPr>
              <a:t>协议</a:t>
            </a:r>
            <a:r>
              <a:rPr lang="zh-CN" altLang="en-US" b="1" dirty="0"/>
              <a:t>，是为进行网络中的数据交换而建立的规则、标准或约定。</a:t>
            </a:r>
            <a:endParaRPr lang="en-US" altLang="zh-CN" b="1" dirty="0"/>
          </a:p>
          <a:p>
            <a:r>
              <a:rPr lang="zh-CN" altLang="en-US" b="1" dirty="0" smtClean="0"/>
              <a:t>网络协议主要由以下三个要素</a:t>
            </a:r>
            <a:r>
              <a:rPr lang="zh-CN" altLang="en-US" b="1" dirty="0"/>
              <a:t>组成</a:t>
            </a:r>
            <a:r>
              <a:rPr lang="zh-CN" altLang="en-US" b="1" dirty="0" smtClean="0"/>
              <a:t>：</a:t>
            </a:r>
            <a:endParaRPr lang="zh-CN" altLang="en-US" b="1" dirty="0"/>
          </a:p>
          <a:p>
            <a:pPr lvl="1"/>
            <a:r>
              <a:rPr lang="zh-CN" altLang="en-US" b="1" dirty="0"/>
              <a:t>语法：数据与控制信息的结构或格式 ；</a:t>
            </a:r>
          </a:p>
          <a:p>
            <a:pPr lvl="1"/>
            <a:r>
              <a:rPr lang="zh-CN" altLang="en-US" b="1" dirty="0"/>
              <a:t>语义：需要发出何种控制信息，完成何种</a:t>
            </a:r>
            <a:r>
              <a:rPr lang="zh-CN" altLang="en-US" b="1" dirty="0" smtClean="0"/>
              <a:t>动作</a:t>
            </a:r>
            <a:r>
              <a:rPr lang="zh-CN" altLang="en-US" b="1" dirty="0"/>
              <a:t>，</a:t>
            </a:r>
            <a:r>
              <a:rPr lang="zh-CN" altLang="en-US" b="1" dirty="0" smtClean="0"/>
              <a:t>做出</a:t>
            </a:r>
            <a:r>
              <a:rPr lang="zh-CN" altLang="en-US" b="1" dirty="0"/>
              <a:t>何种</a:t>
            </a:r>
            <a:r>
              <a:rPr lang="zh-CN" altLang="en-US" b="1" dirty="0" smtClean="0"/>
              <a:t>响应； </a:t>
            </a:r>
            <a:endParaRPr lang="zh-CN" altLang="en-US" b="1" dirty="0"/>
          </a:p>
          <a:p>
            <a:pPr lvl="1"/>
            <a:r>
              <a:rPr lang="zh-CN" altLang="en-US" b="1" dirty="0"/>
              <a:t>同步：事件实现顺序的详细说明。 </a:t>
            </a:r>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Tree>
    <p:extLst>
      <p:ext uri="{BB962C8B-B14F-4D97-AF65-F5344CB8AC3E}">
        <p14:creationId xmlns:p14="http://schemas.microsoft.com/office/powerpoint/2010/main" val="389068120"/>
      </p:ext>
    </p:extLst>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1.7.2 </a:t>
            </a:r>
            <a:r>
              <a:rPr lang="zh-CN" altLang="en-US" dirty="0" smtClean="0"/>
              <a:t>协议与划分层次</a:t>
            </a:r>
            <a:endParaRPr lang="zh-CN" altLang="en-US" dirty="0"/>
          </a:p>
        </p:txBody>
      </p:sp>
      <p:sp>
        <p:nvSpPr>
          <p:cNvPr id="3" name="内容占位符 2"/>
          <p:cNvSpPr>
            <a:spLocks noGrp="1"/>
          </p:cNvSpPr>
          <p:nvPr>
            <p:ph idx="1"/>
          </p:nvPr>
        </p:nvSpPr>
        <p:spPr/>
        <p:txBody>
          <a:bodyPr/>
          <a:lstStyle/>
          <a:p>
            <a:r>
              <a:rPr lang="zh-CN" altLang="en-US" b="1" dirty="0" smtClean="0"/>
              <a:t>协议的两种形式：</a:t>
            </a:r>
          </a:p>
          <a:p>
            <a:endParaRPr lang="en-US" altLang="zh-CN" b="1" dirty="0" smtClean="0"/>
          </a:p>
          <a:p>
            <a:endParaRPr lang="zh-CN" altLang="en-US" b="1" dirty="0" smtClean="0"/>
          </a:p>
          <a:p>
            <a:endParaRPr lang="zh-CN" altLang="en-US" b="1" dirty="0" smtClean="0"/>
          </a:p>
          <a:p>
            <a:endParaRPr lang="zh-CN" altLang="en-US" sz="3600" b="1" dirty="0"/>
          </a:p>
        </p:txBody>
      </p:sp>
      <p:graphicFrame>
        <p:nvGraphicFramePr>
          <p:cNvPr id="4" name="内容占位符 7"/>
          <p:cNvGraphicFramePr>
            <a:graphicFrameLocks/>
          </p:cNvGraphicFramePr>
          <p:nvPr>
            <p:extLst>
              <p:ext uri="{D42A27DB-BD31-4B8C-83A1-F6EECF244321}">
                <p14:modId xmlns:p14="http://schemas.microsoft.com/office/powerpoint/2010/main" val="2666355978"/>
              </p:ext>
            </p:extLst>
          </p:nvPr>
        </p:nvGraphicFramePr>
        <p:xfrm>
          <a:off x="1199456" y="2276872"/>
          <a:ext cx="7272808" cy="1780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矩形 4"/>
          <p:cNvSpPr/>
          <p:nvPr/>
        </p:nvSpPr>
        <p:spPr>
          <a:xfrm>
            <a:off x="1227983" y="4469050"/>
            <a:ext cx="7892353" cy="954107"/>
          </a:xfrm>
          <a:prstGeom prst="rect">
            <a:avLst/>
          </a:prstGeom>
          <a:solidFill>
            <a:srgbClr val="339933"/>
          </a:solidFill>
          <a:ln>
            <a:noFill/>
          </a:ln>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zh-CN" altLang="en-US" sz="2800" b="1" dirty="0" smtClean="0">
                <a:latin typeface="微软雅黑" panose="020B0503020204020204" pitchFamily="34" charset="-122"/>
                <a:ea typeface="微软雅黑" panose="020B0503020204020204" pitchFamily="34" charset="-122"/>
              </a:rPr>
              <a:t>不论什么形式，都</a:t>
            </a:r>
            <a:r>
              <a:rPr lang="zh-CN" altLang="en-US" sz="2800" b="1" dirty="0">
                <a:latin typeface="微软雅黑" panose="020B0503020204020204" pitchFamily="34" charset="-122"/>
                <a:ea typeface="微软雅黑" panose="020B0503020204020204" pitchFamily="34" charset="-122"/>
              </a:rPr>
              <a:t>必须能够对网络上信息交换过程做出</a:t>
            </a:r>
            <a:r>
              <a:rPr lang="zh-CN" altLang="en-US" sz="2800" b="1" dirty="0">
                <a:solidFill>
                  <a:srgbClr val="FFFF00"/>
                </a:solidFill>
                <a:latin typeface="微软雅黑" panose="020B0503020204020204" pitchFamily="34" charset="-122"/>
                <a:ea typeface="微软雅黑" panose="020B0503020204020204" pitchFamily="34" charset="-122"/>
              </a:rPr>
              <a:t>精确的解释。</a:t>
            </a:r>
          </a:p>
        </p:txBody>
      </p:sp>
    </p:spTree>
    <p:extLst>
      <p:ext uri="{BB962C8B-B14F-4D97-AF65-F5344CB8AC3E}">
        <p14:creationId xmlns:p14="http://schemas.microsoft.com/office/powerpoint/2010/main" val="37765731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1.7.2 </a:t>
            </a:r>
            <a:r>
              <a:rPr lang="zh-CN" altLang="en-US" dirty="0" smtClean="0"/>
              <a:t>协议与划分层次</a:t>
            </a:r>
            <a:endParaRPr lang="zh-CN" altLang="en-US" dirty="0"/>
          </a:p>
        </p:txBody>
      </p:sp>
      <p:sp>
        <p:nvSpPr>
          <p:cNvPr id="3" name="内容占位符 2"/>
          <p:cNvSpPr>
            <a:spLocks noGrp="1"/>
          </p:cNvSpPr>
          <p:nvPr>
            <p:ph idx="1"/>
          </p:nvPr>
        </p:nvSpPr>
        <p:spPr/>
        <p:txBody>
          <a:bodyPr/>
          <a:lstStyle/>
          <a:p>
            <a:r>
              <a:rPr lang="zh-CN" altLang="en-US" b="1" dirty="0"/>
              <a:t>划分</a:t>
            </a:r>
            <a:r>
              <a:rPr lang="zh-CN" altLang="en-US" b="1" dirty="0" smtClean="0"/>
              <a:t>层次概念</a:t>
            </a:r>
            <a:r>
              <a:rPr lang="zh-CN" altLang="en-US" b="1" dirty="0"/>
              <a:t>举例：两台主机通过网络传送文件</a:t>
            </a:r>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6" name="圆角矩形 5"/>
          <p:cNvSpPr/>
          <p:nvPr/>
        </p:nvSpPr>
        <p:spPr>
          <a:xfrm>
            <a:off x="914473" y="2060848"/>
            <a:ext cx="9429999"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7" name="Rectangle 16"/>
          <p:cNvSpPr>
            <a:spLocks noChangeArrowheads="1"/>
          </p:cNvSpPr>
          <p:nvPr/>
        </p:nvSpPr>
        <p:spPr bwMode="auto">
          <a:xfrm>
            <a:off x="7325622" y="3351654"/>
            <a:ext cx="1602459" cy="576182"/>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2350664" y="3351654"/>
            <a:ext cx="1602459" cy="576182"/>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9" name="Text Box 5"/>
          <p:cNvSpPr txBox="1">
            <a:spLocks noChangeArrowheads="1"/>
          </p:cNvSpPr>
          <p:nvPr/>
        </p:nvSpPr>
        <p:spPr bwMode="auto">
          <a:xfrm>
            <a:off x="2331349" y="3415139"/>
            <a:ext cx="1639860" cy="44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0" name="Text Box 6"/>
          <p:cNvSpPr txBox="1">
            <a:spLocks noChangeArrowheads="1"/>
          </p:cNvSpPr>
          <p:nvPr/>
        </p:nvSpPr>
        <p:spPr bwMode="auto">
          <a:xfrm>
            <a:off x="2719689" y="2847504"/>
            <a:ext cx="9332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1C1C1C"/>
                </a:solidFill>
                <a:latin typeface="微软雅黑" panose="020B0503020204020204" pitchFamily="34" charset="-122"/>
                <a:ea typeface="微软雅黑" panose="020B0503020204020204" pitchFamily="34" charset="-122"/>
              </a:rPr>
              <a:t>主机 </a:t>
            </a:r>
            <a:r>
              <a:rPr lang="en-US" altLang="zh-CN" sz="2000" b="1" dirty="0">
                <a:solidFill>
                  <a:srgbClr val="1C1C1C"/>
                </a:solidFill>
                <a:latin typeface="微软雅黑" panose="020B0503020204020204" pitchFamily="34" charset="-122"/>
                <a:ea typeface="微软雅黑" panose="020B0503020204020204" pitchFamily="34" charset="-122"/>
              </a:rPr>
              <a:t>1</a:t>
            </a:r>
          </a:p>
        </p:txBody>
      </p:sp>
      <p:sp>
        <p:nvSpPr>
          <p:cNvPr id="11" name="Text Box 9"/>
          <p:cNvSpPr txBox="1">
            <a:spLocks noChangeArrowheads="1"/>
          </p:cNvSpPr>
          <p:nvPr/>
        </p:nvSpPr>
        <p:spPr bwMode="auto">
          <a:xfrm>
            <a:off x="7696473" y="2847504"/>
            <a:ext cx="9332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1C1C1C"/>
                </a:solidFill>
                <a:latin typeface="微软雅黑" panose="020B0503020204020204" pitchFamily="34" charset="-122"/>
                <a:ea typeface="微软雅黑" panose="020B0503020204020204" pitchFamily="34" charset="-122"/>
              </a:rPr>
              <a:t>主机 </a:t>
            </a:r>
            <a:r>
              <a:rPr lang="en-US" altLang="zh-CN" sz="2000" b="1" dirty="0">
                <a:solidFill>
                  <a:srgbClr val="1C1C1C"/>
                </a:solidFill>
                <a:latin typeface="微软雅黑" panose="020B0503020204020204" pitchFamily="34" charset="-122"/>
                <a:ea typeface="微软雅黑" panose="020B0503020204020204" pitchFamily="34" charset="-122"/>
              </a:rPr>
              <a:t>2</a:t>
            </a:r>
          </a:p>
        </p:txBody>
      </p:sp>
      <p:sp>
        <p:nvSpPr>
          <p:cNvPr id="12" name="Text Box 10"/>
          <p:cNvSpPr txBox="1">
            <a:spLocks noChangeArrowheads="1"/>
          </p:cNvSpPr>
          <p:nvPr/>
        </p:nvSpPr>
        <p:spPr bwMode="auto">
          <a:xfrm>
            <a:off x="7306293" y="3415139"/>
            <a:ext cx="1641700" cy="44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13" name="Line 11"/>
          <p:cNvSpPr>
            <a:spLocks noChangeShapeType="1"/>
          </p:cNvSpPr>
          <p:nvPr/>
        </p:nvSpPr>
        <p:spPr bwMode="auto">
          <a:xfrm>
            <a:off x="3952805" y="3676168"/>
            <a:ext cx="3343355"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Text Box 12"/>
          <p:cNvSpPr txBox="1">
            <a:spLocks noChangeArrowheads="1"/>
          </p:cNvSpPr>
          <p:nvPr/>
        </p:nvSpPr>
        <p:spPr bwMode="auto">
          <a:xfrm>
            <a:off x="4382979" y="3244915"/>
            <a:ext cx="249299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文件及文件传送命令</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sp>
        <p:nvSpPr>
          <p:cNvPr id="15" name="Line 17"/>
          <p:cNvSpPr>
            <a:spLocks noChangeShapeType="1"/>
          </p:cNvSpPr>
          <p:nvPr/>
        </p:nvSpPr>
        <p:spPr bwMode="auto">
          <a:xfrm>
            <a:off x="1919084" y="4059424"/>
            <a:ext cx="7398693"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20"/>
          <p:cNvSpPr txBox="1">
            <a:spLocks noChangeArrowheads="1"/>
          </p:cNvSpPr>
          <p:nvPr/>
        </p:nvSpPr>
        <p:spPr bwMode="auto">
          <a:xfrm>
            <a:off x="1924399" y="4302682"/>
            <a:ext cx="249299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0000FF"/>
                </a:solidFill>
                <a:latin typeface="微软雅黑" panose="020B0503020204020204" pitchFamily="34" charset="-122"/>
                <a:ea typeface="微软雅黑" panose="020B0503020204020204" pitchFamily="34" charset="-122"/>
              </a:rPr>
              <a:t>把文件交给下层模块</a:t>
            </a:r>
          </a:p>
          <a:p>
            <a:pPr algn="ctr"/>
            <a:r>
              <a:rPr lang="zh-CN" altLang="en-US" sz="2000" b="1" dirty="0">
                <a:solidFill>
                  <a:srgbClr val="0000FF"/>
                </a:solidFill>
                <a:latin typeface="微软雅黑" panose="020B0503020204020204" pitchFamily="34" charset="-122"/>
                <a:ea typeface="微软雅黑" panose="020B0503020204020204" pitchFamily="34" charset="-122"/>
              </a:rPr>
              <a:t>进行发送</a:t>
            </a:r>
          </a:p>
        </p:txBody>
      </p:sp>
      <p:sp>
        <p:nvSpPr>
          <p:cNvPr id="17" name="Text Box 21"/>
          <p:cNvSpPr txBox="1">
            <a:spLocks noChangeArrowheads="1"/>
          </p:cNvSpPr>
          <p:nvPr/>
        </p:nvSpPr>
        <p:spPr bwMode="auto">
          <a:xfrm>
            <a:off x="7019011" y="4302682"/>
            <a:ext cx="223651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0000FF"/>
                </a:solidFill>
                <a:latin typeface="微软雅黑" panose="020B0503020204020204" pitchFamily="34" charset="-122"/>
                <a:ea typeface="微软雅黑" panose="020B0503020204020204" pitchFamily="34" charset="-122"/>
              </a:rPr>
              <a:t>把收到的文件交给</a:t>
            </a:r>
          </a:p>
          <a:p>
            <a:pPr algn="ctr"/>
            <a:r>
              <a:rPr lang="zh-CN" altLang="en-US" sz="2000" b="1" dirty="0">
                <a:solidFill>
                  <a:srgbClr val="0000FF"/>
                </a:solidFill>
                <a:latin typeface="微软雅黑" panose="020B0503020204020204" pitchFamily="34" charset="-122"/>
                <a:ea typeface="微软雅黑" panose="020B0503020204020204" pitchFamily="34" charset="-122"/>
              </a:rPr>
              <a:t>上层模块</a:t>
            </a:r>
          </a:p>
        </p:txBody>
      </p:sp>
      <p:sp>
        <p:nvSpPr>
          <p:cNvPr id="18" name="矩形 17"/>
          <p:cNvSpPr/>
          <p:nvPr/>
        </p:nvSpPr>
        <p:spPr>
          <a:xfrm>
            <a:off x="3127983" y="2169083"/>
            <a:ext cx="501228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smtClean="0">
                <a:solidFill>
                  <a:srgbClr val="0000FF"/>
                </a:solidFill>
                <a:latin typeface="微软雅黑" panose="020B0503020204020204" pitchFamily="34" charset="-122"/>
                <a:ea typeface="微软雅黑" panose="020B0503020204020204" pitchFamily="34" charset="-122"/>
              </a:rPr>
              <a:t>1.</a:t>
            </a:r>
            <a:r>
              <a:rPr lang="zh-CN" altLang="en-US" sz="2000" b="1" dirty="0" smtClean="0">
                <a:solidFill>
                  <a:srgbClr val="0000FF"/>
                </a:solidFill>
                <a:latin typeface="微软雅黑" panose="020B0503020204020204" pitchFamily="34" charset="-122"/>
                <a:ea typeface="微软雅黑" panose="020B0503020204020204" pitchFamily="34" charset="-122"/>
              </a:rPr>
              <a:t>将</a:t>
            </a:r>
            <a:r>
              <a:rPr lang="zh-CN" altLang="en-US" sz="2000" b="1" dirty="0">
                <a:solidFill>
                  <a:srgbClr val="C00000"/>
                </a:solidFill>
                <a:latin typeface="微软雅黑" panose="020B0503020204020204" pitchFamily="34" charset="-122"/>
                <a:ea typeface="微软雅黑" panose="020B0503020204020204" pitchFamily="34" charset="-122"/>
              </a:rPr>
              <a:t>文件传送模块</a:t>
            </a:r>
            <a:r>
              <a:rPr lang="zh-CN" altLang="en-US" sz="2000" b="1" dirty="0">
                <a:solidFill>
                  <a:srgbClr val="0000FF"/>
                </a:solidFill>
                <a:latin typeface="微软雅黑" panose="020B0503020204020204" pitchFamily="34" charset="-122"/>
                <a:ea typeface="微软雅黑" panose="020B0503020204020204" pitchFamily="34" charset="-122"/>
              </a:rPr>
              <a:t>作为最高的一层</a:t>
            </a:r>
          </a:p>
        </p:txBody>
      </p:sp>
      <p:sp>
        <p:nvSpPr>
          <p:cNvPr id="19" name="上下箭头 18"/>
          <p:cNvSpPr/>
          <p:nvPr/>
        </p:nvSpPr>
        <p:spPr>
          <a:xfrm>
            <a:off x="3058670" y="3836547"/>
            <a:ext cx="216355" cy="451106"/>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0" name="上下箭头 19"/>
          <p:cNvSpPr/>
          <p:nvPr/>
        </p:nvSpPr>
        <p:spPr>
          <a:xfrm>
            <a:off x="8028966" y="3836547"/>
            <a:ext cx="216355" cy="451106"/>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24475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childTnLst>
                          </p:cTn>
                        </p:par>
                        <p:par>
                          <p:cTn id="8" fill="hold">
                            <p:stCondLst>
                              <p:cond delay="500"/>
                            </p:stCondLst>
                            <p:childTnLst>
                              <p:par>
                                <p:cTn id="9" presetID="22" presetClass="entr" presetSubtype="4"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wipe(down)">
                                      <p:cBhvr>
                                        <p:cTn id="11" dur="500"/>
                                        <p:tgtEl>
                                          <p:spTgt spid="17"/>
                                        </p:tgtEl>
                                      </p:cBhvr>
                                    </p:animEffect>
                                  </p:childTnLst>
                                </p:cTn>
                              </p:par>
                            </p:childTnLst>
                          </p:cTn>
                        </p:par>
                        <p:par>
                          <p:cTn id="12" fill="hold">
                            <p:stCondLst>
                              <p:cond delay="1500"/>
                            </p:stCondLst>
                            <p:childTnLst>
                              <p:par>
                                <p:cTn id="13" presetID="22" presetClass="entr" presetSubtype="8" fill="hold" grpId="0" nodeType="afterEffect">
                                  <p:stCondLst>
                                    <p:cond delay="100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par>
                                <p:cTn id="16" presetID="22" presetClass="entr" presetSubtype="8" fill="hold" grpId="0" nodeType="withEffect">
                                  <p:stCondLst>
                                    <p:cond delay="100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6" grpId="0"/>
      <p:bldP spid="1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1.7.2 </a:t>
            </a:r>
            <a:r>
              <a:rPr lang="zh-CN" altLang="en-US" dirty="0" smtClean="0"/>
              <a:t>协议与划分层次</a:t>
            </a:r>
            <a:endParaRPr lang="zh-CN" altLang="en-US" dirty="0"/>
          </a:p>
        </p:txBody>
      </p:sp>
      <p:sp>
        <p:nvSpPr>
          <p:cNvPr id="3" name="内容占位符 2"/>
          <p:cNvSpPr>
            <a:spLocks noGrp="1"/>
          </p:cNvSpPr>
          <p:nvPr>
            <p:ph idx="1"/>
          </p:nvPr>
        </p:nvSpPr>
        <p:spPr/>
        <p:txBody>
          <a:bodyPr/>
          <a:lstStyle/>
          <a:p>
            <a:r>
              <a:rPr lang="zh-CN" altLang="en-US" b="1" dirty="0"/>
              <a:t>划分</a:t>
            </a:r>
            <a:r>
              <a:rPr lang="zh-CN" altLang="en-US" b="1" dirty="0" smtClean="0"/>
              <a:t>层次概念</a:t>
            </a:r>
            <a:r>
              <a:rPr lang="zh-CN" altLang="en-US" b="1" dirty="0"/>
              <a:t>举例：两台主机通过网络传送文件</a:t>
            </a:r>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21" name="圆角矩形 20"/>
          <p:cNvSpPr/>
          <p:nvPr/>
        </p:nvSpPr>
        <p:spPr>
          <a:xfrm>
            <a:off x="911424" y="2060848"/>
            <a:ext cx="9433048"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22" name="Rectangle 16"/>
          <p:cNvSpPr>
            <a:spLocks noChangeArrowheads="1"/>
          </p:cNvSpPr>
          <p:nvPr/>
        </p:nvSpPr>
        <p:spPr bwMode="auto">
          <a:xfrm>
            <a:off x="7315092" y="3351654"/>
            <a:ext cx="1602978" cy="576182"/>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3" name="Rectangle 15"/>
          <p:cNvSpPr>
            <a:spLocks noChangeArrowheads="1"/>
          </p:cNvSpPr>
          <p:nvPr/>
        </p:nvSpPr>
        <p:spPr bwMode="auto">
          <a:xfrm>
            <a:off x="2348079" y="3351654"/>
            <a:ext cx="1602978" cy="576182"/>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24" name="Text Box 5"/>
          <p:cNvSpPr txBox="1">
            <a:spLocks noChangeArrowheads="1"/>
          </p:cNvSpPr>
          <p:nvPr/>
        </p:nvSpPr>
        <p:spPr bwMode="auto">
          <a:xfrm>
            <a:off x="2328758" y="3415139"/>
            <a:ext cx="1640390" cy="44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25" name="Text Box 6"/>
          <p:cNvSpPr txBox="1">
            <a:spLocks noChangeArrowheads="1"/>
          </p:cNvSpPr>
          <p:nvPr/>
        </p:nvSpPr>
        <p:spPr bwMode="auto">
          <a:xfrm>
            <a:off x="2717224" y="2847504"/>
            <a:ext cx="926496" cy="42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1C1C1C"/>
                </a:solidFill>
                <a:latin typeface="微软雅黑" panose="020B0503020204020204" pitchFamily="34" charset="-122"/>
                <a:ea typeface="微软雅黑" panose="020B0503020204020204" pitchFamily="34" charset="-122"/>
              </a:rPr>
              <a:t>主机 </a:t>
            </a:r>
            <a:r>
              <a:rPr lang="en-US" altLang="zh-CN" sz="2000" b="1" dirty="0">
                <a:solidFill>
                  <a:srgbClr val="1C1C1C"/>
                </a:solidFill>
                <a:latin typeface="微软雅黑" panose="020B0503020204020204" pitchFamily="34" charset="-122"/>
                <a:ea typeface="微软雅黑" panose="020B0503020204020204" pitchFamily="34" charset="-122"/>
              </a:rPr>
              <a:t>1</a:t>
            </a:r>
          </a:p>
        </p:txBody>
      </p:sp>
      <p:sp>
        <p:nvSpPr>
          <p:cNvPr id="26" name="Text Box 9"/>
          <p:cNvSpPr txBox="1">
            <a:spLocks noChangeArrowheads="1"/>
          </p:cNvSpPr>
          <p:nvPr/>
        </p:nvSpPr>
        <p:spPr bwMode="auto">
          <a:xfrm>
            <a:off x="7686063" y="2847504"/>
            <a:ext cx="926496" cy="421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1C1C1C"/>
                </a:solidFill>
                <a:latin typeface="微软雅黑" panose="020B0503020204020204" pitchFamily="34" charset="-122"/>
                <a:ea typeface="微软雅黑" panose="020B0503020204020204" pitchFamily="34" charset="-122"/>
              </a:rPr>
              <a:t>主机 </a:t>
            </a:r>
            <a:r>
              <a:rPr lang="en-US" altLang="zh-CN" sz="2000" b="1" dirty="0">
                <a:solidFill>
                  <a:srgbClr val="1C1C1C"/>
                </a:solidFill>
                <a:latin typeface="微软雅黑" panose="020B0503020204020204" pitchFamily="34" charset="-122"/>
                <a:ea typeface="微软雅黑" panose="020B0503020204020204" pitchFamily="34" charset="-122"/>
              </a:rPr>
              <a:t>2</a:t>
            </a:r>
          </a:p>
        </p:txBody>
      </p:sp>
      <p:sp>
        <p:nvSpPr>
          <p:cNvPr id="27" name="Text Box 10"/>
          <p:cNvSpPr txBox="1">
            <a:spLocks noChangeArrowheads="1"/>
          </p:cNvSpPr>
          <p:nvPr/>
        </p:nvSpPr>
        <p:spPr bwMode="auto">
          <a:xfrm>
            <a:off x="7295757" y="3415139"/>
            <a:ext cx="1642231" cy="44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28" name="矩形 27"/>
          <p:cNvSpPr/>
          <p:nvPr/>
        </p:nvSpPr>
        <p:spPr>
          <a:xfrm>
            <a:off x="3125649" y="2169083"/>
            <a:ext cx="5013901" cy="4219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smtClean="0">
                <a:solidFill>
                  <a:srgbClr val="0000FF"/>
                </a:solidFill>
                <a:latin typeface="微软雅黑" panose="020B0503020204020204" pitchFamily="34" charset="-122"/>
                <a:ea typeface="微软雅黑" panose="020B0503020204020204" pitchFamily="34" charset="-122"/>
              </a:rPr>
              <a:t>2</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dirty="0" smtClean="0">
                <a:solidFill>
                  <a:srgbClr val="0000FF"/>
                </a:solidFill>
                <a:latin typeface="微软雅黑" panose="020B0503020204020204" pitchFamily="34" charset="-122"/>
                <a:ea typeface="微软雅黑" panose="020B0503020204020204" pitchFamily="34" charset="-122"/>
              </a:rPr>
              <a:t>再</a:t>
            </a:r>
            <a:r>
              <a:rPr lang="zh-CN" altLang="en-US" sz="2000" b="1" dirty="0">
                <a:solidFill>
                  <a:srgbClr val="0000FF"/>
                </a:solidFill>
                <a:latin typeface="微软雅黑" panose="020B0503020204020204" pitchFamily="34" charset="-122"/>
                <a:ea typeface="微软雅黑" panose="020B0503020204020204" pitchFamily="34" charset="-122"/>
              </a:rPr>
              <a:t>设计一个</a:t>
            </a:r>
            <a:r>
              <a:rPr lang="zh-CN" altLang="en-US" sz="2000" b="1" dirty="0">
                <a:solidFill>
                  <a:srgbClr val="C00000"/>
                </a:solidFill>
                <a:latin typeface="微软雅黑" panose="020B0503020204020204" pitchFamily="34" charset="-122"/>
                <a:ea typeface="微软雅黑" panose="020B0503020204020204" pitchFamily="34" charset="-122"/>
              </a:rPr>
              <a:t>通信服务</a:t>
            </a:r>
            <a:r>
              <a:rPr lang="zh-CN" altLang="en-US" sz="2000" b="1" dirty="0" smtClean="0">
                <a:solidFill>
                  <a:srgbClr val="C00000"/>
                </a:solidFill>
                <a:latin typeface="微软雅黑" panose="020B0503020204020204" pitchFamily="34" charset="-122"/>
                <a:ea typeface="微软雅黑" panose="020B0503020204020204" pitchFamily="34" charset="-122"/>
              </a:rPr>
              <a:t>模块</a:t>
            </a:r>
            <a:r>
              <a:rPr lang="zh-CN" altLang="en-US" sz="2000" b="1" dirty="0" smtClean="0">
                <a:solidFill>
                  <a:srgbClr val="0000FF"/>
                </a:solidFill>
                <a:latin typeface="微软雅黑" panose="020B0503020204020204" pitchFamily="34" charset="-122"/>
                <a:ea typeface="微软雅黑" panose="020B0503020204020204" pitchFamily="34" charset="-122"/>
              </a:rPr>
              <a:t>层</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
        <p:nvSpPr>
          <p:cNvPr id="29" name="Line 11"/>
          <p:cNvSpPr>
            <a:spLocks noChangeShapeType="1"/>
          </p:cNvSpPr>
          <p:nvPr/>
        </p:nvSpPr>
        <p:spPr bwMode="auto">
          <a:xfrm>
            <a:off x="3966144" y="4478876"/>
            <a:ext cx="3329612"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12"/>
          <p:cNvSpPr txBox="1">
            <a:spLocks noChangeArrowheads="1"/>
          </p:cNvSpPr>
          <p:nvPr/>
        </p:nvSpPr>
        <p:spPr bwMode="auto">
          <a:xfrm>
            <a:off x="4447098" y="4037002"/>
            <a:ext cx="2236511"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与通信有关的报文</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sp>
        <p:nvSpPr>
          <p:cNvPr id="31" name="Line 17"/>
          <p:cNvSpPr>
            <a:spLocks noChangeShapeType="1"/>
          </p:cNvSpPr>
          <p:nvPr/>
        </p:nvSpPr>
        <p:spPr bwMode="auto">
          <a:xfrm>
            <a:off x="1931767" y="4927336"/>
            <a:ext cx="7401085" cy="0"/>
          </a:xfrm>
          <a:prstGeom prst="line">
            <a:avLst/>
          </a:prstGeom>
          <a:noFill/>
          <a:ln w="38100">
            <a:solidFill>
              <a:srgbClr val="7A9AE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0"/>
          <p:cNvSpPr txBox="1">
            <a:spLocks noChangeArrowheads="1"/>
          </p:cNvSpPr>
          <p:nvPr/>
        </p:nvSpPr>
        <p:spPr bwMode="auto">
          <a:xfrm>
            <a:off x="1918882" y="5185640"/>
            <a:ext cx="249299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smtClean="0">
                <a:solidFill>
                  <a:srgbClr val="0000FF"/>
                </a:solidFill>
                <a:latin typeface="微软雅黑" panose="020B0503020204020204" pitchFamily="34" charset="-122"/>
                <a:ea typeface="微软雅黑" panose="020B0503020204020204" pitchFamily="34" charset="-122"/>
              </a:rPr>
              <a:t>把</a:t>
            </a:r>
            <a:r>
              <a:rPr lang="zh-CN" altLang="en-US" sz="2000" b="1" dirty="0">
                <a:solidFill>
                  <a:srgbClr val="0000FF"/>
                </a:solidFill>
                <a:latin typeface="微软雅黑" panose="020B0503020204020204" pitchFamily="34" charset="-122"/>
                <a:ea typeface="微软雅黑" panose="020B0503020204020204" pitchFamily="34" charset="-122"/>
              </a:rPr>
              <a:t>报</a:t>
            </a:r>
            <a:r>
              <a:rPr lang="zh-CN" altLang="en-US" sz="2000" b="1" dirty="0" smtClean="0">
                <a:solidFill>
                  <a:srgbClr val="0000FF"/>
                </a:solidFill>
                <a:latin typeface="微软雅黑" panose="020B0503020204020204" pitchFamily="34" charset="-122"/>
                <a:ea typeface="微软雅黑" panose="020B0503020204020204" pitchFamily="34" charset="-122"/>
              </a:rPr>
              <a:t>文交给</a:t>
            </a:r>
            <a:r>
              <a:rPr lang="zh-CN" altLang="en-US" sz="2000" b="1" dirty="0">
                <a:solidFill>
                  <a:srgbClr val="0000FF"/>
                </a:solidFill>
                <a:latin typeface="微软雅黑" panose="020B0503020204020204" pitchFamily="34" charset="-122"/>
                <a:ea typeface="微软雅黑" panose="020B0503020204020204" pitchFamily="34" charset="-122"/>
              </a:rPr>
              <a:t>下层模块</a:t>
            </a:r>
          </a:p>
          <a:p>
            <a:pPr algn="ctr"/>
            <a:r>
              <a:rPr lang="zh-CN" altLang="en-US" sz="2000" b="1" dirty="0">
                <a:solidFill>
                  <a:srgbClr val="0000FF"/>
                </a:solidFill>
                <a:latin typeface="微软雅黑" panose="020B0503020204020204" pitchFamily="34" charset="-122"/>
                <a:ea typeface="微软雅黑" panose="020B0503020204020204" pitchFamily="34" charset="-122"/>
              </a:rPr>
              <a:t>进行发送</a:t>
            </a:r>
          </a:p>
        </p:txBody>
      </p:sp>
      <p:sp>
        <p:nvSpPr>
          <p:cNvPr id="33" name="Text Box 21"/>
          <p:cNvSpPr txBox="1">
            <a:spLocks noChangeArrowheads="1"/>
          </p:cNvSpPr>
          <p:nvPr/>
        </p:nvSpPr>
        <p:spPr bwMode="auto">
          <a:xfrm>
            <a:off x="7014849" y="5185640"/>
            <a:ext cx="223651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a:solidFill>
                  <a:srgbClr val="0000FF"/>
                </a:solidFill>
                <a:latin typeface="微软雅黑" panose="020B0503020204020204" pitchFamily="34" charset="-122"/>
                <a:ea typeface="微软雅黑" panose="020B0503020204020204" pitchFamily="34" charset="-122"/>
              </a:rPr>
              <a:t>把收到</a:t>
            </a:r>
            <a:r>
              <a:rPr lang="zh-CN" altLang="en-US" sz="2000" b="1" dirty="0" smtClean="0">
                <a:solidFill>
                  <a:srgbClr val="0000FF"/>
                </a:solidFill>
                <a:latin typeface="微软雅黑" panose="020B0503020204020204" pitchFamily="34" charset="-122"/>
                <a:ea typeface="微软雅黑" panose="020B0503020204020204" pitchFamily="34" charset="-122"/>
              </a:rPr>
              <a:t>的报文交给</a:t>
            </a:r>
            <a:endParaRPr lang="zh-CN" altLang="en-US" sz="2000" b="1" dirty="0">
              <a:solidFill>
                <a:srgbClr val="0000FF"/>
              </a:solidFill>
              <a:latin typeface="微软雅黑" panose="020B0503020204020204" pitchFamily="34" charset="-122"/>
              <a:ea typeface="微软雅黑" panose="020B0503020204020204" pitchFamily="34" charset="-122"/>
            </a:endParaRPr>
          </a:p>
          <a:p>
            <a:pPr algn="ctr"/>
            <a:r>
              <a:rPr lang="zh-CN" altLang="en-US" sz="2000" b="1" dirty="0">
                <a:solidFill>
                  <a:srgbClr val="0000FF"/>
                </a:solidFill>
                <a:latin typeface="微软雅黑" panose="020B0503020204020204" pitchFamily="34" charset="-122"/>
                <a:ea typeface="微软雅黑" panose="020B0503020204020204" pitchFamily="34" charset="-122"/>
              </a:rPr>
              <a:t>上层模块</a:t>
            </a:r>
          </a:p>
        </p:txBody>
      </p:sp>
      <p:sp>
        <p:nvSpPr>
          <p:cNvPr id="34" name="Rectangle 16"/>
          <p:cNvSpPr>
            <a:spLocks noChangeArrowheads="1"/>
          </p:cNvSpPr>
          <p:nvPr/>
        </p:nvSpPr>
        <p:spPr bwMode="auto">
          <a:xfrm>
            <a:off x="7330652" y="4199799"/>
            <a:ext cx="1602978" cy="576182"/>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5" name="Rectangle 15"/>
          <p:cNvSpPr>
            <a:spLocks noChangeArrowheads="1"/>
          </p:cNvSpPr>
          <p:nvPr/>
        </p:nvSpPr>
        <p:spPr bwMode="auto">
          <a:xfrm>
            <a:off x="2363639" y="4199799"/>
            <a:ext cx="1602978" cy="576182"/>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6" name="Text Box 5"/>
          <p:cNvSpPr txBox="1">
            <a:spLocks noChangeArrowheads="1"/>
          </p:cNvSpPr>
          <p:nvPr/>
        </p:nvSpPr>
        <p:spPr bwMode="auto">
          <a:xfrm>
            <a:off x="2344165" y="4269638"/>
            <a:ext cx="1642231" cy="441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7" name="Text Box 10"/>
          <p:cNvSpPr txBox="1">
            <a:spLocks noChangeArrowheads="1"/>
          </p:cNvSpPr>
          <p:nvPr/>
        </p:nvSpPr>
        <p:spPr bwMode="auto">
          <a:xfrm>
            <a:off x="7311164" y="4269638"/>
            <a:ext cx="1642231" cy="441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38" name="上下箭头 37"/>
          <p:cNvSpPr/>
          <p:nvPr/>
        </p:nvSpPr>
        <p:spPr>
          <a:xfrm>
            <a:off x="3056314" y="3836547"/>
            <a:ext cx="216425" cy="451106"/>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39" name="上下箭头 38"/>
          <p:cNvSpPr/>
          <p:nvPr/>
        </p:nvSpPr>
        <p:spPr>
          <a:xfrm>
            <a:off x="8018663" y="3836547"/>
            <a:ext cx="216425" cy="451106"/>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0" name="上下箭头 39"/>
          <p:cNvSpPr/>
          <p:nvPr/>
        </p:nvSpPr>
        <p:spPr>
          <a:xfrm>
            <a:off x="3056314" y="4710055"/>
            <a:ext cx="216425" cy="451106"/>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1" name="上下箭头 40"/>
          <p:cNvSpPr/>
          <p:nvPr/>
        </p:nvSpPr>
        <p:spPr>
          <a:xfrm>
            <a:off x="8018663" y="4710055"/>
            <a:ext cx="216425" cy="451106"/>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2" name="Line 11"/>
          <p:cNvSpPr>
            <a:spLocks noChangeShapeType="1"/>
          </p:cNvSpPr>
          <p:nvPr/>
        </p:nvSpPr>
        <p:spPr bwMode="auto">
          <a:xfrm>
            <a:off x="3950737" y="3676168"/>
            <a:ext cx="3345019"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12"/>
          <p:cNvSpPr txBox="1">
            <a:spLocks noChangeArrowheads="1"/>
          </p:cNvSpPr>
          <p:nvPr/>
        </p:nvSpPr>
        <p:spPr bwMode="auto">
          <a:xfrm>
            <a:off x="4381452" y="3244915"/>
            <a:ext cx="2492990"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文件及文件传送命令</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622425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par>
                          <p:cTn id="8" fill="hold">
                            <p:stCondLst>
                              <p:cond delay="500"/>
                            </p:stCondLst>
                            <p:childTnLst>
                              <p:par>
                                <p:cTn id="9" presetID="22" presetClass="entr" presetSubtype="4" fill="hold" grpId="0" nodeType="afterEffect">
                                  <p:stCondLst>
                                    <p:cond delay="1000"/>
                                  </p:stCondLst>
                                  <p:childTnLst>
                                    <p:set>
                                      <p:cBhvr>
                                        <p:cTn id="10" dur="1" fill="hold">
                                          <p:stCondLst>
                                            <p:cond delay="0"/>
                                          </p:stCondLst>
                                        </p:cTn>
                                        <p:tgtEl>
                                          <p:spTgt spid="33"/>
                                        </p:tgtEl>
                                        <p:attrNameLst>
                                          <p:attrName>style.visibility</p:attrName>
                                        </p:attrNameLst>
                                      </p:cBhvr>
                                      <p:to>
                                        <p:strVal val="visible"/>
                                      </p:to>
                                    </p:set>
                                    <p:animEffect transition="in" filter="wipe(down)">
                                      <p:cBhvr>
                                        <p:cTn id="11" dur="500"/>
                                        <p:tgtEl>
                                          <p:spTgt spid="33"/>
                                        </p:tgtEl>
                                      </p:cBhvr>
                                    </p:animEffect>
                                  </p:childTnLst>
                                </p:cTn>
                              </p:par>
                            </p:childTnLst>
                          </p:cTn>
                        </p:par>
                        <p:par>
                          <p:cTn id="12" fill="hold">
                            <p:stCondLst>
                              <p:cond delay="2000"/>
                            </p:stCondLst>
                            <p:childTnLst>
                              <p:par>
                                <p:cTn id="13" presetID="22" presetClass="entr" presetSubtype="8" fill="hold" grpId="0" nodeType="afterEffect">
                                  <p:stCondLst>
                                    <p:cond delay="1000"/>
                                  </p:stCondLst>
                                  <p:childTnLst>
                                    <p:set>
                                      <p:cBhvr>
                                        <p:cTn id="14" dur="1" fill="hold">
                                          <p:stCondLst>
                                            <p:cond delay="0"/>
                                          </p:stCondLst>
                                        </p:cTn>
                                        <p:tgtEl>
                                          <p:spTgt spid="30"/>
                                        </p:tgtEl>
                                        <p:attrNameLst>
                                          <p:attrName>style.visibility</p:attrName>
                                        </p:attrNameLst>
                                      </p:cBhvr>
                                      <p:to>
                                        <p:strVal val="visible"/>
                                      </p:to>
                                    </p:set>
                                    <p:animEffect transition="in" filter="wipe(left)">
                                      <p:cBhvr>
                                        <p:cTn id="15" dur="500"/>
                                        <p:tgtEl>
                                          <p:spTgt spid="30"/>
                                        </p:tgtEl>
                                      </p:cBhvr>
                                    </p:animEffect>
                                  </p:childTnLst>
                                </p:cTn>
                              </p:par>
                              <p:par>
                                <p:cTn id="16" presetID="22" presetClass="entr" presetSubtype="8" fill="hold" grpId="0" nodeType="withEffect">
                                  <p:stCondLst>
                                    <p:cond delay="1000"/>
                                  </p:stCondLst>
                                  <p:childTnLst>
                                    <p:set>
                                      <p:cBhvr>
                                        <p:cTn id="17" dur="1" fill="hold">
                                          <p:stCondLst>
                                            <p:cond delay="0"/>
                                          </p:stCondLst>
                                        </p:cTn>
                                        <p:tgtEl>
                                          <p:spTgt spid="29"/>
                                        </p:tgtEl>
                                        <p:attrNameLst>
                                          <p:attrName>style.visibility</p:attrName>
                                        </p:attrNameLst>
                                      </p:cBhvr>
                                      <p:to>
                                        <p:strVal val="visible"/>
                                      </p:to>
                                    </p:set>
                                    <p:animEffect transition="in" filter="wipe(left)">
                                      <p:cBhvr>
                                        <p:cTn id="1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2" grpId="0"/>
      <p:bldP spid="3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1.7.2 </a:t>
            </a:r>
            <a:r>
              <a:rPr lang="zh-CN" altLang="en-US" dirty="0" smtClean="0"/>
              <a:t>协议与划分层次</a:t>
            </a:r>
            <a:endParaRPr lang="zh-CN" altLang="en-US" dirty="0"/>
          </a:p>
        </p:txBody>
      </p:sp>
      <p:sp>
        <p:nvSpPr>
          <p:cNvPr id="3" name="内容占位符 2"/>
          <p:cNvSpPr>
            <a:spLocks noGrp="1"/>
          </p:cNvSpPr>
          <p:nvPr>
            <p:ph idx="1"/>
          </p:nvPr>
        </p:nvSpPr>
        <p:spPr/>
        <p:txBody>
          <a:bodyPr/>
          <a:lstStyle/>
          <a:p>
            <a:r>
              <a:rPr lang="zh-CN" altLang="en-US" b="1" dirty="0"/>
              <a:t>划分</a:t>
            </a:r>
            <a:r>
              <a:rPr lang="zh-CN" altLang="en-US" b="1" dirty="0" smtClean="0"/>
              <a:t>层次概念</a:t>
            </a:r>
            <a:r>
              <a:rPr lang="zh-CN" altLang="en-US" b="1" dirty="0"/>
              <a:t>举例：两台主机通过网络传送文件</a:t>
            </a:r>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grpSp>
        <p:nvGrpSpPr>
          <p:cNvPr id="2" name="组合 1"/>
          <p:cNvGrpSpPr/>
          <p:nvPr/>
        </p:nvGrpSpPr>
        <p:grpSpPr>
          <a:xfrm>
            <a:off x="911424" y="2060849"/>
            <a:ext cx="9433048" cy="3828617"/>
            <a:chOff x="505072" y="1170432"/>
            <a:chExt cx="8133855" cy="2933846"/>
          </a:xfrm>
        </p:grpSpPr>
        <p:sp>
          <p:nvSpPr>
            <p:cNvPr id="44" name="圆角矩形 43"/>
            <p:cNvSpPr/>
            <p:nvPr/>
          </p:nvSpPr>
          <p:spPr>
            <a:xfrm>
              <a:off x="505072" y="1170432"/>
              <a:ext cx="8133855" cy="293384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000" b="1" dirty="0">
                <a:solidFill>
                  <a:schemeClr val="bg1"/>
                </a:solidFill>
                <a:ea typeface="微软雅黑" panose="020B0503020204020204" pitchFamily="34" charset="-122"/>
              </a:endParaRPr>
            </a:p>
          </p:txBody>
        </p:sp>
        <p:sp>
          <p:nvSpPr>
            <p:cNvPr id="45" name="Rectangle 16"/>
            <p:cNvSpPr>
              <a:spLocks noChangeArrowheads="1"/>
            </p:cNvSpPr>
            <p:nvPr/>
          </p:nvSpPr>
          <p:spPr bwMode="auto">
            <a:xfrm>
              <a:off x="6026777"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6" name="Rectangle 15"/>
            <p:cNvSpPr>
              <a:spLocks noChangeArrowheads="1"/>
            </p:cNvSpPr>
            <p:nvPr/>
          </p:nvSpPr>
          <p:spPr bwMode="auto">
            <a:xfrm>
              <a:off x="1743860" y="2159569"/>
              <a:ext cx="1382203" cy="441525"/>
            </a:xfrm>
            <a:prstGeom prst="rect">
              <a:avLst/>
            </a:prstGeom>
            <a:solidFill>
              <a:srgbClr val="1956B9"/>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47" name="Text Box 5"/>
            <p:cNvSpPr txBox="1">
              <a:spLocks noChangeArrowheads="1"/>
            </p:cNvSpPr>
            <p:nvPr/>
          </p:nvSpPr>
          <p:spPr bwMode="auto">
            <a:xfrm>
              <a:off x="1727200" y="2208217"/>
              <a:ext cx="1414463"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48" name="Text Box 6"/>
            <p:cNvSpPr txBox="1">
              <a:spLocks noChangeArrowheads="1"/>
            </p:cNvSpPr>
            <p:nvPr/>
          </p:nvSpPr>
          <p:spPr bwMode="auto">
            <a:xfrm>
              <a:off x="2062163" y="1773242"/>
              <a:ext cx="806930" cy="292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1C1C1C"/>
                  </a:solidFill>
                  <a:latin typeface="微软雅黑" panose="020B0503020204020204" pitchFamily="34" charset="-122"/>
                  <a:ea typeface="微软雅黑" panose="020B0503020204020204" pitchFamily="34" charset="-122"/>
                </a:rPr>
                <a:t>主机 </a:t>
              </a:r>
              <a:r>
                <a:rPr lang="en-US" altLang="zh-CN" sz="2000" b="1" dirty="0">
                  <a:solidFill>
                    <a:srgbClr val="1C1C1C"/>
                  </a:solidFill>
                  <a:latin typeface="微软雅黑" panose="020B0503020204020204" pitchFamily="34" charset="-122"/>
                  <a:ea typeface="微软雅黑" panose="020B0503020204020204" pitchFamily="34" charset="-122"/>
                </a:rPr>
                <a:t>1</a:t>
              </a:r>
            </a:p>
          </p:txBody>
        </p:sp>
        <p:sp>
          <p:nvSpPr>
            <p:cNvPr id="49" name="Text Box 9"/>
            <p:cNvSpPr txBox="1">
              <a:spLocks noChangeArrowheads="1"/>
            </p:cNvSpPr>
            <p:nvPr/>
          </p:nvSpPr>
          <p:spPr bwMode="auto">
            <a:xfrm>
              <a:off x="6346655" y="1773242"/>
              <a:ext cx="806930" cy="2921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1C1C1C"/>
                  </a:solidFill>
                  <a:latin typeface="微软雅黑" panose="020B0503020204020204" pitchFamily="34" charset="-122"/>
                  <a:ea typeface="微软雅黑" panose="020B0503020204020204" pitchFamily="34" charset="-122"/>
                </a:rPr>
                <a:t>主机 </a:t>
              </a:r>
              <a:r>
                <a:rPr lang="en-US" altLang="zh-CN" sz="2000" b="1" dirty="0">
                  <a:solidFill>
                    <a:srgbClr val="1C1C1C"/>
                  </a:solidFill>
                  <a:latin typeface="微软雅黑" panose="020B0503020204020204" pitchFamily="34" charset="-122"/>
                  <a:ea typeface="微软雅黑" panose="020B0503020204020204" pitchFamily="34" charset="-122"/>
                </a:rPr>
                <a:t>2</a:t>
              </a:r>
            </a:p>
          </p:txBody>
        </p:sp>
        <p:sp>
          <p:nvSpPr>
            <p:cNvPr id="50" name="Text Box 10"/>
            <p:cNvSpPr txBox="1">
              <a:spLocks noChangeArrowheads="1"/>
            </p:cNvSpPr>
            <p:nvPr/>
          </p:nvSpPr>
          <p:spPr bwMode="auto">
            <a:xfrm>
              <a:off x="6010105" y="2208217"/>
              <a:ext cx="1416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文件传送模块</a:t>
              </a:r>
            </a:p>
          </p:txBody>
        </p:sp>
        <p:sp>
          <p:nvSpPr>
            <p:cNvPr id="51" name="矩形 50"/>
            <p:cNvSpPr/>
            <p:nvPr/>
          </p:nvSpPr>
          <p:spPr>
            <a:xfrm>
              <a:off x="2414337" y="1253372"/>
              <a:ext cx="4323347" cy="29213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zh-CN" sz="2000" b="1" dirty="0" smtClean="0">
                  <a:solidFill>
                    <a:srgbClr val="0000FF"/>
                  </a:solidFill>
                  <a:latin typeface="微软雅黑" panose="020B0503020204020204" pitchFamily="34" charset="-122"/>
                  <a:ea typeface="微软雅黑" panose="020B0503020204020204" pitchFamily="34" charset="-122"/>
                </a:rPr>
                <a:t>3</a:t>
              </a:r>
              <a:r>
                <a:rPr lang="en-US" altLang="zh-CN" sz="2000" b="1" dirty="0">
                  <a:solidFill>
                    <a:srgbClr val="0000FF"/>
                  </a:solidFill>
                  <a:latin typeface="微软雅黑" panose="020B0503020204020204" pitchFamily="34" charset="-122"/>
                  <a:ea typeface="微软雅黑" panose="020B0503020204020204" pitchFamily="34" charset="-122"/>
                </a:rPr>
                <a:t>.</a:t>
              </a:r>
              <a:r>
                <a:rPr lang="zh-CN" altLang="en-US" sz="2000" b="1" dirty="0" smtClean="0">
                  <a:solidFill>
                    <a:srgbClr val="0000FF"/>
                  </a:solidFill>
                  <a:latin typeface="微软雅黑" panose="020B0503020204020204" pitchFamily="34" charset="-122"/>
                  <a:ea typeface="微软雅黑" panose="020B0503020204020204" pitchFamily="34" charset="-122"/>
                </a:rPr>
                <a:t>再</a:t>
              </a:r>
              <a:r>
                <a:rPr lang="zh-CN" altLang="en-US" sz="2000" b="1" dirty="0">
                  <a:solidFill>
                    <a:srgbClr val="0000FF"/>
                  </a:solidFill>
                  <a:latin typeface="微软雅黑" panose="020B0503020204020204" pitchFamily="34" charset="-122"/>
                  <a:ea typeface="微软雅黑" panose="020B0503020204020204" pitchFamily="34" charset="-122"/>
                </a:rPr>
                <a:t>设计一</a:t>
              </a:r>
              <a:r>
                <a:rPr lang="zh-CN" altLang="en-US" sz="2000" b="1" dirty="0" smtClean="0">
                  <a:solidFill>
                    <a:srgbClr val="0000FF"/>
                  </a:solidFill>
                  <a:latin typeface="微软雅黑" panose="020B0503020204020204" pitchFamily="34" charset="-122"/>
                  <a:ea typeface="微软雅黑" panose="020B0503020204020204" pitchFamily="34" charset="-122"/>
                </a:rPr>
                <a:t>个</a:t>
              </a:r>
              <a:r>
                <a:rPr lang="zh-CN" altLang="en-US" sz="2000" b="1" dirty="0" smtClean="0">
                  <a:solidFill>
                    <a:srgbClr val="C00000"/>
                  </a:solidFill>
                  <a:latin typeface="微软雅黑" panose="020B0503020204020204" pitchFamily="34" charset="-122"/>
                  <a:ea typeface="微软雅黑" panose="020B0503020204020204" pitchFamily="34" charset="-122"/>
                </a:rPr>
                <a:t>网络</a:t>
              </a:r>
              <a:r>
                <a:rPr lang="zh-CN" altLang="en-US" sz="2000" b="1" dirty="0">
                  <a:solidFill>
                    <a:srgbClr val="C00000"/>
                  </a:solidFill>
                  <a:latin typeface="微软雅黑" panose="020B0503020204020204" pitchFamily="34" charset="-122"/>
                  <a:ea typeface="微软雅黑" panose="020B0503020204020204" pitchFamily="34" charset="-122"/>
                </a:rPr>
                <a:t>接入模块</a:t>
              </a:r>
              <a:r>
                <a:rPr lang="zh-CN" altLang="en-US" sz="2000" b="1" dirty="0" smtClean="0">
                  <a:solidFill>
                    <a:srgbClr val="0000FF"/>
                  </a:solidFill>
                  <a:latin typeface="微软雅黑" panose="020B0503020204020204" pitchFamily="34" charset="-122"/>
                  <a:ea typeface="微软雅黑" panose="020B0503020204020204" pitchFamily="34" charset="-122"/>
                </a:rPr>
                <a:t>层</a:t>
              </a:r>
              <a:endParaRPr lang="zh-CN" altLang="en-US" sz="2000" b="1" dirty="0">
                <a:solidFill>
                  <a:srgbClr val="0000FF"/>
                </a:solidFill>
                <a:latin typeface="微软雅黑" panose="020B0503020204020204" pitchFamily="34" charset="-122"/>
                <a:ea typeface="微软雅黑" panose="020B0503020204020204" pitchFamily="34" charset="-122"/>
              </a:endParaRPr>
            </a:p>
          </p:txBody>
        </p:sp>
        <p:sp>
          <p:nvSpPr>
            <p:cNvPr id="52" name="Line 11"/>
            <p:cNvSpPr>
              <a:spLocks noChangeShapeType="1"/>
            </p:cNvSpPr>
            <p:nvPr/>
          </p:nvSpPr>
          <p:spPr bwMode="auto">
            <a:xfrm>
              <a:off x="3139072" y="3023352"/>
              <a:ext cx="2884318"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Text Box 12"/>
            <p:cNvSpPr txBox="1">
              <a:spLocks noChangeArrowheads="1"/>
            </p:cNvSpPr>
            <p:nvPr/>
          </p:nvSpPr>
          <p:spPr bwMode="auto">
            <a:xfrm>
              <a:off x="3553785" y="2684746"/>
              <a:ext cx="1928481" cy="3066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与通信有关的报文</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sp>
          <p:nvSpPr>
            <p:cNvPr id="54" name="Line 17"/>
            <p:cNvSpPr>
              <a:spLocks noChangeShapeType="1"/>
            </p:cNvSpPr>
            <p:nvPr/>
          </p:nvSpPr>
          <p:spPr bwMode="auto">
            <a:xfrm>
              <a:off x="2638926" y="3735970"/>
              <a:ext cx="4243138" cy="0"/>
            </a:xfrm>
            <a:prstGeom prst="line">
              <a:avLst/>
            </a:prstGeom>
            <a:noFill/>
            <a:ln w="38100">
              <a:solidFill>
                <a:srgbClr val="00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Rectangle 16"/>
            <p:cNvSpPr>
              <a:spLocks noChangeArrowheads="1"/>
            </p:cNvSpPr>
            <p:nvPr/>
          </p:nvSpPr>
          <p:spPr bwMode="auto">
            <a:xfrm>
              <a:off x="6040194"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6" name="Rectangle 15"/>
            <p:cNvSpPr>
              <a:spLocks noChangeArrowheads="1"/>
            </p:cNvSpPr>
            <p:nvPr/>
          </p:nvSpPr>
          <p:spPr bwMode="auto">
            <a:xfrm>
              <a:off x="1757277" y="2809497"/>
              <a:ext cx="1382203" cy="441525"/>
            </a:xfrm>
            <a:prstGeom prst="rect">
              <a:avLst/>
            </a:prstGeom>
            <a:solidFill>
              <a:srgbClr val="339933"/>
            </a:solidFill>
            <a:ln w="28575">
              <a:solidFill>
                <a:srgbClr val="339933"/>
              </a:solid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7" name="Text Box 5"/>
            <p:cNvSpPr txBox="1">
              <a:spLocks noChangeArrowheads="1"/>
            </p:cNvSpPr>
            <p:nvPr/>
          </p:nvSpPr>
          <p:spPr bwMode="auto">
            <a:xfrm>
              <a:off x="1740485"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8" name="Text Box 10"/>
            <p:cNvSpPr txBox="1">
              <a:spLocks noChangeArrowheads="1"/>
            </p:cNvSpPr>
            <p:nvPr/>
          </p:nvSpPr>
          <p:spPr bwMode="auto">
            <a:xfrm>
              <a:off x="6023390" y="2863014"/>
              <a:ext cx="1416050"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通信服务模块</a:t>
              </a:r>
            </a:p>
          </p:txBody>
        </p:sp>
        <p:sp>
          <p:nvSpPr>
            <p:cNvPr id="59" name="上下箭头 58"/>
            <p:cNvSpPr/>
            <p:nvPr/>
          </p:nvSpPr>
          <p:spPr>
            <a:xfrm>
              <a:off x="2354551"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0" name="上下箭头 59"/>
            <p:cNvSpPr/>
            <p:nvPr/>
          </p:nvSpPr>
          <p:spPr>
            <a:xfrm>
              <a:off x="6633447" y="2531139"/>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1" name="Rectangle 16"/>
            <p:cNvSpPr>
              <a:spLocks noChangeArrowheads="1"/>
            </p:cNvSpPr>
            <p:nvPr/>
          </p:nvSpPr>
          <p:spPr bwMode="auto">
            <a:xfrm>
              <a:off x="6048215"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2" name="Rectangle 15"/>
            <p:cNvSpPr>
              <a:spLocks noChangeArrowheads="1"/>
            </p:cNvSpPr>
            <p:nvPr/>
          </p:nvSpPr>
          <p:spPr bwMode="auto">
            <a:xfrm>
              <a:off x="1765298" y="3506827"/>
              <a:ext cx="1382203" cy="441525"/>
            </a:xfrm>
            <a:prstGeom prst="rect">
              <a:avLst/>
            </a:prstGeom>
            <a:solidFill>
              <a:srgbClr val="7030A0"/>
            </a:solidFill>
            <a:ln w="28575">
              <a:noFill/>
              <a:miter lim="800000"/>
            </a:ln>
            <a:effectLst/>
            <a:scene3d>
              <a:camera prst="orthographicFront">
                <a:rot lat="0" lon="0" rev="0"/>
              </a:camera>
              <a:lightRig rig="glow" dir="t">
                <a:rot lat="0" lon="0" rev="14100000"/>
              </a:lightRig>
            </a:scene3d>
            <a:sp3d prstMaterial="softEdge">
              <a:bevelT w="127000" prst="artDeco"/>
            </a:sp3d>
          </p:spPr>
          <p:txBody>
            <a:bodyPr wrap="none" anchor="ctr"/>
            <a:lstStyle/>
            <a:p>
              <a:pPr fontAlgn="auto">
                <a:spcBef>
                  <a:spcPts val="0"/>
                </a:spcBef>
                <a:spcAft>
                  <a:spcPts val="0"/>
                </a:spcAft>
                <a:defRPr/>
              </a:pPr>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3" name="Text Box 5"/>
            <p:cNvSpPr txBox="1">
              <a:spLocks noChangeArrowheads="1"/>
            </p:cNvSpPr>
            <p:nvPr/>
          </p:nvSpPr>
          <p:spPr bwMode="auto">
            <a:xfrm>
              <a:off x="1748506"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64" name="Text Box 10"/>
            <p:cNvSpPr txBox="1">
              <a:spLocks noChangeArrowheads="1"/>
            </p:cNvSpPr>
            <p:nvPr/>
          </p:nvSpPr>
          <p:spPr bwMode="auto">
            <a:xfrm>
              <a:off x="6031411" y="3568196"/>
              <a:ext cx="14160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1600" b="1">
                  <a:solidFill>
                    <a:schemeClr val="bg1"/>
                  </a:solidFill>
                  <a:latin typeface="微软雅黑" panose="020B0503020204020204" pitchFamily="34" charset="-122"/>
                  <a:ea typeface="微软雅黑" panose="020B0503020204020204" pitchFamily="34" charset="-122"/>
                </a:rPr>
                <a:t>网络接入模块</a:t>
              </a:r>
            </a:p>
          </p:txBody>
        </p:sp>
        <p:sp>
          <p:nvSpPr>
            <p:cNvPr id="65" name="Text Box 6"/>
            <p:cNvSpPr txBox="1">
              <a:spLocks noChangeArrowheads="1"/>
            </p:cNvSpPr>
            <p:nvPr/>
          </p:nvSpPr>
          <p:spPr bwMode="auto">
            <a:xfrm>
              <a:off x="3129714" y="3357886"/>
              <a:ext cx="470132" cy="382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1C1C1C"/>
                  </a:solidFill>
                  <a:latin typeface="微软雅黑" panose="020B0503020204020204" pitchFamily="34" charset="-122"/>
                  <a:ea typeface="微软雅黑" panose="020B0503020204020204" pitchFamily="34" charset="-122"/>
                </a:rPr>
                <a:t>网络</a:t>
              </a:r>
              <a:endParaRPr lang="en-US" altLang="zh-CN" sz="1400" b="1" dirty="0">
                <a:solidFill>
                  <a:srgbClr val="1C1C1C"/>
                </a:solidFill>
                <a:latin typeface="微软雅黑" panose="020B0503020204020204" pitchFamily="34" charset="-122"/>
                <a:ea typeface="微软雅黑" panose="020B0503020204020204" pitchFamily="34" charset="-122"/>
              </a:endParaRPr>
            </a:p>
            <a:p>
              <a:r>
                <a:rPr lang="zh-CN" altLang="en-US" sz="1400" b="1" dirty="0">
                  <a:solidFill>
                    <a:srgbClr val="1C1C1C"/>
                  </a:solidFill>
                  <a:latin typeface="微软雅黑" panose="020B0503020204020204" pitchFamily="34" charset="-122"/>
                  <a:ea typeface="微软雅黑" panose="020B0503020204020204" pitchFamily="34" charset="-122"/>
                </a:rPr>
                <a:t>接口</a:t>
              </a:r>
              <a:endParaRPr lang="en-US" altLang="zh-CN" sz="1400" b="1" dirty="0">
                <a:solidFill>
                  <a:srgbClr val="1C1C1C"/>
                </a:solidFill>
                <a:latin typeface="微软雅黑" panose="020B0503020204020204" pitchFamily="34" charset="-122"/>
                <a:ea typeface="微软雅黑" panose="020B0503020204020204" pitchFamily="34" charset="-122"/>
              </a:endParaRPr>
            </a:p>
          </p:txBody>
        </p:sp>
        <p:sp>
          <p:nvSpPr>
            <p:cNvPr id="66" name="Text Box 6"/>
            <p:cNvSpPr txBox="1">
              <a:spLocks noChangeArrowheads="1"/>
            </p:cNvSpPr>
            <p:nvPr/>
          </p:nvSpPr>
          <p:spPr bwMode="auto">
            <a:xfrm>
              <a:off x="5577469" y="3357886"/>
              <a:ext cx="470132" cy="382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1400" b="1" dirty="0">
                  <a:solidFill>
                    <a:srgbClr val="1C1C1C"/>
                  </a:solidFill>
                  <a:latin typeface="微软雅黑" panose="020B0503020204020204" pitchFamily="34" charset="-122"/>
                  <a:ea typeface="微软雅黑" panose="020B0503020204020204" pitchFamily="34" charset="-122"/>
                </a:rPr>
                <a:t>网络</a:t>
              </a:r>
              <a:endParaRPr lang="en-US" altLang="zh-CN" sz="1400" b="1" dirty="0">
                <a:solidFill>
                  <a:srgbClr val="1C1C1C"/>
                </a:solidFill>
                <a:latin typeface="微软雅黑" panose="020B0503020204020204" pitchFamily="34" charset="-122"/>
                <a:ea typeface="微软雅黑" panose="020B0503020204020204" pitchFamily="34" charset="-122"/>
              </a:endParaRPr>
            </a:p>
            <a:p>
              <a:r>
                <a:rPr lang="zh-CN" altLang="en-US" sz="1400" b="1" dirty="0">
                  <a:solidFill>
                    <a:srgbClr val="1C1C1C"/>
                  </a:solidFill>
                  <a:latin typeface="微软雅黑" panose="020B0503020204020204" pitchFamily="34" charset="-122"/>
                  <a:ea typeface="微软雅黑" panose="020B0503020204020204" pitchFamily="34" charset="-122"/>
                </a:rPr>
                <a:t>接口</a:t>
              </a:r>
              <a:endParaRPr lang="en-US" altLang="zh-CN" sz="1400" b="1" dirty="0">
                <a:solidFill>
                  <a:srgbClr val="1C1C1C"/>
                </a:solidFill>
                <a:latin typeface="微软雅黑" panose="020B0503020204020204" pitchFamily="34" charset="-122"/>
                <a:ea typeface="微软雅黑" panose="020B0503020204020204" pitchFamily="34" charset="-122"/>
              </a:endParaRPr>
            </a:p>
          </p:txBody>
        </p:sp>
        <p:sp>
          <p:nvSpPr>
            <p:cNvPr id="67" name="上下箭头 66"/>
            <p:cNvSpPr/>
            <p:nvPr/>
          </p:nvSpPr>
          <p:spPr>
            <a:xfrm>
              <a:off x="2354551"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8" name="上下箭头 67"/>
            <p:cNvSpPr/>
            <p:nvPr/>
          </p:nvSpPr>
          <p:spPr>
            <a:xfrm>
              <a:off x="6633447" y="3200503"/>
              <a:ext cx="186617" cy="345680"/>
            </a:xfrm>
            <a:prstGeom prst="upDownArrow">
              <a:avLst/>
            </a:prstGeom>
            <a:solidFill>
              <a:srgbClr val="00FFFF"/>
            </a:solidFill>
            <a:ln w="19050">
              <a:solidFill>
                <a:srgbClr val="0000FF"/>
              </a:solidFill>
              <a:miter lim="800000"/>
            </a:ln>
          </p:spPr>
          <p:txBody>
            <a:bodyPr vert="eaVert"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69" name="Line 11"/>
            <p:cNvSpPr>
              <a:spLocks noChangeShapeType="1"/>
            </p:cNvSpPr>
            <p:nvPr/>
          </p:nvSpPr>
          <p:spPr bwMode="auto">
            <a:xfrm>
              <a:off x="3125787" y="2408242"/>
              <a:ext cx="2884317" cy="0"/>
            </a:xfrm>
            <a:prstGeom prst="line">
              <a:avLst/>
            </a:prstGeom>
            <a:noFill/>
            <a:ln w="57150">
              <a:solidFill>
                <a:srgbClr val="FF00FF"/>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 name="Text Box 12"/>
            <p:cNvSpPr txBox="1">
              <a:spLocks noChangeArrowheads="1"/>
            </p:cNvSpPr>
            <p:nvPr/>
          </p:nvSpPr>
          <p:spPr bwMode="auto">
            <a:xfrm>
              <a:off x="3497184" y="2077774"/>
              <a:ext cx="2149636" cy="3066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lang="zh-CN" altLang="en-US" sz="2000" b="1" dirty="0" smtClean="0">
                  <a:solidFill>
                    <a:srgbClr val="1C1C1C"/>
                  </a:solidFill>
                  <a:latin typeface="微软雅黑" panose="020B0503020204020204" pitchFamily="34" charset="-122"/>
                  <a:ea typeface="微软雅黑" panose="020B0503020204020204" pitchFamily="34" charset="-122"/>
                </a:rPr>
                <a:t>文件及文件传送命令</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grpSp>
          <p:nvGrpSpPr>
            <p:cNvPr id="71" name="Group 6"/>
            <p:cNvGrpSpPr/>
            <p:nvPr/>
          </p:nvGrpSpPr>
          <p:grpSpPr bwMode="auto">
            <a:xfrm>
              <a:off x="3819512" y="3373343"/>
              <a:ext cx="1501300" cy="646662"/>
              <a:chOff x="1680" y="240"/>
              <a:chExt cx="2529" cy="1270"/>
            </a:xfrm>
            <a:solidFill>
              <a:schemeClr val="bg1">
                <a:lumMod val="85000"/>
              </a:schemeClr>
            </a:solidFill>
          </p:grpSpPr>
          <p:sp>
            <p:nvSpPr>
              <p:cNvPr id="72" name="Oval 7"/>
              <p:cNvSpPr>
                <a:spLocks noChangeArrowheads="1"/>
              </p:cNvSpPr>
              <p:nvPr/>
            </p:nvSpPr>
            <p:spPr bwMode="auto">
              <a:xfrm>
                <a:off x="2554" y="240"/>
                <a:ext cx="1088" cy="513"/>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3" name="Oval 8"/>
              <p:cNvSpPr>
                <a:spLocks noChangeArrowheads="1"/>
              </p:cNvSpPr>
              <p:nvPr/>
            </p:nvSpPr>
            <p:spPr bwMode="auto">
              <a:xfrm>
                <a:off x="1941" y="381"/>
                <a:ext cx="827" cy="513"/>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4" name="Oval 9"/>
              <p:cNvSpPr>
                <a:spLocks noChangeArrowheads="1"/>
              </p:cNvSpPr>
              <p:nvPr/>
            </p:nvSpPr>
            <p:spPr bwMode="auto">
              <a:xfrm>
                <a:off x="1680" y="702"/>
                <a:ext cx="552" cy="411"/>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5" name="Oval 10"/>
              <p:cNvSpPr>
                <a:spLocks noChangeArrowheads="1"/>
              </p:cNvSpPr>
              <p:nvPr/>
            </p:nvSpPr>
            <p:spPr bwMode="auto">
              <a:xfrm>
                <a:off x="1849" y="894"/>
                <a:ext cx="842" cy="450"/>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6" name="Oval 11"/>
              <p:cNvSpPr>
                <a:spLocks noChangeArrowheads="1"/>
              </p:cNvSpPr>
              <p:nvPr/>
            </p:nvSpPr>
            <p:spPr bwMode="auto">
              <a:xfrm>
                <a:off x="2462" y="971"/>
                <a:ext cx="1272" cy="539"/>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7" name="Oval 12"/>
              <p:cNvSpPr>
                <a:spLocks noChangeArrowheads="1"/>
              </p:cNvSpPr>
              <p:nvPr/>
            </p:nvSpPr>
            <p:spPr bwMode="auto">
              <a:xfrm>
                <a:off x="3289" y="394"/>
                <a:ext cx="797" cy="398"/>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8" name="Oval 13"/>
              <p:cNvSpPr>
                <a:spLocks noChangeArrowheads="1"/>
              </p:cNvSpPr>
              <p:nvPr/>
            </p:nvSpPr>
            <p:spPr bwMode="auto">
              <a:xfrm>
                <a:off x="3412" y="663"/>
                <a:ext cx="797" cy="398"/>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9" name="Oval 14"/>
              <p:cNvSpPr>
                <a:spLocks noChangeArrowheads="1"/>
              </p:cNvSpPr>
              <p:nvPr/>
            </p:nvSpPr>
            <p:spPr bwMode="auto">
              <a:xfrm>
                <a:off x="3335" y="753"/>
                <a:ext cx="797" cy="668"/>
              </a:xfrm>
              <a:prstGeom prst="ellipse">
                <a:avLst/>
              </a:prstGeom>
              <a:grpFill/>
              <a:ln w="9525">
                <a:solidFill>
                  <a:srgbClr val="000000"/>
                </a:solid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0" name="Oval 15"/>
              <p:cNvSpPr>
                <a:spLocks noChangeArrowheads="1"/>
              </p:cNvSpPr>
              <p:nvPr/>
            </p:nvSpPr>
            <p:spPr bwMode="auto">
              <a:xfrm>
                <a:off x="2102" y="432"/>
                <a:ext cx="1821" cy="821"/>
              </a:xfrm>
              <a:prstGeom prst="ellipse">
                <a:avLst/>
              </a:prstGeom>
              <a:grpFill/>
              <a:ln w="9525">
                <a:noFill/>
                <a:round/>
              </a:ln>
              <a:effectLst/>
              <a:ex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81" name="Text Box 31"/>
            <p:cNvSpPr txBox="1">
              <a:spLocks noChangeArrowheads="1"/>
            </p:cNvSpPr>
            <p:nvPr/>
          </p:nvSpPr>
          <p:spPr bwMode="auto">
            <a:xfrm>
              <a:off x="4106321" y="3547570"/>
              <a:ext cx="1043856" cy="306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000066"/>
                  </a:solidFill>
                  <a:latin typeface="微软雅黑" panose="020B0503020204020204" pitchFamily="34" charset="-122"/>
                  <a:ea typeface="微软雅黑" panose="020B0503020204020204" pitchFamily="34" charset="-122"/>
                </a:rPr>
                <a:t>通信网络</a:t>
              </a:r>
            </a:p>
          </p:txBody>
        </p:sp>
      </p:grpSp>
      <p:sp>
        <p:nvSpPr>
          <p:cNvPr id="82" name="矩形 81"/>
          <p:cNvSpPr/>
          <p:nvPr/>
        </p:nvSpPr>
        <p:spPr>
          <a:xfrm>
            <a:off x="2272853" y="5889466"/>
            <a:ext cx="6631459" cy="707886"/>
          </a:xfrm>
          <a:prstGeom prst="rect">
            <a:avLst/>
          </a:prstGeom>
        </p:spPr>
        <p:txBody>
          <a:bodyPr wrap="square">
            <a:spAutoFit/>
          </a:bodyPr>
          <a:lstStyle/>
          <a:p>
            <a:pPr lvl="0"/>
            <a:r>
              <a:rPr lang="zh-CN" altLang="en-US" sz="2000" b="1" dirty="0">
                <a:solidFill>
                  <a:srgbClr val="0000FF"/>
                </a:solidFill>
                <a:latin typeface="微软雅黑" panose="020B0503020204020204" pitchFamily="34" charset="-122"/>
                <a:ea typeface="微软雅黑" panose="020B0503020204020204" pitchFamily="34" charset="-122"/>
              </a:rPr>
              <a:t>网络接入模块</a:t>
            </a:r>
            <a:r>
              <a:rPr lang="zh-CN" altLang="en-US" sz="2000" b="1" dirty="0">
                <a:solidFill>
                  <a:prstClr val="black"/>
                </a:solidFill>
                <a:latin typeface="微软雅黑" panose="020B0503020204020204" pitchFamily="34" charset="-122"/>
                <a:ea typeface="微软雅黑" panose="020B0503020204020204" pitchFamily="34" charset="-122"/>
              </a:rPr>
              <a:t>负责做与网络接口细节有关的工作，并向上层</a:t>
            </a:r>
            <a:r>
              <a:rPr lang="zh-CN" altLang="en-US" sz="2000" b="1" dirty="0" smtClean="0">
                <a:solidFill>
                  <a:prstClr val="black"/>
                </a:solidFill>
                <a:latin typeface="微软雅黑" panose="020B0503020204020204" pitchFamily="34" charset="-122"/>
                <a:ea typeface="微软雅黑" panose="020B0503020204020204" pitchFamily="34" charset="-122"/>
              </a:rPr>
              <a:t>提供接入和通信服务。</a:t>
            </a:r>
            <a:endParaRPr lang="zh-CN" altLang="en-US" sz="2000" b="1"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3035726"/>
      </p:ext>
    </p:extLst>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1.7.2 </a:t>
            </a:r>
            <a:r>
              <a:rPr lang="zh-CN" altLang="en-US" dirty="0" smtClean="0"/>
              <a:t>协议与划分层次</a:t>
            </a:r>
            <a:endParaRPr lang="zh-CN" altLang="en-US" dirty="0"/>
          </a:p>
        </p:txBody>
      </p:sp>
      <p:sp>
        <p:nvSpPr>
          <p:cNvPr id="3" name="内容占位符 2"/>
          <p:cNvSpPr>
            <a:spLocks noGrp="1"/>
          </p:cNvSpPr>
          <p:nvPr>
            <p:ph idx="1"/>
          </p:nvPr>
        </p:nvSpPr>
        <p:spPr/>
        <p:txBody>
          <a:bodyPr/>
          <a:lstStyle/>
          <a:p>
            <a:r>
              <a:rPr lang="zh-CN" altLang="en-US" b="1" dirty="0" smtClean="0"/>
              <a:t>分层的优点与缺点：</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graphicFrame>
        <p:nvGraphicFramePr>
          <p:cNvPr id="83" name="图示 82"/>
          <p:cNvGraphicFramePr/>
          <p:nvPr>
            <p:extLst>
              <p:ext uri="{D42A27DB-BD31-4B8C-83A1-F6EECF244321}">
                <p14:modId xmlns:p14="http://schemas.microsoft.com/office/powerpoint/2010/main" val="3011366154"/>
              </p:ext>
            </p:extLst>
          </p:nvPr>
        </p:nvGraphicFramePr>
        <p:xfrm>
          <a:off x="1343472" y="2058823"/>
          <a:ext cx="8064896" cy="29543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5" name="组合 4"/>
          <p:cNvGrpSpPr/>
          <p:nvPr/>
        </p:nvGrpSpPr>
        <p:grpSpPr>
          <a:xfrm>
            <a:off x="1858692" y="5197252"/>
            <a:ext cx="7333652" cy="1112068"/>
            <a:chOff x="595996" y="3877027"/>
            <a:chExt cx="5719975" cy="1112068"/>
          </a:xfrm>
        </p:grpSpPr>
        <p:sp>
          <p:nvSpPr>
            <p:cNvPr id="6" name="对角圆角矩形 5"/>
            <p:cNvSpPr/>
            <p:nvPr/>
          </p:nvSpPr>
          <p:spPr>
            <a:xfrm>
              <a:off x="595996" y="3877027"/>
              <a:ext cx="5719975" cy="1112068"/>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zh-CN" altLang="en-US" sz="1600" dirty="0"/>
            </a:p>
          </p:txBody>
        </p:sp>
        <p:sp>
          <p:nvSpPr>
            <p:cNvPr id="7" name="矩形 5"/>
            <p:cNvSpPr>
              <a:spLocks noChangeArrowheads="1"/>
            </p:cNvSpPr>
            <p:nvPr/>
          </p:nvSpPr>
          <p:spPr bwMode="auto">
            <a:xfrm>
              <a:off x="710641" y="3955503"/>
              <a:ext cx="547682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ts val="2200"/>
                </a:lnSpc>
              </a:pPr>
              <a:r>
                <a:rPr lang="zh-CN" altLang="en-US" b="1" dirty="0" smtClean="0">
                  <a:solidFill>
                    <a:srgbClr val="FFFF00"/>
                  </a:solidFill>
                  <a:latin typeface="微软雅黑" panose="020B0503020204020204" pitchFamily="34" charset="-122"/>
                  <a:ea typeface="微软雅黑" panose="020B0503020204020204" pitchFamily="34" charset="-122"/>
                </a:rPr>
                <a:t>注意：每</a:t>
              </a:r>
              <a:r>
                <a:rPr lang="zh-CN" altLang="en-US" b="1" dirty="0">
                  <a:solidFill>
                    <a:srgbClr val="FFFF00"/>
                  </a:solidFill>
                  <a:latin typeface="微软雅黑" panose="020B0503020204020204" pitchFamily="34" charset="-122"/>
                  <a:ea typeface="微软雅黑" panose="020B0503020204020204" pitchFamily="34" charset="-122"/>
                </a:rPr>
                <a:t>一层的</a:t>
              </a:r>
              <a:r>
                <a:rPr lang="zh-CN" altLang="en-US" b="1" dirty="0" smtClean="0">
                  <a:solidFill>
                    <a:srgbClr val="FFFF00"/>
                  </a:solidFill>
                  <a:latin typeface="微软雅黑" panose="020B0503020204020204" pitchFamily="34" charset="-122"/>
                  <a:ea typeface="微软雅黑" panose="020B0503020204020204" pitchFamily="34" charset="-122"/>
                </a:rPr>
                <a:t>功能</a:t>
              </a:r>
              <a:r>
                <a:rPr lang="zh-CN" altLang="en-US" b="1" dirty="0">
                  <a:solidFill>
                    <a:srgbClr val="FFFF00"/>
                  </a:solidFill>
                  <a:latin typeface="微软雅黑" panose="020B0503020204020204" pitchFamily="34" charset="-122"/>
                  <a:ea typeface="微软雅黑" panose="020B0503020204020204" pitchFamily="34" charset="-122"/>
                </a:rPr>
                <a:t>应</a:t>
              </a:r>
              <a:r>
                <a:rPr lang="zh-CN" altLang="en-US" b="1" dirty="0" smtClean="0">
                  <a:solidFill>
                    <a:srgbClr val="FFFF00"/>
                  </a:solidFill>
                  <a:latin typeface="微软雅黑" panose="020B0503020204020204" pitchFamily="34" charset="-122"/>
                  <a:ea typeface="微软雅黑" panose="020B0503020204020204" pitchFamily="34" charset="-122"/>
                </a:rPr>
                <a:t>非常</a:t>
              </a:r>
              <a:r>
                <a:rPr lang="zh-CN" altLang="en-US" b="1" dirty="0">
                  <a:solidFill>
                    <a:srgbClr val="FFFF00"/>
                  </a:solidFill>
                  <a:latin typeface="微软雅黑" panose="020B0503020204020204" pitchFamily="34" charset="-122"/>
                  <a:ea typeface="微软雅黑" panose="020B0503020204020204" pitchFamily="34" charset="-122"/>
                </a:rPr>
                <a:t>明确</a:t>
              </a:r>
              <a:r>
                <a:rPr lang="zh-CN" altLang="en-US" b="1" dirty="0" smtClean="0">
                  <a:solidFill>
                    <a:srgbClr val="FFFF00"/>
                  </a:solidFill>
                  <a:latin typeface="微软雅黑" panose="020B0503020204020204" pitchFamily="34" charset="-122"/>
                  <a:ea typeface="微软雅黑" panose="020B0503020204020204" pitchFamily="34" charset="-122"/>
                </a:rPr>
                <a:t>。同时层数不能太少也不能太多。</a:t>
              </a:r>
              <a:endParaRPr lang="en-US" altLang="zh-CN" b="1" dirty="0" smtClean="0">
                <a:solidFill>
                  <a:srgbClr val="FFFF00"/>
                </a:solidFill>
                <a:latin typeface="微软雅黑" panose="020B0503020204020204" pitchFamily="34" charset="-122"/>
                <a:ea typeface="微软雅黑" panose="020B0503020204020204" pitchFamily="34" charset="-122"/>
              </a:endParaRPr>
            </a:p>
            <a:p>
              <a:pPr>
                <a:lnSpc>
                  <a:spcPts val="2200"/>
                </a:lnSpc>
              </a:pPr>
              <a:r>
                <a:rPr lang="zh-CN" altLang="en-US" b="1" dirty="0" smtClean="0">
                  <a:solidFill>
                    <a:schemeClr val="bg1"/>
                  </a:solidFill>
                  <a:latin typeface="微软雅黑" panose="020B0503020204020204" pitchFamily="34" charset="-122"/>
                  <a:ea typeface="微软雅黑" panose="020B0503020204020204" pitchFamily="34" charset="-122"/>
                </a:rPr>
                <a:t>层</a:t>
              </a:r>
              <a:r>
                <a:rPr lang="zh-CN" altLang="en-US" b="1" dirty="0">
                  <a:solidFill>
                    <a:schemeClr val="bg1"/>
                  </a:solidFill>
                  <a:latin typeface="微软雅黑" panose="020B0503020204020204" pitchFamily="34" charset="-122"/>
                  <a:ea typeface="微软雅黑" panose="020B0503020204020204" pitchFamily="34" charset="-122"/>
                </a:rPr>
                <a:t>数太少，就会使每一层的协议太</a:t>
              </a:r>
              <a:r>
                <a:rPr lang="zh-CN" altLang="en-US" b="1" dirty="0" smtClean="0">
                  <a:solidFill>
                    <a:schemeClr val="bg1"/>
                  </a:solidFill>
                  <a:latin typeface="微软雅黑" panose="020B0503020204020204" pitchFamily="34" charset="-122"/>
                  <a:ea typeface="微软雅黑" panose="020B0503020204020204" pitchFamily="34" charset="-122"/>
                </a:rPr>
                <a:t>复杂</a:t>
              </a:r>
              <a:r>
                <a:rPr lang="zh-CN" altLang="en-US" b="1" dirty="0">
                  <a:solidFill>
                    <a:schemeClr val="bg1"/>
                  </a:solidFill>
                  <a:latin typeface="微软雅黑" panose="020B0503020204020204" pitchFamily="34" charset="-122"/>
                  <a:ea typeface="微软雅黑" panose="020B0503020204020204" pitchFamily="34" charset="-122"/>
                </a:rPr>
                <a:t>；</a:t>
              </a:r>
              <a:endParaRPr lang="en-US" altLang="zh-CN" b="1" dirty="0" smtClean="0">
                <a:solidFill>
                  <a:schemeClr val="bg1"/>
                </a:solidFill>
                <a:latin typeface="微软雅黑" panose="020B0503020204020204" pitchFamily="34" charset="-122"/>
                <a:ea typeface="微软雅黑" panose="020B0503020204020204" pitchFamily="34" charset="-122"/>
              </a:endParaRPr>
            </a:p>
            <a:p>
              <a:pPr>
                <a:lnSpc>
                  <a:spcPts val="2200"/>
                </a:lnSpc>
              </a:pPr>
              <a:r>
                <a:rPr lang="zh-CN" altLang="en-US" b="1" dirty="0" smtClean="0">
                  <a:solidFill>
                    <a:schemeClr val="bg1"/>
                  </a:solidFill>
                  <a:latin typeface="微软雅黑" panose="020B0503020204020204" pitchFamily="34" charset="-122"/>
                  <a:ea typeface="微软雅黑" panose="020B0503020204020204" pitchFamily="34" charset="-122"/>
                </a:rPr>
                <a:t>层</a:t>
              </a:r>
              <a:r>
                <a:rPr lang="zh-CN" altLang="en-US" b="1" dirty="0">
                  <a:solidFill>
                    <a:schemeClr val="bg1"/>
                  </a:solidFill>
                  <a:latin typeface="微软雅黑" panose="020B0503020204020204" pitchFamily="34" charset="-122"/>
                  <a:ea typeface="微软雅黑" panose="020B0503020204020204" pitchFamily="34" charset="-122"/>
                </a:rPr>
                <a:t>数太</a:t>
              </a:r>
              <a:r>
                <a:rPr lang="zh-CN" altLang="en-US" b="1" dirty="0" smtClean="0">
                  <a:solidFill>
                    <a:schemeClr val="bg1"/>
                  </a:solidFill>
                  <a:latin typeface="微软雅黑" panose="020B0503020204020204" pitchFamily="34" charset="-122"/>
                  <a:ea typeface="微软雅黑" panose="020B0503020204020204" pitchFamily="34" charset="-122"/>
                </a:rPr>
                <a:t>多，又</a:t>
              </a:r>
              <a:r>
                <a:rPr lang="zh-CN" altLang="en-US" b="1" dirty="0">
                  <a:solidFill>
                    <a:schemeClr val="bg1"/>
                  </a:solidFill>
                  <a:latin typeface="微软雅黑" panose="020B0503020204020204" pitchFamily="34" charset="-122"/>
                  <a:ea typeface="微软雅黑" panose="020B0503020204020204" pitchFamily="34" charset="-122"/>
                </a:rPr>
                <a:t>会</a:t>
              </a:r>
              <a:r>
                <a:rPr lang="zh-CN" altLang="en-US" b="1" dirty="0" smtClean="0">
                  <a:solidFill>
                    <a:schemeClr val="bg1"/>
                  </a:solidFill>
                  <a:latin typeface="微软雅黑" panose="020B0503020204020204" pitchFamily="34" charset="-122"/>
                  <a:ea typeface="微软雅黑" panose="020B0503020204020204" pitchFamily="34" charset="-122"/>
                </a:rPr>
                <a:t>在整合各层功能时</a:t>
              </a:r>
              <a:r>
                <a:rPr lang="zh-CN" altLang="en-US" b="1" dirty="0">
                  <a:solidFill>
                    <a:schemeClr val="bg1"/>
                  </a:solidFill>
                  <a:latin typeface="微软雅黑" panose="020B0503020204020204" pitchFamily="34" charset="-122"/>
                  <a:ea typeface="微软雅黑" panose="020B0503020204020204" pitchFamily="34" charset="-122"/>
                </a:rPr>
                <a:t>遇到较多的困难。</a:t>
              </a:r>
            </a:p>
          </p:txBody>
        </p:sp>
      </p:grpSp>
    </p:spTree>
    <p:extLst>
      <p:ext uri="{BB962C8B-B14F-4D97-AF65-F5344CB8AC3E}">
        <p14:creationId xmlns:p14="http://schemas.microsoft.com/office/powerpoint/2010/main" val="38660657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a:t>计算机网络的各层及其协议的集合，就是网络的</a:t>
            </a:r>
            <a:r>
              <a:rPr lang="zh-CN" altLang="en-US" b="1" dirty="0">
                <a:solidFill>
                  <a:srgbClr val="C00000"/>
                </a:solidFill>
              </a:rPr>
              <a:t>体系结构 </a:t>
            </a:r>
            <a:r>
              <a:rPr lang="en-US" altLang="zh-CN" b="1" dirty="0" smtClean="0"/>
              <a:t>(architecture</a:t>
            </a:r>
            <a:r>
              <a:rPr lang="en-US" altLang="zh-CN" b="1" dirty="0"/>
              <a:t>) </a:t>
            </a:r>
            <a:r>
              <a:rPr lang="zh-CN" altLang="en-US" b="1" dirty="0" smtClean="0"/>
              <a:t>。</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8" name="圆角矩形 7"/>
          <p:cNvSpPr/>
          <p:nvPr/>
        </p:nvSpPr>
        <p:spPr>
          <a:xfrm>
            <a:off x="1562544" y="2748881"/>
            <a:ext cx="9213976" cy="363244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solidFill>
                <a:srgbClr val="1C1C1C"/>
              </a:solidFill>
            </a:endParaRPr>
          </a:p>
        </p:txBody>
      </p:sp>
      <p:grpSp>
        <p:nvGrpSpPr>
          <p:cNvPr id="9" name="组合 8"/>
          <p:cNvGrpSpPr/>
          <p:nvPr/>
        </p:nvGrpSpPr>
        <p:grpSpPr>
          <a:xfrm>
            <a:off x="2614811" y="3201960"/>
            <a:ext cx="1768468" cy="2744691"/>
            <a:chOff x="1557339" y="1623511"/>
            <a:chExt cx="1341438" cy="2354430"/>
          </a:xfrm>
        </p:grpSpPr>
        <p:sp>
          <p:nvSpPr>
            <p:cNvPr id="1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C1C1C"/>
                </a:solidFill>
                <a:latin typeface="微软雅黑" panose="020B0503020204020204" pitchFamily="34" charset="-122"/>
                <a:ea typeface="微软雅黑" panose="020B0503020204020204" pitchFamily="34" charset="-122"/>
              </a:endParaRPr>
            </a:p>
          </p:txBody>
        </p:sp>
        <p:sp>
          <p:nvSpPr>
            <p:cNvPr id="1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1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1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1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1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1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17" name="Text Box 22"/>
            <p:cNvSpPr txBox="1">
              <a:spLocks noChangeArrowheads="1"/>
            </p:cNvSpPr>
            <p:nvPr/>
          </p:nvSpPr>
          <p:spPr bwMode="auto">
            <a:xfrm>
              <a:off x="2027239" y="1758713"/>
              <a:ext cx="606991" cy="2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应用层</a:t>
              </a:r>
            </a:p>
          </p:txBody>
        </p:sp>
        <p:sp>
          <p:nvSpPr>
            <p:cNvPr id="18" name="Text Box 23"/>
            <p:cNvSpPr txBox="1">
              <a:spLocks noChangeArrowheads="1"/>
            </p:cNvSpPr>
            <p:nvPr/>
          </p:nvSpPr>
          <p:spPr bwMode="auto">
            <a:xfrm>
              <a:off x="2006602" y="2671922"/>
              <a:ext cx="606991" cy="2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运输层</a:t>
              </a:r>
            </a:p>
          </p:txBody>
        </p:sp>
        <p:sp>
          <p:nvSpPr>
            <p:cNvPr id="19" name="Text Box 24"/>
            <p:cNvSpPr txBox="1">
              <a:spLocks noChangeArrowheads="1"/>
            </p:cNvSpPr>
            <p:nvPr/>
          </p:nvSpPr>
          <p:spPr bwMode="auto">
            <a:xfrm>
              <a:off x="2014539" y="2996037"/>
              <a:ext cx="606991" cy="2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网络层</a:t>
              </a:r>
            </a:p>
          </p:txBody>
        </p:sp>
        <p:sp>
          <p:nvSpPr>
            <p:cNvPr id="20" name="Text Box 54"/>
            <p:cNvSpPr txBox="1">
              <a:spLocks noChangeArrowheads="1"/>
            </p:cNvSpPr>
            <p:nvPr/>
          </p:nvSpPr>
          <p:spPr bwMode="auto">
            <a:xfrm>
              <a:off x="2014539" y="2058750"/>
              <a:ext cx="606991" cy="2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表示层</a:t>
              </a:r>
            </a:p>
          </p:txBody>
        </p:sp>
        <p:sp>
          <p:nvSpPr>
            <p:cNvPr id="21" name="Text Box 55"/>
            <p:cNvSpPr txBox="1">
              <a:spLocks noChangeArrowheads="1"/>
            </p:cNvSpPr>
            <p:nvPr/>
          </p:nvSpPr>
          <p:spPr bwMode="auto">
            <a:xfrm>
              <a:off x="2014539" y="2361302"/>
              <a:ext cx="606991" cy="2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会话层</a:t>
              </a:r>
            </a:p>
          </p:txBody>
        </p:sp>
        <p:sp>
          <p:nvSpPr>
            <p:cNvPr id="22" name="Text Box 56"/>
            <p:cNvSpPr txBox="1">
              <a:spLocks noChangeArrowheads="1"/>
            </p:cNvSpPr>
            <p:nvPr/>
          </p:nvSpPr>
          <p:spPr bwMode="auto">
            <a:xfrm>
              <a:off x="1911352" y="3304012"/>
              <a:ext cx="918269" cy="2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数据链路层</a:t>
              </a:r>
            </a:p>
          </p:txBody>
        </p:sp>
        <p:sp>
          <p:nvSpPr>
            <p:cNvPr id="23" name="Text Box 57"/>
            <p:cNvSpPr txBox="1">
              <a:spLocks noChangeArrowheads="1"/>
            </p:cNvSpPr>
            <p:nvPr/>
          </p:nvSpPr>
          <p:spPr bwMode="auto">
            <a:xfrm>
              <a:off x="2014539" y="3617676"/>
              <a:ext cx="606991" cy="290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物理层</a:t>
              </a:r>
            </a:p>
          </p:txBody>
        </p:sp>
        <p:sp>
          <p:nvSpPr>
            <p:cNvPr id="24" name="Text Box 43"/>
            <p:cNvSpPr txBox="1">
              <a:spLocks noChangeArrowheads="1"/>
            </p:cNvSpPr>
            <p:nvPr/>
          </p:nvSpPr>
          <p:spPr bwMode="auto">
            <a:xfrm>
              <a:off x="1622427" y="1703456"/>
              <a:ext cx="236134" cy="2274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ts val="2850"/>
                </a:lnSpc>
              </a:pPr>
              <a:r>
                <a:rPr kumimoji="1" lang="en-US" altLang="zh-CN" sz="1600" b="1" dirty="0">
                  <a:solidFill>
                    <a:srgbClr val="1C1C1C"/>
                  </a:solidFill>
                  <a:latin typeface="微软雅黑" panose="020B0503020204020204" pitchFamily="34" charset="-122"/>
                  <a:ea typeface="微软雅黑" panose="020B0503020204020204" pitchFamily="34" charset="-122"/>
                </a:rPr>
                <a:t>7</a:t>
              </a:r>
            </a:p>
            <a:p>
              <a:pPr>
                <a:lnSpc>
                  <a:spcPts val="2850"/>
                </a:lnSpc>
              </a:pPr>
              <a:r>
                <a:rPr kumimoji="1" lang="en-US" altLang="zh-CN" sz="1600" b="1" dirty="0">
                  <a:solidFill>
                    <a:srgbClr val="1C1C1C"/>
                  </a:solidFill>
                  <a:latin typeface="微软雅黑" panose="020B0503020204020204" pitchFamily="34" charset="-122"/>
                  <a:ea typeface="微软雅黑" panose="020B0503020204020204" pitchFamily="34" charset="-122"/>
                </a:rPr>
                <a:t>6</a:t>
              </a:r>
            </a:p>
            <a:p>
              <a:pPr>
                <a:lnSpc>
                  <a:spcPts val="2850"/>
                </a:lnSpc>
              </a:pPr>
              <a:r>
                <a:rPr kumimoji="1" lang="en-US" altLang="zh-CN" sz="1600" b="1" dirty="0">
                  <a:solidFill>
                    <a:srgbClr val="1C1C1C"/>
                  </a:solidFill>
                  <a:latin typeface="微软雅黑" panose="020B0503020204020204" pitchFamily="34" charset="-122"/>
                  <a:ea typeface="微软雅黑" panose="020B0503020204020204" pitchFamily="34" charset="-122"/>
                </a:rPr>
                <a:t>5</a:t>
              </a:r>
            </a:p>
            <a:p>
              <a:pPr>
                <a:lnSpc>
                  <a:spcPts val="2850"/>
                </a:lnSpc>
              </a:pPr>
              <a:r>
                <a:rPr kumimoji="1" lang="en-US" altLang="zh-CN" sz="1600" b="1" dirty="0">
                  <a:solidFill>
                    <a:srgbClr val="1C1C1C"/>
                  </a:solidFill>
                  <a:latin typeface="微软雅黑" panose="020B0503020204020204" pitchFamily="34" charset="-122"/>
                  <a:ea typeface="微软雅黑" panose="020B0503020204020204" pitchFamily="34" charset="-122"/>
                </a:rPr>
                <a:t>4</a:t>
              </a:r>
            </a:p>
            <a:p>
              <a:pPr>
                <a:lnSpc>
                  <a:spcPts val="2850"/>
                </a:lnSpc>
              </a:pPr>
              <a:r>
                <a:rPr kumimoji="1" lang="en-US" altLang="zh-CN" sz="1600" b="1" dirty="0">
                  <a:solidFill>
                    <a:srgbClr val="1C1C1C"/>
                  </a:solidFill>
                  <a:latin typeface="微软雅黑" panose="020B0503020204020204" pitchFamily="34" charset="-122"/>
                  <a:ea typeface="微软雅黑" panose="020B0503020204020204" pitchFamily="34" charset="-122"/>
                </a:rPr>
                <a:t>3</a:t>
              </a:r>
            </a:p>
            <a:p>
              <a:pPr>
                <a:lnSpc>
                  <a:spcPts val="2850"/>
                </a:lnSpc>
              </a:pPr>
              <a:r>
                <a:rPr kumimoji="1" lang="en-US" altLang="zh-CN" sz="1600" b="1" dirty="0">
                  <a:solidFill>
                    <a:srgbClr val="1C1C1C"/>
                  </a:solidFill>
                  <a:latin typeface="微软雅黑" panose="020B0503020204020204" pitchFamily="34" charset="-122"/>
                  <a:ea typeface="微软雅黑" panose="020B0503020204020204" pitchFamily="34" charset="-122"/>
                </a:rPr>
                <a:t>2</a:t>
              </a:r>
            </a:p>
            <a:p>
              <a:pPr>
                <a:lnSpc>
                  <a:spcPts val="2850"/>
                </a:lnSpc>
              </a:pPr>
              <a:r>
                <a:rPr kumimoji="1" lang="en-US" altLang="zh-CN" sz="1600" b="1" dirty="0">
                  <a:solidFill>
                    <a:srgbClr val="1C1C1C"/>
                  </a:solidFill>
                  <a:latin typeface="微软雅黑" panose="020B0503020204020204" pitchFamily="34" charset="-122"/>
                  <a:ea typeface="微软雅黑" panose="020B0503020204020204" pitchFamily="34" charset="-122"/>
                </a:rPr>
                <a:t>1</a:t>
              </a:r>
            </a:p>
          </p:txBody>
        </p:sp>
      </p:grpSp>
      <p:sp>
        <p:nvSpPr>
          <p:cNvPr id="25" name="Text Box 13"/>
          <p:cNvSpPr txBox="1">
            <a:spLocks noChangeArrowheads="1"/>
          </p:cNvSpPr>
          <p:nvPr/>
        </p:nvSpPr>
        <p:spPr bwMode="auto">
          <a:xfrm>
            <a:off x="2198732" y="2846360"/>
            <a:ext cx="27366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solidFill>
                  <a:srgbClr val="000099"/>
                </a:solidFill>
                <a:latin typeface="微软雅黑" panose="020B0503020204020204" pitchFamily="34" charset="-122"/>
                <a:ea typeface="微软雅黑" panose="020B0503020204020204" pitchFamily="34" charset="-122"/>
              </a:rPr>
              <a:t>OSI </a:t>
            </a:r>
            <a:r>
              <a:rPr kumimoji="1" lang="zh-CN" altLang="en-US" b="1" dirty="0" smtClean="0">
                <a:solidFill>
                  <a:srgbClr val="000099"/>
                </a:solidFill>
                <a:latin typeface="微软雅黑" panose="020B0503020204020204" pitchFamily="34" charset="-122"/>
                <a:ea typeface="微软雅黑" panose="020B0503020204020204" pitchFamily="34" charset="-122"/>
              </a:rPr>
              <a:t>的</a:t>
            </a:r>
            <a:r>
              <a:rPr kumimoji="1" lang="zh-CN" altLang="en-US" b="1" dirty="0">
                <a:solidFill>
                  <a:srgbClr val="000099"/>
                </a:solidFill>
                <a:latin typeface="微软雅黑" panose="020B0503020204020204" pitchFamily="34" charset="-122"/>
                <a:ea typeface="微软雅黑" panose="020B0503020204020204" pitchFamily="34" charset="-122"/>
              </a:rPr>
              <a:t>七</a:t>
            </a:r>
            <a:r>
              <a:rPr kumimoji="1" lang="zh-CN" altLang="en-US" b="1" dirty="0" smtClean="0">
                <a:solidFill>
                  <a:srgbClr val="000099"/>
                </a:solidFill>
                <a:latin typeface="微软雅黑" panose="020B0503020204020204" pitchFamily="34" charset="-122"/>
                <a:ea typeface="微软雅黑" panose="020B0503020204020204" pitchFamily="34" charset="-122"/>
              </a:rPr>
              <a:t>层</a:t>
            </a:r>
            <a:r>
              <a:rPr kumimoji="1" lang="zh-CN" altLang="en-US" b="1" dirty="0">
                <a:solidFill>
                  <a:srgbClr val="000099"/>
                </a:solidFill>
                <a:latin typeface="微软雅黑" panose="020B0503020204020204" pitchFamily="34" charset="-122"/>
                <a:ea typeface="微软雅黑" panose="020B0503020204020204" pitchFamily="34" charset="-122"/>
              </a:rPr>
              <a:t>协议</a:t>
            </a:r>
            <a:r>
              <a:rPr kumimoji="1" lang="zh-CN" altLang="en-US" b="1" dirty="0" smtClean="0">
                <a:solidFill>
                  <a:srgbClr val="000099"/>
                </a:solidFill>
                <a:latin typeface="微软雅黑" panose="020B0503020204020204" pitchFamily="34" charset="-122"/>
                <a:ea typeface="微软雅黑" panose="020B0503020204020204" pitchFamily="34" charset="-122"/>
              </a:rPr>
              <a:t>体系结构</a:t>
            </a:r>
            <a:endParaRPr kumimoji="1" lang="zh-CN" altLang="en-US" b="1" dirty="0">
              <a:solidFill>
                <a:srgbClr val="000099"/>
              </a:solidFill>
              <a:latin typeface="微软雅黑" panose="020B0503020204020204" pitchFamily="34" charset="-122"/>
              <a:ea typeface="微软雅黑" panose="020B0503020204020204" pitchFamily="34" charset="-122"/>
            </a:endParaRPr>
          </a:p>
        </p:txBody>
      </p:sp>
      <p:sp>
        <p:nvSpPr>
          <p:cNvPr id="26" name="Text Box 12"/>
          <p:cNvSpPr txBox="1">
            <a:spLocks noChangeArrowheads="1"/>
          </p:cNvSpPr>
          <p:nvPr/>
        </p:nvSpPr>
        <p:spPr bwMode="auto">
          <a:xfrm>
            <a:off x="4821828" y="2854297"/>
            <a:ext cx="31123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b="1" dirty="0">
                <a:solidFill>
                  <a:srgbClr val="1C1C1C"/>
                </a:solidFill>
                <a:latin typeface="微软雅黑" panose="020B0503020204020204" pitchFamily="34" charset="-122"/>
                <a:ea typeface="微软雅黑" panose="020B0503020204020204" pitchFamily="34" charset="-122"/>
              </a:rPr>
              <a:t>TCP/IP </a:t>
            </a:r>
            <a:r>
              <a:rPr kumimoji="1" lang="zh-CN" altLang="en-US" b="1" dirty="0" smtClean="0">
                <a:solidFill>
                  <a:srgbClr val="1C1C1C"/>
                </a:solidFill>
                <a:latin typeface="微软雅黑" panose="020B0503020204020204" pitchFamily="34" charset="-122"/>
                <a:ea typeface="微软雅黑" panose="020B0503020204020204" pitchFamily="34" charset="-122"/>
              </a:rPr>
              <a:t>的四层协议体系结构</a:t>
            </a:r>
            <a:endParaRPr kumimoji="1" lang="zh-CN" altLang="en-US" b="1" dirty="0">
              <a:solidFill>
                <a:srgbClr val="1C1C1C"/>
              </a:solidFill>
              <a:latin typeface="微软雅黑" panose="020B0503020204020204" pitchFamily="34" charset="-122"/>
              <a:ea typeface="微软雅黑" panose="020B0503020204020204" pitchFamily="34" charset="-122"/>
            </a:endParaRPr>
          </a:p>
        </p:txBody>
      </p:sp>
      <p:sp>
        <p:nvSpPr>
          <p:cNvPr id="27" name="Text Box 95"/>
          <p:cNvSpPr txBox="1">
            <a:spLocks noChangeArrowheads="1"/>
          </p:cNvSpPr>
          <p:nvPr/>
        </p:nvSpPr>
        <p:spPr bwMode="auto">
          <a:xfrm>
            <a:off x="3255616" y="6033095"/>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solidFill>
                  <a:srgbClr val="1C1C1C"/>
                </a:solidFill>
                <a:latin typeface="微软雅黑" panose="020B0503020204020204" pitchFamily="34" charset="-122"/>
                <a:ea typeface="微软雅黑" panose="020B0503020204020204" pitchFamily="34" charset="-122"/>
              </a:rPr>
              <a:t>(a)</a:t>
            </a:r>
          </a:p>
        </p:txBody>
      </p:sp>
      <p:sp>
        <p:nvSpPr>
          <p:cNvPr id="28" name="Text Box 96"/>
          <p:cNvSpPr txBox="1">
            <a:spLocks noChangeArrowheads="1"/>
          </p:cNvSpPr>
          <p:nvPr/>
        </p:nvSpPr>
        <p:spPr bwMode="auto">
          <a:xfrm>
            <a:off x="5979219" y="6033095"/>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solidFill>
                  <a:srgbClr val="1C1C1C"/>
                </a:solidFill>
                <a:latin typeface="微软雅黑" panose="020B0503020204020204" pitchFamily="34" charset="-122"/>
                <a:ea typeface="微软雅黑" panose="020B0503020204020204" pitchFamily="34" charset="-122"/>
              </a:rPr>
              <a:t>(b)</a:t>
            </a:r>
          </a:p>
        </p:txBody>
      </p:sp>
      <p:sp>
        <p:nvSpPr>
          <p:cNvPr id="29" name="Text Box 97"/>
          <p:cNvSpPr txBox="1">
            <a:spLocks noChangeArrowheads="1"/>
          </p:cNvSpPr>
          <p:nvPr/>
        </p:nvSpPr>
        <p:spPr bwMode="auto">
          <a:xfrm>
            <a:off x="8808169" y="6033095"/>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solidFill>
                  <a:srgbClr val="1C1C1C"/>
                </a:solidFill>
                <a:latin typeface="微软雅黑" panose="020B0503020204020204" pitchFamily="34" charset="-122"/>
                <a:ea typeface="微软雅黑" panose="020B0503020204020204" pitchFamily="34" charset="-122"/>
              </a:rPr>
              <a:t>(c)</a:t>
            </a:r>
          </a:p>
        </p:txBody>
      </p:sp>
      <p:sp>
        <p:nvSpPr>
          <p:cNvPr id="30" name="Text Box 113"/>
          <p:cNvSpPr txBox="1">
            <a:spLocks noChangeArrowheads="1"/>
          </p:cNvSpPr>
          <p:nvPr/>
        </p:nvSpPr>
        <p:spPr bwMode="auto">
          <a:xfrm>
            <a:off x="7968208" y="2849535"/>
            <a:ext cx="22621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31" name="组合 30"/>
          <p:cNvGrpSpPr/>
          <p:nvPr/>
        </p:nvGrpSpPr>
        <p:grpSpPr>
          <a:xfrm>
            <a:off x="4752427" y="3205835"/>
            <a:ext cx="3383734" cy="2659389"/>
            <a:chOff x="3578724" y="1591761"/>
            <a:chExt cx="2348945" cy="2338387"/>
          </a:xfrm>
        </p:grpSpPr>
        <p:sp>
          <p:nvSpPr>
            <p:cNvPr id="3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C1C1C"/>
                </a:solidFill>
                <a:latin typeface="微软雅黑" panose="020B0503020204020204" pitchFamily="34" charset="-122"/>
                <a:ea typeface="微软雅黑" panose="020B0503020204020204" pitchFamily="34" charset="-122"/>
              </a:endParaRPr>
            </a:p>
          </p:txBody>
        </p:sp>
        <p:sp>
          <p:nvSpPr>
            <p:cNvPr id="33" name="Freeform 69"/>
            <p:cNvSpPr/>
            <p:nvPr/>
          </p:nvSpPr>
          <p:spPr bwMode="auto">
            <a:xfrm>
              <a:off x="3642309" y="2488699"/>
              <a:ext cx="1893886" cy="153611"/>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34" name="Freeform 70"/>
            <p:cNvSpPr/>
            <p:nvPr/>
          </p:nvSpPr>
          <p:spPr bwMode="auto">
            <a:xfrm>
              <a:off x="3642309" y="2790240"/>
              <a:ext cx="1907824" cy="180283"/>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3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1C1C1C"/>
                </a:solidFill>
              </a:endParaRPr>
            </a:p>
          </p:txBody>
        </p:sp>
        <p:sp>
          <p:nvSpPr>
            <p:cNvPr id="36" name="Text Box 73"/>
            <p:cNvSpPr txBox="1">
              <a:spLocks noChangeArrowheads="1"/>
            </p:cNvSpPr>
            <p:nvPr/>
          </p:nvSpPr>
          <p:spPr bwMode="auto">
            <a:xfrm>
              <a:off x="3647071" y="1781525"/>
              <a:ext cx="1687178" cy="29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smtClean="0">
                  <a:solidFill>
                    <a:srgbClr val="1C1C1C"/>
                  </a:solidFill>
                  <a:latin typeface="微软雅黑" panose="020B0503020204020204" pitchFamily="34" charset="-122"/>
                  <a:ea typeface="微软雅黑" panose="020B0503020204020204" pitchFamily="34" charset="-122"/>
                </a:rPr>
                <a:t>4    </a:t>
              </a:r>
              <a:r>
                <a:rPr kumimoji="1" lang="zh-CN" altLang="en-US" sz="1600" b="1" dirty="0" smtClean="0">
                  <a:solidFill>
                    <a:srgbClr val="1C1C1C"/>
                  </a:solidFill>
                  <a:latin typeface="微软雅黑" panose="020B0503020204020204" pitchFamily="34" charset="-122"/>
                  <a:ea typeface="微软雅黑" panose="020B0503020204020204" pitchFamily="34" charset="-122"/>
                </a:rPr>
                <a:t>应用层</a:t>
              </a:r>
              <a:endParaRPr kumimoji="1" lang="zh-CN" altLang="en-US" sz="1600" b="1" dirty="0">
                <a:solidFill>
                  <a:srgbClr val="1C1C1C"/>
                </a:solidFill>
                <a:latin typeface="微软雅黑" panose="020B0503020204020204" pitchFamily="34" charset="-122"/>
                <a:ea typeface="微软雅黑" panose="020B0503020204020204" pitchFamily="34" charset="-122"/>
              </a:endParaRPr>
            </a:p>
          </p:txBody>
        </p:sp>
        <p:sp>
          <p:nvSpPr>
            <p:cNvPr id="37" name="Text Box 15"/>
            <p:cNvSpPr txBox="1">
              <a:spLocks noChangeArrowheads="1"/>
            </p:cNvSpPr>
            <p:nvPr/>
          </p:nvSpPr>
          <p:spPr bwMode="auto">
            <a:xfrm>
              <a:off x="3642308" y="3374523"/>
              <a:ext cx="1635125" cy="29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smtClean="0">
                  <a:solidFill>
                    <a:srgbClr val="1C1C1C"/>
                  </a:solidFill>
                  <a:latin typeface="微软雅黑" panose="020B0503020204020204" pitchFamily="34" charset="-122"/>
                  <a:ea typeface="微软雅黑" panose="020B0503020204020204" pitchFamily="34" charset="-122"/>
                </a:rPr>
                <a:t>1    </a:t>
              </a:r>
              <a:r>
                <a:rPr kumimoji="1" lang="zh-CN" altLang="en-US" sz="1600" b="1" dirty="0" smtClean="0">
                  <a:solidFill>
                    <a:srgbClr val="1C1C1C"/>
                  </a:solidFill>
                  <a:latin typeface="微软雅黑" panose="020B0503020204020204" pitchFamily="34" charset="-122"/>
                  <a:ea typeface="微软雅黑" panose="020B0503020204020204" pitchFamily="34" charset="-122"/>
                </a:rPr>
                <a:t>网络</a:t>
              </a:r>
              <a:r>
                <a:rPr kumimoji="1" lang="zh-CN" altLang="en-US" sz="1600" b="1" dirty="0">
                  <a:solidFill>
                    <a:srgbClr val="1C1C1C"/>
                  </a:solidFill>
                  <a:latin typeface="微软雅黑" panose="020B0503020204020204" pitchFamily="34" charset="-122"/>
                  <a:ea typeface="微软雅黑" panose="020B0503020204020204" pitchFamily="34" charset="-122"/>
                </a:rPr>
                <a:t>接口层</a:t>
              </a:r>
            </a:p>
          </p:txBody>
        </p:sp>
        <p:sp>
          <p:nvSpPr>
            <p:cNvPr id="38" name="Text Box 9"/>
            <p:cNvSpPr txBox="1">
              <a:spLocks noChangeArrowheads="1"/>
            </p:cNvSpPr>
            <p:nvPr/>
          </p:nvSpPr>
          <p:spPr bwMode="auto">
            <a:xfrm>
              <a:off x="3642309" y="2998956"/>
              <a:ext cx="1691940" cy="29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smtClean="0">
                  <a:solidFill>
                    <a:srgbClr val="1C1C1C"/>
                  </a:solidFill>
                  <a:latin typeface="微软雅黑" panose="020B0503020204020204" pitchFamily="34" charset="-122"/>
                  <a:ea typeface="微软雅黑" panose="020B0503020204020204" pitchFamily="34" charset="-122"/>
                </a:rPr>
                <a:t>2    </a:t>
              </a:r>
              <a:r>
                <a:rPr kumimoji="1" lang="zh-CN" altLang="en-US" sz="1600" b="1" dirty="0" smtClean="0">
                  <a:solidFill>
                    <a:srgbClr val="1C1C1C"/>
                  </a:solidFill>
                  <a:latin typeface="微软雅黑" panose="020B0503020204020204" pitchFamily="34" charset="-122"/>
                  <a:ea typeface="微软雅黑" panose="020B0503020204020204" pitchFamily="34" charset="-122"/>
                </a:rPr>
                <a:t>网</a:t>
              </a:r>
              <a:r>
                <a:rPr kumimoji="1" lang="zh-CN" altLang="en-US" sz="1600" b="1" dirty="0">
                  <a:solidFill>
                    <a:srgbClr val="1C1C1C"/>
                  </a:solidFill>
                  <a:latin typeface="微软雅黑" panose="020B0503020204020204" pitchFamily="34" charset="-122"/>
                  <a:ea typeface="微软雅黑" panose="020B0503020204020204" pitchFamily="34" charset="-122"/>
                </a:rPr>
                <a:t>际层 </a:t>
              </a:r>
              <a:r>
                <a:rPr kumimoji="1" lang="en-US" altLang="zh-CN" sz="1600" b="1" dirty="0">
                  <a:solidFill>
                    <a:srgbClr val="1C1C1C"/>
                  </a:solidFill>
                  <a:latin typeface="微软雅黑" panose="020B0503020204020204" pitchFamily="34" charset="-122"/>
                  <a:ea typeface="微软雅黑" panose="020B0503020204020204" pitchFamily="34" charset="-122"/>
                </a:rPr>
                <a:t>IP</a:t>
              </a:r>
            </a:p>
          </p:txBody>
        </p:sp>
        <p:sp>
          <p:nvSpPr>
            <p:cNvPr id="39" name="Text Box 16"/>
            <p:cNvSpPr txBox="1">
              <a:spLocks noChangeArrowheads="1"/>
            </p:cNvSpPr>
            <p:nvPr/>
          </p:nvSpPr>
          <p:spPr bwMode="auto">
            <a:xfrm>
              <a:off x="3691586" y="2104523"/>
              <a:ext cx="1635080" cy="514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600" b="1" dirty="0">
                  <a:solidFill>
                    <a:srgbClr val="1C1C1C"/>
                  </a:solidFill>
                  <a:latin typeface="微软雅黑" panose="020B0503020204020204" pitchFamily="34" charset="-122"/>
                  <a:ea typeface="微软雅黑" panose="020B0503020204020204" pitchFamily="34" charset="-122"/>
                </a:rPr>
                <a:t>(</a:t>
              </a:r>
              <a:r>
                <a:rPr kumimoji="1" lang="zh-CN" altLang="en-US" sz="1600" b="1" dirty="0">
                  <a:solidFill>
                    <a:srgbClr val="1C1C1C"/>
                  </a:solidFill>
                  <a:latin typeface="微软雅黑" panose="020B0503020204020204" pitchFamily="34" charset="-122"/>
                  <a:ea typeface="微软雅黑" panose="020B0503020204020204" pitchFamily="34" charset="-122"/>
                </a:rPr>
                <a:t>各种应用层协议，如</a:t>
              </a:r>
            </a:p>
            <a:p>
              <a:pPr algn="ctr"/>
              <a:r>
                <a:rPr kumimoji="1" lang="en-US" altLang="zh-CN" sz="1600" b="1" dirty="0">
                  <a:solidFill>
                    <a:srgbClr val="1C1C1C"/>
                  </a:solidFill>
                  <a:latin typeface="微软雅黑" panose="020B0503020204020204" pitchFamily="34" charset="-122"/>
                  <a:ea typeface="微软雅黑" panose="020B0503020204020204" pitchFamily="34" charset="-122"/>
                </a:rPr>
                <a:t>DNS, HTTP, SMTP </a:t>
              </a:r>
              <a:r>
                <a:rPr kumimoji="1" lang="zh-CN" altLang="zh-CN" sz="1600" b="1" dirty="0">
                  <a:solidFill>
                    <a:srgbClr val="1C1C1C"/>
                  </a:solidFill>
                  <a:latin typeface="微软雅黑" panose="020B0503020204020204" pitchFamily="34" charset="-122"/>
                  <a:ea typeface="微软雅黑" panose="020B0503020204020204" pitchFamily="34" charset="-122"/>
                </a:rPr>
                <a:t>等</a:t>
              </a:r>
              <a:r>
                <a:rPr kumimoji="1" lang="en-US" altLang="zh-CN" sz="1600" b="1" dirty="0">
                  <a:solidFill>
                    <a:srgbClr val="1C1C1C"/>
                  </a:solidFill>
                  <a:latin typeface="微软雅黑" panose="020B0503020204020204" pitchFamily="34" charset="-122"/>
                  <a:ea typeface="微软雅黑" panose="020B0503020204020204" pitchFamily="34" charset="-122"/>
                </a:rPr>
                <a:t>)</a:t>
              </a:r>
            </a:p>
          </p:txBody>
        </p:sp>
        <p:sp>
          <p:nvSpPr>
            <p:cNvPr id="40" name="Text Box 41"/>
            <p:cNvSpPr txBox="1">
              <a:spLocks noChangeArrowheads="1"/>
            </p:cNvSpPr>
            <p:nvPr/>
          </p:nvSpPr>
          <p:spPr bwMode="auto">
            <a:xfrm>
              <a:off x="3647071" y="2667596"/>
              <a:ext cx="1988389" cy="29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dirty="0" smtClean="0">
                  <a:solidFill>
                    <a:srgbClr val="1C1C1C"/>
                  </a:solidFill>
                  <a:latin typeface="微软雅黑" panose="020B0503020204020204" pitchFamily="34" charset="-122"/>
                  <a:ea typeface="微软雅黑" panose="020B0503020204020204" pitchFamily="34" charset="-122"/>
                </a:rPr>
                <a:t>3    </a:t>
              </a:r>
              <a:r>
                <a:rPr kumimoji="1" lang="zh-CN" altLang="en-US" sz="1600" b="1" dirty="0" smtClean="0">
                  <a:solidFill>
                    <a:srgbClr val="1C1C1C"/>
                  </a:solidFill>
                  <a:latin typeface="微软雅黑" panose="020B0503020204020204" pitchFamily="34" charset="-122"/>
                  <a:ea typeface="微软雅黑" panose="020B0503020204020204" pitchFamily="34" charset="-122"/>
                </a:rPr>
                <a:t>运输层 </a:t>
              </a:r>
              <a:r>
                <a:rPr kumimoji="1" lang="en-US" altLang="zh-CN" sz="1600" b="1" dirty="0">
                  <a:solidFill>
                    <a:srgbClr val="1C1C1C"/>
                  </a:solidFill>
                  <a:latin typeface="微软雅黑" panose="020B0503020204020204" pitchFamily="34" charset="-122"/>
                  <a:ea typeface="微软雅黑" panose="020B0503020204020204" pitchFamily="34" charset="-122"/>
                </a:rPr>
                <a:t>(TCP </a:t>
              </a:r>
              <a:r>
                <a:rPr kumimoji="1" lang="zh-CN" altLang="en-US" sz="1600" b="1" dirty="0">
                  <a:solidFill>
                    <a:srgbClr val="1C1C1C"/>
                  </a:solidFill>
                  <a:latin typeface="微软雅黑" panose="020B0503020204020204" pitchFamily="34" charset="-122"/>
                  <a:ea typeface="微软雅黑" panose="020B0503020204020204" pitchFamily="34" charset="-122"/>
                </a:rPr>
                <a:t>或 </a:t>
              </a:r>
              <a:r>
                <a:rPr kumimoji="1" lang="en-US" altLang="zh-CN" sz="1600" b="1" dirty="0">
                  <a:solidFill>
                    <a:srgbClr val="1C1C1C"/>
                  </a:solidFill>
                  <a:latin typeface="微软雅黑" panose="020B0503020204020204" pitchFamily="34" charset="-122"/>
                  <a:ea typeface="微软雅黑" panose="020B0503020204020204" pitchFamily="34" charset="-122"/>
                </a:rPr>
                <a:t>UDP)</a:t>
              </a:r>
            </a:p>
          </p:txBody>
        </p:sp>
        <p:sp>
          <p:nvSpPr>
            <p:cNvPr id="41" name="Text Box 15"/>
            <p:cNvSpPr txBox="1">
              <a:spLocks noChangeArrowheads="1"/>
            </p:cNvSpPr>
            <p:nvPr/>
          </p:nvSpPr>
          <p:spPr bwMode="auto">
            <a:xfrm>
              <a:off x="3578724" y="3609473"/>
              <a:ext cx="2348945" cy="297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rgbClr val="1C1C1C"/>
                  </a:solidFill>
                  <a:latin typeface="微软雅黑" panose="020B0503020204020204" pitchFamily="34" charset="-122"/>
                  <a:ea typeface="微软雅黑" panose="020B0503020204020204" pitchFamily="34" charset="-122"/>
                </a:rPr>
                <a:t>（这一层并没有具体内容）</a:t>
              </a:r>
            </a:p>
          </p:txBody>
        </p:sp>
      </p:grpSp>
      <p:cxnSp>
        <p:nvCxnSpPr>
          <p:cNvPr id="42" name="直接连接符 41"/>
          <p:cNvCxnSpPr/>
          <p:nvPr/>
        </p:nvCxnSpPr>
        <p:spPr>
          <a:xfrm>
            <a:off x="7331439" y="5157192"/>
            <a:ext cx="692182"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43" name="直接连接符 42"/>
          <p:cNvCxnSpPr/>
          <p:nvPr/>
        </p:nvCxnSpPr>
        <p:spPr>
          <a:xfrm>
            <a:off x="7331439" y="5865397"/>
            <a:ext cx="712391" cy="1"/>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44" name="组合 43"/>
          <p:cNvGrpSpPr/>
          <p:nvPr/>
        </p:nvGrpSpPr>
        <p:grpSpPr>
          <a:xfrm>
            <a:off x="8023621" y="3205834"/>
            <a:ext cx="1960811" cy="2744605"/>
            <a:chOff x="6217820" y="1638891"/>
            <a:chExt cx="1341437" cy="2365815"/>
          </a:xfrm>
        </p:grpSpPr>
        <p:sp>
          <p:nvSpPr>
            <p:cNvPr id="45" name="AutoShape 98"/>
            <p:cNvSpPr>
              <a:spLocks noChangeArrowheads="1"/>
            </p:cNvSpPr>
            <p:nvPr/>
          </p:nvSpPr>
          <p:spPr bwMode="auto">
            <a:xfrm>
              <a:off x="6220995" y="1638891"/>
              <a:ext cx="1338262" cy="2292143"/>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46" name="Freeform 101"/>
            <p:cNvSpPr/>
            <p:nvPr/>
          </p:nvSpPr>
          <p:spPr bwMode="auto">
            <a:xfrm>
              <a:off x="6220995" y="2496718"/>
              <a:ext cx="1328737" cy="172044"/>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8" name="Freeform 103"/>
            <p:cNvSpPr/>
            <p:nvPr/>
          </p:nvSpPr>
          <p:spPr bwMode="auto">
            <a:xfrm>
              <a:off x="6219407" y="3122193"/>
              <a:ext cx="1330325" cy="196850"/>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49" name="Freeform 104"/>
            <p:cNvSpPr/>
            <p:nvPr/>
          </p:nvSpPr>
          <p:spPr bwMode="auto">
            <a:xfrm>
              <a:off x="6217820" y="3434932"/>
              <a:ext cx="1330325" cy="204491"/>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50" name="Text Box 106"/>
            <p:cNvSpPr txBox="1">
              <a:spLocks noChangeArrowheads="1"/>
            </p:cNvSpPr>
            <p:nvPr/>
          </p:nvSpPr>
          <p:spPr bwMode="auto">
            <a:xfrm>
              <a:off x="6667082" y="2698332"/>
              <a:ext cx="547449" cy="29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运输层</a:t>
              </a:r>
            </a:p>
          </p:txBody>
        </p:sp>
        <p:sp>
          <p:nvSpPr>
            <p:cNvPr id="51" name="Text Box 107"/>
            <p:cNvSpPr txBox="1">
              <a:spLocks noChangeArrowheads="1"/>
            </p:cNvSpPr>
            <p:nvPr/>
          </p:nvSpPr>
          <p:spPr bwMode="auto">
            <a:xfrm>
              <a:off x="6675020" y="3013533"/>
              <a:ext cx="547449" cy="29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a:solidFill>
                    <a:schemeClr val="bg1"/>
                  </a:solidFill>
                  <a:latin typeface="微软雅黑" panose="020B0503020204020204" pitchFamily="34" charset="-122"/>
                  <a:ea typeface="微软雅黑" panose="020B0503020204020204" pitchFamily="34" charset="-122"/>
                </a:rPr>
                <a:t>网络层</a:t>
              </a:r>
            </a:p>
          </p:txBody>
        </p:sp>
        <p:sp>
          <p:nvSpPr>
            <p:cNvPr id="52" name="Text Box 108"/>
            <p:cNvSpPr txBox="1">
              <a:spLocks noChangeArrowheads="1"/>
            </p:cNvSpPr>
            <p:nvPr/>
          </p:nvSpPr>
          <p:spPr bwMode="auto">
            <a:xfrm>
              <a:off x="6675020" y="2061413"/>
              <a:ext cx="547449" cy="29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应用层</a:t>
              </a:r>
            </a:p>
          </p:txBody>
        </p:sp>
        <p:sp>
          <p:nvSpPr>
            <p:cNvPr id="53" name="Text Box 110"/>
            <p:cNvSpPr txBox="1">
              <a:spLocks noChangeArrowheads="1"/>
            </p:cNvSpPr>
            <p:nvPr/>
          </p:nvSpPr>
          <p:spPr bwMode="auto">
            <a:xfrm>
              <a:off x="6571832" y="3319044"/>
              <a:ext cx="828192" cy="29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数据链路层</a:t>
              </a:r>
            </a:p>
          </p:txBody>
        </p:sp>
        <p:sp>
          <p:nvSpPr>
            <p:cNvPr id="54" name="Text Box 111"/>
            <p:cNvSpPr txBox="1">
              <a:spLocks noChangeArrowheads="1"/>
            </p:cNvSpPr>
            <p:nvPr/>
          </p:nvSpPr>
          <p:spPr bwMode="auto">
            <a:xfrm>
              <a:off x="6675020" y="3633369"/>
              <a:ext cx="547449" cy="29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600" b="1" dirty="0">
                  <a:solidFill>
                    <a:schemeClr val="bg1"/>
                  </a:solidFill>
                  <a:latin typeface="微软雅黑" panose="020B0503020204020204" pitchFamily="34" charset="-122"/>
                  <a:ea typeface="微软雅黑" panose="020B0503020204020204" pitchFamily="34" charset="-122"/>
                </a:rPr>
                <a:t>物理层</a:t>
              </a:r>
            </a:p>
          </p:txBody>
        </p:sp>
        <p:sp>
          <p:nvSpPr>
            <p:cNvPr id="55" name="Text Box 112"/>
            <p:cNvSpPr txBox="1">
              <a:spLocks noChangeArrowheads="1"/>
            </p:cNvSpPr>
            <p:nvPr/>
          </p:nvSpPr>
          <p:spPr bwMode="auto">
            <a:xfrm>
              <a:off x="6282907" y="1681124"/>
              <a:ext cx="212970" cy="2323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ts val="285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ts val="2850"/>
                </a:lnSpc>
              </a:pPr>
              <a:r>
                <a:rPr kumimoji="1" lang="en-US" altLang="zh-CN" sz="1600" b="1" dirty="0" smtClean="0">
                  <a:solidFill>
                    <a:schemeClr val="bg1"/>
                  </a:solidFill>
                  <a:latin typeface="微软雅黑" panose="020B0503020204020204" pitchFamily="34" charset="-122"/>
                  <a:ea typeface="微软雅黑" panose="020B0503020204020204" pitchFamily="34" charset="-122"/>
                </a:rPr>
                <a:t>5</a:t>
              </a: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ts val="2850"/>
                </a:lnSpc>
              </a:pPr>
              <a:endParaRPr kumimoji="1" lang="en-US" altLang="zh-CN" sz="1600" b="1" dirty="0">
                <a:solidFill>
                  <a:schemeClr val="bg1"/>
                </a:solidFill>
                <a:latin typeface="微软雅黑" panose="020B0503020204020204" pitchFamily="34" charset="-122"/>
                <a:ea typeface="微软雅黑" panose="020B0503020204020204" pitchFamily="34" charset="-122"/>
              </a:endParaRPr>
            </a:p>
            <a:p>
              <a:pPr>
                <a:lnSpc>
                  <a:spcPts val="2850"/>
                </a:lnSpc>
              </a:pPr>
              <a:r>
                <a:rPr kumimoji="1" lang="en-US" altLang="zh-CN" sz="1600" b="1" dirty="0">
                  <a:solidFill>
                    <a:schemeClr val="bg1"/>
                  </a:solidFill>
                  <a:latin typeface="微软雅黑" panose="020B0503020204020204" pitchFamily="34" charset="-122"/>
                  <a:ea typeface="微软雅黑" panose="020B0503020204020204" pitchFamily="34" charset="-122"/>
                </a:rPr>
                <a:t>4</a:t>
              </a:r>
            </a:p>
            <a:p>
              <a:pPr>
                <a:lnSpc>
                  <a:spcPts val="2850"/>
                </a:lnSpc>
              </a:pPr>
              <a:r>
                <a:rPr kumimoji="1" lang="en-US" altLang="zh-CN" sz="1600" b="1" dirty="0">
                  <a:solidFill>
                    <a:schemeClr val="bg1"/>
                  </a:solidFill>
                  <a:latin typeface="微软雅黑" panose="020B0503020204020204" pitchFamily="34" charset="-122"/>
                  <a:ea typeface="微软雅黑" panose="020B0503020204020204" pitchFamily="34" charset="-122"/>
                </a:rPr>
                <a:t>3</a:t>
              </a:r>
            </a:p>
            <a:p>
              <a:pPr>
                <a:lnSpc>
                  <a:spcPts val="2850"/>
                </a:lnSpc>
              </a:pPr>
              <a:r>
                <a:rPr kumimoji="1" lang="en-US" altLang="zh-CN" sz="1600" b="1" dirty="0">
                  <a:solidFill>
                    <a:schemeClr val="bg1"/>
                  </a:solidFill>
                  <a:latin typeface="微软雅黑" panose="020B0503020204020204" pitchFamily="34" charset="-122"/>
                  <a:ea typeface="微软雅黑" panose="020B0503020204020204" pitchFamily="34" charset="-122"/>
                </a:rPr>
                <a:t>2</a:t>
              </a:r>
            </a:p>
            <a:p>
              <a:pPr>
                <a:lnSpc>
                  <a:spcPts val="2850"/>
                </a:lnSpc>
              </a:pPr>
              <a:r>
                <a:rPr kumimoji="1" lang="en-US" altLang="zh-CN" sz="16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5735079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smtClean="0"/>
              <a:t>各层的主要功能</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4" name="圆角矩形 3"/>
          <p:cNvSpPr/>
          <p:nvPr/>
        </p:nvSpPr>
        <p:spPr>
          <a:xfrm>
            <a:off x="983432" y="2204864"/>
            <a:ext cx="10081120"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4"/>
          <p:cNvGrpSpPr/>
          <p:nvPr/>
        </p:nvGrpSpPr>
        <p:grpSpPr>
          <a:xfrm>
            <a:off x="1343467" y="2492896"/>
            <a:ext cx="2513176" cy="3587406"/>
            <a:chOff x="6217816" y="1623594"/>
            <a:chExt cx="1341441" cy="2306614"/>
          </a:xfrm>
        </p:grpSpPr>
        <p:sp>
          <p:nvSpPr>
            <p:cNvPr id="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1" name="Text Box 106"/>
            <p:cNvSpPr txBox="1">
              <a:spLocks noChangeArrowheads="1"/>
            </p:cNvSpPr>
            <p:nvPr/>
          </p:nvSpPr>
          <p:spPr bwMode="auto">
            <a:xfrm>
              <a:off x="6217817" y="2698332"/>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4      </a:t>
              </a:r>
              <a:r>
                <a:rPr kumimoji="1" lang="zh-CN" altLang="en-US" sz="24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Text Box 107"/>
            <p:cNvSpPr txBox="1">
              <a:spLocks noChangeArrowheads="1"/>
            </p:cNvSpPr>
            <p:nvPr/>
          </p:nvSpPr>
          <p:spPr bwMode="auto">
            <a:xfrm>
              <a:off x="6217816" y="30237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3      </a:t>
              </a:r>
              <a:r>
                <a:rPr kumimoji="1" lang="zh-CN" altLang="en-US" sz="2400" b="1" dirty="0" smtClean="0">
                  <a:solidFill>
                    <a:schemeClr val="bg1"/>
                  </a:solidFill>
                  <a:latin typeface="微软雅黑" panose="020B0503020204020204" pitchFamily="34" charset="-122"/>
                  <a:ea typeface="微软雅黑" panose="020B0503020204020204" pitchFamily="34" charset="-122"/>
                </a:rPr>
                <a:t>网络层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3" name="Text Box 108"/>
            <p:cNvSpPr txBox="1">
              <a:spLocks noChangeArrowheads="1"/>
            </p:cNvSpPr>
            <p:nvPr/>
          </p:nvSpPr>
          <p:spPr bwMode="auto">
            <a:xfrm>
              <a:off x="6217819" y="2020469"/>
              <a:ext cx="984995"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5      </a:t>
              </a:r>
              <a:r>
                <a:rPr kumimoji="1" lang="zh-CN" altLang="en-US" sz="2400" b="1" dirty="0" smtClean="0">
                  <a:solidFill>
                    <a:schemeClr val="bg1"/>
                  </a:solidFill>
                  <a:latin typeface="微软雅黑" panose="020B0503020204020204" pitchFamily="34" charset="-122"/>
                  <a:ea typeface="微软雅黑" panose="020B0503020204020204" pitchFamily="34" charset="-122"/>
                </a:rPr>
                <a:t>应用层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 name="Text Box 110"/>
            <p:cNvSpPr txBox="1">
              <a:spLocks noChangeArrowheads="1"/>
            </p:cNvSpPr>
            <p:nvPr/>
          </p:nvSpPr>
          <p:spPr bwMode="auto">
            <a:xfrm>
              <a:off x="6217819" y="3319044"/>
              <a:ext cx="1167242"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2   </a:t>
              </a:r>
              <a:r>
                <a:rPr kumimoji="1" lang="zh-CN" altLang="en-US" sz="2400" b="1" dirty="0" smtClean="0">
                  <a:solidFill>
                    <a:schemeClr val="bg1"/>
                  </a:solidFill>
                  <a:latin typeface="微软雅黑" panose="020B0503020204020204" pitchFamily="34" charset="-122"/>
                  <a:ea typeface="微软雅黑" panose="020B0503020204020204" pitchFamily="34" charset="-122"/>
                </a:rPr>
                <a:t>数据链路层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5" name="Text Box 111"/>
            <p:cNvSpPr txBox="1">
              <a:spLocks noChangeArrowheads="1"/>
            </p:cNvSpPr>
            <p:nvPr/>
          </p:nvSpPr>
          <p:spPr bwMode="auto">
            <a:xfrm>
              <a:off x="6217819" y="36333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1      </a:t>
              </a:r>
              <a:r>
                <a:rPr kumimoji="1" lang="zh-CN" altLang="en-US" sz="2400" b="1" dirty="0" smtClean="0">
                  <a:solidFill>
                    <a:schemeClr val="bg1"/>
                  </a:solidFill>
                  <a:latin typeface="微软雅黑" panose="020B0503020204020204" pitchFamily="34" charset="-122"/>
                  <a:ea typeface="微软雅黑" panose="020B0503020204020204" pitchFamily="34" charset="-122"/>
                </a:rPr>
                <a:t>物理层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7" name="线形标注 1 16"/>
          <p:cNvSpPr/>
          <p:nvPr/>
        </p:nvSpPr>
        <p:spPr>
          <a:xfrm>
            <a:off x="4367898" y="2581562"/>
            <a:ext cx="6048582" cy="3488901"/>
          </a:xfrm>
          <a:prstGeom prst="borderCallout1">
            <a:avLst>
              <a:gd name="adj1" fmla="val 13162"/>
              <a:gd name="adj2" fmla="val 31"/>
              <a:gd name="adj3" fmla="val 22639"/>
              <a:gd name="adj4" fmla="val -18632"/>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ct val="150000"/>
              </a:lnSpc>
              <a:buFont typeface="Wingdings" panose="05000000000000000000" pitchFamily="2" charset="2"/>
              <a:buChar char="l"/>
            </a:pPr>
            <a:r>
              <a:rPr lang="zh-CN" altLang="en-US" sz="2800" b="1" dirty="0" smtClean="0">
                <a:solidFill>
                  <a:srgbClr val="0000FF"/>
                </a:solidFill>
                <a:latin typeface="微软雅黑" panose="020B0503020204020204" pitchFamily="34" charset="-122"/>
                <a:ea typeface="微软雅黑" panose="020B0503020204020204" pitchFamily="34" charset="-122"/>
              </a:rPr>
              <a:t>任务：</a:t>
            </a:r>
            <a:r>
              <a:rPr lang="zh-CN" altLang="en-US" sz="2800" b="1" dirty="0" smtClean="0">
                <a:solidFill>
                  <a:srgbClr val="000066"/>
                </a:solidFill>
                <a:latin typeface="微软雅黑" panose="020B0503020204020204" pitchFamily="34" charset="-122"/>
                <a:ea typeface="微软雅黑" panose="020B0503020204020204" pitchFamily="34" charset="-122"/>
              </a:rPr>
              <a:t>通过</a:t>
            </a:r>
            <a:r>
              <a:rPr lang="zh-CN" altLang="en-US" sz="2800" b="1" dirty="0">
                <a:solidFill>
                  <a:srgbClr val="000066"/>
                </a:solidFill>
                <a:latin typeface="微软雅黑" panose="020B0503020204020204" pitchFamily="34" charset="-122"/>
                <a:ea typeface="微软雅黑" panose="020B0503020204020204" pitchFamily="34" charset="-122"/>
              </a:rPr>
              <a:t>应用进程间的交互来完成特定网络应用。</a:t>
            </a:r>
          </a:p>
          <a:p>
            <a:pPr marL="285750" indent="-285750">
              <a:lnSpc>
                <a:spcPct val="150000"/>
              </a:lnSpc>
              <a:buFont typeface="Wingdings" panose="05000000000000000000" pitchFamily="2" charset="2"/>
              <a:buChar char="l"/>
            </a:pPr>
            <a:r>
              <a:rPr lang="zh-CN" altLang="en-US" sz="2800" b="1" dirty="0" smtClean="0">
                <a:solidFill>
                  <a:schemeClr val="tx2">
                    <a:lumMod val="60000"/>
                    <a:lumOff val="40000"/>
                  </a:schemeClr>
                </a:solidFill>
                <a:latin typeface="微软雅黑" panose="020B0503020204020204" pitchFamily="34" charset="-122"/>
                <a:ea typeface="微软雅黑" panose="020B0503020204020204" pitchFamily="34" charset="-122"/>
              </a:rPr>
              <a:t>数据单元：</a:t>
            </a:r>
            <a:r>
              <a:rPr lang="zh-CN" altLang="en-US" sz="2800" b="1" dirty="0" smtClean="0">
                <a:solidFill>
                  <a:srgbClr val="C00000"/>
                </a:solidFill>
                <a:latin typeface="微软雅黑" panose="020B0503020204020204" pitchFamily="34" charset="-122"/>
                <a:ea typeface="微软雅黑" panose="020B0503020204020204" pitchFamily="34" charset="-122"/>
              </a:rPr>
              <a:t>报文</a:t>
            </a:r>
            <a:r>
              <a:rPr lang="en-US" altLang="zh-CN" sz="2800" b="1" dirty="0">
                <a:solidFill>
                  <a:srgbClr val="000066"/>
                </a:solidFill>
                <a:latin typeface="微软雅黑" panose="020B0503020204020204" pitchFamily="34" charset="-122"/>
                <a:ea typeface="微软雅黑" panose="020B0503020204020204" pitchFamily="34" charset="-122"/>
              </a:rPr>
              <a:t>(message)</a:t>
            </a:r>
            <a:r>
              <a:rPr lang="zh-CN" altLang="en-US" sz="2800" b="1" dirty="0" smtClean="0">
                <a:solidFill>
                  <a:srgbClr val="000066"/>
                </a:solidFill>
                <a:latin typeface="微软雅黑" panose="020B0503020204020204" pitchFamily="34" charset="-122"/>
                <a:ea typeface="微软雅黑" panose="020B0503020204020204" pitchFamily="34" charset="-122"/>
              </a:rPr>
              <a:t>。</a:t>
            </a:r>
            <a:endParaRPr lang="en-US" altLang="zh-CN" sz="28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2800" b="1" dirty="0">
                <a:solidFill>
                  <a:schemeClr val="tx2">
                    <a:lumMod val="60000"/>
                    <a:lumOff val="40000"/>
                  </a:schemeClr>
                </a:solidFill>
                <a:latin typeface="微软雅黑" panose="020B0503020204020204" pitchFamily="34" charset="-122"/>
                <a:ea typeface="微软雅黑" panose="020B0503020204020204" pitchFamily="34" charset="-122"/>
              </a:rPr>
              <a:t>常用</a:t>
            </a:r>
            <a:r>
              <a:rPr lang="zh-CN" altLang="en-US" sz="2800" b="1" dirty="0" smtClean="0">
                <a:solidFill>
                  <a:schemeClr val="tx2">
                    <a:lumMod val="60000"/>
                    <a:lumOff val="40000"/>
                  </a:schemeClr>
                </a:solidFill>
                <a:latin typeface="微软雅黑" panose="020B0503020204020204" pitchFamily="34" charset="-122"/>
                <a:ea typeface="微软雅黑" panose="020B0503020204020204" pitchFamily="34" charset="-122"/>
              </a:rPr>
              <a:t>协议：</a:t>
            </a:r>
            <a:r>
              <a:rPr lang="en-US" altLang="zh-CN" sz="2800" b="1" dirty="0" smtClean="0">
                <a:solidFill>
                  <a:srgbClr val="C00000"/>
                </a:solidFill>
                <a:latin typeface="微软雅黑" panose="020B0503020204020204" pitchFamily="34" charset="-122"/>
                <a:ea typeface="微软雅黑" panose="020B0503020204020204" pitchFamily="34" charset="-122"/>
              </a:rPr>
              <a:t>DNS</a:t>
            </a:r>
            <a:r>
              <a:rPr lang="zh-CN" altLang="en-US" sz="2800" b="1" dirty="0" smtClean="0">
                <a:solidFill>
                  <a:srgbClr val="000066"/>
                </a:solidFill>
                <a:latin typeface="微软雅黑" panose="020B0503020204020204" pitchFamily="34" charset="-122"/>
                <a:ea typeface="微软雅黑" panose="020B0503020204020204" pitchFamily="34" charset="-122"/>
              </a:rPr>
              <a:t>，</a:t>
            </a:r>
            <a:r>
              <a:rPr lang="en-US" altLang="zh-CN" sz="2800" b="1" dirty="0" smtClean="0">
                <a:solidFill>
                  <a:srgbClr val="C00000"/>
                </a:solidFill>
                <a:latin typeface="微软雅黑" panose="020B0503020204020204" pitchFamily="34" charset="-122"/>
                <a:ea typeface="微软雅黑" panose="020B0503020204020204" pitchFamily="34" charset="-122"/>
              </a:rPr>
              <a:t>HTTP</a:t>
            </a:r>
            <a:r>
              <a:rPr lang="zh-CN" altLang="en-US" sz="2800" b="1" dirty="0" smtClean="0">
                <a:solidFill>
                  <a:srgbClr val="000066"/>
                </a:solidFill>
                <a:latin typeface="微软雅黑" panose="020B0503020204020204" pitchFamily="34" charset="-122"/>
                <a:ea typeface="微软雅黑" panose="020B0503020204020204" pitchFamily="34" charset="-122"/>
              </a:rPr>
              <a:t>，</a:t>
            </a:r>
            <a:r>
              <a:rPr lang="en-US" altLang="zh-CN" sz="2800" b="1" dirty="0" smtClean="0">
                <a:solidFill>
                  <a:srgbClr val="C00000"/>
                </a:solidFill>
                <a:latin typeface="微软雅黑" panose="020B0503020204020204" pitchFamily="34" charset="-122"/>
                <a:ea typeface="微软雅黑" panose="020B0503020204020204" pitchFamily="34" charset="-122"/>
              </a:rPr>
              <a:t>SMTP</a:t>
            </a:r>
          </a:p>
          <a:p>
            <a:pPr marL="285750" indent="-285750">
              <a:lnSpc>
                <a:spcPct val="150000"/>
              </a:lnSpc>
              <a:buFont typeface="Wingdings" panose="05000000000000000000" pitchFamily="2" charset="2"/>
              <a:buChar char="l"/>
            </a:pP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9378104"/>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smtClean="0"/>
              <a:t>各层的主要功能</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4" name="圆角矩形 3"/>
          <p:cNvSpPr/>
          <p:nvPr/>
        </p:nvSpPr>
        <p:spPr>
          <a:xfrm>
            <a:off x="983432" y="2204864"/>
            <a:ext cx="10081120"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4"/>
          <p:cNvGrpSpPr/>
          <p:nvPr/>
        </p:nvGrpSpPr>
        <p:grpSpPr>
          <a:xfrm>
            <a:off x="1343467" y="2492896"/>
            <a:ext cx="2513176" cy="3587406"/>
            <a:chOff x="6217816" y="1623594"/>
            <a:chExt cx="1341441" cy="2306614"/>
          </a:xfrm>
        </p:grpSpPr>
        <p:sp>
          <p:nvSpPr>
            <p:cNvPr id="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1" name="Text Box 106"/>
            <p:cNvSpPr txBox="1">
              <a:spLocks noChangeArrowheads="1"/>
            </p:cNvSpPr>
            <p:nvPr/>
          </p:nvSpPr>
          <p:spPr bwMode="auto">
            <a:xfrm>
              <a:off x="6217817" y="2698332"/>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4      </a:t>
              </a:r>
              <a:r>
                <a:rPr kumimoji="1" lang="zh-CN" altLang="en-US" sz="24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Text Box 107"/>
            <p:cNvSpPr txBox="1">
              <a:spLocks noChangeArrowheads="1"/>
            </p:cNvSpPr>
            <p:nvPr/>
          </p:nvSpPr>
          <p:spPr bwMode="auto">
            <a:xfrm>
              <a:off x="6217816" y="30237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3      </a:t>
              </a:r>
              <a:r>
                <a:rPr kumimoji="1" lang="zh-CN" altLang="en-US" sz="2400" b="1" dirty="0" smtClean="0">
                  <a:solidFill>
                    <a:schemeClr val="bg1"/>
                  </a:solidFill>
                  <a:latin typeface="微软雅黑" panose="020B0503020204020204" pitchFamily="34" charset="-122"/>
                  <a:ea typeface="微软雅黑" panose="020B0503020204020204" pitchFamily="34" charset="-122"/>
                </a:rPr>
                <a:t>网络层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3" name="Text Box 108"/>
            <p:cNvSpPr txBox="1">
              <a:spLocks noChangeArrowheads="1"/>
            </p:cNvSpPr>
            <p:nvPr/>
          </p:nvSpPr>
          <p:spPr bwMode="auto">
            <a:xfrm>
              <a:off x="6217819" y="2020469"/>
              <a:ext cx="984995"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5      </a:t>
              </a:r>
              <a:r>
                <a:rPr kumimoji="1" lang="zh-CN" altLang="en-US" sz="2400" b="1" dirty="0" smtClean="0">
                  <a:solidFill>
                    <a:schemeClr val="bg1"/>
                  </a:solidFill>
                  <a:latin typeface="微软雅黑" panose="020B0503020204020204" pitchFamily="34" charset="-122"/>
                  <a:ea typeface="微软雅黑" panose="020B0503020204020204" pitchFamily="34" charset="-122"/>
                </a:rPr>
                <a:t>应用层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 name="Text Box 110"/>
            <p:cNvSpPr txBox="1">
              <a:spLocks noChangeArrowheads="1"/>
            </p:cNvSpPr>
            <p:nvPr/>
          </p:nvSpPr>
          <p:spPr bwMode="auto">
            <a:xfrm>
              <a:off x="6217819" y="3319044"/>
              <a:ext cx="1167242"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2   </a:t>
              </a:r>
              <a:r>
                <a:rPr kumimoji="1" lang="zh-CN" altLang="en-US" sz="2400" b="1" dirty="0" smtClean="0">
                  <a:solidFill>
                    <a:schemeClr val="bg1"/>
                  </a:solidFill>
                  <a:latin typeface="微软雅黑" panose="020B0503020204020204" pitchFamily="34" charset="-122"/>
                  <a:ea typeface="微软雅黑" panose="020B0503020204020204" pitchFamily="34" charset="-122"/>
                </a:rPr>
                <a:t>数据链路层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5" name="Text Box 111"/>
            <p:cNvSpPr txBox="1">
              <a:spLocks noChangeArrowheads="1"/>
            </p:cNvSpPr>
            <p:nvPr/>
          </p:nvSpPr>
          <p:spPr bwMode="auto">
            <a:xfrm>
              <a:off x="6217819" y="36333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1      </a:t>
              </a:r>
              <a:r>
                <a:rPr kumimoji="1" lang="zh-CN" altLang="en-US" sz="2400" b="1" dirty="0" smtClean="0">
                  <a:solidFill>
                    <a:schemeClr val="bg1"/>
                  </a:solidFill>
                  <a:latin typeface="微软雅黑" panose="020B0503020204020204" pitchFamily="34" charset="-122"/>
                  <a:ea typeface="微软雅黑" panose="020B0503020204020204" pitchFamily="34" charset="-122"/>
                </a:rPr>
                <a:t>物理层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线形标注 1 17"/>
          <p:cNvSpPr/>
          <p:nvPr/>
        </p:nvSpPr>
        <p:spPr>
          <a:xfrm>
            <a:off x="4367898" y="2579701"/>
            <a:ext cx="6048582" cy="3500601"/>
          </a:xfrm>
          <a:prstGeom prst="borderCallout1">
            <a:avLst>
              <a:gd name="adj1" fmla="val 13162"/>
              <a:gd name="adj2" fmla="val 31"/>
              <a:gd name="adj3" fmla="val 52900"/>
              <a:gd name="adj4" fmla="val -18632"/>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t" anchorCtr="0"/>
          <a:lstStyle/>
          <a:p>
            <a:pPr marL="284400" indent="-285750">
              <a:lnSpc>
                <a:spcPct val="140000"/>
              </a:lnSpc>
              <a:buFont typeface="Wingdings" panose="05000000000000000000" pitchFamily="2" charset="2"/>
              <a:buChar char="l"/>
            </a:pPr>
            <a:r>
              <a:rPr lang="zh-CN" altLang="en-US" sz="2800" b="1" dirty="0" smtClean="0">
                <a:solidFill>
                  <a:srgbClr val="0000FF"/>
                </a:solidFill>
                <a:latin typeface="微软雅黑" panose="020B0503020204020204" pitchFamily="34" charset="-122"/>
                <a:ea typeface="微软雅黑" panose="020B0503020204020204" pitchFamily="34" charset="-122"/>
              </a:rPr>
              <a:t>任务：</a:t>
            </a:r>
            <a:r>
              <a:rPr lang="zh-CN" altLang="en-US" sz="2800" b="1" dirty="0" smtClean="0">
                <a:solidFill>
                  <a:srgbClr val="000066"/>
                </a:solidFill>
                <a:latin typeface="微软雅黑" panose="020B0503020204020204" pitchFamily="34" charset="-122"/>
                <a:ea typeface="微软雅黑" panose="020B0503020204020204" pitchFamily="34" charset="-122"/>
              </a:rPr>
              <a:t>为两</a:t>
            </a:r>
            <a:r>
              <a:rPr lang="zh-CN" altLang="en-US" sz="2800" b="1" dirty="0">
                <a:solidFill>
                  <a:srgbClr val="000066"/>
                </a:solidFill>
                <a:latin typeface="微软雅黑" panose="020B0503020204020204" pitchFamily="34" charset="-122"/>
                <a:ea typeface="微软雅黑" panose="020B0503020204020204" pitchFamily="34" charset="-122"/>
              </a:rPr>
              <a:t>台主机中</a:t>
            </a:r>
            <a:r>
              <a:rPr lang="zh-CN" altLang="en-US" sz="2800" b="1" dirty="0">
                <a:solidFill>
                  <a:srgbClr val="C00000"/>
                </a:solidFill>
                <a:latin typeface="微软雅黑" panose="020B0503020204020204" pitchFamily="34" charset="-122"/>
                <a:ea typeface="微软雅黑" panose="020B0503020204020204" pitchFamily="34" charset="-122"/>
              </a:rPr>
              <a:t>进程</a:t>
            </a:r>
            <a:r>
              <a:rPr lang="zh-CN" altLang="en-US" sz="2800" b="1" dirty="0">
                <a:solidFill>
                  <a:srgbClr val="000066"/>
                </a:solidFill>
                <a:latin typeface="微软雅黑" panose="020B0503020204020204" pitchFamily="34" charset="-122"/>
                <a:ea typeface="微软雅黑" panose="020B0503020204020204" pitchFamily="34" charset="-122"/>
              </a:rPr>
              <a:t>之间的通信提供</a:t>
            </a:r>
            <a:r>
              <a:rPr lang="zh-CN" altLang="en-US" sz="2800" b="1" dirty="0">
                <a:solidFill>
                  <a:srgbClr val="C00000"/>
                </a:solidFill>
                <a:latin typeface="微软雅黑" panose="020B0503020204020204" pitchFamily="34" charset="-122"/>
                <a:ea typeface="微软雅黑" panose="020B0503020204020204" pitchFamily="34" charset="-122"/>
              </a:rPr>
              <a:t>通用</a:t>
            </a:r>
            <a:r>
              <a:rPr lang="zh-CN" altLang="en-US" sz="2800" b="1" dirty="0">
                <a:solidFill>
                  <a:srgbClr val="000066"/>
                </a:solidFill>
                <a:latin typeface="微软雅黑" panose="020B0503020204020204" pitchFamily="34" charset="-122"/>
                <a:ea typeface="微软雅黑" panose="020B0503020204020204" pitchFamily="34" charset="-122"/>
              </a:rPr>
              <a:t>的数据传输服务。</a:t>
            </a:r>
          </a:p>
          <a:p>
            <a:pPr marL="284400" indent="-285750">
              <a:lnSpc>
                <a:spcPct val="140000"/>
              </a:lnSpc>
              <a:buFont typeface="Wingdings" panose="05000000000000000000" pitchFamily="2" charset="2"/>
              <a:buChar char="l"/>
            </a:pPr>
            <a:r>
              <a:rPr lang="zh-CN" altLang="en-US" sz="2800" b="1" dirty="0">
                <a:solidFill>
                  <a:srgbClr val="000066"/>
                </a:solidFill>
                <a:latin typeface="微软雅黑" panose="020B0503020204020204" pitchFamily="34" charset="-122"/>
                <a:ea typeface="微软雅黑" panose="020B0503020204020204" pitchFamily="34" charset="-122"/>
              </a:rPr>
              <a:t>具有复用和分用的功能。</a:t>
            </a:r>
          </a:p>
          <a:p>
            <a:pPr marL="284400" indent="-285750">
              <a:lnSpc>
                <a:spcPct val="140000"/>
              </a:lnSpc>
              <a:buFont typeface="Wingdings" panose="05000000000000000000" pitchFamily="2" charset="2"/>
              <a:buChar char="l"/>
            </a:pPr>
            <a:r>
              <a:rPr lang="zh-CN" altLang="en-US" sz="2800" b="1" dirty="0">
                <a:solidFill>
                  <a:srgbClr val="000066"/>
                </a:solidFill>
                <a:latin typeface="微软雅黑" panose="020B0503020204020204" pitchFamily="34" charset="-122"/>
                <a:ea typeface="微软雅黑" panose="020B0503020204020204" pitchFamily="34" charset="-122"/>
              </a:rPr>
              <a:t>主要使用</a:t>
            </a:r>
            <a:r>
              <a:rPr lang="zh-CN" altLang="en-US" sz="2800" b="1" dirty="0">
                <a:solidFill>
                  <a:schemeClr val="tx2">
                    <a:lumMod val="60000"/>
                    <a:lumOff val="40000"/>
                  </a:schemeClr>
                </a:solidFill>
                <a:latin typeface="微软雅黑" panose="020B0503020204020204" pitchFamily="34" charset="-122"/>
                <a:ea typeface="微软雅黑" panose="020B0503020204020204" pitchFamily="34" charset="-122"/>
              </a:rPr>
              <a:t>两种协议： </a:t>
            </a:r>
          </a:p>
          <a:p>
            <a:pPr marL="741600" lvl="2" indent="-285750">
              <a:lnSpc>
                <a:spcPct val="140000"/>
              </a:lnSpc>
              <a:buClr>
                <a:schemeClr val="accent6">
                  <a:lumMod val="75000"/>
                </a:schemeClr>
              </a:buClr>
              <a:buFont typeface="Wingdings" panose="05000000000000000000" pitchFamily="2" charset="2"/>
              <a:buChar char="u"/>
            </a:pPr>
            <a:r>
              <a:rPr lang="zh-CN" altLang="en-US" sz="2400" b="1" dirty="0">
                <a:solidFill>
                  <a:srgbClr val="000066"/>
                </a:solidFill>
                <a:latin typeface="微软雅黑" panose="020B0503020204020204" pitchFamily="34" charset="-122"/>
                <a:ea typeface="微软雅黑" panose="020B0503020204020204" pitchFamily="34" charset="-122"/>
              </a:rPr>
              <a:t>传输控制协议 </a:t>
            </a:r>
            <a:r>
              <a:rPr lang="en-US" altLang="zh-CN" sz="2400" b="1" dirty="0">
                <a:solidFill>
                  <a:srgbClr val="C00000"/>
                </a:solidFill>
                <a:latin typeface="微软雅黑" panose="020B0503020204020204" pitchFamily="34" charset="-122"/>
                <a:ea typeface="微软雅黑" panose="020B0503020204020204" pitchFamily="34" charset="-122"/>
              </a:rPr>
              <a:t>TCP</a:t>
            </a:r>
            <a:r>
              <a:rPr lang="en-US" altLang="zh-CN" sz="2400" b="1" dirty="0">
                <a:solidFill>
                  <a:srgbClr val="000066"/>
                </a:solidFill>
                <a:latin typeface="微软雅黑" panose="020B0503020204020204" pitchFamily="34" charset="-122"/>
                <a:ea typeface="微软雅黑" panose="020B0503020204020204" pitchFamily="34" charset="-122"/>
              </a:rPr>
              <a:t> </a:t>
            </a:r>
          </a:p>
          <a:p>
            <a:pPr marL="741600" lvl="2" indent="-285750">
              <a:lnSpc>
                <a:spcPct val="140000"/>
              </a:lnSpc>
              <a:buClr>
                <a:schemeClr val="accent6">
                  <a:lumMod val="75000"/>
                </a:schemeClr>
              </a:buClr>
              <a:buFont typeface="Wingdings" panose="05000000000000000000" pitchFamily="2" charset="2"/>
              <a:buChar char="u"/>
            </a:pPr>
            <a:r>
              <a:rPr lang="zh-CN" altLang="en-US" sz="2400" b="1" dirty="0">
                <a:solidFill>
                  <a:srgbClr val="000066"/>
                </a:solidFill>
                <a:latin typeface="微软雅黑" panose="020B0503020204020204" pitchFamily="34" charset="-122"/>
                <a:ea typeface="微软雅黑" panose="020B0503020204020204" pitchFamily="34" charset="-122"/>
              </a:rPr>
              <a:t>用户数据报协议 </a:t>
            </a:r>
            <a:r>
              <a:rPr lang="en-US" altLang="zh-CN" sz="2400" b="1" dirty="0">
                <a:solidFill>
                  <a:srgbClr val="C00000"/>
                </a:solidFill>
                <a:latin typeface="微软雅黑" panose="020B0503020204020204" pitchFamily="34" charset="-122"/>
                <a:ea typeface="微软雅黑" panose="020B0503020204020204" pitchFamily="34" charset="-122"/>
              </a:rPr>
              <a:t>UDP</a:t>
            </a:r>
            <a:r>
              <a:rPr lang="en-US" altLang="zh-CN" sz="2400" b="1" dirty="0">
                <a:solidFill>
                  <a:srgbClr val="000066"/>
                </a:solidFill>
                <a:latin typeface="微软雅黑" panose="020B0503020204020204" pitchFamily="34" charset="-122"/>
                <a:ea typeface="微软雅黑" panose="020B0503020204020204" pitchFamily="34" charset="-122"/>
              </a:rPr>
              <a:t> </a:t>
            </a:r>
            <a:endParaRPr lang="zh-CN" altLang="en-US" sz="2400" b="1" dirty="0">
              <a:solidFill>
                <a:srgbClr val="000066"/>
              </a:solidFill>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l"/>
            </a:pPr>
            <a:endParaRPr lang="en-US" altLang="zh-CN" sz="28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sz="2800" b="1" dirty="0">
              <a:solidFill>
                <a:srgbClr val="0000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47873383"/>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smtClean="0"/>
              <a:t>各层的主要功能</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4" name="圆角矩形 3"/>
          <p:cNvSpPr/>
          <p:nvPr/>
        </p:nvSpPr>
        <p:spPr>
          <a:xfrm>
            <a:off x="983432" y="2204864"/>
            <a:ext cx="10081120"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4"/>
          <p:cNvGrpSpPr/>
          <p:nvPr/>
        </p:nvGrpSpPr>
        <p:grpSpPr>
          <a:xfrm>
            <a:off x="1343467" y="2492896"/>
            <a:ext cx="2513176" cy="3587406"/>
            <a:chOff x="6217816" y="1623594"/>
            <a:chExt cx="1341441" cy="2306614"/>
          </a:xfrm>
        </p:grpSpPr>
        <p:sp>
          <p:nvSpPr>
            <p:cNvPr id="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1" name="Text Box 106"/>
            <p:cNvSpPr txBox="1">
              <a:spLocks noChangeArrowheads="1"/>
            </p:cNvSpPr>
            <p:nvPr/>
          </p:nvSpPr>
          <p:spPr bwMode="auto">
            <a:xfrm>
              <a:off x="6217817" y="2698332"/>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4      </a:t>
              </a:r>
              <a:r>
                <a:rPr kumimoji="1" lang="zh-CN" altLang="en-US" sz="24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Text Box 107"/>
            <p:cNvSpPr txBox="1">
              <a:spLocks noChangeArrowheads="1"/>
            </p:cNvSpPr>
            <p:nvPr/>
          </p:nvSpPr>
          <p:spPr bwMode="auto">
            <a:xfrm>
              <a:off x="6217816" y="30237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3      </a:t>
              </a:r>
              <a:r>
                <a:rPr kumimoji="1" lang="zh-CN" altLang="en-US" sz="2400" b="1" dirty="0" smtClean="0">
                  <a:solidFill>
                    <a:schemeClr val="bg1"/>
                  </a:solidFill>
                  <a:latin typeface="微软雅黑" panose="020B0503020204020204" pitchFamily="34" charset="-122"/>
                  <a:ea typeface="微软雅黑" panose="020B0503020204020204" pitchFamily="34" charset="-122"/>
                </a:rPr>
                <a:t>网络层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3" name="Text Box 108"/>
            <p:cNvSpPr txBox="1">
              <a:spLocks noChangeArrowheads="1"/>
            </p:cNvSpPr>
            <p:nvPr/>
          </p:nvSpPr>
          <p:spPr bwMode="auto">
            <a:xfrm>
              <a:off x="6217819" y="2020469"/>
              <a:ext cx="984995"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5      </a:t>
              </a:r>
              <a:r>
                <a:rPr kumimoji="1" lang="zh-CN" altLang="en-US" sz="2400" b="1" dirty="0" smtClean="0">
                  <a:solidFill>
                    <a:schemeClr val="bg1"/>
                  </a:solidFill>
                  <a:latin typeface="微软雅黑" panose="020B0503020204020204" pitchFamily="34" charset="-122"/>
                  <a:ea typeface="微软雅黑" panose="020B0503020204020204" pitchFamily="34" charset="-122"/>
                </a:rPr>
                <a:t>应用层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 name="Text Box 110"/>
            <p:cNvSpPr txBox="1">
              <a:spLocks noChangeArrowheads="1"/>
            </p:cNvSpPr>
            <p:nvPr/>
          </p:nvSpPr>
          <p:spPr bwMode="auto">
            <a:xfrm>
              <a:off x="6217819" y="3319044"/>
              <a:ext cx="1167242"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2   </a:t>
              </a:r>
              <a:r>
                <a:rPr kumimoji="1" lang="zh-CN" altLang="en-US" sz="2400" b="1" dirty="0" smtClean="0">
                  <a:solidFill>
                    <a:schemeClr val="bg1"/>
                  </a:solidFill>
                  <a:latin typeface="微软雅黑" panose="020B0503020204020204" pitchFamily="34" charset="-122"/>
                  <a:ea typeface="微软雅黑" panose="020B0503020204020204" pitchFamily="34" charset="-122"/>
                </a:rPr>
                <a:t>数据链路层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5" name="Text Box 111"/>
            <p:cNvSpPr txBox="1">
              <a:spLocks noChangeArrowheads="1"/>
            </p:cNvSpPr>
            <p:nvPr/>
          </p:nvSpPr>
          <p:spPr bwMode="auto">
            <a:xfrm>
              <a:off x="6217819" y="36333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1      </a:t>
              </a:r>
              <a:r>
                <a:rPr kumimoji="1" lang="zh-CN" altLang="en-US" sz="2400" b="1" dirty="0" smtClean="0">
                  <a:solidFill>
                    <a:schemeClr val="bg1"/>
                  </a:solidFill>
                  <a:latin typeface="微软雅黑" panose="020B0503020204020204" pitchFamily="34" charset="-122"/>
                  <a:ea typeface="微软雅黑" panose="020B0503020204020204" pitchFamily="34" charset="-122"/>
                </a:rPr>
                <a:t>物理层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线形标注 1 17"/>
          <p:cNvSpPr/>
          <p:nvPr/>
        </p:nvSpPr>
        <p:spPr>
          <a:xfrm>
            <a:off x="4367898" y="2579701"/>
            <a:ext cx="6408622" cy="3500601"/>
          </a:xfrm>
          <a:prstGeom prst="borderCallout1">
            <a:avLst>
              <a:gd name="adj1" fmla="val 13162"/>
              <a:gd name="adj2" fmla="val 31"/>
              <a:gd name="adj3" fmla="val 52900"/>
              <a:gd name="adj4" fmla="val -18632"/>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ct val="150000"/>
              </a:lnSpc>
              <a:buFont typeface="Wingdings" panose="05000000000000000000" pitchFamily="2" charset="2"/>
              <a:buChar char="l"/>
            </a:pPr>
            <a:r>
              <a:rPr lang="en-US" altLang="zh-CN" sz="2400" b="1" dirty="0">
                <a:solidFill>
                  <a:srgbClr val="000066"/>
                </a:solidFill>
                <a:latin typeface="微软雅黑" panose="020B0503020204020204" pitchFamily="34" charset="-122"/>
                <a:ea typeface="微软雅黑" panose="020B0503020204020204" pitchFamily="34" charset="-122"/>
              </a:rPr>
              <a:t>TCP (Transmission Control Protocol)</a:t>
            </a:r>
            <a:r>
              <a:rPr lang="zh-CN" altLang="en-US" sz="2400" b="1" dirty="0">
                <a:solidFill>
                  <a:srgbClr val="000066"/>
                </a:solidFill>
                <a:latin typeface="微软雅黑" panose="020B0503020204020204" pitchFamily="34" charset="-122"/>
                <a:ea typeface="微软雅黑" panose="020B0503020204020204" pitchFamily="34" charset="-122"/>
              </a:rPr>
              <a:t>：</a:t>
            </a:r>
            <a:endParaRPr lang="en-US" altLang="zh-CN" sz="2400" b="1" dirty="0">
              <a:solidFill>
                <a:srgbClr val="000066"/>
              </a:solidFill>
              <a:latin typeface="微软雅黑" panose="020B0503020204020204" pitchFamily="34" charset="-122"/>
              <a:ea typeface="微软雅黑" panose="020B0503020204020204" pitchFamily="34" charset="-122"/>
            </a:endParaRPr>
          </a:p>
          <a:p>
            <a:pPr marL="742950" lvl="1" indent="-285750">
              <a:lnSpc>
                <a:spcPct val="150000"/>
              </a:lnSpc>
              <a:buClr>
                <a:schemeClr val="accent6">
                  <a:lumMod val="75000"/>
                </a:schemeClr>
              </a:buClr>
              <a:buFont typeface="Wingdings" panose="05000000000000000000" pitchFamily="2" charset="2"/>
              <a:buChar char="u"/>
            </a:pPr>
            <a:r>
              <a:rPr lang="zh-CN" altLang="en-US" sz="2000" b="1" dirty="0">
                <a:solidFill>
                  <a:srgbClr val="000066"/>
                </a:solidFill>
                <a:latin typeface="微软雅黑" panose="020B0503020204020204" pitchFamily="34" charset="-122"/>
                <a:ea typeface="微软雅黑" panose="020B0503020204020204" pitchFamily="34" charset="-122"/>
              </a:rPr>
              <a:t>提供</a:t>
            </a:r>
            <a:r>
              <a:rPr lang="zh-CN" altLang="en-US" sz="2000" b="1" dirty="0">
                <a:solidFill>
                  <a:srgbClr val="C00000"/>
                </a:solidFill>
                <a:latin typeface="微软雅黑" panose="020B0503020204020204" pitchFamily="34" charset="-122"/>
                <a:ea typeface="微软雅黑" panose="020B0503020204020204" pitchFamily="34" charset="-122"/>
              </a:rPr>
              <a:t>面向连接</a:t>
            </a:r>
            <a:r>
              <a:rPr lang="zh-CN" altLang="en-US" sz="2000" b="1" dirty="0">
                <a:solidFill>
                  <a:srgbClr val="000066"/>
                </a:solidFill>
                <a:latin typeface="微软雅黑" panose="020B0503020204020204" pitchFamily="34" charset="-122"/>
                <a:ea typeface="微软雅黑" panose="020B0503020204020204" pitchFamily="34" charset="-122"/>
              </a:rPr>
              <a:t>的、</a:t>
            </a:r>
            <a:r>
              <a:rPr lang="zh-CN" altLang="en-US" sz="2000" b="1" dirty="0">
                <a:solidFill>
                  <a:srgbClr val="C00000"/>
                </a:solidFill>
                <a:latin typeface="微软雅黑" panose="020B0503020204020204" pitchFamily="34" charset="-122"/>
                <a:ea typeface="微软雅黑" panose="020B0503020204020204" pitchFamily="34" charset="-122"/>
              </a:rPr>
              <a:t>可靠</a:t>
            </a:r>
            <a:r>
              <a:rPr lang="zh-CN" altLang="en-US" sz="2000" b="1" dirty="0">
                <a:solidFill>
                  <a:srgbClr val="000066"/>
                </a:solidFill>
                <a:latin typeface="微软雅黑" panose="020B0503020204020204" pitchFamily="34" charset="-122"/>
                <a:ea typeface="微软雅黑" panose="020B0503020204020204" pitchFamily="34" charset="-122"/>
              </a:rPr>
              <a:t>的数据传输服务。</a:t>
            </a:r>
            <a:endParaRPr lang="en-US" altLang="zh-CN" sz="2000" b="1" dirty="0">
              <a:solidFill>
                <a:srgbClr val="000066"/>
              </a:solidFill>
              <a:latin typeface="微软雅黑" panose="020B0503020204020204" pitchFamily="34" charset="-122"/>
              <a:ea typeface="微软雅黑" panose="020B0503020204020204" pitchFamily="34" charset="-122"/>
            </a:endParaRPr>
          </a:p>
          <a:p>
            <a:pPr marL="742950" lvl="1" indent="-285750">
              <a:lnSpc>
                <a:spcPct val="150000"/>
              </a:lnSpc>
              <a:buClr>
                <a:schemeClr val="accent6">
                  <a:lumMod val="75000"/>
                </a:schemeClr>
              </a:buClr>
              <a:buFont typeface="Wingdings" panose="05000000000000000000" pitchFamily="2" charset="2"/>
              <a:buChar char="u"/>
            </a:pPr>
            <a:r>
              <a:rPr lang="zh-CN" altLang="en-US" sz="2000" b="1" dirty="0">
                <a:solidFill>
                  <a:schemeClr val="tx2">
                    <a:lumMod val="60000"/>
                    <a:lumOff val="40000"/>
                  </a:schemeClr>
                </a:solidFill>
                <a:latin typeface="微软雅黑" panose="020B0503020204020204" pitchFamily="34" charset="-122"/>
                <a:ea typeface="微软雅黑" panose="020B0503020204020204" pitchFamily="34" charset="-122"/>
              </a:rPr>
              <a:t>数据单元：</a:t>
            </a:r>
            <a:r>
              <a:rPr lang="zh-CN" altLang="en-US" sz="2000" b="1" dirty="0">
                <a:solidFill>
                  <a:srgbClr val="C00000"/>
                </a:solidFill>
                <a:latin typeface="微软雅黑" panose="020B0503020204020204" pitchFamily="34" charset="-122"/>
                <a:ea typeface="微软雅黑" panose="020B0503020204020204" pitchFamily="34" charset="-122"/>
              </a:rPr>
              <a:t>报文段</a:t>
            </a:r>
            <a:r>
              <a:rPr lang="zh-CN" altLang="en-US" sz="2000" b="1" dirty="0">
                <a:solidFill>
                  <a:srgbClr val="000066"/>
                </a:solidFill>
                <a:latin typeface="微软雅黑" panose="020B0503020204020204" pitchFamily="34" charset="-122"/>
                <a:ea typeface="微软雅黑" panose="020B0503020204020204" pitchFamily="34" charset="-122"/>
              </a:rPr>
              <a:t> </a:t>
            </a:r>
            <a:r>
              <a:rPr lang="en-US" altLang="zh-CN" sz="2000" b="1" dirty="0">
                <a:solidFill>
                  <a:srgbClr val="000066"/>
                </a:solidFill>
                <a:latin typeface="微软雅黑" panose="020B0503020204020204" pitchFamily="34" charset="-122"/>
                <a:ea typeface="微软雅黑" panose="020B0503020204020204" pitchFamily="34" charset="-122"/>
              </a:rPr>
              <a:t>(segment)</a:t>
            </a:r>
            <a:r>
              <a:rPr lang="zh-CN" altLang="en-US" sz="2000" b="1" dirty="0">
                <a:solidFill>
                  <a:srgbClr val="000066"/>
                </a:solidFill>
                <a:latin typeface="微软雅黑" panose="020B0503020204020204" pitchFamily="34" charset="-122"/>
                <a:ea typeface="微软雅黑" panose="020B0503020204020204" pitchFamily="34" charset="-122"/>
              </a:rPr>
              <a:t>。</a:t>
            </a:r>
          </a:p>
          <a:p>
            <a:pPr marL="285750" indent="-285750">
              <a:lnSpc>
                <a:spcPct val="150000"/>
              </a:lnSpc>
              <a:buFont typeface="Wingdings" panose="05000000000000000000" pitchFamily="2" charset="2"/>
              <a:buChar char="l"/>
            </a:pPr>
            <a:r>
              <a:rPr lang="en-US" altLang="zh-CN" sz="2400" b="1" dirty="0">
                <a:solidFill>
                  <a:srgbClr val="000066"/>
                </a:solidFill>
                <a:latin typeface="微软雅黑" panose="020B0503020204020204" pitchFamily="34" charset="-122"/>
                <a:ea typeface="微软雅黑" panose="020B0503020204020204" pitchFamily="34" charset="-122"/>
              </a:rPr>
              <a:t>UDP (User Datagram Protocol)</a:t>
            </a:r>
            <a:r>
              <a:rPr lang="zh-CN" altLang="en-US" sz="2400" b="1" dirty="0">
                <a:solidFill>
                  <a:srgbClr val="000066"/>
                </a:solidFill>
                <a:latin typeface="微软雅黑" panose="020B0503020204020204" pitchFamily="34" charset="-122"/>
                <a:ea typeface="微软雅黑" panose="020B0503020204020204" pitchFamily="34" charset="-122"/>
              </a:rPr>
              <a:t>：</a:t>
            </a:r>
            <a:endParaRPr lang="en-US" altLang="zh-CN" sz="2400" b="1" dirty="0">
              <a:solidFill>
                <a:srgbClr val="000066"/>
              </a:solidFill>
              <a:latin typeface="微软雅黑" panose="020B0503020204020204" pitchFamily="34" charset="-122"/>
              <a:ea typeface="微软雅黑" panose="020B0503020204020204" pitchFamily="34" charset="-122"/>
            </a:endParaRPr>
          </a:p>
          <a:p>
            <a:pPr marL="742950" lvl="1" indent="-285750">
              <a:lnSpc>
                <a:spcPct val="150000"/>
              </a:lnSpc>
              <a:buClr>
                <a:schemeClr val="accent6">
                  <a:lumMod val="75000"/>
                </a:schemeClr>
              </a:buClr>
              <a:buFont typeface="Wingdings" panose="05000000000000000000" pitchFamily="2" charset="2"/>
              <a:buChar char="u"/>
            </a:pPr>
            <a:r>
              <a:rPr lang="zh-CN" altLang="en-US" sz="2000" b="1" dirty="0">
                <a:solidFill>
                  <a:srgbClr val="000066"/>
                </a:solidFill>
                <a:latin typeface="微软雅黑" panose="020B0503020204020204" pitchFamily="34" charset="-122"/>
                <a:ea typeface="微软雅黑" panose="020B0503020204020204" pitchFamily="34" charset="-122"/>
              </a:rPr>
              <a:t>提供无连接的</a:t>
            </a:r>
            <a:r>
              <a:rPr lang="zh-CN" altLang="en-US" sz="2000" b="1" dirty="0">
                <a:solidFill>
                  <a:srgbClr val="C00000"/>
                </a:solidFill>
                <a:latin typeface="微软雅黑" panose="020B0503020204020204" pitchFamily="34" charset="-122"/>
                <a:ea typeface="微软雅黑" panose="020B0503020204020204" pitchFamily="34" charset="-122"/>
              </a:rPr>
              <a:t>尽最大努力 </a:t>
            </a:r>
            <a:r>
              <a:rPr lang="en-US" altLang="zh-CN" sz="2000" b="1" dirty="0">
                <a:solidFill>
                  <a:srgbClr val="000066"/>
                </a:solidFill>
                <a:latin typeface="微软雅黑" panose="020B0503020204020204" pitchFamily="34" charset="-122"/>
                <a:ea typeface="微软雅黑" panose="020B0503020204020204" pitchFamily="34" charset="-122"/>
              </a:rPr>
              <a:t>(best-effort) </a:t>
            </a:r>
            <a:r>
              <a:rPr lang="zh-CN" altLang="en-US" sz="2000" b="1" dirty="0">
                <a:solidFill>
                  <a:srgbClr val="000066"/>
                </a:solidFill>
                <a:latin typeface="微软雅黑" panose="020B0503020204020204" pitchFamily="34" charset="-122"/>
                <a:ea typeface="微软雅黑" panose="020B0503020204020204" pitchFamily="34" charset="-122"/>
              </a:rPr>
              <a:t>的数据传输服务（</a:t>
            </a:r>
            <a:r>
              <a:rPr lang="zh-CN" altLang="en-US" sz="2000" b="1" dirty="0">
                <a:solidFill>
                  <a:srgbClr val="C00000"/>
                </a:solidFill>
                <a:latin typeface="微软雅黑" panose="020B0503020204020204" pitchFamily="34" charset="-122"/>
                <a:ea typeface="微软雅黑" panose="020B0503020204020204" pitchFamily="34" charset="-122"/>
              </a:rPr>
              <a:t>不保证数据传输的可靠性</a:t>
            </a:r>
            <a:r>
              <a:rPr lang="zh-CN" altLang="en-US" sz="2000" b="1" dirty="0">
                <a:solidFill>
                  <a:srgbClr val="000066"/>
                </a:solidFill>
                <a:latin typeface="微软雅黑" panose="020B0503020204020204" pitchFamily="34" charset="-122"/>
                <a:ea typeface="微软雅黑" panose="020B0503020204020204" pitchFamily="34" charset="-122"/>
              </a:rPr>
              <a:t>）。</a:t>
            </a:r>
            <a:endParaRPr lang="en-US" altLang="zh-CN" sz="2000" b="1" dirty="0">
              <a:solidFill>
                <a:srgbClr val="000066"/>
              </a:solidFill>
              <a:latin typeface="微软雅黑" panose="020B0503020204020204" pitchFamily="34" charset="-122"/>
              <a:ea typeface="微软雅黑" panose="020B0503020204020204" pitchFamily="34" charset="-122"/>
            </a:endParaRPr>
          </a:p>
          <a:p>
            <a:pPr marL="742950" lvl="1" indent="-285750">
              <a:lnSpc>
                <a:spcPct val="150000"/>
              </a:lnSpc>
              <a:buClr>
                <a:schemeClr val="accent6">
                  <a:lumMod val="75000"/>
                </a:schemeClr>
              </a:buClr>
              <a:buFont typeface="Wingdings" panose="05000000000000000000" pitchFamily="2" charset="2"/>
              <a:buChar char="u"/>
            </a:pPr>
            <a:r>
              <a:rPr lang="zh-CN" altLang="en-US" sz="2000" b="1" dirty="0">
                <a:solidFill>
                  <a:schemeClr val="tx2">
                    <a:lumMod val="60000"/>
                    <a:lumOff val="40000"/>
                  </a:schemeClr>
                </a:solidFill>
                <a:latin typeface="微软雅黑" panose="020B0503020204020204" pitchFamily="34" charset="-122"/>
                <a:ea typeface="微软雅黑" panose="020B0503020204020204" pitchFamily="34" charset="-122"/>
              </a:rPr>
              <a:t>数据单元：</a:t>
            </a:r>
            <a:r>
              <a:rPr lang="zh-CN" altLang="en-US" sz="2000" b="1" dirty="0">
                <a:solidFill>
                  <a:srgbClr val="C00000"/>
                </a:solidFill>
                <a:latin typeface="微软雅黑" panose="020B0503020204020204" pitchFamily="34" charset="-122"/>
                <a:ea typeface="微软雅黑" panose="020B0503020204020204" pitchFamily="34" charset="-122"/>
              </a:rPr>
              <a:t>用户数据报</a:t>
            </a:r>
            <a:r>
              <a:rPr lang="zh-CN" altLang="en-US" sz="2000" b="1" dirty="0" smtClean="0">
                <a:solidFill>
                  <a:srgbClr val="C00000"/>
                </a:solidFill>
                <a:latin typeface="微软雅黑" panose="020B0503020204020204" pitchFamily="34" charset="-122"/>
                <a:ea typeface="微软雅黑" panose="020B0503020204020204" pitchFamily="34" charset="-122"/>
              </a:rPr>
              <a:t>。</a:t>
            </a:r>
            <a:endParaRPr lang="en-US" altLang="zh-CN" sz="36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ts val="2800"/>
              </a:lnSpc>
              <a:buFont typeface="Wingdings" panose="05000000000000000000" pitchFamily="2" charset="2"/>
              <a:buChar char="l"/>
            </a:pPr>
            <a:endParaRPr lang="zh-CN" altLang="en-US" sz="3600" b="1" dirty="0">
              <a:solidFill>
                <a:srgbClr val="0000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4322648"/>
      </p:ext>
    </p:extLst>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smtClean="0"/>
              <a:t>各层的主要功能</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4" name="圆角矩形 3"/>
          <p:cNvSpPr/>
          <p:nvPr/>
        </p:nvSpPr>
        <p:spPr>
          <a:xfrm>
            <a:off x="983432" y="2204864"/>
            <a:ext cx="10081120"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4"/>
          <p:cNvGrpSpPr/>
          <p:nvPr/>
        </p:nvGrpSpPr>
        <p:grpSpPr>
          <a:xfrm>
            <a:off x="1343467" y="2492896"/>
            <a:ext cx="2513176" cy="3587406"/>
            <a:chOff x="6217816" y="1623594"/>
            <a:chExt cx="1341441" cy="2306614"/>
          </a:xfrm>
        </p:grpSpPr>
        <p:sp>
          <p:nvSpPr>
            <p:cNvPr id="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1" name="Text Box 106"/>
            <p:cNvSpPr txBox="1">
              <a:spLocks noChangeArrowheads="1"/>
            </p:cNvSpPr>
            <p:nvPr/>
          </p:nvSpPr>
          <p:spPr bwMode="auto">
            <a:xfrm>
              <a:off x="6217817" y="2698332"/>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4      </a:t>
              </a:r>
              <a:r>
                <a:rPr kumimoji="1" lang="zh-CN" altLang="en-US" sz="24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Text Box 107"/>
            <p:cNvSpPr txBox="1">
              <a:spLocks noChangeArrowheads="1"/>
            </p:cNvSpPr>
            <p:nvPr/>
          </p:nvSpPr>
          <p:spPr bwMode="auto">
            <a:xfrm>
              <a:off x="6217816" y="30237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3      </a:t>
              </a:r>
              <a:r>
                <a:rPr kumimoji="1" lang="zh-CN" altLang="en-US" sz="2400" b="1" dirty="0" smtClean="0">
                  <a:solidFill>
                    <a:schemeClr val="bg1"/>
                  </a:solidFill>
                  <a:latin typeface="微软雅黑" panose="020B0503020204020204" pitchFamily="34" charset="-122"/>
                  <a:ea typeface="微软雅黑" panose="020B0503020204020204" pitchFamily="34" charset="-122"/>
                </a:rPr>
                <a:t>网络层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3" name="Text Box 108"/>
            <p:cNvSpPr txBox="1">
              <a:spLocks noChangeArrowheads="1"/>
            </p:cNvSpPr>
            <p:nvPr/>
          </p:nvSpPr>
          <p:spPr bwMode="auto">
            <a:xfrm>
              <a:off x="6217819" y="2020469"/>
              <a:ext cx="984995"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5      </a:t>
              </a:r>
              <a:r>
                <a:rPr kumimoji="1" lang="zh-CN" altLang="en-US" sz="2400" b="1" dirty="0" smtClean="0">
                  <a:solidFill>
                    <a:schemeClr val="bg1"/>
                  </a:solidFill>
                  <a:latin typeface="微软雅黑" panose="020B0503020204020204" pitchFamily="34" charset="-122"/>
                  <a:ea typeface="微软雅黑" panose="020B0503020204020204" pitchFamily="34" charset="-122"/>
                </a:rPr>
                <a:t>应用层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 name="Text Box 110"/>
            <p:cNvSpPr txBox="1">
              <a:spLocks noChangeArrowheads="1"/>
            </p:cNvSpPr>
            <p:nvPr/>
          </p:nvSpPr>
          <p:spPr bwMode="auto">
            <a:xfrm>
              <a:off x="6217819" y="3319044"/>
              <a:ext cx="1167242"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2   </a:t>
              </a:r>
              <a:r>
                <a:rPr kumimoji="1" lang="zh-CN" altLang="en-US" sz="2400" b="1" dirty="0" smtClean="0">
                  <a:solidFill>
                    <a:schemeClr val="bg1"/>
                  </a:solidFill>
                  <a:latin typeface="微软雅黑" panose="020B0503020204020204" pitchFamily="34" charset="-122"/>
                  <a:ea typeface="微软雅黑" panose="020B0503020204020204" pitchFamily="34" charset="-122"/>
                </a:rPr>
                <a:t>数据链路层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5" name="Text Box 111"/>
            <p:cNvSpPr txBox="1">
              <a:spLocks noChangeArrowheads="1"/>
            </p:cNvSpPr>
            <p:nvPr/>
          </p:nvSpPr>
          <p:spPr bwMode="auto">
            <a:xfrm>
              <a:off x="6217819" y="36333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1      </a:t>
              </a:r>
              <a:r>
                <a:rPr kumimoji="1" lang="zh-CN" altLang="en-US" sz="2400" b="1" dirty="0" smtClean="0">
                  <a:solidFill>
                    <a:schemeClr val="bg1"/>
                  </a:solidFill>
                  <a:latin typeface="微软雅黑" panose="020B0503020204020204" pitchFamily="34" charset="-122"/>
                  <a:ea typeface="微软雅黑" panose="020B0503020204020204" pitchFamily="34" charset="-122"/>
                </a:rPr>
                <a:t>物理层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7" name="线形标注 1 16"/>
          <p:cNvSpPr/>
          <p:nvPr/>
        </p:nvSpPr>
        <p:spPr>
          <a:xfrm>
            <a:off x="4367898" y="2581562"/>
            <a:ext cx="6408622" cy="3488901"/>
          </a:xfrm>
          <a:prstGeom prst="borderCallout1">
            <a:avLst>
              <a:gd name="adj1" fmla="val 48217"/>
              <a:gd name="adj2" fmla="val 189"/>
              <a:gd name="adj3" fmla="val 66982"/>
              <a:gd name="adj4" fmla="val -18632"/>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ct val="150000"/>
              </a:lnSpc>
              <a:buFont typeface="Wingdings" panose="05000000000000000000" pitchFamily="2" charset="2"/>
              <a:buChar char="l"/>
            </a:pPr>
            <a:r>
              <a:rPr lang="zh-CN" altLang="en-US" sz="2800" b="1" dirty="0" smtClean="0">
                <a:solidFill>
                  <a:srgbClr val="0000FF"/>
                </a:solidFill>
                <a:latin typeface="微软雅黑" panose="020B0503020204020204" pitchFamily="34" charset="-122"/>
                <a:ea typeface="微软雅黑" panose="020B0503020204020204" pitchFamily="34" charset="-122"/>
              </a:rPr>
              <a:t>任务：</a:t>
            </a:r>
            <a:r>
              <a:rPr lang="zh-CN" altLang="en-US" sz="2800" b="1" dirty="0">
                <a:solidFill>
                  <a:srgbClr val="000066"/>
                </a:solidFill>
                <a:latin typeface="微软雅黑" panose="020B0503020204020204" pitchFamily="34" charset="-122"/>
                <a:ea typeface="微软雅黑" panose="020B0503020204020204" pitchFamily="34" charset="-122"/>
              </a:rPr>
              <a:t>为分组交换网上的不同</a:t>
            </a:r>
            <a:r>
              <a:rPr lang="zh-CN" altLang="en-US" sz="2800" b="1" dirty="0">
                <a:solidFill>
                  <a:srgbClr val="C00000"/>
                </a:solidFill>
                <a:latin typeface="微软雅黑" panose="020B0503020204020204" pitchFamily="34" charset="-122"/>
                <a:ea typeface="微软雅黑" panose="020B0503020204020204" pitchFamily="34" charset="-122"/>
              </a:rPr>
              <a:t>主机</a:t>
            </a:r>
            <a:r>
              <a:rPr lang="zh-CN" altLang="en-US" sz="2800" b="1" dirty="0">
                <a:solidFill>
                  <a:srgbClr val="000066"/>
                </a:solidFill>
                <a:latin typeface="微软雅黑" panose="020B0503020204020204" pitchFamily="34" charset="-122"/>
                <a:ea typeface="微软雅黑" panose="020B0503020204020204" pitchFamily="34" charset="-122"/>
              </a:rPr>
              <a:t>提供通信服务</a:t>
            </a:r>
            <a:r>
              <a:rPr lang="zh-CN" altLang="en-US" sz="2800" b="1" dirty="0" smtClean="0">
                <a:solidFill>
                  <a:srgbClr val="000066"/>
                </a:solidFill>
                <a:latin typeface="微软雅黑" panose="020B0503020204020204" pitchFamily="34" charset="-122"/>
                <a:ea typeface="微软雅黑" panose="020B0503020204020204" pitchFamily="34" charset="-122"/>
              </a:rPr>
              <a:t>。</a:t>
            </a:r>
            <a:endParaRPr lang="en-US" altLang="zh-CN" sz="2800" b="1" dirty="0" smtClean="0">
              <a:solidFill>
                <a:srgbClr val="0000FF"/>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2800" b="1" dirty="0" smtClean="0">
                <a:solidFill>
                  <a:schemeClr val="tx2">
                    <a:lumMod val="60000"/>
                    <a:lumOff val="40000"/>
                  </a:schemeClr>
                </a:solidFill>
                <a:latin typeface="微软雅黑" panose="020B0503020204020204" pitchFamily="34" charset="-122"/>
                <a:ea typeface="微软雅黑" panose="020B0503020204020204" pitchFamily="34" charset="-122"/>
              </a:rPr>
              <a:t>常用协议：</a:t>
            </a:r>
            <a:r>
              <a:rPr lang="zh-CN" altLang="en-US" sz="2800" b="1" dirty="0" smtClean="0">
                <a:solidFill>
                  <a:srgbClr val="C00000"/>
                </a:solidFill>
                <a:latin typeface="微软雅黑" panose="020B0503020204020204" pitchFamily="34" charset="-122"/>
                <a:ea typeface="微软雅黑" panose="020B0503020204020204" pitchFamily="34" charset="-122"/>
              </a:rPr>
              <a:t>网际协议 </a:t>
            </a:r>
            <a:r>
              <a:rPr lang="en-US" altLang="zh-CN" sz="2800" b="1" dirty="0">
                <a:solidFill>
                  <a:srgbClr val="C00000"/>
                </a:solidFill>
                <a:latin typeface="微软雅黑" panose="020B0503020204020204" pitchFamily="34" charset="-122"/>
                <a:ea typeface="微软雅黑" panose="020B0503020204020204" pitchFamily="34" charset="-122"/>
              </a:rPr>
              <a:t>IP </a:t>
            </a:r>
            <a:r>
              <a:rPr lang="en-US" altLang="zh-CN" sz="2800" b="1" dirty="0" smtClean="0">
                <a:solidFill>
                  <a:srgbClr val="000066"/>
                </a:solidFill>
                <a:latin typeface="微软雅黑" panose="020B0503020204020204" pitchFamily="34" charset="-122"/>
                <a:ea typeface="微软雅黑" panose="020B0503020204020204" pitchFamily="34" charset="-122"/>
              </a:rPr>
              <a:t>(</a:t>
            </a:r>
            <a:r>
              <a:rPr lang="en-US" altLang="zh-CN" sz="2800" b="1" dirty="0">
                <a:solidFill>
                  <a:srgbClr val="000066"/>
                </a:solidFill>
                <a:latin typeface="微软雅黑" panose="020B0503020204020204" pitchFamily="34" charset="-122"/>
                <a:ea typeface="微软雅黑" panose="020B0503020204020204" pitchFamily="34" charset="-122"/>
              </a:rPr>
              <a:t>Internet Protocol) </a:t>
            </a:r>
            <a:r>
              <a:rPr lang="zh-CN" altLang="en-US" sz="2800" b="1" dirty="0">
                <a:solidFill>
                  <a:srgbClr val="000066"/>
                </a:solidFill>
                <a:latin typeface="微软雅黑" panose="020B0503020204020204" pitchFamily="34" charset="-122"/>
                <a:ea typeface="微软雅黑" panose="020B0503020204020204" pitchFamily="34" charset="-122"/>
              </a:rPr>
              <a:t>和许多种</a:t>
            </a:r>
            <a:r>
              <a:rPr lang="zh-CN" altLang="en-US" sz="2800" b="1" dirty="0">
                <a:solidFill>
                  <a:srgbClr val="C00000"/>
                </a:solidFill>
                <a:latin typeface="微软雅黑" panose="020B0503020204020204" pitchFamily="34" charset="-122"/>
                <a:ea typeface="微软雅黑" panose="020B0503020204020204" pitchFamily="34" charset="-122"/>
              </a:rPr>
              <a:t>路由选择</a:t>
            </a:r>
            <a:r>
              <a:rPr lang="zh-CN" altLang="en-US" sz="2800" b="1" dirty="0" smtClean="0">
                <a:solidFill>
                  <a:srgbClr val="C00000"/>
                </a:solidFill>
                <a:latin typeface="微软雅黑" panose="020B0503020204020204" pitchFamily="34" charset="-122"/>
                <a:ea typeface="微软雅黑" panose="020B0503020204020204" pitchFamily="34" charset="-122"/>
              </a:rPr>
              <a:t>协议</a:t>
            </a:r>
            <a:r>
              <a:rPr lang="zh-CN" altLang="en-US" sz="2800" b="1" dirty="0" smtClean="0">
                <a:solidFill>
                  <a:srgbClr val="000066"/>
                </a:solidFill>
                <a:latin typeface="微软雅黑" panose="020B0503020204020204" pitchFamily="34" charset="-122"/>
                <a:ea typeface="微软雅黑" panose="020B0503020204020204" pitchFamily="34" charset="-122"/>
              </a:rPr>
              <a:t>。</a:t>
            </a:r>
            <a:endParaRPr lang="en-US" altLang="zh-CN" sz="28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2800" b="1" dirty="0" smtClean="0">
                <a:solidFill>
                  <a:schemeClr val="tx2">
                    <a:lumMod val="60000"/>
                    <a:lumOff val="40000"/>
                  </a:schemeClr>
                </a:solidFill>
                <a:latin typeface="微软雅黑" panose="020B0503020204020204" pitchFamily="34" charset="-122"/>
                <a:ea typeface="微软雅黑" panose="020B0503020204020204" pitchFamily="34" charset="-122"/>
              </a:rPr>
              <a:t>数据单元：</a:t>
            </a:r>
            <a:r>
              <a:rPr lang="zh-CN" altLang="en-US" sz="2800" b="1" dirty="0" smtClean="0">
                <a:solidFill>
                  <a:srgbClr val="C00000"/>
                </a:solidFill>
                <a:latin typeface="微软雅黑" panose="020B0503020204020204" pitchFamily="34" charset="-122"/>
                <a:ea typeface="微软雅黑" panose="020B0503020204020204" pitchFamily="34" charset="-122"/>
              </a:rPr>
              <a:t>分组</a:t>
            </a:r>
            <a:r>
              <a:rPr lang="zh-CN" altLang="en-US" sz="2800" b="1" dirty="0" smtClean="0">
                <a:solidFill>
                  <a:srgbClr val="000066"/>
                </a:solidFill>
                <a:latin typeface="微软雅黑" panose="020B0503020204020204" pitchFamily="34" charset="-122"/>
                <a:ea typeface="微软雅黑" panose="020B0503020204020204" pitchFamily="34" charset="-122"/>
              </a:rPr>
              <a:t>或</a:t>
            </a:r>
            <a:r>
              <a:rPr lang="zh-CN" altLang="en-US" sz="2800" b="1" dirty="0" smtClean="0">
                <a:solidFill>
                  <a:schemeClr val="tx2">
                    <a:lumMod val="60000"/>
                    <a:lumOff val="40000"/>
                  </a:schemeClr>
                </a:solidFill>
                <a:latin typeface="微软雅黑" panose="020B0503020204020204" pitchFamily="34" charset="-122"/>
                <a:ea typeface="微软雅黑" panose="020B0503020204020204" pitchFamily="34" charset="-122"/>
              </a:rPr>
              <a:t> </a:t>
            </a:r>
            <a:r>
              <a:rPr lang="en-US" altLang="zh-CN" sz="2800" b="1" dirty="0" smtClean="0">
                <a:solidFill>
                  <a:srgbClr val="C00000"/>
                </a:solidFill>
                <a:latin typeface="微软雅黑" panose="020B0503020204020204" pitchFamily="34" charset="-122"/>
                <a:ea typeface="微软雅黑" panose="020B0503020204020204" pitchFamily="34" charset="-122"/>
              </a:rPr>
              <a:t>IP </a:t>
            </a:r>
            <a:r>
              <a:rPr lang="zh-CN" altLang="en-US" sz="2800" b="1" dirty="0" smtClean="0">
                <a:solidFill>
                  <a:srgbClr val="C00000"/>
                </a:solidFill>
                <a:latin typeface="微软雅黑" panose="020B0503020204020204" pitchFamily="34" charset="-122"/>
                <a:ea typeface="微软雅黑" panose="020B0503020204020204" pitchFamily="34" charset="-122"/>
              </a:rPr>
              <a:t>数据报</a:t>
            </a:r>
            <a:endParaRPr lang="en-US" altLang="zh-CN" sz="2800" b="1" dirty="0">
              <a:solidFill>
                <a:srgbClr val="C0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lang="en-US" altLang="zh-CN" sz="2800" b="1" dirty="0" smtClean="0">
              <a:solidFill>
                <a:srgbClr val="0000FF"/>
              </a:solidFill>
              <a:latin typeface="微软雅黑" panose="020B0503020204020204" pitchFamily="34" charset="-122"/>
              <a:ea typeface="微软雅黑" panose="020B0503020204020204" pitchFamily="34" charset="-122"/>
            </a:endParaRPr>
          </a:p>
          <a:p>
            <a:pPr marL="742950" lvl="1" indent="-285750">
              <a:lnSpc>
                <a:spcPct val="150000"/>
              </a:lnSpc>
              <a:buClr>
                <a:schemeClr val="accent6">
                  <a:lumMod val="75000"/>
                </a:schemeClr>
              </a:buClr>
              <a:buFont typeface="Wingdings" panose="05000000000000000000" pitchFamily="2" charset="2"/>
              <a:buChar char="u"/>
            </a:pPr>
            <a:endParaRPr lang="en-US" altLang="zh-CN" sz="2400" b="1" dirty="0">
              <a:solidFill>
                <a:srgbClr val="0000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29357113"/>
      </p:ext>
    </p:extLst>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smtClean="0"/>
              <a:t>各层的主要功能</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4" name="圆角矩形 3"/>
          <p:cNvSpPr/>
          <p:nvPr/>
        </p:nvSpPr>
        <p:spPr>
          <a:xfrm>
            <a:off x="983432" y="2204864"/>
            <a:ext cx="10081120"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4"/>
          <p:cNvGrpSpPr/>
          <p:nvPr/>
        </p:nvGrpSpPr>
        <p:grpSpPr>
          <a:xfrm>
            <a:off x="1343467" y="2492896"/>
            <a:ext cx="2513176" cy="3587406"/>
            <a:chOff x="6217816" y="1623594"/>
            <a:chExt cx="1341441" cy="2306614"/>
          </a:xfrm>
        </p:grpSpPr>
        <p:sp>
          <p:nvSpPr>
            <p:cNvPr id="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1" name="Text Box 106"/>
            <p:cNvSpPr txBox="1">
              <a:spLocks noChangeArrowheads="1"/>
            </p:cNvSpPr>
            <p:nvPr/>
          </p:nvSpPr>
          <p:spPr bwMode="auto">
            <a:xfrm>
              <a:off x="6217817" y="2698332"/>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4      </a:t>
              </a:r>
              <a:r>
                <a:rPr kumimoji="1" lang="zh-CN" altLang="en-US" sz="24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Text Box 107"/>
            <p:cNvSpPr txBox="1">
              <a:spLocks noChangeArrowheads="1"/>
            </p:cNvSpPr>
            <p:nvPr/>
          </p:nvSpPr>
          <p:spPr bwMode="auto">
            <a:xfrm>
              <a:off x="6217816" y="30237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3      </a:t>
              </a:r>
              <a:r>
                <a:rPr kumimoji="1" lang="zh-CN" altLang="en-US" sz="2400" b="1" dirty="0" smtClean="0">
                  <a:solidFill>
                    <a:schemeClr val="bg1"/>
                  </a:solidFill>
                  <a:latin typeface="微软雅黑" panose="020B0503020204020204" pitchFamily="34" charset="-122"/>
                  <a:ea typeface="微软雅黑" panose="020B0503020204020204" pitchFamily="34" charset="-122"/>
                </a:rPr>
                <a:t>网络层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3" name="Text Box 108"/>
            <p:cNvSpPr txBox="1">
              <a:spLocks noChangeArrowheads="1"/>
            </p:cNvSpPr>
            <p:nvPr/>
          </p:nvSpPr>
          <p:spPr bwMode="auto">
            <a:xfrm>
              <a:off x="6217819" y="2020469"/>
              <a:ext cx="984995"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5      </a:t>
              </a:r>
              <a:r>
                <a:rPr kumimoji="1" lang="zh-CN" altLang="en-US" sz="2400" b="1" dirty="0" smtClean="0">
                  <a:solidFill>
                    <a:schemeClr val="bg1"/>
                  </a:solidFill>
                  <a:latin typeface="微软雅黑" panose="020B0503020204020204" pitchFamily="34" charset="-122"/>
                  <a:ea typeface="微软雅黑" panose="020B0503020204020204" pitchFamily="34" charset="-122"/>
                </a:rPr>
                <a:t>应用层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 name="Text Box 110"/>
            <p:cNvSpPr txBox="1">
              <a:spLocks noChangeArrowheads="1"/>
            </p:cNvSpPr>
            <p:nvPr/>
          </p:nvSpPr>
          <p:spPr bwMode="auto">
            <a:xfrm>
              <a:off x="6217819" y="3319044"/>
              <a:ext cx="1167242"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2   </a:t>
              </a:r>
              <a:r>
                <a:rPr kumimoji="1" lang="zh-CN" altLang="en-US" sz="2400" b="1" dirty="0" smtClean="0">
                  <a:solidFill>
                    <a:schemeClr val="bg1"/>
                  </a:solidFill>
                  <a:latin typeface="微软雅黑" panose="020B0503020204020204" pitchFamily="34" charset="-122"/>
                  <a:ea typeface="微软雅黑" panose="020B0503020204020204" pitchFamily="34" charset="-122"/>
                </a:rPr>
                <a:t>数据链路层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5" name="Text Box 111"/>
            <p:cNvSpPr txBox="1">
              <a:spLocks noChangeArrowheads="1"/>
            </p:cNvSpPr>
            <p:nvPr/>
          </p:nvSpPr>
          <p:spPr bwMode="auto">
            <a:xfrm>
              <a:off x="6217819" y="36333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1      </a:t>
              </a:r>
              <a:r>
                <a:rPr kumimoji="1" lang="zh-CN" altLang="en-US" sz="2400" b="1" dirty="0" smtClean="0">
                  <a:solidFill>
                    <a:schemeClr val="bg1"/>
                  </a:solidFill>
                  <a:latin typeface="微软雅黑" panose="020B0503020204020204" pitchFamily="34" charset="-122"/>
                  <a:ea typeface="微软雅黑" panose="020B0503020204020204" pitchFamily="34" charset="-122"/>
                </a:rPr>
                <a:t>物理层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7" name="线形标注 1 16"/>
          <p:cNvSpPr/>
          <p:nvPr/>
        </p:nvSpPr>
        <p:spPr>
          <a:xfrm>
            <a:off x="4367898" y="2581562"/>
            <a:ext cx="6408622" cy="3488901"/>
          </a:xfrm>
          <a:prstGeom prst="borderCallout1">
            <a:avLst>
              <a:gd name="adj1" fmla="val 48217"/>
              <a:gd name="adj2" fmla="val 189"/>
              <a:gd name="adj3" fmla="val 66982"/>
              <a:gd name="adj4" fmla="val -18632"/>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ct val="130000"/>
              </a:lnSpc>
              <a:buFont typeface="Wingdings" panose="05000000000000000000" pitchFamily="2" charset="2"/>
              <a:buChar char="l"/>
            </a:pPr>
            <a:r>
              <a:rPr lang="zh-CN" altLang="en-US" sz="2800" b="1" dirty="0">
                <a:solidFill>
                  <a:srgbClr val="000066"/>
                </a:solidFill>
                <a:latin typeface="微软雅黑" panose="020B0503020204020204" pitchFamily="34" charset="-122"/>
                <a:ea typeface="微软雅黑" panose="020B0503020204020204" pitchFamily="34" charset="-122"/>
              </a:rPr>
              <a:t>两个具体</a:t>
            </a:r>
            <a:r>
              <a:rPr lang="zh-CN" altLang="en-US" sz="2800" b="1" dirty="0">
                <a:solidFill>
                  <a:srgbClr val="0000FF"/>
                </a:solidFill>
                <a:latin typeface="微软雅黑" panose="020B0503020204020204" pitchFamily="34" charset="-122"/>
                <a:ea typeface="微软雅黑" panose="020B0503020204020204" pitchFamily="34" charset="-122"/>
              </a:rPr>
              <a:t>任务：</a:t>
            </a:r>
            <a:endParaRPr lang="en-US" altLang="zh-CN" sz="2800" b="1" dirty="0">
              <a:solidFill>
                <a:srgbClr val="0000FF"/>
              </a:solidFill>
              <a:latin typeface="微软雅黑" panose="020B0503020204020204" pitchFamily="34" charset="-122"/>
              <a:ea typeface="微软雅黑" panose="020B0503020204020204" pitchFamily="34" charset="-122"/>
            </a:endParaRPr>
          </a:p>
          <a:p>
            <a:pPr marL="742950" lvl="1" indent="-285750">
              <a:lnSpc>
                <a:spcPct val="130000"/>
              </a:lnSpc>
              <a:buClr>
                <a:schemeClr val="accent6">
                  <a:lumMod val="75000"/>
                </a:schemeClr>
              </a:buClr>
              <a:buFont typeface="Wingdings" panose="05000000000000000000" pitchFamily="2" charset="2"/>
              <a:buChar char="u"/>
            </a:pPr>
            <a:r>
              <a:rPr lang="zh-CN" altLang="en-US" sz="2400" b="1" dirty="0">
                <a:solidFill>
                  <a:srgbClr val="000066"/>
                </a:solidFill>
                <a:latin typeface="微软雅黑" panose="020B0503020204020204" pitchFamily="34" charset="-122"/>
                <a:ea typeface="微软雅黑" panose="020B0503020204020204" pitchFamily="34" charset="-122"/>
              </a:rPr>
              <a:t>通过一定的算法，在互联网中的每一个路由器上，</a:t>
            </a:r>
            <a:r>
              <a:rPr lang="zh-CN" altLang="en-US" sz="2400" b="1" dirty="0">
                <a:solidFill>
                  <a:srgbClr val="C00000"/>
                </a:solidFill>
                <a:latin typeface="微软雅黑" panose="020B0503020204020204" pitchFamily="34" charset="-122"/>
                <a:ea typeface="微软雅黑" panose="020B0503020204020204" pitchFamily="34" charset="-122"/>
              </a:rPr>
              <a:t>生成</a:t>
            </a:r>
            <a:r>
              <a:rPr lang="zh-CN" altLang="en-US" sz="2400" b="1" dirty="0">
                <a:solidFill>
                  <a:srgbClr val="000066"/>
                </a:solidFill>
                <a:latin typeface="微软雅黑" panose="020B0503020204020204" pitchFamily="34" charset="-122"/>
                <a:ea typeface="微软雅黑" panose="020B0503020204020204" pitchFamily="34" charset="-122"/>
              </a:rPr>
              <a:t>一个用来转发分组的</a:t>
            </a:r>
            <a:r>
              <a:rPr lang="zh-CN" altLang="en-US" sz="2400" b="1" dirty="0">
                <a:solidFill>
                  <a:srgbClr val="C00000"/>
                </a:solidFill>
                <a:latin typeface="微软雅黑" panose="020B0503020204020204" pitchFamily="34" charset="-122"/>
                <a:ea typeface="微软雅黑" panose="020B0503020204020204" pitchFamily="34" charset="-122"/>
              </a:rPr>
              <a:t>转发表。</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742950" lvl="1" indent="-285750">
              <a:lnSpc>
                <a:spcPct val="130000"/>
              </a:lnSpc>
              <a:buClr>
                <a:schemeClr val="accent6">
                  <a:lumMod val="75000"/>
                </a:schemeClr>
              </a:buClr>
              <a:buFont typeface="Wingdings" panose="05000000000000000000" pitchFamily="2" charset="2"/>
              <a:buChar char="u"/>
            </a:pPr>
            <a:r>
              <a:rPr lang="zh-CN" altLang="en-US" sz="2400" b="1" dirty="0">
                <a:solidFill>
                  <a:srgbClr val="000066"/>
                </a:solidFill>
                <a:latin typeface="微软雅黑" panose="020B0503020204020204" pitchFamily="34" charset="-122"/>
                <a:ea typeface="微软雅黑" panose="020B0503020204020204" pitchFamily="34" charset="-122"/>
              </a:rPr>
              <a:t>每一个路由器在接收到一个分组时，依据转发表中指明的路径把分组</a:t>
            </a:r>
            <a:r>
              <a:rPr lang="zh-CN" altLang="en-US" sz="2400" b="1" dirty="0">
                <a:solidFill>
                  <a:srgbClr val="C00000"/>
                </a:solidFill>
                <a:latin typeface="微软雅黑" panose="020B0503020204020204" pitchFamily="34" charset="-122"/>
                <a:ea typeface="微软雅黑" panose="020B0503020204020204" pitchFamily="34" charset="-122"/>
              </a:rPr>
              <a:t>转发</a:t>
            </a:r>
            <a:r>
              <a:rPr lang="zh-CN" altLang="en-US" sz="2400" b="1" dirty="0">
                <a:solidFill>
                  <a:srgbClr val="000066"/>
                </a:solidFill>
                <a:latin typeface="微软雅黑" panose="020B0503020204020204" pitchFamily="34" charset="-122"/>
                <a:ea typeface="微软雅黑" panose="020B0503020204020204" pitchFamily="34" charset="-122"/>
              </a:rPr>
              <a:t>到下一个路由器。</a:t>
            </a:r>
            <a:endParaRPr lang="en-US" altLang="zh-CN" sz="2400" b="1" dirty="0">
              <a:solidFill>
                <a:srgbClr val="000066"/>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lang="en-US" altLang="zh-CN" sz="4000" b="1" dirty="0" smtClean="0">
              <a:solidFill>
                <a:srgbClr val="0000FF"/>
              </a:solidFill>
              <a:latin typeface="微软雅黑" panose="020B0503020204020204" pitchFamily="34" charset="-122"/>
              <a:ea typeface="微软雅黑" panose="020B0503020204020204" pitchFamily="34" charset="-122"/>
            </a:endParaRPr>
          </a:p>
          <a:p>
            <a:pPr marL="742950" lvl="1" indent="-285750">
              <a:lnSpc>
                <a:spcPct val="150000"/>
              </a:lnSpc>
              <a:buClr>
                <a:schemeClr val="accent6">
                  <a:lumMod val="75000"/>
                </a:schemeClr>
              </a:buClr>
              <a:buFont typeface="Wingdings" panose="05000000000000000000" pitchFamily="2" charset="2"/>
              <a:buChar char="u"/>
            </a:pPr>
            <a:endParaRPr lang="en-US" altLang="zh-CN" sz="3600" b="1" dirty="0">
              <a:solidFill>
                <a:srgbClr val="0000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25201920"/>
      </p:ext>
    </p:extLst>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smtClean="0"/>
              <a:t>各层的主要功能</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4" name="圆角矩形 3"/>
          <p:cNvSpPr/>
          <p:nvPr/>
        </p:nvSpPr>
        <p:spPr>
          <a:xfrm>
            <a:off x="983432" y="2204864"/>
            <a:ext cx="10081120"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4"/>
          <p:cNvGrpSpPr/>
          <p:nvPr/>
        </p:nvGrpSpPr>
        <p:grpSpPr>
          <a:xfrm>
            <a:off x="1343467" y="2492896"/>
            <a:ext cx="2513176" cy="3587406"/>
            <a:chOff x="6217816" y="1623594"/>
            <a:chExt cx="1341441" cy="2306614"/>
          </a:xfrm>
        </p:grpSpPr>
        <p:sp>
          <p:nvSpPr>
            <p:cNvPr id="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1" name="Text Box 106"/>
            <p:cNvSpPr txBox="1">
              <a:spLocks noChangeArrowheads="1"/>
            </p:cNvSpPr>
            <p:nvPr/>
          </p:nvSpPr>
          <p:spPr bwMode="auto">
            <a:xfrm>
              <a:off x="6217817" y="2698332"/>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4      </a:t>
              </a:r>
              <a:r>
                <a:rPr kumimoji="1" lang="zh-CN" altLang="en-US" sz="24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Text Box 107"/>
            <p:cNvSpPr txBox="1">
              <a:spLocks noChangeArrowheads="1"/>
            </p:cNvSpPr>
            <p:nvPr/>
          </p:nvSpPr>
          <p:spPr bwMode="auto">
            <a:xfrm>
              <a:off x="6217816" y="30237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3      </a:t>
              </a:r>
              <a:r>
                <a:rPr kumimoji="1" lang="zh-CN" altLang="en-US" sz="2400" b="1" dirty="0" smtClean="0">
                  <a:solidFill>
                    <a:schemeClr val="bg1"/>
                  </a:solidFill>
                  <a:latin typeface="微软雅黑" panose="020B0503020204020204" pitchFamily="34" charset="-122"/>
                  <a:ea typeface="微软雅黑" panose="020B0503020204020204" pitchFamily="34" charset="-122"/>
                </a:rPr>
                <a:t>网络层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3" name="Text Box 108"/>
            <p:cNvSpPr txBox="1">
              <a:spLocks noChangeArrowheads="1"/>
            </p:cNvSpPr>
            <p:nvPr/>
          </p:nvSpPr>
          <p:spPr bwMode="auto">
            <a:xfrm>
              <a:off x="6217819" y="2020469"/>
              <a:ext cx="984995"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5      </a:t>
              </a:r>
              <a:r>
                <a:rPr kumimoji="1" lang="zh-CN" altLang="en-US" sz="2400" b="1" dirty="0" smtClean="0">
                  <a:solidFill>
                    <a:schemeClr val="bg1"/>
                  </a:solidFill>
                  <a:latin typeface="微软雅黑" panose="020B0503020204020204" pitchFamily="34" charset="-122"/>
                  <a:ea typeface="微软雅黑" panose="020B0503020204020204" pitchFamily="34" charset="-122"/>
                </a:rPr>
                <a:t>应用层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 name="Text Box 110"/>
            <p:cNvSpPr txBox="1">
              <a:spLocks noChangeArrowheads="1"/>
            </p:cNvSpPr>
            <p:nvPr/>
          </p:nvSpPr>
          <p:spPr bwMode="auto">
            <a:xfrm>
              <a:off x="6217819" y="3319044"/>
              <a:ext cx="1167242"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2   </a:t>
              </a:r>
              <a:r>
                <a:rPr kumimoji="1" lang="zh-CN" altLang="en-US" sz="2400" b="1" dirty="0" smtClean="0">
                  <a:solidFill>
                    <a:schemeClr val="bg1"/>
                  </a:solidFill>
                  <a:latin typeface="微软雅黑" panose="020B0503020204020204" pitchFamily="34" charset="-122"/>
                  <a:ea typeface="微软雅黑" panose="020B0503020204020204" pitchFamily="34" charset="-122"/>
                </a:rPr>
                <a:t>数据链路层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5" name="Text Box 111"/>
            <p:cNvSpPr txBox="1">
              <a:spLocks noChangeArrowheads="1"/>
            </p:cNvSpPr>
            <p:nvPr/>
          </p:nvSpPr>
          <p:spPr bwMode="auto">
            <a:xfrm>
              <a:off x="6217819" y="36333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1      </a:t>
              </a:r>
              <a:r>
                <a:rPr kumimoji="1" lang="zh-CN" altLang="en-US" sz="2400" b="1" dirty="0" smtClean="0">
                  <a:solidFill>
                    <a:schemeClr val="bg1"/>
                  </a:solidFill>
                  <a:latin typeface="微软雅黑" panose="020B0503020204020204" pitchFamily="34" charset="-122"/>
                  <a:ea typeface="微软雅黑" panose="020B0503020204020204" pitchFamily="34" charset="-122"/>
                </a:rPr>
                <a:t>物理层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8" name="线形标注 1 17"/>
          <p:cNvSpPr/>
          <p:nvPr/>
        </p:nvSpPr>
        <p:spPr>
          <a:xfrm>
            <a:off x="4367898" y="2581562"/>
            <a:ext cx="6408622" cy="3488901"/>
          </a:xfrm>
          <a:prstGeom prst="borderCallout1">
            <a:avLst>
              <a:gd name="adj1" fmla="val 48217"/>
              <a:gd name="adj2" fmla="val 189"/>
              <a:gd name="adj3" fmla="val 79865"/>
              <a:gd name="adj4" fmla="val -14684"/>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ct val="130000"/>
              </a:lnSpc>
              <a:buFont typeface="Wingdings" panose="05000000000000000000" pitchFamily="2" charset="2"/>
              <a:buChar char="l"/>
            </a:pPr>
            <a:r>
              <a:rPr lang="zh-CN" altLang="en-US" sz="2800" b="1" dirty="0" smtClean="0">
                <a:solidFill>
                  <a:srgbClr val="0000FF"/>
                </a:solidFill>
                <a:latin typeface="微软雅黑" panose="020B0503020204020204" pitchFamily="34" charset="-122"/>
                <a:ea typeface="微软雅黑" panose="020B0503020204020204" pitchFamily="34" charset="-122"/>
              </a:rPr>
              <a:t>任务：</a:t>
            </a:r>
            <a:r>
              <a:rPr lang="zh-CN" altLang="en-US" sz="2800" b="1" dirty="0">
                <a:solidFill>
                  <a:srgbClr val="000066"/>
                </a:solidFill>
                <a:latin typeface="微软雅黑" panose="020B0503020204020204" pitchFamily="34" charset="-122"/>
                <a:ea typeface="微软雅黑" panose="020B0503020204020204" pitchFamily="34" charset="-122"/>
              </a:rPr>
              <a:t>在</a:t>
            </a:r>
            <a:r>
              <a:rPr lang="zh-CN" altLang="en-US" sz="2800" b="1" dirty="0" smtClean="0">
                <a:solidFill>
                  <a:srgbClr val="000066"/>
                </a:solidFill>
                <a:latin typeface="微软雅黑" panose="020B0503020204020204" pitchFamily="34" charset="-122"/>
                <a:ea typeface="微软雅黑" panose="020B0503020204020204" pitchFamily="34" charset="-122"/>
              </a:rPr>
              <a:t>两</a:t>
            </a:r>
            <a:r>
              <a:rPr lang="zh-CN" altLang="en-US" sz="2800" b="1" dirty="0">
                <a:solidFill>
                  <a:srgbClr val="000066"/>
                </a:solidFill>
                <a:latin typeface="微软雅黑" panose="020B0503020204020204" pitchFamily="34" charset="-122"/>
                <a:ea typeface="微软雅黑" panose="020B0503020204020204" pitchFamily="34" charset="-122"/>
              </a:rPr>
              <a:t>个</a:t>
            </a:r>
            <a:r>
              <a:rPr lang="zh-CN" altLang="en-US" sz="2800" b="1" dirty="0">
                <a:solidFill>
                  <a:srgbClr val="C00000"/>
                </a:solidFill>
                <a:latin typeface="微软雅黑" panose="020B0503020204020204" pitchFamily="34" charset="-122"/>
                <a:ea typeface="微软雅黑" panose="020B0503020204020204" pitchFamily="34" charset="-122"/>
              </a:rPr>
              <a:t>相邻节点</a:t>
            </a:r>
            <a:r>
              <a:rPr lang="zh-CN" altLang="en-US" sz="2800" b="1" dirty="0" smtClean="0">
                <a:solidFill>
                  <a:srgbClr val="000066"/>
                </a:solidFill>
                <a:latin typeface="微软雅黑" panose="020B0503020204020204" pitchFamily="34" charset="-122"/>
                <a:ea typeface="微软雅黑" panose="020B0503020204020204" pitchFamily="34" charset="-122"/>
              </a:rPr>
              <a:t>之间传送数据帧。</a:t>
            </a:r>
            <a:endParaRPr lang="en-US" altLang="zh-CN" sz="2800" b="1" dirty="0" smtClean="0">
              <a:solidFill>
                <a:srgbClr val="C00000"/>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2800" b="1" dirty="0" smtClean="0">
                <a:solidFill>
                  <a:schemeClr val="tx2">
                    <a:lumMod val="60000"/>
                    <a:lumOff val="40000"/>
                  </a:schemeClr>
                </a:solidFill>
                <a:latin typeface="微软雅黑" panose="020B0503020204020204" pitchFamily="34" charset="-122"/>
                <a:ea typeface="微软雅黑" panose="020B0503020204020204" pitchFamily="34" charset="-122"/>
              </a:rPr>
              <a:t>数据单元：</a:t>
            </a:r>
            <a:r>
              <a:rPr lang="zh-CN" altLang="en-US" sz="2800" b="1" dirty="0" smtClean="0">
                <a:solidFill>
                  <a:srgbClr val="C00000"/>
                </a:solidFill>
                <a:latin typeface="微软雅黑" panose="020B0503020204020204" pitchFamily="34" charset="-122"/>
                <a:ea typeface="微软雅黑" panose="020B0503020204020204" pitchFamily="34" charset="-122"/>
              </a:rPr>
              <a:t>帧</a:t>
            </a:r>
            <a:r>
              <a:rPr lang="zh-CN" altLang="en-US" sz="2800" b="1" dirty="0">
                <a:solidFill>
                  <a:srgbClr val="000066"/>
                </a:solidFill>
                <a:latin typeface="微软雅黑" panose="020B0503020204020204" pitchFamily="34" charset="-122"/>
                <a:ea typeface="微软雅黑" panose="020B0503020204020204" pitchFamily="34" charset="-122"/>
              </a:rPr>
              <a:t>（</a:t>
            </a:r>
            <a:r>
              <a:rPr lang="en-US" altLang="zh-CN" sz="2800" b="1" dirty="0">
                <a:solidFill>
                  <a:srgbClr val="000066"/>
                </a:solidFill>
                <a:latin typeface="微软雅黑" panose="020B0503020204020204" pitchFamily="34" charset="-122"/>
                <a:ea typeface="微软雅黑" panose="020B0503020204020204" pitchFamily="34" charset="-122"/>
              </a:rPr>
              <a:t>frame</a:t>
            </a:r>
            <a:r>
              <a:rPr lang="zh-CN" altLang="en-US" sz="2800" b="1" dirty="0">
                <a:solidFill>
                  <a:srgbClr val="000066"/>
                </a:solidFill>
                <a:latin typeface="微软雅黑" panose="020B0503020204020204" pitchFamily="34" charset="-122"/>
                <a:ea typeface="微软雅黑" panose="020B0503020204020204" pitchFamily="34" charset="-122"/>
              </a:rPr>
              <a:t>）。</a:t>
            </a:r>
            <a:endParaRPr lang="en-US" altLang="zh-CN" sz="28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2800" b="1" dirty="0">
                <a:solidFill>
                  <a:srgbClr val="000066"/>
                </a:solidFill>
                <a:latin typeface="微软雅黑" panose="020B0503020204020204" pitchFamily="34" charset="-122"/>
                <a:ea typeface="微软雅黑" panose="020B0503020204020204" pitchFamily="34" charset="-122"/>
              </a:rPr>
              <a:t>如发现有差错</a:t>
            </a:r>
            <a:r>
              <a:rPr lang="zh-CN" altLang="en-US" sz="2800" b="1" dirty="0" smtClean="0">
                <a:solidFill>
                  <a:srgbClr val="000066"/>
                </a:solidFill>
                <a:latin typeface="微软雅黑" panose="020B0503020204020204" pitchFamily="34" charset="-122"/>
                <a:ea typeface="微软雅黑" panose="020B0503020204020204" pitchFamily="34" charset="-122"/>
              </a:rPr>
              <a:t>，就</a:t>
            </a:r>
            <a:r>
              <a:rPr lang="zh-CN" altLang="en-US" sz="2800" b="1" dirty="0">
                <a:solidFill>
                  <a:srgbClr val="000066"/>
                </a:solidFill>
                <a:latin typeface="微软雅黑" panose="020B0503020204020204" pitchFamily="34" charset="-122"/>
                <a:ea typeface="微软雅黑" panose="020B0503020204020204" pitchFamily="34" charset="-122"/>
              </a:rPr>
              <a:t>简单地</a:t>
            </a:r>
            <a:r>
              <a:rPr lang="zh-CN" altLang="en-US" sz="2800" b="1" dirty="0" smtClean="0">
                <a:solidFill>
                  <a:srgbClr val="C00000"/>
                </a:solidFill>
                <a:latin typeface="微软雅黑" panose="020B0503020204020204" pitchFamily="34" charset="-122"/>
                <a:ea typeface="微软雅黑" panose="020B0503020204020204" pitchFamily="34" charset="-122"/>
              </a:rPr>
              <a:t>丢弃</a:t>
            </a:r>
            <a:r>
              <a:rPr lang="zh-CN" altLang="en-US" sz="2800" b="1" dirty="0" smtClean="0">
                <a:solidFill>
                  <a:srgbClr val="000066"/>
                </a:solidFill>
                <a:latin typeface="微软雅黑" panose="020B0503020204020204" pitchFamily="34" charset="-122"/>
                <a:ea typeface="微软雅黑" panose="020B0503020204020204" pitchFamily="34" charset="-122"/>
              </a:rPr>
              <a:t>出错的帧。</a:t>
            </a:r>
            <a:endParaRPr lang="en-US" altLang="zh-CN" sz="28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2800" b="1" dirty="0" smtClean="0">
                <a:solidFill>
                  <a:schemeClr val="tx2">
                    <a:lumMod val="60000"/>
                    <a:lumOff val="40000"/>
                  </a:schemeClr>
                </a:solidFill>
                <a:latin typeface="微软雅黑" panose="020B0503020204020204" pitchFamily="34" charset="-122"/>
                <a:ea typeface="微软雅黑" panose="020B0503020204020204" pitchFamily="34" charset="-122"/>
              </a:rPr>
              <a:t>常用协议：</a:t>
            </a:r>
            <a:r>
              <a:rPr lang="en-US" altLang="zh-CN" sz="2800" b="1" dirty="0" smtClean="0">
                <a:solidFill>
                  <a:srgbClr val="000066"/>
                </a:solidFill>
                <a:latin typeface="微软雅黑" panose="020B0503020204020204" pitchFamily="34" charset="-122"/>
                <a:ea typeface="微软雅黑" panose="020B0503020204020204" pitchFamily="34" charset="-122"/>
              </a:rPr>
              <a:t>PPP</a:t>
            </a:r>
            <a:r>
              <a:rPr lang="zh-CN" altLang="en-US" sz="2800" b="1" dirty="0" smtClean="0">
                <a:solidFill>
                  <a:srgbClr val="000066"/>
                </a:solidFill>
                <a:latin typeface="微软雅黑" panose="020B0503020204020204" pitchFamily="34" charset="-122"/>
                <a:ea typeface="微软雅黑" panose="020B0503020204020204" pitchFamily="34" charset="-122"/>
              </a:rPr>
              <a:t>、</a:t>
            </a:r>
            <a:r>
              <a:rPr lang="en-US" altLang="zh-CN" sz="2800" b="1" dirty="0" smtClean="0">
                <a:solidFill>
                  <a:srgbClr val="000066"/>
                </a:solidFill>
                <a:latin typeface="微软雅黑" panose="020B0503020204020204" pitchFamily="34" charset="-122"/>
                <a:ea typeface="微软雅黑" panose="020B0503020204020204" pitchFamily="34" charset="-122"/>
              </a:rPr>
              <a:t>CSMA/CD </a:t>
            </a:r>
            <a:r>
              <a:rPr lang="zh-CN" altLang="en-US" sz="2800" b="1" dirty="0" smtClean="0">
                <a:solidFill>
                  <a:srgbClr val="000066"/>
                </a:solidFill>
                <a:latin typeface="微软雅黑" panose="020B0503020204020204" pitchFamily="34" charset="-122"/>
                <a:ea typeface="微软雅黑" panose="020B0503020204020204" pitchFamily="34" charset="-122"/>
              </a:rPr>
              <a:t>等。</a:t>
            </a:r>
            <a:endParaRPr lang="en-US" altLang="zh-CN" sz="28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endParaRPr lang="zh-CN" altLang="en-US" sz="28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17868046"/>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smtClean="0"/>
              <a:t>各层的主要功能</a:t>
            </a:r>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
        <p:nvSpPr>
          <p:cNvPr id="4" name="圆角矩形 3"/>
          <p:cNvSpPr/>
          <p:nvPr/>
        </p:nvSpPr>
        <p:spPr>
          <a:xfrm>
            <a:off x="983432" y="2204864"/>
            <a:ext cx="10081120" cy="417646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5" name="组合 4"/>
          <p:cNvGrpSpPr/>
          <p:nvPr/>
        </p:nvGrpSpPr>
        <p:grpSpPr>
          <a:xfrm>
            <a:off x="1343467" y="2492896"/>
            <a:ext cx="2513176" cy="3587406"/>
            <a:chOff x="6217816" y="1623594"/>
            <a:chExt cx="1341441" cy="2306614"/>
          </a:xfrm>
        </p:grpSpPr>
        <p:sp>
          <p:nvSpPr>
            <p:cNvPr id="6"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7"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8" name="Freeform 102"/>
            <p:cNvSpPr/>
            <p:nvPr/>
          </p:nvSpPr>
          <p:spPr bwMode="auto">
            <a:xfrm>
              <a:off x="6220995" y="281632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9"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0"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solidFill>
                  <a:schemeClr val="bg1"/>
                </a:solidFill>
              </a:endParaRPr>
            </a:p>
          </p:txBody>
        </p:sp>
        <p:sp>
          <p:nvSpPr>
            <p:cNvPr id="11" name="Text Box 106"/>
            <p:cNvSpPr txBox="1">
              <a:spLocks noChangeArrowheads="1"/>
            </p:cNvSpPr>
            <p:nvPr/>
          </p:nvSpPr>
          <p:spPr bwMode="auto">
            <a:xfrm>
              <a:off x="6217817" y="2698332"/>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4      </a:t>
              </a:r>
              <a:r>
                <a:rPr kumimoji="1" lang="zh-CN" altLang="en-US" sz="24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2" name="Text Box 107"/>
            <p:cNvSpPr txBox="1">
              <a:spLocks noChangeArrowheads="1"/>
            </p:cNvSpPr>
            <p:nvPr/>
          </p:nvSpPr>
          <p:spPr bwMode="auto">
            <a:xfrm>
              <a:off x="6217816" y="30237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3      </a:t>
              </a:r>
              <a:r>
                <a:rPr kumimoji="1" lang="zh-CN" altLang="en-US" sz="2400" b="1" dirty="0" smtClean="0">
                  <a:solidFill>
                    <a:schemeClr val="bg1"/>
                  </a:solidFill>
                  <a:latin typeface="微软雅黑" panose="020B0503020204020204" pitchFamily="34" charset="-122"/>
                  <a:ea typeface="微软雅黑" panose="020B0503020204020204" pitchFamily="34" charset="-122"/>
                </a:rPr>
                <a:t>网络层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3" name="Text Box 108"/>
            <p:cNvSpPr txBox="1">
              <a:spLocks noChangeArrowheads="1"/>
            </p:cNvSpPr>
            <p:nvPr/>
          </p:nvSpPr>
          <p:spPr bwMode="auto">
            <a:xfrm>
              <a:off x="6217819" y="2020469"/>
              <a:ext cx="984995"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5      </a:t>
              </a:r>
              <a:r>
                <a:rPr kumimoji="1" lang="zh-CN" altLang="en-US" sz="2400" b="1" dirty="0" smtClean="0">
                  <a:solidFill>
                    <a:schemeClr val="bg1"/>
                  </a:solidFill>
                  <a:latin typeface="微软雅黑" panose="020B0503020204020204" pitchFamily="34" charset="-122"/>
                  <a:ea typeface="微软雅黑" panose="020B0503020204020204" pitchFamily="34" charset="-122"/>
                </a:rPr>
                <a:t>应用层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4" name="Text Box 110"/>
            <p:cNvSpPr txBox="1">
              <a:spLocks noChangeArrowheads="1"/>
            </p:cNvSpPr>
            <p:nvPr/>
          </p:nvSpPr>
          <p:spPr bwMode="auto">
            <a:xfrm>
              <a:off x="6217819" y="3319044"/>
              <a:ext cx="1167242"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2   </a:t>
              </a:r>
              <a:r>
                <a:rPr kumimoji="1" lang="zh-CN" altLang="en-US" sz="2400" b="1" dirty="0" smtClean="0">
                  <a:solidFill>
                    <a:schemeClr val="bg1"/>
                  </a:solidFill>
                  <a:latin typeface="微软雅黑" panose="020B0503020204020204" pitchFamily="34" charset="-122"/>
                  <a:ea typeface="微软雅黑" panose="020B0503020204020204" pitchFamily="34" charset="-122"/>
                </a:rPr>
                <a:t>数据链路层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15" name="Text Box 111"/>
            <p:cNvSpPr txBox="1">
              <a:spLocks noChangeArrowheads="1"/>
            </p:cNvSpPr>
            <p:nvPr/>
          </p:nvSpPr>
          <p:spPr bwMode="auto">
            <a:xfrm>
              <a:off x="6217819" y="3633369"/>
              <a:ext cx="984994" cy="296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400" b="1" dirty="0" smtClean="0">
                  <a:solidFill>
                    <a:schemeClr val="bg1"/>
                  </a:solidFill>
                  <a:latin typeface="微软雅黑" panose="020B0503020204020204" pitchFamily="34" charset="-122"/>
                  <a:ea typeface="微软雅黑" panose="020B0503020204020204" pitchFamily="34" charset="-122"/>
                </a:rPr>
                <a:t>1      </a:t>
              </a:r>
              <a:r>
                <a:rPr kumimoji="1" lang="zh-CN" altLang="en-US" sz="2400" b="1" dirty="0" smtClean="0">
                  <a:solidFill>
                    <a:schemeClr val="bg1"/>
                  </a:solidFill>
                  <a:latin typeface="微软雅黑" panose="020B0503020204020204" pitchFamily="34" charset="-122"/>
                  <a:ea typeface="微软雅黑" panose="020B0503020204020204" pitchFamily="34" charset="-122"/>
                </a:rPr>
                <a:t>物理层</a:t>
              </a:r>
              <a:endParaRPr kumimoji="1"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7" name="线形标注 1 16"/>
          <p:cNvSpPr/>
          <p:nvPr/>
        </p:nvSpPr>
        <p:spPr>
          <a:xfrm>
            <a:off x="4367898" y="2581562"/>
            <a:ext cx="6408622" cy="3488901"/>
          </a:xfrm>
          <a:prstGeom prst="borderCallout1">
            <a:avLst>
              <a:gd name="adj1" fmla="val 48217"/>
              <a:gd name="adj2" fmla="val 189"/>
              <a:gd name="adj3" fmla="val 92748"/>
              <a:gd name="adj4" fmla="val -18474"/>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t" anchorCtr="0"/>
          <a:lstStyle/>
          <a:p>
            <a:pPr marL="285750" indent="-285750">
              <a:lnSpc>
                <a:spcPct val="130000"/>
              </a:lnSpc>
              <a:buFont typeface="Wingdings" panose="05000000000000000000" pitchFamily="2" charset="2"/>
              <a:buChar char="l"/>
            </a:pPr>
            <a:r>
              <a:rPr lang="zh-CN" altLang="en-US" sz="2400" b="1" dirty="0" smtClean="0">
                <a:solidFill>
                  <a:srgbClr val="0000FF"/>
                </a:solidFill>
                <a:latin typeface="微软雅黑" panose="020B0503020204020204" pitchFamily="34" charset="-122"/>
                <a:ea typeface="微软雅黑" panose="020B0503020204020204" pitchFamily="34" charset="-122"/>
              </a:rPr>
              <a:t>任务：</a:t>
            </a:r>
            <a:r>
              <a:rPr lang="zh-CN" altLang="en-US" sz="2400" b="1" dirty="0" smtClean="0">
                <a:solidFill>
                  <a:srgbClr val="000066"/>
                </a:solidFill>
                <a:latin typeface="微软雅黑" panose="020B0503020204020204" pitchFamily="34" charset="-122"/>
                <a:ea typeface="微软雅黑" panose="020B0503020204020204" pitchFamily="34" charset="-122"/>
              </a:rPr>
              <a:t>实现比特（</a:t>
            </a:r>
            <a:r>
              <a:rPr lang="en-US" altLang="zh-CN" sz="2400" b="1" dirty="0" smtClean="0">
                <a:solidFill>
                  <a:srgbClr val="000066"/>
                </a:solidFill>
                <a:latin typeface="微软雅黑" panose="020B0503020204020204" pitchFamily="34" charset="-122"/>
                <a:ea typeface="微软雅黑" panose="020B0503020204020204" pitchFamily="34" charset="-122"/>
              </a:rPr>
              <a:t>0 </a:t>
            </a:r>
            <a:r>
              <a:rPr lang="zh-CN" altLang="en-US" sz="2400" b="1" dirty="0" smtClean="0">
                <a:solidFill>
                  <a:srgbClr val="000066"/>
                </a:solidFill>
                <a:latin typeface="微软雅黑" panose="020B0503020204020204" pitchFamily="34" charset="-122"/>
                <a:ea typeface="微软雅黑" panose="020B0503020204020204" pitchFamily="34" charset="-122"/>
              </a:rPr>
              <a:t>或 </a:t>
            </a:r>
            <a:r>
              <a:rPr lang="en-US" altLang="zh-CN" sz="2400" b="1" dirty="0" smtClean="0">
                <a:solidFill>
                  <a:srgbClr val="000066"/>
                </a:solidFill>
                <a:latin typeface="微软雅黑" panose="020B0503020204020204" pitchFamily="34" charset="-122"/>
                <a:ea typeface="微软雅黑" panose="020B0503020204020204" pitchFamily="34" charset="-122"/>
              </a:rPr>
              <a:t>1</a:t>
            </a:r>
            <a:r>
              <a:rPr lang="zh-CN" altLang="en-US" sz="2400" b="1" dirty="0" smtClean="0">
                <a:solidFill>
                  <a:srgbClr val="000066"/>
                </a:solidFill>
                <a:latin typeface="微软雅黑" panose="020B0503020204020204" pitchFamily="34" charset="-122"/>
                <a:ea typeface="微软雅黑" panose="020B0503020204020204" pitchFamily="34" charset="-122"/>
              </a:rPr>
              <a:t>）的传输。</a:t>
            </a:r>
            <a:endParaRPr lang="en-US" altLang="zh-CN" sz="24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2400" b="1" dirty="0" smtClean="0">
                <a:solidFill>
                  <a:schemeClr val="tx2">
                    <a:lumMod val="60000"/>
                    <a:lumOff val="40000"/>
                  </a:schemeClr>
                </a:solidFill>
                <a:latin typeface="微软雅黑" panose="020B0503020204020204" pitchFamily="34" charset="-122"/>
                <a:ea typeface="微软雅黑" panose="020B0503020204020204" pitchFamily="34" charset="-122"/>
              </a:rPr>
              <a:t>数据单元：</a:t>
            </a:r>
            <a:r>
              <a:rPr lang="zh-CN" altLang="en-US" sz="2400" b="1" dirty="0" smtClean="0">
                <a:solidFill>
                  <a:srgbClr val="C00000"/>
                </a:solidFill>
                <a:latin typeface="微软雅黑" panose="020B0503020204020204" pitchFamily="34" charset="-122"/>
                <a:ea typeface="微软雅黑" panose="020B0503020204020204" pitchFamily="34" charset="-122"/>
              </a:rPr>
              <a:t>比特</a:t>
            </a:r>
            <a:endParaRPr lang="en-US" altLang="zh-CN" sz="2400" b="1" dirty="0" smtClean="0">
              <a:solidFill>
                <a:srgbClr val="C00000"/>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2400" b="1" dirty="0" smtClean="0">
                <a:solidFill>
                  <a:srgbClr val="000066"/>
                </a:solidFill>
                <a:latin typeface="微软雅黑" panose="020B0503020204020204" pitchFamily="34" charset="-122"/>
                <a:ea typeface="微软雅黑" panose="020B0503020204020204" pitchFamily="34" charset="-122"/>
              </a:rPr>
              <a:t>确定表示数据的</a:t>
            </a:r>
            <a:r>
              <a:rPr lang="zh-CN" altLang="en-US" sz="2400" b="1" dirty="0" smtClean="0">
                <a:solidFill>
                  <a:schemeClr val="tx2">
                    <a:lumMod val="60000"/>
                    <a:lumOff val="40000"/>
                  </a:schemeClr>
                </a:solidFill>
                <a:latin typeface="微软雅黑" panose="020B0503020204020204" pitchFamily="34" charset="-122"/>
                <a:ea typeface="微软雅黑" panose="020B0503020204020204" pitchFamily="34" charset="-122"/>
              </a:rPr>
              <a:t>电压</a:t>
            </a:r>
            <a:r>
              <a:rPr lang="zh-CN" altLang="en-US" sz="2400" b="1" dirty="0" smtClean="0">
                <a:solidFill>
                  <a:srgbClr val="000066"/>
                </a:solidFill>
                <a:latin typeface="微软雅黑" panose="020B0503020204020204" pitchFamily="34" charset="-122"/>
                <a:ea typeface="微软雅黑" panose="020B0503020204020204" pitchFamily="34" charset="-122"/>
              </a:rPr>
              <a:t>以及连接</a:t>
            </a:r>
            <a:r>
              <a:rPr lang="zh-CN" altLang="en-US" sz="2400" b="1" dirty="0">
                <a:solidFill>
                  <a:srgbClr val="000066"/>
                </a:solidFill>
                <a:latin typeface="微软雅黑" panose="020B0503020204020204" pitchFamily="34" charset="-122"/>
                <a:ea typeface="微软雅黑" panose="020B0503020204020204" pitchFamily="34" charset="-122"/>
              </a:rPr>
              <a:t>电缆的</a:t>
            </a:r>
            <a:r>
              <a:rPr lang="zh-CN" altLang="en-US" sz="2400" b="1" dirty="0">
                <a:solidFill>
                  <a:srgbClr val="0000FF"/>
                </a:solidFill>
                <a:latin typeface="微软雅黑" panose="020B0503020204020204" pitchFamily="34" charset="-122"/>
                <a:ea typeface="微软雅黑" panose="020B0503020204020204" pitchFamily="34" charset="-122"/>
              </a:rPr>
              <a:t>插头</a:t>
            </a:r>
            <a:r>
              <a:rPr lang="zh-CN" altLang="en-US" sz="2400" b="1" dirty="0">
                <a:solidFill>
                  <a:srgbClr val="000066"/>
                </a:solidFill>
                <a:latin typeface="微软雅黑" panose="020B0503020204020204" pitchFamily="34" charset="-122"/>
                <a:ea typeface="微软雅黑" panose="020B0503020204020204" pitchFamily="34" charset="-122"/>
              </a:rPr>
              <a:t>应当有多少根</a:t>
            </a:r>
            <a:r>
              <a:rPr lang="zh-CN" altLang="en-US" sz="2400" b="1" dirty="0" smtClean="0">
                <a:solidFill>
                  <a:srgbClr val="0000FF"/>
                </a:solidFill>
                <a:latin typeface="微软雅黑" panose="020B0503020204020204" pitchFamily="34" charset="-122"/>
                <a:ea typeface="微软雅黑" panose="020B0503020204020204" pitchFamily="34" charset="-122"/>
              </a:rPr>
              <a:t>引脚</a:t>
            </a:r>
            <a:r>
              <a:rPr lang="zh-CN" altLang="en-US" sz="2400" b="1" dirty="0" smtClean="0">
                <a:solidFill>
                  <a:srgbClr val="000066"/>
                </a:solidFill>
                <a:latin typeface="微软雅黑" panose="020B0503020204020204" pitchFamily="34" charset="-122"/>
                <a:ea typeface="微软雅黑" panose="020B0503020204020204" pitchFamily="34" charset="-122"/>
              </a:rPr>
              <a:t>，各</a:t>
            </a:r>
            <a:r>
              <a:rPr lang="zh-CN" altLang="en-US" sz="2400" b="1" dirty="0">
                <a:solidFill>
                  <a:srgbClr val="000066"/>
                </a:solidFill>
                <a:latin typeface="微软雅黑" panose="020B0503020204020204" pitchFamily="34" charset="-122"/>
                <a:ea typeface="微软雅黑" panose="020B0503020204020204" pitchFamily="34" charset="-122"/>
              </a:rPr>
              <a:t>引脚应如何</a:t>
            </a:r>
            <a:r>
              <a:rPr lang="zh-CN" altLang="en-US" sz="2400" b="1" dirty="0" smtClean="0">
                <a:solidFill>
                  <a:srgbClr val="0000FF"/>
                </a:solidFill>
                <a:latin typeface="微软雅黑" panose="020B0503020204020204" pitchFamily="34" charset="-122"/>
                <a:ea typeface="微软雅黑" panose="020B0503020204020204" pitchFamily="34" charset="-122"/>
              </a:rPr>
              <a:t>连接</a:t>
            </a:r>
            <a:r>
              <a:rPr lang="zh-CN" altLang="en-US" sz="2400" b="1" dirty="0" smtClean="0">
                <a:solidFill>
                  <a:srgbClr val="000066"/>
                </a:solidFill>
                <a:latin typeface="微软雅黑" panose="020B0503020204020204" pitchFamily="34" charset="-122"/>
                <a:ea typeface="微软雅黑" panose="020B0503020204020204" pitchFamily="34" charset="-122"/>
              </a:rPr>
              <a:t>等。</a:t>
            </a:r>
            <a:endParaRPr lang="en-US" altLang="zh-CN" sz="2400" b="1" dirty="0" smtClean="0">
              <a:solidFill>
                <a:srgbClr val="000066"/>
              </a:solidFill>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l"/>
            </a:pPr>
            <a:r>
              <a:rPr lang="zh-CN" altLang="en-US" sz="2400" b="1" dirty="0" smtClean="0">
                <a:solidFill>
                  <a:srgbClr val="C00000"/>
                </a:solidFill>
                <a:latin typeface="微软雅黑" panose="020B0503020204020204" pitchFamily="34" charset="-122"/>
                <a:ea typeface="微软雅黑" panose="020B0503020204020204" pitchFamily="34" charset="-122"/>
              </a:rPr>
              <a:t>注意</a:t>
            </a:r>
            <a:r>
              <a:rPr lang="zh-CN" altLang="en-US" sz="2400" b="1" dirty="0">
                <a:solidFill>
                  <a:srgbClr val="C00000"/>
                </a:solidFill>
                <a:latin typeface="微软雅黑" panose="020B0503020204020204" pitchFamily="34" charset="-122"/>
                <a:ea typeface="微软雅黑" panose="020B0503020204020204" pitchFamily="34" charset="-122"/>
              </a:rPr>
              <a:t>：</a:t>
            </a:r>
            <a:r>
              <a:rPr lang="zh-CN" altLang="en-US" sz="2400" b="1" dirty="0" smtClean="0">
                <a:solidFill>
                  <a:srgbClr val="000066"/>
                </a:solidFill>
                <a:latin typeface="微软雅黑" panose="020B0503020204020204" pitchFamily="34" charset="-122"/>
                <a:ea typeface="微软雅黑" panose="020B0503020204020204" pitchFamily="34" charset="-122"/>
              </a:rPr>
              <a:t>传递信息的</a:t>
            </a:r>
            <a:r>
              <a:rPr lang="zh-CN" altLang="en-US" sz="2400" b="1" dirty="0" smtClean="0">
                <a:solidFill>
                  <a:srgbClr val="C00000"/>
                </a:solidFill>
                <a:latin typeface="微软雅黑" panose="020B0503020204020204" pitchFamily="34" charset="-122"/>
                <a:ea typeface="微软雅黑" panose="020B0503020204020204" pitchFamily="34" charset="-122"/>
              </a:rPr>
              <a:t>物理</a:t>
            </a:r>
            <a:r>
              <a:rPr lang="zh-CN" altLang="en-US" sz="2400" b="1" dirty="0">
                <a:solidFill>
                  <a:srgbClr val="C00000"/>
                </a:solidFill>
                <a:latin typeface="微软雅黑" panose="020B0503020204020204" pitchFamily="34" charset="-122"/>
                <a:ea typeface="微软雅黑" panose="020B0503020204020204" pitchFamily="34" charset="-122"/>
              </a:rPr>
              <a:t>媒体</a:t>
            </a:r>
            <a:r>
              <a:rPr lang="zh-CN" altLang="en-US" sz="2400" b="1" dirty="0">
                <a:solidFill>
                  <a:srgbClr val="000066"/>
                </a:solidFill>
                <a:latin typeface="微软雅黑" panose="020B0503020204020204" pitchFamily="34" charset="-122"/>
                <a:ea typeface="微软雅黑" panose="020B0503020204020204" pitchFamily="34" charset="-122"/>
              </a:rPr>
              <a:t>，如双绞线、同轴电缆、光缆、无线信道等，并</a:t>
            </a:r>
            <a:r>
              <a:rPr lang="zh-CN" altLang="en-US" sz="2400" b="1" dirty="0">
                <a:solidFill>
                  <a:srgbClr val="C00000"/>
                </a:solidFill>
                <a:latin typeface="微软雅黑" panose="020B0503020204020204" pitchFamily="34" charset="-122"/>
                <a:ea typeface="微软雅黑" panose="020B0503020204020204" pitchFamily="34" charset="-122"/>
              </a:rPr>
              <a:t>不在物理层协议</a:t>
            </a:r>
            <a:r>
              <a:rPr lang="zh-CN" altLang="en-US" sz="2400" b="1" dirty="0" smtClean="0">
                <a:solidFill>
                  <a:srgbClr val="C00000"/>
                </a:solidFill>
                <a:latin typeface="微软雅黑" panose="020B0503020204020204" pitchFamily="34" charset="-122"/>
                <a:ea typeface="微软雅黑" panose="020B0503020204020204" pitchFamily="34" charset="-122"/>
              </a:rPr>
              <a:t>之内，</a:t>
            </a:r>
            <a:r>
              <a:rPr lang="zh-CN" altLang="en-US" sz="2400" b="1" dirty="0" smtClean="0">
                <a:solidFill>
                  <a:srgbClr val="000066"/>
                </a:solidFill>
                <a:latin typeface="微软雅黑" panose="020B0503020204020204" pitchFamily="34" charset="-122"/>
                <a:ea typeface="微软雅黑" panose="020B0503020204020204" pitchFamily="34" charset="-122"/>
              </a:rPr>
              <a:t>而是</a:t>
            </a:r>
            <a:r>
              <a:rPr lang="zh-CN" altLang="en-US" sz="2400" b="1" dirty="0">
                <a:solidFill>
                  <a:srgbClr val="000066"/>
                </a:solidFill>
                <a:latin typeface="微软雅黑" panose="020B0503020204020204" pitchFamily="34" charset="-122"/>
                <a:ea typeface="微软雅黑" panose="020B0503020204020204" pitchFamily="34" charset="-122"/>
              </a:rPr>
              <a:t>在物理层协议的下面。</a:t>
            </a:r>
          </a:p>
        </p:txBody>
      </p:sp>
    </p:spTree>
    <p:extLst>
      <p:ext uri="{BB962C8B-B14F-4D97-AF65-F5344CB8AC3E}">
        <p14:creationId xmlns:p14="http://schemas.microsoft.com/office/powerpoint/2010/main" val="3938817494"/>
      </p:ext>
    </p:extLst>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3965145"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649970" y="2768326"/>
            <a:ext cx="2737263" cy="273885"/>
            <a:chOff x="436" y="1815"/>
            <a:chExt cx="1744" cy="228"/>
          </a:xfrm>
          <a:solidFill>
            <a:srgbClr val="CC00CC"/>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cxnSp>
        <p:nvCxnSpPr>
          <p:cNvPr id="248" name="直接箭头连接符 247"/>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50"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251"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42877539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up)">
                                      <p:cBhvr>
                                        <p:cTn id="7"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3965145"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75" name="Group 31"/>
          <p:cNvGrpSpPr/>
          <p:nvPr/>
        </p:nvGrpSpPr>
        <p:grpSpPr bwMode="auto">
          <a:xfrm>
            <a:off x="2849110" y="2286384"/>
            <a:ext cx="1146584" cy="987296"/>
            <a:chOff x="1836" y="1479"/>
            <a:chExt cx="730" cy="681"/>
          </a:xfrm>
        </p:grpSpPr>
        <p:sp>
          <p:nvSpPr>
            <p:cNvPr id="76" name="Text Box 32"/>
            <p:cNvSpPr txBox="1">
              <a:spLocks noChangeArrowheads="1"/>
            </p:cNvSpPr>
            <p:nvPr/>
          </p:nvSpPr>
          <p:spPr bwMode="auto">
            <a:xfrm>
              <a:off x="1836" y="1479"/>
              <a:ext cx="730"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500" b="1" dirty="0">
                  <a:solidFill>
                    <a:srgbClr val="1C1C1C"/>
                  </a:solidFill>
                  <a:latin typeface="微软雅黑" panose="020B0503020204020204" pitchFamily="34" charset="-122"/>
                  <a:ea typeface="微软雅黑" panose="020B0503020204020204" pitchFamily="34" charset="-122"/>
                </a:rPr>
                <a:t>应用层首部</a:t>
              </a:r>
            </a:p>
          </p:txBody>
        </p:sp>
        <p:sp>
          <p:nvSpPr>
            <p:cNvPr id="77" name="Line 33"/>
            <p:cNvSpPr>
              <a:spLocks noChangeShapeType="1"/>
            </p:cNvSpPr>
            <p:nvPr/>
          </p:nvSpPr>
          <p:spPr bwMode="auto">
            <a:xfrm>
              <a:off x="2359" y="1693"/>
              <a:ext cx="99" cy="24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Rectangle 34"/>
            <p:cNvSpPr>
              <a:spLocks noChangeArrowheads="1"/>
            </p:cNvSpPr>
            <p:nvPr/>
          </p:nvSpPr>
          <p:spPr bwMode="auto">
            <a:xfrm>
              <a:off x="2343" y="1934"/>
              <a:ext cx="211"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grpSp>
      <p:sp>
        <p:nvSpPr>
          <p:cNvPr id="79" name="Rectangle 37"/>
          <p:cNvSpPr>
            <a:spLocks noChangeArrowheads="1"/>
          </p:cNvSpPr>
          <p:nvPr/>
        </p:nvSpPr>
        <p:spPr bwMode="auto">
          <a:xfrm>
            <a:off x="3965145" y="2945593"/>
            <a:ext cx="648044" cy="32808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649970" y="2768326"/>
            <a:ext cx="2737263" cy="273885"/>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649969" y="3222579"/>
            <a:ext cx="2727848" cy="324661"/>
            <a:chOff x="434" y="2091"/>
            <a:chExt cx="1738" cy="274"/>
          </a:xfrm>
          <a:solidFill>
            <a:srgbClr val="CC00CC"/>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cxnSp>
        <p:nvCxnSpPr>
          <p:cNvPr id="61" name="直接箭头连接符 60"/>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70"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0" name="矩形 79"/>
          <p:cNvSpPr/>
          <p:nvPr/>
        </p:nvSpPr>
        <p:spPr>
          <a:xfrm>
            <a:off x="3993824" y="2960107"/>
            <a:ext cx="619365"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630666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up)">
                                      <p:cBhvr>
                                        <p:cTn id="7" dur="500"/>
                                        <p:tgtEl>
                                          <p:spTgt spid="8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wipe(up)">
                                      <p:cBhvr>
                                        <p:cTn id="10" dur="500"/>
                                        <p:tgtEl>
                                          <p:spTgt spid="79"/>
                                        </p:tgtEl>
                                      </p:cBhvr>
                                    </p:animEffect>
                                  </p:childTnLst>
                                </p:cTn>
                              </p:par>
                            </p:childTnLst>
                          </p:cTn>
                        </p:par>
                        <p:par>
                          <p:cTn id="11" fill="hold">
                            <p:stCondLst>
                              <p:cond delay="500"/>
                            </p:stCondLst>
                            <p:childTnLst>
                              <p:par>
                                <p:cTn id="12" presetID="2" presetClass="entr" presetSubtype="8" fill="hold" nodeType="afterEffect">
                                  <p:stCondLst>
                                    <p:cond delay="0"/>
                                  </p:stCondLst>
                                  <p:childTnLst>
                                    <p:set>
                                      <p:cBhvr>
                                        <p:cTn id="13" dur="1" fill="hold">
                                          <p:stCondLst>
                                            <p:cond delay="0"/>
                                          </p:stCondLst>
                                        </p:cTn>
                                        <p:tgtEl>
                                          <p:spTgt spid="75"/>
                                        </p:tgtEl>
                                        <p:attrNameLst>
                                          <p:attrName>style.visibility</p:attrName>
                                        </p:attrNameLst>
                                      </p:cBhvr>
                                      <p:to>
                                        <p:strVal val="visible"/>
                                      </p:to>
                                    </p:set>
                                    <p:anim calcmode="lin" valueType="num">
                                      <p:cBhvr additive="base">
                                        <p:cTn id="14" dur="1000" fill="hold"/>
                                        <p:tgtEl>
                                          <p:spTgt spid="75"/>
                                        </p:tgtEl>
                                        <p:attrNameLst>
                                          <p:attrName>ppt_x</p:attrName>
                                        </p:attrNameLst>
                                      </p:cBhvr>
                                      <p:tavLst>
                                        <p:tav tm="0">
                                          <p:val>
                                            <p:strVal val="0-#ppt_w/2"/>
                                          </p:val>
                                        </p:tav>
                                        <p:tav tm="100000">
                                          <p:val>
                                            <p:strVal val="#ppt_x"/>
                                          </p:val>
                                        </p:tav>
                                      </p:tavLst>
                                    </p:anim>
                                    <p:anim calcmode="lin" valueType="num">
                                      <p:cBhvr additive="base">
                                        <p:cTn id="15" dur="1000" fill="hold"/>
                                        <p:tgtEl>
                                          <p:spTgt spid="75"/>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87"/>
                                        </p:tgtEl>
                                        <p:attrNameLst>
                                          <p:attrName>style.visibility</p:attrName>
                                        </p:attrNameLst>
                                      </p:cBhvr>
                                      <p:to>
                                        <p:strVal val="visible"/>
                                      </p:to>
                                    </p:set>
                                    <p:animEffect transition="in" filter="wipe(up)">
                                      <p:cBhvr>
                                        <p:cTn id="20" dur="10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3965145"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3645430" y="2946036"/>
            <a:ext cx="331409" cy="327649"/>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3965145" y="2945593"/>
            <a:ext cx="648044" cy="32808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72" name="Group 50"/>
          <p:cNvGrpSpPr/>
          <p:nvPr/>
        </p:nvGrpSpPr>
        <p:grpSpPr bwMode="auto">
          <a:xfrm>
            <a:off x="1649970" y="2768326"/>
            <a:ext cx="2737263" cy="273885"/>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80" name="Group 38"/>
          <p:cNvGrpSpPr/>
          <p:nvPr/>
        </p:nvGrpSpPr>
        <p:grpSpPr bwMode="auto">
          <a:xfrm>
            <a:off x="3648260" y="3406402"/>
            <a:ext cx="965263" cy="327428"/>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83" name="Group 65"/>
          <p:cNvGrpSpPr/>
          <p:nvPr/>
        </p:nvGrpSpPr>
        <p:grpSpPr bwMode="auto">
          <a:xfrm>
            <a:off x="2491447" y="2744289"/>
            <a:ext cx="1152073" cy="988483"/>
            <a:chOff x="1609" y="1840"/>
            <a:chExt cx="734" cy="683"/>
          </a:xfrm>
        </p:grpSpPr>
        <p:sp>
          <p:nvSpPr>
            <p:cNvPr id="84" name="Rectangle 66"/>
            <p:cNvSpPr>
              <a:spLocks noChangeArrowheads="1"/>
            </p:cNvSpPr>
            <p:nvPr/>
          </p:nvSpPr>
          <p:spPr bwMode="auto">
            <a:xfrm>
              <a:off x="2155" y="2296"/>
              <a:ext cx="188" cy="227"/>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sp>
          <p:nvSpPr>
            <p:cNvPr id="85" name="Text Box 67"/>
            <p:cNvSpPr txBox="1">
              <a:spLocks noChangeArrowheads="1"/>
            </p:cNvSpPr>
            <p:nvPr/>
          </p:nvSpPr>
          <p:spPr bwMode="auto">
            <a:xfrm>
              <a:off x="1609" y="1840"/>
              <a:ext cx="730"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500" b="1" dirty="0">
                  <a:solidFill>
                    <a:srgbClr val="1C1C1C"/>
                  </a:solidFill>
                  <a:latin typeface="微软雅黑" panose="020B0503020204020204" pitchFamily="34" charset="-122"/>
                  <a:ea typeface="微软雅黑" panose="020B0503020204020204" pitchFamily="34" charset="-122"/>
                </a:rPr>
                <a:t>运输层首部</a:t>
              </a:r>
            </a:p>
          </p:txBody>
        </p:sp>
        <p:sp>
          <p:nvSpPr>
            <p:cNvPr id="86" name="Line 68"/>
            <p:cNvSpPr>
              <a:spLocks noChangeShapeType="1"/>
            </p:cNvSpPr>
            <p:nvPr/>
          </p:nvSpPr>
          <p:spPr bwMode="auto">
            <a:xfrm>
              <a:off x="2148" y="2046"/>
              <a:ext cx="94" cy="25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94" name="Group 56"/>
          <p:cNvGrpSpPr/>
          <p:nvPr/>
        </p:nvGrpSpPr>
        <p:grpSpPr bwMode="auto">
          <a:xfrm>
            <a:off x="1646829" y="3703759"/>
            <a:ext cx="2738833" cy="361700"/>
            <a:chOff x="434" y="2411"/>
            <a:chExt cx="1745" cy="274"/>
          </a:xfrm>
          <a:solidFill>
            <a:srgbClr val="CC00CC"/>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 name="矩形 28"/>
          <p:cNvSpPr/>
          <p:nvPr/>
        </p:nvSpPr>
        <p:spPr>
          <a:xfrm>
            <a:off x="3664046" y="3418697"/>
            <a:ext cx="949143"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87" name="Group 53"/>
          <p:cNvGrpSpPr/>
          <p:nvPr/>
        </p:nvGrpSpPr>
        <p:grpSpPr bwMode="auto">
          <a:xfrm>
            <a:off x="1649969" y="3222579"/>
            <a:ext cx="2727848" cy="324661"/>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sp>
        <p:nvSpPr>
          <p:cNvPr id="142"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3"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75" name="矩形 74"/>
          <p:cNvSpPr/>
          <p:nvPr/>
        </p:nvSpPr>
        <p:spPr>
          <a:xfrm>
            <a:off x="3993824" y="2960107"/>
            <a:ext cx="619365"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83109646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up)">
                                      <p:cBhvr>
                                        <p:cTn id="7" dur="500"/>
                                        <p:tgtEl>
                                          <p:spTgt spid="80"/>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childTnLst>
                          </p:cTn>
                        </p:par>
                        <p:par>
                          <p:cTn id="11" fill="hold">
                            <p:stCondLst>
                              <p:cond delay="500"/>
                            </p:stCondLst>
                            <p:childTnLst>
                              <p:par>
                                <p:cTn id="12" presetID="2" presetClass="entr" presetSubtype="8" fill="hold" nodeType="afterEffect">
                                  <p:stCondLst>
                                    <p:cond delay="0"/>
                                  </p:stCondLst>
                                  <p:childTnLst>
                                    <p:set>
                                      <p:cBhvr>
                                        <p:cTn id="13" dur="1" fill="hold">
                                          <p:stCondLst>
                                            <p:cond delay="0"/>
                                          </p:stCondLst>
                                        </p:cTn>
                                        <p:tgtEl>
                                          <p:spTgt spid="83"/>
                                        </p:tgtEl>
                                        <p:attrNameLst>
                                          <p:attrName>style.visibility</p:attrName>
                                        </p:attrNameLst>
                                      </p:cBhvr>
                                      <p:to>
                                        <p:strVal val="visible"/>
                                      </p:to>
                                    </p:set>
                                    <p:anim calcmode="lin" valueType="num">
                                      <p:cBhvr additive="base">
                                        <p:cTn id="14" dur="1000" fill="hold"/>
                                        <p:tgtEl>
                                          <p:spTgt spid="83"/>
                                        </p:tgtEl>
                                        <p:attrNameLst>
                                          <p:attrName>ppt_x</p:attrName>
                                        </p:attrNameLst>
                                      </p:cBhvr>
                                      <p:tavLst>
                                        <p:tav tm="0">
                                          <p:val>
                                            <p:strVal val="0-#ppt_w/2"/>
                                          </p:val>
                                        </p:tav>
                                        <p:tav tm="100000">
                                          <p:val>
                                            <p:strVal val="#ppt_x"/>
                                          </p:val>
                                        </p:tav>
                                      </p:tavLst>
                                    </p:anim>
                                    <p:anim calcmode="lin" valueType="num">
                                      <p:cBhvr additive="base">
                                        <p:cTn id="15" dur="1000" fill="hold"/>
                                        <p:tgtEl>
                                          <p:spTgt spid="83"/>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4"/>
                                        </p:tgtEl>
                                        <p:attrNameLst>
                                          <p:attrName>style.visibility</p:attrName>
                                        </p:attrNameLst>
                                      </p:cBhvr>
                                      <p:to>
                                        <p:strVal val="visible"/>
                                      </p:to>
                                    </p:set>
                                    <p:animEffect transition="in" filter="wipe(up)">
                                      <p:cBhvr>
                                        <p:cTn id="20"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926" y="1428764"/>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3965145"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3645430" y="2946037"/>
            <a:ext cx="331409" cy="327649"/>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3965145" y="2945593"/>
            <a:ext cx="648044" cy="32808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3648260" y="3406402"/>
            <a:ext cx="965263" cy="327428"/>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3348440" y="3405684"/>
            <a:ext cx="295081" cy="32708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3348069" y="3909771"/>
            <a:ext cx="1262092" cy="328084"/>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97" name="Group 69"/>
          <p:cNvGrpSpPr/>
          <p:nvPr/>
        </p:nvGrpSpPr>
        <p:grpSpPr bwMode="auto">
          <a:xfrm>
            <a:off x="2269834" y="3174182"/>
            <a:ext cx="1147122" cy="1063673"/>
            <a:chOff x="1237" y="2152"/>
            <a:chExt cx="731" cy="734"/>
          </a:xfrm>
        </p:grpSpPr>
        <p:sp>
          <p:nvSpPr>
            <p:cNvPr id="98" name="Rectangle 70"/>
            <p:cNvSpPr>
              <a:spLocks noChangeArrowheads="1"/>
            </p:cNvSpPr>
            <p:nvPr/>
          </p:nvSpPr>
          <p:spPr bwMode="auto">
            <a:xfrm>
              <a:off x="1739" y="2660"/>
              <a:ext cx="188"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99" name="Text Box 71"/>
            <p:cNvSpPr txBox="1">
              <a:spLocks noChangeArrowheads="1"/>
            </p:cNvSpPr>
            <p:nvPr/>
          </p:nvSpPr>
          <p:spPr bwMode="auto">
            <a:xfrm>
              <a:off x="1237" y="2152"/>
              <a:ext cx="731" cy="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zh-CN" altLang="en-US" sz="1500" b="1" dirty="0">
                  <a:solidFill>
                    <a:srgbClr val="1C1C1C"/>
                  </a:solidFill>
                  <a:latin typeface="微软雅黑" panose="020B0503020204020204" pitchFamily="34" charset="-122"/>
                  <a:ea typeface="微软雅黑" panose="020B0503020204020204" pitchFamily="34" charset="-122"/>
                </a:rPr>
                <a:t>网络层首部</a:t>
              </a:r>
            </a:p>
          </p:txBody>
        </p:sp>
        <p:sp>
          <p:nvSpPr>
            <p:cNvPr id="100" name="Line 72"/>
            <p:cNvSpPr>
              <a:spLocks noChangeShapeType="1"/>
            </p:cNvSpPr>
            <p:nvPr/>
          </p:nvSpPr>
          <p:spPr bwMode="auto">
            <a:xfrm>
              <a:off x="1719" y="2379"/>
              <a:ext cx="122" cy="280"/>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6" name="Group 56"/>
          <p:cNvGrpSpPr/>
          <p:nvPr/>
        </p:nvGrpSpPr>
        <p:grpSpPr bwMode="auto">
          <a:xfrm>
            <a:off x="1634909" y="4211112"/>
            <a:ext cx="2749823" cy="338339"/>
            <a:chOff x="420" y="2461"/>
            <a:chExt cx="1752" cy="269"/>
          </a:xfrm>
          <a:solidFill>
            <a:srgbClr val="CC00CC"/>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3365316" y="3920864"/>
            <a:ext cx="1247873" cy="316991"/>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42" name="矩形 141"/>
          <p:cNvSpPr/>
          <p:nvPr/>
        </p:nvSpPr>
        <p:spPr>
          <a:xfrm>
            <a:off x="3664046" y="3418697"/>
            <a:ext cx="949143"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94" name="Group 56"/>
          <p:cNvGrpSpPr/>
          <p:nvPr/>
        </p:nvGrpSpPr>
        <p:grpSpPr bwMode="auto">
          <a:xfrm>
            <a:off x="1646829" y="3703759"/>
            <a:ext cx="2738833" cy="361700"/>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649969" y="3222579"/>
            <a:ext cx="2727848" cy="324661"/>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72" name="Group 50"/>
          <p:cNvGrpSpPr/>
          <p:nvPr/>
        </p:nvGrpSpPr>
        <p:grpSpPr bwMode="auto">
          <a:xfrm>
            <a:off x="1649970" y="2768326"/>
            <a:ext cx="2737263" cy="273885"/>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sp>
        <p:nvSpPr>
          <p:cNvPr id="143"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4"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3" name="矩形 82"/>
          <p:cNvSpPr/>
          <p:nvPr/>
        </p:nvSpPr>
        <p:spPr>
          <a:xfrm>
            <a:off x="3993824" y="2960107"/>
            <a:ext cx="619365"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72348108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wipe(up)">
                                      <p:cBhvr>
                                        <p:cTn id="7" dur="500"/>
                                        <p:tgtEl>
                                          <p:spTgt spid="141"/>
                                        </p:tgtEl>
                                      </p:cBhvr>
                                    </p:animEffect>
                                  </p:childTnLst>
                                </p:cTn>
                              </p:par>
                              <p:par>
                                <p:cTn id="8" presetID="22" presetClass="entr" presetSubtype="1" fill="hold" nodeType="with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wipe(up)">
                                      <p:cBhvr>
                                        <p:cTn id="10" dur="500"/>
                                        <p:tgtEl>
                                          <p:spTgt spid="90"/>
                                        </p:tgtEl>
                                      </p:cBhvr>
                                    </p:animEffect>
                                  </p:childTnLst>
                                </p:cTn>
                              </p:par>
                            </p:childTnLst>
                          </p:cTn>
                        </p:par>
                        <p:par>
                          <p:cTn id="11" fill="hold">
                            <p:stCondLst>
                              <p:cond delay="500"/>
                            </p:stCondLst>
                            <p:childTnLst>
                              <p:par>
                                <p:cTn id="12" presetID="2" presetClass="entr" presetSubtype="8" fill="hold" nodeType="afterEffect">
                                  <p:stCondLst>
                                    <p:cond delay="0"/>
                                  </p:stCondLst>
                                  <p:childTnLst>
                                    <p:set>
                                      <p:cBhvr>
                                        <p:cTn id="13" dur="1" fill="hold">
                                          <p:stCondLst>
                                            <p:cond delay="0"/>
                                          </p:stCondLst>
                                        </p:cTn>
                                        <p:tgtEl>
                                          <p:spTgt spid="97"/>
                                        </p:tgtEl>
                                        <p:attrNameLst>
                                          <p:attrName>style.visibility</p:attrName>
                                        </p:attrNameLst>
                                      </p:cBhvr>
                                      <p:to>
                                        <p:strVal val="visible"/>
                                      </p:to>
                                    </p:set>
                                    <p:anim calcmode="lin" valueType="num">
                                      <p:cBhvr additive="base">
                                        <p:cTn id="14" dur="1000" fill="hold"/>
                                        <p:tgtEl>
                                          <p:spTgt spid="97"/>
                                        </p:tgtEl>
                                        <p:attrNameLst>
                                          <p:attrName>ppt_x</p:attrName>
                                        </p:attrNameLst>
                                      </p:cBhvr>
                                      <p:tavLst>
                                        <p:tav tm="0">
                                          <p:val>
                                            <p:strVal val="0-#ppt_w/2"/>
                                          </p:val>
                                        </p:tav>
                                        <p:tav tm="100000">
                                          <p:val>
                                            <p:strVal val="#ppt_x"/>
                                          </p:val>
                                        </p:tav>
                                      </p:tavLst>
                                    </p:anim>
                                    <p:anim calcmode="lin" valueType="num">
                                      <p:cBhvr additive="base">
                                        <p:cTn id="15" dur="10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06"/>
                                        </p:tgtEl>
                                        <p:attrNameLst>
                                          <p:attrName>style.visibility</p:attrName>
                                        </p:attrNameLst>
                                      </p:cBhvr>
                                      <p:to>
                                        <p:strVal val="visible"/>
                                      </p:to>
                                    </p:set>
                                    <p:animEffect transition="in" filter="wipe(up)">
                                      <p:cBhvr>
                                        <p:cTn id="20"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3965145"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3645430" y="2946037"/>
            <a:ext cx="331409" cy="327649"/>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3965145" y="2945593"/>
            <a:ext cx="648044" cy="32808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3648260" y="3406402"/>
            <a:ext cx="965263" cy="327428"/>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3348440" y="3405684"/>
            <a:ext cx="295081" cy="32708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3348069" y="3909771"/>
            <a:ext cx="1262092" cy="328084"/>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8" name="Rectangle 70"/>
          <p:cNvSpPr>
            <a:spLocks noChangeArrowheads="1"/>
          </p:cNvSpPr>
          <p:nvPr/>
        </p:nvSpPr>
        <p:spPr bwMode="auto">
          <a:xfrm>
            <a:off x="3057592" y="3910344"/>
            <a:ext cx="295019" cy="32750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3056893" y="4405479"/>
            <a:ext cx="1552424" cy="325967"/>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grpSp>
        <p:nvGrpSpPr>
          <p:cNvPr id="109" name="Group 73"/>
          <p:cNvGrpSpPr/>
          <p:nvPr/>
        </p:nvGrpSpPr>
        <p:grpSpPr bwMode="auto">
          <a:xfrm>
            <a:off x="2284352" y="3613551"/>
            <a:ext cx="767613" cy="1117883"/>
            <a:chOff x="1121" y="2477"/>
            <a:chExt cx="489" cy="771"/>
          </a:xfrm>
        </p:grpSpPr>
        <p:sp>
          <p:nvSpPr>
            <p:cNvPr id="110" name="Rectangle 74"/>
            <p:cNvSpPr>
              <a:spLocks noChangeArrowheads="1"/>
            </p:cNvSpPr>
            <p:nvPr/>
          </p:nvSpPr>
          <p:spPr bwMode="auto">
            <a:xfrm>
              <a:off x="1423" y="3022"/>
              <a:ext cx="187" cy="226"/>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1" name="Text Box 75"/>
            <p:cNvSpPr txBox="1">
              <a:spLocks noChangeArrowheads="1"/>
            </p:cNvSpPr>
            <p:nvPr/>
          </p:nvSpPr>
          <p:spPr bwMode="auto">
            <a:xfrm>
              <a:off x="1121" y="2477"/>
              <a:ext cx="485"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500" b="1" dirty="0">
                  <a:solidFill>
                    <a:srgbClr val="1C1C1C"/>
                  </a:solidFill>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500" b="1" dirty="0">
                  <a:solidFill>
                    <a:srgbClr val="1C1C1C"/>
                  </a:solidFill>
                  <a:latin typeface="微软雅黑" panose="020B0503020204020204" pitchFamily="34" charset="-122"/>
                  <a:ea typeface="微软雅黑" panose="020B0503020204020204" pitchFamily="34" charset="-122"/>
                </a:rPr>
                <a:t>首部</a:t>
              </a:r>
            </a:p>
          </p:txBody>
        </p:sp>
        <p:sp>
          <p:nvSpPr>
            <p:cNvPr id="112" name="Line 76"/>
            <p:cNvSpPr>
              <a:spLocks noChangeShapeType="1"/>
            </p:cNvSpPr>
            <p:nvPr/>
          </p:nvSpPr>
          <p:spPr bwMode="auto">
            <a:xfrm>
              <a:off x="1422" y="2834"/>
              <a:ext cx="85" cy="203"/>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3" name="Group 77"/>
          <p:cNvGrpSpPr/>
          <p:nvPr/>
        </p:nvGrpSpPr>
        <p:grpSpPr bwMode="auto">
          <a:xfrm>
            <a:off x="4546012" y="3601146"/>
            <a:ext cx="762000" cy="1130300"/>
            <a:chOff x="4151" y="2468"/>
            <a:chExt cx="486" cy="781"/>
          </a:xfrm>
        </p:grpSpPr>
        <p:sp>
          <p:nvSpPr>
            <p:cNvPr id="114" name="Rectangle 78"/>
            <p:cNvSpPr>
              <a:spLocks noChangeArrowheads="1"/>
            </p:cNvSpPr>
            <p:nvPr/>
          </p:nvSpPr>
          <p:spPr bwMode="auto">
            <a:xfrm>
              <a:off x="4191" y="3023"/>
              <a:ext cx="179" cy="226"/>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5"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6" name="Text Box 80"/>
            <p:cNvSpPr txBox="1">
              <a:spLocks noChangeArrowheads="1"/>
            </p:cNvSpPr>
            <p:nvPr/>
          </p:nvSpPr>
          <p:spPr bwMode="auto">
            <a:xfrm>
              <a:off x="4151" y="2468"/>
              <a:ext cx="486" cy="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500" b="1" dirty="0">
                  <a:solidFill>
                    <a:srgbClr val="1C1C1C"/>
                  </a:solidFill>
                  <a:latin typeface="微软雅黑" panose="020B0503020204020204" pitchFamily="34" charset="-122"/>
                  <a:ea typeface="微软雅黑" panose="020B0503020204020204" pitchFamily="34" charset="-122"/>
                </a:rPr>
                <a:t>链路层</a:t>
              </a:r>
            </a:p>
            <a:p>
              <a:pPr algn="ctr" eaLnBrk="0" hangingPunct="0">
                <a:lnSpc>
                  <a:spcPct val="90000"/>
                </a:lnSpc>
              </a:pPr>
              <a:r>
                <a:rPr kumimoji="1" lang="zh-CN" altLang="en-US" sz="1500" b="1" dirty="0">
                  <a:solidFill>
                    <a:srgbClr val="1C1C1C"/>
                  </a:solidFill>
                  <a:latin typeface="微软雅黑" panose="020B0503020204020204" pitchFamily="34" charset="-122"/>
                  <a:ea typeface="微软雅黑" panose="020B0503020204020204" pitchFamily="34" charset="-122"/>
                </a:rPr>
                <a:t>尾部</a:t>
              </a:r>
            </a:p>
          </p:txBody>
        </p:sp>
      </p:grpSp>
      <p:grpSp>
        <p:nvGrpSpPr>
          <p:cNvPr id="118" name="Group 62"/>
          <p:cNvGrpSpPr/>
          <p:nvPr/>
        </p:nvGrpSpPr>
        <p:grpSpPr bwMode="auto">
          <a:xfrm>
            <a:off x="1634909" y="4703200"/>
            <a:ext cx="2752961" cy="37068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3064668" y="4422167"/>
            <a:ext cx="1534667" cy="317764"/>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43" name="矩形 142"/>
          <p:cNvSpPr/>
          <p:nvPr/>
        </p:nvSpPr>
        <p:spPr>
          <a:xfrm>
            <a:off x="3664046" y="3418697"/>
            <a:ext cx="949143"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44" name="矩形 143"/>
          <p:cNvSpPr/>
          <p:nvPr/>
        </p:nvSpPr>
        <p:spPr>
          <a:xfrm>
            <a:off x="3365316" y="3920864"/>
            <a:ext cx="1247873" cy="316991"/>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72" name="Group 50"/>
          <p:cNvGrpSpPr/>
          <p:nvPr/>
        </p:nvGrpSpPr>
        <p:grpSpPr bwMode="auto">
          <a:xfrm>
            <a:off x="1649970" y="2768326"/>
            <a:ext cx="2737263" cy="273885"/>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649969" y="3222579"/>
            <a:ext cx="2727848" cy="324661"/>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646829" y="3703759"/>
            <a:ext cx="2738833" cy="361700"/>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634909" y="4211112"/>
            <a:ext cx="2749823" cy="338339"/>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sp>
        <p:nvSpPr>
          <p:cNvPr id="145"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6"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97" name="矩形 96"/>
          <p:cNvSpPr/>
          <p:nvPr/>
        </p:nvSpPr>
        <p:spPr>
          <a:xfrm>
            <a:off x="3993824" y="2960107"/>
            <a:ext cx="619365"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59320901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wipe(up)">
                                      <p:cBhvr>
                                        <p:cTn id="7" dur="500"/>
                                        <p:tgtEl>
                                          <p:spTgt spid="141"/>
                                        </p:tgtEl>
                                      </p:cBhvr>
                                    </p:animEffect>
                                  </p:childTnLst>
                                </p:cTn>
                              </p:par>
                              <p:par>
                                <p:cTn id="8" presetID="22" presetClass="entr" presetSubtype="1" fill="hold"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wipe(up)">
                                      <p:cBhvr>
                                        <p:cTn id="10" dur="500"/>
                                        <p:tgtEl>
                                          <p:spTgt spid="101"/>
                                        </p:tgtEl>
                                      </p:cBhvr>
                                    </p:animEffect>
                                  </p:childTnLst>
                                </p:cTn>
                              </p:par>
                            </p:childTnLst>
                          </p:cTn>
                        </p:par>
                        <p:par>
                          <p:cTn id="11" fill="hold">
                            <p:stCondLst>
                              <p:cond delay="500"/>
                            </p:stCondLst>
                            <p:childTnLst>
                              <p:par>
                                <p:cTn id="12" presetID="2" presetClass="entr" presetSubtype="8" fill="hold" nodeType="afterEffect">
                                  <p:stCondLst>
                                    <p:cond delay="0"/>
                                  </p:stCondLst>
                                  <p:childTnLst>
                                    <p:set>
                                      <p:cBhvr>
                                        <p:cTn id="13" dur="1" fill="hold">
                                          <p:stCondLst>
                                            <p:cond delay="0"/>
                                          </p:stCondLst>
                                        </p:cTn>
                                        <p:tgtEl>
                                          <p:spTgt spid="109"/>
                                        </p:tgtEl>
                                        <p:attrNameLst>
                                          <p:attrName>style.visibility</p:attrName>
                                        </p:attrNameLst>
                                      </p:cBhvr>
                                      <p:to>
                                        <p:strVal val="visible"/>
                                      </p:to>
                                    </p:set>
                                    <p:anim calcmode="lin" valueType="num">
                                      <p:cBhvr additive="base">
                                        <p:cTn id="14" dur="1000" fill="hold"/>
                                        <p:tgtEl>
                                          <p:spTgt spid="109"/>
                                        </p:tgtEl>
                                        <p:attrNameLst>
                                          <p:attrName>ppt_x</p:attrName>
                                        </p:attrNameLst>
                                      </p:cBhvr>
                                      <p:tavLst>
                                        <p:tav tm="0">
                                          <p:val>
                                            <p:strVal val="0-#ppt_w/2"/>
                                          </p:val>
                                        </p:tav>
                                        <p:tav tm="100000">
                                          <p:val>
                                            <p:strVal val="#ppt_x"/>
                                          </p:val>
                                        </p:tav>
                                      </p:tavLst>
                                    </p:anim>
                                    <p:anim calcmode="lin" valueType="num">
                                      <p:cBhvr additive="base">
                                        <p:cTn id="15" dur="1000" fill="hold"/>
                                        <p:tgtEl>
                                          <p:spTgt spid="109"/>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0"/>
                                  </p:stCondLst>
                                  <p:childTnLst>
                                    <p:set>
                                      <p:cBhvr>
                                        <p:cTn id="17" dur="1" fill="hold">
                                          <p:stCondLst>
                                            <p:cond delay="0"/>
                                          </p:stCondLst>
                                        </p:cTn>
                                        <p:tgtEl>
                                          <p:spTgt spid="113"/>
                                        </p:tgtEl>
                                        <p:attrNameLst>
                                          <p:attrName>style.visibility</p:attrName>
                                        </p:attrNameLst>
                                      </p:cBhvr>
                                      <p:to>
                                        <p:strVal val="visible"/>
                                      </p:to>
                                    </p:set>
                                    <p:anim calcmode="lin" valueType="num">
                                      <p:cBhvr additive="base">
                                        <p:cTn id="18" dur="1000" fill="hold"/>
                                        <p:tgtEl>
                                          <p:spTgt spid="113"/>
                                        </p:tgtEl>
                                        <p:attrNameLst>
                                          <p:attrName>ppt_x</p:attrName>
                                        </p:attrNameLst>
                                      </p:cBhvr>
                                      <p:tavLst>
                                        <p:tav tm="0">
                                          <p:val>
                                            <p:strVal val="1+#ppt_w/2"/>
                                          </p:val>
                                        </p:tav>
                                        <p:tav tm="100000">
                                          <p:val>
                                            <p:strVal val="#ppt_x"/>
                                          </p:val>
                                        </p:tav>
                                      </p:tavLst>
                                    </p:anim>
                                    <p:anim calcmode="lin" valueType="num">
                                      <p:cBhvr additive="base">
                                        <p:cTn id="19" dur="1000" fill="hold"/>
                                        <p:tgtEl>
                                          <p:spTgt spid="11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18"/>
                                        </p:tgtEl>
                                        <p:attrNameLst>
                                          <p:attrName>style.visibility</p:attrName>
                                        </p:attrNameLst>
                                      </p:cBhvr>
                                      <p:to>
                                        <p:strVal val="visible"/>
                                      </p:to>
                                    </p:set>
                                    <p:animEffect transition="in" filter="wipe(up)">
                                      <p:cBhvr>
                                        <p:cTn id="24" dur="10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Rectangle 37"/>
          <p:cNvSpPr>
            <a:spLocks noChangeArrowheads="1"/>
          </p:cNvSpPr>
          <p:nvPr/>
        </p:nvSpPr>
        <p:spPr bwMode="auto">
          <a:xfrm>
            <a:off x="3965145"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sp>
        <p:nvSpPr>
          <p:cNvPr id="78" name="Rectangle 34"/>
          <p:cNvSpPr>
            <a:spLocks noChangeArrowheads="1"/>
          </p:cNvSpPr>
          <p:nvPr/>
        </p:nvSpPr>
        <p:spPr bwMode="auto">
          <a:xfrm>
            <a:off x="3645430" y="2946037"/>
            <a:ext cx="331409" cy="327649"/>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79" name="Rectangle 37"/>
          <p:cNvSpPr>
            <a:spLocks noChangeArrowheads="1"/>
          </p:cNvSpPr>
          <p:nvPr/>
        </p:nvSpPr>
        <p:spPr bwMode="auto">
          <a:xfrm>
            <a:off x="3965145" y="2945593"/>
            <a:ext cx="648044" cy="32808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80" name="Group 38"/>
          <p:cNvGrpSpPr/>
          <p:nvPr/>
        </p:nvGrpSpPr>
        <p:grpSpPr bwMode="auto">
          <a:xfrm>
            <a:off x="3648260" y="3406402"/>
            <a:ext cx="965263" cy="327428"/>
            <a:chOff x="2346" y="2297"/>
            <a:chExt cx="615" cy="226"/>
          </a:xfrm>
          <a:solidFill>
            <a:srgbClr val="00B0F0"/>
          </a:solidFill>
        </p:grpSpPr>
        <p:sp>
          <p:nvSpPr>
            <p:cNvPr id="81"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82"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4" name="Rectangle 66"/>
          <p:cNvSpPr>
            <a:spLocks noChangeArrowheads="1"/>
          </p:cNvSpPr>
          <p:nvPr/>
        </p:nvSpPr>
        <p:spPr bwMode="auto">
          <a:xfrm>
            <a:off x="3348440" y="3405684"/>
            <a:ext cx="295081" cy="32708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grpSp>
        <p:nvGrpSpPr>
          <p:cNvPr id="90" name="Group 41"/>
          <p:cNvGrpSpPr/>
          <p:nvPr/>
        </p:nvGrpSpPr>
        <p:grpSpPr bwMode="auto">
          <a:xfrm>
            <a:off x="3348069" y="3909771"/>
            <a:ext cx="1262092" cy="328084"/>
            <a:chOff x="2169" y="2660"/>
            <a:chExt cx="804" cy="226"/>
          </a:xfrm>
        </p:grpSpPr>
        <p:sp>
          <p:nvSpPr>
            <p:cNvPr id="9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92"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93"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8" name="Rectangle 70"/>
          <p:cNvSpPr>
            <a:spLocks noChangeArrowheads="1"/>
          </p:cNvSpPr>
          <p:nvPr/>
        </p:nvSpPr>
        <p:spPr bwMode="auto">
          <a:xfrm>
            <a:off x="3057592" y="3910344"/>
            <a:ext cx="295019" cy="327507"/>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grpSp>
        <p:nvGrpSpPr>
          <p:cNvPr id="101" name="Group 45"/>
          <p:cNvGrpSpPr/>
          <p:nvPr/>
        </p:nvGrpSpPr>
        <p:grpSpPr bwMode="auto">
          <a:xfrm>
            <a:off x="3056893" y="4405479"/>
            <a:ext cx="1552424" cy="325967"/>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758421" y="4403749"/>
            <a:ext cx="293545" cy="32768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4608734" y="4404379"/>
            <a:ext cx="280655" cy="32707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3064668" y="4422167"/>
            <a:ext cx="1534667" cy="317764"/>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43" name="矩形 142"/>
          <p:cNvSpPr/>
          <p:nvPr/>
        </p:nvSpPr>
        <p:spPr>
          <a:xfrm>
            <a:off x="3664046" y="3418697"/>
            <a:ext cx="949143"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44" name="矩形 143"/>
          <p:cNvSpPr/>
          <p:nvPr/>
        </p:nvSpPr>
        <p:spPr>
          <a:xfrm>
            <a:off x="3365316" y="3920864"/>
            <a:ext cx="1247873" cy="316991"/>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72" name="Group 50"/>
          <p:cNvGrpSpPr/>
          <p:nvPr/>
        </p:nvGrpSpPr>
        <p:grpSpPr bwMode="auto">
          <a:xfrm>
            <a:off x="1649970" y="2768326"/>
            <a:ext cx="2737263" cy="273885"/>
            <a:chOff x="436" y="1815"/>
            <a:chExt cx="1744" cy="228"/>
          </a:xfrm>
          <a:solidFill>
            <a:srgbClr val="CC00CC">
              <a:alpha val="50000"/>
            </a:srgbClr>
          </a:solidFill>
        </p:grpSpPr>
        <p:sp>
          <p:nvSpPr>
            <p:cNvPr id="73" name="AutoShape 51"/>
            <p:cNvSpPr>
              <a:spLocks noChangeArrowheads="1"/>
            </p:cNvSpPr>
            <p:nvPr/>
          </p:nvSpPr>
          <p:spPr bwMode="auto">
            <a:xfrm flipV="1">
              <a:off x="43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74" name="AutoShape 52"/>
            <p:cNvSpPr>
              <a:spLocks noChangeArrowheads="1"/>
            </p:cNvSpPr>
            <p:nvPr/>
          </p:nvSpPr>
          <p:spPr bwMode="auto">
            <a:xfrm flipV="1">
              <a:off x="2056" y="1815"/>
              <a:ext cx="124" cy="228"/>
            </a:xfrm>
            <a:prstGeom prst="upArrow">
              <a:avLst>
                <a:gd name="adj1" fmla="val 50000"/>
                <a:gd name="adj2" fmla="val 45968"/>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87" name="Group 53"/>
          <p:cNvGrpSpPr/>
          <p:nvPr/>
        </p:nvGrpSpPr>
        <p:grpSpPr bwMode="auto">
          <a:xfrm>
            <a:off x="1649969" y="3222579"/>
            <a:ext cx="2727848" cy="324661"/>
            <a:chOff x="434" y="2091"/>
            <a:chExt cx="1738" cy="274"/>
          </a:xfrm>
          <a:solidFill>
            <a:srgbClr val="CC00CC">
              <a:alpha val="50000"/>
            </a:srgbClr>
          </a:solidFill>
        </p:grpSpPr>
        <p:sp>
          <p:nvSpPr>
            <p:cNvPr id="88" name="AutoShape 54"/>
            <p:cNvSpPr>
              <a:spLocks noChangeArrowheads="1"/>
            </p:cNvSpPr>
            <p:nvPr/>
          </p:nvSpPr>
          <p:spPr bwMode="auto">
            <a:xfrm rot="10800000">
              <a:off x="434" y="2116"/>
              <a:ext cx="125"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9" name="AutoShape 55"/>
            <p:cNvSpPr>
              <a:spLocks noChangeArrowheads="1"/>
            </p:cNvSpPr>
            <p:nvPr/>
          </p:nvSpPr>
          <p:spPr bwMode="auto">
            <a:xfrm rot="10800000">
              <a:off x="2054" y="2091"/>
              <a:ext cx="118" cy="249"/>
            </a:xfrm>
            <a:prstGeom prst="upArrow">
              <a:avLst>
                <a:gd name="adj1" fmla="val 50000"/>
                <a:gd name="adj2" fmla="val 498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94" name="Group 56"/>
          <p:cNvGrpSpPr/>
          <p:nvPr/>
        </p:nvGrpSpPr>
        <p:grpSpPr bwMode="auto">
          <a:xfrm>
            <a:off x="1646829" y="3703759"/>
            <a:ext cx="2738833" cy="361700"/>
            <a:chOff x="434" y="2411"/>
            <a:chExt cx="1745" cy="274"/>
          </a:xfrm>
          <a:solidFill>
            <a:srgbClr val="CC00CC">
              <a:alpha val="50000"/>
            </a:srgbClr>
          </a:solidFill>
        </p:grpSpPr>
        <p:sp>
          <p:nvSpPr>
            <p:cNvPr id="95" name="AutoShape 57"/>
            <p:cNvSpPr>
              <a:spLocks noChangeArrowheads="1"/>
            </p:cNvSpPr>
            <p:nvPr/>
          </p:nvSpPr>
          <p:spPr bwMode="auto">
            <a:xfrm rot="10800000">
              <a:off x="434" y="2460"/>
              <a:ext cx="126" cy="225"/>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6" name="AutoShape 58"/>
            <p:cNvSpPr>
              <a:spLocks noChangeArrowheads="1"/>
            </p:cNvSpPr>
            <p:nvPr/>
          </p:nvSpPr>
          <p:spPr bwMode="auto">
            <a:xfrm rot="10800000">
              <a:off x="2054" y="241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grpSp>
        <p:nvGrpSpPr>
          <p:cNvPr id="106" name="Group 56"/>
          <p:cNvGrpSpPr/>
          <p:nvPr/>
        </p:nvGrpSpPr>
        <p:grpSpPr bwMode="auto">
          <a:xfrm>
            <a:off x="1634909" y="4211112"/>
            <a:ext cx="2749823" cy="338339"/>
            <a:chOff x="420" y="2461"/>
            <a:chExt cx="1752" cy="269"/>
          </a:xfrm>
          <a:solidFill>
            <a:srgbClr val="CC00CC">
              <a:alpha val="50000"/>
            </a:srgbClr>
          </a:solidFill>
        </p:grpSpPr>
        <p:sp>
          <p:nvSpPr>
            <p:cNvPr id="107" name="AutoShape 57"/>
            <p:cNvSpPr>
              <a:spLocks noChangeArrowheads="1"/>
            </p:cNvSpPr>
            <p:nvPr/>
          </p:nvSpPr>
          <p:spPr bwMode="auto">
            <a:xfrm rot="10800000">
              <a:off x="420" y="2504"/>
              <a:ext cx="133" cy="226"/>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8" name="AutoShape 58"/>
            <p:cNvSpPr>
              <a:spLocks noChangeArrowheads="1"/>
            </p:cNvSpPr>
            <p:nvPr/>
          </p:nvSpPr>
          <p:spPr bwMode="auto">
            <a:xfrm rot="10800000">
              <a:off x="2047" y="2461"/>
              <a:ext cx="125" cy="248"/>
            </a:xfrm>
            <a:prstGeom prst="upArrow">
              <a:avLst>
                <a:gd name="adj1" fmla="val 50000"/>
                <a:gd name="adj2" fmla="val 49600"/>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sp>
        <p:nvSpPr>
          <p:cNvPr id="97" name="Rectangle 35"/>
          <p:cNvSpPr>
            <a:spLocks noChangeArrowheads="1"/>
          </p:cNvSpPr>
          <p:nvPr/>
        </p:nvSpPr>
        <p:spPr bwMode="auto">
          <a:xfrm>
            <a:off x="2758421"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grpSp>
        <p:nvGrpSpPr>
          <p:cNvPr id="118" name="Group 62"/>
          <p:cNvGrpSpPr/>
          <p:nvPr/>
        </p:nvGrpSpPr>
        <p:grpSpPr bwMode="auto">
          <a:xfrm>
            <a:off x="1634909" y="4703200"/>
            <a:ext cx="2752961" cy="370681"/>
            <a:chOff x="433" y="3219"/>
            <a:chExt cx="1754" cy="279"/>
          </a:xfrm>
          <a:solidFill>
            <a:srgbClr val="CC00CC"/>
          </a:solidFill>
        </p:grpSpPr>
        <p:sp>
          <p:nvSpPr>
            <p:cNvPr id="119" name="AutoShape 63"/>
            <p:cNvSpPr>
              <a:spLocks noChangeArrowheads="1"/>
            </p:cNvSpPr>
            <p:nvPr/>
          </p:nvSpPr>
          <p:spPr bwMode="auto">
            <a:xfrm rot="10800000">
              <a:off x="433" y="3259"/>
              <a:ext cx="141" cy="239"/>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20" name="AutoShape 64"/>
            <p:cNvSpPr>
              <a:spLocks noChangeArrowheads="1"/>
            </p:cNvSpPr>
            <p:nvPr/>
          </p:nvSpPr>
          <p:spPr bwMode="auto">
            <a:xfrm rot="10800000">
              <a:off x="2052" y="3219"/>
              <a:ext cx="135" cy="246"/>
            </a:xfrm>
            <a:prstGeom prst="upArrow">
              <a:avLst>
                <a:gd name="adj1" fmla="val 50000"/>
                <a:gd name="adj2" fmla="val 50403"/>
              </a:avLst>
            </a:prstGeom>
            <a:grp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grpSp>
      <p:sp>
        <p:nvSpPr>
          <p:cNvPr id="9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0"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09" name="矩形 108"/>
          <p:cNvSpPr/>
          <p:nvPr/>
        </p:nvSpPr>
        <p:spPr>
          <a:xfrm>
            <a:off x="3993824" y="2960107"/>
            <a:ext cx="619365"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67092611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25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5968627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wipe(left)">
                                      <p:cBhvr>
                                        <p:cTn id="7" dur="750"/>
                                        <p:tgtEl>
                                          <p:spTgt spid="100"/>
                                        </p:tgtEl>
                                      </p:cBhvr>
                                    </p:animEffect>
                                  </p:childTnLst>
                                </p:cTn>
                              </p:par>
                            </p:childTnLst>
                          </p:cTn>
                        </p:par>
                        <p:par>
                          <p:cTn id="8" fill="hold">
                            <p:stCondLst>
                              <p:cond delay="750"/>
                            </p:stCondLst>
                            <p:childTnLst>
                              <p:par>
                                <p:cTn id="9" presetID="22" presetClass="entr" presetSubtype="8" fill="hold" nodeType="afterEffect">
                                  <p:stCondLst>
                                    <p:cond delay="0"/>
                                  </p:stCondLst>
                                  <p:childTnLst>
                                    <p:set>
                                      <p:cBhvr>
                                        <p:cTn id="10" dur="1" fill="hold">
                                          <p:stCondLst>
                                            <p:cond delay="0"/>
                                          </p:stCondLst>
                                        </p:cTn>
                                        <p:tgtEl>
                                          <p:spTgt spid="125"/>
                                        </p:tgtEl>
                                        <p:attrNameLst>
                                          <p:attrName>style.visibility</p:attrName>
                                        </p:attrNameLst>
                                      </p:cBhvr>
                                      <p:to>
                                        <p:strVal val="visible"/>
                                      </p:to>
                                    </p:set>
                                    <p:animEffect transition="in" filter="wipe(left)">
                                      <p:cBhvr>
                                        <p:cTn id="11" dur="750"/>
                                        <p:tgtEl>
                                          <p:spTgt spid="125"/>
                                        </p:tgtEl>
                                      </p:cBhvr>
                                    </p:animEffect>
                                  </p:childTnLst>
                                </p:cTn>
                              </p:par>
                            </p:childTnLst>
                          </p:cTn>
                        </p:par>
                        <p:par>
                          <p:cTn id="12" fill="hold">
                            <p:stCondLst>
                              <p:cond delay="1500"/>
                            </p:stCondLst>
                            <p:childTnLst>
                              <p:par>
                                <p:cTn id="13" presetID="22" presetClass="entr" presetSubtype="4" fill="hold" grpId="0"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wipe(down)">
                                      <p:cBhvr>
                                        <p:cTn id="15" dur="75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11"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758421"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34810592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left)">
                                      <p:cBhvr>
                                        <p:cTn id="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29" name="组合 28"/>
          <p:cNvGrpSpPr/>
          <p:nvPr/>
        </p:nvGrpSpPr>
        <p:grpSpPr>
          <a:xfrm>
            <a:off x="2758420" y="4403750"/>
            <a:ext cx="2130968" cy="336181"/>
            <a:chOff x="2068815" y="3302812"/>
            <a:chExt cx="1598226" cy="252136"/>
          </a:xfrm>
        </p:grpSpPr>
        <p:grpSp>
          <p:nvGrpSpPr>
            <p:cNvPr id="101" name="Group 45"/>
            <p:cNvGrpSpPr/>
            <p:nvPr/>
          </p:nvGrpSpPr>
          <p:grpSpPr bwMode="auto">
            <a:xfrm>
              <a:off x="2292670" y="3304109"/>
              <a:ext cx="1164318" cy="244475"/>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41" name="矩形 140"/>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758421"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7489356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down)">
                                      <p:cBhvr>
                                        <p:cTn id="7" dur="10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3056893" y="4405479"/>
            <a:ext cx="1552424" cy="325967"/>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758421" y="4403749"/>
            <a:ext cx="293545" cy="32768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4608734" y="4404379"/>
            <a:ext cx="280655" cy="32707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3064668" y="4422167"/>
            <a:ext cx="1534667" cy="317764"/>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758421"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29" name="组合 28"/>
          <p:cNvGrpSpPr/>
          <p:nvPr/>
        </p:nvGrpSpPr>
        <p:grpSpPr>
          <a:xfrm>
            <a:off x="3057593" y="3909771"/>
            <a:ext cx="1555596" cy="328084"/>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5371068" y="4205366"/>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2034403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2"/>
                                        </p:tgtEl>
                                        <p:attrNameLst>
                                          <p:attrName>style.visibility</p:attrName>
                                        </p:attrNameLst>
                                      </p:cBhvr>
                                      <p:to>
                                        <p:strVal val="visible"/>
                                      </p:to>
                                    </p:set>
                                    <p:animEffect transition="in" filter="wipe(down)">
                                      <p:cBhvr>
                                        <p:cTn id="7" dur="1000"/>
                                        <p:tgtEl>
                                          <p:spTgt spid="8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3056893" y="4405479"/>
            <a:ext cx="1552424" cy="325967"/>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758421" y="4403749"/>
            <a:ext cx="293545" cy="32768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4608734" y="4404379"/>
            <a:ext cx="280655" cy="32707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3064668" y="4422167"/>
            <a:ext cx="1534667" cy="317764"/>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758421"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29" name="组合 28"/>
          <p:cNvGrpSpPr/>
          <p:nvPr/>
        </p:nvGrpSpPr>
        <p:grpSpPr>
          <a:xfrm>
            <a:off x="3057593" y="3909771"/>
            <a:ext cx="1555596" cy="328084"/>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83" name="组合 82"/>
          <p:cNvGrpSpPr/>
          <p:nvPr/>
        </p:nvGrpSpPr>
        <p:grpSpPr>
          <a:xfrm>
            <a:off x="7624647" y="3909771"/>
            <a:ext cx="1555596" cy="328084"/>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70472634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left)">
                                      <p:cBhvr>
                                        <p:cTn id="7"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3056893" y="4405479"/>
            <a:ext cx="1552424" cy="325967"/>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758421" y="4403749"/>
            <a:ext cx="293545" cy="32768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4608734" y="4404379"/>
            <a:ext cx="280655" cy="32707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3064668" y="4422167"/>
            <a:ext cx="1534667" cy="317764"/>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758421"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29" name="组合 28"/>
          <p:cNvGrpSpPr/>
          <p:nvPr/>
        </p:nvGrpSpPr>
        <p:grpSpPr>
          <a:xfrm>
            <a:off x="3057593" y="3909771"/>
            <a:ext cx="1555596" cy="328084"/>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83" name="组合 82"/>
          <p:cNvGrpSpPr/>
          <p:nvPr/>
        </p:nvGrpSpPr>
        <p:grpSpPr>
          <a:xfrm>
            <a:off x="7624647" y="3909771"/>
            <a:ext cx="1555596" cy="328084"/>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6243311" y="4239688"/>
            <a:ext cx="240616" cy="332312"/>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108" name="Group 73"/>
          <p:cNvGrpSpPr/>
          <p:nvPr/>
        </p:nvGrpSpPr>
        <p:grpSpPr bwMode="auto">
          <a:xfrm>
            <a:off x="6827532" y="3857137"/>
            <a:ext cx="828835" cy="874297"/>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206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500" b="1" dirty="0">
                  <a:solidFill>
                    <a:srgbClr val="CC00CC"/>
                  </a:solidFill>
                  <a:latin typeface="微软雅黑" panose="020B0503020204020204" pitchFamily="34" charset="-122"/>
                  <a:ea typeface="微软雅黑" panose="020B0503020204020204" pitchFamily="34" charset="-122"/>
                </a:rPr>
                <a:t>新首部</a:t>
              </a: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9128406" y="3854415"/>
            <a:ext cx="762000" cy="877032"/>
            <a:chOff x="4165" y="2643"/>
            <a:chExt cx="486" cy="606"/>
          </a:xfrm>
        </p:grpSpPr>
        <p:sp>
          <p:nvSpPr>
            <p:cNvPr id="117" name="Rectangle 78"/>
            <p:cNvSpPr>
              <a:spLocks noChangeArrowheads="1"/>
            </p:cNvSpPr>
            <p:nvPr/>
          </p:nvSpPr>
          <p:spPr bwMode="auto">
            <a:xfrm>
              <a:off x="4191" y="3023"/>
              <a:ext cx="179" cy="226"/>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65" y="2643"/>
              <a:ext cx="486"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500" b="1" dirty="0">
                  <a:solidFill>
                    <a:srgbClr val="CC00CC"/>
                  </a:solidFill>
                  <a:latin typeface="微软雅黑" panose="020B0503020204020204" pitchFamily="34" charset="-122"/>
                  <a:ea typeface="微软雅黑" panose="020B0503020204020204" pitchFamily="34" charset="-122"/>
                </a:rPr>
                <a:t>新尾部</a:t>
              </a:r>
            </a:p>
          </p:txBody>
        </p:sp>
      </p:grpSp>
      <p:grpSp>
        <p:nvGrpSpPr>
          <p:cNvPr id="31" name="组合 30"/>
          <p:cNvGrpSpPr/>
          <p:nvPr/>
        </p:nvGrpSpPr>
        <p:grpSpPr>
          <a:xfrm>
            <a:off x="7617339" y="4405479"/>
            <a:ext cx="1552424" cy="334452"/>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60940223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up)">
                                      <p:cBhvr>
                                        <p:cTn id="7" dur="10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up)">
                                      <p:cBhvr>
                                        <p:cTn id="12" dur="1000"/>
                                        <p:tgtEl>
                                          <p:spTgt spid="31"/>
                                        </p:tgtEl>
                                      </p:cBhvr>
                                    </p:animEffect>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108"/>
                                        </p:tgtEl>
                                        <p:attrNameLst>
                                          <p:attrName>style.visibility</p:attrName>
                                        </p:attrNameLst>
                                      </p:cBhvr>
                                      <p:to>
                                        <p:strVal val="visible"/>
                                      </p:to>
                                    </p:set>
                                    <p:anim calcmode="lin" valueType="num">
                                      <p:cBhvr additive="base">
                                        <p:cTn id="16" dur="1000" fill="hold"/>
                                        <p:tgtEl>
                                          <p:spTgt spid="108"/>
                                        </p:tgtEl>
                                        <p:attrNameLst>
                                          <p:attrName>ppt_x</p:attrName>
                                        </p:attrNameLst>
                                      </p:cBhvr>
                                      <p:tavLst>
                                        <p:tav tm="0">
                                          <p:val>
                                            <p:strVal val="0-#ppt_w/2"/>
                                          </p:val>
                                        </p:tav>
                                        <p:tav tm="100000">
                                          <p:val>
                                            <p:strVal val="#ppt_x"/>
                                          </p:val>
                                        </p:tav>
                                      </p:tavLst>
                                    </p:anim>
                                    <p:anim calcmode="lin" valueType="num">
                                      <p:cBhvr additive="base">
                                        <p:cTn id="17" dur="1000" fill="hold"/>
                                        <p:tgtEl>
                                          <p:spTgt spid="108"/>
                                        </p:tgtEl>
                                        <p:attrNameLst>
                                          <p:attrName>ppt_y</p:attrName>
                                        </p:attrNameLst>
                                      </p:cBhvr>
                                      <p:tavLst>
                                        <p:tav tm="0">
                                          <p:val>
                                            <p:strVal val="#ppt_y"/>
                                          </p:val>
                                        </p:tav>
                                        <p:tav tm="100000">
                                          <p:val>
                                            <p:strVal val="#ppt_y"/>
                                          </p:val>
                                        </p:tav>
                                      </p:tavLst>
                                    </p:anim>
                                  </p:childTnLst>
                                </p:cTn>
                              </p:par>
                              <p:par>
                                <p:cTn id="18" presetID="2" presetClass="entr" presetSubtype="2" fill="hold" nodeType="withEffect">
                                  <p:stCondLst>
                                    <p:cond delay="0"/>
                                  </p:stCondLst>
                                  <p:childTnLst>
                                    <p:set>
                                      <p:cBhvr>
                                        <p:cTn id="19" dur="1" fill="hold">
                                          <p:stCondLst>
                                            <p:cond delay="0"/>
                                          </p:stCondLst>
                                        </p:cTn>
                                        <p:tgtEl>
                                          <p:spTgt spid="116"/>
                                        </p:tgtEl>
                                        <p:attrNameLst>
                                          <p:attrName>style.visibility</p:attrName>
                                        </p:attrNameLst>
                                      </p:cBhvr>
                                      <p:to>
                                        <p:strVal val="visible"/>
                                      </p:to>
                                    </p:set>
                                    <p:anim calcmode="lin" valueType="num">
                                      <p:cBhvr additive="base">
                                        <p:cTn id="20" dur="1000" fill="hold"/>
                                        <p:tgtEl>
                                          <p:spTgt spid="116"/>
                                        </p:tgtEl>
                                        <p:attrNameLst>
                                          <p:attrName>ppt_x</p:attrName>
                                        </p:attrNameLst>
                                      </p:cBhvr>
                                      <p:tavLst>
                                        <p:tav tm="0">
                                          <p:val>
                                            <p:strVal val="1+#ppt_w/2"/>
                                          </p:val>
                                        </p:tav>
                                        <p:tav tm="100000">
                                          <p:val>
                                            <p:strVal val="#ppt_x"/>
                                          </p:val>
                                        </p:tav>
                                      </p:tavLst>
                                    </p:anim>
                                    <p:anim calcmode="lin" valueType="num">
                                      <p:cBhvr additive="base">
                                        <p:cTn id="21" dur="1000" fill="hold"/>
                                        <p:tgtEl>
                                          <p:spTgt spid="1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1" name="Group 45"/>
          <p:cNvGrpSpPr/>
          <p:nvPr/>
        </p:nvGrpSpPr>
        <p:grpSpPr bwMode="auto">
          <a:xfrm>
            <a:off x="3056893" y="4405479"/>
            <a:ext cx="1552424" cy="325967"/>
            <a:chOff x="1984" y="3023"/>
            <a:chExt cx="989" cy="226"/>
          </a:xfrm>
        </p:grpSpPr>
        <p:sp>
          <p:nvSpPr>
            <p:cNvPr id="102"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03"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4"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5"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10" name="Rectangle 74"/>
          <p:cNvSpPr>
            <a:spLocks noChangeArrowheads="1"/>
          </p:cNvSpPr>
          <p:nvPr/>
        </p:nvSpPr>
        <p:spPr bwMode="auto">
          <a:xfrm>
            <a:off x="2758421" y="4403749"/>
            <a:ext cx="293545" cy="32768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4" name="Rectangle 78"/>
          <p:cNvSpPr>
            <a:spLocks noChangeArrowheads="1"/>
          </p:cNvSpPr>
          <p:nvPr/>
        </p:nvSpPr>
        <p:spPr bwMode="auto">
          <a:xfrm>
            <a:off x="4608734" y="4404379"/>
            <a:ext cx="280655" cy="32707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41" name="矩形 140"/>
          <p:cNvSpPr/>
          <p:nvPr/>
        </p:nvSpPr>
        <p:spPr>
          <a:xfrm>
            <a:off x="3064668" y="4422167"/>
            <a:ext cx="1534667" cy="317764"/>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7" name="Rectangle 35"/>
          <p:cNvSpPr>
            <a:spLocks noChangeArrowheads="1"/>
          </p:cNvSpPr>
          <p:nvPr/>
        </p:nvSpPr>
        <p:spPr bwMode="auto">
          <a:xfrm>
            <a:off x="2758421"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2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29" name="组合 28"/>
          <p:cNvGrpSpPr/>
          <p:nvPr/>
        </p:nvGrpSpPr>
        <p:grpSpPr>
          <a:xfrm>
            <a:off x="3057593" y="3909771"/>
            <a:ext cx="1555596" cy="328084"/>
            <a:chOff x="2293194" y="2932328"/>
            <a:chExt cx="1166697" cy="246063"/>
          </a:xfrm>
        </p:grpSpPr>
        <p:grpSp>
          <p:nvGrpSpPr>
            <p:cNvPr id="76" name="Group 41"/>
            <p:cNvGrpSpPr/>
            <p:nvPr/>
          </p:nvGrpSpPr>
          <p:grpSpPr bwMode="auto">
            <a:xfrm>
              <a:off x="2511051" y="2932328"/>
              <a:ext cx="946569" cy="246063"/>
              <a:chOff x="2169" y="2660"/>
              <a:chExt cx="804" cy="226"/>
            </a:xfrm>
          </p:grpSpPr>
          <p:sp>
            <p:nvSpPr>
              <p:cNvPr id="77"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78"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79"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0"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81" name="矩形 80"/>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83" name="组合 82"/>
          <p:cNvGrpSpPr/>
          <p:nvPr/>
        </p:nvGrpSpPr>
        <p:grpSpPr>
          <a:xfrm>
            <a:off x="7624647" y="3909771"/>
            <a:ext cx="1555596" cy="328084"/>
            <a:chOff x="2293194" y="2932328"/>
            <a:chExt cx="1166697" cy="246063"/>
          </a:xfrm>
        </p:grpSpPr>
        <p:grpSp>
          <p:nvGrpSpPr>
            <p:cNvPr id="84" name="Group 41"/>
            <p:cNvGrpSpPr/>
            <p:nvPr/>
          </p:nvGrpSpPr>
          <p:grpSpPr bwMode="auto">
            <a:xfrm>
              <a:off x="2511051" y="2932328"/>
              <a:ext cx="946569" cy="246063"/>
              <a:chOff x="2169" y="2660"/>
              <a:chExt cx="804" cy="226"/>
            </a:xfrm>
          </p:grpSpPr>
          <p:sp>
            <p:nvSpPr>
              <p:cNvPr id="89"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9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91"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8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86" name="矩形 8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108" name="Group 73"/>
          <p:cNvGrpSpPr/>
          <p:nvPr/>
        </p:nvGrpSpPr>
        <p:grpSpPr bwMode="auto">
          <a:xfrm>
            <a:off x="6827532" y="3857137"/>
            <a:ext cx="828835" cy="874297"/>
            <a:chOff x="1110" y="2645"/>
            <a:chExt cx="528" cy="603"/>
          </a:xfrm>
        </p:grpSpPr>
        <p:sp>
          <p:nvSpPr>
            <p:cNvPr id="112" name="Rectangle 74"/>
            <p:cNvSpPr>
              <a:spLocks noChangeArrowheads="1"/>
            </p:cNvSpPr>
            <p:nvPr/>
          </p:nvSpPr>
          <p:spPr bwMode="auto">
            <a:xfrm>
              <a:off x="1432" y="3022"/>
              <a:ext cx="187" cy="226"/>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113" name="Text Box 75"/>
            <p:cNvSpPr txBox="1">
              <a:spLocks noChangeArrowheads="1"/>
            </p:cNvSpPr>
            <p:nvPr/>
          </p:nvSpPr>
          <p:spPr bwMode="auto">
            <a:xfrm>
              <a:off x="1110" y="2645"/>
              <a:ext cx="52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500" b="1" dirty="0">
                  <a:solidFill>
                    <a:srgbClr val="CC00CC"/>
                  </a:solidFill>
                  <a:latin typeface="微软雅黑" panose="020B0503020204020204" pitchFamily="34" charset="-122"/>
                  <a:ea typeface="微软雅黑" panose="020B0503020204020204" pitchFamily="34" charset="-122"/>
                </a:rPr>
                <a:t>新首部</a:t>
              </a:r>
            </a:p>
          </p:txBody>
        </p:sp>
        <p:sp>
          <p:nvSpPr>
            <p:cNvPr id="115" name="Line 76"/>
            <p:cNvSpPr>
              <a:spLocks noChangeShapeType="1"/>
            </p:cNvSpPr>
            <p:nvPr/>
          </p:nvSpPr>
          <p:spPr bwMode="auto">
            <a:xfrm>
              <a:off x="1416" y="2842"/>
              <a:ext cx="91" cy="195"/>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6" name="Group 77"/>
          <p:cNvGrpSpPr/>
          <p:nvPr/>
        </p:nvGrpSpPr>
        <p:grpSpPr bwMode="auto">
          <a:xfrm>
            <a:off x="9128406" y="3854415"/>
            <a:ext cx="762000" cy="877032"/>
            <a:chOff x="4165" y="2643"/>
            <a:chExt cx="486" cy="606"/>
          </a:xfrm>
        </p:grpSpPr>
        <p:sp>
          <p:nvSpPr>
            <p:cNvPr id="117" name="Rectangle 78"/>
            <p:cNvSpPr>
              <a:spLocks noChangeArrowheads="1"/>
            </p:cNvSpPr>
            <p:nvPr/>
          </p:nvSpPr>
          <p:spPr bwMode="auto">
            <a:xfrm>
              <a:off x="4191" y="3023"/>
              <a:ext cx="179" cy="226"/>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18" name="Line 79"/>
            <p:cNvSpPr>
              <a:spLocks noChangeShapeType="1"/>
            </p:cNvSpPr>
            <p:nvPr/>
          </p:nvSpPr>
          <p:spPr bwMode="auto">
            <a:xfrm flipH="1">
              <a:off x="4265" y="2834"/>
              <a:ext cx="93" cy="188"/>
            </a:xfrm>
            <a:prstGeom prst="line">
              <a:avLst/>
            </a:prstGeom>
            <a:noFill/>
            <a:ln w="12700">
              <a:solidFill>
                <a:srgbClr val="333399"/>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0" name="Text Box 80"/>
            <p:cNvSpPr txBox="1">
              <a:spLocks noChangeArrowheads="1"/>
            </p:cNvSpPr>
            <p:nvPr/>
          </p:nvSpPr>
          <p:spPr bwMode="auto">
            <a:xfrm>
              <a:off x="4165" y="2643"/>
              <a:ext cx="486"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lnSpc>
                  <a:spcPct val="90000"/>
                </a:lnSpc>
              </a:pPr>
              <a:r>
                <a:rPr kumimoji="1" lang="zh-CN" altLang="en-US" sz="1500" b="1" dirty="0">
                  <a:solidFill>
                    <a:srgbClr val="CC00CC"/>
                  </a:solidFill>
                  <a:latin typeface="微软雅黑" panose="020B0503020204020204" pitchFamily="34" charset="-122"/>
                  <a:ea typeface="微软雅黑" panose="020B0503020204020204" pitchFamily="34" charset="-122"/>
                </a:rPr>
                <a:t>新尾部</a:t>
              </a:r>
            </a:p>
          </p:txBody>
        </p:sp>
      </p:grpSp>
      <p:grpSp>
        <p:nvGrpSpPr>
          <p:cNvPr id="31" name="组合 30"/>
          <p:cNvGrpSpPr/>
          <p:nvPr/>
        </p:nvGrpSpPr>
        <p:grpSpPr>
          <a:xfrm>
            <a:off x="7617339" y="4405479"/>
            <a:ext cx="1552424" cy="334452"/>
            <a:chOff x="5713004" y="3304109"/>
            <a:chExt cx="1164318" cy="250839"/>
          </a:xfrm>
        </p:grpSpPr>
        <p:grpSp>
          <p:nvGrpSpPr>
            <p:cNvPr id="93" name="Group 45"/>
            <p:cNvGrpSpPr/>
            <p:nvPr/>
          </p:nvGrpSpPr>
          <p:grpSpPr bwMode="auto">
            <a:xfrm>
              <a:off x="5713004" y="3304109"/>
              <a:ext cx="1164318" cy="244475"/>
              <a:chOff x="1984" y="3023"/>
              <a:chExt cx="989" cy="226"/>
            </a:xfrm>
          </p:grpSpPr>
          <p:sp>
            <p:nvSpPr>
              <p:cNvPr id="94"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6"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98"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6"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1" name="矩形 120"/>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sp>
        <p:nvSpPr>
          <p:cNvPr id="124" name="下箭头 123"/>
          <p:cNvSpPr/>
          <p:nvPr/>
        </p:nvSpPr>
        <p:spPr>
          <a:xfrm>
            <a:off x="6243311" y="4724903"/>
            <a:ext cx="240616" cy="332312"/>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40783459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up)">
                                      <p:cBhvr>
                                        <p:cTn id="7" dur="1000"/>
                                        <p:tgtEl>
                                          <p:spTgt spid="1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wipe(up)">
                                      <p:cBhvr>
                                        <p:cTn id="12" dur="10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32212650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wipe(left)">
                                      <p:cBhvr>
                                        <p:cTn id="7" dur="1000"/>
                                        <p:tgtEl>
                                          <p:spTgt spid="14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44"/>
                                        </p:tgtEl>
                                        <p:attrNameLst>
                                          <p:attrName>style.visibility</p:attrName>
                                        </p:attrNameLst>
                                      </p:cBhvr>
                                      <p:to>
                                        <p:strVal val="visible"/>
                                      </p:to>
                                    </p:set>
                                    <p:animEffect transition="in" filter="wipe(left)">
                                      <p:cBhvr>
                                        <p:cTn id="11" dur="1000"/>
                                        <p:tgtEl>
                                          <p:spTgt spid="14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43"/>
                                        </p:tgtEl>
                                        <p:attrNameLst>
                                          <p:attrName>style.visibility</p:attrName>
                                        </p:attrNameLst>
                                      </p:cBhvr>
                                      <p:to>
                                        <p:strVal val="visible"/>
                                      </p:to>
                                    </p:set>
                                    <p:animEffect transition="in" filter="wipe(left)">
                                      <p:cBhvr>
                                        <p:cTn id="15" dur="10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P spid="143"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sp>
        <p:nvSpPr>
          <p:cNvPr id="29" name="文本占位符 28"/>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53819525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ipe(left)">
                                      <p:cBhvr>
                                        <p:cTn id="7" dur="1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7332994" y="4403750"/>
            <a:ext cx="2116839" cy="336181"/>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10162613" y="4647781"/>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282492425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down)">
                                      <p:cBhvr>
                                        <p:cTn id="7" dur="1000"/>
                                        <p:tgtEl>
                                          <p:spTgt spid="1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down)">
                                      <p:cBhvr>
                                        <p:cTn id="12"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7332994" y="4403750"/>
            <a:ext cx="2116839" cy="336181"/>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10162613" y="4647781"/>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6" name="上箭头 85"/>
          <p:cNvSpPr/>
          <p:nvPr/>
        </p:nvSpPr>
        <p:spPr>
          <a:xfrm>
            <a:off x="10162613" y="4161721"/>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90" name="组合 89"/>
          <p:cNvGrpSpPr/>
          <p:nvPr/>
        </p:nvGrpSpPr>
        <p:grpSpPr>
          <a:xfrm>
            <a:off x="7624647" y="3909771"/>
            <a:ext cx="1555596" cy="328084"/>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占位符 30"/>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14926577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10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0"/>
                                        </p:tgtEl>
                                        <p:attrNameLst>
                                          <p:attrName>style.visibility</p:attrName>
                                        </p:attrNameLst>
                                      </p:cBhvr>
                                      <p:to>
                                        <p:strVal val="visible"/>
                                      </p:to>
                                    </p:set>
                                    <p:animEffect transition="in" filter="wipe(down)">
                                      <p:cBhvr>
                                        <p:cTn id="12" dur="10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7332994" y="4403750"/>
            <a:ext cx="2116839" cy="336181"/>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10162613" y="4647781"/>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6" name="上箭头 85"/>
          <p:cNvSpPr/>
          <p:nvPr/>
        </p:nvSpPr>
        <p:spPr>
          <a:xfrm>
            <a:off x="10162613" y="4161721"/>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90" name="组合 89"/>
          <p:cNvGrpSpPr/>
          <p:nvPr/>
        </p:nvGrpSpPr>
        <p:grpSpPr>
          <a:xfrm>
            <a:off x="7624647" y="3909771"/>
            <a:ext cx="1555596" cy="328084"/>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7892878" y="3405682"/>
            <a:ext cx="1265084" cy="328147"/>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10172929" y="3617426"/>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330925912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wipe(down)">
                                      <p:cBhvr>
                                        <p:cTn id="7" dur="10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wipe(down)">
                                      <p:cBhvr>
                                        <p:cTn id="12"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7332994" y="4403750"/>
            <a:ext cx="2116839" cy="336181"/>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10162613" y="4647781"/>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6" name="上箭头 85"/>
          <p:cNvSpPr/>
          <p:nvPr/>
        </p:nvSpPr>
        <p:spPr>
          <a:xfrm>
            <a:off x="10162613" y="4161721"/>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90" name="组合 89"/>
          <p:cNvGrpSpPr/>
          <p:nvPr/>
        </p:nvGrpSpPr>
        <p:grpSpPr>
          <a:xfrm>
            <a:off x="7624647" y="3909771"/>
            <a:ext cx="1555596" cy="328084"/>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7892878" y="3405682"/>
            <a:ext cx="1265084" cy="328147"/>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10172929" y="361742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3" name="上箭头 122"/>
          <p:cNvSpPr/>
          <p:nvPr/>
        </p:nvSpPr>
        <p:spPr>
          <a:xfrm>
            <a:off x="10172929" y="3131259"/>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32" name="组合 31"/>
          <p:cNvGrpSpPr/>
          <p:nvPr/>
        </p:nvGrpSpPr>
        <p:grpSpPr>
          <a:xfrm>
            <a:off x="8189869" y="2945594"/>
            <a:ext cx="967759" cy="328092"/>
            <a:chOff x="6142401" y="2209195"/>
            <a:chExt cx="725819" cy="246069"/>
          </a:xfrm>
        </p:grpSpPr>
        <p:grpSp>
          <p:nvGrpSpPr>
            <p:cNvPr id="113" name="组合 112"/>
            <p:cNvGrpSpPr/>
            <p:nvPr/>
          </p:nvGrpSpPr>
          <p:grpSpPr>
            <a:xfrm>
              <a:off x="6142401" y="2209195"/>
              <a:ext cx="725819" cy="246069"/>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矩形 128"/>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文本占位符 32"/>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9864947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wipe(down)">
                                      <p:cBhvr>
                                        <p:cTn id="7" dur="1000"/>
                                        <p:tgtEl>
                                          <p:spTgt spid="1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down)">
                                      <p:cBhvr>
                                        <p:cTn id="12"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alpha val="50000"/>
            </a:srgbClr>
          </a:solidFill>
          <a:ln w="12700">
            <a:no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alpha val="50000"/>
            </a:srgbClr>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grpSp>
        <p:nvGrpSpPr>
          <p:cNvPr id="29" name="组合 28"/>
          <p:cNvGrpSpPr/>
          <p:nvPr/>
        </p:nvGrpSpPr>
        <p:grpSpPr>
          <a:xfrm>
            <a:off x="7332994" y="4403750"/>
            <a:ext cx="2116839" cy="336181"/>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sp>
        <p:nvSpPr>
          <p:cNvPr id="104" name="上箭头 103"/>
          <p:cNvSpPr/>
          <p:nvPr/>
        </p:nvSpPr>
        <p:spPr>
          <a:xfrm>
            <a:off x="10162613" y="4647781"/>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6" name="上箭头 85"/>
          <p:cNvSpPr/>
          <p:nvPr/>
        </p:nvSpPr>
        <p:spPr>
          <a:xfrm>
            <a:off x="10162613" y="4161721"/>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90" name="组合 89"/>
          <p:cNvGrpSpPr/>
          <p:nvPr/>
        </p:nvGrpSpPr>
        <p:grpSpPr>
          <a:xfrm>
            <a:off x="7624647" y="3909771"/>
            <a:ext cx="1555596" cy="328084"/>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7892878" y="3405682"/>
            <a:ext cx="1265084" cy="328147"/>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上箭头 121"/>
          <p:cNvSpPr/>
          <p:nvPr/>
        </p:nvSpPr>
        <p:spPr>
          <a:xfrm>
            <a:off x="10172929" y="3617426"/>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3" name="上箭头 122"/>
          <p:cNvSpPr/>
          <p:nvPr/>
        </p:nvSpPr>
        <p:spPr>
          <a:xfrm>
            <a:off x="10172929" y="3131259"/>
            <a:ext cx="238163" cy="326839"/>
          </a:xfrm>
          <a:prstGeom prst="upArrow">
            <a:avLst/>
          </a:prstGeom>
          <a:solidFill>
            <a:srgbClr val="CC00CC">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9" name="Rectangle 37"/>
          <p:cNvSpPr>
            <a:spLocks noChangeArrowheads="1"/>
          </p:cNvSpPr>
          <p:nvPr/>
        </p:nvSpPr>
        <p:spPr bwMode="auto">
          <a:xfrm>
            <a:off x="8509583"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sp>
        <p:nvSpPr>
          <p:cNvPr id="130" name="上箭头 129"/>
          <p:cNvSpPr/>
          <p:nvPr/>
        </p:nvSpPr>
        <p:spPr>
          <a:xfrm>
            <a:off x="10172929" y="2700341"/>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grpSp>
        <p:nvGrpSpPr>
          <p:cNvPr id="131" name="组合 130"/>
          <p:cNvGrpSpPr/>
          <p:nvPr/>
        </p:nvGrpSpPr>
        <p:grpSpPr>
          <a:xfrm>
            <a:off x="8189869" y="2945594"/>
            <a:ext cx="967759" cy="328092"/>
            <a:chOff x="6142401" y="2209195"/>
            <a:chExt cx="725819" cy="246069"/>
          </a:xfrm>
        </p:grpSpPr>
        <p:grpSp>
          <p:nvGrpSpPr>
            <p:cNvPr id="132" name="组合 131"/>
            <p:cNvGrpSpPr/>
            <p:nvPr/>
          </p:nvGrpSpPr>
          <p:grpSpPr>
            <a:xfrm>
              <a:off x="6142401" y="2209195"/>
              <a:ext cx="725819" cy="246069"/>
              <a:chOff x="6142401" y="2209195"/>
              <a:chExt cx="725819" cy="246069"/>
            </a:xfrm>
          </p:grpSpPr>
          <p:sp>
            <p:nvSpPr>
              <p:cNvPr id="13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13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33" name="矩形 132"/>
            <p:cNvSpPr/>
            <p:nvPr/>
          </p:nvSpPr>
          <p:spPr>
            <a:xfrm>
              <a:off x="6396220" y="2220080"/>
              <a:ext cx="464524"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1325811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30"/>
                                        </p:tgtEl>
                                        <p:attrNameLst>
                                          <p:attrName>style.visibility</p:attrName>
                                        </p:attrNameLst>
                                      </p:cBhvr>
                                      <p:to>
                                        <p:strVal val="visible"/>
                                      </p:to>
                                    </p:set>
                                    <p:animEffect transition="in" filter="wipe(down)">
                                      <p:cBhvr>
                                        <p:cTn id="7" dur="1000"/>
                                        <p:tgtEl>
                                          <p:spTgt spid="1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wipe(down)">
                                      <p:cBhvr>
                                        <p:cTn id="12"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P spid="130"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661557" y="1433467"/>
            <a:ext cx="10738283" cy="4419933"/>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fontAlgn="auto">
              <a:spcBef>
                <a:spcPts val="0"/>
              </a:spcBef>
              <a:spcAft>
                <a:spcPts val="0"/>
              </a:spcAft>
              <a:defRPr/>
            </a:pPr>
            <a:endParaRPr lang="zh-CN" altLang="en-US" dirty="0"/>
          </a:p>
        </p:txBody>
      </p:sp>
      <p:sp>
        <p:nvSpPr>
          <p:cNvPr id="4"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25" name="Text Box 29"/>
          <p:cNvSpPr txBox="1">
            <a:spLocks noChangeArrowheads="1"/>
          </p:cNvSpPr>
          <p:nvPr/>
        </p:nvSpPr>
        <p:spPr bwMode="auto">
          <a:xfrm>
            <a:off x="147586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1</a:t>
            </a:r>
          </a:p>
        </p:txBody>
      </p:sp>
      <p:grpSp>
        <p:nvGrpSpPr>
          <p:cNvPr id="67" name="组合 66"/>
          <p:cNvGrpSpPr/>
          <p:nvPr/>
        </p:nvGrpSpPr>
        <p:grpSpPr>
          <a:xfrm>
            <a:off x="1500698" y="2362758"/>
            <a:ext cx="838894" cy="3024716"/>
            <a:chOff x="1125523" y="1772068"/>
            <a:chExt cx="629170" cy="2268537"/>
          </a:xfrm>
        </p:grpSpPr>
        <p:sp>
          <p:nvSpPr>
            <p:cNvPr id="5" name="AutoShape 5"/>
            <p:cNvSpPr>
              <a:spLocks noChangeArrowheads="1"/>
            </p:cNvSpPr>
            <p:nvPr/>
          </p:nvSpPr>
          <p:spPr bwMode="auto">
            <a:xfrm>
              <a:off x="1149855" y="2089568"/>
              <a:ext cx="590550" cy="1951037"/>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6" name="Text Box 6"/>
            <p:cNvSpPr txBox="1">
              <a:spLocks noChangeArrowheads="1"/>
            </p:cNvSpPr>
            <p:nvPr/>
          </p:nvSpPr>
          <p:spPr bwMode="auto">
            <a:xfrm>
              <a:off x="1415225" y="214274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5</a:t>
              </a:r>
            </a:p>
          </p:txBody>
        </p:sp>
        <p:sp>
          <p:nvSpPr>
            <p:cNvPr id="7" name="Text Box 7"/>
            <p:cNvSpPr txBox="1">
              <a:spLocks noChangeArrowheads="1"/>
            </p:cNvSpPr>
            <p:nvPr/>
          </p:nvSpPr>
          <p:spPr bwMode="auto">
            <a:xfrm>
              <a:off x="1415225"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8" name="Text Box 8"/>
            <p:cNvSpPr txBox="1">
              <a:spLocks noChangeArrowheads="1"/>
            </p:cNvSpPr>
            <p:nvPr/>
          </p:nvSpPr>
          <p:spPr bwMode="auto">
            <a:xfrm>
              <a:off x="1415225" y="28912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9" name="Text Box 9"/>
            <p:cNvSpPr txBox="1">
              <a:spLocks noChangeArrowheads="1"/>
            </p:cNvSpPr>
            <p:nvPr/>
          </p:nvSpPr>
          <p:spPr bwMode="auto">
            <a:xfrm>
              <a:off x="1415225"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10" name="Text Box 10"/>
            <p:cNvSpPr txBox="1">
              <a:spLocks noChangeArrowheads="1"/>
            </p:cNvSpPr>
            <p:nvPr/>
          </p:nvSpPr>
          <p:spPr bwMode="auto">
            <a:xfrm>
              <a:off x="1415225"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sp>
          <p:nvSpPr>
            <p:cNvPr id="11" name="Freeform 11"/>
            <p:cNvSpPr/>
            <p:nvPr/>
          </p:nvSpPr>
          <p:spPr bwMode="auto">
            <a:xfrm>
              <a:off x="1149855" y="2481680"/>
              <a:ext cx="598488"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12"/>
            <p:cNvSpPr/>
            <p:nvPr/>
          </p:nvSpPr>
          <p:spPr bwMode="auto">
            <a:xfrm>
              <a:off x="1156205" y="2856330"/>
              <a:ext cx="598488" cy="39688"/>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Freeform 13"/>
            <p:cNvSpPr/>
            <p:nvPr/>
          </p:nvSpPr>
          <p:spPr bwMode="auto">
            <a:xfrm>
              <a:off x="1140330" y="3233714"/>
              <a:ext cx="614363" cy="39688"/>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Freeform 14"/>
            <p:cNvSpPr/>
            <p:nvPr/>
          </p:nvSpPr>
          <p:spPr bwMode="auto">
            <a:xfrm>
              <a:off x="1140330" y="3594518"/>
              <a:ext cx="608013" cy="39687"/>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AutoShape 32"/>
            <p:cNvSpPr>
              <a:spLocks noChangeArrowheads="1"/>
            </p:cNvSpPr>
            <p:nvPr/>
          </p:nvSpPr>
          <p:spPr bwMode="auto">
            <a:xfrm>
              <a:off x="1153030" y="1772068"/>
              <a:ext cx="484188" cy="363537"/>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28" name="Text Box 33"/>
            <p:cNvSpPr txBox="1">
              <a:spLocks noChangeArrowheads="1"/>
            </p:cNvSpPr>
            <p:nvPr/>
          </p:nvSpPr>
          <p:spPr bwMode="auto">
            <a:xfrm>
              <a:off x="1125523"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1</a:t>
              </a:r>
              <a:endParaRPr kumimoji="1" lang="en-US" altLang="zh-CN" sz="2100" b="1">
                <a:solidFill>
                  <a:srgbClr val="0000FF"/>
                </a:solidFill>
                <a:latin typeface="Arial" panose="020B0604020202020204" pitchFamily="34" charset="0"/>
              </a:endParaRPr>
            </a:p>
          </p:txBody>
        </p:sp>
      </p:grpSp>
      <p:sp>
        <p:nvSpPr>
          <p:cNvPr id="38" name="Text Box 29"/>
          <p:cNvSpPr txBox="1">
            <a:spLocks noChangeArrowheads="1"/>
          </p:cNvSpPr>
          <p:nvPr/>
        </p:nvSpPr>
        <p:spPr bwMode="auto">
          <a:xfrm>
            <a:off x="9826345" y="1433467"/>
            <a:ext cx="844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主机 </a:t>
            </a:r>
            <a:r>
              <a:rPr kumimoji="1" lang="en-US" altLang="zh-CN" sz="1600" b="1" dirty="0">
                <a:solidFill>
                  <a:srgbClr val="0000FF"/>
                </a:solidFill>
                <a:latin typeface="微软雅黑" panose="020B0503020204020204" pitchFamily="34" charset="-122"/>
                <a:ea typeface="微软雅黑" panose="020B0503020204020204" pitchFamily="34" charset="-122"/>
              </a:rPr>
              <a:t>2</a:t>
            </a:r>
          </a:p>
        </p:txBody>
      </p:sp>
      <p:sp>
        <p:nvSpPr>
          <p:cNvPr id="39" name="Text Box 29"/>
          <p:cNvSpPr txBox="1">
            <a:spLocks noChangeArrowheads="1"/>
          </p:cNvSpPr>
          <p:nvPr/>
        </p:nvSpPr>
        <p:spPr bwMode="auto">
          <a:xfrm>
            <a:off x="5546950" y="1433467"/>
            <a:ext cx="8617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600" b="1" dirty="0">
                <a:solidFill>
                  <a:srgbClr val="0000FF"/>
                </a:solidFill>
                <a:latin typeface="微软雅黑" panose="020B0503020204020204" pitchFamily="34" charset="-122"/>
                <a:ea typeface="微软雅黑" panose="020B0503020204020204" pitchFamily="34" charset="-122"/>
              </a:rPr>
              <a:t>路由器</a:t>
            </a:r>
            <a:endParaRPr kumimoji="1" lang="en-US" altLang="zh-CN" sz="1600" b="1" dirty="0">
              <a:solidFill>
                <a:srgbClr val="0000FF"/>
              </a:solidFill>
              <a:latin typeface="微软雅黑" panose="020B0503020204020204" pitchFamily="34" charset="-122"/>
              <a:ea typeface="微软雅黑" panose="020B0503020204020204" pitchFamily="34" charset="-122"/>
            </a:endParaRPr>
          </a:p>
        </p:txBody>
      </p:sp>
      <p:sp>
        <p:nvSpPr>
          <p:cNvPr id="64" name="AutoShape 4"/>
          <p:cNvSpPr>
            <a:spLocks noChangeArrowheads="1"/>
          </p:cNvSpPr>
          <p:nvPr/>
        </p:nvSpPr>
        <p:spPr bwMode="auto">
          <a:xfrm rot="16200000">
            <a:off x="8300626" y="3140288"/>
            <a:ext cx="361951" cy="4813979"/>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grpSp>
        <p:nvGrpSpPr>
          <p:cNvPr id="65" name="组合 64"/>
          <p:cNvGrpSpPr/>
          <p:nvPr/>
        </p:nvGrpSpPr>
        <p:grpSpPr>
          <a:xfrm>
            <a:off x="5257808" y="3734276"/>
            <a:ext cx="1479877" cy="1653197"/>
            <a:chOff x="3943356" y="2800707"/>
            <a:chExt cx="1109908" cy="1239898"/>
          </a:xfrm>
        </p:grpSpPr>
        <p:sp>
          <p:nvSpPr>
            <p:cNvPr id="40" name="AutoShape 5"/>
            <p:cNvSpPr>
              <a:spLocks noChangeArrowheads="1"/>
            </p:cNvSpPr>
            <p:nvPr/>
          </p:nvSpPr>
          <p:spPr bwMode="auto">
            <a:xfrm>
              <a:off x="3952880" y="2800707"/>
              <a:ext cx="1100384" cy="1239898"/>
            </a:xfrm>
            <a:prstGeom prst="cube">
              <a:avLst>
                <a:gd name="adj" fmla="val 11493"/>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43" name="Text Box 8"/>
            <p:cNvSpPr txBox="1">
              <a:spLocks noChangeArrowheads="1"/>
            </p:cNvSpPr>
            <p:nvPr/>
          </p:nvSpPr>
          <p:spPr bwMode="auto">
            <a:xfrm>
              <a:off x="4339625" y="2850559"/>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3</a:t>
              </a:r>
            </a:p>
          </p:txBody>
        </p:sp>
        <p:sp>
          <p:nvSpPr>
            <p:cNvPr id="44" name="Text Box 9"/>
            <p:cNvSpPr txBox="1">
              <a:spLocks noChangeArrowheads="1"/>
            </p:cNvSpPr>
            <p:nvPr/>
          </p:nvSpPr>
          <p:spPr bwMode="auto">
            <a:xfrm>
              <a:off x="4202423"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45" name="Text Box 10"/>
            <p:cNvSpPr txBox="1">
              <a:spLocks noChangeArrowheads="1"/>
            </p:cNvSpPr>
            <p:nvPr/>
          </p:nvSpPr>
          <p:spPr bwMode="auto">
            <a:xfrm>
              <a:off x="4202423"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48" name="Freeform 13"/>
            <p:cNvSpPr/>
            <p:nvPr/>
          </p:nvSpPr>
          <p:spPr bwMode="auto">
            <a:xfrm>
              <a:off x="3943356" y="3141566"/>
              <a:ext cx="1109908" cy="128585"/>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4"/>
            <p:cNvSpPr/>
            <p:nvPr/>
          </p:nvSpPr>
          <p:spPr bwMode="auto">
            <a:xfrm>
              <a:off x="3954400" y="3503469"/>
              <a:ext cx="1098864" cy="127561"/>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52" name="直接连接符 51"/>
            <p:cNvCxnSpPr/>
            <p:nvPr/>
          </p:nvCxnSpPr>
          <p:spPr>
            <a:xfrm>
              <a:off x="4474421" y="3270733"/>
              <a:ext cx="0" cy="769872"/>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62" name="Text Box 9"/>
            <p:cNvSpPr txBox="1">
              <a:spLocks noChangeArrowheads="1"/>
            </p:cNvSpPr>
            <p:nvPr/>
          </p:nvSpPr>
          <p:spPr bwMode="auto">
            <a:xfrm>
              <a:off x="4467541"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2</a:t>
              </a:r>
            </a:p>
          </p:txBody>
        </p:sp>
        <p:sp>
          <p:nvSpPr>
            <p:cNvPr id="63" name="Text Box 10"/>
            <p:cNvSpPr txBox="1">
              <a:spLocks noChangeArrowheads="1"/>
            </p:cNvSpPr>
            <p:nvPr/>
          </p:nvSpPr>
          <p:spPr bwMode="auto">
            <a:xfrm>
              <a:off x="4467541"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dirty="0">
                  <a:solidFill>
                    <a:schemeClr val="bg1"/>
                  </a:solidFill>
                  <a:latin typeface="Arial" panose="020B0604020202020204" pitchFamily="34" charset="0"/>
                </a:rPr>
                <a:t>1</a:t>
              </a:r>
            </a:p>
          </p:txBody>
        </p:sp>
      </p:grpSp>
      <p:grpSp>
        <p:nvGrpSpPr>
          <p:cNvPr id="66" name="组合 65"/>
          <p:cNvGrpSpPr/>
          <p:nvPr/>
        </p:nvGrpSpPr>
        <p:grpSpPr>
          <a:xfrm>
            <a:off x="9803402" y="2326774"/>
            <a:ext cx="833621" cy="3060700"/>
            <a:chOff x="7352554" y="1745080"/>
            <a:chExt cx="625216" cy="2295525"/>
          </a:xfrm>
        </p:grpSpPr>
        <p:sp>
          <p:nvSpPr>
            <p:cNvPr id="15" name="AutoShape 15"/>
            <p:cNvSpPr>
              <a:spLocks noChangeArrowheads="1"/>
            </p:cNvSpPr>
            <p:nvPr/>
          </p:nvSpPr>
          <p:spPr bwMode="auto">
            <a:xfrm>
              <a:off x="7372933" y="2068930"/>
              <a:ext cx="590550" cy="1971675"/>
            </a:xfrm>
            <a:prstGeom prst="cube">
              <a:avLst>
                <a:gd name="adj" fmla="val 10764"/>
              </a:avLst>
            </a:prstGeom>
            <a:solidFill>
              <a:srgbClr val="0098F6"/>
            </a:solidFill>
            <a:ln w="19050">
              <a:solidFill>
                <a:schemeClr val="tx1"/>
              </a:solidFill>
              <a:miter lim="800000"/>
              <a:headEnd type="none" w="sm" len="lg"/>
              <a:tailEnd type="none" w="sm" len="lg"/>
            </a:ln>
          </p:spPr>
          <p:txBody>
            <a:bodyPr wrap="none" anchor="ctr"/>
            <a:lstStyle/>
            <a:p>
              <a:endParaRPr lang="zh-CN" altLang="en-US" sz="4300" b="1"/>
            </a:p>
          </p:txBody>
        </p:sp>
        <p:sp>
          <p:nvSpPr>
            <p:cNvPr id="16" name="Text Box 16"/>
            <p:cNvSpPr txBox="1">
              <a:spLocks noChangeArrowheads="1"/>
            </p:cNvSpPr>
            <p:nvPr/>
          </p:nvSpPr>
          <p:spPr bwMode="auto">
            <a:xfrm>
              <a:off x="7352554" y="21419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5</a:t>
              </a:r>
            </a:p>
          </p:txBody>
        </p:sp>
        <p:sp>
          <p:nvSpPr>
            <p:cNvPr id="17" name="Text Box 17"/>
            <p:cNvSpPr txBox="1">
              <a:spLocks noChangeArrowheads="1"/>
            </p:cNvSpPr>
            <p:nvPr/>
          </p:nvSpPr>
          <p:spPr bwMode="auto">
            <a:xfrm>
              <a:off x="7352554" y="2537242"/>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4</a:t>
              </a:r>
            </a:p>
          </p:txBody>
        </p:sp>
        <p:sp>
          <p:nvSpPr>
            <p:cNvPr id="18" name="Text Box 18"/>
            <p:cNvSpPr txBox="1">
              <a:spLocks noChangeArrowheads="1"/>
            </p:cNvSpPr>
            <p:nvPr/>
          </p:nvSpPr>
          <p:spPr bwMode="auto">
            <a:xfrm>
              <a:off x="7358904" y="28976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3</a:t>
              </a:r>
            </a:p>
          </p:txBody>
        </p:sp>
        <p:sp>
          <p:nvSpPr>
            <p:cNvPr id="19" name="Text Box 19"/>
            <p:cNvSpPr txBox="1">
              <a:spLocks noChangeArrowheads="1"/>
            </p:cNvSpPr>
            <p:nvPr/>
          </p:nvSpPr>
          <p:spPr bwMode="auto">
            <a:xfrm>
              <a:off x="7370016" y="325955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2</a:t>
              </a:r>
            </a:p>
          </p:txBody>
        </p:sp>
        <p:sp>
          <p:nvSpPr>
            <p:cNvPr id="20" name="Text Box 20"/>
            <p:cNvSpPr txBox="1">
              <a:spLocks noChangeArrowheads="1"/>
            </p:cNvSpPr>
            <p:nvPr/>
          </p:nvSpPr>
          <p:spPr bwMode="auto">
            <a:xfrm>
              <a:off x="7352554" y="3646905"/>
              <a:ext cx="250309"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chemeClr val="bg1"/>
                  </a:solidFill>
                  <a:latin typeface="Arial" panose="020B0604020202020204" pitchFamily="34" charset="0"/>
                </a:rPr>
                <a:t>1</a:t>
              </a:r>
            </a:p>
          </p:txBody>
        </p:sp>
        <p:sp>
          <p:nvSpPr>
            <p:cNvPr id="21" name="Freeform 21"/>
            <p:cNvSpPr/>
            <p:nvPr/>
          </p:nvSpPr>
          <p:spPr bwMode="auto">
            <a:xfrm>
              <a:off x="7372933" y="2459455"/>
              <a:ext cx="598487" cy="39688"/>
            </a:xfrm>
            <a:custGeom>
              <a:avLst/>
              <a:gdLst>
                <a:gd name="T0" fmla="*/ 0 w 534"/>
                <a:gd name="T1" fmla="*/ 40307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42"/>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Freeform 22"/>
            <p:cNvSpPr/>
            <p:nvPr/>
          </p:nvSpPr>
          <p:spPr bwMode="auto">
            <a:xfrm>
              <a:off x="7369758" y="2832518"/>
              <a:ext cx="598487" cy="41275"/>
            </a:xfrm>
            <a:custGeom>
              <a:avLst/>
              <a:gdLst>
                <a:gd name="T0" fmla="*/ 0 w 534"/>
                <a:gd name="T1" fmla="*/ 34549 h 42"/>
                <a:gd name="T2" fmla="*/ 524000 w 534"/>
                <a:gd name="T3" fmla="*/ 40307 h 42"/>
                <a:gd name="T4" fmla="*/ 597898 w 534"/>
                <a:gd name="T5" fmla="*/ 0 h 42"/>
                <a:gd name="T6" fmla="*/ 0 60000 65536"/>
                <a:gd name="T7" fmla="*/ 0 60000 65536"/>
                <a:gd name="T8" fmla="*/ 0 60000 65536"/>
              </a:gdLst>
              <a:ahLst/>
              <a:cxnLst>
                <a:cxn ang="T6">
                  <a:pos x="T0" y="T1"/>
                </a:cxn>
                <a:cxn ang="T7">
                  <a:pos x="T2" y="T3"/>
                </a:cxn>
                <a:cxn ang="T8">
                  <a:pos x="T4" y="T5"/>
                </a:cxn>
              </a:cxnLst>
              <a:rect l="0" t="0" r="r" b="b"/>
              <a:pathLst>
                <a:path w="534" h="42">
                  <a:moveTo>
                    <a:pt x="0" y="36"/>
                  </a:moveTo>
                  <a:lnTo>
                    <a:pt x="468" y="42"/>
                  </a:lnTo>
                  <a:cubicBezTo>
                    <a:pt x="490" y="28"/>
                    <a:pt x="534" y="0"/>
                    <a:pt x="534"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Freeform 23"/>
            <p:cNvSpPr/>
            <p:nvPr/>
          </p:nvSpPr>
          <p:spPr bwMode="auto">
            <a:xfrm>
              <a:off x="7363408" y="3235302"/>
              <a:ext cx="614362" cy="38100"/>
            </a:xfrm>
            <a:custGeom>
              <a:avLst/>
              <a:gdLst>
                <a:gd name="T0" fmla="*/ 0 w 548"/>
                <a:gd name="T1" fmla="*/ 39274 h 42"/>
                <a:gd name="T2" fmla="*/ 539676 w 548"/>
                <a:gd name="T3" fmla="*/ 39274 h 42"/>
                <a:gd name="T4" fmla="*/ 613574 w 548"/>
                <a:gd name="T5" fmla="*/ 0 h 42"/>
                <a:gd name="T6" fmla="*/ 0 60000 65536"/>
                <a:gd name="T7" fmla="*/ 0 60000 65536"/>
                <a:gd name="T8" fmla="*/ 0 60000 65536"/>
              </a:gdLst>
              <a:ahLst/>
              <a:cxnLst>
                <a:cxn ang="T6">
                  <a:pos x="T0" y="T1"/>
                </a:cxn>
                <a:cxn ang="T7">
                  <a:pos x="T2" y="T3"/>
                </a:cxn>
                <a:cxn ang="T8">
                  <a:pos x="T4" y="T5"/>
                </a:cxn>
              </a:cxnLst>
              <a:rect l="0" t="0" r="r" b="b"/>
              <a:pathLst>
                <a:path w="548" h="42">
                  <a:moveTo>
                    <a:pt x="0" y="42"/>
                  </a:moveTo>
                  <a:lnTo>
                    <a:pt x="482" y="42"/>
                  </a:lnTo>
                  <a:cubicBezTo>
                    <a:pt x="504" y="28"/>
                    <a:pt x="548" y="0"/>
                    <a:pt x="548"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Freeform 24"/>
            <p:cNvSpPr/>
            <p:nvPr/>
          </p:nvSpPr>
          <p:spPr bwMode="auto">
            <a:xfrm>
              <a:off x="7363408" y="3594518"/>
              <a:ext cx="608012" cy="38100"/>
            </a:xfrm>
            <a:custGeom>
              <a:avLst/>
              <a:gdLst>
                <a:gd name="T0" fmla="*/ 0 w 542"/>
                <a:gd name="T1" fmla="*/ 39274 h 42"/>
                <a:gd name="T2" fmla="*/ 532958 w 542"/>
                <a:gd name="T3" fmla="*/ 39274 h 42"/>
                <a:gd name="T4" fmla="*/ 606855 w 542"/>
                <a:gd name="T5" fmla="*/ 0 h 42"/>
                <a:gd name="T6" fmla="*/ 0 60000 65536"/>
                <a:gd name="T7" fmla="*/ 0 60000 65536"/>
                <a:gd name="T8" fmla="*/ 0 60000 65536"/>
              </a:gdLst>
              <a:ahLst/>
              <a:cxnLst>
                <a:cxn ang="T6">
                  <a:pos x="T0" y="T1"/>
                </a:cxn>
                <a:cxn ang="T7">
                  <a:pos x="T2" y="T3"/>
                </a:cxn>
                <a:cxn ang="T8">
                  <a:pos x="T4" y="T5"/>
                </a:cxn>
              </a:cxnLst>
              <a:rect l="0" t="0" r="r" b="b"/>
              <a:pathLst>
                <a:path w="542" h="42">
                  <a:moveTo>
                    <a:pt x="0" y="42"/>
                  </a:moveTo>
                  <a:lnTo>
                    <a:pt x="476" y="42"/>
                  </a:lnTo>
                  <a:cubicBezTo>
                    <a:pt x="498" y="28"/>
                    <a:pt x="542" y="0"/>
                    <a:pt x="542" y="0"/>
                  </a:cubicBezTo>
                </a:path>
              </a:pathLst>
            </a:custGeom>
            <a:noFill/>
            <a:ln w="19050" cap="flat" cmpd="sng">
              <a:solidFill>
                <a:schemeClr val="tx1"/>
              </a:solidFill>
              <a:prstDash val="solid"/>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30"/>
            <p:cNvSpPr>
              <a:spLocks noChangeArrowheads="1"/>
            </p:cNvSpPr>
            <p:nvPr/>
          </p:nvSpPr>
          <p:spPr bwMode="auto">
            <a:xfrm>
              <a:off x="7477708" y="1745080"/>
              <a:ext cx="482600" cy="361950"/>
            </a:xfrm>
            <a:prstGeom prst="cube">
              <a:avLst>
                <a:gd name="adj" fmla="val 17593"/>
              </a:avLst>
            </a:prstGeom>
            <a:solidFill>
              <a:srgbClr val="FFFF99"/>
            </a:solidFill>
            <a:ln w="1905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4300" b="1"/>
            </a:p>
          </p:txBody>
        </p:sp>
        <p:sp>
          <p:nvSpPr>
            <p:cNvPr id="30" name="Text Box 33"/>
            <p:cNvSpPr txBox="1">
              <a:spLocks noChangeArrowheads="1"/>
            </p:cNvSpPr>
            <p:nvPr/>
          </p:nvSpPr>
          <p:spPr bwMode="auto">
            <a:xfrm>
              <a:off x="7458138" y="1784768"/>
              <a:ext cx="493164" cy="31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0" hangingPunct="0"/>
              <a:r>
                <a:rPr kumimoji="1" lang="en-US" altLang="zh-CN" sz="2100" b="1">
                  <a:solidFill>
                    <a:srgbClr val="0000FF"/>
                  </a:solidFill>
                  <a:latin typeface="Arial" panose="020B0604020202020204" pitchFamily="34" charset="0"/>
                </a:rPr>
                <a:t>AP</a:t>
              </a:r>
              <a:r>
                <a:rPr kumimoji="1" lang="en-US" altLang="zh-CN" sz="2100" b="1" baseline="-25000">
                  <a:solidFill>
                    <a:srgbClr val="0000FF"/>
                  </a:solidFill>
                  <a:latin typeface="Arial" panose="020B0604020202020204" pitchFamily="34" charset="0"/>
                </a:rPr>
                <a:t>2</a:t>
              </a:r>
            </a:p>
          </p:txBody>
        </p:sp>
      </p:grpSp>
      <p:cxnSp>
        <p:nvCxnSpPr>
          <p:cNvPr id="69" name="直接连接符 68"/>
          <p:cNvCxnSpPr/>
          <p:nvPr/>
        </p:nvCxnSpPr>
        <p:spPr>
          <a:xfrm>
            <a:off x="1890858" y="2010611"/>
            <a:ext cx="8408175"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6"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15" y="1749959"/>
            <a:ext cx="546963"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3078" y="1749959"/>
            <a:ext cx="546964" cy="547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0" name="直接箭头连接符 139"/>
          <p:cNvCxnSpPr/>
          <p:nvPr/>
        </p:nvCxnSpPr>
        <p:spPr>
          <a:xfrm>
            <a:off x="2082159" y="1904221"/>
            <a:ext cx="7922024" cy="0"/>
          </a:xfrm>
          <a:prstGeom prst="straightConnector1">
            <a:avLst/>
          </a:prstGeom>
          <a:ln w="28575">
            <a:solidFill>
              <a:srgbClr val="CC00CC"/>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5"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72166" y="1847288"/>
            <a:ext cx="605917" cy="35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73" name="AutoShape 51"/>
          <p:cNvSpPr>
            <a:spLocks noChangeArrowheads="1"/>
          </p:cNvSpPr>
          <p:nvPr/>
        </p:nvSpPr>
        <p:spPr bwMode="auto">
          <a:xfrm flipV="1">
            <a:off x="1649968" y="2768326"/>
            <a:ext cx="194621" cy="273885"/>
          </a:xfrm>
          <a:prstGeom prst="upArrow">
            <a:avLst>
              <a:gd name="adj1" fmla="val 50000"/>
              <a:gd name="adj2" fmla="val 45968"/>
            </a:avLst>
          </a:prstGeom>
          <a:solidFill>
            <a:srgbClr val="CC00CC"/>
          </a:solidFill>
          <a:ln w="12700">
            <a:noFill/>
            <a:miter lim="800000"/>
          </a:ln>
          <a:effectLs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88" name="AutoShape 54"/>
          <p:cNvSpPr>
            <a:spLocks noChangeArrowheads="1"/>
          </p:cNvSpPr>
          <p:nvPr/>
        </p:nvSpPr>
        <p:spPr bwMode="auto">
          <a:xfrm rot="10800000">
            <a:off x="1649971" y="3252199"/>
            <a:ext cx="196192" cy="295039"/>
          </a:xfrm>
          <a:prstGeom prst="upArrow">
            <a:avLst>
              <a:gd name="adj1" fmla="val 50000"/>
              <a:gd name="adj2" fmla="val 49800"/>
            </a:avLst>
          </a:prstGeom>
          <a:solidFill>
            <a:srgbClr val="CC00CC"/>
          </a:solidFill>
          <a:ln w="12700">
            <a:noFill/>
            <a:miter lim="800000"/>
          </a:ln>
          <a:effectLs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5" name="AutoShape 57"/>
          <p:cNvSpPr>
            <a:spLocks noChangeArrowheads="1"/>
          </p:cNvSpPr>
          <p:nvPr/>
        </p:nvSpPr>
        <p:spPr bwMode="auto">
          <a:xfrm rot="10800000">
            <a:off x="1646830" y="3768437"/>
            <a:ext cx="197761" cy="297016"/>
          </a:xfrm>
          <a:prstGeom prst="upArrow">
            <a:avLst>
              <a:gd name="adj1" fmla="val 50000"/>
              <a:gd name="adj2" fmla="val 49600"/>
            </a:avLst>
          </a:prstGeom>
          <a:solidFill>
            <a:srgbClr val="CC00CC"/>
          </a:solidFill>
          <a:ln w="12700">
            <a:noFill/>
            <a:miter lim="800000"/>
          </a:ln>
          <a:effectLs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07" name="AutoShape 57"/>
          <p:cNvSpPr>
            <a:spLocks noChangeArrowheads="1"/>
          </p:cNvSpPr>
          <p:nvPr/>
        </p:nvSpPr>
        <p:spPr bwMode="auto">
          <a:xfrm rot="10800000">
            <a:off x="1634909" y="4265195"/>
            <a:ext cx="208748" cy="284255"/>
          </a:xfrm>
          <a:prstGeom prst="upArrow">
            <a:avLst>
              <a:gd name="adj1" fmla="val 50000"/>
              <a:gd name="adj2" fmla="val 49600"/>
            </a:avLst>
          </a:prstGeom>
          <a:solidFill>
            <a:srgbClr val="CC00CC"/>
          </a:solidFill>
          <a:ln w="12700">
            <a:noFill/>
            <a:miter lim="800000"/>
          </a:ln>
          <a:effectLs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119" name="AutoShape 63"/>
          <p:cNvSpPr>
            <a:spLocks noChangeArrowheads="1"/>
          </p:cNvSpPr>
          <p:nvPr/>
        </p:nvSpPr>
        <p:spPr bwMode="auto">
          <a:xfrm rot="10800000">
            <a:off x="1634908" y="4756348"/>
            <a:ext cx="221304" cy="317537"/>
          </a:xfrm>
          <a:prstGeom prst="upArrow">
            <a:avLst>
              <a:gd name="adj1" fmla="val 50000"/>
              <a:gd name="adj2" fmla="val 50403"/>
            </a:avLst>
          </a:prstGeom>
          <a:solidFill>
            <a:srgbClr val="CC00CC"/>
          </a:solidFill>
          <a:ln w="12700">
            <a:noFill/>
            <a:miter lim="800000"/>
          </a:ln>
          <a:effectLst/>
          <a:extLst/>
        </p:spPr>
        <p:txBody>
          <a:bodyPr vert="eaVert" wrap="none" lIns="121917" tIns="60958" rIns="121917" bIns="60958" anchor="ctr"/>
          <a:lstStyle/>
          <a:p>
            <a:pPr algn="ctr" fontAlgn="auto">
              <a:spcBef>
                <a:spcPts val="0"/>
              </a:spcBef>
              <a:spcAft>
                <a:spcPts val="0"/>
              </a:spcAft>
              <a:defRPr/>
            </a:pPr>
            <a:endParaRPr lang="zh-CN" altLang="en-US" sz="1900" b="1">
              <a:latin typeface="微软雅黑" panose="020B0503020204020204" pitchFamily="34" charset="-122"/>
              <a:ea typeface="微软雅黑" panose="020B0503020204020204" pitchFamily="34" charset="-122"/>
            </a:endParaRPr>
          </a:p>
        </p:txBody>
      </p:sp>
      <p:sp>
        <p:nvSpPr>
          <p:cNvPr id="99" name="AutoShape 4"/>
          <p:cNvSpPr>
            <a:spLocks noChangeArrowheads="1"/>
          </p:cNvSpPr>
          <p:nvPr/>
        </p:nvSpPr>
        <p:spPr bwMode="auto">
          <a:xfrm rot="16200000">
            <a:off x="3289619" y="3263801"/>
            <a:ext cx="361951" cy="4566956"/>
          </a:xfrm>
          <a:prstGeom prst="can">
            <a:avLst>
              <a:gd name="adj" fmla="val 48656"/>
            </a:avLst>
          </a:prstGeom>
          <a:gradFill rotWithShape="0">
            <a:gsLst>
              <a:gs pos="0">
                <a:srgbClr val="00CC00"/>
              </a:gs>
              <a:gs pos="50000">
                <a:schemeClr val="bg1"/>
              </a:gs>
              <a:gs pos="100000">
                <a:srgbClr val="00CC00"/>
              </a:gs>
            </a:gsLst>
            <a:lin ang="5400000" scaled="1"/>
          </a:gradFill>
          <a:ln w="19050">
            <a:solidFill>
              <a:schemeClr val="tx1"/>
            </a:solidFill>
            <a:round/>
            <a:headEnd type="none" w="sm" len="lg"/>
            <a:tailEnd type="none" w="sm" len="lg"/>
          </a:ln>
          <a:effectLst/>
        </p:spPr>
        <p:txBody>
          <a:bodyPr wrap="none" lIns="121917" tIns="60958" rIns="121917" bIns="60958" anchor="ctr"/>
          <a:lstStyle/>
          <a:p>
            <a:pPr fontAlgn="auto">
              <a:spcBef>
                <a:spcPts val="0"/>
              </a:spcBef>
              <a:spcAft>
                <a:spcPts val="0"/>
              </a:spcAft>
              <a:defRPr/>
            </a:pPr>
            <a:endParaRPr lang="zh-CN" altLang="en-US" sz="4300" b="1">
              <a:latin typeface="+mn-lt"/>
              <a:ea typeface="+mn-ea"/>
            </a:endParaRPr>
          </a:p>
        </p:txBody>
      </p:sp>
      <p:sp>
        <p:nvSpPr>
          <p:cNvPr id="100" name="AutoShape 25"/>
          <p:cNvSpPr>
            <a:spLocks noChangeArrowheads="1"/>
          </p:cNvSpPr>
          <p:nvPr/>
        </p:nvSpPr>
        <p:spPr bwMode="auto">
          <a:xfrm flipV="1">
            <a:off x="1688089" y="5273761"/>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sp>
        <p:nvSpPr>
          <p:cNvPr id="109"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11" name="AutoShape 42"/>
          <p:cNvSpPr>
            <a:spLocks noChangeArrowheads="1"/>
          </p:cNvSpPr>
          <p:nvPr/>
        </p:nvSpPr>
        <p:spPr bwMode="auto">
          <a:xfrm rot="5400000" flipH="1">
            <a:off x="5206853" y="5242863"/>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grpSp>
        <p:nvGrpSpPr>
          <p:cNvPr id="125" name="Group 34"/>
          <p:cNvGrpSpPr/>
          <p:nvPr/>
        </p:nvGrpSpPr>
        <p:grpSpPr bwMode="auto">
          <a:xfrm>
            <a:off x="2390303" y="5493181"/>
            <a:ext cx="1121941" cy="135620"/>
            <a:chOff x="1344" y="912"/>
            <a:chExt cx="672" cy="96"/>
          </a:xfrm>
          <a:solidFill>
            <a:srgbClr val="FF0000"/>
          </a:solidFill>
        </p:grpSpPr>
        <p:sp>
          <p:nvSpPr>
            <p:cNvPr id="126"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27"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28" name="Text Box 26"/>
          <p:cNvSpPr txBox="1">
            <a:spLocks noChangeArrowheads="1"/>
          </p:cNvSpPr>
          <p:nvPr/>
        </p:nvSpPr>
        <p:spPr bwMode="auto">
          <a:xfrm>
            <a:off x="3601798"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87" name="上箭头 86"/>
          <p:cNvSpPr/>
          <p:nvPr/>
        </p:nvSpPr>
        <p:spPr>
          <a:xfrm>
            <a:off x="5371068" y="4703199"/>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2" name="上箭头 81"/>
          <p:cNvSpPr/>
          <p:nvPr/>
        </p:nvSpPr>
        <p:spPr>
          <a:xfrm>
            <a:off x="5371068" y="4205366"/>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92" name="下箭头 91"/>
          <p:cNvSpPr/>
          <p:nvPr/>
        </p:nvSpPr>
        <p:spPr>
          <a:xfrm>
            <a:off x="6243311" y="4239688"/>
            <a:ext cx="240616" cy="332312"/>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4" name="下箭头 123"/>
          <p:cNvSpPr/>
          <p:nvPr/>
        </p:nvSpPr>
        <p:spPr>
          <a:xfrm>
            <a:off x="6243311" y="4724903"/>
            <a:ext cx="240616" cy="332312"/>
          </a:xfrm>
          <a:prstGeom prst="down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9" name="Text Box 26"/>
          <p:cNvSpPr txBox="1">
            <a:spLocks noChangeArrowheads="1"/>
          </p:cNvSpPr>
          <p:nvPr/>
        </p:nvSpPr>
        <p:spPr bwMode="auto">
          <a:xfrm>
            <a:off x="8258307" y="5364306"/>
            <a:ext cx="1400377"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sz="1500" b="1" dirty="0">
                <a:solidFill>
                  <a:srgbClr val="0000FF"/>
                </a:solidFill>
                <a:latin typeface="微软雅黑" panose="020B0503020204020204" pitchFamily="34" charset="-122"/>
                <a:ea typeface="微软雅黑" panose="020B0503020204020204" pitchFamily="34" charset="-122"/>
              </a:rPr>
              <a:t>物理传输媒体</a:t>
            </a:r>
          </a:p>
        </p:txBody>
      </p:sp>
      <p:sp>
        <p:nvSpPr>
          <p:cNvPr id="142" name="AutoShape 25"/>
          <p:cNvSpPr>
            <a:spLocks noChangeArrowheads="1"/>
          </p:cNvSpPr>
          <p:nvPr/>
        </p:nvSpPr>
        <p:spPr bwMode="auto">
          <a:xfrm flipV="1">
            <a:off x="6327305" y="5273762"/>
            <a:ext cx="351044" cy="374911"/>
          </a:xfrm>
          <a:custGeom>
            <a:avLst/>
            <a:gdLst>
              <a:gd name="T0" fmla="*/ 218339 w 21600"/>
              <a:gd name="T1" fmla="*/ 0 h 21600"/>
              <a:gd name="T2" fmla="*/ 218339 w 21600"/>
              <a:gd name="T3" fmla="*/ 171757 h 21600"/>
              <a:gd name="T4" fmla="*/ 46725 w 21600"/>
              <a:gd name="T5" fmla="*/ 305144 h 21600"/>
              <a:gd name="T6" fmla="*/ 311789 w 21600"/>
              <a:gd name="T7" fmla="*/ 85878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sp>
        <p:nvSpPr>
          <p:cNvPr id="143" name="AutoShape 42"/>
          <p:cNvSpPr>
            <a:spLocks noChangeArrowheads="1"/>
          </p:cNvSpPr>
          <p:nvPr/>
        </p:nvSpPr>
        <p:spPr bwMode="auto">
          <a:xfrm rot="5400000" flipH="1">
            <a:off x="9846069" y="5242864"/>
            <a:ext cx="339559" cy="384571"/>
          </a:xfrm>
          <a:custGeom>
            <a:avLst/>
            <a:gdLst>
              <a:gd name="T0" fmla="*/ 220161 w 21600"/>
              <a:gd name="T1" fmla="*/ 0 h 21600"/>
              <a:gd name="T2" fmla="*/ 220161 w 21600"/>
              <a:gd name="T3" fmla="*/ 175497 h 21600"/>
              <a:gd name="T4" fmla="*/ 47115 w 21600"/>
              <a:gd name="T5" fmla="*/ 311790 h 21600"/>
              <a:gd name="T6" fmla="*/ 314391 w 21600"/>
              <a:gd name="T7" fmla="*/ 87749 h 21600"/>
              <a:gd name="T8" fmla="*/ 17694720 60000 65536"/>
              <a:gd name="T9" fmla="*/ 5898240 60000 65536"/>
              <a:gd name="T10" fmla="*/ 5898240 60000 65536"/>
              <a:gd name="T11" fmla="*/ 0 60000 65536"/>
              <a:gd name="T12" fmla="*/ 12427 w 21600"/>
              <a:gd name="T13" fmla="*/ 2912 h 21600"/>
              <a:gd name="T14" fmla="*/ 18227 w 21600"/>
              <a:gd name="T15" fmla="*/ 924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rgbClr val="CC00CC"/>
          </a:solidFill>
          <a:ln w="12700">
            <a:noFill/>
            <a:miter lim="800000"/>
          </a:ln>
        </p:spPr>
        <p:txBody>
          <a:bodyPr wrap="none" lIns="121917" tIns="60958" rIns="121917" bIns="60958" anchor="ctr"/>
          <a:lstStyle/>
          <a:p>
            <a:endParaRPr lang="zh-CN" altLang="en-US"/>
          </a:p>
        </p:txBody>
      </p:sp>
      <p:grpSp>
        <p:nvGrpSpPr>
          <p:cNvPr id="144" name="Group 34"/>
          <p:cNvGrpSpPr/>
          <p:nvPr/>
        </p:nvGrpSpPr>
        <p:grpSpPr bwMode="auto">
          <a:xfrm>
            <a:off x="7029519" y="5493182"/>
            <a:ext cx="1121941" cy="135620"/>
            <a:chOff x="1344" y="912"/>
            <a:chExt cx="672" cy="96"/>
          </a:xfrm>
          <a:solidFill>
            <a:srgbClr val="FF0000"/>
          </a:solidFill>
        </p:grpSpPr>
        <p:sp>
          <p:nvSpPr>
            <p:cNvPr id="145" name="Line 35"/>
            <p:cNvSpPr>
              <a:spLocks noChangeShapeType="1"/>
            </p:cNvSpPr>
            <p:nvPr/>
          </p:nvSpPr>
          <p:spPr bwMode="auto">
            <a:xfrm>
              <a:off x="1344" y="960"/>
              <a:ext cx="672" cy="0"/>
            </a:xfrm>
            <a:prstGeom prst="line">
              <a:avLst/>
            </a:prstGeom>
            <a:grpFill/>
            <a:ln w="12700">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sp>
          <p:nvSpPr>
            <p:cNvPr id="146" name="Freeform 36"/>
            <p:cNvSpPr/>
            <p:nvPr/>
          </p:nvSpPr>
          <p:spPr bwMode="auto">
            <a:xfrm>
              <a:off x="1392" y="912"/>
              <a:ext cx="576" cy="96"/>
            </a:xfrm>
            <a:custGeom>
              <a:avLst/>
              <a:gdLst>
                <a:gd name="T0" fmla="*/ 0 w 576"/>
                <a:gd name="T1" fmla="*/ 96 h 192"/>
                <a:gd name="T2" fmla="*/ 0 w 576"/>
                <a:gd name="T3" fmla="*/ 0 h 192"/>
                <a:gd name="T4" fmla="*/ 192 w 576"/>
                <a:gd name="T5" fmla="*/ 0 h 192"/>
                <a:gd name="T6" fmla="*/ 192 w 576"/>
                <a:gd name="T7" fmla="*/ 192 h 192"/>
                <a:gd name="T8" fmla="*/ 288 w 576"/>
                <a:gd name="T9" fmla="*/ 192 h 192"/>
                <a:gd name="T10" fmla="*/ 288 w 576"/>
                <a:gd name="T11" fmla="*/ 0 h 192"/>
                <a:gd name="T12" fmla="*/ 336 w 576"/>
                <a:gd name="T13" fmla="*/ 0 h 192"/>
                <a:gd name="T14" fmla="*/ 336 w 576"/>
                <a:gd name="T15" fmla="*/ 192 h 192"/>
                <a:gd name="T16" fmla="*/ 480 w 576"/>
                <a:gd name="T17" fmla="*/ 192 h 192"/>
                <a:gd name="T18" fmla="*/ 480 w 576"/>
                <a:gd name="T19" fmla="*/ 0 h 192"/>
                <a:gd name="T20" fmla="*/ 576 w 576"/>
                <a:gd name="T21" fmla="*/ 0 h 192"/>
                <a:gd name="T22" fmla="*/ 576 w 576"/>
                <a:gd name="T23" fmla="*/ 96 h 192"/>
                <a:gd name="T24" fmla="*/ 0 w 576"/>
                <a:gd name="T25" fmla="*/ 9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grpFill/>
            <a:ln w="12700" cap="flat" cmpd="sng">
              <a:solidFill>
                <a:schemeClr val="tx1"/>
              </a:solidFill>
              <a:prstDash val="solid"/>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a:latin typeface="+mn-lt"/>
                <a:ea typeface="+mn-ea"/>
              </a:endParaRPr>
            </a:p>
          </p:txBody>
        </p:sp>
      </p:grpSp>
      <p:sp>
        <p:nvSpPr>
          <p:cNvPr id="104" name="上箭头 103"/>
          <p:cNvSpPr/>
          <p:nvPr/>
        </p:nvSpPr>
        <p:spPr>
          <a:xfrm>
            <a:off x="10162613" y="4647781"/>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86" name="上箭头 85"/>
          <p:cNvSpPr/>
          <p:nvPr/>
        </p:nvSpPr>
        <p:spPr>
          <a:xfrm>
            <a:off x="10162613" y="4161721"/>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2" name="上箭头 121"/>
          <p:cNvSpPr/>
          <p:nvPr/>
        </p:nvSpPr>
        <p:spPr>
          <a:xfrm>
            <a:off x="10172929" y="3617426"/>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23" name="上箭头 122"/>
          <p:cNvSpPr/>
          <p:nvPr/>
        </p:nvSpPr>
        <p:spPr>
          <a:xfrm>
            <a:off x="10172929" y="3131259"/>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30" name="上箭头 129"/>
          <p:cNvSpPr/>
          <p:nvPr/>
        </p:nvSpPr>
        <p:spPr>
          <a:xfrm>
            <a:off x="10172929" y="2700341"/>
            <a:ext cx="238163" cy="326839"/>
          </a:xfrm>
          <a:prstGeom prst="up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cxnSp>
        <p:nvCxnSpPr>
          <p:cNvPr id="161" name="直接箭头连接符 160"/>
          <p:cNvCxnSpPr/>
          <p:nvPr/>
        </p:nvCxnSpPr>
        <p:spPr>
          <a:xfrm>
            <a:off x="2228939" y="2631067"/>
            <a:ext cx="7682072" cy="0"/>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2" name="直接箭头连接符 161"/>
          <p:cNvCxnSpPr/>
          <p:nvPr/>
        </p:nvCxnSpPr>
        <p:spPr>
          <a:xfrm>
            <a:off x="2339009" y="3095771"/>
            <a:ext cx="7473099" cy="1890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3" name="直接箭头连接符 162"/>
          <p:cNvCxnSpPr/>
          <p:nvPr/>
        </p:nvCxnSpPr>
        <p:spPr>
          <a:xfrm>
            <a:off x="2339009" y="3567592"/>
            <a:ext cx="7473099" cy="1890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339010" y="4094996"/>
            <a:ext cx="2931497" cy="963717"/>
            <a:chOff x="1754257" y="3071247"/>
            <a:chExt cx="2198623" cy="722788"/>
          </a:xfrm>
        </p:grpSpPr>
        <p:cxnSp>
          <p:nvCxnSpPr>
            <p:cNvPr id="164" name="直接箭头连接符 163"/>
            <p:cNvCxnSpPr/>
            <p:nvPr/>
          </p:nvCxnSpPr>
          <p:spPr>
            <a:xfrm>
              <a:off x="1754257"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5" name="直接箭头连接符 164"/>
            <p:cNvCxnSpPr/>
            <p:nvPr/>
          </p:nvCxnSpPr>
          <p:spPr>
            <a:xfrm>
              <a:off x="1754257"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直接箭头连接符 165"/>
            <p:cNvCxnSpPr/>
            <p:nvPr/>
          </p:nvCxnSpPr>
          <p:spPr>
            <a:xfrm>
              <a:off x="1754257"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2" name="组合 41"/>
          <p:cNvGrpSpPr/>
          <p:nvPr/>
        </p:nvGrpSpPr>
        <p:grpSpPr>
          <a:xfrm>
            <a:off x="6756155" y="4094996"/>
            <a:ext cx="3055373" cy="963717"/>
            <a:chOff x="5067116" y="3071247"/>
            <a:chExt cx="2198623" cy="722788"/>
          </a:xfrm>
        </p:grpSpPr>
        <p:cxnSp>
          <p:nvCxnSpPr>
            <p:cNvPr id="167" name="直接箭头连接符 166"/>
            <p:cNvCxnSpPr/>
            <p:nvPr/>
          </p:nvCxnSpPr>
          <p:spPr>
            <a:xfrm>
              <a:off x="5067116" y="3071247"/>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p:nvPr/>
          </p:nvCxnSpPr>
          <p:spPr>
            <a:xfrm>
              <a:off x="5067116" y="3445270"/>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9" name="直接箭头连接符 168"/>
            <p:cNvCxnSpPr/>
            <p:nvPr/>
          </p:nvCxnSpPr>
          <p:spPr>
            <a:xfrm>
              <a:off x="5067116" y="3788474"/>
              <a:ext cx="2198623" cy="5561"/>
            </a:xfrm>
            <a:prstGeom prst="straightConnector1">
              <a:avLst/>
            </a:prstGeom>
            <a:ln w="28575">
              <a:solidFill>
                <a:srgbClr val="000000"/>
              </a:solidFill>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2758420" y="2494406"/>
            <a:ext cx="2130968" cy="2727025"/>
            <a:chOff x="2068815" y="1870804"/>
            <a:chExt cx="1598226" cy="2045269"/>
          </a:xfrm>
        </p:grpSpPr>
        <p:sp>
          <p:nvSpPr>
            <p:cNvPr id="131" name="Rectangle 37"/>
            <p:cNvSpPr>
              <a:spLocks noChangeArrowheads="1"/>
            </p:cNvSpPr>
            <p:nvPr/>
          </p:nvSpPr>
          <p:spPr bwMode="auto">
            <a:xfrm>
              <a:off x="2973858" y="1870804"/>
              <a:ext cx="486033" cy="238082"/>
            </a:xfrm>
            <a:prstGeom prst="rect">
              <a:avLst/>
            </a:prstGeom>
            <a:solidFill>
              <a:schemeClr val="bg1"/>
            </a:solidFill>
            <a:ln w="9525">
              <a:solidFill>
                <a:schemeClr val="tx1"/>
              </a:solidFill>
              <a:miter lim="800000"/>
            </a:ln>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sp>
          <p:nvSpPr>
            <p:cNvPr id="132" name="Rectangle 34"/>
            <p:cNvSpPr>
              <a:spLocks noChangeArrowheads="1"/>
            </p:cNvSpPr>
            <p:nvPr/>
          </p:nvSpPr>
          <p:spPr bwMode="auto">
            <a:xfrm>
              <a:off x="2734072"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133" name="Rectangle 37"/>
            <p:cNvSpPr>
              <a:spLocks noChangeArrowheads="1"/>
            </p:cNvSpPr>
            <p:nvPr/>
          </p:nvSpPr>
          <p:spPr bwMode="auto">
            <a:xfrm>
              <a:off x="2973858"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nvGrpSpPr>
            <p:cNvPr id="134" name="Group 38"/>
            <p:cNvGrpSpPr/>
            <p:nvPr/>
          </p:nvGrpSpPr>
          <p:grpSpPr bwMode="auto">
            <a:xfrm>
              <a:off x="2736195" y="2554801"/>
              <a:ext cx="723947" cy="245571"/>
              <a:chOff x="2346" y="2297"/>
              <a:chExt cx="615" cy="226"/>
            </a:xfrm>
            <a:solidFill>
              <a:srgbClr val="00B0F0"/>
            </a:solidFill>
          </p:grpSpPr>
          <p:sp>
            <p:nvSpPr>
              <p:cNvPr id="135"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36"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37" name="Rectangle 66"/>
            <p:cNvSpPr>
              <a:spLocks noChangeArrowheads="1"/>
            </p:cNvSpPr>
            <p:nvPr/>
          </p:nvSpPr>
          <p:spPr bwMode="auto">
            <a:xfrm>
              <a:off x="2511329"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grpSp>
          <p:nvGrpSpPr>
            <p:cNvPr id="138" name="Group 41"/>
            <p:cNvGrpSpPr/>
            <p:nvPr/>
          </p:nvGrpSpPr>
          <p:grpSpPr bwMode="auto">
            <a:xfrm>
              <a:off x="2511051" y="2932328"/>
              <a:ext cx="946569" cy="246063"/>
              <a:chOff x="2169" y="2660"/>
              <a:chExt cx="804" cy="226"/>
            </a:xfrm>
          </p:grpSpPr>
          <p:sp>
            <p:nvSpPr>
              <p:cNvPr id="141"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147"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48"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49"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grpSp>
          <p:nvGrpSpPr>
            <p:cNvPr id="150" name="Group 45"/>
            <p:cNvGrpSpPr/>
            <p:nvPr/>
          </p:nvGrpSpPr>
          <p:grpSpPr bwMode="auto">
            <a:xfrm>
              <a:off x="2292670" y="3304109"/>
              <a:ext cx="1164318" cy="244475"/>
              <a:chOff x="1984" y="3023"/>
              <a:chExt cx="989" cy="226"/>
            </a:xfrm>
          </p:grpSpPr>
          <p:sp>
            <p:nvSpPr>
              <p:cNvPr id="151"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152"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53"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54"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55" name="Rectangle 74"/>
            <p:cNvSpPr>
              <a:spLocks noChangeArrowheads="1"/>
            </p:cNvSpPr>
            <p:nvPr/>
          </p:nvSpPr>
          <p:spPr bwMode="auto">
            <a:xfrm>
              <a:off x="2068815" y="3302812"/>
              <a:ext cx="220159" cy="245760"/>
            </a:xfrm>
            <a:prstGeom prst="rect">
              <a:avLst/>
            </a:prstGeom>
            <a:solidFill>
              <a:srgbClr val="66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56" name="Rectangle 78"/>
            <p:cNvSpPr>
              <a:spLocks noChangeArrowheads="1"/>
            </p:cNvSpPr>
            <p:nvPr/>
          </p:nvSpPr>
          <p:spPr bwMode="auto">
            <a:xfrm>
              <a:off x="3456550" y="3303284"/>
              <a:ext cx="210491" cy="245309"/>
            </a:xfrm>
            <a:prstGeom prst="rect">
              <a:avLst/>
            </a:prstGeom>
            <a:solidFill>
              <a:srgbClr val="CCFF33"/>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sp>
          <p:nvSpPr>
            <p:cNvPr id="157" name="矩形 156"/>
            <p:cNvSpPr/>
            <p:nvPr/>
          </p:nvSpPr>
          <p:spPr>
            <a:xfrm>
              <a:off x="2298501"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2748034"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Rectangle 35"/>
            <p:cNvSpPr>
              <a:spLocks noChangeArrowheads="1"/>
            </p:cNvSpPr>
            <p:nvPr/>
          </p:nvSpPr>
          <p:spPr bwMode="auto">
            <a:xfrm>
              <a:off x="2068816" y="3671598"/>
              <a:ext cx="1598222" cy="244475"/>
            </a:xfrm>
            <a:prstGeom prst="rect">
              <a:avLst/>
            </a:prstGeom>
            <a:solidFill>
              <a:schemeClr val="bg1"/>
            </a:solidFill>
            <a:ln w="9525">
              <a:solidFill>
                <a:schemeClr val="tx1"/>
              </a:solidFill>
              <a:miter lim="800000"/>
            </a:ln>
          </p:spPr>
          <p:txBody>
            <a:bodyPr wrap="none"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10100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110100</a:t>
              </a:r>
            </a:p>
          </p:txBody>
        </p:sp>
      </p:grpSp>
      <p:grpSp>
        <p:nvGrpSpPr>
          <p:cNvPr id="29" name="组合 28"/>
          <p:cNvGrpSpPr/>
          <p:nvPr/>
        </p:nvGrpSpPr>
        <p:grpSpPr>
          <a:xfrm>
            <a:off x="7332994" y="4403750"/>
            <a:ext cx="2116839" cy="336181"/>
            <a:chOff x="5499745" y="3302812"/>
            <a:chExt cx="1587629" cy="252136"/>
          </a:xfrm>
        </p:grpSpPr>
        <p:sp>
          <p:nvSpPr>
            <p:cNvPr id="83" name="Rectangle 74"/>
            <p:cNvSpPr>
              <a:spLocks noChangeArrowheads="1"/>
            </p:cNvSpPr>
            <p:nvPr/>
          </p:nvSpPr>
          <p:spPr bwMode="auto">
            <a:xfrm>
              <a:off x="5499745" y="3302812"/>
              <a:ext cx="220159" cy="245760"/>
            </a:xfrm>
            <a:prstGeom prst="rect">
              <a:avLst/>
            </a:prstGeom>
            <a:solidFill>
              <a:srgbClr val="000066"/>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H</a:t>
              </a:r>
              <a:r>
                <a:rPr lang="en-US" altLang="zh-CN" sz="1600" b="1" baseline="-25000" dirty="0">
                  <a:solidFill>
                    <a:schemeClr val="bg1"/>
                  </a:solidFill>
                  <a:latin typeface="微软雅黑" panose="020B0503020204020204" pitchFamily="34" charset="-122"/>
                  <a:ea typeface="微软雅黑" panose="020B0503020204020204" pitchFamily="34" charset="-122"/>
                </a:rPr>
                <a:t>2</a:t>
              </a:r>
            </a:p>
          </p:txBody>
        </p:sp>
        <p:sp>
          <p:nvSpPr>
            <p:cNvPr id="89" name="Rectangle 78"/>
            <p:cNvSpPr>
              <a:spLocks noChangeArrowheads="1"/>
            </p:cNvSpPr>
            <p:nvPr/>
          </p:nvSpPr>
          <p:spPr bwMode="auto">
            <a:xfrm>
              <a:off x="6876883" y="3303284"/>
              <a:ext cx="210491" cy="245309"/>
            </a:xfrm>
            <a:prstGeom prst="rect">
              <a:avLst/>
            </a:prstGeom>
            <a:solidFill>
              <a:srgbClr val="D62A2E"/>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T</a:t>
              </a:r>
              <a:r>
                <a:rPr lang="en-US" altLang="zh-CN" sz="1600" b="1" baseline="-25000" dirty="0">
                  <a:solidFill>
                    <a:srgbClr val="1C1C1C"/>
                  </a:solidFill>
                  <a:latin typeface="微软雅黑" panose="020B0503020204020204" pitchFamily="34" charset="-122"/>
                  <a:ea typeface="微软雅黑" panose="020B0503020204020204" pitchFamily="34" charset="-122"/>
                </a:rPr>
                <a:t>2</a:t>
              </a:r>
            </a:p>
          </p:txBody>
        </p:sp>
        <p:grpSp>
          <p:nvGrpSpPr>
            <p:cNvPr id="93" name="组合 92"/>
            <p:cNvGrpSpPr/>
            <p:nvPr/>
          </p:nvGrpSpPr>
          <p:grpSpPr>
            <a:xfrm>
              <a:off x="5713004" y="3304109"/>
              <a:ext cx="1164318" cy="250839"/>
              <a:chOff x="5713004" y="3304109"/>
              <a:chExt cx="1164318" cy="250839"/>
            </a:xfrm>
          </p:grpSpPr>
          <p:grpSp>
            <p:nvGrpSpPr>
              <p:cNvPr id="94" name="Group 45"/>
              <p:cNvGrpSpPr/>
              <p:nvPr/>
            </p:nvGrpSpPr>
            <p:grpSpPr bwMode="auto">
              <a:xfrm>
                <a:off x="5713004" y="3304109"/>
                <a:ext cx="1164318" cy="244475"/>
                <a:chOff x="1984" y="3023"/>
                <a:chExt cx="989" cy="226"/>
              </a:xfrm>
            </p:grpSpPr>
            <p:sp>
              <p:nvSpPr>
                <p:cNvPr id="97" name="Rectangle 46"/>
                <p:cNvSpPr>
                  <a:spLocks noChangeArrowheads="1"/>
                </p:cNvSpPr>
                <p:nvPr/>
              </p:nvSpPr>
              <p:spPr bwMode="auto">
                <a:xfrm>
                  <a:off x="1984" y="3023"/>
                  <a:ext cx="185" cy="226"/>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3</a:t>
                  </a:r>
                </a:p>
              </p:txBody>
            </p:sp>
            <p:sp>
              <p:nvSpPr>
                <p:cNvPr id="98" name="Rectangle 47"/>
                <p:cNvSpPr>
                  <a:spLocks noChangeArrowheads="1"/>
                </p:cNvSpPr>
                <p:nvPr/>
              </p:nvSpPr>
              <p:spPr bwMode="auto">
                <a:xfrm>
                  <a:off x="2169" y="3023"/>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a:latin typeface="微软雅黑" panose="020B0503020204020204" pitchFamily="34" charset="-122"/>
                      <a:ea typeface="微软雅黑" panose="020B0503020204020204" pitchFamily="34" charset="-122"/>
                    </a:rPr>
                    <a:t>H</a:t>
                  </a:r>
                  <a:r>
                    <a:rPr lang="en-US" altLang="zh-CN" sz="1600" b="1" baseline="-25000">
                      <a:latin typeface="微软雅黑" panose="020B0503020204020204" pitchFamily="34" charset="-122"/>
                      <a:ea typeface="微软雅黑" panose="020B0503020204020204" pitchFamily="34" charset="-122"/>
                    </a:rPr>
                    <a:t>4</a:t>
                  </a:r>
                </a:p>
              </p:txBody>
            </p:sp>
            <p:sp>
              <p:nvSpPr>
                <p:cNvPr id="101" name="Rectangle 48"/>
                <p:cNvSpPr>
                  <a:spLocks noChangeArrowheads="1"/>
                </p:cNvSpPr>
                <p:nvPr/>
              </p:nvSpPr>
              <p:spPr bwMode="auto">
                <a:xfrm>
                  <a:off x="2357" y="3023"/>
                  <a:ext cx="206"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02" name="Rectangle 49"/>
                <p:cNvSpPr>
                  <a:spLocks noChangeArrowheads="1"/>
                </p:cNvSpPr>
                <p:nvPr/>
              </p:nvSpPr>
              <p:spPr bwMode="auto">
                <a:xfrm>
                  <a:off x="2563" y="3023"/>
                  <a:ext cx="410"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96" name="矩形 95"/>
              <p:cNvSpPr/>
              <p:nvPr/>
            </p:nvSpPr>
            <p:spPr>
              <a:xfrm>
                <a:off x="5717220" y="3316625"/>
                <a:ext cx="1151000" cy="23832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3" name="Rectangle 35"/>
          <p:cNvSpPr>
            <a:spLocks noChangeArrowheads="1"/>
          </p:cNvSpPr>
          <p:nvPr/>
        </p:nvSpPr>
        <p:spPr bwMode="auto">
          <a:xfrm>
            <a:off x="7318864" y="4895465"/>
            <a:ext cx="2130963" cy="325967"/>
          </a:xfrm>
          <a:prstGeom prst="rect">
            <a:avLst/>
          </a:prstGeom>
          <a:solidFill>
            <a:schemeClr val="bg1"/>
          </a:solidFill>
          <a:ln w="9525">
            <a:solidFill>
              <a:schemeClr val="tx1"/>
            </a:solidFill>
            <a:miter lim="800000"/>
          </a:ln>
        </p:spPr>
        <p:txBody>
          <a:bodyPr wrap="none" lIns="121917" tIns="60958" rIns="121917" bIns="60958" anchor="ctr"/>
          <a:lstStyle/>
          <a:p>
            <a:pPr algn="ctr"/>
            <a:r>
              <a:rPr lang="en-US" altLang="zh-CN" sz="1600" b="1" dirty="0">
                <a:solidFill>
                  <a:srgbClr val="0000CC"/>
                </a:solidFill>
                <a:latin typeface="微软雅黑" panose="020B0503020204020204" pitchFamily="34" charset="-122"/>
                <a:ea typeface="微软雅黑" panose="020B0503020204020204" pitchFamily="34" charset="-122"/>
              </a:rPr>
              <a:t>10101 </a:t>
            </a:r>
            <a:r>
              <a:rPr lang="zh-CN" altLang="en-US" sz="1600" b="1" dirty="0">
                <a:solidFill>
                  <a:srgbClr val="0000CC"/>
                </a:solidFill>
                <a:latin typeface="微软雅黑" panose="020B0503020204020204" pitchFamily="34" charset="-122"/>
                <a:ea typeface="微软雅黑" panose="020B0503020204020204" pitchFamily="34" charset="-122"/>
              </a:rPr>
              <a:t>比特流 </a:t>
            </a:r>
            <a:r>
              <a:rPr lang="en-US" altLang="zh-CN" sz="1600" b="1" dirty="0">
                <a:solidFill>
                  <a:srgbClr val="0000CC"/>
                </a:solidFill>
                <a:latin typeface="微软雅黑" panose="020B0503020204020204" pitchFamily="34" charset="-122"/>
                <a:ea typeface="微软雅黑" panose="020B0503020204020204" pitchFamily="34" charset="-122"/>
              </a:rPr>
              <a:t>110111</a:t>
            </a:r>
          </a:p>
        </p:txBody>
      </p:sp>
      <p:grpSp>
        <p:nvGrpSpPr>
          <p:cNvPr id="90" name="组合 89"/>
          <p:cNvGrpSpPr/>
          <p:nvPr/>
        </p:nvGrpSpPr>
        <p:grpSpPr>
          <a:xfrm>
            <a:off x="7624647" y="3909771"/>
            <a:ext cx="1555596" cy="328084"/>
            <a:chOff x="2293194" y="2932328"/>
            <a:chExt cx="1166697" cy="246063"/>
          </a:xfrm>
        </p:grpSpPr>
        <p:grpSp>
          <p:nvGrpSpPr>
            <p:cNvPr id="91" name="Group 41"/>
            <p:cNvGrpSpPr/>
            <p:nvPr/>
          </p:nvGrpSpPr>
          <p:grpSpPr bwMode="auto">
            <a:xfrm>
              <a:off x="2511051" y="2932328"/>
              <a:ext cx="946569" cy="246063"/>
              <a:chOff x="2169" y="2660"/>
              <a:chExt cx="804" cy="226"/>
            </a:xfrm>
          </p:grpSpPr>
          <p:sp>
            <p:nvSpPr>
              <p:cNvPr id="108" name="Rectangle 42"/>
              <p:cNvSpPr>
                <a:spLocks noChangeArrowheads="1"/>
              </p:cNvSpPr>
              <p:nvPr/>
            </p:nvSpPr>
            <p:spPr bwMode="auto">
              <a:xfrm>
                <a:off x="2169" y="2660"/>
                <a:ext cx="188" cy="226"/>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4</a:t>
                </a:r>
              </a:p>
            </p:txBody>
          </p:sp>
          <p:sp>
            <p:nvSpPr>
              <p:cNvPr id="110" name="Rectangle 43"/>
              <p:cNvSpPr>
                <a:spLocks noChangeArrowheads="1"/>
              </p:cNvSpPr>
              <p:nvPr/>
            </p:nvSpPr>
            <p:spPr bwMode="auto">
              <a:xfrm>
                <a:off x="2357" y="2660"/>
                <a:ext cx="205"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2" name="Rectangle 44"/>
              <p:cNvSpPr>
                <a:spLocks noChangeArrowheads="1"/>
              </p:cNvSpPr>
              <p:nvPr/>
            </p:nvSpPr>
            <p:spPr bwMode="auto">
              <a:xfrm>
                <a:off x="2562" y="2660"/>
                <a:ext cx="411"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05" name="Rectangle 70"/>
            <p:cNvSpPr>
              <a:spLocks noChangeArrowheads="1"/>
            </p:cNvSpPr>
            <p:nvPr/>
          </p:nvSpPr>
          <p:spPr bwMode="auto">
            <a:xfrm>
              <a:off x="2293194" y="2932758"/>
              <a:ext cx="221264" cy="245630"/>
            </a:xfrm>
            <a:prstGeom prst="rect">
              <a:avLst/>
            </a:prstGeom>
            <a:solidFill>
              <a:srgbClr val="FFFF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500" b="1" dirty="0">
                  <a:solidFill>
                    <a:srgbClr val="1C1C1C"/>
                  </a:solidFill>
                  <a:latin typeface="微软雅黑" panose="020B0503020204020204" pitchFamily="34" charset="-122"/>
                  <a:ea typeface="微软雅黑" panose="020B0503020204020204" pitchFamily="34" charset="-122"/>
                </a:rPr>
                <a:t>H</a:t>
              </a:r>
              <a:r>
                <a:rPr lang="en-US" altLang="zh-CN" sz="1500" b="1" baseline="-25000" dirty="0">
                  <a:solidFill>
                    <a:srgbClr val="1C1C1C"/>
                  </a:solidFill>
                  <a:latin typeface="微软雅黑" panose="020B0503020204020204" pitchFamily="34" charset="-122"/>
                  <a:ea typeface="微软雅黑" panose="020B0503020204020204" pitchFamily="34" charset="-122"/>
                </a:rPr>
                <a:t>3</a:t>
              </a:r>
            </a:p>
          </p:txBody>
        </p:sp>
        <p:sp>
          <p:nvSpPr>
            <p:cNvPr id="106" name="矩形 105"/>
            <p:cNvSpPr/>
            <p:nvPr/>
          </p:nvSpPr>
          <p:spPr>
            <a:xfrm>
              <a:off x="2523986" y="2940648"/>
              <a:ext cx="935905" cy="23774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7892878" y="3405682"/>
            <a:ext cx="1265084" cy="328147"/>
            <a:chOff x="5919658" y="2554262"/>
            <a:chExt cx="948813" cy="246110"/>
          </a:xfrm>
        </p:grpSpPr>
        <p:grpSp>
          <p:nvGrpSpPr>
            <p:cNvPr id="116" name="Group 38"/>
            <p:cNvGrpSpPr/>
            <p:nvPr/>
          </p:nvGrpSpPr>
          <p:grpSpPr bwMode="auto">
            <a:xfrm>
              <a:off x="6144524" y="2554801"/>
              <a:ext cx="723947" cy="245571"/>
              <a:chOff x="2346" y="2297"/>
              <a:chExt cx="615" cy="226"/>
            </a:xfrm>
            <a:solidFill>
              <a:srgbClr val="00B0F0"/>
            </a:solidFill>
          </p:grpSpPr>
          <p:sp>
            <p:nvSpPr>
              <p:cNvPr id="117" name="Rectangle 39"/>
              <p:cNvSpPr>
                <a:spLocks noChangeArrowheads="1"/>
              </p:cNvSpPr>
              <p:nvPr/>
            </p:nvSpPr>
            <p:spPr bwMode="auto">
              <a:xfrm>
                <a:off x="2346" y="2297"/>
                <a:ext cx="209" cy="226"/>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en-US" altLang="zh-CN" sz="1600" b="1" dirty="0">
                    <a:latin typeface="微软雅黑" panose="020B0503020204020204" pitchFamily="34" charset="-122"/>
                    <a:ea typeface="微软雅黑" panose="020B0503020204020204" pitchFamily="34" charset="-122"/>
                  </a:rPr>
                  <a:t>H</a:t>
                </a:r>
                <a:r>
                  <a:rPr lang="en-US" altLang="zh-CN" sz="1600" b="1" baseline="-25000" dirty="0">
                    <a:latin typeface="微软雅黑" panose="020B0503020204020204" pitchFamily="34" charset="-122"/>
                    <a:ea typeface="微软雅黑" panose="020B0503020204020204" pitchFamily="34" charset="-122"/>
                  </a:rPr>
                  <a:t>5</a:t>
                </a:r>
              </a:p>
            </p:txBody>
          </p:sp>
          <p:sp>
            <p:nvSpPr>
              <p:cNvPr id="118" name="Rectangle 40"/>
              <p:cNvSpPr>
                <a:spLocks noChangeArrowheads="1"/>
              </p:cNvSpPr>
              <p:nvPr/>
            </p:nvSpPr>
            <p:spPr bwMode="auto">
              <a:xfrm>
                <a:off x="2548" y="2297"/>
                <a:ext cx="413" cy="226"/>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auto">
                  <a:spcBef>
                    <a:spcPts val="0"/>
                  </a:spcBef>
                  <a:spcAft>
                    <a:spcPts val="0"/>
                  </a:spcAft>
                  <a:defRPr/>
                </a:pP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0" name="Rectangle 66"/>
            <p:cNvSpPr>
              <a:spLocks noChangeArrowheads="1"/>
            </p:cNvSpPr>
            <p:nvPr/>
          </p:nvSpPr>
          <p:spPr bwMode="auto">
            <a:xfrm>
              <a:off x="5919658" y="2554262"/>
              <a:ext cx="221311" cy="245311"/>
            </a:xfrm>
            <a:prstGeom prst="rect">
              <a:avLst/>
            </a:prstGeom>
            <a:solidFill>
              <a:srgbClr val="FF99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4</a:t>
              </a:r>
            </a:p>
          </p:txBody>
        </p:sp>
        <p:sp>
          <p:nvSpPr>
            <p:cNvPr id="121" name="矩形 120"/>
            <p:cNvSpPr/>
            <p:nvPr/>
          </p:nvSpPr>
          <p:spPr>
            <a:xfrm>
              <a:off x="6156363" y="2564022"/>
              <a:ext cx="711857" cy="223997"/>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3" name="组合 112"/>
          <p:cNvGrpSpPr/>
          <p:nvPr/>
        </p:nvGrpSpPr>
        <p:grpSpPr>
          <a:xfrm>
            <a:off x="8189869" y="2945594"/>
            <a:ext cx="967759" cy="328092"/>
            <a:chOff x="6142401" y="2209195"/>
            <a:chExt cx="725819" cy="246069"/>
          </a:xfrm>
        </p:grpSpPr>
        <p:sp>
          <p:nvSpPr>
            <p:cNvPr id="114" name="Rectangle 34"/>
            <p:cNvSpPr>
              <a:spLocks noChangeArrowheads="1"/>
            </p:cNvSpPr>
            <p:nvPr/>
          </p:nvSpPr>
          <p:spPr bwMode="auto">
            <a:xfrm>
              <a:off x="6142401" y="2209527"/>
              <a:ext cx="248557" cy="245737"/>
            </a:xfrm>
            <a:prstGeom prst="rect">
              <a:avLst/>
            </a:prstGeom>
            <a:solidFill>
              <a:srgbClr val="FF99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600" b="1" dirty="0">
                  <a:solidFill>
                    <a:srgbClr val="1C1C1C"/>
                  </a:solidFill>
                  <a:latin typeface="微软雅黑" panose="020B0503020204020204" pitchFamily="34" charset="-122"/>
                  <a:ea typeface="微软雅黑" panose="020B0503020204020204" pitchFamily="34" charset="-122"/>
                </a:rPr>
                <a:t>H</a:t>
              </a:r>
              <a:r>
                <a:rPr lang="en-US" altLang="zh-CN" sz="1600" b="1" baseline="-25000" dirty="0">
                  <a:solidFill>
                    <a:srgbClr val="1C1C1C"/>
                  </a:solidFill>
                  <a:latin typeface="微软雅黑" panose="020B0503020204020204" pitchFamily="34" charset="-122"/>
                  <a:ea typeface="微软雅黑" panose="020B0503020204020204" pitchFamily="34" charset="-122"/>
                </a:rPr>
                <a:t>5</a:t>
              </a:r>
            </a:p>
          </p:txBody>
        </p:sp>
        <p:sp>
          <p:nvSpPr>
            <p:cNvPr id="115" name="Rectangle 37"/>
            <p:cNvSpPr>
              <a:spLocks noChangeArrowheads="1"/>
            </p:cNvSpPr>
            <p:nvPr/>
          </p:nvSpPr>
          <p:spPr bwMode="auto">
            <a:xfrm>
              <a:off x="6382187" y="2209195"/>
              <a:ext cx="486033" cy="246062"/>
            </a:xfrm>
            <a:prstGeom prst="rect">
              <a:avLst/>
            </a:prstGeom>
            <a:solidFill>
              <a:schemeClr val="bg1"/>
            </a:solidFill>
            <a:ln w="9525">
              <a:solidFill>
                <a:schemeClr val="tx1"/>
              </a:solidFill>
              <a:miter lim="800000"/>
            </a:ln>
          </p:spPr>
          <p:txBody>
            <a:bodyPr wrap="none"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grpSp>
      <p:sp>
        <p:nvSpPr>
          <p:cNvPr id="129" name="Rectangle 37"/>
          <p:cNvSpPr>
            <a:spLocks noChangeArrowheads="1"/>
          </p:cNvSpPr>
          <p:nvPr/>
        </p:nvSpPr>
        <p:spPr bwMode="auto">
          <a:xfrm>
            <a:off x="8509583" y="2494405"/>
            <a:ext cx="648044" cy="317443"/>
          </a:xfrm>
          <a:prstGeom prst="rect">
            <a:avLst/>
          </a:prstGeom>
          <a:solidFill>
            <a:schemeClr val="bg1"/>
          </a:solidFill>
          <a:ln w="9525">
            <a:solidFill>
              <a:schemeClr val="tx1"/>
            </a:solidFill>
            <a:miter lim="800000"/>
          </a:ln>
        </p:spPr>
        <p:txBody>
          <a:bodyPr wrap="none" lIns="121917" tIns="60958" rIns="121917" bIns="60958" anchor="ctr"/>
          <a:lstStyle/>
          <a:p>
            <a:pPr algn="ctr"/>
            <a:r>
              <a:rPr lang="zh-CN" altLang="en-US" sz="1600" b="1" dirty="0">
                <a:solidFill>
                  <a:srgbClr val="0000CC"/>
                </a:solidFill>
                <a:latin typeface="微软雅黑" panose="020B0503020204020204" pitchFamily="34" charset="-122"/>
                <a:ea typeface="微软雅黑" panose="020B0503020204020204" pitchFamily="34" charset="-122"/>
              </a:rPr>
              <a:t>数 据</a:t>
            </a:r>
          </a:p>
        </p:txBody>
      </p:sp>
      <p:sp>
        <p:nvSpPr>
          <p:cNvPr id="170" name="矩形 169"/>
          <p:cNvSpPr/>
          <p:nvPr/>
        </p:nvSpPr>
        <p:spPr>
          <a:xfrm>
            <a:off x="3993824" y="2960107"/>
            <a:ext cx="619365"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171" name="矩形 170"/>
          <p:cNvSpPr/>
          <p:nvPr/>
        </p:nvSpPr>
        <p:spPr>
          <a:xfrm>
            <a:off x="8528294" y="2960107"/>
            <a:ext cx="619365" cy="298663"/>
          </a:xfrm>
          <a:prstGeom prst="rect">
            <a:avLst/>
          </a:prstGeom>
          <a:solidFill>
            <a:srgbClr val="00B050">
              <a:alpha val="7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rtlCol="0" anchor="ctr"/>
          <a:lstStyle/>
          <a:p>
            <a:pPr algn="ctr"/>
            <a:endParaRPr lang="zh-CN" altLang="en-US"/>
          </a:p>
        </p:txBody>
      </p:sp>
      <p:sp>
        <p:nvSpPr>
          <p:cNvPr id="32" name="文本占位符 31"/>
          <p:cNvSpPr>
            <a:spLocks noGrp="1"/>
          </p:cNvSpPr>
          <p:nvPr>
            <p:ph type="body" sz="quarter" idx="11"/>
          </p:nvPr>
        </p:nvSpPr>
        <p:spPr/>
        <p:txBody>
          <a:bodyPr/>
          <a:lstStyle/>
          <a:p>
            <a:r>
              <a:rPr lang="zh-CN" altLang="en-US" dirty="0"/>
              <a:t>数据在各层之间的传递过程</a:t>
            </a:r>
          </a:p>
        </p:txBody>
      </p:sp>
    </p:spTree>
    <p:extLst>
      <p:ext uri="{BB962C8B-B14F-4D97-AF65-F5344CB8AC3E}">
        <p14:creationId xmlns:p14="http://schemas.microsoft.com/office/powerpoint/2010/main" val="414389140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标题 4"/>
          <p:cNvSpPr>
            <a:spLocks noGrp="1" noChangeArrowheads="1"/>
          </p:cNvSpPr>
          <p:nvPr>
            <p:ph type="title"/>
          </p:nvPr>
        </p:nvSpPr>
        <p:spPr/>
        <p:txBody>
          <a:bodyPr/>
          <a:lstStyle/>
          <a:p>
            <a:r>
              <a:rPr lang="en-US" altLang="zh-CN" dirty="0" smtClean="0"/>
              <a:t>1.7.3 </a:t>
            </a:r>
            <a:r>
              <a:rPr lang="zh-CN" altLang="en-US" dirty="0" smtClean="0"/>
              <a:t>具有</a:t>
            </a:r>
            <a:r>
              <a:rPr lang="zh-CN" altLang="en-US" dirty="0"/>
              <a:t>五层协议的体系结构</a:t>
            </a:r>
          </a:p>
        </p:txBody>
      </p:sp>
      <p:sp>
        <p:nvSpPr>
          <p:cNvPr id="3" name="内容占位符 2"/>
          <p:cNvSpPr>
            <a:spLocks noGrp="1"/>
          </p:cNvSpPr>
          <p:nvPr>
            <p:ph idx="1"/>
          </p:nvPr>
        </p:nvSpPr>
        <p:spPr/>
        <p:txBody>
          <a:bodyPr/>
          <a:lstStyle/>
          <a:p>
            <a:r>
              <a:rPr lang="zh-CN" altLang="en-US" b="1" dirty="0"/>
              <a:t>对等层与</a:t>
            </a:r>
            <a:r>
              <a:rPr lang="zh-CN" altLang="en-US" b="1" dirty="0" smtClean="0"/>
              <a:t>协议数据单元</a:t>
            </a:r>
            <a:endParaRPr lang="en-US" altLang="zh-CN" b="1" dirty="0" smtClean="0"/>
          </a:p>
          <a:p>
            <a:pPr lvl="1"/>
            <a:r>
              <a:rPr lang="en-US" altLang="zh-CN" b="1" dirty="0"/>
              <a:t>OSI </a:t>
            </a:r>
            <a:r>
              <a:rPr lang="zh-CN" altLang="en-US" b="1" dirty="0"/>
              <a:t>参考模型把对等层次之间传送的数据单位称为该层的</a:t>
            </a:r>
            <a:r>
              <a:rPr lang="zh-CN" altLang="en-US" b="1" dirty="0">
                <a:solidFill>
                  <a:srgbClr val="C00000"/>
                </a:solidFill>
              </a:rPr>
              <a:t>协议数据单元 </a:t>
            </a:r>
            <a:r>
              <a:rPr lang="en-US" altLang="zh-CN" b="1" dirty="0">
                <a:solidFill>
                  <a:srgbClr val="C00000"/>
                </a:solidFill>
              </a:rPr>
              <a:t>PDU</a:t>
            </a:r>
            <a:r>
              <a:rPr lang="en-US" altLang="zh-CN" b="1" dirty="0"/>
              <a:t> (Protocol Data Unit)</a:t>
            </a:r>
            <a:r>
              <a:rPr lang="zh-CN" altLang="en-US" b="1" dirty="0"/>
              <a:t>。</a:t>
            </a:r>
            <a:endParaRPr lang="en-US" altLang="zh-CN" b="1" dirty="0"/>
          </a:p>
          <a:p>
            <a:pPr lvl="1"/>
            <a:r>
              <a:rPr lang="zh-CN" altLang="en-US" b="1" dirty="0"/>
              <a:t>任何两个同样的</a:t>
            </a:r>
            <a:r>
              <a:rPr lang="zh-CN" altLang="en-US" b="1" dirty="0" smtClean="0"/>
              <a:t>层次之间</a:t>
            </a:r>
            <a:r>
              <a:rPr lang="zh-CN" altLang="en-US" b="1" dirty="0"/>
              <a:t>，好像通过水平虚线把 </a:t>
            </a:r>
            <a:r>
              <a:rPr lang="en-US" altLang="zh-CN" b="1" dirty="0"/>
              <a:t>PDU </a:t>
            </a:r>
            <a:r>
              <a:rPr lang="zh-CN" altLang="en-US" b="1" dirty="0" smtClean="0"/>
              <a:t>直接</a:t>
            </a:r>
            <a:r>
              <a:rPr lang="zh-CN" altLang="en-US" b="1" dirty="0"/>
              <a:t>传递给</a:t>
            </a:r>
            <a:r>
              <a:rPr lang="zh-CN" altLang="en-US" b="1" dirty="0" smtClean="0"/>
              <a:t>对方，这</a:t>
            </a:r>
            <a:r>
              <a:rPr lang="zh-CN" altLang="en-US" b="1" dirty="0"/>
              <a:t>就是所谓的</a:t>
            </a:r>
            <a:r>
              <a:rPr lang="zh-CN" altLang="en-US" b="1" dirty="0">
                <a:solidFill>
                  <a:srgbClr val="C00000"/>
                </a:solidFill>
              </a:rPr>
              <a:t>“对等层”</a:t>
            </a:r>
            <a:r>
              <a:rPr lang="zh-CN" altLang="en-US" b="1" dirty="0"/>
              <a:t>之间的通信</a:t>
            </a:r>
            <a:r>
              <a:rPr lang="zh-CN" altLang="en-US" b="1" dirty="0" smtClean="0"/>
              <a:t>。我们提到的各层协议，实际上就是在各个对等层之间传递数据时的各项规定。</a:t>
            </a:r>
            <a:endParaRPr lang="zh-CN" altLang="en-US" b="1" dirty="0"/>
          </a:p>
          <a:p>
            <a:endParaRPr lang="zh-CN" altLang="en-US" b="1" dirty="0"/>
          </a:p>
          <a:p>
            <a:endParaRPr lang="zh-CN" altLang="en-US" b="1" dirty="0" smtClean="0"/>
          </a:p>
          <a:p>
            <a:endParaRPr lang="en-US" altLang="zh-CN" b="1" dirty="0" smtClean="0"/>
          </a:p>
          <a:p>
            <a:endParaRPr lang="zh-CN" altLang="en-US" b="1" dirty="0" smtClean="0"/>
          </a:p>
          <a:p>
            <a:endParaRPr lang="zh-CN" altLang="en-US" b="1" dirty="0" smtClean="0"/>
          </a:p>
          <a:p>
            <a:endParaRPr lang="zh-CN" altLang="en-US" sz="3600" b="1" dirty="0"/>
          </a:p>
        </p:txBody>
      </p:sp>
    </p:spTree>
    <p:extLst>
      <p:ext uri="{BB962C8B-B14F-4D97-AF65-F5344CB8AC3E}">
        <p14:creationId xmlns:p14="http://schemas.microsoft.com/office/powerpoint/2010/main" val="800934951"/>
      </p:ext>
    </p:extLst>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8" name="标题 4"/>
          <p:cNvSpPr>
            <a:spLocks noGrp="1" noChangeArrowheads="1"/>
          </p:cNvSpPr>
          <p:nvPr>
            <p:ph type="title"/>
          </p:nvPr>
        </p:nvSpPr>
        <p:spPr/>
        <p:txBody>
          <a:bodyPr/>
          <a:lstStyle/>
          <a:p>
            <a:r>
              <a:rPr lang="en-US" altLang="zh-CN" dirty="0" smtClean="0"/>
              <a:t>1.7.4 </a:t>
            </a:r>
            <a:r>
              <a:rPr lang="zh-CN" altLang="zh-CN" dirty="0" smtClean="0"/>
              <a:t>实体</a:t>
            </a:r>
            <a:r>
              <a:rPr lang="zh-CN" altLang="zh-CN" dirty="0"/>
              <a:t>、协议、服务和服务访问点</a:t>
            </a:r>
            <a:endParaRPr lang="zh-CN" altLang="en-US" dirty="0"/>
          </a:p>
        </p:txBody>
      </p:sp>
      <p:sp>
        <p:nvSpPr>
          <p:cNvPr id="2" name="内容占位符 1"/>
          <p:cNvSpPr>
            <a:spLocks noGrp="1"/>
          </p:cNvSpPr>
          <p:nvPr>
            <p:ph idx="1"/>
          </p:nvPr>
        </p:nvSpPr>
        <p:spPr/>
        <p:txBody>
          <a:bodyPr/>
          <a:lstStyle/>
          <a:p>
            <a:r>
              <a:rPr lang="zh-CN" altLang="en-US" b="1" dirty="0">
                <a:solidFill>
                  <a:srgbClr val="C00000"/>
                </a:solidFill>
              </a:rPr>
              <a:t>实体</a:t>
            </a:r>
            <a:r>
              <a:rPr lang="zh-CN" altLang="en-US" b="1" dirty="0"/>
              <a:t> </a:t>
            </a:r>
            <a:r>
              <a:rPr lang="en-US" altLang="zh-CN" b="1" dirty="0"/>
              <a:t>(entity) </a:t>
            </a:r>
            <a:r>
              <a:rPr lang="zh-CN" altLang="en-US" b="1" dirty="0"/>
              <a:t>：表示任何可发送或接收信息的硬件或软件进程。 </a:t>
            </a:r>
          </a:p>
          <a:p>
            <a:r>
              <a:rPr lang="zh-CN" altLang="en-US" b="1" dirty="0">
                <a:solidFill>
                  <a:srgbClr val="C00000"/>
                </a:solidFill>
              </a:rPr>
              <a:t>协议</a:t>
            </a:r>
            <a:r>
              <a:rPr lang="zh-CN" altLang="en-US" b="1" dirty="0"/>
              <a:t>：控制</a:t>
            </a:r>
            <a:r>
              <a:rPr lang="zh-CN" altLang="en-US" b="1" dirty="0">
                <a:solidFill>
                  <a:schemeClr val="tx2">
                    <a:lumMod val="60000"/>
                    <a:lumOff val="40000"/>
                  </a:schemeClr>
                </a:solidFill>
              </a:rPr>
              <a:t>两个</a:t>
            </a:r>
            <a:r>
              <a:rPr lang="zh-CN" altLang="en-US" b="1" dirty="0">
                <a:solidFill>
                  <a:srgbClr val="C00000"/>
                </a:solidFill>
              </a:rPr>
              <a:t>对等实体</a:t>
            </a:r>
            <a:r>
              <a:rPr lang="zh-CN" altLang="en-US" b="1" dirty="0"/>
              <a:t>进行通信的规则的集合。 </a:t>
            </a:r>
          </a:p>
          <a:p>
            <a:r>
              <a:rPr lang="zh-CN" altLang="en-US" b="1" dirty="0"/>
              <a:t>在协议的控制下，两个对等实体间的通信使得本层能够</a:t>
            </a:r>
            <a:r>
              <a:rPr lang="zh-CN" altLang="en-US" b="1" dirty="0">
                <a:solidFill>
                  <a:schemeClr val="tx2">
                    <a:lumMod val="60000"/>
                    <a:lumOff val="40000"/>
                  </a:schemeClr>
                </a:solidFill>
              </a:rPr>
              <a:t>向上一层</a:t>
            </a:r>
            <a:r>
              <a:rPr lang="zh-CN" altLang="en-US" b="1" dirty="0"/>
              <a:t>提供</a:t>
            </a:r>
            <a:r>
              <a:rPr lang="zh-CN" altLang="en-US" b="1" dirty="0">
                <a:solidFill>
                  <a:srgbClr val="C00000"/>
                </a:solidFill>
              </a:rPr>
              <a:t>服务</a:t>
            </a:r>
            <a:r>
              <a:rPr lang="zh-CN" altLang="en-US" b="1" dirty="0"/>
              <a:t>。</a:t>
            </a:r>
          </a:p>
          <a:p>
            <a:r>
              <a:rPr lang="zh-CN" altLang="en-US" b="1" dirty="0"/>
              <a:t>要实现本层协议，还需要使用下层所提供的服务。</a:t>
            </a:r>
          </a:p>
          <a:p>
            <a:endParaRPr lang="zh-CN" altLang="en-US" b="1" dirty="0"/>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8" name="标题 4"/>
          <p:cNvSpPr>
            <a:spLocks noGrp="1" noChangeArrowheads="1"/>
          </p:cNvSpPr>
          <p:nvPr>
            <p:ph type="title"/>
          </p:nvPr>
        </p:nvSpPr>
        <p:spPr/>
        <p:txBody>
          <a:bodyPr/>
          <a:lstStyle/>
          <a:p>
            <a:r>
              <a:rPr lang="en-US" altLang="zh-CN" dirty="0" smtClean="0"/>
              <a:t>1.7.4 </a:t>
            </a:r>
            <a:r>
              <a:rPr lang="zh-CN" altLang="zh-CN" dirty="0" smtClean="0"/>
              <a:t>实体</a:t>
            </a:r>
            <a:r>
              <a:rPr lang="zh-CN" altLang="zh-CN" dirty="0"/>
              <a:t>、协议、服务和服务访问点</a:t>
            </a:r>
            <a:endParaRPr lang="zh-CN" altLang="en-US" dirty="0"/>
          </a:p>
        </p:txBody>
      </p:sp>
      <p:sp>
        <p:nvSpPr>
          <p:cNvPr id="2" name="内容占位符 1"/>
          <p:cNvSpPr>
            <a:spLocks noGrp="1"/>
          </p:cNvSpPr>
          <p:nvPr>
            <p:ph idx="1"/>
          </p:nvPr>
        </p:nvSpPr>
        <p:spPr/>
        <p:txBody>
          <a:bodyPr/>
          <a:lstStyle/>
          <a:p>
            <a:r>
              <a:rPr lang="zh-CN" altLang="en-US" b="1" dirty="0"/>
              <a:t>协议和</a:t>
            </a:r>
            <a:r>
              <a:rPr lang="zh-CN" altLang="en-US" b="1" dirty="0" smtClean="0"/>
              <a:t>服务的区别：</a:t>
            </a:r>
            <a:endParaRPr lang="zh-CN" altLang="en-US" b="1" dirty="0"/>
          </a:p>
        </p:txBody>
      </p:sp>
      <p:graphicFrame>
        <p:nvGraphicFramePr>
          <p:cNvPr id="4" name="内容占位符 5"/>
          <p:cNvGraphicFramePr>
            <a:graphicFrameLocks/>
          </p:cNvGraphicFramePr>
          <p:nvPr>
            <p:extLst>
              <p:ext uri="{D42A27DB-BD31-4B8C-83A1-F6EECF244321}">
                <p14:modId xmlns:p14="http://schemas.microsoft.com/office/powerpoint/2010/main" val="2977100567"/>
              </p:ext>
            </p:extLst>
          </p:nvPr>
        </p:nvGraphicFramePr>
        <p:xfrm>
          <a:off x="1377979" y="2516453"/>
          <a:ext cx="9398541" cy="35768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9279232"/>
      </p:ext>
    </p:extLst>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8" name="标题 4"/>
          <p:cNvSpPr>
            <a:spLocks noGrp="1" noChangeArrowheads="1"/>
          </p:cNvSpPr>
          <p:nvPr>
            <p:ph type="title"/>
          </p:nvPr>
        </p:nvSpPr>
        <p:spPr/>
        <p:txBody>
          <a:bodyPr/>
          <a:lstStyle/>
          <a:p>
            <a:r>
              <a:rPr lang="en-US" altLang="zh-CN" dirty="0" smtClean="0"/>
              <a:t>1.7.4 </a:t>
            </a:r>
            <a:r>
              <a:rPr lang="zh-CN" altLang="zh-CN" dirty="0" smtClean="0"/>
              <a:t>实体</a:t>
            </a:r>
            <a:r>
              <a:rPr lang="zh-CN" altLang="zh-CN" dirty="0"/>
              <a:t>、协议、服务和服务访问点</a:t>
            </a:r>
            <a:endParaRPr lang="zh-CN" altLang="en-US" dirty="0"/>
          </a:p>
        </p:txBody>
      </p:sp>
      <p:sp>
        <p:nvSpPr>
          <p:cNvPr id="2" name="内容占位符 1"/>
          <p:cNvSpPr>
            <a:spLocks noGrp="1"/>
          </p:cNvSpPr>
          <p:nvPr>
            <p:ph idx="1"/>
          </p:nvPr>
        </p:nvSpPr>
        <p:spPr/>
        <p:txBody>
          <a:bodyPr/>
          <a:lstStyle/>
          <a:p>
            <a:r>
              <a:rPr lang="zh-CN" altLang="en-US" b="1" dirty="0"/>
              <a:t>服务访问点 </a:t>
            </a:r>
            <a:r>
              <a:rPr lang="en-US" altLang="zh-CN" b="1" dirty="0" smtClean="0"/>
              <a:t>SAP</a:t>
            </a:r>
          </a:p>
          <a:p>
            <a:pPr lvl="1"/>
            <a:r>
              <a:rPr lang="zh-CN" altLang="en-US" b="1" dirty="0" smtClean="0"/>
              <a:t>在</a:t>
            </a:r>
            <a:r>
              <a:rPr lang="zh-CN" altLang="en-US" b="1" dirty="0"/>
              <a:t>同一系统中相邻两层的实体进行交互（即交换信息）</a:t>
            </a:r>
            <a:r>
              <a:rPr lang="en-US" altLang="zh-CN" b="1" dirty="0"/>
              <a:t> </a:t>
            </a:r>
            <a:r>
              <a:rPr lang="zh-CN" altLang="en-US" b="1" dirty="0"/>
              <a:t>的地方，通常称为</a:t>
            </a:r>
            <a:r>
              <a:rPr lang="zh-CN" altLang="en-US" b="1" dirty="0">
                <a:solidFill>
                  <a:srgbClr val="C00000"/>
                </a:solidFill>
              </a:rPr>
              <a:t>服务访问点 </a:t>
            </a:r>
            <a:r>
              <a:rPr lang="en-US" altLang="zh-CN" b="1" dirty="0">
                <a:solidFill>
                  <a:srgbClr val="C00000"/>
                </a:solidFill>
              </a:rPr>
              <a:t>SAP </a:t>
            </a:r>
            <a:r>
              <a:rPr lang="en-US" altLang="zh-CN" b="1" dirty="0"/>
              <a:t>(Service Access Point)</a:t>
            </a:r>
            <a:r>
              <a:rPr lang="zh-CN" altLang="en-US" b="1" dirty="0"/>
              <a:t>。</a:t>
            </a:r>
            <a:endParaRPr lang="en-US" altLang="zh-CN" b="1" dirty="0"/>
          </a:p>
          <a:p>
            <a:pPr lvl="1"/>
            <a:r>
              <a:rPr lang="en-US" altLang="zh-CN" b="1" dirty="0"/>
              <a:t>SAP </a:t>
            </a:r>
            <a:r>
              <a:rPr lang="zh-CN" altLang="en-US" b="1" dirty="0"/>
              <a:t>是一个抽象的概念，它实际上就是一个</a:t>
            </a:r>
            <a:r>
              <a:rPr lang="zh-CN" altLang="en-US" b="1" dirty="0">
                <a:solidFill>
                  <a:srgbClr val="0000FF"/>
                </a:solidFill>
              </a:rPr>
              <a:t>逻辑接口。</a:t>
            </a:r>
            <a:endParaRPr lang="en-US" altLang="zh-CN" b="1" dirty="0">
              <a:solidFill>
                <a:srgbClr val="0000FF"/>
              </a:solidFill>
            </a:endParaRPr>
          </a:p>
          <a:p>
            <a:endParaRPr lang="en-US" altLang="zh-CN" b="1" dirty="0"/>
          </a:p>
          <a:p>
            <a:pPr indent="0">
              <a:buNone/>
            </a:pPr>
            <a:endParaRPr lang="zh-CN" altLang="en-US" b="1" dirty="0"/>
          </a:p>
        </p:txBody>
      </p:sp>
    </p:spTree>
    <p:extLst>
      <p:ext uri="{BB962C8B-B14F-4D97-AF65-F5344CB8AC3E}">
        <p14:creationId xmlns:p14="http://schemas.microsoft.com/office/powerpoint/2010/main" val="4275793049"/>
      </p:ext>
    </p:extLst>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468" name="标题 4"/>
          <p:cNvSpPr>
            <a:spLocks noGrp="1" noChangeArrowheads="1"/>
          </p:cNvSpPr>
          <p:nvPr>
            <p:ph type="title"/>
          </p:nvPr>
        </p:nvSpPr>
        <p:spPr/>
        <p:txBody>
          <a:bodyPr/>
          <a:lstStyle/>
          <a:p>
            <a:r>
              <a:rPr lang="en-US" altLang="zh-CN" dirty="0" smtClean="0"/>
              <a:t>1.7.4 </a:t>
            </a:r>
            <a:r>
              <a:rPr lang="zh-CN" altLang="zh-CN" dirty="0" smtClean="0"/>
              <a:t>实体</a:t>
            </a:r>
            <a:r>
              <a:rPr lang="zh-CN" altLang="zh-CN" dirty="0"/>
              <a:t>、协议、服务和服务访问点</a:t>
            </a:r>
            <a:endParaRPr lang="zh-CN" altLang="en-US" dirty="0"/>
          </a:p>
        </p:txBody>
      </p:sp>
      <p:sp>
        <p:nvSpPr>
          <p:cNvPr id="2" name="内容占位符 1"/>
          <p:cNvSpPr>
            <a:spLocks noGrp="1"/>
          </p:cNvSpPr>
          <p:nvPr>
            <p:ph idx="1"/>
          </p:nvPr>
        </p:nvSpPr>
        <p:spPr/>
        <p:txBody>
          <a:bodyPr/>
          <a:lstStyle/>
          <a:p>
            <a:r>
              <a:rPr lang="zh-CN" altLang="en-US" b="1" dirty="0"/>
              <a:t>相邻两层之间的关系</a:t>
            </a:r>
          </a:p>
          <a:p>
            <a:endParaRPr lang="en-US" altLang="zh-CN" b="1" dirty="0"/>
          </a:p>
          <a:p>
            <a:pPr indent="0">
              <a:buNone/>
            </a:pPr>
            <a:endParaRPr lang="zh-CN" altLang="en-US" b="1" dirty="0"/>
          </a:p>
        </p:txBody>
      </p:sp>
      <p:grpSp>
        <p:nvGrpSpPr>
          <p:cNvPr id="3" name="组合 2"/>
          <p:cNvGrpSpPr/>
          <p:nvPr/>
        </p:nvGrpSpPr>
        <p:grpSpPr>
          <a:xfrm>
            <a:off x="1343472" y="2117173"/>
            <a:ext cx="9286752" cy="4048131"/>
            <a:chOff x="1561776" y="2408442"/>
            <a:chExt cx="8062616" cy="3212567"/>
          </a:xfrm>
        </p:grpSpPr>
        <p:sp>
          <p:nvSpPr>
            <p:cNvPr id="4" name="圆角矩形 3"/>
            <p:cNvSpPr/>
            <p:nvPr/>
          </p:nvSpPr>
          <p:spPr>
            <a:xfrm>
              <a:off x="1561776" y="2420888"/>
              <a:ext cx="8053712" cy="3200121"/>
            </a:xfrm>
            <a:prstGeom prst="roundRect">
              <a:avLst>
                <a:gd name="adj" fmla="val 15204"/>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3200" dirty="0"/>
            </a:p>
          </p:txBody>
        </p:sp>
        <p:sp>
          <p:nvSpPr>
            <p:cNvPr id="5" name="Rectangle 63"/>
            <p:cNvSpPr>
              <a:spLocks noChangeArrowheads="1"/>
            </p:cNvSpPr>
            <p:nvPr/>
          </p:nvSpPr>
          <p:spPr bwMode="auto">
            <a:xfrm>
              <a:off x="1939903" y="3971681"/>
              <a:ext cx="7259052" cy="1245882"/>
            </a:xfrm>
            <a:prstGeom prst="rect">
              <a:avLst/>
            </a:prstGeom>
            <a:solidFill>
              <a:schemeClr val="bg1"/>
            </a:solidFill>
            <a:ln w="9525">
              <a:solidFill>
                <a:srgbClr val="000066"/>
              </a:solidFill>
              <a:prstDash val="dash"/>
              <a:round/>
            </a:ln>
            <a:effectLst>
              <a:glow rad="63500">
                <a:schemeClr val="accent1">
                  <a:satMod val="175000"/>
                  <a:alpha val="40000"/>
                </a:schemeClr>
              </a:glow>
            </a:effectLst>
            <a:scene3d>
              <a:camera prst="orthographicFront">
                <a:rot lat="0" lon="0" rev="0"/>
              </a:camera>
              <a:lightRig rig="contrasting" dir="t">
                <a:rot lat="0" lon="0" rev="7800000"/>
              </a:lightRig>
            </a:scene3d>
            <a:sp3d>
              <a:bevelT w="139700" h="139700"/>
            </a:sp3d>
          </p:spPr>
          <p:txBody>
            <a:bodyPr wrap="none" anchor="ctr"/>
            <a:lstStyle/>
            <a:p>
              <a:pPr fontAlgn="auto">
                <a:spcBef>
                  <a:spcPts val="0"/>
                </a:spcBef>
                <a:spcAft>
                  <a:spcPts val="0"/>
                </a:spcAft>
                <a:defRPr/>
              </a:pPr>
              <a:endParaRPr lang="zh-CN" altLang="en-US" sz="2400" b="1" dirty="0">
                <a:solidFill>
                  <a:srgbClr val="368AD6"/>
                </a:solidFill>
                <a:latin typeface="+mn-lt"/>
                <a:ea typeface="黑体" panose="02010609060101010101" pitchFamily="49" charset="-122"/>
              </a:endParaRPr>
            </a:p>
          </p:txBody>
        </p:sp>
        <p:sp>
          <p:nvSpPr>
            <p:cNvPr id="6" name="Rectangle 35"/>
            <p:cNvSpPr>
              <a:spLocks noChangeArrowheads="1"/>
            </p:cNvSpPr>
            <p:nvPr/>
          </p:nvSpPr>
          <p:spPr bwMode="auto">
            <a:xfrm>
              <a:off x="2948300" y="4450938"/>
              <a:ext cx="4800600" cy="571500"/>
            </a:xfrm>
            <a:prstGeom prst="rect">
              <a:avLst/>
            </a:prstGeom>
            <a:noFill/>
            <a:ln>
              <a:noFill/>
            </a:ln>
            <a:extLst/>
          </p:spPr>
          <p:txBody>
            <a:bodyPr wrap="none" anchor="ctr"/>
            <a:lstStyle/>
            <a:p>
              <a:pPr algn="ctr"/>
              <a:endParaRPr kumimoji="1" lang="zh-CN" altLang="zh-CN" sz="2800" b="1">
                <a:latin typeface="微软雅黑" panose="020B0503020204020204" pitchFamily="34" charset="-122"/>
                <a:ea typeface="微软雅黑" panose="020B0503020204020204" pitchFamily="34" charset="-122"/>
              </a:endParaRPr>
            </a:p>
          </p:txBody>
        </p:sp>
        <p:sp>
          <p:nvSpPr>
            <p:cNvPr id="7" name="Rectangle 36"/>
            <p:cNvSpPr>
              <a:spLocks noChangeArrowheads="1"/>
            </p:cNvSpPr>
            <p:nvPr/>
          </p:nvSpPr>
          <p:spPr bwMode="auto">
            <a:xfrm>
              <a:off x="3659500" y="4346163"/>
              <a:ext cx="188912" cy="190500"/>
            </a:xfrm>
            <a:prstGeom prst="rect">
              <a:avLst/>
            </a:prstGeom>
            <a:solidFill>
              <a:srgbClr val="CC00CC"/>
            </a:solidFill>
            <a:ln w="19050">
              <a:noFill/>
              <a:miter lim="800000"/>
            </a:ln>
          </p:spPr>
          <p:txBody>
            <a:bodyPr wrap="none" anchor="ctr"/>
            <a:lstStyle/>
            <a:p>
              <a:endParaRPr lang="zh-CN" altLang="en-US" sz="2800" b="1">
                <a:solidFill>
                  <a:srgbClr val="CC00CC"/>
                </a:solidFill>
                <a:latin typeface="微软雅黑" panose="020B0503020204020204" pitchFamily="34" charset="-122"/>
                <a:ea typeface="微软雅黑" panose="020B0503020204020204" pitchFamily="34" charset="-122"/>
              </a:endParaRPr>
            </a:p>
          </p:txBody>
        </p:sp>
        <p:sp>
          <p:nvSpPr>
            <p:cNvPr id="8" name="Line 37"/>
            <p:cNvSpPr>
              <a:spLocks noChangeShapeType="1"/>
            </p:cNvSpPr>
            <p:nvPr/>
          </p:nvSpPr>
          <p:spPr bwMode="auto">
            <a:xfrm>
              <a:off x="4350062" y="3031713"/>
              <a:ext cx="2038350" cy="0"/>
            </a:xfrm>
            <a:prstGeom prst="line">
              <a:avLst/>
            </a:prstGeom>
            <a:noFill/>
            <a:ln w="28575">
              <a:solidFill>
                <a:srgbClr val="1C1C1C"/>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a:p>
          </p:txBody>
        </p:sp>
        <p:sp>
          <p:nvSpPr>
            <p:cNvPr id="9" name="Text Box 38"/>
            <p:cNvSpPr txBox="1">
              <a:spLocks noChangeArrowheads="1"/>
            </p:cNvSpPr>
            <p:nvPr/>
          </p:nvSpPr>
          <p:spPr bwMode="auto">
            <a:xfrm>
              <a:off x="4875138" y="2649468"/>
              <a:ext cx="1062776" cy="757172"/>
            </a:xfrm>
            <a:prstGeom prst="rect">
              <a:avLst/>
            </a:prstGeom>
            <a:solidFill>
              <a:srgbClr val="C3E3F9"/>
            </a:solidFill>
            <a:ln>
              <a:noFill/>
            </a:ln>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sz="2800" b="1" dirty="0">
                  <a:solidFill>
                    <a:srgbClr val="0000FF"/>
                  </a:solidFill>
                  <a:latin typeface="微软雅黑" panose="020B0503020204020204" pitchFamily="34" charset="-122"/>
                  <a:ea typeface="微软雅黑" panose="020B0503020204020204" pitchFamily="34" charset="-122"/>
                </a:rPr>
                <a:t>协议 </a:t>
              </a:r>
              <a:r>
                <a:rPr kumimoji="1" lang="en-US" altLang="zh-CN" sz="2800" b="1" dirty="0">
                  <a:solidFill>
                    <a:srgbClr val="0000FF"/>
                  </a:solidFill>
                  <a:latin typeface="微软雅黑" panose="020B0503020204020204" pitchFamily="34" charset="-122"/>
                  <a:ea typeface="微软雅黑" panose="020B0503020204020204" pitchFamily="34" charset="-122"/>
                </a:rPr>
                <a:t>(</a:t>
              </a:r>
              <a:r>
                <a:rPr kumimoji="1" lang="en-US" altLang="zh-CN" sz="2800" b="1" i="1" dirty="0">
                  <a:solidFill>
                    <a:srgbClr val="0000FF"/>
                  </a:solidFill>
                  <a:latin typeface="微软雅黑" panose="020B0503020204020204" pitchFamily="34" charset="-122"/>
                  <a:ea typeface="微软雅黑" panose="020B0503020204020204" pitchFamily="34" charset="-122"/>
                </a:rPr>
                <a:t>n</a:t>
              </a:r>
              <a:r>
                <a:rPr kumimoji="1" lang="en-US" altLang="zh-CN" sz="2800" b="1" dirty="0">
                  <a:solidFill>
                    <a:srgbClr val="0000FF"/>
                  </a:solidFill>
                  <a:latin typeface="微软雅黑" panose="020B0503020204020204" pitchFamily="34" charset="-122"/>
                  <a:ea typeface="微软雅黑" panose="020B0503020204020204" pitchFamily="34" charset="-122"/>
                </a:rPr>
                <a:t>+1)</a:t>
              </a:r>
            </a:p>
          </p:txBody>
        </p:sp>
        <p:sp>
          <p:nvSpPr>
            <p:cNvPr id="10" name="Text Box 39"/>
            <p:cNvSpPr txBox="1">
              <a:spLocks noChangeArrowheads="1"/>
            </p:cNvSpPr>
            <p:nvPr/>
          </p:nvSpPr>
          <p:spPr bwMode="auto">
            <a:xfrm>
              <a:off x="3796025" y="4033426"/>
              <a:ext cx="786590" cy="415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800" b="1" dirty="0">
                  <a:solidFill>
                    <a:srgbClr val="CC00CC"/>
                  </a:solidFill>
                  <a:latin typeface="微软雅黑" panose="020B0503020204020204" pitchFamily="34" charset="-122"/>
                  <a:ea typeface="微软雅黑" panose="020B0503020204020204" pitchFamily="34" charset="-122"/>
                </a:rPr>
                <a:t>SAP</a:t>
              </a:r>
            </a:p>
          </p:txBody>
        </p:sp>
        <p:sp>
          <p:nvSpPr>
            <p:cNvPr id="11" name="Text Box 40"/>
            <p:cNvSpPr txBox="1">
              <a:spLocks noChangeArrowheads="1"/>
            </p:cNvSpPr>
            <p:nvPr/>
          </p:nvSpPr>
          <p:spPr bwMode="auto">
            <a:xfrm>
              <a:off x="6125462" y="4052476"/>
              <a:ext cx="786590" cy="415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800" b="1" dirty="0">
                  <a:solidFill>
                    <a:srgbClr val="CC00CC"/>
                  </a:solidFill>
                  <a:latin typeface="微软雅黑" panose="020B0503020204020204" pitchFamily="34" charset="-122"/>
                  <a:ea typeface="微软雅黑" panose="020B0503020204020204" pitchFamily="34" charset="-122"/>
                </a:rPr>
                <a:t>SAP</a:t>
              </a:r>
            </a:p>
          </p:txBody>
        </p:sp>
        <p:sp>
          <p:nvSpPr>
            <p:cNvPr id="12" name="Text Box 41"/>
            <p:cNvSpPr txBox="1">
              <a:spLocks noChangeArrowheads="1"/>
            </p:cNvSpPr>
            <p:nvPr/>
          </p:nvSpPr>
          <p:spPr bwMode="auto">
            <a:xfrm>
              <a:off x="3766865" y="3510960"/>
              <a:ext cx="2030773" cy="415224"/>
            </a:xfrm>
            <a:prstGeom prst="rect">
              <a:avLst/>
            </a:prstGeom>
            <a:solidFill>
              <a:srgbClr val="C3E3F9"/>
            </a:solid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800" b="1" dirty="0" smtClean="0">
                  <a:solidFill>
                    <a:srgbClr val="0000FF"/>
                  </a:solidFill>
                  <a:latin typeface="微软雅黑" panose="020B0503020204020204" pitchFamily="34" charset="-122"/>
                  <a:ea typeface="微软雅黑" panose="020B0503020204020204" pitchFamily="34" charset="-122"/>
                </a:rPr>
                <a:t>交换</a:t>
              </a:r>
              <a:r>
                <a:rPr kumimoji="1" lang="zh-CN" altLang="en-US" sz="2800" b="1" dirty="0">
                  <a:solidFill>
                    <a:srgbClr val="0000FF"/>
                  </a:solidFill>
                  <a:latin typeface="微软雅黑" panose="020B0503020204020204" pitchFamily="34" charset="-122"/>
                  <a:ea typeface="微软雅黑" panose="020B0503020204020204" pitchFamily="34" charset="-122"/>
                </a:rPr>
                <a:t>服务</a:t>
              </a:r>
              <a:r>
                <a:rPr kumimoji="1" lang="zh-CN" altLang="en-US" sz="2800" b="1" dirty="0" smtClean="0">
                  <a:solidFill>
                    <a:srgbClr val="0000FF"/>
                  </a:solidFill>
                  <a:latin typeface="微软雅黑" panose="020B0503020204020204" pitchFamily="34" charset="-122"/>
                  <a:ea typeface="微软雅黑" panose="020B0503020204020204" pitchFamily="34" charset="-122"/>
                </a:rPr>
                <a:t>原语</a:t>
              </a:r>
              <a:endParaRPr kumimoji="1" lang="zh-CN" altLang="en-US" sz="2800" b="1" dirty="0">
                <a:solidFill>
                  <a:srgbClr val="0000FF"/>
                </a:solidFill>
                <a:latin typeface="微软雅黑" panose="020B0503020204020204" pitchFamily="34" charset="-122"/>
                <a:ea typeface="微软雅黑" panose="020B0503020204020204" pitchFamily="34" charset="-122"/>
              </a:endParaRPr>
            </a:p>
          </p:txBody>
        </p:sp>
        <p:sp>
          <p:nvSpPr>
            <p:cNvPr id="13" name="AutoShape 42"/>
            <p:cNvSpPr>
              <a:spLocks noChangeArrowheads="1"/>
            </p:cNvSpPr>
            <p:nvPr/>
          </p:nvSpPr>
          <p:spPr bwMode="auto">
            <a:xfrm>
              <a:off x="3683312" y="3255551"/>
              <a:ext cx="128588" cy="1074737"/>
            </a:xfrm>
            <a:prstGeom prst="upDownArrow">
              <a:avLst>
                <a:gd name="adj1" fmla="val 50000"/>
                <a:gd name="adj2" fmla="val 181090"/>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2800" b="1">
                <a:latin typeface="微软雅黑" panose="020B0503020204020204" pitchFamily="34" charset="-122"/>
                <a:ea typeface="微软雅黑" panose="020B0503020204020204" pitchFamily="34" charset="-122"/>
              </a:endParaRPr>
            </a:p>
          </p:txBody>
        </p:sp>
        <p:sp>
          <p:nvSpPr>
            <p:cNvPr id="14" name="Rectangle 43"/>
            <p:cNvSpPr>
              <a:spLocks noChangeArrowheads="1"/>
            </p:cNvSpPr>
            <p:nvPr/>
          </p:nvSpPr>
          <p:spPr bwMode="auto">
            <a:xfrm>
              <a:off x="6820212" y="4346163"/>
              <a:ext cx="192088" cy="190500"/>
            </a:xfrm>
            <a:prstGeom prst="rect">
              <a:avLst/>
            </a:prstGeom>
            <a:solidFill>
              <a:srgbClr val="CC00CC"/>
            </a:solidFill>
            <a:ln w="19050">
              <a:noFill/>
              <a:miter lim="800000"/>
            </a:ln>
          </p:spPr>
          <p:txBody>
            <a:bodyPr wrap="none" anchor="ctr"/>
            <a:lstStyle/>
            <a:p>
              <a:endParaRPr lang="zh-CN" altLang="en-US" sz="2800" b="1">
                <a:solidFill>
                  <a:srgbClr val="CC00CC"/>
                </a:solidFill>
                <a:latin typeface="微软雅黑" panose="020B0503020204020204" pitchFamily="34" charset="-122"/>
                <a:ea typeface="微软雅黑" panose="020B0503020204020204" pitchFamily="34" charset="-122"/>
              </a:endParaRPr>
            </a:p>
          </p:txBody>
        </p:sp>
        <p:sp>
          <p:nvSpPr>
            <p:cNvPr id="15" name="AutoShape 44"/>
            <p:cNvSpPr>
              <a:spLocks noChangeArrowheads="1"/>
            </p:cNvSpPr>
            <p:nvPr/>
          </p:nvSpPr>
          <p:spPr bwMode="auto">
            <a:xfrm>
              <a:off x="6842437" y="3255551"/>
              <a:ext cx="130175" cy="1074737"/>
            </a:xfrm>
            <a:prstGeom prst="upDownArrow">
              <a:avLst>
                <a:gd name="adj1" fmla="val 50000"/>
                <a:gd name="adj2" fmla="val 178882"/>
              </a:avLst>
            </a:prstGeom>
            <a:solidFill>
              <a:srgbClr val="0098F6"/>
            </a:solidFill>
            <a:ln w="12700">
              <a:solidFill>
                <a:schemeClr val="tx1"/>
              </a:solidFill>
              <a:miter lim="800000"/>
              <a:headEnd type="none" w="med" len="lg"/>
              <a:tailEnd type="none" w="med" len="lg"/>
            </a:ln>
          </p:spPr>
          <p:txBody>
            <a:bodyPr vert="eaVert" wrap="none" anchor="ctr"/>
            <a:lstStyle/>
            <a:p>
              <a:endParaRPr lang="zh-CN" altLang="en-US" sz="2800" b="1">
                <a:latin typeface="微软雅黑" panose="020B0503020204020204" pitchFamily="34" charset="-122"/>
                <a:ea typeface="微软雅黑" panose="020B0503020204020204" pitchFamily="34" charset="-122"/>
              </a:endParaRPr>
            </a:p>
          </p:txBody>
        </p:sp>
        <p:sp>
          <p:nvSpPr>
            <p:cNvPr id="16" name="Text Box 45"/>
            <p:cNvSpPr txBox="1">
              <a:spLocks noChangeArrowheads="1"/>
            </p:cNvSpPr>
            <p:nvPr/>
          </p:nvSpPr>
          <p:spPr bwMode="auto">
            <a:xfrm>
              <a:off x="6970436" y="3510960"/>
              <a:ext cx="2030773" cy="41522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800" b="1" dirty="0" smtClean="0">
                  <a:solidFill>
                    <a:srgbClr val="0000FF"/>
                  </a:solidFill>
                  <a:latin typeface="微软雅黑" panose="020B0503020204020204" pitchFamily="34" charset="-122"/>
                  <a:ea typeface="微软雅黑" panose="020B0503020204020204" pitchFamily="34" charset="-122"/>
                </a:rPr>
                <a:t>交换服务原语</a:t>
              </a:r>
              <a:endParaRPr kumimoji="1" lang="zh-CN" altLang="en-US" sz="2800" b="1" dirty="0">
                <a:solidFill>
                  <a:srgbClr val="0000FF"/>
                </a:solidFill>
                <a:latin typeface="微软雅黑" panose="020B0503020204020204" pitchFamily="34" charset="-122"/>
                <a:ea typeface="微软雅黑" panose="020B0503020204020204" pitchFamily="34" charset="-122"/>
              </a:endParaRPr>
            </a:p>
          </p:txBody>
        </p:sp>
        <p:sp>
          <p:nvSpPr>
            <p:cNvPr id="17" name="Rectangle 46"/>
            <p:cNvSpPr>
              <a:spLocks noChangeArrowheads="1"/>
            </p:cNvSpPr>
            <p:nvPr/>
          </p:nvSpPr>
          <p:spPr bwMode="auto">
            <a:xfrm>
              <a:off x="2749585" y="2857088"/>
              <a:ext cx="1579840" cy="395288"/>
            </a:xfrm>
            <a:prstGeom prst="rect">
              <a:avLst/>
            </a:prstGeom>
            <a:solidFill>
              <a:srgbClr val="FFC000"/>
            </a:solidFill>
            <a:ln w="19050">
              <a:solidFill>
                <a:srgbClr val="1C1C1C"/>
              </a:solidFill>
              <a:miter lim="800000"/>
            </a:ln>
          </p:spPr>
          <p:txBody>
            <a:bodyPr wrap="none" anchor="ctr"/>
            <a:lstStyle/>
            <a:p>
              <a:pPr algn="ctr"/>
              <a:endParaRPr kumimoji="1" lang="zh-CN" altLang="zh-CN" sz="2800" b="1">
                <a:solidFill>
                  <a:srgbClr val="1C1C1C"/>
                </a:solidFill>
                <a:latin typeface="微软雅黑" panose="020B0503020204020204" pitchFamily="34" charset="-122"/>
                <a:ea typeface="微软雅黑" panose="020B0503020204020204" pitchFamily="34" charset="-122"/>
              </a:endParaRPr>
            </a:p>
          </p:txBody>
        </p:sp>
        <p:sp>
          <p:nvSpPr>
            <p:cNvPr id="18" name="Text Box 47"/>
            <p:cNvSpPr txBox="1">
              <a:spLocks noChangeArrowheads="1"/>
            </p:cNvSpPr>
            <p:nvPr/>
          </p:nvSpPr>
          <p:spPr bwMode="auto">
            <a:xfrm>
              <a:off x="2749585" y="2878048"/>
              <a:ext cx="1681456" cy="366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400" b="1" dirty="0">
                  <a:solidFill>
                    <a:srgbClr val="1C1C1C"/>
                  </a:solidFill>
                  <a:latin typeface="微软雅黑" panose="020B0503020204020204" pitchFamily="34" charset="-122"/>
                  <a:ea typeface="微软雅黑" panose="020B0503020204020204" pitchFamily="34" charset="-122"/>
                </a:rPr>
                <a:t>实体 </a:t>
              </a:r>
              <a:r>
                <a:rPr kumimoji="1" lang="en-US" altLang="zh-CN" sz="2400" b="1" dirty="0">
                  <a:solidFill>
                    <a:srgbClr val="1C1C1C"/>
                  </a:solidFill>
                  <a:latin typeface="微软雅黑" panose="020B0503020204020204" pitchFamily="34" charset="-122"/>
                  <a:ea typeface="微软雅黑" panose="020B0503020204020204" pitchFamily="34" charset="-122"/>
                </a:rPr>
                <a:t>(</a:t>
              </a:r>
              <a:r>
                <a:rPr kumimoji="1" lang="en-US" altLang="zh-CN" sz="2400" b="1" i="1" dirty="0">
                  <a:solidFill>
                    <a:srgbClr val="1C1C1C"/>
                  </a:solidFill>
                  <a:latin typeface="微软雅黑" panose="020B0503020204020204" pitchFamily="34" charset="-122"/>
                  <a:ea typeface="微软雅黑" panose="020B0503020204020204" pitchFamily="34" charset="-122"/>
                </a:rPr>
                <a:t>n</a:t>
              </a:r>
              <a:r>
                <a:rPr kumimoji="1" lang="en-US" altLang="zh-CN" sz="2400" b="1" dirty="0">
                  <a:solidFill>
                    <a:srgbClr val="1C1C1C"/>
                  </a:solidFill>
                  <a:latin typeface="微软雅黑" panose="020B0503020204020204" pitchFamily="34" charset="-122"/>
                  <a:ea typeface="微软雅黑" panose="020B0503020204020204" pitchFamily="34" charset="-122"/>
                </a:rPr>
                <a:t> + 1)</a:t>
              </a:r>
            </a:p>
          </p:txBody>
        </p:sp>
        <p:sp>
          <p:nvSpPr>
            <p:cNvPr id="19" name="Text Box 48"/>
            <p:cNvSpPr txBox="1">
              <a:spLocks noChangeArrowheads="1"/>
            </p:cNvSpPr>
            <p:nvPr/>
          </p:nvSpPr>
          <p:spPr bwMode="auto">
            <a:xfrm>
              <a:off x="2098987" y="4078093"/>
              <a:ext cx="963179" cy="1099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800" b="1" dirty="0" smtClean="0">
                  <a:solidFill>
                    <a:srgbClr val="1C1C1C"/>
                  </a:solidFill>
                  <a:latin typeface="微软雅黑" panose="020B0503020204020204" pitchFamily="34" charset="-122"/>
                  <a:ea typeface="微软雅黑" panose="020B0503020204020204" pitchFamily="34" charset="-122"/>
                </a:rPr>
                <a:t>服务</a:t>
              </a:r>
              <a:endParaRPr kumimoji="1" lang="en-US" altLang="zh-CN" sz="2800" b="1" dirty="0" smtClean="0">
                <a:solidFill>
                  <a:srgbClr val="1C1C1C"/>
                </a:solidFill>
                <a:latin typeface="微软雅黑" panose="020B0503020204020204" pitchFamily="34" charset="-122"/>
                <a:ea typeface="微软雅黑" panose="020B0503020204020204" pitchFamily="34" charset="-122"/>
              </a:endParaRPr>
            </a:p>
            <a:p>
              <a:r>
                <a:rPr kumimoji="1" lang="zh-CN" altLang="en-US" sz="2800" b="1" dirty="0" smtClean="0">
                  <a:solidFill>
                    <a:srgbClr val="1C1C1C"/>
                  </a:solidFill>
                  <a:latin typeface="微软雅黑" panose="020B0503020204020204" pitchFamily="34" charset="-122"/>
                  <a:ea typeface="微软雅黑" panose="020B0503020204020204" pitchFamily="34" charset="-122"/>
                </a:rPr>
                <a:t>提供</a:t>
              </a:r>
              <a:r>
                <a:rPr kumimoji="1" lang="zh-CN" altLang="en-US" sz="2800" b="1" dirty="0">
                  <a:solidFill>
                    <a:srgbClr val="1C1C1C"/>
                  </a:solidFill>
                  <a:latin typeface="微软雅黑" panose="020B0503020204020204" pitchFamily="34" charset="-122"/>
                  <a:ea typeface="微软雅黑" panose="020B0503020204020204" pitchFamily="34" charset="-122"/>
                </a:rPr>
                <a:t>者</a:t>
              </a:r>
            </a:p>
          </p:txBody>
        </p:sp>
        <p:sp>
          <p:nvSpPr>
            <p:cNvPr id="20" name="Line 49"/>
            <p:cNvSpPr>
              <a:spLocks noChangeShapeType="1"/>
            </p:cNvSpPr>
            <p:nvPr/>
          </p:nvSpPr>
          <p:spPr bwMode="auto">
            <a:xfrm>
              <a:off x="1570680" y="3906658"/>
              <a:ext cx="8053712" cy="0"/>
            </a:xfrm>
            <a:prstGeom prst="line">
              <a:avLst/>
            </a:prstGeom>
            <a:noFill/>
            <a:ln w="28575">
              <a:solidFill>
                <a:srgbClr val="000066"/>
              </a:solidFill>
              <a:prstDash val="dash"/>
              <a:round/>
              <a:headEnd type="non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200"/>
            </a:p>
          </p:txBody>
        </p:sp>
        <p:sp>
          <p:nvSpPr>
            <p:cNvPr id="21" name="Text Box 50"/>
            <p:cNvSpPr txBox="1">
              <a:spLocks noChangeArrowheads="1"/>
            </p:cNvSpPr>
            <p:nvPr/>
          </p:nvSpPr>
          <p:spPr bwMode="auto">
            <a:xfrm>
              <a:off x="7875917" y="3963803"/>
              <a:ext cx="1172093" cy="415224"/>
            </a:xfrm>
            <a:prstGeom prst="rect">
              <a:avLst/>
            </a:prstGeom>
            <a:no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800" b="1" dirty="0" smtClean="0">
                  <a:solidFill>
                    <a:srgbClr val="FF0000"/>
                  </a:solidFill>
                  <a:latin typeface="微软雅黑" panose="020B0503020204020204" pitchFamily="34" charset="-122"/>
                  <a:ea typeface="微软雅黑" panose="020B0503020204020204" pitchFamily="34" charset="-122"/>
                </a:rPr>
                <a:t>第 </a:t>
              </a:r>
              <a:r>
                <a:rPr kumimoji="1" lang="en-US" altLang="zh-CN" sz="2800" b="1" i="1" dirty="0" smtClean="0">
                  <a:solidFill>
                    <a:srgbClr val="FF0000"/>
                  </a:solidFill>
                  <a:latin typeface="微软雅黑" panose="020B0503020204020204" pitchFamily="34" charset="-122"/>
                  <a:ea typeface="微软雅黑" panose="020B0503020204020204" pitchFamily="34" charset="-122"/>
                </a:rPr>
                <a:t>n </a:t>
              </a:r>
              <a:r>
                <a:rPr kumimoji="1" lang="zh-CN" altLang="en-US" sz="2800" b="1" dirty="0" smtClean="0">
                  <a:solidFill>
                    <a:srgbClr val="FF0000"/>
                  </a:solidFill>
                  <a:latin typeface="微软雅黑" panose="020B0503020204020204" pitchFamily="34" charset="-122"/>
                  <a:ea typeface="微软雅黑" panose="020B0503020204020204" pitchFamily="34" charset="-122"/>
                </a:rPr>
                <a:t>层</a:t>
              </a:r>
              <a:endParaRPr kumimoji="1"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22" name="Text Box 51"/>
            <p:cNvSpPr txBox="1">
              <a:spLocks noChangeArrowheads="1"/>
            </p:cNvSpPr>
            <p:nvPr/>
          </p:nvSpPr>
          <p:spPr bwMode="auto">
            <a:xfrm>
              <a:off x="7563335" y="2420888"/>
              <a:ext cx="1602128" cy="415224"/>
            </a:xfrm>
            <a:prstGeom prst="rect">
              <a:avLst/>
            </a:prstGeom>
            <a:solidFill>
              <a:srgbClr val="C3E3F9"/>
            </a:solid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800" b="1" dirty="0" smtClean="0">
                  <a:solidFill>
                    <a:srgbClr val="FF0000"/>
                  </a:solidFill>
                  <a:latin typeface="微软雅黑" panose="020B0503020204020204" pitchFamily="34" charset="-122"/>
                  <a:ea typeface="微软雅黑" panose="020B0503020204020204" pitchFamily="34" charset="-122"/>
                </a:rPr>
                <a:t>第 </a:t>
              </a:r>
              <a:r>
                <a:rPr kumimoji="1" lang="en-US" altLang="zh-CN" sz="2800" b="1" i="1" dirty="0" smtClean="0">
                  <a:solidFill>
                    <a:srgbClr val="FF0000"/>
                  </a:solidFill>
                  <a:latin typeface="微软雅黑" panose="020B0503020204020204" pitchFamily="34" charset="-122"/>
                  <a:ea typeface="微软雅黑" panose="020B0503020204020204" pitchFamily="34" charset="-122"/>
                </a:rPr>
                <a:t>n</a:t>
              </a:r>
              <a:r>
                <a:rPr kumimoji="1" lang="en-US" altLang="zh-CN" sz="2800" b="1" dirty="0" smtClean="0">
                  <a:solidFill>
                    <a:srgbClr val="FF0000"/>
                  </a:solidFill>
                  <a:latin typeface="微软雅黑" panose="020B0503020204020204" pitchFamily="34" charset="-122"/>
                  <a:ea typeface="微软雅黑" panose="020B0503020204020204" pitchFamily="34" charset="-122"/>
                </a:rPr>
                <a:t>+1 </a:t>
              </a:r>
              <a:r>
                <a:rPr kumimoji="1" lang="zh-CN" altLang="en-US" sz="2800" b="1" dirty="0" smtClean="0">
                  <a:solidFill>
                    <a:srgbClr val="FF0000"/>
                  </a:solidFill>
                  <a:latin typeface="微软雅黑" panose="020B0503020204020204" pitchFamily="34" charset="-122"/>
                  <a:ea typeface="微软雅黑" panose="020B0503020204020204" pitchFamily="34" charset="-122"/>
                </a:rPr>
                <a:t>层</a:t>
              </a:r>
              <a:endParaRPr kumimoji="1" lang="zh-CN" altLang="en-US" sz="2800" b="1" dirty="0">
                <a:solidFill>
                  <a:srgbClr val="FF0000"/>
                </a:solidFill>
                <a:latin typeface="微软雅黑" panose="020B0503020204020204" pitchFamily="34" charset="-122"/>
                <a:ea typeface="微软雅黑" panose="020B0503020204020204" pitchFamily="34" charset="-122"/>
              </a:endParaRPr>
            </a:p>
          </p:txBody>
        </p:sp>
        <p:sp>
          <p:nvSpPr>
            <p:cNvPr id="23" name="Rectangle 52"/>
            <p:cNvSpPr>
              <a:spLocks noChangeArrowheads="1"/>
            </p:cNvSpPr>
            <p:nvPr/>
          </p:nvSpPr>
          <p:spPr bwMode="auto">
            <a:xfrm>
              <a:off x="6350312" y="2857088"/>
              <a:ext cx="1611415" cy="395288"/>
            </a:xfrm>
            <a:prstGeom prst="rect">
              <a:avLst/>
            </a:prstGeom>
            <a:solidFill>
              <a:srgbClr val="FFC000"/>
            </a:solidFill>
            <a:ln w="19050">
              <a:solidFill>
                <a:srgbClr val="1C1C1C"/>
              </a:solidFill>
              <a:miter lim="800000"/>
            </a:ln>
          </p:spPr>
          <p:txBody>
            <a:bodyPr wrap="none" anchor="ctr"/>
            <a:lstStyle/>
            <a:p>
              <a:pPr algn="ctr"/>
              <a:endParaRPr kumimoji="1" lang="zh-CN" altLang="zh-CN" sz="2800" b="1">
                <a:latin typeface="微软雅黑" panose="020B0503020204020204" pitchFamily="34" charset="-122"/>
                <a:ea typeface="微软雅黑" panose="020B0503020204020204" pitchFamily="34" charset="-122"/>
              </a:endParaRPr>
            </a:p>
          </p:txBody>
        </p:sp>
        <p:sp>
          <p:nvSpPr>
            <p:cNvPr id="24" name="Text Box 53"/>
            <p:cNvSpPr txBox="1">
              <a:spLocks noChangeArrowheads="1"/>
            </p:cNvSpPr>
            <p:nvPr/>
          </p:nvSpPr>
          <p:spPr bwMode="auto">
            <a:xfrm>
              <a:off x="6373792" y="2880827"/>
              <a:ext cx="1681456" cy="366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400" b="1" dirty="0">
                  <a:solidFill>
                    <a:srgbClr val="1C1C1C"/>
                  </a:solidFill>
                  <a:latin typeface="微软雅黑" panose="020B0503020204020204" pitchFamily="34" charset="-122"/>
                  <a:ea typeface="微软雅黑" panose="020B0503020204020204" pitchFamily="34" charset="-122"/>
                </a:rPr>
                <a:t>实体 </a:t>
              </a:r>
              <a:r>
                <a:rPr kumimoji="1" lang="en-US" altLang="zh-CN" sz="2400" b="1" dirty="0">
                  <a:solidFill>
                    <a:srgbClr val="1C1C1C"/>
                  </a:solidFill>
                  <a:latin typeface="微软雅黑" panose="020B0503020204020204" pitchFamily="34" charset="-122"/>
                  <a:ea typeface="微软雅黑" panose="020B0503020204020204" pitchFamily="34" charset="-122"/>
                </a:rPr>
                <a:t>(</a:t>
              </a:r>
              <a:r>
                <a:rPr kumimoji="1" lang="en-US" altLang="zh-CN" sz="2400" b="1" i="1" dirty="0">
                  <a:solidFill>
                    <a:srgbClr val="1C1C1C"/>
                  </a:solidFill>
                  <a:latin typeface="微软雅黑" panose="020B0503020204020204" pitchFamily="34" charset="-122"/>
                  <a:ea typeface="微软雅黑" panose="020B0503020204020204" pitchFamily="34" charset="-122"/>
                </a:rPr>
                <a:t>n</a:t>
              </a:r>
              <a:r>
                <a:rPr kumimoji="1" lang="en-US" altLang="zh-CN" sz="2400" b="1" dirty="0">
                  <a:solidFill>
                    <a:srgbClr val="1C1C1C"/>
                  </a:solidFill>
                  <a:latin typeface="微软雅黑" panose="020B0503020204020204" pitchFamily="34" charset="-122"/>
                  <a:ea typeface="微软雅黑" panose="020B0503020204020204" pitchFamily="34" charset="-122"/>
                </a:rPr>
                <a:t> + 1)</a:t>
              </a:r>
            </a:p>
          </p:txBody>
        </p:sp>
        <p:sp>
          <p:nvSpPr>
            <p:cNvPr id="26" name="Text Box 55"/>
            <p:cNvSpPr txBox="1">
              <a:spLocks noChangeArrowheads="1"/>
            </p:cNvSpPr>
            <p:nvPr/>
          </p:nvSpPr>
          <p:spPr bwMode="auto">
            <a:xfrm>
              <a:off x="2098987" y="2408442"/>
              <a:ext cx="674688" cy="1441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prstDash val="dash"/>
                  <a:miter lim="800000"/>
                  <a:headEnd type="none" w="med" len="lg"/>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800" b="1" dirty="0">
                  <a:solidFill>
                    <a:srgbClr val="1C1C1C"/>
                  </a:solidFill>
                  <a:latin typeface="微软雅黑" panose="020B0503020204020204" pitchFamily="34" charset="-122"/>
                  <a:ea typeface="微软雅黑" panose="020B0503020204020204" pitchFamily="34" charset="-122"/>
                </a:rPr>
                <a:t>服务用户</a:t>
              </a:r>
            </a:p>
          </p:txBody>
        </p:sp>
        <p:sp>
          <p:nvSpPr>
            <p:cNvPr id="27" name="Rectangle 56"/>
            <p:cNvSpPr>
              <a:spLocks noChangeArrowheads="1"/>
            </p:cNvSpPr>
            <p:nvPr/>
          </p:nvSpPr>
          <p:spPr bwMode="auto">
            <a:xfrm>
              <a:off x="3178487" y="4531901"/>
              <a:ext cx="1150938" cy="395287"/>
            </a:xfrm>
            <a:prstGeom prst="rect">
              <a:avLst/>
            </a:prstGeom>
            <a:solidFill>
              <a:srgbClr val="FFFF99"/>
            </a:solidFill>
            <a:ln w="19050">
              <a:solidFill>
                <a:srgbClr val="1C1C1C"/>
              </a:solidFill>
              <a:miter lim="800000"/>
            </a:ln>
          </p:spPr>
          <p:txBody>
            <a:bodyPr wrap="none" anchor="ctr"/>
            <a:lstStyle/>
            <a:p>
              <a:pPr algn="ctr"/>
              <a:endParaRPr kumimoji="1" lang="zh-CN" altLang="zh-CN" sz="2800" b="1">
                <a:latin typeface="微软雅黑" panose="020B0503020204020204" pitchFamily="34" charset="-122"/>
                <a:ea typeface="微软雅黑" panose="020B0503020204020204" pitchFamily="34" charset="-122"/>
              </a:endParaRPr>
            </a:p>
          </p:txBody>
        </p:sp>
        <p:sp>
          <p:nvSpPr>
            <p:cNvPr id="28" name="Rectangle 57"/>
            <p:cNvSpPr>
              <a:spLocks noChangeArrowheads="1"/>
            </p:cNvSpPr>
            <p:nvPr/>
          </p:nvSpPr>
          <p:spPr bwMode="auto">
            <a:xfrm>
              <a:off x="6328087" y="4531901"/>
              <a:ext cx="1150938" cy="395287"/>
            </a:xfrm>
            <a:prstGeom prst="rect">
              <a:avLst/>
            </a:prstGeom>
            <a:solidFill>
              <a:srgbClr val="FFFF99"/>
            </a:solidFill>
            <a:ln w="19050">
              <a:solidFill>
                <a:srgbClr val="1C1C1C"/>
              </a:solidFill>
              <a:miter lim="800000"/>
            </a:ln>
          </p:spPr>
          <p:txBody>
            <a:bodyPr wrap="none" anchor="ctr"/>
            <a:lstStyle/>
            <a:p>
              <a:pPr algn="ctr"/>
              <a:endParaRPr kumimoji="1" lang="zh-CN" altLang="zh-CN" sz="2800" b="1">
                <a:latin typeface="微软雅黑" panose="020B0503020204020204" pitchFamily="34" charset="-122"/>
                <a:ea typeface="微软雅黑" panose="020B0503020204020204" pitchFamily="34" charset="-122"/>
              </a:endParaRPr>
            </a:p>
          </p:txBody>
        </p:sp>
        <p:sp>
          <p:nvSpPr>
            <p:cNvPr id="29" name="Text Box 58"/>
            <p:cNvSpPr txBox="1">
              <a:spLocks noChangeArrowheads="1"/>
            </p:cNvSpPr>
            <p:nvPr/>
          </p:nvSpPr>
          <p:spPr bwMode="auto">
            <a:xfrm>
              <a:off x="3194806" y="4535254"/>
              <a:ext cx="1155392" cy="366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400" b="1" dirty="0">
                  <a:solidFill>
                    <a:srgbClr val="1C1C1C"/>
                  </a:solidFill>
                  <a:latin typeface="微软雅黑" panose="020B0503020204020204" pitchFamily="34" charset="-122"/>
                  <a:ea typeface="微软雅黑" panose="020B0503020204020204" pitchFamily="34" charset="-122"/>
                </a:rPr>
                <a:t>实体 </a:t>
              </a:r>
              <a:r>
                <a:rPr kumimoji="1" lang="en-US" altLang="zh-CN" sz="2400" b="1" dirty="0">
                  <a:solidFill>
                    <a:srgbClr val="1C1C1C"/>
                  </a:solidFill>
                  <a:latin typeface="微软雅黑" panose="020B0503020204020204" pitchFamily="34" charset="-122"/>
                  <a:ea typeface="微软雅黑" panose="020B0503020204020204" pitchFamily="34" charset="-122"/>
                </a:rPr>
                <a:t>(</a:t>
              </a:r>
              <a:r>
                <a:rPr kumimoji="1" lang="en-US" altLang="zh-CN" sz="2400" b="1" i="1" dirty="0">
                  <a:solidFill>
                    <a:srgbClr val="1C1C1C"/>
                  </a:solidFill>
                  <a:latin typeface="微软雅黑" panose="020B0503020204020204" pitchFamily="34" charset="-122"/>
                  <a:ea typeface="微软雅黑" panose="020B0503020204020204" pitchFamily="34" charset="-122"/>
                </a:rPr>
                <a:t>n</a:t>
              </a:r>
              <a:r>
                <a:rPr kumimoji="1" lang="en-US" altLang="zh-CN" sz="2400" b="1" dirty="0">
                  <a:solidFill>
                    <a:srgbClr val="1C1C1C"/>
                  </a:solidFill>
                  <a:latin typeface="微软雅黑" panose="020B0503020204020204" pitchFamily="34" charset="-122"/>
                  <a:ea typeface="微软雅黑" panose="020B0503020204020204" pitchFamily="34" charset="-122"/>
                </a:rPr>
                <a:t>)</a:t>
              </a:r>
            </a:p>
          </p:txBody>
        </p:sp>
        <p:sp>
          <p:nvSpPr>
            <p:cNvPr id="30" name="Text Box 59"/>
            <p:cNvSpPr txBox="1">
              <a:spLocks noChangeArrowheads="1"/>
            </p:cNvSpPr>
            <p:nvPr/>
          </p:nvSpPr>
          <p:spPr bwMode="auto">
            <a:xfrm>
              <a:off x="6329550" y="4535254"/>
              <a:ext cx="1155392" cy="366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400" b="1" dirty="0">
                  <a:solidFill>
                    <a:srgbClr val="1C1C1C"/>
                  </a:solidFill>
                  <a:latin typeface="微软雅黑" panose="020B0503020204020204" pitchFamily="34" charset="-122"/>
                  <a:ea typeface="微软雅黑" panose="020B0503020204020204" pitchFamily="34" charset="-122"/>
                </a:rPr>
                <a:t>实体 </a:t>
              </a:r>
              <a:r>
                <a:rPr kumimoji="1" lang="en-US" altLang="zh-CN" sz="2400" b="1" dirty="0">
                  <a:solidFill>
                    <a:srgbClr val="1C1C1C"/>
                  </a:solidFill>
                  <a:latin typeface="微软雅黑" panose="020B0503020204020204" pitchFamily="34" charset="-122"/>
                  <a:ea typeface="微软雅黑" panose="020B0503020204020204" pitchFamily="34" charset="-122"/>
                </a:rPr>
                <a:t>(</a:t>
              </a:r>
              <a:r>
                <a:rPr kumimoji="1" lang="en-US" altLang="zh-CN" sz="2400" b="1" i="1" dirty="0">
                  <a:solidFill>
                    <a:srgbClr val="1C1C1C"/>
                  </a:solidFill>
                  <a:latin typeface="微软雅黑" panose="020B0503020204020204" pitchFamily="34" charset="-122"/>
                  <a:ea typeface="微软雅黑" panose="020B0503020204020204" pitchFamily="34" charset="-122"/>
                </a:rPr>
                <a:t>n</a:t>
              </a:r>
              <a:r>
                <a:rPr kumimoji="1" lang="en-US" altLang="zh-CN" sz="2400" b="1" dirty="0">
                  <a:solidFill>
                    <a:srgbClr val="1C1C1C"/>
                  </a:solidFill>
                  <a:latin typeface="微软雅黑" panose="020B0503020204020204" pitchFamily="34" charset="-122"/>
                  <a:ea typeface="微软雅黑" panose="020B0503020204020204" pitchFamily="34" charset="-122"/>
                </a:rPr>
                <a:t>)</a:t>
              </a:r>
            </a:p>
          </p:txBody>
        </p:sp>
        <p:sp>
          <p:nvSpPr>
            <p:cNvPr id="31" name="Line 60"/>
            <p:cNvSpPr>
              <a:spLocks noChangeShapeType="1"/>
            </p:cNvSpPr>
            <p:nvPr/>
          </p:nvSpPr>
          <p:spPr bwMode="auto">
            <a:xfrm>
              <a:off x="4332600" y="4719226"/>
              <a:ext cx="1995487" cy="0"/>
            </a:xfrm>
            <a:prstGeom prst="line">
              <a:avLst/>
            </a:prstGeom>
            <a:noFill/>
            <a:ln w="19050">
              <a:solidFill>
                <a:srgbClr val="1C1C1C"/>
              </a:solidFill>
              <a:prstDash val="sysDot"/>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3200"/>
            </a:p>
          </p:txBody>
        </p:sp>
        <p:sp>
          <p:nvSpPr>
            <p:cNvPr id="32" name="Text Box 61"/>
            <p:cNvSpPr txBox="1">
              <a:spLocks noChangeArrowheads="1"/>
            </p:cNvSpPr>
            <p:nvPr/>
          </p:nvSpPr>
          <p:spPr bwMode="auto">
            <a:xfrm>
              <a:off x="4750104" y="4520044"/>
              <a:ext cx="1227761" cy="415224"/>
            </a:xfrm>
            <a:prstGeom prst="rect">
              <a:avLst/>
            </a:prstGeom>
            <a:solidFill>
              <a:schemeClr val="bg1"/>
            </a:solidFill>
            <a:ln>
              <a:noFill/>
            </a:ln>
            <a:effectLs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800" b="1" dirty="0">
                  <a:solidFill>
                    <a:srgbClr val="1C1C1C"/>
                  </a:solidFill>
                  <a:latin typeface="微软雅黑" panose="020B0503020204020204" pitchFamily="34" charset="-122"/>
                  <a:ea typeface="微软雅黑" panose="020B0503020204020204" pitchFamily="34" charset="-122"/>
                </a:rPr>
                <a:t>协议</a:t>
              </a:r>
              <a:r>
                <a:rPr kumimoji="1" lang="en-US" altLang="zh-CN" sz="2800" b="1" dirty="0">
                  <a:solidFill>
                    <a:srgbClr val="1C1C1C"/>
                  </a:solidFill>
                  <a:latin typeface="微软雅黑" panose="020B0503020204020204" pitchFamily="34" charset="-122"/>
                  <a:ea typeface="微软雅黑" panose="020B0503020204020204" pitchFamily="34" charset="-122"/>
                </a:rPr>
                <a:t>(</a:t>
              </a:r>
              <a:r>
                <a:rPr kumimoji="1" lang="en-US" altLang="zh-CN" sz="2800" b="1" i="1" dirty="0">
                  <a:solidFill>
                    <a:srgbClr val="1C1C1C"/>
                  </a:solidFill>
                  <a:latin typeface="微软雅黑" panose="020B0503020204020204" pitchFamily="34" charset="-122"/>
                  <a:ea typeface="微软雅黑" panose="020B0503020204020204" pitchFamily="34" charset="-122"/>
                </a:rPr>
                <a:t>n</a:t>
              </a:r>
              <a:r>
                <a:rPr kumimoji="1" lang="en-US" altLang="zh-CN" sz="2800" b="1" dirty="0">
                  <a:solidFill>
                    <a:srgbClr val="1C1C1C"/>
                  </a:solidFill>
                  <a:latin typeface="微软雅黑" panose="020B0503020204020204" pitchFamily="34" charset="-122"/>
                  <a:ea typeface="微软雅黑" panose="020B0503020204020204" pitchFamily="34" charset="-122"/>
                </a:rPr>
                <a:t>)</a:t>
              </a:r>
            </a:p>
          </p:txBody>
        </p:sp>
      </p:grpSp>
    </p:spTree>
    <p:extLst>
      <p:ext uri="{BB962C8B-B14F-4D97-AF65-F5344CB8AC3E}">
        <p14:creationId xmlns:p14="http://schemas.microsoft.com/office/powerpoint/2010/main" val="2572327888"/>
      </p:ext>
    </p:extLst>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标题 4"/>
          <p:cNvSpPr>
            <a:spLocks noGrp="1" noChangeArrowheads="1"/>
          </p:cNvSpPr>
          <p:nvPr>
            <p:ph type="title"/>
          </p:nvPr>
        </p:nvSpPr>
        <p:spPr/>
        <p:txBody>
          <a:bodyPr/>
          <a:lstStyle/>
          <a:p>
            <a:r>
              <a:rPr lang="en-US" altLang="zh-CN" dirty="0" smtClean="0"/>
              <a:t>1.7</a:t>
            </a:r>
            <a:r>
              <a:rPr lang="en-US" altLang="zh-CN" dirty="0"/>
              <a:t>.5 </a:t>
            </a:r>
            <a:r>
              <a:rPr lang="en-US" altLang="zh-CN" dirty="0" smtClean="0"/>
              <a:t>TCP/IP </a:t>
            </a:r>
            <a:r>
              <a:rPr lang="zh-CN" altLang="en-US" dirty="0"/>
              <a:t>的体系结构</a:t>
            </a:r>
          </a:p>
        </p:txBody>
      </p:sp>
      <p:grpSp>
        <p:nvGrpSpPr>
          <p:cNvPr id="4" name="组合 3"/>
          <p:cNvGrpSpPr/>
          <p:nvPr/>
        </p:nvGrpSpPr>
        <p:grpSpPr>
          <a:xfrm>
            <a:off x="655397" y="1484784"/>
            <a:ext cx="9833091" cy="4946188"/>
            <a:chOff x="505072" y="1075100"/>
            <a:chExt cx="7772461" cy="3700025"/>
          </a:xfrm>
        </p:grpSpPr>
        <p:sp>
          <p:nvSpPr>
            <p:cNvPr id="5" name="圆角矩形 4"/>
            <p:cNvSpPr/>
            <p:nvPr/>
          </p:nvSpPr>
          <p:spPr>
            <a:xfrm>
              <a:off x="505072" y="1775699"/>
              <a:ext cx="7772461" cy="299942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aphicFrame>
          <p:nvGraphicFramePr>
            <p:cNvPr id="6" name="Object 2"/>
            <p:cNvGraphicFramePr>
              <a:graphicFrameLocks noChangeAspect="1"/>
            </p:cNvGraphicFramePr>
            <p:nvPr>
              <p:extLst>
                <p:ext uri="{D42A27DB-BD31-4B8C-83A1-F6EECF244321}">
                  <p14:modId xmlns:p14="http://schemas.microsoft.com/office/powerpoint/2010/main" val="2673764146"/>
                </p:ext>
              </p:extLst>
            </p:nvPr>
          </p:nvGraphicFramePr>
          <p:xfrm>
            <a:off x="2331306" y="3661121"/>
            <a:ext cx="1400946" cy="688943"/>
          </p:xfrm>
          <a:graphic>
            <a:graphicData uri="http://schemas.openxmlformats.org/presentationml/2006/ole">
              <mc:AlternateContent xmlns:mc="http://schemas.openxmlformats.org/markup-compatibility/2006">
                <mc:Choice xmlns:v="urn:schemas-microsoft-com:vml" Requires="v">
                  <p:oleObj spid="_x0000_s71048" name="VISIO" r:id="rId4" imgW="1687068" imgH="964692" progId="">
                    <p:embed/>
                  </p:oleObj>
                </mc:Choice>
                <mc:Fallback>
                  <p:oleObj name="VISIO" r:id="rId4" imgW="1687068" imgH="964692"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1306" y="3661121"/>
                          <a:ext cx="1400946"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extLst>
                <p:ext uri="{D42A27DB-BD31-4B8C-83A1-F6EECF244321}">
                  <p14:modId xmlns:p14="http://schemas.microsoft.com/office/powerpoint/2010/main" val="856007424"/>
                </p:ext>
              </p:extLst>
            </p:nvPr>
          </p:nvGraphicFramePr>
          <p:xfrm>
            <a:off x="4979732" y="3637093"/>
            <a:ext cx="1402319" cy="688943"/>
          </p:xfrm>
          <a:graphic>
            <a:graphicData uri="http://schemas.openxmlformats.org/presentationml/2006/ole">
              <mc:AlternateContent xmlns:mc="http://schemas.openxmlformats.org/markup-compatibility/2006">
                <mc:Choice xmlns:v="urn:schemas-microsoft-com:vml" Requires="v">
                  <p:oleObj spid="_x0000_s71049" name="VISIO" r:id="rId6" imgW="1687068" imgH="964692" progId="">
                    <p:embed/>
                  </p:oleObj>
                </mc:Choice>
                <mc:Fallback>
                  <p:oleObj name="VISIO" r:id="rId6" imgW="1687068" imgH="964692"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9732" y="3637093"/>
                          <a:ext cx="1402319" cy="688943"/>
                        </a:xfrm>
                        <a:prstGeom prst="rect">
                          <a:avLst/>
                        </a:prstGeom>
                        <a:noFill/>
                        <a:effectLst>
                          <a:outerShdw dist="25400" dir="5400000" algn="ctr" rotWithShape="0">
                            <a:srgbClr val="EEECE1"/>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AutoShape 5"/>
            <p:cNvSpPr>
              <a:spLocks noChangeArrowheads="1"/>
            </p:cNvSpPr>
            <p:nvPr/>
          </p:nvSpPr>
          <p:spPr bwMode="auto">
            <a:xfrm>
              <a:off x="1060238" y="1988837"/>
              <a:ext cx="1325562" cy="1749425"/>
            </a:xfrm>
            <a:prstGeom prst="cube">
              <a:avLst>
                <a:gd name="adj" fmla="val 25301"/>
              </a:avLst>
            </a:prstGeom>
            <a:solidFill>
              <a:srgbClr val="0098F6"/>
            </a:solidFill>
            <a:ln w="12700">
              <a:solidFill>
                <a:srgbClr val="1C1C1C"/>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9" name="Freeform 6"/>
            <p:cNvSpPr/>
            <p:nvPr/>
          </p:nvSpPr>
          <p:spPr bwMode="auto">
            <a:xfrm>
              <a:off x="1058650" y="2288875"/>
              <a:ext cx="1323975" cy="282575"/>
            </a:xfrm>
            <a:custGeom>
              <a:avLst/>
              <a:gdLst>
                <a:gd name="T0" fmla="*/ 1323868 w 1000"/>
                <a:gd name="T1" fmla="*/ 0 h 230"/>
                <a:gd name="T2" fmla="*/ 1019378 w 1000"/>
                <a:gd name="T3" fmla="*/ 276179 h 230"/>
                <a:gd name="T4" fmla="*/ 0 w 1000"/>
                <a:gd name="T5" fmla="*/ 281067 h 230"/>
                <a:gd name="T6" fmla="*/ 0 60000 65536"/>
                <a:gd name="T7" fmla="*/ 0 60000 65536"/>
                <a:gd name="T8" fmla="*/ 0 60000 65536"/>
              </a:gdLst>
              <a:ahLst/>
              <a:cxnLst>
                <a:cxn ang="T6">
                  <a:pos x="T0" y="T1"/>
                </a:cxn>
                <a:cxn ang="T7">
                  <a:pos x="T2" y="T3"/>
                </a:cxn>
                <a:cxn ang="T8">
                  <a:pos x="T4" y="T5"/>
                </a:cxn>
              </a:cxnLst>
              <a:rect l="0" t="0" r="r" b="b"/>
              <a:pathLst>
                <a:path w="1000" h="230">
                  <a:moveTo>
                    <a:pt x="1000" y="0"/>
                  </a:moveTo>
                  <a:lnTo>
                    <a:pt x="770" y="226"/>
                  </a:lnTo>
                  <a:lnTo>
                    <a:pt x="0" y="230"/>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Text Box 7"/>
            <p:cNvSpPr txBox="1">
              <a:spLocks noChangeArrowheads="1"/>
            </p:cNvSpPr>
            <p:nvPr/>
          </p:nvSpPr>
          <p:spPr bwMode="auto">
            <a:xfrm>
              <a:off x="1219731" y="2253950"/>
              <a:ext cx="754164" cy="153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2000" b="1" dirty="0">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2000" b="1" dirty="0">
                  <a:solidFill>
                    <a:schemeClr val="bg1"/>
                  </a:solidFill>
                  <a:latin typeface="微软雅黑" panose="020B0503020204020204" pitchFamily="34" charset="-122"/>
                  <a:ea typeface="微软雅黑" panose="020B0503020204020204" pitchFamily="34" charset="-122"/>
                </a:rPr>
                <a:t>运输层</a:t>
              </a:r>
            </a:p>
            <a:p>
              <a:pPr algn="ctr">
                <a:lnSpc>
                  <a:spcPct val="130000"/>
                </a:lnSpc>
                <a:spcBef>
                  <a:spcPts val="200"/>
                </a:spcBef>
              </a:pPr>
              <a:r>
                <a:rPr kumimoji="1" lang="zh-CN" altLang="en-US" sz="2000" b="1" dirty="0">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2000" b="1" dirty="0">
                  <a:solidFill>
                    <a:schemeClr val="bg1"/>
                  </a:solidFill>
                  <a:latin typeface="微软雅黑" panose="020B0503020204020204" pitchFamily="34" charset="-122"/>
                  <a:ea typeface="微软雅黑" panose="020B0503020204020204" pitchFamily="34" charset="-122"/>
                </a:rPr>
                <a:t>网络</a:t>
              </a:r>
            </a:p>
            <a:p>
              <a:pPr algn="ctr">
                <a:lnSpc>
                  <a:spcPct val="90000"/>
                </a:lnSpc>
                <a:spcBef>
                  <a:spcPts val="200"/>
                </a:spcBef>
              </a:pPr>
              <a:r>
                <a:rPr kumimoji="1" lang="zh-CN" altLang="en-US" sz="2000" b="1" dirty="0">
                  <a:solidFill>
                    <a:schemeClr val="bg1"/>
                  </a:solidFill>
                  <a:latin typeface="微软雅黑" panose="020B0503020204020204" pitchFamily="34" charset="-122"/>
                  <a:ea typeface="微软雅黑" panose="020B0503020204020204" pitchFamily="34" charset="-122"/>
                </a:rPr>
                <a:t>接口层</a:t>
              </a:r>
            </a:p>
          </p:txBody>
        </p:sp>
        <p:sp>
          <p:nvSpPr>
            <p:cNvPr id="11" name="Freeform 8"/>
            <p:cNvSpPr/>
            <p:nvPr/>
          </p:nvSpPr>
          <p:spPr bwMode="auto">
            <a:xfrm>
              <a:off x="1055475" y="2590500"/>
              <a:ext cx="1327150" cy="298450"/>
            </a:xfrm>
            <a:custGeom>
              <a:avLst/>
              <a:gdLst>
                <a:gd name="T0" fmla="*/ 1326515 w 1002"/>
                <a:gd name="T1" fmla="*/ 0 h 244"/>
                <a:gd name="T2" fmla="*/ 1019378 w 1002"/>
                <a:gd name="T3" fmla="*/ 293288 h 244"/>
                <a:gd name="T4" fmla="*/ 0 w 1002"/>
                <a:gd name="T5" fmla="*/ 298176 h 244"/>
                <a:gd name="T6" fmla="*/ 0 60000 65536"/>
                <a:gd name="T7" fmla="*/ 0 60000 65536"/>
                <a:gd name="T8" fmla="*/ 0 60000 65536"/>
              </a:gdLst>
              <a:ahLst/>
              <a:cxnLst>
                <a:cxn ang="T6">
                  <a:pos x="T0" y="T1"/>
                </a:cxn>
                <a:cxn ang="T7">
                  <a:pos x="T2" y="T3"/>
                </a:cxn>
                <a:cxn ang="T8">
                  <a:pos x="T4" y="T5"/>
                </a:cxn>
              </a:cxnLst>
              <a:rect l="0" t="0" r="r" b="b"/>
              <a:pathLst>
                <a:path w="1002" h="244">
                  <a:moveTo>
                    <a:pt x="1002" y="0"/>
                  </a:moveTo>
                  <a:lnTo>
                    <a:pt x="770" y="240"/>
                  </a:lnTo>
                  <a:lnTo>
                    <a:pt x="0" y="244"/>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Freeform 9"/>
            <p:cNvSpPr/>
            <p:nvPr/>
          </p:nvSpPr>
          <p:spPr bwMode="auto">
            <a:xfrm>
              <a:off x="1055475" y="2890537"/>
              <a:ext cx="1327150" cy="315913"/>
            </a:xfrm>
            <a:custGeom>
              <a:avLst/>
              <a:gdLst>
                <a:gd name="T0" fmla="*/ 1326515 w 1002"/>
                <a:gd name="T1" fmla="*/ 0 h 258"/>
                <a:gd name="T2" fmla="*/ 1019378 w 1002"/>
                <a:gd name="T3" fmla="*/ 310396 h 258"/>
                <a:gd name="T4" fmla="*/ 0 w 1002"/>
                <a:gd name="T5" fmla="*/ 315284 h 258"/>
                <a:gd name="T6" fmla="*/ 0 60000 65536"/>
                <a:gd name="T7" fmla="*/ 0 60000 65536"/>
                <a:gd name="T8" fmla="*/ 0 60000 65536"/>
              </a:gdLst>
              <a:ahLst/>
              <a:cxnLst>
                <a:cxn ang="T6">
                  <a:pos x="T0" y="T1"/>
                </a:cxn>
                <a:cxn ang="T7">
                  <a:pos x="T2" y="T3"/>
                </a:cxn>
                <a:cxn ang="T8">
                  <a:pos x="T4" y="T5"/>
                </a:cxn>
              </a:cxnLst>
              <a:rect l="0" t="0" r="r" b="b"/>
              <a:pathLst>
                <a:path w="1002" h="258">
                  <a:moveTo>
                    <a:pt x="1002" y="0"/>
                  </a:moveTo>
                  <a:lnTo>
                    <a:pt x="770" y="254"/>
                  </a:lnTo>
                  <a:lnTo>
                    <a:pt x="0" y="258"/>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AutoShape 10"/>
            <p:cNvSpPr>
              <a:spLocks noChangeArrowheads="1"/>
            </p:cNvSpPr>
            <p:nvPr/>
          </p:nvSpPr>
          <p:spPr bwMode="auto">
            <a:xfrm>
              <a:off x="6507246" y="1988837"/>
              <a:ext cx="1325562" cy="1749425"/>
            </a:xfrm>
            <a:prstGeom prst="cube">
              <a:avLst>
                <a:gd name="adj" fmla="val 25301"/>
              </a:avLst>
            </a:prstGeom>
            <a:solidFill>
              <a:srgbClr val="0098F6"/>
            </a:solidFill>
            <a:ln w="19050">
              <a:solidFill>
                <a:srgbClr val="1C1C1C"/>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4" name="Freeform 11"/>
            <p:cNvSpPr/>
            <p:nvPr/>
          </p:nvSpPr>
          <p:spPr bwMode="auto">
            <a:xfrm>
              <a:off x="6505658" y="2288875"/>
              <a:ext cx="1331913" cy="282575"/>
            </a:xfrm>
            <a:custGeom>
              <a:avLst/>
              <a:gdLst>
                <a:gd name="T0" fmla="*/ 1331810 w 1006"/>
                <a:gd name="T1" fmla="*/ 0 h 230"/>
                <a:gd name="T2" fmla="*/ 1019377 w 1006"/>
                <a:gd name="T3" fmla="*/ 276179 h 230"/>
                <a:gd name="T4" fmla="*/ 0 w 1006"/>
                <a:gd name="T5" fmla="*/ 281067 h 230"/>
                <a:gd name="T6" fmla="*/ 0 60000 65536"/>
                <a:gd name="T7" fmla="*/ 0 60000 65536"/>
                <a:gd name="T8" fmla="*/ 0 60000 65536"/>
              </a:gdLst>
              <a:ahLst/>
              <a:cxnLst>
                <a:cxn ang="T6">
                  <a:pos x="T0" y="T1"/>
                </a:cxn>
                <a:cxn ang="T7">
                  <a:pos x="T2" y="T3"/>
                </a:cxn>
                <a:cxn ang="T8">
                  <a:pos x="T4" y="T5"/>
                </a:cxn>
              </a:cxnLst>
              <a:rect l="0" t="0" r="r" b="b"/>
              <a:pathLst>
                <a:path w="1006" h="230">
                  <a:moveTo>
                    <a:pt x="1006" y="0"/>
                  </a:moveTo>
                  <a:lnTo>
                    <a:pt x="770" y="226"/>
                  </a:lnTo>
                  <a:lnTo>
                    <a:pt x="0" y="230"/>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Freeform 12"/>
            <p:cNvSpPr/>
            <p:nvPr/>
          </p:nvSpPr>
          <p:spPr bwMode="auto">
            <a:xfrm>
              <a:off x="6502483" y="2596850"/>
              <a:ext cx="1319213" cy="292100"/>
            </a:xfrm>
            <a:custGeom>
              <a:avLst/>
              <a:gdLst>
                <a:gd name="T0" fmla="*/ 1318572 w 996"/>
                <a:gd name="T1" fmla="*/ 0 h 238"/>
                <a:gd name="T2" fmla="*/ 1019378 w 996"/>
                <a:gd name="T3" fmla="*/ 285955 h 238"/>
                <a:gd name="T4" fmla="*/ 0 w 996"/>
                <a:gd name="T5" fmla="*/ 290843 h 238"/>
                <a:gd name="T6" fmla="*/ 0 60000 65536"/>
                <a:gd name="T7" fmla="*/ 0 60000 65536"/>
                <a:gd name="T8" fmla="*/ 0 60000 65536"/>
              </a:gdLst>
              <a:ahLst/>
              <a:cxnLst>
                <a:cxn ang="T6">
                  <a:pos x="T0" y="T1"/>
                </a:cxn>
                <a:cxn ang="T7">
                  <a:pos x="T2" y="T3"/>
                </a:cxn>
                <a:cxn ang="T8">
                  <a:pos x="T4" y="T5"/>
                </a:cxn>
              </a:cxnLst>
              <a:rect l="0" t="0" r="r" b="b"/>
              <a:pathLst>
                <a:path w="996" h="238">
                  <a:moveTo>
                    <a:pt x="996" y="0"/>
                  </a:moveTo>
                  <a:lnTo>
                    <a:pt x="770" y="234"/>
                  </a:lnTo>
                  <a:lnTo>
                    <a:pt x="0" y="238"/>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Freeform 13"/>
            <p:cNvSpPr/>
            <p:nvPr/>
          </p:nvSpPr>
          <p:spPr bwMode="auto">
            <a:xfrm>
              <a:off x="6502483" y="2904825"/>
              <a:ext cx="1319213" cy="301625"/>
            </a:xfrm>
            <a:custGeom>
              <a:avLst/>
              <a:gdLst>
                <a:gd name="T0" fmla="*/ 1318572 w 996"/>
                <a:gd name="T1" fmla="*/ 0 h 246"/>
                <a:gd name="T2" fmla="*/ 1019378 w 996"/>
                <a:gd name="T3" fmla="*/ 295732 h 246"/>
                <a:gd name="T4" fmla="*/ 0 w 996"/>
                <a:gd name="T5" fmla="*/ 300620 h 246"/>
                <a:gd name="T6" fmla="*/ 0 60000 65536"/>
                <a:gd name="T7" fmla="*/ 0 60000 65536"/>
                <a:gd name="T8" fmla="*/ 0 60000 65536"/>
              </a:gdLst>
              <a:ahLst/>
              <a:cxnLst>
                <a:cxn ang="T6">
                  <a:pos x="T0" y="T1"/>
                </a:cxn>
                <a:cxn ang="T7">
                  <a:pos x="T2" y="T3"/>
                </a:cxn>
                <a:cxn ang="T8">
                  <a:pos x="T4" y="T5"/>
                </a:cxn>
              </a:cxnLst>
              <a:rect l="0" t="0" r="r" b="b"/>
              <a:pathLst>
                <a:path w="996" h="246">
                  <a:moveTo>
                    <a:pt x="996" y="0"/>
                  </a:moveTo>
                  <a:lnTo>
                    <a:pt x="770" y="242"/>
                  </a:lnTo>
                  <a:lnTo>
                    <a:pt x="0" y="246"/>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AutoShape 14"/>
            <p:cNvSpPr>
              <a:spLocks noChangeArrowheads="1"/>
            </p:cNvSpPr>
            <p:nvPr/>
          </p:nvSpPr>
          <p:spPr bwMode="auto">
            <a:xfrm>
              <a:off x="3795713" y="2628600"/>
              <a:ext cx="1316120" cy="1114425"/>
            </a:xfrm>
            <a:prstGeom prst="cube">
              <a:avLst>
                <a:gd name="adj" fmla="val 25301"/>
              </a:avLst>
            </a:prstGeom>
            <a:solidFill>
              <a:srgbClr val="00CC00"/>
            </a:solidFill>
            <a:ln w="19050">
              <a:solidFill>
                <a:srgbClr val="1C1C1C"/>
              </a:solidFill>
              <a:miter lim="800000"/>
            </a:ln>
          </p:spPr>
          <p:txBody>
            <a:bodyPr wrap="none" anchor="ctr"/>
            <a:lstStyle/>
            <a:p>
              <a:endParaRPr lang="zh-CN" altLang="en-US" sz="1600" b="1">
                <a:solidFill>
                  <a:srgbClr val="000099"/>
                </a:solidFill>
                <a:latin typeface="微软雅黑" panose="020B0503020204020204" pitchFamily="34" charset="-122"/>
                <a:ea typeface="微软雅黑" panose="020B0503020204020204" pitchFamily="34" charset="-122"/>
              </a:endParaRPr>
            </a:p>
          </p:txBody>
        </p:sp>
        <p:sp>
          <p:nvSpPr>
            <p:cNvPr id="18" name="Freeform 15"/>
            <p:cNvSpPr/>
            <p:nvPr/>
          </p:nvSpPr>
          <p:spPr bwMode="auto">
            <a:xfrm>
              <a:off x="3790950" y="2927050"/>
              <a:ext cx="1328738" cy="282575"/>
            </a:xfrm>
            <a:custGeom>
              <a:avLst/>
              <a:gdLst>
                <a:gd name="T0" fmla="*/ 1327839 w 1003"/>
                <a:gd name="T1" fmla="*/ 0 h 231"/>
                <a:gd name="T2" fmla="*/ 1019378 w 1003"/>
                <a:gd name="T3" fmla="*/ 277402 h 231"/>
                <a:gd name="T4" fmla="*/ 0 w 1003"/>
                <a:gd name="T5" fmla="*/ 282290 h 231"/>
                <a:gd name="T6" fmla="*/ 0 60000 65536"/>
                <a:gd name="T7" fmla="*/ 0 60000 65536"/>
                <a:gd name="T8" fmla="*/ 0 60000 65536"/>
              </a:gdLst>
              <a:ahLst/>
              <a:cxnLst>
                <a:cxn ang="T6">
                  <a:pos x="T0" y="T1"/>
                </a:cxn>
                <a:cxn ang="T7">
                  <a:pos x="T2" y="T3"/>
                </a:cxn>
                <a:cxn ang="T8">
                  <a:pos x="T4" y="T5"/>
                </a:cxn>
              </a:cxnLst>
              <a:rect l="0" t="0" r="r" b="b"/>
              <a:pathLst>
                <a:path w="1003" h="231">
                  <a:moveTo>
                    <a:pt x="1003" y="0"/>
                  </a:moveTo>
                  <a:lnTo>
                    <a:pt x="770" y="227"/>
                  </a:lnTo>
                  <a:lnTo>
                    <a:pt x="0" y="231"/>
                  </a:lnTo>
                </a:path>
              </a:pathLst>
            </a:custGeom>
            <a:noFill/>
            <a:ln w="19050">
              <a:solidFill>
                <a:srgbClr val="1C1C1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Text Box 19"/>
            <p:cNvSpPr txBox="1">
              <a:spLocks noChangeArrowheads="1"/>
            </p:cNvSpPr>
            <p:nvPr/>
          </p:nvSpPr>
          <p:spPr bwMode="auto">
            <a:xfrm>
              <a:off x="5327310" y="3825189"/>
              <a:ext cx="737692" cy="29930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000" b="1" dirty="0">
                  <a:solidFill>
                    <a:srgbClr val="1C1C1C"/>
                  </a:solidFill>
                  <a:latin typeface="微软雅黑" panose="020B0503020204020204" pitchFamily="34" charset="-122"/>
                  <a:ea typeface="微软雅黑" panose="020B0503020204020204" pitchFamily="34" charset="-122"/>
                </a:rPr>
                <a:t>网络 </a:t>
              </a:r>
              <a:r>
                <a:rPr kumimoji="1" lang="en-US" altLang="zh-CN" sz="2000" b="1" dirty="0">
                  <a:solidFill>
                    <a:srgbClr val="1C1C1C"/>
                  </a:solidFill>
                  <a:latin typeface="微软雅黑" panose="020B0503020204020204" pitchFamily="34" charset="-122"/>
                  <a:ea typeface="微软雅黑" panose="020B0503020204020204" pitchFamily="34" charset="-122"/>
                </a:rPr>
                <a:t>2</a:t>
              </a:r>
            </a:p>
          </p:txBody>
        </p:sp>
        <p:sp>
          <p:nvSpPr>
            <p:cNvPr id="21" name="Text Box 20"/>
            <p:cNvSpPr txBox="1">
              <a:spLocks noChangeArrowheads="1"/>
            </p:cNvSpPr>
            <p:nvPr/>
          </p:nvSpPr>
          <p:spPr bwMode="auto">
            <a:xfrm>
              <a:off x="2698149" y="3853980"/>
              <a:ext cx="737692" cy="29930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000" b="1" dirty="0">
                  <a:solidFill>
                    <a:srgbClr val="1C1C1C"/>
                  </a:solidFill>
                  <a:latin typeface="微软雅黑" panose="020B0503020204020204" pitchFamily="34" charset="-122"/>
                  <a:ea typeface="微软雅黑" panose="020B0503020204020204" pitchFamily="34" charset="-122"/>
                </a:rPr>
                <a:t>网络 </a:t>
              </a:r>
              <a:r>
                <a:rPr kumimoji="1" lang="en-US" altLang="zh-CN" sz="2000" b="1" dirty="0">
                  <a:solidFill>
                    <a:srgbClr val="1C1C1C"/>
                  </a:solidFill>
                  <a:latin typeface="微软雅黑" panose="020B0503020204020204" pitchFamily="34" charset="-122"/>
                  <a:ea typeface="微软雅黑" panose="020B0503020204020204" pitchFamily="34" charset="-122"/>
                </a:rPr>
                <a:t>1</a:t>
              </a:r>
            </a:p>
          </p:txBody>
        </p:sp>
        <p:sp>
          <p:nvSpPr>
            <p:cNvPr id="22" name="Line 21"/>
            <p:cNvSpPr>
              <a:spLocks noChangeShapeType="1"/>
            </p:cNvSpPr>
            <p:nvPr/>
          </p:nvSpPr>
          <p:spPr bwMode="auto">
            <a:xfrm>
              <a:off x="1898735" y="3738261"/>
              <a:ext cx="762686" cy="265113"/>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22"/>
            <p:cNvSpPr>
              <a:spLocks noChangeShapeType="1"/>
            </p:cNvSpPr>
            <p:nvPr/>
          </p:nvSpPr>
          <p:spPr bwMode="auto">
            <a:xfrm flipH="1">
              <a:off x="3534186" y="3745800"/>
              <a:ext cx="493964" cy="26000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3"/>
            <p:cNvSpPr>
              <a:spLocks noChangeShapeType="1"/>
            </p:cNvSpPr>
            <p:nvPr/>
          </p:nvSpPr>
          <p:spPr bwMode="auto">
            <a:xfrm>
              <a:off x="4634406" y="3738262"/>
              <a:ext cx="602188" cy="260486"/>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24"/>
            <p:cNvSpPr>
              <a:spLocks noChangeShapeType="1"/>
            </p:cNvSpPr>
            <p:nvPr/>
          </p:nvSpPr>
          <p:spPr bwMode="auto">
            <a:xfrm flipH="1">
              <a:off x="6035746" y="3739849"/>
              <a:ext cx="696842" cy="265957"/>
            </a:xfrm>
            <a:prstGeom prst="line">
              <a:avLst/>
            </a:prstGeom>
            <a:noFill/>
            <a:ln w="28575">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5"/>
            <p:cNvSpPr txBox="1">
              <a:spLocks noChangeArrowheads="1"/>
            </p:cNvSpPr>
            <p:nvPr/>
          </p:nvSpPr>
          <p:spPr bwMode="auto">
            <a:xfrm>
              <a:off x="6644514" y="2253950"/>
              <a:ext cx="754164" cy="1511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2000" b="1" dirty="0">
                  <a:solidFill>
                    <a:schemeClr val="bg1"/>
                  </a:solidFill>
                  <a:latin typeface="微软雅黑" panose="020B0503020204020204" pitchFamily="34" charset="-122"/>
                  <a:ea typeface="微软雅黑" panose="020B0503020204020204" pitchFamily="34" charset="-122"/>
                </a:rPr>
                <a:t>应用层</a:t>
              </a:r>
            </a:p>
            <a:p>
              <a:pPr algn="ctr">
                <a:lnSpc>
                  <a:spcPct val="130000"/>
                </a:lnSpc>
              </a:pPr>
              <a:r>
                <a:rPr kumimoji="1" lang="zh-CN" altLang="en-US" sz="2000" b="1" dirty="0" smtClean="0">
                  <a:solidFill>
                    <a:schemeClr val="bg1"/>
                  </a:solidFill>
                  <a:latin typeface="微软雅黑" panose="020B0503020204020204" pitchFamily="34" charset="-122"/>
                  <a:ea typeface="微软雅黑" panose="020B0503020204020204" pitchFamily="34" charset="-122"/>
                </a:rPr>
                <a:t>运输层</a:t>
              </a:r>
              <a:endParaRPr kumimoji="1" lang="zh-CN" altLang="en-US" sz="2000" b="1" dirty="0">
                <a:solidFill>
                  <a:schemeClr val="bg1"/>
                </a:solidFill>
                <a:latin typeface="微软雅黑" panose="020B0503020204020204" pitchFamily="34" charset="-122"/>
                <a:ea typeface="微软雅黑" panose="020B0503020204020204" pitchFamily="34" charset="-122"/>
              </a:endParaRPr>
            </a:p>
            <a:p>
              <a:pPr algn="ctr">
                <a:lnSpc>
                  <a:spcPct val="130000"/>
                </a:lnSpc>
                <a:spcBef>
                  <a:spcPts val="200"/>
                </a:spcBef>
              </a:pPr>
              <a:r>
                <a:rPr kumimoji="1" lang="zh-CN" altLang="en-US" sz="2000" b="1" dirty="0">
                  <a:solidFill>
                    <a:schemeClr val="bg1"/>
                  </a:solidFill>
                  <a:latin typeface="微软雅黑" panose="020B0503020204020204" pitchFamily="34" charset="-122"/>
                  <a:ea typeface="微软雅黑" panose="020B0503020204020204" pitchFamily="34" charset="-122"/>
                </a:rPr>
                <a:t>网际层</a:t>
              </a:r>
            </a:p>
            <a:p>
              <a:pPr algn="ctr">
                <a:lnSpc>
                  <a:spcPct val="130000"/>
                </a:lnSpc>
                <a:spcBef>
                  <a:spcPts val="200"/>
                </a:spcBef>
              </a:pPr>
              <a:r>
                <a:rPr kumimoji="1" lang="zh-CN" altLang="en-US" sz="2000" b="1" dirty="0">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2000" b="1" dirty="0">
                  <a:solidFill>
                    <a:schemeClr val="bg1"/>
                  </a:solidFill>
                  <a:latin typeface="微软雅黑" panose="020B0503020204020204" pitchFamily="34" charset="-122"/>
                  <a:ea typeface="微软雅黑" panose="020B0503020204020204" pitchFamily="34" charset="-122"/>
                </a:rPr>
                <a:t>接口层</a:t>
              </a:r>
            </a:p>
          </p:txBody>
        </p:sp>
        <p:sp>
          <p:nvSpPr>
            <p:cNvPr id="27" name="Text Box 26"/>
            <p:cNvSpPr txBox="1">
              <a:spLocks noChangeArrowheads="1"/>
            </p:cNvSpPr>
            <p:nvPr/>
          </p:nvSpPr>
          <p:spPr bwMode="auto">
            <a:xfrm>
              <a:off x="3920281" y="2869900"/>
              <a:ext cx="754164" cy="874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zh-CN" altLang="en-US" sz="2000" b="1" dirty="0">
                  <a:solidFill>
                    <a:schemeClr val="bg1"/>
                  </a:solidFill>
                  <a:latin typeface="微软雅黑" panose="020B0503020204020204" pitchFamily="34" charset="-122"/>
                  <a:ea typeface="微软雅黑" panose="020B0503020204020204" pitchFamily="34" charset="-122"/>
                </a:rPr>
                <a:t>网际层</a:t>
              </a:r>
            </a:p>
            <a:p>
              <a:pPr algn="ctr">
                <a:lnSpc>
                  <a:spcPct val="130000"/>
                </a:lnSpc>
              </a:pPr>
              <a:r>
                <a:rPr kumimoji="1" lang="zh-CN" altLang="en-US" sz="2000" b="1" dirty="0">
                  <a:solidFill>
                    <a:schemeClr val="bg1"/>
                  </a:solidFill>
                  <a:latin typeface="微软雅黑" panose="020B0503020204020204" pitchFamily="34" charset="-122"/>
                  <a:ea typeface="微软雅黑" panose="020B0503020204020204" pitchFamily="34" charset="-122"/>
                </a:rPr>
                <a:t>网络</a:t>
              </a:r>
            </a:p>
            <a:p>
              <a:pPr algn="ctr">
                <a:lnSpc>
                  <a:spcPct val="90000"/>
                </a:lnSpc>
              </a:pPr>
              <a:r>
                <a:rPr kumimoji="1" lang="zh-CN" altLang="en-US" sz="2000" b="1" dirty="0">
                  <a:solidFill>
                    <a:schemeClr val="bg1"/>
                  </a:solidFill>
                  <a:latin typeface="微软雅黑" panose="020B0503020204020204" pitchFamily="34" charset="-122"/>
                  <a:ea typeface="微软雅黑" panose="020B0503020204020204" pitchFamily="34" charset="-122"/>
                </a:rPr>
                <a:t>接口层</a:t>
              </a:r>
            </a:p>
          </p:txBody>
        </p:sp>
        <p:sp>
          <p:nvSpPr>
            <p:cNvPr id="28" name="Text Box 27"/>
            <p:cNvSpPr txBox="1">
              <a:spLocks noChangeArrowheads="1"/>
            </p:cNvSpPr>
            <p:nvPr/>
          </p:nvSpPr>
          <p:spPr bwMode="auto">
            <a:xfrm>
              <a:off x="703871" y="2233312"/>
              <a:ext cx="271408" cy="132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30000"/>
                </a:lnSpc>
              </a:pPr>
              <a:r>
                <a:rPr kumimoji="1" lang="en-US" altLang="zh-CN" sz="2000" b="1" dirty="0">
                  <a:solidFill>
                    <a:srgbClr val="000099"/>
                  </a:solidFill>
                  <a:latin typeface="微软雅黑" panose="020B0503020204020204" pitchFamily="34" charset="-122"/>
                  <a:ea typeface="微软雅黑" panose="020B0503020204020204" pitchFamily="34" charset="-122"/>
                </a:rPr>
                <a:t>4</a:t>
              </a:r>
            </a:p>
            <a:p>
              <a:pPr algn="ctr">
                <a:lnSpc>
                  <a:spcPct val="130000"/>
                </a:lnSpc>
              </a:pPr>
              <a:r>
                <a:rPr kumimoji="1" lang="en-US" altLang="zh-CN" sz="2000" b="1" dirty="0">
                  <a:solidFill>
                    <a:srgbClr val="000099"/>
                  </a:solidFill>
                  <a:latin typeface="微软雅黑" panose="020B0503020204020204" pitchFamily="34" charset="-122"/>
                  <a:ea typeface="微软雅黑" panose="020B0503020204020204" pitchFamily="34" charset="-122"/>
                </a:rPr>
                <a:t>3</a:t>
              </a:r>
            </a:p>
            <a:p>
              <a:pPr algn="ctr">
                <a:lnSpc>
                  <a:spcPct val="130000"/>
                </a:lnSpc>
              </a:pPr>
              <a:r>
                <a:rPr kumimoji="1" lang="en-US" altLang="zh-CN" sz="2000" b="1" dirty="0">
                  <a:solidFill>
                    <a:srgbClr val="000099"/>
                  </a:solidFill>
                  <a:latin typeface="微软雅黑" panose="020B0503020204020204" pitchFamily="34" charset="-122"/>
                  <a:ea typeface="微软雅黑" panose="020B0503020204020204" pitchFamily="34" charset="-122"/>
                </a:rPr>
                <a:t>2</a:t>
              </a:r>
            </a:p>
            <a:p>
              <a:pPr algn="ctr">
                <a:lnSpc>
                  <a:spcPct val="155000"/>
                </a:lnSpc>
              </a:pPr>
              <a:r>
                <a:rPr kumimoji="1" lang="en-US" altLang="zh-CN" sz="2000" b="1" dirty="0">
                  <a:solidFill>
                    <a:srgbClr val="000099"/>
                  </a:solidFill>
                  <a:latin typeface="微软雅黑" panose="020B0503020204020204" pitchFamily="34" charset="-122"/>
                  <a:ea typeface="微软雅黑" panose="020B0503020204020204" pitchFamily="34" charset="-122"/>
                </a:rPr>
                <a:t>1</a:t>
              </a:r>
            </a:p>
          </p:txBody>
        </p:sp>
        <p:sp>
          <p:nvSpPr>
            <p:cNvPr id="30" name="矩形 31"/>
            <p:cNvSpPr>
              <a:spLocks noChangeArrowheads="1"/>
            </p:cNvSpPr>
            <p:nvPr/>
          </p:nvSpPr>
          <p:spPr bwMode="auto">
            <a:xfrm>
              <a:off x="764364" y="4330400"/>
              <a:ext cx="7399333" cy="345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400" b="1" dirty="0">
                  <a:solidFill>
                    <a:srgbClr val="000066"/>
                  </a:solidFill>
                  <a:latin typeface="微软雅黑" panose="020B0503020204020204" pitchFamily="34" charset="-122"/>
                  <a:ea typeface="微软雅黑" panose="020B0503020204020204" pitchFamily="34" charset="-122"/>
                </a:rPr>
                <a:t>路由器在转发分组时</a:t>
              </a:r>
              <a:r>
                <a:rPr lang="zh-CN" altLang="en-US" sz="2400" b="1" dirty="0">
                  <a:solidFill>
                    <a:srgbClr val="C00000"/>
                  </a:solidFill>
                  <a:latin typeface="微软雅黑" panose="020B0503020204020204" pitchFamily="34" charset="-122"/>
                  <a:ea typeface="微软雅黑" panose="020B0503020204020204" pitchFamily="34" charset="-122"/>
                </a:rPr>
                <a:t>最高</a:t>
              </a:r>
              <a:r>
                <a:rPr lang="zh-CN" altLang="en-US" sz="2400" b="1" dirty="0">
                  <a:solidFill>
                    <a:srgbClr val="000066"/>
                  </a:solidFill>
                  <a:latin typeface="微软雅黑" panose="020B0503020204020204" pitchFamily="34" charset="-122"/>
                  <a:ea typeface="微软雅黑" panose="020B0503020204020204" pitchFamily="34" charset="-122"/>
                </a:rPr>
                <a:t>只用到</a:t>
              </a:r>
              <a:r>
                <a:rPr lang="zh-CN" altLang="en-US" sz="2400" b="1" dirty="0">
                  <a:solidFill>
                    <a:srgbClr val="C00000"/>
                  </a:solidFill>
                  <a:latin typeface="微软雅黑" panose="020B0503020204020204" pitchFamily="34" charset="-122"/>
                  <a:ea typeface="微软雅黑" panose="020B0503020204020204" pitchFamily="34" charset="-122"/>
                </a:rPr>
                <a:t>网际</a:t>
              </a:r>
              <a:r>
                <a:rPr lang="zh-CN" altLang="en-US" sz="2400" b="1" dirty="0" smtClean="0">
                  <a:solidFill>
                    <a:srgbClr val="C00000"/>
                  </a:solidFill>
                  <a:latin typeface="微软雅黑" panose="020B0503020204020204" pitchFamily="34" charset="-122"/>
                  <a:ea typeface="微软雅黑" panose="020B0503020204020204" pitchFamily="34" charset="-122"/>
                </a:rPr>
                <a:t>层，</a:t>
              </a:r>
              <a:r>
                <a:rPr lang="zh-CN" altLang="en-US" sz="2400" b="1" dirty="0" smtClean="0">
                  <a:solidFill>
                    <a:srgbClr val="000066"/>
                  </a:solidFill>
                  <a:latin typeface="微软雅黑" panose="020B0503020204020204" pitchFamily="34" charset="-122"/>
                  <a:ea typeface="微软雅黑" panose="020B0503020204020204" pitchFamily="34" charset="-122"/>
                </a:rPr>
                <a:t>没有</a:t>
              </a:r>
              <a:r>
                <a:rPr lang="zh-CN" altLang="en-US" sz="2400" b="1" dirty="0">
                  <a:solidFill>
                    <a:srgbClr val="000066"/>
                  </a:solidFill>
                  <a:latin typeface="微软雅黑" panose="020B0503020204020204" pitchFamily="34" charset="-122"/>
                  <a:ea typeface="微软雅黑" panose="020B0503020204020204" pitchFamily="34" charset="-122"/>
                </a:rPr>
                <a:t>使用运输层和应用层。 </a:t>
              </a:r>
            </a:p>
          </p:txBody>
        </p:sp>
        <p:sp>
          <p:nvSpPr>
            <p:cNvPr id="31" name="Text Box 29"/>
            <p:cNvSpPr txBox="1">
              <a:spLocks noChangeArrowheads="1"/>
            </p:cNvSpPr>
            <p:nvPr/>
          </p:nvSpPr>
          <p:spPr bwMode="auto">
            <a:xfrm>
              <a:off x="1333543" y="1075100"/>
              <a:ext cx="702214" cy="276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b="1" dirty="0">
                  <a:solidFill>
                    <a:srgbClr val="C00000"/>
                  </a:solidFill>
                  <a:latin typeface="微软雅黑" panose="020B0503020204020204" pitchFamily="34" charset="-122"/>
                  <a:ea typeface="微软雅黑" panose="020B0503020204020204" pitchFamily="34" charset="-122"/>
                </a:rPr>
                <a:t>主机 </a:t>
              </a:r>
              <a:r>
                <a:rPr kumimoji="1" lang="en-US" altLang="zh-CN" b="1" dirty="0" smtClean="0">
                  <a:solidFill>
                    <a:srgbClr val="C00000"/>
                  </a:solidFill>
                  <a:latin typeface="微软雅黑" panose="020B0503020204020204" pitchFamily="34" charset="-122"/>
                  <a:ea typeface="微软雅黑" panose="020B0503020204020204" pitchFamily="34" charset="-122"/>
                </a:rPr>
                <a:t>A</a:t>
              </a:r>
              <a:endParaRPr kumimoji="1" lang="en-US" altLang="zh-CN" b="1" dirty="0">
                <a:solidFill>
                  <a:srgbClr val="C00000"/>
                </a:solidFill>
                <a:latin typeface="微软雅黑" panose="020B0503020204020204" pitchFamily="34" charset="-122"/>
                <a:ea typeface="微软雅黑" panose="020B0503020204020204" pitchFamily="34" charset="-122"/>
              </a:endParaRPr>
            </a:p>
          </p:txBody>
        </p:sp>
        <p:sp>
          <p:nvSpPr>
            <p:cNvPr id="32" name="Text Box 29"/>
            <p:cNvSpPr txBox="1">
              <a:spLocks noChangeArrowheads="1"/>
            </p:cNvSpPr>
            <p:nvPr/>
          </p:nvSpPr>
          <p:spPr bwMode="auto">
            <a:xfrm>
              <a:off x="6854584" y="1075100"/>
              <a:ext cx="689544" cy="276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b="1" dirty="0">
                  <a:solidFill>
                    <a:srgbClr val="C00000"/>
                  </a:solidFill>
                  <a:latin typeface="微软雅黑" panose="020B0503020204020204" pitchFamily="34" charset="-122"/>
                  <a:ea typeface="微软雅黑" panose="020B0503020204020204" pitchFamily="34" charset="-122"/>
                </a:rPr>
                <a:t>主机 </a:t>
              </a:r>
              <a:r>
                <a:rPr kumimoji="1" lang="en-US" altLang="zh-CN" b="1" dirty="0" smtClean="0">
                  <a:solidFill>
                    <a:srgbClr val="C00000"/>
                  </a:solidFill>
                  <a:latin typeface="微软雅黑" panose="020B0503020204020204" pitchFamily="34" charset="-122"/>
                  <a:ea typeface="微软雅黑" panose="020B0503020204020204" pitchFamily="34" charset="-122"/>
                </a:rPr>
                <a:t>B</a:t>
              </a:r>
              <a:endParaRPr kumimoji="1" lang="en-US" altLang="zh-CN" b="1" dirty="0">
                <a:solidFill>
                  <a:srgbClr val="C00000"/>
                </a:solidFill>
                <a:latin typeface="微软雅黑" panose="020B0503020204020204" pitchFamily="34" charset="-122"/>
                <a:ea typeface="微软雅黑" panose="020B0503020204020204" pitchFamily="34" charset="-122"/>
              </a:endParaRPr>
            </a:p>
          </p:txBody>
        </p:sp>
        <p:sp>
          <p:nvSpPr>
            <p:cNvPr id="33" name="Text Box 29"/>
            <p:cNvSpPr txBox="1">
              <a:spLocks noChangeArrowheads="1"/>
            </p:cNvSpPr>
            <p:nvPr/>
          </p:nvSpPr>
          <p:spPr bwMode="auto">
            <a:xfrm>
              <a:off x="4065605" y="1075100"/>
              <a:ext cx="693344" cy="276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lg"/>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defRPr>
                  <a:solidFill>
                    <a:schemeClr val="tx1"/>
                  </a:solidFill>
                  <a:latin typeface="Calibri" panose="020F0502020204030204" pitchFamily="34" charset="0"/>
                  <a:ea typeface="宋体" panose="02010600030101010101" pitchFamily="2" charset="-122"/>
                </a:defRPr>
              </a:lvl1pPr>
              <a:lvl2pPr marL="742950" indent="-285750" defTabSz="762000">
                <a:defRPr>
                  <a:solidFill>
                    <a:schemeClr val="tx1"/>
                  </a:solidFill>
                  <a:latin typeface="Calibri" panose="020F0502020204030204" pitchFamily="34" charset="0"/>
                  <a:ea typeface="宋体" panose="02010600030101010101" pitchFamily="2" charset="-122"/>
                </a:defRPr>
              </a:lvl2pPr>
              <a:lvl3pPr marL="1143000" indent="-228600" defTabSz="762000">
                <a:defRPr>
                  <a:solidFill>
                    <a:schemeClr val="tx1"/>
                  </a:solidFill>
                  <a:latin typeface="Calibri" panose="020F0502020204030204" pitchFamily="34" charset="0"/>
                  <a:ea typeface="宋体" panose="02010600030101010101" pitchFamily="2" charset="-122"/>
                </a:defRPr>
              </a:lvl3pPr>
              <a:lvl4pPr marL="1600200" indent="-228600" defTabSz="762000">
                <a:defRPr>
                  <a:solidFill>
                    <a:schemeClr val="tx1"/>
                  </a:solidFill>
                  <a:latin typeface="Calibri" panose="020F0502020204030204" pitchFamily="34" charset="0"/>
                  <a:ea typeface="宋体" panose="02010600030101010101" pitchFamily="2" charset="-122"/>
                </a:defRPr>
              </a:lvl4pPr>
              <a:lvl5pPr marL="2057400" indent="-228600" defTabSz="762000">
                <a:defRPr>
                  <a:solidFill>
                    <a:schemeClr val="tx1"/>
                  </a:solidFill>
                  <a:latin typeface="Calibri" panose="020F0502020204030204" pitchFamily="34" charset="0"/>
                  <a:ea typeface="宋体" panose="02010600030101010101" pitchFamily="2" charset="-122"/>
                </a:defRPr>
              </a:lvl5pPr>
              <a:lvl6pPr marL="25146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7620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0" hangingPunct="0"/>
              <a:r>
                <a:rPr kumimoji="1" lang="zh-CN" altLang="en-US" b="1" dirty="0" smtClean="0">
                  <a:solidFill>
                    <a:srgbClr val="C00000"/>
                  </a:solidFill>
                  <a:latin typeface="微软雅黑" panose="020B0503020204020204" pitchFamily="34" charset="-122"/>
                  <a:ea typeface="微软雅黑" panose="020B0503020204020204" pitchFamily="34" charset="-122"/>
                </a:rPr>
                <a:t>路由器</a:t>
              </a:r>
              <a:endParaRPr kumimoji="1" lang="en-US" altLang="zh-CN" b="1" dirty="0">
                <a:solidFill>
                  <a:srgbClr val="C00000"/>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1703983" y="1507958"/>
              <a:ext cx="5553552" cy="0"/>
            </a:xfrm>
            <a:prstGeom prst="line">
              <a:avLst/>
            </a:prstGeom>
            <a:ln w="19050">
              <a:solidFill>
                <a:srgbClr val="000066"/>
              </a:solidFill>
            </a:ln>
          </p:spPr>
          <p:style>
            <a:lnRef idx="1">
              <a:schemeClr val="accent1"/>
            </a:lnRef>
            <a:fillRef idx="0">
              <a:schemeClr val="accent1"/>
            </a:fillRef>
            <a:effectRef idx="0">
              <a:schemeClr val="accent1"/>
            </a:effectRef>
            <a:fontRef idx="minor">
              <a:schemeClr val="tx1"/>
            </a:fontRef>
          </p:style>
        </p:cxnSp>
        <p:pic>
          <p:nvPicPr>
            <p:cNvPr id="35" name="Picture 246"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08858" y="1312469"/>
              <a:ext cx="410222"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246" descr="jisuanji"/>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98872" y="1312469"/>
              <a:ext cx="410223" cy="410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43"/>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79983" y="1385466"/>
              <a:ext cx="454438" cy="264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8" name="组合 37"/>
            <p:cNvGrpSpPr/>
            <p:nvPr/>
          </p:nvGrpSpPr>
          <p:grpSpPr>
            <a:xfrm>
              <a:off x="2519141" y="1250953"/>
              <a:ext cx="977660" cy="448910"/>
              <a:chOff x="2461478" y="1292143"/>
              <a:chExt cx="977660" cy="448910"/>
            </a:xfrm>
          </p:grpSpPr>
          <p:grpSp>
            <p:nvGrpSpPr>
              <p:cNvPr id="39" name="Group 17"/>
              <p:cNvGrpSpPr/>
              <p:nvPr/>
            </p:nvGrpSpPr>
            <p:grpSpPr bwMode="auto">
              <a:xfrm>
                <a:off x="2461478" y="1292143"/>
                <a:ext cx="977660" cy="448910"/>
                <a:chOff x="1680" y="240"/>
                <a:chExt cx="2529" cy="1270"/>
              </a:xfrm>
              <a:solidFill>
                <a:schemeClr val="bg1"/>
              </a:solidFill>
            </p:grpSpPr>
            <p:sp>
              <p:nvSpPr>
                <p:cNvPr id="41"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2"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3"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4"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5"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6"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7"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8"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49"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40" name="文本框 48"/>
              <p:cNvSpPr txBox="1"/>
              <p:nvPr/>
            </p:nvSpPr>
            <p:spPr>
              <a:xfrm>
                <a:off x="2702534" y="1377137"/>
                <a:ext cx="618587" cy="253257"/>
              </a:xfrm>
              <a:prstGeom prst="rect">
                <a:avLst/>
              </a:prstGeom>
              <a:noFill/>
            </p:spPr>
            <p:txBody>
              <a:bodyPr wrap="none" rtlCol="0">
                <a:spAutoFit/>
              </a:bodyPr>
              <a:lstStyle/>
              <a:p>
                <a:r>
                  <a:rPr lang="zh-CN" altLang="en-US" sz="1600" b="1" dirty="0" smtClean="0">
                    <a:solidFill>
                      <a:srgbClr val="1C1C1C"/>
                    </a:solidFill>
                    <a:latin typeface="微软雅黑" panose="020B0503020204020204" pitchFamily="34" charset="-122"/>
                    <a:ea typeface="微软雅黑" panose="020B0503020204020204" pitchFamily="34" charset="-122"/>
                  </a:rPr>
                  <a:t>网络 </a:t>
                </a:r>
                <a:r>
                  <a:rPr lang="en-US" altLang="zh-CN" sz="1600" b="1" dirty="0" smtClean="0">
                    <a:solidFill>
                      <a:srgbClr val="1C1C1C"/>
                    </a:solidFill>
                    <a:latin typeface="微软雅黑" panose="020B0503020204020204" pitchFamily="34" charset="-122"/>
                    <a:ea typeface="微软雅黑" panose="020B0503020204020204" pitchFamily="34" charset="-122"/>
                  </a:rPr>
                  <a:t>1</a:t>
                </a:r>
                <a:endParaRPr lang="zh-CN" altLang="en-US" sz="1600" b="1" dirty="0">
                  <a:solidFill>
                    <a:srgbClr val="1C1C1C"/>
                  </a:solidFill>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5244462" y="1250953"/>
              <a:ext cx="977660" cy="448910"/>
              <a:chOff x="2461478" y="1292143"/>
              <a:chExt cx="977660" cy="448910"/>
            </a:xfrm>
          </p:grpSpPr>
          <p:grpSp>
            <p:nvGrpSpPr>
              <p:cNvPr id="51" name="Group 17"/>
              <p:cNvGrpSpPr/>
              <p:nvPr/>
            </p:nvGrpSpPr>
            <p:grpSpPr bwMode="auto">
              <a:xfrm>
                <a:off x="2461478" y="1292143"/>
                <a:ext cx="977660" cy="448910"/>
                <a:chOff x="1680" y="240"/>
                <a:chExt cx="2529" cy="1270"/>
              </a:xfrm>
              <a:solidFill>
                <a:schemeClr val="bg1"/>
              </a:solidFill>
            </p:grpSpPr>
            <p:sp>
              <p:nvSpPr>
                <p:cNvPr id="53" name="Oval 18"/>
                <p:cNvSpPr>
                  <a:spLocks noChangeArrowheads="1"/>
                </p:cNvSpPr>
                <p:nvPr/>
              </p:nvSpPr>
              <p:spPr bwMode="auto">
                <a:xfrm>
                  <a:off x="2554" y="240"/>
                  <a:ext cx="1088"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4" name="Oval 19"/>
                <p:cNvSpPr>
                  <a:spLocks noChangeArrowheads="1"/>
                </p:cNvSpPr>
                <p:nvPr/>
              </p:nvSpPr>
              <p:spPr bwMode="auto">
                <a:xfrm>
                  <a:off x="1941" y="381"/>
                  <a:ext cx="827" cy="513"/>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5" name="Oval 20"/>
                <p:cNvSpPr>
                  <a:spLocks noChangeArrowheads="1"/>
                </p:cNvSpPr>
                <p:nvPr/>
              </p:nvSpPr>
              <p:spPr bwMode="auto">
                <a:xfrm>
                  <a:off x="1680" y="702"/>
                  <a:ext cx="552" cy="411"/>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6" name="Oval 21"/>
                <p:cNvSpPr>
                  <a:spLocks noChangeArrowheads="1"/>
                </p:cNvSpPr>
                <p:nvPr/>
              </p:nvSpPr>
              <p:spPr bwMode="auto">
                <a:xfrm>
                  <a:off x="1849" y="894"/>
                  <a:ext cx="842" cy="450"/>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7" name="Oval 22"/>
                <p:cNvSpPr>
                  <a:spLocks noChangeArrowheads="1"/>
                </p:cNvSpPr>
                <p:nvPr/>
              </p:nvSpPr>
              <p:spPr bwMode="auto">
                <a:xfrm>
                  <a:off x="2462" y="971"/>
                  <a:ext cx="1272" cy="539"/>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8" name="Oval 23"/>
                <p:cNvSpPr>
                  <a:spLocks noChangeArrowheads="1"/>
                </p:cNvSpPr>
                <p:nvPr/>
              </p:nvSpPr>
              <p:spPr bwMode="auto">
                <a:xfrm>
                  <a:off x="3289" y="394"/>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59" name="Oval 24"/>
                <p:cNvSpPr>
                  <a:spLocks noChangeArrowheads="1"/>
                </p:cNvSpPr>
                <p:nvPr/>
              </p:nvSpPr>
              <p:spPr bwMode="auto">
                <a:xfrm>
                  <a:off x="3412" y="663"/>
                  <a:ext cx="797" cy="39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0" name="Oval 25"/>
                <p:cNvSpPr>
                  <a:spLocks noChangeArrowheads="1"/>
                </p:cNvSpPr>
                <p:nvPr/>
              </p:nvSpPr>
              <p:spPr bwMode="auto">
                <a:xfrm>
                  <a:off x="3335" y="753"/>
                  <a:ext cx="797" cy="668"/>
                </a:xfrm>
                <a:prstGeom prst="ellipse">
                  <a:avLst/>
                </a:prstGeom>
                <a:grp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a:solidFill>
                      <a:srgbClr val="368AD6"/>
                    </a:solidFill>
                    <a:latin typeface="+mn-lt"/>
                    <a:ea typeface="黑体" panose="02010609060101010101" pitchFamily="2" charset="-122"/>
                  </a:endParaRPr>
                </a:p>
              </p:txBody>
            </p:sp>
            <p:sp>
              <p:nvSpPr>
                <p:cNvPr id="61" name="Oval 26"/>
                <p:cNvSpPr>
                  <a:spLocks noChangeArrowheads="1"/>
                </p:cNvSpPr>
                <p:nvPr/>
              </p:nvSpPr>
              <p:spPr bwMode="auto">
                <a:xfrm>
                  <a:off x="2006" y="446"/>
                  <a:ext cx="1916" cy="865"/>
                </a:xfrm>
                <a:prstGeom prst="ellipse">
                  <a:avLst/>
                </a:prstGeom>
                <a:grpFill/>
                <a:ln w="9525">
                  <a:no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auto">
                    <a:spcBef>
                      <a:spcPts val="0"/>
                    </a:spcBef>
                    <a:spcAft>
                      <a:spcPts val="0"/>
                    </a:spcAft>
                    <a:defRPr/>
                  </a:pPr>
                  <a:endParaRPr lang="zh-CN" altLang="en-US" sz="1400" b="1" dirty="0">
                    <a:solidFill>
                      <a:srgbClr val="368AD6"/>
                    </a:solidFill>
                    <a:latin typeface="+mn-lt"/>
                    <a:ea typeface="黑体" panose="02010609060101010101" pitchFamily="2" charset="-122"/>
                  </a:endParaRPr>
                </a:p>
              </p:txBody>
            </p:sp>
          </p:grpSp>
          <p:sp>
            <p:nvSpPr>
              <p:cNvPr id="52" name="文本框 52"/>
              <p:cNvSpPr txBox="1"/>
              <p:nvPr/>
            </p:nvSpPr>
            <p:spPr>
              <a:xfrm>
                <a:off x="2702534" y="1377137"/>
                <a:ext cx="618587" cy="253257"/>
              </a:xfrm>
              <a:prstGeom prst="rect">
                <a:avLst/>
              </a:prstGeom>
              <a:noFill/>
            </p:spPr>
            <p:txBody>
              <a:bodyPr wrap="none" rtlCol="0">
                <a:spAutoFit/>
              </a:bodyPr>
              <a:lstStyle/>
              <a:p>
                <a:r>
                  <a:rPr lang="zh-CN" altLang="en-US" sz="1600" b="1" dirty="0" smtClean="0">
                    <a:solidFill>
                      <a:srgbClr val="1C1C1C"/>
                    </a:solidFill>
                    <a:latin typeface="微软雅黑" panose="020B0503020204020204" pitchFamily="34" charset="-122"/>
                    <a:ea typeface="微软雅黑" panose="020B0503020204020204" pitchFamily="34" charset="-122"/>
                  </a:rPr>
                  <a:t>网络 </a:t>
                </a:r>
                <a:r>
                  <a:rPr lang="en-US" altLang="zh-CN" sz="1600" b="1" dirty="0" smtClean="0">
                    <a:solidFill>
                      <a:srgbClr val="1C1C1C"/>
                    </a:solidFill>
                    <a:latin typeface="微软雅黑" panose="020B0503020204020204" pitchFamily="34" charset="-122"/>
                    <a:ea typeface="微软雅黑" panose="020B0503020204020204" pitchFamily="34" charset="-122"/>
                  </a:rPr>
                  <a:t>2</a:t>
                </a:r>
                <a:endParaRPr lang="zh-CN" altLang="en-US" sz="1600" b="1" dirty="0">
                  <a:solidFill>
                    <a:srgbClr val="1C1C1C"/>
                  </a:solidFill>
                  <a:latin typeface="微软雅黑" panose="020B0503020204020204" pitchFamily="34" charset="-122"/>
                  <a:ea typeface="微软雅黑" panose="020B0503020204020204" pitchFamily="34" charset="-122"/>
                </a:endParaRPr>
              </a:p>
            </p:txBody>
          </p:sp>
        </p:grpSp>
      </p:grpSp>
      <p:sp>
        <p:nvSpPr>
          <p:cNvPr id="62" name="矩形 30"/>
          <p:cNvSpPr>
            <a:spLocks noChangeArrowheads="1"/>
          </p:cNvSpPr>
          <p:nvPr/>
        </p:nvSpPr>
        <p:spPr bwMode="auto">
          <a:xfrm>
            <a:off x="3512835" y="2492896"/>
            <a:ext cx="43785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800" b="1" dirty="0">
                <a:solidFill>
                  <a:srgbClr val="0000FF"/>
                </a:solidFill>
                <a:latin typeface="微软雅黑" panose="020B0503020204020204" pitchFamily="34" charset="-122"/>
                <a:ea typeface="微软雅黑" panose="020B0503020204020204" pitchFamily="34" charset="-122"/>
              </a:rPr>
              <a:t>TCP/IP </a:t>
            </a:r>
            <a:r>
              <a:rPr lang="zh-CN" altLang="en-US" sz="2800" b="1" dirty="0" smtClean="0">
                <a:solidFill>
                  <a:srgbClr val="0000FF"/>
                </a:solidFill>
                <a:latin typeface="微软雅黑" panose="020B0503020204020204" pitchFamily="34" charset="-122"/>
                <a:ea typeface="微软雅黑" panose="020B0503020204020204" pitchFamily="34" charset="-122"/>
              </a:rPr>
              <a:t>四</a:t>
            </a:r>
            <a:r>
              <a:rPr lang="zh-CN" altLang="en-US" sz="2800" b="1" dirty="0">
                <a:solidFill>
                  <a:srgbClr val="0000FF"/>
                </a:solidFill>
                <a:latin typeface="微软雅黑" panose="020B0503020204020204" pitchFamily="34" charset="-122"/>
                <a:ea typeface="微软雅黑" panose="020B0503020204020204" pitchFamily="34" charset="-122"/>
              </a:rPr>
              <a:t>层</a:t>
            </a:r>
            <a:r>
              <a:rPr lang="zh-CN" altLang="en-US" sz="2800" b="1" dirty="0" smtClean="0">
                <a:solidFill>
                  <a:srgbClr val="0000FF"/>
                </a:solidFill>
                <a:latin typeface="微软雅黑" panose="020B0503020204020204" pitchFamily="34" charset="-122"/>
                <a:ea typeface="微软雅黑" panose="020B0503020204020204" pitchFamily="34" charset="-122"/>
              </a:rPr>
              <a:t>体系结构示例</a:t>
            </a:r>
            <a:endParaRPr lang="zh-CN" altLang="en-US" sz="2800" b="1"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4660726"/>
      </p:ext>
    </p:extLst>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标题 4"/>
          <p:cNvSpPr>
            <a:spLocks noGrp="1" noChangeArrowheads="1"/>
          </p:cNvSpPr>
          <p:nvPr>
            <p:ph type="title"/>
          </p:nvPr>
        </p:nvSpPr>
        <p:spPr/>
        <p:txBody>
          <a:bodyPr/>
          <a:lstStyle/>
          <a:p>
            <a:r>
              <a:rPr lang="en-US" altLang="zh-CN" dirty="0" smtClean="0"/>
              <a:t>1.7</a:t>
            </a:r>
            <a:r>
              <a:rPr lang="en-US" altLang="zh-CN" dirty="0"/>
              <a:t>.5 </a:t>
            </a:r>
            <a:r>
              <a:rPr lang="en-US" altLang="zh-CN" dirty="0" smtClean="0"/>
              <a:t>TCP/IP </a:t>
            </a:r>
            <a:r>
              <a:rPr lang="zh-CN" altLang="en-US" dirty="0"/>
              <a:t>的体系结构</a:t>
            </a:r>
          </a:p>
        </p:txBody>
      </p:sp>
      <p:sp>
        <p:nvSpPr>
          <p:cNvPr id="62" name="内容占位符 1"/>
          <p:cNvSpPr>
            <a:spLocks noGrp="1"/>
          </p:cNvSpPr>
          <p:nvPr>
            <p:ph idx="1"/>
          </p:nvPr>
        </p:nvSpPr>
        <p:spPr>
          <a:xfrm>
            <a:off x="442800" y="1267200"/>
            <a:ext cx="11304587" cy="4895850"/>
          </a:xfrm>
        </p:spPr>
        <p:txBody>
          <a:bodyPr/>
          <a:lstStyle/>
          <a:p>
            <a:r>
              <a:rPr lang="en-US" altLang="zh-CN" b="1" dirty="0" smtClean="0"/>
              <a:t>TCP/IP </a:t>
            </a:r>
            <a:r>
              <a:rPr lang="zh-CN" altLang="en-US" b="1" dirty="0" smtClean="0"/>
              <a:t>体系结构并不严格遵循分层的概念，某些</a:t>
            </a:r>
            <a:r>
              <a:rPr lang="zh-CN" altLang="en-US" b="1" dirty="0">
                <a:solidFill>
                  <a:srgbClr val="C00000"/>
                </a:solidFill>
              </a:rPr>
              <a:t>应用程序</a:t>
            </a:r>
            <a:r>
              <a:rPr lang="zh-CN" altLang="en-US" b="1" dirty="0"/>
              <a:t>可以直接使用 </a:t>
            </a:r>
            <a:r>
              <a:rPr lang="en-US" altLang="zh-CN" b="1" dirty="0"/>
              <a:t>IP </a:t>
            </a:r>
            <a:r>
              <a:rPr lang="zh-CN" altLang="en-US" b="1" dirty="0"/>
              <a:t>层</a:t>
            </a:r>
            <a:r>
              <a:rPr lang="zh-CN" altLang="en-US" b="1" dirty="0" smtClean="0"/>
              <a:t>，甚至</a:t>
            </a:r>
            <a:r>
              <a:rPr lang="zh-CN" altLang="en-US" b="1" dirty="0"/>
              <a:t>直接使用最下面的网络接口层。</a:t>
            </a:r>
          </a:p>
          <a:p>
            <a:endParaRPr lang="en-US" altLang="zh-CN" sz="3600" b="1" dirty="0"/>
          </a:p>
          <a:p>
            <a:pPr indent="0">
              <a:buNone/>
            </a:pPr>
            <a:endParaRPr lang="zh-CN" altLang="en-US" sz="3600" b="1" dirty="0"/>
          </a:p>
        </p:txBody>
      </p:sp>
      <p:grpSp>
        <p:nvGrpSpPr>
          <p:cNvPr id="2" name="组合 1"/>
          <p:cNvGrpSpPr/>
          <p:nvPr/>
        </p:nvGrpSpPr>
        <p:grpSpPr>
          <a:xfrm>
            <a:off x="2423592" y="2996952"/>
            <a:ext cx="7848872" cy="3167160"/>
            <a:chOff x="505072" y="1828799"/>
            <a:chExt cx="7658625" cy="2408325"/>
          </a:xfrm>
        </p:grpSpPr>
        <p:sp>
          <p:nvSpPr>
            <p:cNvPr id="63" name="圆角矩形 62"/>
            <p:cNvSpPr/>
            <p:nvPr/>
          </p:nvSpPr>
          <p:spPr>
            <a:xfrm>
              <a:off x="505072" y="1828799"/>
              <a:ext cx="7658625" cy="240832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64" name="组合 63"/>
            <p:cNvGrpSpPr/>
            <p:nvPr/>
          </p:nvGrpSpPr>
          <p:grpSpPr bwMode="auto">
            <a:xfrm>
              <a:off x="2809245" y="2042984"/>
              <a:ext cx="3352665" cy="1943272"/>
              <a:chOff x="2722649" y="3395364"/>
              <a:chExt cx="3559232" cy="2128590"/>
            </a:xfrm>
          </p:grpSpPr>
          <p:sp>
            <p:nvSpPr>
              <p:cNvPr id="65" name="Rectangle 5"/>
              <p:cNvSpPr>
                <a:spLocks noChangeArrowheads="1"/>
              </p:cNvSpPr>
              <p:nvPr/>
            </p:nvSpPr>
            <p:spPr bwMode="auto">
              <a:xfrm>
                <a:off x="2778939" y="3395364"/>
                <a:ext cx="3502942" cy="2128590"/>
              </a:xfrm>
              <a:prstGeom prst="rect">
                <a:avLst/>
              </a:prstGeom>
              <a:ln w="38100">
                <a:solidFill>
                  <a:srgbClr val="339933"/>
                </a:solidFill>
              </a:ln>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66" name="Line 6"/>
              <p:cNvSpPr>
                <a:spLocks noChangeShapeType="1"/>
              </p:cNvSpPr>
              <p:nvPr/>
            </p:nvSpPr>
            <p:spPr bwMode="auto">
              <a:xfrm>
                <a:off x="2778939" y="5010251"/>
                <a:ext cx="3502942" cy="0"/>
              </a:xfrm>
              <a:prstGeom prst="line">
                <a:avLst/>
              </a:prstGeom>
              <a:ln w="38100">
                <a:solidFill>
                  <a:srgbClr val="339933"/>
                </a:solidFill>
              </a:ln>
              <a:extLst>
                <a:ext uri="{909E8E84-426E-40DD-AFC4-6F175D3DCCD1}">
                  <a14:hiddenFill xmlns:a14="http://schemas.microsoft.com/office/drawing/2010/main">
                    <a:no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67" name="Freeform 7"/>
              <p:cNvSpPr/>
              <p:nvPr/>
            </p:nvSpPr>
            <p:spPr bwMode="auto">
              <a:xfrm>
                <a:off x="2778939" y="4460452"/>
                <a:ext cx="2589890" cy="531751"/>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68" name="Freeform 8"/>
              <p:cNvSpPr/>
              <p:nvPr/>
            </p:nvSpPr>
            <p:spPr bwMode="auto">
              <a:xfrm>
                <a:off x="2778939" y="3910655"/>
                <a:ext cx="1675251" cy="530957"/>
              </a:xfrm>
              <a:custGeom>
                <a:avLst/>
                <a:gdLst>
                  <a:gd name="T0" fmla="*/ 0 w 1542"/>
                  <a:gd name="T1" fmla="*/ 0 h 318"/>
                  <a:gd name="T2" fmla="*/ 1542 w 1542"/>
                  <a:gd name="T3" fmla="*/ 0 h 318"/>
                  <a:gd name="T4" fmla="*/ 1542 w 1542"/>
                  <a:gd name="T5" fmla="*/ 318 h 318"/>
                </a:gdLst>
                <a:ahLst/>
                <a:cxnLst>
                  <a:cxn ang="0">
                    <a:pos x="T0" y="T1"/>
                  </a:cxn>
                  <a:cxn ang="0">
                    <a:pos x="T2" y="T3"/>
                  </a:cxn>
                  <a:cxn ang="0">
                    <a:pos x="T4" y="T5"/>
                  </a:cxn>
                </a:cxnLst>
                <a:rect l="0" t="0" r="r" b="b"/>
                <a:pathLst>
                  <a:path w="1542" h="318">
                    <a:moveTo>
                      <a:pt x="0" y="0"/>
                    </a:moveTo>
                    <a:lnTo>
                      <a:pt x="1542" y="0"/>
                    </a:lnTo>
                    <a:lnTo>
                      <a:pt x="1542" y="318"/>
                    </a:lnTo>
                  </a:path>
                </a:pathLst>
              </a:custGeom>
              <a:ln w="38100">
                <a:solidFill>
                  <a:srgbClr val="339933"/>
                </a:solidFill>
              </a:ln>
              <a:extLst>
                <a:ext uri="{909E8E84-426E-40DD-AFC4-6F175D3DCCD1}">
                  <a14:hiddenFill xmlns:a14="http://schemas.microsoft.com/office/drawing/2010/main">
                    <a:solidFill>
                      <a:schemeClr val="accent1"/>
                    </a:solidFill>
                  </a14:hiddenFill>
                </a:ext>
              </a:extLst>
            </p:spPr>
            <p:style>
              <a:lnRef idx="2">
                <a:schemeClr val="dk1"/>
              </a:lnRef>
              <a:fillRef idx="1">
                <a:schemeClr val="lt1"/>
              </a:fillRef>
              <a:effectRef idx="0">
                <a:schemeClr val="dk1"/>
              </a:effectRef>
              <a:fontRef idx="minor">
                <a:schemeClr val="dk1"/>
              </a:fontRef>
            </p:style>
            <p:txBody>
              <a:bodyPr wrap="none" anchor="ctr"/>
              <a:lstStyle/>
              <a:p>
                <a:pPr fontAlgn="auto">
                  <a:spcBef>
                    <a:spcPts val="0"/>
                  </a:spcBef>
                  <a:spcAft>
                    <a:spcPts val="0"/>
                  </a:spcAft>
                  <a:defRPr/>
                </a:pPr>
                <a:endParaRPr lang="zh-CN" altLang="en-US" b="1">
                  <a:solidFill>
                    <a:srgbClr val="0000FF"/>
                  </a:solidFill>
                  <a:latin typeface="微软雅黑" panose="020B0503020204020204" pitchFamily="34" charset="-122"/>
                  <a:ea typeface="微软雅黑" panose="020B0503020204020204" pitchFamily="34" charset="-122"/>
                </a:endParaRPr>
              </a:p>
            </p:txBody>
          </p:sp>
          <p:sp>
            <p:nvSpPr>
              <p:cNvPr id="69" name="Line 9"/>
              <p:cNvSpPr>
                <a:spLocks noChangeShapeType="1"/>
              </p:cNvSpPr>
              <p:nvPr/>
            </p:nvSpPr>
            <p:spPr bwMode="auto">
              <a:xfrm>
                <a:off x="3616890" y="3928350"/>
                <a:ext cx="0" cy="531310"/>
              </a:xfrm>
              <a:prstGeom prst="line">
                <a:avLst/>
              </a:prstGeom>
              <a:noFill/>
              <a:ln w="38100">
                <a:solidFill>
                  <a:srgbClr val="339933"/>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微软雅黑" panose="020B0503020204020204" pitchFamily="34" charset="-122"/>
                  <a:ea typeface="微软雅黑" panose="020B0503020204020204" pitchFamily="34" charset="-122"/>
                </a:endParaRPr>
              </a:p>
            </p:txBody>
          </p:sp>
          <p:sp>
            <p:nvSpPr>
              <p:cNvPr id="70" name="Text Box 10"/>
              <p:cNvSpPr txBox="1">
                <a:spLocks noChangeArrowheads="1"/>
              </p:cNvSpPr>
              <p:nvPr/>
            </p:nvSpPr>
            <p:spPr bwMode="auto">
              <a:xfrm>
                <a:off x="2722649" y="3991336"/>
                <a:ext cx="1842247" cy="43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800" b="1" dirty="0" smtClean="0">
                    <a:solidFill>
                      <a:srgbClr val="000066"/>
                    </a:solidFill>
                    <a:latin typeface="微软雅黑" panose="020B0503020204020204" pitchFamily="34" charset="-122"/>
                    <a:ea typeface="微软雅黑" panose="020B0503020204020204" pitchFamily="34" charset="-122"/>
                  </a:rPr>
                  <a:t>TCP UDP</a:t>
                </a:r>
                <a:endParaRPr lang="en-US" altLang="zh-CN" sz="2800" b="1" dirty="0">
                  <a:solidFill>
                    <a:srgbClr val="000066"/>
                  </a:solidFill>
                  <a:latin typeface="微软雅黑" panose="020B0503020204020204" pitchFamily="34" charset="-122"/>
                  <a:ea typeface="微软雅黑" panose="020B0503020204020204" pitchFamily="34" charset="-122"/>
                </a:endParaRPr>
              </a:p>
            </p:txBody>
          </p:sp>
          <p:sp>
            <p:nvSpPr>
              <p:cNvPr id="71" name="Text Box 11"/>
              <p:cNvSpPr txBox="1">
                <a:spLocks noChangeArrowheads="1"/>
              </p:cNvSpPr>
              <p:nvPr/>
            </p:nvSpPr>
            <p:spPr bwMode="auto">
              <a:xfrm>
                <a:off x="3804968" y="4550166"/>
                <a:ext cx="559928" cy="43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800" b="1" dirty="0">
                    <a:solidFill>
                      <a:srgbClr val="000066"/>
                    </a:solidFill>
                    <a:latin typeface="微软雅黑" panose="020B0503020204020204" pitchFamily="34" charset="-122"/>
                    <a:ea typeface="微软雅黑" panose="020B0503020204020204" pitchFamily="34" charset="-122"/>
                  </a:rPr>
                  <a:t>IP</a:t>
                </a:r>
              </a:p>
            </p:txBody>
          </p:sp>
          <p:sp>
            <p:nvSpPr>
              <p:cNvPr id="72" name="Text Box 4"/>
              <p:cNvSpPr txBox="1">
                <a:spLocks noChangeArrowheads="1"/>
              </p:cNvSpPr>
              <p:nvPr/>
            </p:nvSpPr>
            <p:spPr bwMode="auto">
              <a:xfrm>
                <a:off x="4149216" y="3470787"/>
                <a:ext cx="1307162" cy="43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b="1" dirty="0">
                    <a:solidFill>
                      <a:srgbClr val="000066"/>
                    </a:solidFill>
                    <a:latin typeface="微软雅黑" panose="020B0503020204020204" pitchFamily="34" charset="-122"/>
                    <a:ea typeface="微软雅黑" panose="020B0503020204020204" pitchFamily="34" charset="-122"/>
                  </a:rPr>
                  <a:t>应用层</a:t>
                </a:r>
              </a:p>
            </p:txBody>
          </p:sp>
          <p:sp>
            <p:nvSpPr>
              <p:cNvPr id="73" name="Text Box 12"/>
              <p:cNvSpPr txBox="1">
                <a:spLocks noChangeArrowheads="1"/>
              </p:cNvSpPr>
              <p:nvPr/>
            </p:nvSpPr>
            <p:spPr bwMode="auto">
              <a:xfrm>
                <a:off x="3521447" y="5068067"/>
                <a:ext cx="2051073" cy="435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b="1" dirty="0">
                    <a:solidFill>
                      <a:srgbClr val="000066"/>
                    </a:solidFill>
                    <a:latin typeface="微软雅黑" panose="020B0503020204020204" pitchFamily="34" charset="-122"/>
                    <a:ea typeface="微软雅黑" panose="020B0503020204020204" pitchFamily="34" charset="-122"/>
                  </a:rPr>
                  <a:t>网络接口</a:t>
                </a:r>
                <a:r>
                  <a:rPr lang="zh-CN" altLang="en-US" sz="2800" b="1" dirty="0" smtClean="0">
                    <a:solidFill>
                      <a:srgbClr val="000066"/>
                    </a:solidFill>
                    <a:latin typeface="微软雅黑" panose="020B0503020204020204" pitchFamily="34" charset="-122"/>
                    <a:ea typeface="微软雅黑" panose="020B0503020204020204" pitchFamily="34" charset="-122"/>
                  </a:rPr>
                  <a:t>层</a:t>
                </a:r>
                <a:endParaRPr lang="zh-CN" altLang="en-US" sz="2800" b="1" dirty="0">
                  <a:solidFill>
                    <a:srgbClr val="000066"/>
                  </a:solidFill>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55509439"/>
      </p:ext>
    </p:extLst>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标题 4"/>
          <p:cNvSpPr>
            <a:spLocks noGrp="1" noChangeArrowheads="1"/>
          </p:cNvSpPr>
          <p:nvPr>
            <p:ph type="title"/>
          </p:nvPr>
        </p:nvSpPr>
        <p:spPr/>
        <p:txBody>
          <a:bodyPr/>
          <a:lstStyle/>
          <a:p>
            <a:r>
              <a:rPr lang="en-US" altLang="zh-CN" dirty="0" smtClean="0"/>
              <a:t>1.7</a:t>
            </a:r>
            <a:r>
              <a:rPr lang="en-US" altLang="zh-CN" dirty="0"/>
              <a:t>.5 </a:t>
            </a:r>
            <a:r>
              <a:rPr lang="en-US" altLang="zh-CN" dirty="0" smtClean="0"/>
              <a:t>TCP/IP </a:t>
            </a:r>
            <a:r>
              <a:rPr lang="zh-CN" altLang="en-US" dirty="0"/>
              <a:t>的体系结构</a:t>
            </a:r>
          </a:p>
        </p:txBody>
      </p:sp>
      <p:sp>
        <p:nvSpPr>
          <p:cNvPr id="3" name="内容占位符 2"/>
          <p:cNvSpPr>
            <a:spLocks noGrp="1"/>
          </p:cNvSpPr>
          <p:nvPr>
            <p:ph idx="1"/>
          </p:nvPr>
        </p:nvSpPr>
        <p:spPr/>
        <p:txBody>
          <a:bodyPr/>
          <a:lstStyle/>
          <a:p>
            <a:r>
              <a:rPr lang="zh-CN" altLang="en-US" b="1" dirty="0"/>
              <a:t>沙漏计时器形状的 </a:t>
            </a:r>
            <a:r>
              <a:rPr lang="en-US" altLang="zh-CN" b="1" dirty="0"/>
              <a:t>TCP/IP </a:t>
            </a:r>
            <a:r>
              <a:rPr lang="zh-CN" altLang="en-US" b="1" dirty="0"/>
              <a:t>协议族</a:t>
            </a:r>
          </a:p>
          <a:p>
            <a:endParaRPr lang="zh-CN" altLang="en-US" b="1" dirty="0"/>
          </a:p>
        </p:txBody>
      </p:sp>
      <p:grpSp>
        <p:nvGrpSpPr>
          <p:cNvPr id="2" name="组合 1"/>
          <p:cNvGrpSpPr/>
          <p:nvPr/>
        </p:nvGrpSpPr>
        <p:grpSpPr>
          <a:xfrm>
            <a:off x="1199456" y="2204864"/>
            <a:ext cx="7539641" cy="4293289"/>
            <a:chOff x="1724711" y="2420888"/>
            <a:chExt cx="5391405" cy="3387841"/>
          </a:xfrm>
        </p:grpSpPr>
        <p:grpSp>
          <p:nvGrpSpPr>
            <p:cNvPr id="56" name="组合 55"/>
            <p:cNvGrpSpPr/>
            <p:nvPr/>
          </p:nvGrpSpPr>
          <p:grpSpPr bwMode="auto">
            <a:xfrm>
              <a:off x="2138620" y="3712837"/>
              <a:ext cx="4977496" cy="2095892"/>
              <a:chOff x="1166919" y="2653839"/>
              <a:chExt cx="4977696" cy="2095296"/>
            </a:xfrm>
          </p:grpSpPr>
          <p:sp>
            <p:nvSpPr>
              <p:cNvPr id="57" name="Text Box 37"/>
              <p:cNvSpPr txBox="1">
                <a:spLocks noChangeArrowheads="1"/>
              </p:cNvSpPr>
              <p:nvPr/>
            </p:nvSpPr>
            <p:spPr bwMode="auto">
              <a:xfrm>
                <a:off x="1166919" y="4384938"/>
                <a:ext cx="4977696" cy="364197"/>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2000" b="1" dirty="0">
                    <a:solidFill>
                      <a:srgbClr val="1C1C1C"/>
                    </a:solidFill>
                    <a:latin typeface="微软雅黑" panose="020B0503020204020204" pitchFamily="34" charset="-122"/>
                    <a:ea typeface="微软雅黑" panose="020B0503020204020204" pitchFamily="34" charset="-122"/>
                  </a:rPr>
                  <a:t>IP over </a:t>
                </a:r>
                <a:r>
                  <a:rPr lang="en-US" altLang="zh-CN" sz="2000" b="1" dirty="0" smtClean="0">
                    <a:solidFill>
                      <a:srgbClr val="1C1C1C"/>
                    </a:solidFill>
                    <a:latin typeface="微软雅黑" panose="020B0503020204020204" pitchFamily="34" charset="-122"/>
                    <a:ea typeface="微软雅黑" panose="020B0503020204020204" pitchFamily="34" charset="-122"/>
                  </a:rPr>
                  <a:t>Everything</a:t>
                </a:r>
                <a:r>
                  <a:rPr lang="zh-CN" altLang="en-US" sz="2000" b="1" dirty="0" smtClean="0">
                    <a:solidFill>
                      <a:srgbClr val="1C1C1C"/>
                    </a:solidFill>
                    <a:latin typeface="微软雅黑" panose="020B0503020204020204" pitchFamily="34" charset="-122"/>
                    <a:ea typeface="微软雅黑" panose="020B0503020204020204" pitchFamily="34" charset="-122"/>
                  </a:rPr>
                  <a:t>：</a:t>
                </a:r>
                <a:r>
                  <a:rPr lang="en-US" altLang="zh-CN" sz="2000" b="1" dirty="0" smtClean="0">
                    <a:solidFill>
                      <a:srgbClr val="1C1C1C"/>
                    </a:solidFill>
                    <a:latin typeface="微软雅黑" panose="020B0503020204020204" pitchFamily="34" charset="-122"/>
                    <a:ea typeface="微软雅黑" panose="020B0503020204020204" pitchFamily="34" charset="-122"/>
                  </a:rPr>
                  <a:t>IP </a:t>
                </a:r>
                <a:r>
                  <a:rPr lang="zh-CN" altLang="en-US" sz="2000" b="1" dirty="0" smtClean="0">
                    <a:solidFill>
                      <a:srgbClr val="1C1C1C"/>
                    </a:solidFill>
                    <a:latin typeface="微软雅黑" panose="020B0503020204020204" pitchFamily="34" charset="-122"/>
                    <a:ea typeface="微软雅黑" panose="020B0503020204020204" pitchFamily="34" charset="-122"/>
                  </a:rPr>
                  <a:t>协议</a:t>
                </a:r>
                <a:r>
                  <a:rPr lang="zh-CN" altLang="en-US" sz="2000" b="1" dirty="0">
                    <a:solidFill>
                      <a:srgbClr val="1C1C1C"/>
                    </a:solidFill>
                    <a:latin typeface="微软雅黑" panose="020B0503020204020204" pitchFamily="34" charset="-122"/>
                    <a:ea typeface="微软雅黑" panose="020B0503020204020204" pitchFamily="34" charset="-122"/>
                  </a:rPr>
                  <a:t>可以在多种类型的网络上运行</a:t>
                </a:r>
              </a:p>
            </p:txBody>
          </p:sp>
          <p:sp>
            <p:nvSpPr>
              <p:cNvPr id="58" name="AutoShape 2"/>
              <p:cNvSpPr>
                <a:spLocks noChangeArrowheads="1"/>
              </p:cNvSpPr>
              <p:nvPr/>
            </p:nvSpPr>
            <p:spPr bwMode="auto">
              <a:xfrm>
                <a:off x="1283573" y="2653839"/>
                <a:ext cx="4724528" cy="1692581"/>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grpSp>
        <p:grpSp>
          <p:nvGrpSpPr>
            <p:cNvPr id="59" name="组合 58"/>
            <p:cNvGrpSpPr/>
            <p:nvPr/>
          </p:nvGrpSpPr>
          <p:grpSpPr bwMode="auto">
            <a:xfrm>
              <a:off x="2138619" y="2420888"/>
              <a:ext cx="4977497" cy="2246823"/>
              <a:chOff x="1093314" y="1740194"/>
              <a:chExt cx="6917709" cy="3122074"/>
            </a:xfrm>
          </p:grpSpPr>
          <p:sp>
            <p:nvSpPr>
              <p:cNvPr id="60" name="AutoShape 3"/>
              <p:cNvSpPr>
                <a:spLocks noChangeArrowheads="1"/>
              </p:cNvSpPr>
              <p:nvPr/>
            </p:nvSpPr>
            <p:spPr bwMode="auto">
              <a:xfrm flipV="1">
                <a:off x="1246437" y="2269258"/>
                <a:ext cx="6566083" cy="2593010"/>
              </a:xfrm>
              <a:prstGeom prst="triangle">
                <a:avLst>
                  <a:gd name="adj" fmla="val 50000"/>
                </a:avLst>
              </a:prstGeom>
              <a:solidFill>
                <a:srgbClr val="ABEBD7"/>
              </a:solidFill>
              <a:ln w="9525">
                <a:solidFill>
                  <a:srgbClr val="339933"/>
                </a:solidFill>
                <a:miter lim="800000"/>
              </a:ln>
            </p:spPr>
            <p:txBody>
              <a:bodyPr wrap="none" anchor="ctr"/>
              <a:lstStyle/>
              <a:p>
                <a:endParaRPr lang="zh-CN" altLang="en-US" b="1">
                  <a:solidFill>
                    <a:srgbClr val="000099"/>
                  </a:solidFill>
                  <a:ea typeface="黑体" panose="02010609060101010101" pitchFamily="49" charset="-122"/>
                </a:endParaRPr>
              </a:p>
            </p:txBody>
          </p:sp>
          <p:sp>
            <p:nvSpPr>
              <p:cNvPr id="61" name="Text Box 37"/>
              <p:cNvSpPr txBox="1">
                <a:spLocks noChangeArrowheads="1"/>
              </p:cNvSpPr>
              <p:nvPr/>
            </p:nvSpPr>
            <p:spPr bwMode="auto">
              <a:xfrm>
                <a:off x="1093314" y="1740194"/>
                <a:ext cx="6917709" cy="506214"/>
              </a:xfrm>
              <a:prstGeom prst="rect">
                <a:avLst/>
              </a:prstGeom>
              <a:solidFill>
                <a:srgbClr val="FFC000"/>
              </a:solidFill>
              <a:ln w="9525">
                <a:solidFill>
                  <a:srgbClr val="339933"/>
                </a:solidFill>
                <a:miter lim="800000"/>
              </a:ln>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20000"/>
                  </a:lnSpc>
                </a:pPr>
                <a:r>
                  <a:rPr lang="en-US" altLang="zh-CN" sz="2000" b="1" dirty="0">
                    <a:solidFill>
                      <a:srgbClr val="1C1C1C"/>
                    </a:solidFill>
                    <a:latin typeface="微软雅黑" panose="020B0503020204020204" pitchFamily="34" charset="-122"/>
                    <a:ea typeface="微软雅黑" panose="020B0503020204020204" pitchFamily="34" charset="-122"/>
                  </a:rPr>
                  <a:t>Everything over IP </a:t>
                </a:r>
                <a:r>
                  <a:rPr lang="zh-CN" altLang="en-US" sz="2000" b="1" dirty="0" smtClean="0">
                    <a:solidFill>
                      <a:srgbClr val="1C1C1C"/>
                    </a:solidFill>
                    <a:latin typeface="微软雅黑" panose="020B0503020204020204" pitchFamily="34" charset="-122"/>
                    <a:ea typeface="微软雅黑" panose="020B0503020204020204" pitchFamily="34" charset="-122"/>
                  </a:rPr>
                  <a:t>：</a:t>
                </a:r>
                <a:r>
                  <a:rPr lang="en-US" altLang="zh-CN" sz="2000" b="1" dirty="0" smtClean="0">
                    <a:solidFill>
                      <a:srgbClr val="1C1C1C"/>
                    </a:solidFill>
                    <a:latin typeface="微软雅黑" panose="020B0503020204020204" pitchFamily="34" charset="-122"/>
                    <a:ea typeface="微软雅黑" panose="020B0503020204020204" pitchFamily="34" charset="-122"/>
                  </a:rPr>
                  <a:t>IP </a:t>
                </a:r>
                <a:r>
                  <a:rPr lang="zh-CN" altLang="en-US" sz="2000" b="1" dirty="0">
                    <a:solidFill>
                      <a:srgbClr val="1C1C1C"/>
                    </a:solidFill>
                    <a:latin typeface="微软雅黑" panose="020B0503020204020204" pitchFamily="34" charset="-122"/>
                    <a:ea typeface="微软雅黑" panose="020B0503020204020204" pitchFamily="34" charset="-122"/>
                  </a:rPr>
                  <a:t>层可以支持多种的运输层协议</a:t>
                </a:r>
              </a:p>
            </p:txBody>
          </p:sp>
        </p:grpSp>
        <p:sp>
          <p:nvSpPr>
            <p:cNvPr id="62" name="Rectangle 5"/>
            <p:cNvSpPr>
              <a:spLocks noChangeArrowheads="1"/>
            </p:cNvSpPr>
            <p:nvPr/>
          </p:nvSpPr>
          <p:spPr bwMode="auto">
            <a:xfrm>
              <a:off x="2968027" y="2916698"/>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dirty="0">
                  <a:solidFill>
                    <a:schemeClr val="bg1"/>
                  </a:solidFill>
                  <a:latin typeface="微软雅黑" panose="020B0503020204020204" pitchFamily="34" charset="-122"/>
                  <a:ea typeface="微软雅黑" panose="020B0503020204020204" pitchFamily="34" charset="-122"/>
                </a:rPr>
                <a:t>HTTP</a:t>
              </a:r>
            </a:p>
          </p:txBody>
        </p:sp>
        <p:sp>
          <p:nvSpPr>
            <p:cNvPr id="63" name="Rectangle 6"/>
            <p:cNvSpPr>
              <a:spLocks noChangeArrowheads="1"/>
            </p:cNvSpPr>
            <p:nvPr/>
          </p:nvSpPr>
          <p:spPr bwMode="auto">
            <a:xfrm>
              <a:off x="3977677" y="2916698"/>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dirty="0">
                  <a:solidFill>
                    <a:schemeClr val="bg1"/>
                  </a:solidFill>
                  <a:latin typeface="微软雅黑" panose="020B0503020204020204" pitchFamily="34" charset="-122"/>
                  <a:ea typeface="微软雅黑" panose="020B0503020204020204" pitchFamily="34" charset="-122"/>
                </a:rPr>
                <a:t>SMTP</a:t>
              </a:r>
            </a:p>
          </p:txBody>
        </p:sp>
        <p:sp>
          <p:nvSpPr>
            <p:cNvPr id="64" name="Rectangle 7"/>
            <p:cNvSpPr>
              <a:spLocks noChangeArrowheads="1"/>
            </p:cNvSpPr>
            <p:nvPr/>
          </p:nvSpPr>
          <p:spPr bwMode="auto">
            <a:xfrm>
              <a:off x="4723802" y="2916698"/>
              <a:ext cx="531812"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a:solidFill>
                    <a:schemeClr val="bg1"/>
                  </a:solidFill>
                  <a:latin typeface="微软雅黑" panose="020B0503020204020204" pitchFamily="34" charset="-122"/>
                  <a:ea typeface="微软雅黑" panose="020B0503020204020204" pitchFamily="34" charset="-122"/>
                </a:rPr>
                <a:t>DNS</a:t>
              </a:r>
            </a:p>
          </p:txBody>
        </p:sp>
        <p:sp>
          <p:nvSpPr>
            <p:cNvPr id="65" name="Rectangle 8"/>
            <p:cNvSpPr>
              <a:spLocks noChangeArrowheads="1"/>
            </p:cNvSpPr>
            <p:nvPr/>
          </p:nvSpPr>
          <p:spPr bwMode="auto">
            <a:xfrm>
              <a:off x="5733452" y="2916698"/>
              <a:ext cx="533400" cy="238125"/>
            </a:xfrm>
            <a:prstGeom prst="rect">
              <a:avLst/>
            </a:prstGeom>
            <a:solidFill>
              <a:srgbClr val="000099"/>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dirty="0">
                  <a:solidFill>
                    <a:schemeClr val="bg1"/>
                  </a:solidFill>
                  <a:latin typeface="微软雅黑" panose="020B0503020204020204" pitchFamily="34" charset="-122"/>
                  <a:ea typeface="微软雅黑" panose="020B0503020204020204" pitchFamily="34" charset="-122"/>
                </a:rPr>
                <a:t>RTP</a:t>
              </a:r>
            </a:p>
          </p:txBody>
        </p:sp>
        <p:sp>
          <p:nvSpPr>
            <p:cNvPr id="66" name="Rectangle 9"/>
            <p:cNvSpPr>
              <a:spLocks noChangeArrowheads="1"/>
            </p:cNvSpPr>
            <p:nvPr/>
          </p:nvSpPr>
          <p:spPr bwMode="auto">
            <a:xfrm>
              <a:off x="3445864" y="3486611"/>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dirty="0">
                  <a:solidFill>
                    <a:schemeClr val="bg1"/>
                  </a:solidFill>
                  <a:latin typeface="微软雅黑" panose="020B0503020204020204" pitchFamily="34" charset="-122"/>
                  <a:ea typeface="微软雅黑" panose="020B0503020204020204" pitchFamily="34" charset="-122"/>
                </a:rPr>
                <a:t>TCP</a:t>
              </a:r>
            </a:p>
          </p:txBody>
        </p:sp>
        <p:sp>
          <p:nvSpPr>
            <p:cNvPr id="67" name="Rectangle 10"/>
            <p:cNvSpPr>
              <a:spLocks noChangeArrowheads="1"/>
            </p:cNvSpPr>
            <p:nvPr/>
          </p:nvSpPr>
          <p:spPr bwMode="auto">
            <a:xfrm>
              <a:off x="5255614" y="3486611"/>
              <a:ext cx="531813" cy="236537"/>
            </a:xfrm>
            <a:prstGeom prst="rect">
              <a:avLst/>
            </a:prstGeom>
            <a:solidFill>
              <a:srgbClr val="0098F6"/>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2000" b="1" dirty="0">
                  <a:solidFill>
                    <a:schemeClr val="bg1"/>
                  </a:solidFill>
                  <a:latin typeface="微软雅黑" panose="020B0503020204020204" pitchFamily="34" charset="-122"/>
                  <a:ea typeface="微软雅黑" panose="020B0503020204020204" pitchFamily="34" charset="-122"/>
                </a:rPr>
                <a:t>UDP</a:t>
              </a:r>
            </a:p>
          </p:txBody>
        </p:sp>
        <p:sp>
          <p:nvSpPr>
            <p:cNvPr id="68" name="Rectangle 12"/>
            <p:cNvSpPr>
              <a:spLocks noChangeArrowheads="1"/>
            </p:cNvSpPr>
            <p:nvPr/>
          </p:nvSpPr>
          <p:spPr bwMode="auto">
            <a:xfrm>
              <a:off x="2968027" y="4947111"/>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69" name="Rectangle 13"/>
            <p:cNvSpPr>
              <a:spLocks noChangeArrowheads="1"/>
            </p:cNvSpPr>
            <p:nvPr/>
          </p:nvSpPr>
          <p:spPr bwMode="auto">
            <a:xfrm>
              <a:off x="4085627" y="4947111"/>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70" name="Rectangle 14"/>
            <p:cNvSpPr>
              <a:spLocks noChangeArrowheads="1"/>
            </p:cNvSpPr>
            <p:nvPr/>
          </p:nvSpPr>
          <p:spPr bwMode="auto">
            <a:xfrm>
              <a:off x="5415952" y="4947111"/>
              <a:ext cx="850900" cy="230187"/>
            </a:xfrm>
            <a:prstGeom prst="rect">
              <a:avLst/>
            </a:prstGeom>
            <a:solidFill>
              <a:srgbClr val="00B0F0"/>
            </a:solidFill>
            <a:ln>
              <a:no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endParaRPr kumimoji="1" lang="zh-CN" altLang="zh-CN" sz="1600" b="1">
                <a:solidFill>
                  <a:srgbClr val="000099"/>
                </a:solidFill>
                <a:ea typeface="黑体" panose="02010609060101010101" pitchFamily="49" charset="-122"/>
              </a:endParaRPr>
            </a:p>
          </p:txBody>
        </p:sp>
        <p:sp>
          <p:nvSpPr>
            <p:cNvPr id="71" name="Line 15"/>
            <p:cNvSpPr>
              <a:spLocks noChangeShapeType="1"/>
            </p:cNvSpPr>
            <p:nvPr/>
          </p:nvSpPr>
          <p:spPr bwMode="auto">
            <a:xfrm>
              <a:off x="2202852" y="4580398"/>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16"/>
            <p:cNvSpPr>
              <a:spLocks noChangeShapeType="1"/>
            </p:cNvSpPr>
            <p:nvPr/>
          </p:nvSpPr>
          <p:spPr bwMode="auto">
            <a:xfrm>
              <a:off x="2202852" y="3962861"/>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 name="Line 17"/>
            <p:cNvSpPr>
              <a:spLocks noChangeShapeType="1"/>
            </p:cNvSpPr>
            <p:nvPr/>
          </p:nvSpPr>
          <p:spPr bwMode="auto">
            <a:xfrm>
              <a:off x="2202852" y="3343736"/>
              <a:ext cx="4789487" cy="0"/>
            </a:xfrm>
            <a:prstGeom prst="line">
              <a:avLst/>
            </a:prstGeom>
            <a:noFill/>
            <a:ln w="28575">
              <a:solidFill>
                <a:srgbClr val="CC00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Text Box 18"/>
            <p:cNvSpPr txBox="1">
              <a:spLocks noChangeArrowheads="1"/>
            </p:cNvSpPr>
            <p:nvPr/>
          </p:nvSpPr>
          <p:spPr bwMode="auto">
            <a:xfrm>
              <a:off x="1827898" y="4081923"/>
              <a:ext cx="682258" cy="315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000" b="1" dirty="0">
                  <a:solidFill>
                    <a:srgbClr val="1C1C1C"/>
                  </a:solidFill>
                  <a:latin typeface="微软雅黑" panose="020B0503020204020204" pitchFamily="34" charset="-122"/>
                  <a:ea typeface="微软雅黑" panose="020B0503020204020204" pitchFamily="34" charset="-122"/>
                </a:rPr>
                <a:t>网际层</a:t>
              </a:r>
            </a:p>
          </p:txBody>
        </p:sp>
        <p:sp>
          <p:nvSpPr>
            <p:cNvPr id="75" name="Text Box 19"/>
            <p:cNvSpPr txBox="1">
              <a:spLocks noChangeArrowheads="1"/>
            </p:cNvSpPr>
            <p:nvPr/>
          </p:nvSpPr>
          <p:spPr bwMode="auto">
            <a:xfrm>
              <a:off x="1724711" y="4842335"/>
              <a:ext cx="1049063" cy="315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000" b="1" dirty="0">
                  <a:solidFill>
                    <a:srgbClr val="1C1C1C"/>
                  </a:solidFill>
                  <a:latin typeface="微软雅黑" panose="020B0503020204020204" pitchFamily="34" charset="-122"/>
                  <a:ea typeface="微软雅黑" panose="020B0503020204020204" pitchFamily="34" charset="-122"/>
                </a:rPr>
                <a:t>网络接口层</a:t>
              </a:r>
            </a:p>
          </p:txBody>
        </p:sp>
        <p:sp>
          <p:nvSpPr>
            <p:cNvPr id="76" name="Text Box 20"/>
            <p:cNvSpPr txBox="1">
              <a:spLocks noChangeArrowheads="1"/>
            </p:cNvSpPr>
            <p:nvPr/>
          </p:nvSpPr>
          <p:spPr bwMode="auto">
            <a:xfrm>
              <a:off x="1827898" y="3475498"/>
              <a:ext cx="682258" cy="315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000" b="1" dirty="0">
                  <a:solidFill>
                    <a:srgbClr val="1C1C1C"/>
                  </a:solidFill>
                  <a:latin typeface="微软雅黑" panose="020B0503020204020204" pitchFamily="34" charset="-122"/>
                  <a:ea typeface="微软雅黑" panose="020B0503020204020204" pitchFamily="34" charset="-122"/>
                </a:rPr>
                <a:t>运输层</a:t>
              </a:r>
            </a:p>
          </p:txBody>
        </p:sp>
        <p:sp>
          <p:nvSpPr>
            <p:cNvPr id="77" name="Text Box 21"/>
            <p:cNvSpPr txBox="1">
              <a:spLocks noChangeArrowheads="1"/>
            </p:cNvSpPr>
            <p:nvPr/>
          </p:nvSpPr>
          <p:spPr bwMode="auto">
            <a:xfrm>
              <a:off x="1827898" y="2910348"/>
              <a:ext cx="682258" cy="315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2000" b="1" dirty="0">
                  <a:solidFill>
                    <a:srgbClr val="1C1C1C"/>
                  </a:solidFill>
                  <a:latin typeface="微软雅黑" panose="020B0503020204020204" pitchFamily="34" charset="-122"/>
                  <a:ea typeface="微软雅黑" panose="020B0503020204020204" pitchFamily="34" charset="-122"/>
                </a:rPr>
                <a:t>应用层</a:t>
              </a:r>
            </a:p>
          </p:txBody>
        </p:sp>
        <p:sp>
          <p:nvSpPr>
            <p:cNvPr id="78" name="Text Box 22"/>
            <p:cNvSpPr txBox="1">
              <a:spLocks noChangeArrowheads="1"/>
            </p:cNvSpPr>
            <p:nvPr/>
          </p:nvSpPr>
          <p:spPr bwMode="auto">
            <a:xfrm>
              <a:off x="3582389" y="2865898"/>
              <a:ext cx="265113"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79" name="Text Box 23"/>
            <p:cNvSpPr txBox="1">
              <a:spLocks noChangeArrowheads="1"/>
            </p:cNvSpPr>
            <p:nvPr/>
          </p:nvSpPr>
          <p:spPr bwMode="auto">
            <a:xfrm>
              <a:off x="5342927" y="2865898"/>
              <a:ext cx="265112" cy="24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2000" b="1">
                  <a:solidFill>
                    <a:srgbClr val="000099"/>
                  </a:solidFill>
                  <a:ea typeface="黑体" panose="02010609060101010101" pitchFamily="49" charset="-122"/>
                </a:rPr>
                <a:t>…</a:t>
              </a:r>
            </a:p>
          </p:txBody>
        </p:sp>
        <p:sp>
          <p:nvSpPr>
            <p:cNvPr id="80" name="Text Box 24"/>
            <p:cNvSpPr txBox="1">
              <a:spLocks noChangeArrowheads="1"/>
            </p:cNvSpPr>
            <p:nvPr/>
          </p:nvSpPr>
          <p:spPr bwMode="auto">
            <a:xfrm>
              <a:off x="5046064" y="4913773"/>
              <a:ext cx="234950" cy="204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600" b="1">
                  <a:solidFill>
                    <a:srgbClr val="000099"/>
                  </a:solidFill>
                  <a:ea typeface="黑体" panose="02010609060101010101" pitchFamily="49" charset="-122"/>
                </a:rPr>
                <a:t>…</a:t>
              </a:r>
            </a:p>
          </p:txBody>
        </p:sp>
        <p:sp>
          <p:nvSpPr>
            <p:cNvPr id="81" name="Line 25"/>
            <p:cNvSpPr>
              <a:spLocks noChangeShapeType="1"/>
            </p:cNvSpPr>
            <p:nvPr/>
          </p:nvSpPr>
          <p:spPr bwMode="auto">
            <a:xfrm>
              <a:off x="3225202" y="3170698"/>
              <a:ext cx="333375" cy="3302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26"/>
            <p:cNvSpPr>
              <a:spLocks noChangeShapeType="1"/>
            </p:cNvSpPr>
            <p:nvPr/>
          </p:nvSpPr>
          <p:spPr bwMode="auto">
            <a:xfrm>
              <a:off x="4977802" y="3181811"/>
              <a:ext cx="384175" cy="2984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Line 27"/>
            <p:cNvSpPr>
              <a:spLocks noChangeShapeType="1"/>
            </p:cNvSpPr>
            <p:nvPr/>
          </p:nvSpPr>
          <p:spPr bwMode="auto">
            <a:xfrm flipH="1">
              <a:off x="3853852" y="3172286"/>
              <a:ext cx="381000" cy="312737"/>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 name="Line 28"/>
            <p:cNvSpPr>
              <a:spLocks noChangeShapeType="1"/>
            </p:cNvSpPr>
            <p:nvPr/>
          </p:nvSpPr>
          <p:spPr bwMode="auto">
            <a:xfrm flipH="1">
              <a:off x="5627089" y="3172286"/>
              <a:ext cx="373063" cy="31750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 name="Line 29"/>
            <p:cNvSpPr>
              <a:spLocks noChangeShapeType="1"/>
            </p:cNvSpPr>
            <p:nvPr/>
          </p:nvSpPr>
          <p:spPr bwMode="auto">
            <a:xfrm>
              <a:off x="3709389" y="3742198"/>
              <a:ext cx="750888" cy="40005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 name="Line 30"/>
            <p:cNvSpPr>
              <a:spLocks noChangeShapeType="1"/>
            </p:cNvSpPr>
            <p:nvPr/>
          </p:nvSpPr>
          <p:spPr bwMode="auto">
            <a:xfrm flipH="1">
              <a:off x="4776189" y="3751723"/>
              <a:ext cx="752475" cy="39052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 name="Line 31"/>
            <p:cNvSpPr>
              <a:spLocks noChangeShapeType="1"/>
            </p:cNvSpPr>
            <p:nvPr/>
          </p:nvSpPr>
          <p:spPr bwMode="auto">
            <a:xfrm>
              <a:off x="4804764" y="4421648"/>
              <a:ext cx="1063625" cy="50641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 name="Line 32"/>
            <p:cNvSpPr>
              <a:spLocks noChangeShapeType="1"/>
            </p:cNvSpPr>
            <p:nvPr/>
          </p:nvSpPr>
          <p:spPr bwMode="auto">
            <a:xfrm flipH="1">
              <a:off x="3329977" y="4416886"/>
              <a:ext cx="1074737" cy="511175"/>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Line 33"/>
            <p:cNvSpPr>
              <a:spLocks noChangeShapeType="1"/>
            </p:cNvSpPr>
            <p:nvPr/>
          </p:nvSpPr>
          <p:spPr bwMode="auto">
            <a:xfrm flipH="1">
              <a:off x="4458689" y="4389898"/>
              <a:ext cx="158750" cy="538163"/>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 name="Text Box 34"/>
            <p:cNvSpPr txBox="1">
              <a:spLocks noChangeArrowheads="1"/>
            </p:cNvSpPr>
            <p:nvPr/>
          </p:nvSpPr>
          <p:spPr bwMode="auto">
            <a:xfrm>
              <a:off x="2928818" y="4923298"/>
              <a:ext cx="943607" cy="29144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b="1">
                  <a:solidFill>
                    <a:schemeClr val="bg1"/>
                  </a:solidFill>
                  <a:latin typeface="微软雅黑" panose="020B0503020204020204" pitchFamily="34" charset="-122"/>
                  <a:ea typeface="微软雅黑" panose="020B0503020204020204" pitchFamily="34" charset="-122"/>
                </a:rPr>
                <a:t>网络接口 </a:t>
              </a:r>
              <a:r>
                <a:rPr kumimoji="1" lang="en-US" altLang="zh-CN" b="1">
                  <a:solidFill>
                    <a:schemeClr val="bg1"/>
                  </a:solidFill>
                  <a:latin typeface="微软雅黑" panose="020B0503020204020204" pitchFamily="34" charset="-122"/>
                  <a:ea typeface="微软雅黑" panose="020B0503020204020204" pitchFamily="34" charset="-122"/>
                </a:rPr>
                <a:t>1</a:t>
              </a:r>
            </a:p>
          </p:txBody>
        </p:sp>
        <p:sp>
          <p:nvSpPr>
            <p:cNvPr id="91" name="Text Box 35"/>
            <p:cNvSpPr txBox="1">
              <a:spLocks noChangeArrowheads="1"/>
            </p:cNvSpPr>
            <p:nvPr/>
          </p:nvSpPr>
          <p:spPr bwMode="auto">
            <a:xfrm>
              <a:off x="4049593" y="4923298"/>
              <a:ext cx="943607" cy="29144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b="1">
                  <a:solidFill>
                    <a:schemeClr val="bg1"/>
                  </a:solidFill>
                  <a:latin typeface="微软雅黑" panose="020B0503020204020204" pitchFamily="34" charset="-122"/>
                  <a:ea typeface="微软雅黑" panose="020B0503020204020204" pitchFamily="34" charset="-122"/>
                </a:rPr>
                <a:t>网络接口 </a:t>
              </a:r>
              <a:r>
                <a:rPr kumimoji="1" lang="en-US" altLang="zh-CN" b="1">
                  <a:solidFill>
                    <a:schemeClr val="bg1"/>
                  </a:solidFill>
                  <a:latin typeface="微软雅黑" panose="020B0503020204020204" pitchFamily="34" charset="-122"/>
                  <a:ea typeface="微软雅黑" panose="020B0503020204020204" pitchFamily="34" charset="-122"/>
                </a:rPr>
                <a:t>2</a:t>
              </a:r>
            </a:p>
          </p:txBody>
        </p:sp>
        <p:sp>
          <p:nvSpPr>
            <p:cNvPr id="92" name="Text Box 36"/>
            <p:cNvSpPr txBox="1">
              <a:spLocks noChangeArrowheads="1"/>
            </p:cNvSpPr>
            <p:nvPr/>
          </p:nvSpPr>
          <p:spPr bwMode="auto">
            <a:xfrm>
              <a:off x="5389443" y="4923298"/>
              <a:ext cx="943607" cy="291440"/>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zh-CN" altLang="en-US" b="1">
                  <a:solidFill>
                    <a:schemeClr val="bg1"/>
                  </a:solidFill>
                  <a:latin typeface="微软雅黑" panose="020B0503020204020204" pitchFamily="34" charset="-122"/>
                  <a:ea typeface="微软雅黑" panose="020B0503020204020204" pitchFamily="34" charset="-122"/>
                </a:rPr>
                <a:t>网络接口 </a:t>
              </a:r>
              <a:r>
                <a:rPr kumimoji="1" lang="en-US" altLang="zh-CN" b="1">
                  <a:solidFill>
                    <a:schemeClr val="bg1"/>
                  </a:solidFill>
                  <a:latin typeface="微软雅黑" panose="020B0503020204020204" pitchFamily="34" charset="-122"/>
                  <a:ea typeface="微软雅黑" panose="020B0503020204020204" pitchFamily="34" charset="-122"/>
                </a:rPr>
                <a:t>3</a:t>
              </a:r>
            </a:p>
          </p:txBody>
        </p:sp>
        <p:sp>
          <p:nvSpPr>
            <p:cNvPr id="93" name="Rectangle 11"/>
            <p:cNvSpPr>
              <a:spLocks noChangeArrowheads="1"/>
            </p:cNvSpPr>
            <p:nvPr/>
          </p:nvSpPr>
          <p:spPr bwMode="auto">
            <a:xfrm>
              <a:off x="4271364" y="4115261"/>
              <a:ext cx="636588" cy="284162"/>
            </a:xfrm>
            <a:prstGeom prst="rect">
              <a:avLst/>
            </a:prstGeom>
            <a:solidFill>
              <a:srgbClr val="CC00CC"/>
            </a:solidFill>
            <a:ln>
              <a:solidFill>
                <a:srgbClr val="0033CC"/>
              </a:solidFill>
            </a:ln>
          </p:spPr>
          <p:style>
            <a:lnRef idx="2">
              <a:schemeClr val="dk1"/>
            </a:lnRef>
            <a:fillRef idx="1">
              <a:schemeClr val="lt1"/>
            </a:fillRef>
            <a:effectRef idx="0">
              <a:schemeClr val="dk1"/>
            </a:effectRef>
            <a:fontRef idx="minor">
              <a:schemeClr val="dk1"/>
            </a:fontRef>
          </p:style>
          <p:txBody>
            <a:bodyPr wrap="none" anchor="ctr"/>
            <a:lstStyle/>
            <a:p>
              <a:pPr algn="ctr" fontAlgn="auto">
                <a:spcBef>
                  <a:spcPts val="0"/>
                </a:spcBef>
                <a:spcAft>
                  <a:spcPts val="0"/>
                </a:spcAft>
                <a:defRPr/>
              </a:pPr>
              <a:r>
                <a:rPr kumimoji="1" lang="en-US" altLang="zh-CN" sz="3200" b="1">
                  <a:solidFill>
                    <a:schemeClr val="bg1"/>
                  </a:solidFill>
                  <a:ea typeface="黑体" panose="02010609060101010101" pitchFamily="49" charset="-122"/>
                </a:rPr>
                <a:t>IP</a:t>
              </a:r>
            </a:p>
          </p:txBody>
        </p:sp>
      </p:grpSp>
      <p:sp>
        <p:nvSpPr>
          <p:cNvPr id="94" name="矩形 93"/>
          <p:cNvSpPr/>
          <p:nvPr/>
        </p:nvSpPr>
        <p:spPr>
          <a:xfrm>
            <a:off x="9048328" y="2522659"/>
            <a:ext cx="2827041" cy="3150927"/>
          </a:xfrm>
          <a:prstGeom prst="rect">
            <a:avLst/>
          </a:prstGeom>
          <a:ln>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20000"/>
              </a:lnSpc>
            </a:pPr>
            <a:r>
              <a:rPr lang="zh-CN" altLang="en-US" sz="2800" b="1" dirty="0">
                <a:solidFill>
                  <a:srgbClr val="1C1C1C"/>
                </a:solidFill>
                <a:latin typeface="微软雅黑" panose="020B0503020204020204" pitchFamily="34" charset="-122"/>
                <a:ea typeface="微软雅黑" panose="020B0503020204020204" pitchFamily="34" charset="-122"/>
              </a:rPr>
              <a:t>设计理念：</a:t>
            </a:r>
            <a:r>
              <a:rPr lang="zh-CN" altLang="en-US" sz="2800" b="1" dirty="0" smtClean="0">
                <a:solidFill>
                  <a:srgbClr val="1C1C1C"/>
                </a:solidFill>
                <a:latin typeface="微软雅黑" panose="020B0503020204020204" pitchFamily="34" charset="-122"/>
                <a:ea typeface="微软雅黑" panose="020B0503020204020204" pitchFamily="34" charset="-122"/>
              </a:rPr>
              <a:t>网络的核心</a:t>
            </a:r>
            <a:r>
              <a:rPr lang="zh-CN" altLang="en-US" sz="2800" b="1" dirty="0">
                <a:solidFill>
                  <a:srgbClr val="1C1C1C"/>
                </a:solidFill>
                <a:latin typeface="微软雅黑" panose="020B0503020204020204" pitchFamily="34" charset="-122"/>
                <a:ea typeface="微软雅黑" panose="020B0503020204020204" pitchFamily="34" charset="-122"/>
              </a:rPr>
              <a:t>部分越简单越</a:t>
            </a:r>
            <a:r>
              <a:rPr lang="zh-CN" altLang="en-US" sz="2800" b="1" dirty="0" smtClean="0">
                <a:solidFill>
                  <a:srgbClr val="1C1C1C"/>
                </a:solidFill>
                <a:latin typeface="微软雅黑" panose="020B0503020204020204" pitchFamily="34" charset="-122"/>
                <a:ea typeface="微软雅黑" panose="020B0503020204020204" pitchFamily="34" charset="-122"/>
              </a:rPr>
              <a:t>好，一切复杂的部分让网络的边缘部分去实现。</a:t>
            </a:r>
            <a:endParaRPr lang="zh-CN" altLang="en-US" sz="2800" b="1" dirty="0">
              <a:solidFill>
                <a:srgbClr val="1C1C1C"/>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315685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 calcmode="lin" valueType="num">
                                      <p:cBhvr additive="base">
                                        <p:cTn id="7" dur="500" fill="hold"/>
                                        <p:tgtEl>
                                          <p:spTgt spid="94"/>
                                        </p:tgtEl>
                                        <p:attrNameLst>
                                          <p:attrName>ppt_x</p:attrName>
                                        </p:attrNameLst>
                                      </p:cBhvr>
                                      <p:tavLst>
                                        <p:tav tm="0">
                                          <p:val>
                                            <p:strVal val="#ppt_x"/>
                                          </p:val>
                                        </p:tav>
                                        <p:tav tm="100000">
                                          <p:val>
                                            <p:strVal val="#ppt_x"/>
                                          </p:val>
                                        </p:tav>
                                      </p:tavLst>
                                    </p:anim>
                                    <p:anim calcmode="lin" valueType="num">
                                      <p:cBhvr additive="base">
                                        <p:cTn id="8"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Freeform 3"/>
          <p:cNvSpPr>
            <a:spLocks/>
          </p:cNvSpPr>
          <p:nvPr/>
        </p:nvSpPr>
        <p:spPr bwMode="auto">
          <a:xfrm>
            <a:off x="3494088" y="4714279"/>
            <a:ext cx="5230812" cy="442913"/>
          </a:xfrm>
          <a:custGeom>
            <a:avLst/>
            <a:gdLst>
              <a:gd name="T0" fmla="*/ 0 w 2752"/>
              <a:gd name="T1" fmla="*/ 0 h 240"/>
              <a:gd name="T2" fmla="*/ 0 w 2752"/>
              <a:gd name="T3" fmla="*/ 2147483647 h 240"/>
              <a:gd name="T4" fmla="*/ 2147483647 w 2752"/>
              <a:gd name="T5" fmla="*/ 2147483647 h 240"/>
              <a:gd name="T6" fmla="*/ 2147483647 w 2752"/>
              <a:gd name="T7" fmla="*/ 2147483647 h 240"/>
              <a:gd name="T8" fmla="*/ 2147483647 w 2752"/>
              <a:gd name="T9" fmla="*/ 2147483647 h 240"/>
              <a:gd name="T10" fmla="*/ 2147483647 w 2752"/>
              <a:gd name="T11" fmla="*/ 2147483647 h 240"/>
              <a:gd name="T12" fmla="*/ 2147483647 w 2752"/>
              <a:gd name="T13" fmla="*/ 2147483647 h 240"/>
              <a:gd name="T14" fmla="*/ 2147483647 w 2752"/>
              <a:gd name="T15" fmla="*/ 2147483647 h 240"/>
              <a:gd name="T16" fmla="*/ 2147483647 w 2752"/>
              <a:gd name="T17" fmla="*/ 2147483647 h 240"/>
              <a:gd name="T18" fmla="*/ 2147483647 w 2752"/>
              <a:gd name="T19" fmla="*/ 2147483647 h 240"/>
              <a:gd name="T20" fmla="*/ 2147483647 w 2752"/>
              <a:gd name="T21" fmla="*/ 2147483647 h 240"/>
              <a:gd name="T22" fmla="*/ 2147483647 w 2752"/>
              <a:gd name="T23" fmla="*/ 0 h 2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52"/>
              <a:gd name="T37" fmla="*/ 0 h 240"/>
              <a:gd name="T38" fmla="*/ 2752 w 2752"/>
              <a:gd name="T39" fmla="*/ 240 h 2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8612" name="Rectangle 2"/>
          <p:cNvSpPr>
            <a:spLocks noGrp="1" noChangeArrowheads="1"/>
          </p:cNvSpPr>
          <p:nvPr>
            <p:ph type="title"/>
          </p:nvPr>
        </p:nvSpPr>
        <p:spPr/>
        <p:txBody>
          <a:bodyPr/>
          <a:lstStyle/>
          <a:p>
            <a:r>
              <a:rPr lang="zh-CN" altLang="en-US" dirty="0"/>
              <a:t>互联网中客户</a:t>
            </a:r>
            <a:r>
              <a:rPr lang="en-US" altLang="zh-CN" dirty="0"/>
              <a:t>-</a:t>
            </a:r>
            <a:r>
              <a:rPr lang="zh-CN" altLang="en-US" dirty="0"/>
              <a:t>服务器工作方式</a:t>
            </a:r>
          </a:p>
        </p:txBody>
      </p:sp>
      <p:graphicFrame>
        <p:nvGraphicFramePr>
          <p:cNvPr id="68613" name="Object 4"/>
          <p:cNvGraphicFramePr>
            <a:graphicFrameLocks noGrp="1" noChangeAspect="1"/>
          </p:cNvGraphicFramePr>
          <p:nvPr>
            <p:ph idx="1"/>
            <p:extLst>
              <p:ext uri="{D42A27DB-BD31-4B8C-83A1-F6EECF244321}">
                <p14:modId xmlns:p14="http://schemas.microsoft.com/office/powerpoint/2010/main" val="362085000"/>
              </p:ext>
            </p:extLst>
          </p:nvPr>
        </p:nvGraphicFramePr>
        <p:xfrm>
          <a:off x="5257800" y="4696048"/>
          <a:ext cx="1689100" cy="965200"/>
        </p:xfrm>
        <a:graphic>
          <a:graphicData uri="http://schemas.openxmlformats.org/presentationml/2006/ole">
            <mc:AlternateContent xmlns:mc="http://schemas.openxmlformats.org/markup-compatibility/2006">
              <mc:Choice xmlns:v="urn:schemas-microsoft-com:vml" Requires="v">
                <p:oleObj spid="_x0000_s69321" name="VISIO" r:id="rId4" imgW="1687068" imgH="964692" progId="">
                  <p:embed/>
                </p:oleObj>
              </mc:Choice>
              <mc:Fallback>
                <p:oleObj name="VISIO" r:id="rId4" imgW="1687068" imgH="964692"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4696048"/>
                        <a:ext cx="1689100" cy="965200"/>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8614" name="Rectangle 5"/>
          <p:cNvSpPr>
            <a:spLocks noChangeArrowheads="1"/>
          </p:cNvSpPr>
          <p:nvPr/>
        </p:nvSpPr>
        <p:spPr bwMode="auto">
          <a:xfrm>
            <a:off x="7961313" y="1877417"/>
            <a:ext cx="1565275" cy="2836862"/>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eaLnBrk="1" hangingPunct="1"/>
            <a:endParaRPr lang="en-US" altLang="zh-CN"/>
          </a:p>
        </p:txBody>
      </p:sp>
      <p:sp>
        <p:nvSpPr>
          <p:cNvPr id="68615" name="Text Box 6"/>
          <p:cNvSpPr txBox="1">
            <a:spLocks noChangeArrowheads="1"/>
          </p:cNvSpPr>
          <p:nvPr/>
        </p:nvSpPr>
        <p:spPr bwMode="auto">
          <a:xfrm>
            <a:off x="8007350" y="3796704"/>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数据链路层</a:t>
            </a:r>
          </a:p>
        </p:txBody>
      </p:sp>
      <p:sp>
        <p:nvSpPr>
          <p:cNvPr id="68616" name="Line 7"/>
          <p:cNvSpPr>
            <a:spLocks noChangeShapeType="1"/>
          </p:cNvSpPr>
          <p:nvPr/>
        </p:nvSpPr>
        <p:spPr bwMode="auto">
          <a:xfrm>
            <a:off x="7961313" y="4271367"/>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7" name="Line 8"/>
          <p:cNvSpPr>
            <a:spLocks noChangeShapeType="1"/>
          </p:cNvSpPr>
          <p:nvPr/>
        </p:nvSpPr>
        <p:spPr bwMode="auto">
          <a:xfrm>
            <a:off x="7961313" y="3828454"/>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8" name="Line 9"/>
          <p:cNvSpPr>
            <a:spLocks noChangeShapeType="1"/>
          </p:cNvSpPr>
          <p:nvPr/>
        </p:nvSpPr>
        <p:spPr bwMode="auto">
          <a:xfrm>
            <a:off x="7961313" y="3385542"/>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19" name="Line 10"/>
          <p:cNvSpPr>
            <a:spLocks noChangeShapeType="1"/>
          </p:cNvSpPr>
          <p:nvPr/>
        </p:nvSpPr>
        <p:spPr bwMode="auto">
          <a:xfrm>
            <a:off x="7961313" y="2941042"/>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0" name="Text Box 11"/>
          <p:cNvSpPr txBox="1">
            <a:spLocks noChangeArrowheads="1"/>
          </p:cNvSpPr>
          <p:nvPr/>
        </p:nvSpPr>
        <p:spPr bwMode="auto">
          <a:xfrm>
            <a:off x="8251825" y="4239617"/>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物理层</a:t>
            </a:r>
          </a:p>
        </p:txBody>
      </p:sp>
      <p:sp>
        <p:nvSpPr>
          <p:cNvPr id="68621" name="Text Box 12"/>
          <p:cNvSpPr txBox="1">
            <a:spLocks noChangeArrowheads="1"/>
          </p:cNvSpPr>
          <p:nvPr/>
        </p:nvSpPr>
        <p:spPr bwMode="auto">
          <a:xfrm>
            <a:off x="8251825" y="2925167"/>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运输层</a:t>
            </a:r>
          </a:p>
        </p:txBody>
      </p:sp>
      <p:sp>
        <p:nvSpPr>
          <p:cNvPr id="68622" name="Text Box 13"/>
          <p:cNvSpPr txBox="1">
            <a:spLocks noChangeArrowheads="1"/>
          </p:cNvSpPr>
          <p:nvPr/>
        </p:nvSpPr>
        <p:spPr bwMode="auto">
          <a:xfrm>
            <a:off x="8251825" y="3368079"/>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网络层</a:t>
            </a:r>
          </a:p>
        </p:txBody>
      </p:sp>
      <p:sp>
        <p:nvSpPr>
          <p:cNvPr id="68623" name="Rectangle 14"/>
          <p:cNvSpPr>
            <a:spLocks noChangeArrowheads="1"/>
          </p:cNvSpPr>
          <p:nvPr/>
        </p:nvSpPr>
        <p:spPr bwMode="auto">
          <a:xfrm>
            <a:off x="2711450" y="1877417"/>
            <a:ext cx="1565275" cy="2836862"/>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eaLnBrk="1" hangingPunct="1"/>
            <a:endParaRPr lang="en-US" altLang="zh-CN"/>
          </a:p>
        </p:txBody>
      </p:sp>
      <p:sp>
        <p:nvSpPr>
          <p:cNvPr id="68624" name="Text Box 15"/>
          <p:cNvSpPr txBox="1">
            <a:spLocks noChangeArrowheads="1"/>
          </p:cNvSpPr>
          <p:nvPr/>
        </p:nvSpPr>
        <p:spPr bwMode="auto">
          <a:xfrm>
            <a:off x="2757488" y="3796704"/>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数据链路层</a:t>
            </a:r>
          </a:p>
        </p:txBody>
      </p:sp>
      <p:sp>
        <p:nvSpPr>
          <p:cNvPr id="68625" name="Line 16"/>
          <p:cNvSpPr>
            <a:spLocks noChangeShapeType="1"/>
          </p:cNvSpPr>
          <p:nvPr/>
        </p:nvSpPr>
        <p:spPr bwMode="auto">
          <a:xfrm>
            <a:off x="2711450" y="4271367"/>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6" name="Line 17"/>
          <p:cNvSpPr>
            <a:spLocks noChangeShapeType="1"/>
          </p:cNvSpPr>
          <p:nvPr/>
        </p:nvSpPr>
        <p:spPr bwMode="auto">
          <a:xfrm>
            <a:off x="2711450" y="3828454"/>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7" name="Line 18"/>
          <p:cNvSpPr>
            <a:spLocks noChangeShapeType="1"/>
          </p:cNvSpPr>
          <p:nvPr/>
        </p:nvSpPr>
        <p:spPr bwMode="auto">
          <a:xfrm>
            <a:off x="2711450" y="3385542"/>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8" name="Line 19"/>
          <p:cNvSpPr>
            <a:spLocks noChangeShapeType="1"/>
          </p:cNvSpPr>
          <p:nvPr/>
        </p:nvSpPr>
        <p:spPr bwMode="auto">
          <a:xfrm>
            <a:off x="2711450" y="2941042"/>
            <a:ext cx="1565275"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29" name="Text Box 20"/>
          <p:cNvSpPr txBox="1">
            <a:spLocks noChangeArrowheads="1"/>
          </p:cNvSpPr>
          <p:nvPr/>
        </p:nvSpPr>
        <p:spPr bwMode="auto">
          <a:xfrm>
            <a:off x="3003550" y="4239617"/>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物理层</a:t>
            </a:r>
          </a:p>
        </p:txBody>
      </p:sp>
      <p:sp>
        <p:nvSpPr>
          <p:cNvPr id="68630" name="Text Box 21"/>
          <p:cNvSpPr txBox="1">
            <a:spLocks noChangeArrowheads="1"/>
          </p:cNvSpPr>
          <p:nvPr/>
        </p:nvSpPr>
        <p:spPr bwMode="auto">
          <a:xfrm>
            <a:off x="3003550" y="2925167"/>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运输层</a:t>
            </a:r>
          </a:p>
        </p:txBody>
      </p:sp>
      <p:sp>
        <p:nvSpPr>
          <p:cNvPr id="68631" name="Text Box 22"/>
          <p:cNvSpPr txBox="1">
            <a:spLocks noChangeArrowheads="1"/>
          </p:cNvSpPr>
          <p:nvPr/>
        </p:nvSpPr>
        <p:spPr bwMode="auto">
          <a:xfrm>
            <a:off x="3003550" y="3368079"/>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网络层</a:t>
            </a:r>
          </a:p>
        </p:txBody>
      </p:sp>
      <p:sp>
        <p:nvSpPr>
          <p:cNvPr id="68632" name="Line 23"/>
          <p:cNvSpPr>
            <a:spLocks noChangeShapeType="1"/>
          </p:cNvSpPr>
          <p:nvPr/>
        </p:nvSpPr>
        <p:spPr bwMode="auto">
          <a:xfrm>
            <a:off x="3478213" y="2809279"/>
            <a:ext cx="3175" cy="1317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3" name="Line 24"/>
          <p:cNvSpPr>
            <a:spLocks noChangeShapeType="1"/>
          </p:cNvSpPr>
          <p:nvPr/>
        </p:nvSpPr>
        <p:spPr bwMode="auto">
          <a:xfrm>
            <a:off x="8772525" y="2809279"/>
            <a:ext cx="1588" cy="13176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 name="Group 25"/>
          <p:cNvGrpSpPr>
            <a:grpSpLocks/>
          </p:cNvGrpSpPr>
          <p:nvPr/>
        </p:nvGrpSpPr>
        <p:grpSpPr bwMode="auto">
          <a:xfrm>
            <a:off x="4092575" y="2036167"/>
            <a:ext cx="4019550" cy="481012"/>
            <a:chOff x="1618" y="1358"/>
            <a:chExt cx="2532" cy="303"/>
          </a:xfrm>
        </p:grpSpPr>
        <p:sp>
          <p:nvSpPr>
            <p:cNvPr id="68647" name="Line 26"/>
            <p:cNvSpPr>
              <a:spLocks noChangeShapeType="1"/>
            </p:cNvSpPr>
            <p:nvPr/>
          </p:nvSpPr>
          <p:spPr bwMode="auto">
            <a:xfrm>
              <a:off x="1618" y="1649"/>
              <a:ext cx="2532" cy="12"/>
            </a:xfrm>
            <a:prstGeom prst="line">
              <a:avLst/>
            </a:prstGeom>
            <a:noFill/>
            <a:ln w="38100">
              <a:solidFill>
                <a:srgbClr val="333399"/>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8" name="Text Box 27"/>
            <p:cNvSpPr txBox="1">
              <a:spLocks noChangeArrowheads="1"/>
            </p:cNvSpPr>
            <p:nvPr/>
          </p:nvSpPr>
          <p:spPr bwMode="auto">
            <a:xfrm>
              <a:off x="1908" y="1358"/>
              <a:ext cx="19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dirty="0">
                  <a:solidFill>
                    <a:srgbClr val="333399"/>
                  </a:solidFill>
                  <a:latin typeface="黑体" pitchFamily="49" charset="-122"/>
                  <a:ea typeface="黑体" pitchFamily="49" charset="-122"/>
                </a:rPr>
                <a:t>①</a:t>
              </a:r>
              <a:r>
                <a:rPr kumimoji="1" lang="en-US" altLang="zh-CN" sz="1000" dirty="0">
                  <a:solidFill>
                    <a:srgbClr val="333399"/>
                  </a:solidFill>
                  <a:latin typeface="黑体" pitchFamily="49" charset="-122"/>
                  <a:ea typeface="黑体" pitchFamily="49" charset="-122"/>
                </a:rPr>
                <a:t> </a:t>
              </a:r>
              <a:r>
                <a:rPr kumimoji="1" lang="zh-CN" altLang="en-US" sz="2000" dirty="0">
                  <a:solidFill>
                    <a:srgbClr val="333399"/>
                  </a:solidFill>
                  <a:latin typeface="黑体" pitchFamily="49" charset="-122"/>
                  <a:ea typeface="黑体" pitchFamily="49" charset="-122"/>
                </a:rPr>
                <a:t>客户发起连接建立请求</a:t>
              </a:r>
            </a:p>
          </p:txBody>
        </p:sp>
      </p:grpSp>
      <p:grpSp>
        <p:nvGrpSpPr>
          <p:cNvPr id="3" name="Group 28"/>
          <p:cNvGrpSpPr>
            <a:grpSpLocks/>
          </p:cNvGrpSpPr>
          <p:nvPr/>
        </p:nvGrpSpPr>
        <p:grpSpPr bwMode="auto">
          <a:xfrm>
            <a:off x="4079875" y="2661642"/>
            <a:ext cx="3994150" cy="431800"/>
            <a:chOff x="1655" y="1752"/>
            <a:chExt cx="2516" cy="272"/>
          </a:xfrm>
        </p:grpSpPr>
        <p:sp>
          <p:nvSpPr>
            <p:cNvPr id="68645" name="Line 29"/>
            <p:cNvSpPr>
              <a:spLocks noChangeShapeType="1"/>
            </p:cNvSpPr>
            <p:nvPr/>
          </p:nvSpPr>
          <p:spPr bwMode="auto">
            <a:xfrm flipH="1" flipV="1">
              <a:off x="1655" y="1752"/>
              <a:ext cx="2516" cy="9"/>
            </a:xfrm>
            <a:prstGeom prst="line">
              <a:avLst/>
            </a:prstGeom>
            <a:noFill/>
            <a:ln w="38100">
              <a:solidFill>
                <a:srgbClr val="EA169E"/>
              </a:solidFill>
              <a:prstDash val="dash"/>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6" name="Text Box 30"/>
            <p:cNvSpPr txBox="1">
              <a:spLocks noChangeArrowheads="1"/>
            </p:cNvSpPr>
            <p:nvPr/>
          </p:nvSpPr>
          <p:spPr bwMode="auto">
            <a:xfrm>
              <a:off x="1973" y="1774"/>
              <a:ext cx="207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en-US" altLang="zh-CN" sz="2000" b="1" dirty="0">
                  <a:solidFill>
                    <a:srgbClr val="333399"/>
                  </a:solidFill>
                  <a:latin typeface="黑体" pitchFamily="49" charset="-122"/>
                  <a:ea typeface="黑体" pitchFamily="49" charset="-122"/>
                </a:rPr>
                <a:t>②</a:t>
              </a:r>
              <a:r>
                <a:rPr kumimoji="1" lang="en-US" altLang="zh-CN" sz="1000" dirty="0">
                  <a:solidFill>
                    <a:srgbClr val="333399"/>
                  </a:solidFill>
                  <a:latin typeface="黑体" pitchFamily="49" charset="-122"/>
                  <a:ea typeface="黑体" pitchFamily="49" charset="-122"/>
                </a:rPr>
                <a:t> </a:t>
              </a:r>
              <a:r>
                <a:rPr kumimoji="1" lang="zh-CN" altLang="en-US" sz="2000" dirty="0">
                  <a:solidFill>
                    <a:srgbClr val="333399"/>
                  </a:solidFill>
                  <a:latin typeface="黑体" pitchFamily="49" charset="-122"/>
                  <a:ea typeface="黑体" pitchFamily="49" charset="-122"/>
                </a:rPr>
                <a:t>服务器接受连接建立请求</a:t>
              </a:r>
            </a:p>
          </p:txBody>
        </p:sp>
      </p:grpSp>
      <p:sp>
        <p:nvSpPr>
          <p:cNvPr id="68636" name="Text Box 31"/>
          <p:cNvSpPr txBox="1">
            <a:spLocks noChangeArrowheads="1"/>
          </p:cNvSpPr>
          <p:nvPr/>
        </p:nvSpPr>
        <p:spPr bwMode="auto">
          <a:xfrm>
            <a:off x="3003550" y="1883767"/>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应用层</a:t>
            </a:r>
          </a:p>
        </p:txBody>
      </p:sp>
      <p:sp>
        <p:nvSpPr>
          <p:cNvPr id="68637" name="Text Box 32"/>
          <p:cNvSpPr txBox="1">
            <a:spLocks noChangeArrowheads="1"/>
          </p:cNvSpPr>
          <p:nvPr/>
        </p:nvSpPr>
        <p:spPr bwMode="auto">
          <a:xfrm>
            <a:off x="8251825" y="1869479"/>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应用层</a:t>
            </a:r>
          </a:p>
        </p:txBody>
      </p:sp>
      <p:sp>
        <p:nvSpPr>
          <p:cNvPr id="68638" name="Text Box 33"/>
          <p:cNvSpPr txBox="1">
            <a:spLocks noChangeArrowheads="1"/>
          </p:cNvSpPr>
          <p:nvPr/>
        </p:nvSpPr>
        <p:spPr bwMode="auto">
          <a:xfrm>
            <a:off x="5667375" y="495719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latin typeface="Bookman Old Style" pitchFamily="18" charset="0"/>
                <a:ea typeface="黑体" pitchFamily="49" charset="-122"/>
              </a:rPr>
              <a:t>互联</a:t>
            </a:r>
            <a:r>
              <a:rPr kumimoji="1" lang="zh-CN" altLang="en-US" sz="2000" dirty="0" smtClean="0">
                <a:solidFill>
                  <a:srgbClr val="333399"/>
                </a:solidFill>
                <a:latin typeface="Bookman Old Style" pitchFamily="18" charset="0"/>
                <a:ea typeface="黑体" pitchFamily="49" charset="-122"/>
              </a:rPr>
              <a:t>网</a:t>
            </a:r>
            <a:endParaRPr kumimoji="1" lang="zh-CN" altLang="en-US" sz="2000" dirty="0">
              <a:solidFill>
                <a:srgbClr val="333399"/>
              </a:solidFill>
              <a:latin typeface="Bookman Old Style" pitchFamily="18" charset="0"/>
              <a:ea typeface="黑体" pitchFamily="49" charset="-122"/>
            </a:endParaRPr>
          </a:p>
        </p:txBody>
      </p:sp>
      <p:grpSp>
        <p:nvGrpSpPr>
          <p:cNvPr id="4" name="Group 34"/>
          <p:cNvGrpSpPr>
            <a:grpSpLocks/>
          </p:cNvGrpSpPr>
          <p:nvPr/>
        </p:nvGrpSpPr>
        <p:grpSpPr bwMode="auto">
          <a:xfrm>
            <a:off x="2849563" y="2291754"/>
            <a:ext cx="1289050" cy="531813"/>
            <a:chOff x="835" y="1519"/>
            <a:chExt cx="812" cy="335"/>
          </a:xfrm>
        </p:grpSpPr>
        <p:sp>
          <p:nvSpPr>
            <p:cNvPr id="68643" name="Oval 35"/>
            <p:cNvSpPr>
              <a:spLocks noChangeArrowheads="1"/>
            </p:cNvSpPr>
            <p:nvPr/>
          </p:nvSpPr>
          <p:spPr bwMode="auto">
            <a:xfrm>
              <a:off x="835" y="1519"/>
              <a:ext cx="812" cy="335"/>
            </a:xfrm>
            <a:prstGeom prst="ellipse">
              <a:avLst/>
            </a:prstGeom>
            <a:solidFill>
              <a:srgbClr val="99FFCC"/>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endParaRPr kumimoji="1" lang="en-US" altLang="zh-CN" sz="1600">
                <a:latin typeface="Times New Roman" pitchFamily="18" charset="0"/>
              </a:endParaRPr>
            </a:p>
          </p:txBody>
        </p:sp>
        <p:sp>
          <p:nvSpPr>
            <p:cNvPr id="68644" name="Text Box 36"/>
            <p:cNvSpPr txBox="1">
              <a:spLocks noChangeArrowheads="1"/>
            </p:cNvSpPr>
            <p:nvPr/>
          </p:nvSpPr>
          <p:spPr bwMode="auto">
            <a:xfrm>
              <a:off x="1020" y="1547"/>
              <a:ext cx="436" cy="250"/>
            </a:xfrm>
            <a:prstGeom prst="rect">
              <a:avLst/>
            </a:prstGeom>
            <a:noFill/>
            <a:ln>
              <a:noFill/>
            </a:ln>
            <a:effectLst>
              <a:outerShdw dist="17961" dir="2700000" sx="7001" sy="7001" algn="ctr" rotWithShape="0">
                <a:schemeClr val="accent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latin typeface="黑体" pitchFamily="49" charset="-122"/>
                  <a:ea typeface="黑体" pitchFamily="49" charset="-122"/>
                </a:rPr>
                <a:t>客户</a:t>
              </a:r>
            </a:p>
          </p:txBody>
        </p:sp>
      </p:grpSp>
      <p:grpSp>
        <p:nvGrpSpPr>
          <p:cNvPr id="5" name="Group 37"/>
          <p:cNvGrpSpPr>
            <a:grpSpLocks/>
          </p:cNvGrpSpPr>
          <p:nvPr/>
        </p:nvGrpSpPr>
        <p:grpSpPr bwMode="auto">
          <a:xfrm>
            <a:off x="8099425" y="2291754"/>
            <a:ext cx="1289050" cy="531813"/>
            <a:chOff x="4142" y="1519"/>
            <a:chExt cx="812" cy="335"/>
          </a:xfrm>
        </p:grpSpPr>
        <p:sp>
          <p:nvSpPr>
            <p:cNvPr id="68641" name="Oval 38"/>
            <p:cNvSpPr>
              <a:spLocks noChangeArrowheads="1"/>
            </p:cNvSpPr>
            <p:nvPr/>
          </p:nvSpPr>
          <p:spPr bwMode="auto">
            <a:xfrm>
              <a:off x="4142" y="1519"/>
              <a:ext cx="812" cy="335"/>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endParaRPr kumimoji="1" lang="en-US" altLang="zh-CN" sz="1600">
                <a:latin typeface="Times New Roman" pitchFamily="18" charset="0"/>
              </a:endParaRPr>
            </a:p>
          </p:txBody>
        </p:sp>
        <p:sp>
          <p:nvSpPr>
            <p:cNvPr id="68642" name="Text Box 39"/>
            <p:cNvSpPr txBox="1">
              <a:spLocks noChangeArrowheads="1"/>
            </p:cNvSpPr>
            <p:nvPr/>
          </p:nvSpPr>
          <p:spPr bwMode="auto">
            <a:xfrm>
              <a:off x="4256" y="1543"/>
              <a:ext cx="596" cy="252"/>
            </a:xfrm>
            <a:prstGeom prst="rect">
              <a:avLst/>
            </a:prstGeom>
            <a:noFill/>
            <a:ln>
              <a:noFill/>
            </a:ln>
            <a:effectLst>
              <a:outerShdw dist="35921" dir="2700000" sx="999" sy="999"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FFFF99"/>
                  </a:solidFill>
                  <a:latin typeface="黑体" pitchFamily="49" charset="-122"/>
                  <a:ea typeface="黑体" pitchFamily="49" charset="-122"/>
                </a:rPr>
                <a:t>服务器</a:t>
              </a:r>
            </a:p>
          </p:txBody>
        </p:sp>
      </p:grpSp>
      <p:sp>
        <p:nvSpPr>
          <p:cNvPr id="41" name="Text Box 40"/>
          <p:cNvSpPr txBox="1">
            <a:spLocks noChangeArrowheads="1"/>
          </p:cNvSpPr>
          <p:nvPr/>
        </p:nvSpPr>
        <p:spPr bwMode="auto">
          <a:xfrm>
            <a:off x="4583832" y="3369186"/>
            <a:ext cx="3158952" cy="1015663"/>
          </a:xfrm>
          <a:prstGeom prst="rect">
            <a:avLst/>
          </a:prstGeom>
          <a:solidFill>
            <a:srgbClr val="FFFF99"/>
          </a:solidFill>
          <a:ln>
            <a:noFill/>
          </a:ln>
        </p:spPr>
        <p:style>
          <a:lnRef idx="2">
            <a:schemeClr val="accent4"/>
          </a:lnRef>
          <a:fillRef idx="1">
            <a:schemeClr val="lt1"/>
          </a:fillRef>
          <a:effectRef idx="0">
            <a:schemeClr val="accent4"/>
          </a:effectRef>
          <a:fontRef idx="minor">
            <a:schemeClr val="dk1"/>
          </a:fontRef>
        </p:style>
        <p:txBody>
          <a:bodyPr wrap="square">
            <a:spAutoFit/>
          </a:bodyPr>
          <a:lstStyle/>
          <a:p>
            <a:pPr algn="ctr" fontAlgn="auto">
              <a:lnSpc>
                <a:spcPts val="2400"/>
              </a:lnSpc>
              <a:spcBef>
                <a:spcPts val="0"/>
              </a:spcBef>
              <a:spcAft>
                <a:spcPts val="0"/>
              </a:spcAft>
              <a:defRPr/>
            </a:pPr>
            <a:r>
              <a:rPr lang="zh-CN" altLang="en-US" sz="2000" b="1" dirty="0">
                <a:solidFill>
                  <a:srgbClr val="1C1C1C"/>
                </a:solidFill>
                <a:latin typeface="微软雅黑" panose="020B0503020204020204" pitchFamily="34" charset="-122"/>
                <a:ea typeface="微软雅黑" panose="020B0503020204020204" pitchFamily="34" charset="-122"/>
              </a:rPr>
              <a:t>所有这些</a:t>
            </a:r>
            <a:r>
              <a:rPr lang="zh-CN" altLang="en-US" sz="2000" b="1" dirty="0" smtClean="0">
                <a:solidFill>
                  <a:srgbClr val="1C1C1C"/>
                </a:solidFill>
                <a:latin typeface="微软雅黑" panose="020B0503020204020204" pitchFamily="34" charset="-122"/>
                <a:ea typeface="微软雅黑" panose="020B0503020204020204" pitchFamily="34" charset="-122"/>
              </a:rPr>
              <a:t>通信实际上</a:t>
            </a:r>
            <a:r>
              <a:rPr lang="zh-CN" altLang="en-US" sz="2000" b="1" dirty="0">
                <a:solidFill>
                  <a:srgbClr val="1C1C1C"/>
                </a:solidFill>
                <a:latin typeface="微软雅黑" panose="020B0503020204020204" pitchFamily="34" charset="-122"/>
                <a:ea typeface="微软雅黑" panose="020B0503020204020204" pitchFamily="34" charset="-122"/>
              </a:rPr>
              <a:t>都需要使用下面各层所提供的服务</a:t>
            </a:r>
            <a:r>
              <a:rPr lang="zh-CN" altLang="en-US" sz="2000" b="1" dirty="0" smtClean="0">
                <a:solidFill>
                  <a:srgbClr val="1C1C1C"/>
                </a:solidFill>
                <a:latin typeface="微软雅黑" panose="020B0503020204020204" pitchFamily="34" charset="-122"/>
                <a:ea typeface="微软雅黑" panose="020B0503020204020204" pitchFamily="34" charset="-122"/>
              </a:rPr>
              <a:t>。</a:t>
            </a:r>
            <a:endParaRPr lang="zh-CN" altLang="en-US" sz="2000" b="1" dirty="0">
              <a:solidFill>
                <a:srgbClr val="1C1C1C"/>
              </a:solidFill>
              <a:latin typeface="微软雅黑" panose="020B0503020204020204" pitchFamily="34" charset="-122"/>
              <a:ea typeface="微软雅黑" panose="020B0503020204020204" pitchFamily="34" charset="-122"/>
            </a:endParaRPr>
          </a:p>
        </p:txBody>
      </p:sp>
      <p:sp>
        <p:nvSpPr>
          <p:cNvPr id="42" name="Text Box 38"/>
          <p:cNvSpPr txBox="1">
            <a:spLocks noChangeArrowheads="1"/>
          </p:cNvSpPr>
          <p:nvPr/>
        </p:nvSpPr>
        <p:spPr bwMode="auto">
          <a:xfrm>
            <a:off x="2897088" y="1412776"/>
            <a:ext cx="1182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ea typeface="黑体" pitchFamily="49" charset="-122"/>
              </a:rPr>
              <a:t>计算机 </a:t>
            </a:r>
            <a:r>
              <a:rPr kumimoji="1" lang="en-US" altLang="zh-CN" sz="2000" dirty="0">
                <a:solidFill>
                  <a:srgbClr val="333399"/>
                </a:solidFill>
                <a:ea typeface="黑体" pitchFamily="49" charset="-122"/>
              </a:rPr>
              <a:t>A</a:t>
            </a:r>
          </a:p>
        </p:txBody>
      </p:sp>
      <p:sp>
        <p:nvSpPr>
          <p:cNvPr id="43" name="Text Box 53"/>
          <p:cNvSpPr txBox="1">
            <a:spLocks noChangeArrowheads="1"/>
          </p:cNvSpPr>
          <p:nvPr/>
        </p:nvSpPr>
        <p:spPr bwMode="auto">
          <a:xfrm>
            <a:off x="8140972" y="1412776"/>
            <a:ext cx="11953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ea typeface="黑体" pitchFamily="49" charset="-122"/>
              </a:rPr>
              <a:t>计算机 </a:t>
            </a:r>
            <a:r>
              <a:rPr kumimoji="1" lang="en-US" altLang="zh-CN" sz="2000" dirty="0">
                <a:solidFill>
                  <a:srgbClr val="333399"/>
                </a:solidFill>
                <a:ea typeface="黑体" pitchFamily="49" charset="-122"/>
              </a:rPr>
              <a:t>B</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4"/>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1500"/>
                            </p:stCondLst>
                            <p:childTnLst>
                              <p:par>
                                <p:cTn id="8" presetID="22" presetClass="entr" presetSubtype="8"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left)">
                                      <p:cBhvr>
                                        <p:cTn id="10" dur="5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5"/>
                                        </p:tgtEl>
                                        <p:attrNameLst>
                                          <p:attrName>style.visibility</p:attrName>
                                        </p:attrNameLst>
                                      </p:cBhvr>
                                      <p:tavLst>
                                        <p:tav tm="0">
                                          <p:val>
                                            <p:strVal val="hidden"/>
                                          </p:val>
                                        </p:tav>
                                        <p:tav tm="50000">
                                          <p:val>
                                            <p:strVal val="visible"/>
                                          </p:val>
                                        </p:tav>
                                      </p:tavLst>
                                    </p:anim>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1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dirty="0"/>
              <a:t>互联网中客户</a:t>
            </a:r>
            <a:r>
              <a:rPr lang="en-US" altLang="zh-CN" dirty="0"/>
              <a:t>-</a:t>
            </a:r>
            <a:r>
              <a:rPr lang="zh-CN" altLang="en-US" dirty="0"/>
              <a:t>服务器工作方式</a:t>
            </a:r>
          </a:p>
        </p:txBody>
      </p:sp>
      <p:sp>
        <p:nvSpPr>
          <p:cNvPr id="69635" name="Line 3"/>
          <p:cNvSpPr>
            <a:spLocks noChangeShapeType="1"/>
          </p:cNvSpPr>
          <p:nvPr/>
        </p:nvSpPr>
        <p:spPr bwMode="auto">
          <a:xfrm>
            <a:off x="6086475" y="4749700"/>
            <a:ext cx="4763" cy="325438"/>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6" name="Rectangle 4"/>
          <p:cNvSpPr>
            <a:spLocks noChangeArrowheads="1"/>
          </p:cNvSpPr>
          <p:nvPr/>
        </p:nvSpPr>
        <p:spPr bwMode="auto">
          <a:xfrm>
            <a:off x="4683125" y="2055713"/>
            <a:ext cx="2898775" cy="2693987"/>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eaLnBrk="1" hangingPunct="1"/>
            <a:endParaRPr lang="en-US" altLang="zh-CN"/>
          </a:p>
        </p:txBody>
      </p:sp>
      <p:sp>
        <p:nvSpPr>
          <p:cNvPr id="69637" name="Text Box 5"/>
          <p:cNvSpPr txBox="1">
            <a:spLocks noChangeArrowheads="1"/>
          </p:cNvSpPr>
          <p:nvPr/>
        </p:nvSpPr>
        <p:spPr bwMode="auto">
          <a:xfrm>
            <a:off x="5407025" y="3908325"/>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数据链路层</a:t>
            </a:r>
          </a:p>
        </p:txBody>
      </p:sp>
      <p:sp>
        <p:nvSpPr>
          <p:cNvPr id="69638" name="Line 6"/>
          <p:cNvSpPr>
            <a:spLocks noChangeShapeType="1"/>
          </p:cNvSpPr>
          <p:nvPr/>
        </p:nvSpPr>
        <p:spPr bwMode="auto">
          <a:xfrm>
            <a:off x="4683125" y="4341713"/>
            <a:ext cx="2898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39" name="Line 7"/>
          <p:cNvSpPr>
            <a:spLocks noChangeShapeType="1"/>
          </p:cNvSpPr>
          <p:nvPr/>
        </p:nvSpPr>
        <p:spPr bwMode="auto">
          <a:xfrm>
            <a:off x="4683125" y="3932138"/>
            <a:ext cx="2898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0" name="Line 8"/>
          <p:cNvSpPr>
            <a:spLocks noChangeShapeType="1"/>
          </p:cNvSpPr>
          <p:nvPr/>
        </p:nvSpPr>
        <p:spPr bwMode="auto">
          <a:xfrm>
            <a:off x="4683125" y="3524150"/>
            <a:ext cx="2898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1" name="Line 9"/>
          <p:cNvSpPr>
            <a:spLocks noChangeShapeType="1"/>
          </p:cNvSpPr>
          <p:nvPr/>
        </p:nvSpPr>
        <p:spPr bwMode="auto">
          <a:xfrm>
            <a:off x="4683125" y="3116163"/>
            <a:ext cx="2898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2" name="Text Box 10"/>
          <p:cNvSpPr txBox="1">
            <a:spLocks noChangeArrowheads="1"/>
          </p:cNvSpPr>
          <p:nvPr/>
        </p:nvSpPr>
        <p:spPr bwMode="auto">
          <a:xfrm>
            <a:off x="5641975" y="4316313"/>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物理层</a:t>
            </a:r>
          </a:p>
        </p:txBody>
      </p:sp>
      <p:sp>
        <p:nvSpPr>
          <p:cNvPr id="69643" name="Text Box 11"/>
          <p:cNvSpPr txBox="1">
            <a:spLocks noChangeArrowheads="1"/>
          </p:cNvSpPr>
          <p:nvPr/>
        </p:nvSpPr>
        <p:spPr bwMode="auto">
          <a:xfrm>
            <a:off x="5641975" y="3105050"/>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运输层</a:t>
            </a:r>
          </a:p>
        </p:txBody>
      </p:sp>
      <p:sp>
        <p:nvSpPr>
          <p:cNvPr id="69644" name="Text Box 12"/>
          <p:cNvSpPr txBox="1">
            <a:spLocks noChangeArrowheads="1"/>
          </p:cNvSpPr>
          <p:nvPr/>
        </p:nvSpPr>
        <p:spPr bwMode="auto">
          <a:xfrm>
            <a:off x="5641975" y="351303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网络层</a:t>
            </a:r>
          </a:p>
        </p:txBody>
      </p:sp>
      <p:sp>
        <p:nvSpPr>
          <p:cNvPr id="69645" name="Text Box 13"/>
          <p:cNvSpPr txBox="1">
            <a:spLocks noChangeArrowheads="1"/>
          </p:cNvSpPr>
          <p:nvPr/>
        </p:nvSpPr>
        <p:spPr bwMode="auto">
          <a:xfrm>
            <a:off x="5611813" y="2016025"/>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应用层</a:t>
            </a:r>
          </a:p>
        </p:txBody>
      </p:sp>
      <p:sp>
        <p:nvSpPr>
          <p:cNvPr id="69646" name="Text Box 14"/>
          <p:cNvSpPr txBox="1">
            <a:spLocks noChangeArrowheads="1"/>
          </p:cNvSpPr>
          <p:nvPr/>
        </p:nvSpPr>
        <p:spPr bwMode="auto">
          <a:xfrm>
            <a:off x="5532438" y="1630263"/>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ea typeface="黑体" pitchFamily="49" charset="-122"/>
              </a:rPr>
              <a:t>计算机 </a:t>
            </a:r>
            <a:r>
              <a:rPr kumimoji="1" lang="en-US" altLang="zh-CN" sz="2000" dirty="0">
                <a:solidFill>
                  <a:srgbClr val="333399"/>
                </a:solidFill>
                <a:ea typeface="黑体" pitchFamily="49" charset="-122"/>
              </a:rPr>
              <a:t>C</a:t>
            </a:r>
          </a:p>
        </p:txBody>
      </p:sp>
      <p:grpSp>
        <p:nvGrpSpPr>
          <p:cNvPr id="2" name="Group 15"/>
          <p:cNvGrpSpPr>
            <a:grpSpLocks/>
          </p:cNvGrpSpPr>
          <p:nvPr/>
        </p:nvGrpSpPr>
        <p:grpSpPr bwMode="auto">
          <a:xfrm>
            <a:off x="4857750" y="2381150"/>
            <a:ext cx="1143000" cy="746125"/>
            <a:chOff x="2100" y="1727"/>
            <a:chExt cx="720" cy="470"/>
          </a:xfrm>
        </p:grpSpPr>
        <p:sp>
          <p:nvSpPr>
            <p:cNvPr id="69690" name="Line 16"/>
            <p:cNvSpPr>
              <a:spLocks noChangeShapeType="1"/>
            </p:cNvSpPr>
            <p:nvPr/>
          </p:nvSpPr>
          <p:spPr bwMode="auto">
            <a:xfrm>
              <a:off x="2460" y="2119"/>
              <a:ext cx="1" cy="7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91" name="Oval 17"/>
            <p:cNvSpPr>
              <a:spLocks noChangeArrowheads="1"/>
            </p:cNvSpPr>
            <p:nvPr/>
          </p:nvSpPr>
          <p:spPr bwMode="auto">
            <a:xfrm>
              <a:off x="2100" y="1727"/>
              <a:ext cx="720"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endParaRPr kumimoji="1" lang="en-US" altLang="zh-CN" sz="1600">
                <a:latin typeface="Times New Roman" pitchFamily="18" charset="0"/>
              </a:endParaRPr>
            </a:p>
          </p:txBody>
        </p:sp>
        <p:sp>
          <p:nvSpPr>
            <p:cNvPr id="69692" name="Text Box 18"/>
            <p:cNvSpPr txBox="1">
              <a:spLocks noChangeArrowheads="1"/>
            </p:cNvSpPr>
            <p:nvPr/>
          </p:nvSpPr>
          <p:spPr bwMode="auto">
            <a:xfrm>
              <a:off x="2171" y="1756"/>
              <a:ext cx="596" cy="404"/>
            </a:xfrm>
            <a:prstGeom prst="rect">
              <a:avLst/>
            </a:prstGeom>
            <a:noFill/>
            <a:ln>
              <a:noFill/>
            </a:ln>
            <a:effectLst>
              <a:outerShdw dist="35921" dir="2700000" sx="11000" sy="11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lnSpc>
                  <a:spcPct val="90000"/>
                </a:lnSpc>
              </a:pPr>
              <a:r>
                <a:rPr kumimoji="1" lang="zh-CN" altLang="en-US" sz="2000">
                  <a:solidFill>
                    <a:srgbClr val="FFFF66"/>
                  </a:solidFill>
                  <a:ea typeface="黑体" pitchFamily="49" charset="-122"/>
                </a:rPr>
                <a:t>服务器</a:t>
              </a:r>
            </a:p>
            <a:p>
              <a:pPr algn="ctr" eaLnBrk="1" hangingPunct="1">
                <a:lnSpc>
                  <a:spcPct val="90000"/>
                </a:lnSpc>
              </a:pPr>
              <a:r>
                <a:rPr kumimoji="1" lang="en-US" altLang="zh-CN" sz="2000">
                  <a:solidFill>
                    <a:srgbClr val="FFFF66"/>
                  </a:solidFill>
                  <a:ea typeface="黑体" pitchFamily="49" charset="-122"/>
                </a:rPr>
                <a:t>1</a:t>
              </a:r>
              <a:endParaRPr kumimoji="1" lang="en-US" altLang="zh-CN" sz="3200">
                <a:solidFill>
                  <a:srgbClr val="FFFF66"/>
                </a:solidFill>
                <a:ea typeface="黑体" pitchFamily="49" charset="-122"/>
              </a:endParaRPr>
            </a:p>
          </p:txBody>
        </p:sp>
      </p:grpSp>
      <p:grpSp>
        <p:nvGrpSpPr>
          <p:cNvPr id="3" name="Group 19"/>
          <p:cNvGrpSpPr>
            <a:grpSpLocks/>
          </p:cNvGrpSpPr>
          <p:nvPr/>
        </p:nvGrpSpPr>
        <p:grpSpPr bwMode="auto">
          <a:xfrm>
            <a:off x="6264275" y="2381150"/>
            <a:ext cx="1141413" cy="735013"/>
            <a:chOff x="2986" y="1727"/>
            <a:chExt cx="719" cy="463"/>
          </a:xfrm>
        </p:grpSpPr>
        <p:sp>
          <p:nvSpPr>
            <p:cNvPr id="69687" name="Line 20"/>
            <p:cNvSpPr>
              <a:spLocks noChangeShapeType="1"/>
            </p:cNvSpPr>
            <p:nvPr/>
          </p:nvSpPr>
          <p:spPr bwMode="auto">
            <a:xfrm>
              <a:off x="3344" y="2113"/>
              <a:ext cx="1" cy="7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88" name="Oval 21"/>
            <p:cNvSpPr>
              <a:spLocks noChangeArrowheads="1"/>
            </p:cNvSpPr>
            <p:nvPr/>
          </p:nvSpPr>
          <p:spPr bwMode="auto">
            <a:xfrm>
              <a:off x="2986" y="1727"/>
              <a:ext cx="719" cy="412"/>
            </a:xfrm>
            <a:prstGeom prst="ellipse">
              <a:avLst/>
            </a:prstGeom>
            <a:solidFill>
              <a:schemeClr val="hlink"/>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endParaRPr kumimoji="1" lang="en-US" altLang="zh-CN" sz="1600">
                <a:latin typeface="Times New Roman" pitchFamily="18" charset="0"/>
              </a:endParaRPr>
            </a:p>
          </p:txBody>
        </p:sp>
        <p:sp>
          <p:nvSpPr>
            <p:cNvPr id="69689" name="Text Box 22"/>
            <p:cNvSpPr txBox="1">
              <a:spLocks noChangeArrowheads="1"/>
            </p:cNvSpPr>
            <p:nvPr/>
          </p:nvSpPr>
          <p:spPr bwMode="auto">
            <a:xfrm>
              <a:off x="3056" y="1752"/>
              <a:ext cx="596" cy="404"/>
            </a:xfrm>
            <a:prstGeom prst="rect">
              <a:avLst/>
            </a:prstGeom>
            <a:noFill/>
            <a:ln>
              <a:noFill/>
            </a:ln>
            <a:effectLst>
              <a:outerShdw dist="35921" dir="2700000" sx="12000" sy="12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lnSpc>
                  <a:spcPct val="90000"/>
                </a:lnSpc>
              </a:pPr>
              <a:r>
                <a:rPr kumimoji="1" lang="zh-CN" altLang="en-US" sz="2000">
                  <a:solidFill>
                    <a:srgbClr val="FFFF66"/>
                  </a:solidFill>
                  <a:ea typeface="黑体" pitchFamily="49" charset="-122"/>
                </a:rPr>
                <a:t>服务器</a:t>
              </a:r>
            </a:p>
            <a:p>
              <a:pPr algn="ctr" eaLnBrk="1" hangingPunct="1">
                <a:lnSpc>
                  <a:spcPct val="90000"/>
                </a:lnSpc>
              </a:pPr>
              <a:r>
                <a:rPr kumimoji="1" lang="en-US" altLang="zh-CN" sz="2000">
                  <a:solidFill>
                    <a:srgbClr val="FFFF66"/>
                  </a:solidFill>
                  <a:ea typeface="黑体" pitchFamily="49" charset="-122"/>
                </a:rPr>
                <a:t>2</a:t>
              </a:r>
              <a:endParaRPr kumimoji="1" lang="en-US" altLang="zh-CN" sz="3200">
                <a:solidFill>
                  <a:srgbClr val="FFFF66"/>
                </a:solidFill>
                <a:ea typeface="黑体" pitchFamily="49" charset="-122"/>
              </a:endParaRPr>
            </a:p>
          </p:txBody>
        </p:sp>
      </p:grpSp>
      <p:grpSp>
        <p:nvGrpSpPr>
          <p:cNvPr id="4" name="Group 23"/>
          <p:cNvGrpSpPr>
            <a:grpSpLocks/>
          </p:cNvGrpSpPr>
          <p:nvPr/>
        </p:nvGrpSpPr>
        <p:grpSpPr bwMode="auto">
          <a:xfrm>
            <a:off x="2135188" y="1630263"/>
            <a:ext cx="7910512" cy="3771900"/>
            <a:chOff x="385" y="1254"/>
            <a:chExt cx="4983" cy="2376"/>
          </a:xfrm>
        </p:grpSpPr>
        <p:sp>
          <p:nvSpPr>
            <p:cNvPr id="69656" name="Freeform 24"/>
            <p:cNvSpPr>
              <a:spLocks/>
            </p:cNvSpPr>
            <p:nvPr/>
          </p:nvSpPr>
          <p:spPr bwMode="auto">
            <a:xfrm>
              <a:off x="846" y="3219"/>
              <a:ext cx="4066" cy="411"/>
            </a:xfrm>
            <a:custGeom>
              <a:avLst/>
              <a:gdLst>
                <a:gd name="T0" fmla="*/ 0 w 3527"/>
                <a:gd name="T1" fmla="*/ 0 h 333"/>
                <a:gd name="T2" fmla="*/ 0 w 3527"/>
                <a:gd name="T3" fmla="*/ 1355310 h 333"/>
                <a:gd name="T4" fmla="*/ 7347 w 3527"/>
                <a:gd name="T5" fmla="*/ 2024522 h 333"/>
                <a:gd name="T6" fmla="*/ 26420 w 3527"/>
                <a:gd name="T7" fmla="*/ 2835187 h 333"/>
                <a:gd name="T8" fmla="*/ 64296 w 3527"/>
                <a:gd name="T9" fmla="*/ 3339387 h 333"/>
                <a:gd name="T10" fmla="*/ 92196 w 3527"/>
                <a:gd name="T11" fmla="*/ 3463734 h 333"/>
                <a:gd name="T12" fmla="*/ 1753056 w 3527"/>
                <a:gd name="T13" fmla="*/ 3499285 h 333"/>
                <a:gd name="T14" fmla="*/ 1785900 w 3527"/>
                <a:gd name="T15" fmla="*/ 3339387 h 333"/>
                <a:gd name="T16" fmla="*/ 1816828 w 3527"/>
                <a:gd name="T17" fmla="*/ 2964401 h 333"/>
                <a:gd name="T18" fmla="*/ 1832603 w 3527"/>
                <a:gd name="T19" fmla="*/ 2459508 h 333"/>
                <a:gd name="T20" fmla="*/ 1838972 w 3527"/>
                <a:gd name="T21" fmla="*/ 1701823 h 333"/>
                <a:gd name="T22" fmla="*/ 1840086 w 3527"/>
                <a:gd name="T23" fmla="*/ 0 h 3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27"/>
                <a:gd name="T37" fmla="*/ 0 h 333"/>
                <a:gd name="T38" fmla="*/ 3527 w 3527"/>
                <a:gd name="T39" fmla="*/ 333 h 3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69657" name="Group 25"/>
            <p:cNvGrpSpPr>
              <a:grpSpLocks/>
            </p:cNvGrpSpPr>
            <p:nvPr/>
          </p:nvGrpSpPr>
          <p:grpSpPr bwMode="auto">
            <a:xfrm>
              <a:off x="385" y="1254"/>
              <a:ext cx="944" cy="1965"/>
              <a:chOff x="385" y="1254"/>
              <a:chExt cx="944" cy="1965"/>
            </a:xfrm>
          </p:grpSpPr>
          <p:sp>
            <p:nvSpPr>
              <p:cNvPr id="69673" name="Rectangle 26"/>
              <p:cNvSpPr>
                <a:spLocks noChangeArrowheads="1"/>
              </p:cNvSpPr>
              <p:nvPr/>
            </p:nvSpPr>
            <p:spPr bwMode="auto">
              <a:xfrm>
                <a:off x="385" y="1522"/>
                <a:ext cx="941" cy="1697"/>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eaLnBrk="1" hangingPunct="1"/>
                <a:endParaRPr lang="en-US" altLang="zh-CN"/>
              </a:p>
            </p:txBody>
          </p:sp>
          <p:sp>
            <p:nvSpPr>
              <p:cNvPr id="69674" name="Text Box 27"/>
              <p:cNvSpPr txBox="1">
                <a:spLocks noChangeArrowheads="1"/>
              </p:cNvSpPr>
              <p:nvPr/>
            </p:nvSpPr>
            <p:spPr bwMode="auto">
              <a:xfrm>
                <a:off x="413" y="2689"/>
                <a:ext cx="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数据链路层</a:t>
                </a:r>
              </a:p>
            </p:txBody>
          </p:sp>
          <p:sp>
            <p:nvSpPr>
              <p:cNvPr id="69675" name="Line 28"/>
              <p:cNvSpPr>
                <a:spLocks noChangeShapeType="1"/>
              </p:cNvSpPr>
              <p:nvPr/>
            </p:nvSpPr>
            <p:spPr bwMode="auto">
              <a:xfrm>
                <a:off x="385" y="2962"/>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6" name="Line 29"/>
              <p:cNvSpPr>
                <a:spLocks noChangeShapeType="1"/>
              </p:cNvSpPr>
              <p:nvPr/>
            </p:nvSpPr>
            <p:spPr bwMode="auto">
              <a:xfrm>
                <a:off x="385" y="2704"/>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7" name="Line 30"/>
              <p:cNvSpPr>
                <a:spLocks noChangeShapeType="1"/>
              </p:cNvSpPr>
              <p:nvPr/>
            </p:nvSpPr>
            <p:spPr bwMode="auto">
              <a:xfrm>
                <a:off x="385" y="2447"/>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8" name="Line 31"/>
              <p:cNvSpPr>
                <a:spLocks noChangeShapeType="1"/>
              </p:cNvSpPr>
              <p:nvPr/>
            </p:nvSpPr>
            <p:spPr bwMode="auto">
              <a:xfrm>
                <a:off x="385" y="2190"/>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9" name="Text Box 32"/>
              <p:cNvSpPr txBox="1">
                <a:spLocks noChangeArrowheads="1"/>
              </p:cNvSpPr>
              <p:nvPr/>
            </p:nvSpPr>
            <p:spPr bwMode="auto">
              <a:xfrm>
                <a:off x="560" y="2946"/>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物理层</a:t>
                </a:r>
              </a:p>
            </p:txBody>
          </p:sp>
          <p:sp>
            <p:nvSpPr>
              <p:cNvPr id="69680" name="Text Box 33"/>
              <p:cNvSpPr txBox="1">
                <a:spLocks noChangeArrowheads="1"/>
              </p:cNvSpPr>
              <p:nvPr/>
            </p:nvSpPr>
            <p:spPr bwMode="auto">
              <a:xfrm>
                <a:off x="560" y="2183"/>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运输层</a:t>
                </a:r>
              </a:p>
            </p:txBody>
          </p:sp>
          <p:sp>
            <p:nvSpPr>
              <p:cNvPr id="69681" name="Text Box 34"/>
              <p:cNvSpPr txBox="1">
                <a:spLocks noChangeArrowheads="1"/>
              </p:cNvSpPr>
              <p:nvPr/>
            </p:nvSpPr>
            <p:spPr bwMode="auto">
              <a:xfrm>
                <a:off x="560" y="2440"/>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网络层</a:t>
                </a:r>
              </a:p>
            </p:txBody>
          </p:sp>
          <p:sp>
            <p:nvSpPr>
              <p:cNvPr id="69682" name="Line 35"/>
              <p:cNvSpPr>
                <a:spLocks noChangeShapeType="1"/>
              </p:cNvSpPr>
              <p:nvPr/>
            </p:nvSpPr>
            <p:spPr bwMode="auto">
              <a:xfrm>
                <a:off x="845" y="2036"/>
                <a:ext cx="2" cy="154"/>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83" name="Oval 36"/>
              <p:cNvSpPr>
                <a:spLocks noChangeArrowheads="1"/>
              </p:cNvSpPr>
              <p:nvPr/>
            </p:nvSpPr>
            <p:spPr bwMode="auto">
              <a:xfrm>
                <a:off x="468"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endParaRPr kumimoji="1" lang="en-US" altLang="zh-CN" sz="1600">
                  <a:latin typeface="Times New Roman" pitchFamily="18" charset="0"/>
                </a:endParaRPr>
              </a:p>
            </p:txBody>
          </p:sp>
          <p:sp>
            <p:nvSpPr>
              <p:cNvPr id="69684" name="Text Box 37"/>
              <p:cNvSpPr txBox="1">
                <a:spLocks noChangeArrowheads="1"/>
              </p:cNvSpPr>
              <p:nvPr/>
            </p:nvSpPr>
            <p:spPr bwMode="auto">
              <a:xfrm>
                <a:off x="565" y="1506"/>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应用层</a:t>
                </a:r>
              </a:p>
            </p:txBody>
          </p:sp>
          <p:sp>
            <p:nvSpPr>
              <p:cNvPr id="69685" name="Text Box 38"/>
              <p:cNvSpPr txBox="1">
                <a:spLocks noChangeArrowheads="1"/>
              </p:cNvSpPr>
              <p:nvPr/>
            </p:nvSpPr>
            <p:spPr bwMode="auto">
              <a:xfrm>
                <a:off x="523" y="1254"/>
                <a:ext cx="7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ea typeface="黑体" pitchFamily="49" charset="-122"/>
                  </a:rPr>
                  <a:t>计算机 </a:t>
                </a:r>
                <a:r>
                  <a:rPr kumimoji="1" lang="en-US" altLang="zh-CN" sz="2000" dirty="0">
                    <a:solidFill>
                      <a:srgbClr val="333399"/>
                    </a:solidFill>
                    <a:ea typeface="黑体" pitchFamily="49" charset="-122"/>
                  </a:rPr>
                  <a:t>A</a:t>
                </a:r>
              </a:p>
            </p:txBody>
          </p:sp>
          <p:sp>
            <p:nvSpPr>
              <p:cNvPr id="69686" name="Text Box 39"/>
              <p:cNvSpPr txBox="1">
                <a:spLocks noChangeArrowheads="1"/>
              </p:cNvSpPr>
              <p:nvPr/>
            </p:nvSpPr>
            <p:spPr bwMode="auto">
              <a:xfrm>
                <a:off x="567" y="1789"/>
                <a:ext cx="5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客户 </a:t>
                </a:r>
                <a:r>
                  <a:rPr kumimoji="1" lang="en-US" altLang="zh-CN" sz="2000">
                    <a:solidFill>
                      <a:srgbClr val="333399"/>
                    </a:solidFill>
                    <a:ea typeface="黑体" pitchFamily="49" charset="-122"/>
                  </a:rPr>
                  <a:t>1</a:t>
                </a:r>
                <a:endParaRPr kumimoji="1" lang="en-US" altLang="zh-CN" sz="3200">
                  <a:solidFill>
                    <a:srgbClr val="333399"/>
                  </a:solidFill>
                  <a:ea typeface="黑体" pitchFamily="49" charset="-122"/>
                </a:endParaRPr>
              </a:p>
            </p:txBody>
          </p:sp>
        </p:grpSp>
        <p:grpSp>
          <p:nvGrpSpPr>
            <p:cNvPr id="69658" name="Group 40"/>
            <p:cNvGrpSpPr>
              <a:grpSpLocks/>
            </p:cNvGrpSpPr>
            <p:nvPr/>
          </p:nvGrpSpPr>
          <p:grpSpPr bwMode="auto">
            <a:xfrm>
              <a:off x="4424" y="1254"/>
              <a:ext cx="944" cy="1965"/>
              <a:chOff x="4424" y="1254"/>
              <a:chExt cx="944" cy="1965"/>
            </a:xfrm>
          </p:grpSpPr>
          <p:sp>
            <p:nvSpPr>
              <p:cNvPr id="69659" name="Rectangle 41"/>
              <p:cNvSpPr>
                <a:spLocks noChangeArrowheads="1"/>
              </p:cNvSpPr>
              <p:nvPr/>
            </p:nvSpPr>
            <p:spPr bwMode="auto">
              <a:xfrm>
                <a:off x="4424" y="1522"/>
                <a:ext cx="941" cy="1697"/>
              </a:xfrm>
              <a:prstGeom prst="rect">
                <a:avLst/>
              </a:prstGeom>
              <a:solidFill>
                <a:srgbClr val="FFFFCC"/>
              </a:solidFill>
              <a:ln w="28575">
                <a:solidFill>
                  <a:srgbClr val="333399"/>
                </a:solidFill>
                <a:miter lim="800000"/>
                <a:headEnd/>
                <a:tailEnd/>
              </a:ln>
              <a:effectLst>
                <a:outerShdw dist="35921" dir="2700000" algn="ctr" rotWithShape="0">
                  <a:schemeClr val="bg2"/>
                </a:outerShdw>
              </a:effectLst>
            </p:spPr>
            <p:txBody>
              <a:bodyPr wrap="none" anchor="ctr"/>
              <a:lstStyle/>
              <a:p>
                <a:pPr eaLnBrk="1" hangingPunct="1"/>
                <a:endParaRPr lang="en-US" altLang="zh-CN"/>
              </a:p>
            </p:txBody>
          </p:sp>
          <p:sp>
            <p:nvSpPr>
              <p:cNvPr id="69660" name="Text Box 42"/>
              <p:cNvSpPr txBox="1">
                <a:spLocks noChangeArrowheads="1"/>
              </p:cNvSpPr>
              <p:nvPr/>
            </p:nvSpPr>
            <p:spPr bwMode="auto">
              <a:xfrm>
                <a:off x="4452" y="2689"/>
                <a:ext cx="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数据链路层</a:t>
                </a:r>
              </a:p>
            </p:txBody>
          </p:sp>
          <p:sp>
            <p:nvSpPr>
              <p:cNvPr id="69661" name="Line 43"/>
              <p:cNvSpPr>
                <a:spLocks noChangeShapeType="1"/>
              </p:cNvSpPr>
              <p:nvPr/>
            </p:nvSpPr>
            <p:spPr bwMode="auto">
              <a:xfrm>
                <a:off x="4424" y="2962"/>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2" name="Line 44"/>
              <p:cNvSpPr>
                <a:spLocks noChangeShapeType="1"/>
              </p:cNvSpPr>
              <p:nvPr/>
            </p:nvSpPr>
            <p:spPr bwMode="auto">
              <a:xfrm>
                <a:off x="4424" y="2704"/>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3" name="Line 45"/>
              <p:cNvSpPr>
                <a:spLocks noChangeShapeType="1"/>
              </p:cNvSpPr>
              <p:nvPr/>
            </p:nvSpPr>
            <p:spPr bwMode="auto">
              <a:xfrm>
                <a:off x="4424" y="2447"/>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4" name="Line 46"/>
              <p:cNvSpPr>
                <a:spLocks noChangeShapeType="1"/>
              </p:cNvSpPr>
              <p:nvPr/>
            </p:nvSpPr>
            <p:spPr bwMode="auto">
              <a:xfrm>
                <a:off x="4424" y="2190"/>
                <a:ext cx="94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5" name="Text Box 47"/>
              <p:cNvSpPr txBox="1">
                <a:spLocks noChangeArrowheads="1"/>
              </p:cNvSpPr>
              <p:nvPr/>
            </p:nvSpPr>
            <p:spPr bwMode="auto">
              <a:xfrm>
                <a:off x="4600" y="2946"/>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物理层</a:t>
                </a:r>
              </a:p>
            </p:txBody>
          </p:sp>
          <p:sp>
            <p:nvSpPr>
              <p:cNvPr id="69666" name="Text Box 48"/>
              <p:cNvSpPr txBox="1">
                <a:spLocks noChangeArrowheads="1"/>
              </p:cNvSpPr>
              <p:nvPr/>
            </p:nvSpPr>
            <p:spPr bwMode="auto">
              <a:xfrm>
                <a:off x="4600" y="2183"/>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运输层</a:t>
                </a:r>
              </a:p>
            </p:txBody>
          </p:sp>
          <p:sp>
            <p:nvSpPr>
              <p:cNvPr id="69667" name="Text Box 49"/>
              <p:cNvSpPr txBox="1">
                <a:spLocks noChangeArrowheads="1"/>
              </p:cNvSpPr>
              <p:nvPr/>
            </p:nvSpPr>
            <p:spPr bwMode="auto">
              <a:xfrm>
                <a:off x="4600" y="2440"/>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网络层</a:t>
                </a:r>
              </a:p>
            </p:txBody>
          </p:sp>
          <p:sp>
            <p:nvSpPr>
              <p:cNvPr id="69668" name="Line 50"/>
              <p:cNvSpPr>
                <a:spLocks noChangeShapeType="1"/>
              </p:cNvSpPr>
              <p:nvPr/>
            </p:nvSpPr>
            <p:spPr bwMode="auto">
              <a:xfrm>
                <a:off x="4911" y="2065"/>
                <a:ext cx="2" cy="1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69" name="Oval 51"/>
              <p:cNvSpPr>
                <a:spLocks noChangeArrowheads="1"/>
              </p:cNvSpPr>
              <p:nvPr/>
            </p:nvSpPr>
            <p:spPr bwMode="auto">
              <a:xfrm>
                <a:off x="4507" y="1779"/>
                <a:ext cx="775" cy="308"/>
              </a:xfrm>
              <a:prstGeom prst="ellipse">
                <a:avLst/>
              </a:prstGeom>
              <a:solidFill>
                <a:srgbClr val="00FF99"/>
              </a:solidFill>
              <a:ln w="19050">
                <a:solidFill>
                  <a:schemeClr val="tx1"/>
                </a:solidFill>
                <a:round/>
                <a:headEnd/>
                <a:tailEnd/>
              </a:ln>
              <a:effectLst>
                <a:outerShdw dist="35921" dir="2700000" algn="ctr" rotWithShape="0">
                  <a:schemeClr val="bg2"/>
                </a:outerShdw>
              </a:effectLst>
            </p:spPr>
            <p:txBody>
              <a:bodyPr wrap="none" anchor="ctr"/>
              <a:lstStyle/>
              <a:p>
                <a:pPr algn="ctr" eaLnBrk="1" hangingPunct="1"/>
                <a:endParaRPr kumimoji="1" lang="en-US" altLang="zh-CN" sz="1600">
                  <a:latin typeface="Times New Roman" pitchFamily="18" charset="0"/>
                </a:endParaRPr>
              </a:p>
            </p:txBody>
          </p:sp>
          <p:sp>
            <p:nvSpPr>
              <p:cNvPr id="69670" name="Text Box 52"/>
              <p:cNvSpPr txBox="1">
                <a:spLocks noChangeArrowheads="1"/>
              </p:cNvSpPr>
              <p:nvPr/>
            </p:nvSpPr>
            <p:spPr bwMode="auto">
              <a:xfrm>
                <a:off x="4595" y="1514"/>
                <a:ext cx="5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应用层</a:t>
                </a:r>
              </a:p>
            </p:txBody>
          </p:sp>
          <p:sp>
            <p:nvSpPr>
              <p:cNvPr id="69671" name="Text Box 53"/>
              <p:cNvSpPr txBox="1">
                <a:spLocks noChangeArrowheads="1"/>
              </p:cNvSpPr>
              <p:nvPr/>
            </p:nvSpPr>
            <p:spPr bwMode="auto">
              <a:xfrm>
                <a:off x="4567" y="1254"/>
                <a:ext cx="75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ea typeface="黑体" pitchFamily="49" charset="-122"/>
                  </a:rPr>
                  <a:t>计算机 </a:t>
                </a:r>
                <a:r>
                  <a:rPr kumimoji="1" lang="en-US" altLang="zh-CN" sz="2000" dirty="0">
                    <a:solidFill>
                      <a:srgbClr val="333399"/>
                    </a:solidFill>
                    <a:ea typeface="黑体" pitchFamily="49" charset="-122"/>
                  </a:rPr>
                  <a:t>B</a:t>
                </a:r>
              </a:p>
            </p:txBody>
          </p:sp>
          <p:sp>
            <p:nvSpPr>
              <p:cNvPr id="69672" name="Text Box 54"/>
              <p:cNvSpPr txBox="1">
                <a:spLocks noChangeArrowheads="1"/>
              </p:cNvSpPr>
              <p:nvPr/>
            </p:nvSpPr>
            <p:spPr bwMode="auto">
              <a:xfrm>
                <a:off x="4625" y="1789"/>
                <a:ext cx="5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a:solidFill>
                      <a:srgbClr val="333399"/>
                    </a:solidFill>
                    <a:ea typeface="黑体" pitchFamily="49" charset="-122"/>
                  </a:rPr>
                  <a:t>客户 </a:t>
                </a:r>
                <a:r>
                  <a:rPr kumimoji="1" lang="en-US" altLang="zh-CN" sz="2000">
                    <a:solidFill>
                      <a:srgbClr val="333399"/>
                    </a:solidFill>
                    <a:ea typeface="黑体" pitchFamily="49" charset="-122"/>
                  </a:rPr>
                  <a:t>2</a:t>
                </a:r>
                <a:endParaRPr kumimoji="1" lang="en-US" altLang="zh-CN" sz="3200">
                  <a:solidFill>
                    <a:srgbClr val="333399"/>
                  </a:solidFill>
                  <a:ea typeface="黑体" pitchFamily="49" charset="-122"/>
                </a:endParaRPr>
              </a:p>
            </p:txBody>
          </p:sp>
        </p:grpSp>
      </p:grpSp>
      <p:grpSp>
        <p:nvGrpSpPr>
          <p:cNvPr id="69650" name="Group 55"/>
          <p:cNvGrpSpPr>
            <a:grpSpLocks/>
          </p:cNvGrpSpPr>
          <p:nvPr/>
        </p:nvGrpSpPr>
        <p:grpSpPr bwMode="auto">
          <a:xfrm>
            <a:off x="5087938" y="4898925"/>
            <a:ext cx="2041525" cy="1122363"/>
            <a:chOff x="2245" y="3313"/>
            <a:chExt cx="1286" cy="707"/>
          </a:xfrm>
        </p:grpSpPr>
        <p:graphicFrame>
          <p:nvGraphicFramePr>
            <p:cNvPr id="69654" name="Object 56"/>
            <p:cNvGraphicFramePr>
              <a:graphicFrameLocks noChangeAspect="1"/>
            </p:cNvGraphicFramePr>
            <p:nvPr/>
          </p:nvGraphicFramePr>
          <p:xfrm>
            <a:off x="2245" y="3313"/>
            <a:ext cx="1286" cy="707"/>
          </p:xfrm>
          <a:graphic>
            <a:graphicData uri="http://schemas.openxmlformats.org/presentationml/2006/ole">
              <mc:AlternateContent xmlns:mc="http://schemas.openxmlformats.org/markup-compatibility/2006">
                <mc:Choice xmlns:v="urn:schemas-microsoft-com:vml" Requires="v">
                  <p:oleObj spid="_x0000_s70365" name="VISIO" r:id="rId4" imgW="1687068" imgH="964692" progId="">
                    <p:embed/>
                  </p:oleObj>
                </mc:Choice>
                <mc:Fallback>
                  <p:oleObj name="VISIO" r:id="rId4" imgW="1687068" imgH="964692" progId="">
                    <p:embed/>
                    <p:pic>
                      <p:nvPicPr>
                        <p:cNvPr id="0" name="Object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5" y="3313"/>
                          <a:ext cx="1286" cy="707"/>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9655" name="Text Box 57"/>
            <p:cNvSpPr txBox="1">
              <a:spLocks noChangeArrowheads="1"/>
            </p:cNvSpPr>
            <p:nvPr/>
          </p:nvSpPr>
          <p:spPr bwMode="auto">
            <a:xfrm>
              <a:off x="2562" y="3521"/>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kumimoji="1" lang="zh-CN" altLang="en-US" sz="2000" dirty="0">
                  <a:solidFill>
                    <a:srgbClr val="333399"/>
                  </a:solidFill>
                  <a:latin typeface="Bookman Old Style" pitchFamily="18" charset="0"/>
                  <a:ea typeface="黑体" pitchFamily="49" charset="-122"/>
                </a:rPr>
                <a:t>互联</a:t>
              </a:r>
              <a:r>
                <a:rPr kumimoji="1" lang="zh-CN" altLang="en-US" sz="2000" dirty="0" smtClean="0">
                  <a:solidFill>
                    <a:srgbClr val="333399"/>
                  </a:solidFill>
                  <a:latin typeface="Bookman Old Style" pitchFamily="18" charset="0"/>
                  <a:ea typeface="黑体" pitchFamily="49" charset="-122"/>
                </a:rPr>
                <a:t>网</a:t>
              </a:r>
              <a:endParaRPr kumimoji="1" lang="zh-CN" altLang="en-US" sz="2000" dirty="0">
                <a:solidFill>
                  <a:srgbClr val="333399"/>
                </a:solidFill>
                <a:latin typeface="Bookman Old Style" pitchFamily="18" charset="0"/>
                <a:ea typeface="黑体" pitchFamily="49" charset="-122"/>
              </a:endParaRPr>
            </a:p>
          </p:txBody>
        </p:sp>
      </p:grpSp>
      <p:grpSp>
        <p:nvGrpSpPr>
          <p:cNvPr id="8" name="Group 58"/>
          <p:cNvGrpSpPr>
            <a:grpSpLocks/>
          </p:cNvGrpSpPr>
          <p:nvPr/>
        </p:nvGrpSpPr>
        <p:grpSpPr bwMode="auto">
          <a:xfrm>
            <a:off x="3540125" y="2708175"/>
            <a:ext cx="5183188" cy="0"/>
            <a:chOff x="1270" y="1933"/>
            <a:chExt cx="3265" cy="0"/>
          </a:xfrm>
        </p:grpSpPr>
        <p:sp>
          <p:nvSpPr>
            <p:cNvPr id="69652" name="Line 59"/>
            <p:cNvSpPr>
              <a:spLocks noChangeShapeType="1"/>
            </p:cNvSpPr>
            <p:nvPr/>
          </p:nvSpPr>
          <p:spPr bwMode="auto">
            <a:xfrm>
              <a:off x="3705" y="1933"/>
              <a:ext cx="830" cy="0"/>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53" name="Line 60"/>
            <p:cNvSpPr>
              <a:spLocks noChangeShapeType="1"/>
            </p:cNvSpPr>
            <p:nvPr/>
          </p:nvSpPr>
          <p:spPr bwMode="auto">
            <a:xfrm>
              <a:off x="1270" y="1933"/>
              <a:ext cx="830" cy="0"/>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nodeType="afterEffect">
                                  <p:stCondLst>
                                    <p:cond delay="0"/>
                                  </p:stCondLst>
                                  <p:childTnLst>
                                    <p:anim calcmode="discrete" valueType="str">
                                      <p:cBhvr>
                                        <p:cTn id="9" dur="500" fill="hold"/>
                                        <p:tgtEl>
                                          <p:spTgt spid="2"/>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500"/>
                            </p:stCondLst>
                            <p:childTnLst>
                              <p:par>
                                <p:cTn id="11" presetID="1" presetClass="entr" presetSubtype="0" fill="hold" nodeType="afterEffect">
                                  <p:stCondLst>
                                    <p:cond delay="500"/>
                                  </p:stCondLst>
                                  <p:childTnLst>
                                    <p:set>
                                      <p:cBhvr>
                                        <p:cTn id="12" dur="1" fill="hold">
                                          <p:stCondLst>
                                            <p:cond delay="0"/>
                                          </p:stCondLst>
                                        </p:cTn>
                                        <p:tgtEl>
                                          <p:spTgt spid="3"/>
                                        </p:tgtEl>
                                        <p:attrNameLst>
                                          <p:attrName>style.visibility</p:attrName>
                                        </p:attrNameLst>
                                      </p:cBhvr>
                                      <p:to>
                                        <p:strVal val="visible"/>
                                      </p:to>
                                    </p:set>
                                  </p:childTnLst>
                                </p:cTn>
                              </p:par>
                            </p:childTnLst>
                          </p:cTn>
                        </p:par>
                        <p:par>
                          <p:cTn id="13" fill="hold" nodeType="afterGroup">
                            <p:stCondLst>
                              <p:cond delay="2000"/>
                            </p:stCondLst>
                            <p:childTnLst>
                              <p:par>
                                <p:cTn id="14" presetID="35" presetClass="emph" presetSubtype="0" repeatCount="3000" fill="hold" nodeType="afterEffect">
                                  <p:stCondLst>
                                    <p:cond delay="0"/>
                                  </p:stCondLst>
                                  <p:childTnLst>
                                    <p:anim calcmode="discrete" valueType="str">
                                      <p:cBhvr>
                                        <p:cTn id="15" dur="500" fill="hold"/>
                                        <p:tgtEl>
                                          <p:spTgt spid="3"/>
                                        </p:tgtEl>
                                        <p:attrNameLst>
                                          <p:attrName>style.visibility</p:attrName>
                                        </p:attrNameLst>
                                      </p:cBhvr>
                                      <p:tavLst>
                                        <p:tav tm="0">
                                          <p:val>
                                            <p:strVal val="hidden"/>
                                          </p:val>
                                        </p:tav>
                                        <p:tav tm="50000">
                                          <p:val>
                                            <p:strVal val="visible"/>
                                          </p:val>
                                        </p:tav>
                                      </p:tavLst>
                                    </p:anim>
                                  </p:childTnLst>
                                </p:cTn>
                              </p:par>
                            </p:childTnLst>
                          </p:cTn>
                        </p:par>
                        <p:par>
                          <p:cTn id="16" fill="hold" nodeType="afterGroup">
                            <p:stCondLst>
                              <p:cond delay="3500"/>
                            </p:stCondLst>
                            <p:childTnLst>
                              <p:par>
                                <p:cTn id="17" presetID="1" presetClass="entr" presetSubtype="0" fill="hold" nodeType="afterEffect">
                                  <p:stCondLst>
                                    <p:cond delay="500"/>
                                  </p:stCondLst>
                                  <p:childTnLst>
                                    <p:set>
                                      <p:cBhvr>
                                        <p:cTn id="18" dur="1" fill="hold">
                                          <p:stCondLst>
                                            <p:cond delay="0"/>
                                          </p:stCondLst>
                                        </p:cTn>
                                        <p:tgtEl>
                                          <p:spTgt spid="4"/>
                                        </p:tgtEl>
                                        <p:attrNameLst>
                                          <p:attrName>style.visibility</p:attrName>
                                        </p:attrNameLst>
                                      </p:cBhvr>
                                      <p:to>
                                        <p:strVal val="visible"/>
                                      </p:to>
                                    </p:set>
                                  </p:childTnLst>
                                </p:cTn>
                              </p:par>
                            </p:childTnLst>
                          </p:cTn>
                        </p:par>
                        <p:par>
                          <p:cTn id="19" fill="hold" nodeType="afterGroup">
                            <p:stCondLst>
                              <p:cond delay="4000"/>
                            </p:stCondLst>
                            <p:childTnLst>
                              <p:par>
                                <p:cTn id="20" presetID="1" presetClass="entr" presetSubtype="0" fill="hold" nodeType="afterEffect">
                                  <p:stCondLst>
                                    <p:cond delay="50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nodeType="afterGroup">
                            <p:stCondLst>
                              <p:cond delay="4500"/>
                            </p:stCondLst>
                            <p:childTnLst>
                              <p:par>
                                <p:cTn id="23" presetID="35" presetClass="emph" presetSubtype="0" repeatCount="6000" fill="hold" nodeType="afterEffect">
                                  <p:stCondLst>
                                    <p:cond delay="0"/>
                                  </p:stCondLst>
                                  <p:childTnLst>
                                    <p:anim calcmode="discrete" valueType="str">
                                      <p:cBhvr>
                                        <p:cTn id="24" dur="5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t="-17000" b="-17000"/>
          </a:stretch>
        </a:blipFill>
        <a:effectLst/>
      </p:bgPr>
    </p:bg>
    <p:spTree>
      <p:nvGrpSpPr>
        <p:cNvPr id="1" name=""/>
        <p:cNvGrpSpPr/>
        <p:nvPr/>
      </p:nvGrpSpPr>
      <p:grpSpPr>
        <a:xfrm>
          <a:off x="0" y="0"/>
          <a:ext cx="0" cy="0"/>
          <a:chOff x="0" y="0"/>
          <a:chExt cx="0" cy="0"/>
        </a:xfrm>
      </p:grpSpPr>
      <p:sp>
        <p:nvSpPr>
          <p:cNvPr id="71682" name="Rectangle 7"/>
          <p:cNvSpPr>
            <a:spLocks noChangeArrowheads="1"/>
          </p:cNvSpPr>
          <p:nvPr/>
        </p:nvSpPr>
        <p:spPr bwMode="black">
          <a:xfrm>
            <a:off x="1524000" y="1844675"/>
            <a:ext cx="9144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r>
              <a:rPr lang="en-US" altLang="zh-CN" sz="3200">
                <a:solidFill>
                  <a:srgbClr val="000066"/>
                </a:solidFill>
                <a:ea typeface="黑体" pitchFamily="49" charset="-122"/>
              </a:rPr>
              <a:t>Thank You</a:t>
            </a:r>
            <a:r>
              <a:rPr lang="zh-CN" altLang="en-US" sz="3200">
                <a:solidFill>
                  <a:srgbClr val="000066"/>
                </a:solidFill>
                <a:ea typeface="黑体" pitchFamily="49" charset="-122"/>
              </a:rPr>
              <a:t>！</a:t>
            </a:r>
            <a:endParaRPr lang="en-US" altLang="zh-CN" sz="3200">
              <a:solidFill>
                <a:srgbClr val="000066"/>
              </a:solidFill>
              <a:ea typeface="黑体" pitchFamily="49" charset="-122"/>
            </a:endParaRPr>
          </a:p>
          <a:p>
            <a:pPr algn="ctr" eaLnBrk="1" hangingPunct="1"/>
            <a:r>
              <a:rPr lang="en-US" altLang="zh-CN" sz="3200">
                <a:solidFill>
                  <a:srgbClr val="000066"/>
                </a:solidFill>
                <a:ea typeface="黑体" pitchFamily="49" charset="-122"/>
              </a:rPr>
              <a:t>Any Questions</a:t>
            </a:r>
            <a:r>
              <a:rPr lang="zh-CN" altLang="en-US" sz="3200">
                <a:solidFill>
                  <a:srgbClr val="000066"/>
                </a:solidFill>
                <a:ea typeface="黑体" pitchFamily="49" charset="-122"/>
              </a:rPr>
              <a:t>？</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NordriDesignStudio">
  <a:themeElements>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fontScheme name="NordriDesignStudio">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ordriDesignStudio 1">
        <a:dk1>
          <a:srgbClr val="1D528D"/>
        </a:dk1>
        <a:lt1>
          <a:srgbClr val="FFFFFF"/>
        </a:lt1>
        <a:dk2>
          <a:srgbClr val="000000"/>
        </a:dk2>
        <a:lt2>
          <a:srgbClr val="C0C0C0"/>
        </a:lt2>
        <a:accent1>
          <a:srgbClr val="2CA3C8"/>
        </a:accent1>
        <a:accent2>
          <a:srgbClr val="C5903B"/>
        </a:accent2>
        <a:accent3>
          <a:srgbClr val="FFFFFF"/>
        </a:accent3>
        <a:accent4>
          <a:srgbClr val="174578"/>
        </a:accent4>
        <a:accent5>
          <a:srgbClr val="ACCEE0"/>
        </a:accent5>
        <a:accent6>
          <a:srgbClr val="B28235"/>
        </a:accent6>
        <a:hlink>
          <a:srgbClr val="FF9900"/>
        </a:hlink>
        <a:folHlink>
          <a:srgbClr val="969696"/>
        </a:folHlink>
      </a:clrScheme>
      <a:clrMap bg1="lt1" tx1="dk1" bg2="lt2" tx2="dk2" accent1="accent1" accent2="accent2" accent3="accent3" accent4="accent4" accent5="accent5" accent6="accent6" hlink="hlink" folHlink="folHlink"/>
    </a:extraClrScheme>
    <a:extraClrScheme>
      <a:clrScheme name="NordriDesignStudio 2">
        <a:dk1>
          <a:srgbClr val="124B98"/>
        </a:dk1>
        <a:lt1>
          <a:srgbClr val="FFFFFF"/>
        </a:lt1>
        <a:dk2>
          <a:srgbClr val="000000"/>
        </a:dk2>
        <a:lt2>
          <a:srgbClr val="C0C0C0"/>
        </a:lt2>
        <a:accent1>
          <a:srgbClr val="4A95E8"/>
        </a:accent1>
        <a:accent2>
          <a:srgbClr val="6D8DE9"/>
        </a:accent2>
        <a:accent3>
          <a:srgbClr val="FFFFFF"/>
        </a:accent3>
        <a:accent4>
          <a:srgbClr val="0E3F81"/>
        </a:accent4>
        <a:accent5>
          <a:srgbClr val="B1C8F2"/>
        </a:accent5>
        <a:accent6>
          <a:srgbClr val="627FD3"/>
        </a:accent6>
        <a:hlink>
          <a:srgbClr val="95CD2F"/>
        </a:hlink>
        <a:folHlink>
          <a:srgbClr val="CAA664"/>
        </a:folHlink>
      </a:clrScheme>
      <a:clrMap bg1="lt1" tx1="dk1" bg2="lt2" tx2="dk2" accent1="accent1" accent2="accent2" accent3="accent3" accent4="accent4" accent5="accent5" accent6="accent6" hlink="hlink" folHlink="folHlink"/>
    </a:extraClrScheme>
    <a:extraClrScheme>
      <a:clrScheme name="NordriDesignStudio 3">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28BFEE"/>
        </a:hlink>
        <a:folHlink>
          <a:srgbClr val="878FA5"/>
        </a:folHlink>
      </a:clrScheme>
      <a:clrMap bg1="lt1" tx1="dk1" bg2="lt2" tx2="dk2" accent1="accent1" accent2="accent2" accent3="accent3" accent4="accent4" accent5="accent5" accent6="accent6" hlink="hlink" folHlink="folHlink"/>
    </a:extraClrScheme>
    <a:extraClrScheme>
      <a:clrScheme name="NordriDesignStudio 4">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FF6600"/>
        </a:hlink>
        <a:folHlink>
          <a:srgbClr val="878FA5"/>
        </a:folHlink>
      </a:clrScheme>
      <a:clrMap bg1="lt1" tx1="dk1" bg2="lt2" tx2="dk2" accent1="accent1" accent2="accent2" accent3="accent3" accent4="accent4" accent5="accent5" accent6="accent6" hlink="hlink" folHlink="folHlink"/>
    </a:extraClrScheme>
    <a:extraClrScheme>
      <a:clrScheme name="NordriDesignStudio 5">
        <a:dk1>
          <a:srgbClr val="666699"/>
        </a:dk1>
        <a:lt1>
          <a:srgbClr val="FFFFFF"/>
        </a:lt1>
        <a:dk2>
          <a:srgbClr val="000066"/>
        </a:dk2>
        <a:lt2>
          <a:srgbClr val="C0C0C0"/>
        </a:lt2>
        <a:accent1>
          <a:srgbClr val="49CACD"/>
        </a:accent1>
        <a:accent2>
          <a:srgbClr val="467CE8"/>
        </a:accent2>
        <a:accent3>
          <a:srgbClr val="FFFFFF"/>
        </a:accent3>
        <a:accent4>
          <a:srgbClr val="565682"/>
        </a:accent4>
        <a:accent5>
          <a:srgbClr val="B1E1E3"/>
        </a:accent5>
        <a:accent6>
          <a:srgbClr val="3F70D2"/>
        </a:accent6>
        <a:hlink>
          <a:srgbClr val="000066"/>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CHAP1 计算机网络概述（模板）</Template>
  <TotalTime>17851</TotalTime>
  <Words>8557</Words>
  <Application>Microsoft Office PowerPoint</Application>
  <PresentationFormat>自定义</PresentationFormat>
  <Paragraphs>2085</Paragraphs>
  <Slides>127</Slides>
  <Notes>112</Notes>
  <HiddenSlides>8</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127</vt:i4>
      </vt:variant>
    </vt:vector>
  </HeadingPairs>
  <TitlesOfParts>
    <vt:vector size="129" baseType="lpstr">
      <vt:lpstr>NordriDesignStudio</vt:lpstr>
      <vt:lpstr>VISIO</vt:lpstr>
      <vt:lpstr>课程简介</vt:lpstr>
      <vt:lpstr>课程安排</vt:lpstr>
      <vt:lpstr>         第1章 概述</vt:lpstr>
      <vt:lpstr>指引</vt:lpstr>
      <vt:lpstr>1.1 计算机网络在信息时代的作用</vt:lpstr>
      <vt:lpstr>1.1 计算机网络在信息时代的作用</vt:lpstr>
      <vt:lpstr>1.1 计算机网络在信息时代的作用</vt:lpstr>
      <vt:lpstr>1.1 计算机网络在信息时代的作用</vt:lpstr>
      <vt:lpstr>指引</vt:lpstr>
      <vt:lpstr>1.2 互联网概述</vt:lpstr>
      <vt:lpstr>1.2 互联网概述</vt:lpstr>
      <vt:lpstr>1.2 互联网概述</vt:lpstr>
      <vt:lpstr>1.2 互联网概述</vt:lpstr>
      <vt:lpstr>1.2 互联网概述</vt:lpstr>
      <vt:lpstr>1.2 互联网概述</vt:lpstr>
      <vt:lpstr>1.2 互联网概述</vt:lpstr>
      <vt:lpstr>1.2 互联网概述</vt:lpstr>
      <vt:lpstr>1.2 互联网概述</vt:lpstr>
      <vt:lpstr>1.2 互联网概述</vt:lpstr>
      <vt:lpstr>1.2 互联网概述</vt:lpstr>
      <vt:lpstr>指引</vt:lpstr>
      <vt:lpstr>1.3 互联网的组成</vt:lpstr>
      <vt:lpstr>1.3 互联网的组成</vt:lpstr>
      <vt:lpstr>PowerPoint 演示文稿</vt:lpstr>
      <vt:lpstr>PowerPoint 演示文稿</vt:lpstr>
      <vt:lpstr>PowerPoint 演示文稿</vt:lpstr>
      <vt:lpstr>1.3.2 互联网的核心部分</vt:lpstr>
      <vt:lpstr>PowerPoint 演示文稿</vt:lpstr>
      <vt:lpstr>1.3.2 互联网的核心部分</vt:lpstr>
      <vt:lpstr>1.3.2 互联网的核心部分</vt:lpstr>
      <vt:lpstr>1.3.2 互联网的核心部分</vt:lpstr>
      <vt:lpstr>1.3.2 互联网的核心部分</vt:lpstr>
      <vt:lpstr>1.3.2 互联网的核心部分</vt:lpstr>
      <vt:lpstr>1.3.2 互联网的核心部分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指引</vt:lpstr>
      <vt:lpstr>PowerPoint 演示文稿</vt:lpstr>
      <vt:lpstr>PowerPoint 演示文稿</vt:lpstr>
      <vt:lpstr>PowerPoint 演示文稿</vt:lpstr>
      <vt:lpstr>PowerPoint 演示文稿</vt:lpstr>
      <vt:lpstr>指引</vt:lpstr>
      <vt:lpstr>PowerPoint 演示文稿</vt:lpstr>
      <vt:lpstr>PowerPoint 演示文稿</vt:lpstr>
      <vt:lpstr>PowerPoint 演示文稿</vt:lpstr>
      <vt:lpstr>指引</vt:lpstr>
      <vt:lpstr>1.6 计算机网络的性能</vt:lpstr>
      <vt:lpstr>1.6 计算机网络的性能</vt:lpstr>
      <vt:lpstr>1.6 计算机网络的性能</vt:lpstr>
      <vt:lpstr>1.6 计算机网络的性能</vt:lpstr>
      <vt:lpstr>1.6 计算机网络的性能</vt:lpstr>
      <vt:lpstr>1.6 计算机网络的性能</vt:lpstr>
      <vt:lpstr>1.6 计算机网络的性能</vt:lpstr>
      <vt:lpstr>1.6 计算机网络的性能</vt:lpstr>
      <vt:lpstr>1.6 计算机网络的性能</vt:lpstr>
      <vt:lpstr>1.6 计算机网络的性能</vt:lpstr>
      <vt:lpstr>1.6 计算机网络的性能</vt:lpstr>
      <vt:lpstr>1.6 计算机网络的性能</vt:lpstr>
      <vt:lpstr>课堂练习</vt:lpstr>
      <vt:lpstr>课堂练习</vt:lpstr>
      <vt:lpstr>1.6 计算机网络的性能</vt:lpstr>
      <vt:lpstr>1.6 计算机网络的性能</vt:lpstr>
      <vt:lpstr>1.6 计算机网络的性能</vt:lpstr>
      <vt:lpstr>1.6 计算机网络的性能</vt:lpstr>
      <vt:lpstr>1.6 计算机网络的性能</vt:lpstr>
      <vt:lpstr>1.6 计算机网络的性能</vt:lpstr>
      <vt:lpstr>指引</vt:lpstr>
      <vt:lpstr>1.7.1 计算机网络体系结构的形成</vt:lpstr>
      <vt:lpstr>1.7.1 计算机网络体系结构的形成</vt:lpstr>
      <vt:lpstr>1.7.1 计算机网络体系结构的形成</vt:lpstr>
      <vt:lpstr>1.7.1 计算机网络体系结构的形成</vt:lpstr>
      <vt:lpstr>1.7.2 协议与划分层次</vt:lpstr>
      <vt:lpstr>1.7.2 协议与划分层次</vt:lpstr>
      <vt:lpstr>1.7.2 协议与划分层次</vt:lpstr>
      <vt:lpstr>1.7.2 协议与划分层次</vt:lpstr>
      <vt:lpstr>1.7.2 协议与划分层次</vt:lpstr>
      <vt:lpstr>1.7.2 协议与划分层次</vt:lpstr>
      <vt:lpstr>1.7.3 具有五层协议的体系结构</vt:lpstr>
      <vt:lpstr>1.7.3 具有五层协议的体系结构</vt:lpstr>
      <vt:lpstr>1.7.3 具有五层协议的体系结构</vt:lpstr>
      <vt:lpstr>1.7.3 具有五层协议的体系结构</vt:lpstr>
      <vt:lpstr>1.7.3 具有五层协议的体系结构</vt:lpstr>
      <vt:lpstr>1.7.3 具有五层协议的体系结构</vt:lpstr>
      <vt:lpstr>1.7.3 具有五层协议的体系结构</vt:lpstr>
      <vt:lpstr>1.7.3 具有五层协议的体系结构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1.7.3 具有五层协议的体系结构</vt:lpstr>
      <vt:lpstr>1.7.4 实体、协议、服务和服务访问点</vt:lpstr>
      <vt:lpstr>1.7.4 实体、协议、服务和服务访问点</vt:lpstr>
      <vt:lpstr>1.7.4 实体、协议、服务和服务访问点</vt:lpstr>
      <vt:lpstr>1.7.4 实体、协议、服务和服务访问点</vt:lpstr>
      <vt:lpstr>1.7.5 TCP/IP 的体系结构</vt:lpstr>
      <vt:lpstr>1.7.5 TCP/IP 的体系结构</vt:lpstr>
      <vt:lpstr>1.7.5 TCP/IP 的体系结构</vt:lpstr>
      <vt:lpstr>互联网中客户-服务器工作方式</vt:lpstr>
      <vt:lpstr>互联网中客户-服务器工作方式</vt:lpstr>
      <vt:lpstr>PowerPoint 演示文稿</vt:lpstr>
    </vt:vector>
  </TitlesOfParts>
  <Company>NICE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dc:title>
  <dc:creator>XXR</dc:creator>
  <cp:lastModifiedBy>onest</cp:lastModifiedBy>
  <cp:revision>1057</cp:revision>
  <dcterms:created xsi:type="dcterms:W3CDTF">2004-03-02T12:35:10Z</dcterms:created>
  <dcterms:modified xsi:type="dcterms:W3CDTF">2023-02-25T05:45:15Z</dcterms:modified>
</cp:coreProperties>
</file>