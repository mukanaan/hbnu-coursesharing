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301" r:id="rId2"/>
    <p:sldId id="316" r:id="rId3"/>
    <p:sldId id="349" r:id="rId4"/>
    <p:sldId id="348" r:id="rId5"/>
    <p:sldId id="311" r:id="rId6"/>
    <p:sldId id="302" r:id="rId7"/>
    <p:sldId id="280" r:id="rId8"/>
    <p:sldId id="281" r:id="rId9"/>
    <p:sldId id="307" r:id="rId10"/>
    <p:sldId id="282" r:id="rId11"/>
    <p:sldId id="283" r:id="rId12"/>
    <p:sldId id="350" r:id="rId13"/>
    <p:sldId id="308" r:id="rId14"/>
    <p:sldId id="257" r:id="rId15"/>
    <p:sldId id="262" r:id="rId16"/>
    <p:sldId id="314" r:id="rId17"/>
    <p:sldId id="315" r:id="rId18"/>
    <p:sldId id="362" r:id="rId19"/>
    <p:sldId id="359" r:id="rId20"/>
    <p:sldId id="360" r:id="rId21"/>
    <p:sldId id="361" r:id="rId22"/>
    <p:sldId id="351" r:id="rId23"/>
    <p:sldId id="265" r:id="rId24"/>
    <p:sldId id="309" r:id="rId25"/>
    <p:sldId id="264" r:id="rId26"/>
    <p:sldId id="267" r:id="rId27"/>
    <p:sldId id="310" r:id="rId28"/>
    <p:sldId id="268" r:id="rId29"/>
    <p:sldId id="312" r:id="rId30"/>
    <p:sldId id="269" r:id="rId31"/>
    <p:sldId id="271" r:id="rId32"/>
    <p:sldId id="272" r:id="rId33"/>
    <p:sldId id="304" r:id="rId34"/>
    <p:sldId id="303" r:id="rId35"/>
    <p:sldId id="273" r:id="rId36"/>
    <p:sldId id="274" r:id="rId37"/>
    <p:sldId id="313" r:id="rId38"/>
    <p:sldId id="275" r:id="rId39"/>
    <p:sldId id="276" r:id="rId40"/>
    <p:sldId id="277" r:id="rId41"/>
    <p:sldId id="305" r:id="rId42"/>
    <p:sldId id="306" r:id="rId43"/>
    <p:sldId id="327" r:id="rId44"/>
    <p:sldId id="328" r:id="rId45"/>
    <p:sldId id="329" r:id="rId46"/>
    <p:sldId id="330" r:id="rId47"/>
    <p:sldId id="331" r:id="rId48"/>
    <p:sldId id="332" r:id="rId49"/>
    <p:sldId id="339" r:id="rId50"/>
    <p:sldId id="340" r:id="rId51"/>
    <p:sldId id="333" r:id="rId52"/>
    <p:sldId id="334" r:id="rId53"/>
    <p:sldId id="335" r:id="rId54"/>
    <p:sldId id="336" r:id="rId55"/>
    <p:sldId id="337" r:id="rId56"/>
    <p:sldId id="338" r:id="rId57"/>
    <p:sldId id="352" r:id="rId58"/>
    <p:sldId id="341" r:id="rId59"/>
    <p:sldId id="342" r:id="rId60"/>
    <p:sldId id="319" r:id="rId61"/>
    <p:sldId id="320" r:id="rId62"/>
    <p:sldId id="321" r:id="rId63"/>
    <p:sldId id="343" r:id="rId64"/>
    <p:sldId id="322" r:id="rId65"/>
    <p:sldId id="353" r:id="rId66"/>
    <p:sldId id="323" r:id="rId67"/>
    <p:sldId id="344" r:id="rId68"/>
    <p:sldId id="345" r:id="rId69"/>
    <p:sldId id="324" r:id="rId70"/>
    <p:sldId id="346" r:id="rId71"/>
    <p:sldId id="347" r:id="rId72"/>
    <p:sldId id="325" r:id="rId73"/>
    <p:sldId id="354" r:id="rId74"/>
    <p:sldId id="355" r:id="rId75"/>
    <p:sldId id="356" r:id="rId76"/>
    <p:sldId id="357" r:id="rId77"/>
    <p:sldId id="358" r:id="rId78"/>
    <p:sldId id="317" r:id="rId79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60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60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60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60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60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60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60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60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60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FF00"/>
    <a:srgbClr val="FF00FF"/>
    <a:srgbClr val="66FFFF"/>
    <a:srgbClr val="FF3300"/>
    <a:srgbClr val="0000FF"/>
    <a:srgbClr val="00FF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94625" autoAdjust="0"/>
  </p:normalViewPr>
  <p:slideViewPr>
    <p:cSldViewPr>
      <p:cViewPr varScale="1">
        <p:scale>
          <a:sx n="81" d="100"/>
          <a:sy n="81" d="100"/>
        </p:scale>
        <p:origin x="931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8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28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28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8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fld id="{2B3E124C-F944-49EA-843D-2AD93FE9C2F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F86B8E-18BA-4F4D-8A86-E741CFE4CD7A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14E796-5097-4996-B8A7-E39AECD81364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8292A3-4237-42C2-80BF-861611B57D71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A10DE4-0821-4DEE-98EF-E777507A9101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A92AA2-D66F-4D68-9347-AF74E4F162E3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A290B1-905F-46F4-B7C6-23FBC80E6E41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0390CB-A57B-40D1-BABE-1B604A0BC1C9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279B8E-07C9-44B2-8CAF-E057076D678B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D43919-0329-473E-A61B-834FC08E3DFF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344EAB-791C-46F5-B2B1-72DB62266F9A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51B5F5-4F25-401D-A4F8-86DBDBB29691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66D366-8EF6-4BF8-918F-A9657D6FFC56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3C927A-37E0-4C78-AE53-3BF5D086EA71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8DB118-85ED-46B8-96C9-4E48D8689D19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F91018-AF6A-4167-AE99-9274BDAC25CF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3E915D-6694-44C8-BCF1-7FFFBE8F77CC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05C56F-E1B2-4B34-B759-F1B4A404C16A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B88DEB-BFD7-496E-BC95-7CAF1E7A28E8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C04BC9-E9D4-47C5-9958-A1A459E57696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37CC59-D290-45A1-B32C-A42CFB57F104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1346DE-118F-4802-A2F5-09FDA8339AC7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815B1A-28CD-4818-9186-323EBEB22036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B80169-F478-401F-B3FA-97C5AD23A7F9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0DE3C5-7DE8-4A0D-BF97-E7AAF4191DF1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EF9F97-53B4-4004-B9AD-B17A9AFEF63A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87C9CE-49AD-4D69-B42C-A565459DED5E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944AFE-614D-498C-B659-8B7038B9A882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CA5918-F729-43D7-A3CF-3B6454D443C4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03B7CE-783E-4ADE-86EE-13C2344FCDED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13D967-F8B0-4456-AC1E-C4C5D5CF88FE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A49D4-784D-40EB-9541-0FCB4FD72442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EC087B-859B-4607-A264-B62C56509455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1CC00F-4014-458E-8291-FDE3E910488E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83B2B2-FE98-4D35-9B59-5BE7A0E475C1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586905-36E9-4E47-9AE5-8FBB86C8F2C3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53EFE1-4577-4E7C-8729-C484F7C798C8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29FB85-6C35-41B6-8494-F710EB0402F6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AC88A2-5E4E-4D49-A821-931E8591ED52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B4D5E9-B3A1-41C1-9032-1DD729FFDCC6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F10DBC-BB30-4EEA-93F2-F8543C21F126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12BB90-3DD2-4DC7-8679-864A6C2CAE4A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332062-040A-498F-88AE-3AFB09CE57BD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51F932-3575-4784-A113-CAA7C5571C75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6298A3-48DA-4503-ADC9-DA96FF5CAAE0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3477C2-0B89-4F68-9B3A-34F6D8964E71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7C9A3F-1BFE-4391-9D8B-7E0B3D19BB4F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213F2A-6ED5-42B1-8C6B-44028516AAC2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2DE969-9975-403B-8ED7-1CD1FD76CA57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C88FB6-0987-4F44-A465-AF80EE68CD64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DDE196-762E-43D6-84B3-11C6DDBDE3E0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B498EF-2682-40BA-B009-C2004FAC8077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30710A-58A2-4C2A-9FD0-799DF4F17312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F0ACB7-C8D7-4EFE-ABAD-296B8699799C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B5FE43-0291-4E3C-949C-20ADF73937FD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05757A-53AE-4AA1-84B8-DA201A180811}" type="slidenum">
              <a:rPr lang="en-US" altLang="zh-CN"/>
              <a:pPr/>
              <a:t>64</a:t>
            </a:fld>
            <a:endParaRPr lang="en-US" altLang="zh-CN"/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2CA09F-38A2-493C-A75C-3AA2D0DC7ACB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5A4FB5-7B75-4F74-BFB0-E546FF99333A}" type="slidenum">
              <a:rPr lang="en-US" altLang="zh-CN"/>
              <a:pPr/>
              <a:t>67</a:t>
            </a:fld>
            <a:endParaRPr lang="en-US" altLang="zh-CN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FAB18D-FF03-41D4-A462-6CAB1332F142}" type="slidenum">
              <a:rPr lang="en-US" altLang="zh-CN"/>
              <a:pPr/>
              <a:t>68</a:t>
            </a:fld>
            <a:endParaRPr lang="en-US" altLang="zh-CN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747993-1EE1-4D65-A913-D5E00503BE15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85CA36-857B-44A0-B909-B630400A0D33}" type="slidenum">
              <a:rPr lang="en-US" altLang="zh-CN"/>
              <a:pPr/>
              <a:t>70</a:t>
            </a:fld>
            <a:endParaRPr lang="en-US" altLang="zh-CN"/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D141E0-DD7E-4B0F-ACCA-4D79DC1F7167}" type="slidenum">
              <a:rPr lang="en-US" altLang="zh-CN"/>
              <a:pPr/>
              <a:t>71</a:t>
            </a:fld>
            <a:endParaRPr lang="en-US" altLang="zh-CN"/>
          </a:p>
        </p:txBody>
      </p:sp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E945CA-46FE-4D92-9BBA-921C631C3244}" type="slidenum">
              <a:rPr lang="en-US" altLang="zh-CN"/>
              <a:pPr/>
              <a:t>72</a:t>
            </a:fld>
            <a:endParaRPr lang="en-US" altLang="zh-CN"/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A6633F-B37E-4589-A75C-5AD1A856E834}" type="slidenum">
              <a:rPr lang="en-US" altLang="zh-CN" smtClean="0"/>
              <a:pPr/>
              <a:t>76</a:t>
            </a:fld>
            <a:endParaRPr lang="en-US" altLang="zh-CN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B4BF39-26C7-4E9B-8B9F-4DD1808A52CE}" type="slidenum">
              <a:rPr lang="en-US" altLang="zh-CN"/>
              <a:pPr/>
              <a:t>78</a:t>
            </a:fld>
            <a:endParaRPr lang="en-US" altLang="zh-CN"/>
          </a:p>
        </p:txBody>
      </p:sp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 descr="蓝色砂纸"/>
          <p:cNvSpPr>
            <a:spLocks noChangeArrowheads="1"/>
          </p:cNvSpPr>
          <p:nvPr/>
        </p:nvSpPr>
        <p:spPr bwMode="auto">
          <a:xfrm>
            <a:off x="0" y="0"/>
            <a:ext cx="12192000" cy="381000"/>
          </a:xfrm>
          <a:prstGeom prst="rect">
            <a:avLst/>
          </a:prstGeom>
          <a:blipFill dpi="0" rotWithShape="0">
            <a:blip r:embed="rId13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lIns="91416" tIns="45710" rIns="91416" bIns="45710" anchor="ctr"/>
          <a:lstStyle/>
          <a:p>
            <a:r>
              <a:rPr lang="zh-CN" altLang="en-US" sz="2400">
                <a:solidFill>
                  <a:srgbClr val="0066FF"/>
                </a:solidFill>
                <a:ea typeface="隶书" pitchFamily="49" charset="-122"/>
              </a:rPr>
              <a:t>数据结构</a:t>
            </a:r>
            <a:r>
              <a:rPr lang="zh-CN" altLang="en-US" sz="2400">
                <a:ea typeface="隶书" pitchFamily="49" charset="-122"/>
              </a:rPr>
              <a:t>                                                               </a:t>
            </a:r>
            <a:r>
              <a:rPr lang="zh-CN" altLang="en-US" sz="2400">
                <a:solidFill>
                  <a:srgbClr val="FF3300"/>
                </a:solidFill>
                <a:ea typeface="隶书" pitchFamily="49" charset="-122"/>
              </a:rPr>
              <a:t>第五章  数组和广义表 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553200"/>
            <a:ext cx="12192000" cy="304800"/>
          </a:xfrm>
          <a:prstGeom prst="rect">
            <a:avLst/>
          </a:prstGeom>
          <a:blipFill dpi="0" rotWithShape="0">
            <a:blip r:embed="rId13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lIns="91416" tIns="45710" rIns="91416" bIns="45710" anchor="ctr"/>
          <a:lstStyle/>
          <a:p>
            <a:pPr algn="ctr"/>
            <a:r>
              <a:rPr lang="zh-CN" altLang="en-US" sz="1800" b="0" baseline="0" dirty="0"/>
              <a:t>河北师范大学软件学院</a:t>
            </a:r>
            <a:endParaRPr lang="zh-CN" altLang="en-US" sz="18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5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3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27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0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8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583734" y="2196154"/>
            <a:ext cx="25923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dirty="0">
                <a:solidFill>
                  <a:srgbClr val="0000CC"/>
                </a:solidFill>
              </a:rPr>
              <a:t>DS—</a:t>
            </a:r>
            <a:r>
              <a:rPr lang="zh-CN" altLang="en-US" sz="3200" dirty="0">
                <a:solidFill>
                  <a:srgbClr val="0000CC"/>
                </a:solidFill>
              </a:rPr>
              <a:t>第五章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430812" y="2564904"/>
            <a:ext cx="4897437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zh-CN" altLang="en-US" sz="3200" dirty="0"/>
              <a:t>数组和广义表</a:t>
            </a:r>
            <a:r>
              <a:rPr kumimoji="0" lang="zh-CN" altLang="en-US" dirty="0"/>
              <a:t> </a:t>
            </a:r>
          </a:p>
          <a:p>
            <a:pPr algn="ctr"/>
            <a:r>
              <a:rPr kumimoji="0" lang="en-US" altLang="zh-CN" sz="4800" i="1" dirty="0">
                <a:solidFill>
                  <a:schemeClr val="tx2"/>
                </a:solidFill>
              </a:rPr>
              <a:t>Arrays &amp; </a:t>
            </a:r>
            <a:r>
              <a:rPr kumimoji="0" lang="en-US" altLang="zh-CN" sz="4800" i="1" dirty="0" err="1">
                <a:solidFill>
                  <a:schemeClr val="tx2"/>
                </a:solidFill>
              </a:rPr>
              <a:t>GList</a:t>
            </a:r>
            <a:endParaRPr kumimoji="0" lang="en-US" altLang="zh-CN" sz="4800" i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5068889" y="765176"/>
            <a:ext cx="19575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华文中宋" pitchFamily="2" charset="-122"/>
                <a:ea typeface="华文中宋" pitchFamily="2" charset="-122"/>
              </a:rPr>
              <a:t>内容回顾 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330896" y="836712"/>
            <a:ext cx="8229600" cy="5544616"/>
          </a:xfrm>
          <a:prstGeom prst="rect">
            <a:avLst/>
          </a:prstGeom>
        </p:spPr>
        <p:txBody>
          <a:bodyPr/>
          <a:lstStyle/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endParaRPr lang="zh-CN" altLang="en-US" sz="3200" b="0" kern="0" dirty="0">
              <a:latin typeface="+mn-lt"/>
              <a:ea typeface="+mn-ea"/>
            </a:endParaRP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600" b="0" kern="0" dirty="0">
                <a:latin typeface="+mn-lt"/>
                <a:ea typeface="+mn-ea"/>
              </a:rPr>
              <a:t>串的相关概念</a:t>
            </a:r>
            <a:endParaRPr lang="en-US" altLang="zh-CN" sz="2600" b="0" kern="0" dirty="0">
              <a:latin typeface="+mn-lt"/>
              <a:ea typeface="+mn-ea"/>
            </a:endParaRP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600" b="0" kern="0" dirty="0">
                <a:latin typeface="+mn-lt"/>
                <a:ea typeface="+mn-ea"/>
              </a:rPr>
              <a:t>串的</a:t>
            </a:r>
            <a:r>
              <a:rPr lang="en-US" altLang="zh-CN" sz="2600" b="0" kern="0" dirty="0">
                <a:latin typeface="+mn-lt"/>
                <a:ea typeface="+mn-ea"/>
              </a:rPr>
              <a:t>ADT</a:t>
            </a:r>
            <a:r>
              <a:rPr lang="zh-CN" altLang="en-US" sz="2600" b="0" kern="0" dirty="0">
                <a:latin typeface="+mn-lt"/>
                <a:ea typeface="+mn-ea"/>
              </a:rPr>
              <a:t>定义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600" b="0" kern="0" dirty="0">
                <a:latin typeface="+mn-lt"/>
                <a:ea typeface="+mn-ea"/>
              </a:rPr>
              <a:t>串的表示与实现</a:t>
            </a:r>
          </a:p>
          <a:p>
            <a:pPr marL="609600" indent="-609600">
              <a:spcBef>
                <a:spcPct val="20000"/>
              </a:spcBef>
              <a:defRPr/>
            </a:pPr>
            <a:r>
              <a:rPr lang="zh-CN" altLang="en-US" sz="2600" b="0" kern="0" dirty="0">
                <a:latin typeface="+mn-lt"/>
                <a:ea typeface="+mn-ea"/>
              </a:rPr>
              <a:t>        </a:t>
            </a:r>
            <a:r>
              <a:rPr lang="en-US" altLang="zh-CN" sz="2600" b="0" kern="0" dirty="0">
                <a:latin typeface="+mn-lt"/>
                <a:ea typeface="+mn-ea"/>
              </a:rPr>
              <a:t>I.</a:t>
            </a:r>
            <a:r>
              <a:rPr lang="zh-CN" altLang="en-US" sz="2600" b="0" kern="0" dirty="0">
                <a:latin typeface="+mn-lt"/>
                <a:ea typeface="+mn-ea"/>
              </a:rPr>
              <a:t>定长顺序表示</a:t>
            </a:r>
          </a:p>
          <a:p>
            <a:pPr marL="609600" indent="-609600">
              <a:spcBef>
                <a:spcPct val="20000"/>
              </a:spcBef>
              <a:defRPr/>
            </a:pPr>
            <a:r>
              <a:rPr lang="zh-CN" altLang="en-US" sz="2600" b="0" kern="0" dirty="0">
                <a:latin typeface="+mn-lt"/>
                <a:ea typeface="+mn-ea"/>
              </a:rPr>
              <a:t>        </a:t>
            </a:r>
            <a:r>
              <a:rPr lang="en-US" altLang="zh-CN" sz="2600" b="0" kern="0" dirty="0">
                <a:latin typeface="+mn-lt"/>
                <a:ea typeface="+mn-ea"/>
              </a:rPr>
              <a:t>II.</a:t>
            </a:r>
            <a:r>
              <a:rPr lang="zh-CN" altLang="en-US" sz="2600" b="0" kern="0" dirty="0">
                <a:latin typeface="+mn-lt"/>
                <a:ea typeface="+mn-ea"/>
              </a:rPr>
              <a:t>堆分配存储表示</a:t>
            </a:r>
          </a:p>
          <a:p>
            <a:pPr marL="609600" indent="-609600">
              <a:spcBef>
                <a:spcPct val="20000"/>
              </a:spcBef>
              <a:defRPr/>
            </a:pPr>
            <a:r>
              <a:rPr lang="zh-CN" altLang="en-US" sz="2600" b="0" kern="0" dirty="0">
                <a:latin typeface="+mn-lt"/>
                <a:ea typeface="+mn-ea"/>
              </a:rPr>
              <a:t>        </a:t>
            </a:r>
            <a:r>
              <a:rPr lang="en-US" altLang="zh-CN" sz="2600" b="0" kern="0" dirty="0">
                <a:latin typeface="+mn-lt"/>
                <a:ea typeface="+mn-ea"/>
              </a:rPr>
              <a:t>III.</a:t>
            </a:r>
            <a:r>
              <a:rPr lang="zh-CN" altLang="en-US" sz="2600" b="0" kern="0" dirty="0">
                <a:latin typeface="+mn-lt"/>
                <a:ea typeface="+mn-ea"/>
              </a:rPr>
              <a:t>块链存储表示</a:t>
            </a:r>
          </a:p>
          <a:p>
            <a:pPr marL="609600" indent="-609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600" b="0" kern="0" dirty="0">
                <a:latin typeface="+mn-lt"/>
                <a:ea typeface="+mn-ea"/>
              </a:rPr>
              <a:t>模式匹配算法</a:t>
            </a:r>
          </a:p>
          <a:p>
            <a:pPr marL="609600" indent="-609600">
              <a:spcBef>
                <a:spcPct val="20000"/>
              </a:spcBef>
              <a:defRPr/>
            </a:pPr>
            <a:r>
              <a:rPr lang="zh-CN" altLang="en-US" sz="2600" b="0" kern="0" dirty="0">
                <a:latin typeface="+mn-lt"/>
                <a:ea typeface="+mn-ea"/>
              </a:rPr>
              <a:t>        </a:t>
            </a:r>
            <a:r>
              <a:rPr lang="en-US" altLang="zh-CN" sz="2600" b="0" kern="0" dirty="0">
                <a:latin typeface="+mn-lt"/>
                <a:ea typeface="+mn-ea"/>
              </a:rPr>
              <a:t>I.</a:t>
            </a:r>
            <a:r>
              <a:rPr lang="zh-CN" altLang="en-US" sz="2600" b="0" kern="0" dirty="0">
                <a:latin typeface="+mn-lt"/>
                <a:ea typeface="+mn-ea"/>
              </a:rPr>
              <a:t>基本匹配算法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2600" b="0" kern="0" dirty="0">
                <a:latin typeface="+mn-lt"/>
                <a:ea typeface="+mn-ea"/>
              </a:rPr>
              <a:t>        </a:t>
            </a:r>
            <a:r>
              <a:rPr lang="en-US" altLang="zh-CN" sz="2600" b="0" kern="0" dirty="0">
                <a:latin typeface="+mn-lt"/>
                <a:ea typeface="+mn-ea"/>
              </a:rPr>
              <a:t>II.</a:t>
            </a:r>
            <a:r>
              <a:rPr lang="zh-CN" altLang="en-US" sz="2600" b="0" kern="0" dirty="0">
                <a:latin typeface="+mn-lt"/>
                <a:ea typeface="+mn-ea"/>
              </a:rPr>
              <a:t>改进匹配算法</a:t>
            </a:r>
            <a:r>
              <a:rPr lang="en-US" altLang="zh-CN" sz="2600" b="0" kern="0" dirty="0">
                <a:latin typeface="+mn-lt"/>
                <a:ea typeface="+mn-ea"/>
              </a:rPr>
              <a:t>(KMP)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altLang="zh-CN" sz="2600" b="0" kern="0" dirty="0">
                <a:latin typeface="+mn-lt"/>
                <a:ea typeface="+mn-ea"/>
              </a:rPr>
              <a:t>        III.</a:t>
            </a:r>
            <a:r>
              <a:rPr lang="zh-CN" altLang="en-US" sz="2600" b="0" kern="0" dirty="0">
                <a:latin typeface="+mn-lt"/>
                <a:ea typeface="+mn-ea"/>
              </a:rPr>
              <a:t>模式串的</a:t>
            </a:r>
            <a:r>
              <a:rPr lang="en-US" altLang="zh-CN" sz="2600" b="0" kern="0" dirty="0">
                <a:latin typeface="+mn-lt"/>
                <a:ea typeface="+mn-ea"/>
              </a:rPr>
              <a:t>next[]</a:t>
            </a:r>
            <a:endParaRPr lang="zh-CN" altLang="en-US" sz="2600" b="0" kern="0" dirty="0">
              <a:latin typeface="+mn-lt"/>
              <a:ea typeface="+mn-ea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zh-CN" altLang="en-US" sz="2600" b="0" kern="0" dirty="0">
                <a:latin typeface="+mn-lt"/>
                <a:ea typeface="+mn-ea"/>
              </a:rPr>
              <a:t>        </a:t>
            </a:r>
            <a:r>
              <a:rPr lang="en-US" altLang="zh-CN" sz="2600" b="0" kern="0" dirty="0">
                <a:latin typeface="+mn-lt"/>
                <a:ea typeface="+mn-ea"/>
              </a:rPr>
              <a:t>IV.</a:t>
            </a:r>
            <a:r>
              <a:rPr lang="zh-CN" altLang="en-US" sz="2600" b="0" kern="0" dirty="0">
                <a:latin typeface="+mn-lt"/>
                <a:ea typeface="+mn-ea"/>
              </a:rPr>
              <a:t>改进的模式串的</a:t>
            </a:r>
            <a:r>
              <a:rPr lang="en-US" altLang="zh-CN" sz="2600" b="0" kern="0" dirty="0" err="1">
                <a:latin typeface="+mn-lt"/>
                <a:ea typeface="+mn-ea"/>
              </a:rPr>
              <a:t>nextval</a:t>
            </a:r>
            <a:r>
              <a:rPr lang="en-US" altLang="zh-CN" sz="2600" b="0" kern="0" dirty="0">
                <a:latin typeface="+mn-lt"/>
                <a:ea typeface="+mn-ea"/>
              </a:rPr>
              <a:t>[]</a:t>
            </a:r>
            <a:endParaRPr lang="zh-CN" altLang="en-US" sz="2600" b="0" kern="0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zoom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广义表的存储结构、相关递归算法</a:t>
            </a: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广义表的概念、性质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矩阵的压缩存储</a:t>
            </a: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数组的顺序表示和实现</a:t>
            </a: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数组的定义</a:t>
            </a:r>
          </a:p>
        </p:txBody>
      </p: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6" name="组合 45">
            <a:extLst>
              <a:ext uri="{FF2B5EF4-FFF2-40B4-BE49-F238E27FC236}">
                <a16:creationId xmlns:a16="http://schemas.microsoft.com/office/drawing/2014/main" id="{8D905F08-A879-4CE3-88CA-F83D411494C2}"/>
              </a:ext>
            </a:extLst>
          </p:cNvPr>
          <p:cNvGrpSpPr>
            <a:grpSpLocks/>
          </p:cNvGrpSpPr>
          <p:nvPr/>
        </p:nvGrpSpPr>
        <p:grpSpPr bwMode="auto">
          <a:xfrm>
            <a:off x="2917252" y="1777453"/>
            <a:ext cx="381000" cy="381000"/>
            <a:chOff x="2078" y="1680"/>
            <a:chExt cx="1615" cy="1615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866C6BF1-FA46-4F53-B933-63967003E23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425EB5A9-0F8F-41A0-BC64-F297EED94E3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D9A530B-31E4-4883-BE52-91C21F1FB39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88F6E32B-4BF2-4670-B28F-06DB3F5E51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BF179333-0724-4B59-BA5D-9D59DA36C19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99AB2077-A299-4910-9085-8A3B45031DE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61D1A93-777D-4F61-9042-9523EAAB6E23}"/>
              </a:ext>
            </a:extLst>
          </p:cNvPr>
          <p:cNvGrpSpPr>
            <a:grpSpLocks/>
          </p:cNvGrpSpPr>
          <p:nvPr/>
        </p:nvGrpSpPr>
        <p:grpSpPr bwMode="auto">
          <a:xfrm>
            <a:off x="3432973" y="2536918"/>
            <a:ext cx="381000" cy="381000"/>
            <a:chOff x="2078" y="1680"/>
            <a:chExt cx="1615" cy="1615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24227CCD-283F-4FA4-A834-3A87493229A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ED4D5391-E367-4C31-9B86-3945346BC79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11540877-BA6B-4A72-9766-F404C3335F4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0F256CB0-5CCB-4065-BF28-4D726568372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E6F3D8B5-FFDB-44AF-B449-3516393837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6CFD79EF-462A-4563-AA30-FA96322278C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123773B6-1B3B-4DD6-9AFD-3CA531BA2227}"/>
              </a:ext>
            </a:extLst>
          </p:cNvPr>
          <p:cNvGrpSpPr>
            <a:grpSpLocks/>
          </p:cNvGrpSpPr>
          <p:nvPr/>
        </p:nvGrpSpPr>
        <p:grpSpPr bwMode="auto">
          <a:xfrm>
            <a:off x="3601533" y="3421310"/>
            <a:ext cx="381000" cy="381000"/>
            <a:chOff x="2078" y="1680"/>
            <a:chExt cx="1615" cy="1615"/>
          </a:xfrm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09B53260-1BEE-4242-8A6A-72A50040F57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821E723D-199F-425B-84E7-791558605AB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7697B31A-DA99-4F03-AFE3-F345341C44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603D7172-D16C-42A7-8D67-A1F1CB77208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28F5116-F6FA-4147-9710-28E8CCCF7B4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D802F217-19EC-4EEA-B3D6-5448A6314A6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4C7F17BA-0AEB-40F9-AFA8-598B3D0AF216}"/>
              </a:ext>
            </a:extLst>
          </p:cNvPr>
          <p:cNvGrpSpPr>
            <a:grpSpLocks/>
          </p:cNvGrpSpPr>
          <p:nvPr/>
        </p:nvGrpSpPr>
        <p:grpSpPr bwMode="auto">
          <a:xfrm>
            <a:off x="3487739" y="4213473"/>
            <a:ext cx="381000" cy="381000"/>
            <a:chOff x="2078" y="1680"/>
            <a:chExt cx="1615" cy="1615"/>
          </a:xfrm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F885BFAE-F13A-4C53-B099-C8AE28C1E96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C1DB7C1B-2268-49A0-AB59-F93EF06D7F8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53C205A7-B81E-430D-9F80-704D375491C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41C1F0F1-250F-404A-B596-DEFD9C8048D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53032D48-C397-4765-A1C2-EB595DF55E6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A117B33F-4FC2-4B8A-BA92-CA8EB4572B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70B44D47-6743-4488-AA99-2C94E02A7C30}"/>
              </a:ext>
            </a:extLst>
          </p:cNvPr>
          <p:cNvGrpSpPr>
            <a:grpSpLocks/>
          </p:cNvGrpSpPr>
          <p:nvPr/>
        </p:nvGrpSpPr>
        <p:grpSpPr bwMode="auto">
          <a:xfrm>
            <a:off x="3016268" y="5055640"/>
            <a:ext cx="355600" cy="381000"/>
            <a:chOff x="2078" y="1680"/>
            <a:chExt cx="1615" cy="1615"/>
          </a:xfrm>
        </p:grpSpPr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86670348-F07D-476F-B678-563DE1685B1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BE933722-9CBC-4501-9F97-99A674367E9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29236B2D-7AC9-432C-AA73-E8231D5E07F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CC76B666-B460-4F2D-AD9F-71F68AECF2E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7FA84E83-F8FC-47C9-AF22-FA17FCCC0DA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C52E11EF-480D-4648-BC93-4AC4041AEC5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0402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4720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89038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自选图形 3">
            <a:extLst>
              <a:ext uri="{FF2B5EF4-FFF2-40B4-BE49-F238E27FC236}">
                <a16:creationId xmlns:a16="http://schemas.microsoft.com/office/drawing/2014/main" id="{39FE5E86-64DC-4C5F-98E5-A6FF7750CEC2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1" name="自选图形 4">
            <a:extLst>
              <a:ext uri="{FF2B5EF4-FFF2-40B4-BE49-F238E27FC236}">
                <a16:creationId xmlns:a16="http://schemas.microsoft.com/office/drawing/2014/main" id="{0A1CDA8F-67FD-46D8-88D6-2A64371009B7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5">
            <a:extLst>
              <a:ext uri="{FF2B5EF4-FFF2-40B4-BE49-F238E27FC236}">
                <a16:creationId xmlns:a16="http://schemas.microsoft.com/office/drawing/2014/main" id="{FAA02418-917D-49E6-98EC-F545C0703F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广义表的存储结构、相关递归算法</a:t>
            </a:r>
          </a:p>
        </p:txBody>
      </p:sp>
      <p:sp>
        <p:nvSpPr>
          <p:cNvPr id="53" name="自选图形 6">
            <a:extLst>
              <a:ext uri="{FF2B5EF4-FFF2-40B4-BE49-F238E27FC236}">
                <a16:creationId xmlns:a16="http://schemas.microsoft.com/office/drawing/2014/main" id="{DCD55BCC-3096-42FB-989C-9FC3E4670A1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广义表的概念、性质</a:t>
            </a:r>
          </a:p>
        </p:txBody>
      </p:sp>
      <p:sp>
        <p:nvSpPr>
          <p:cNvPr id="54" name="自选图形 7">
            <a:extLst>
              <a:ext uri="{FF2B5EF4-FFF2-40B4-BE49-F238E27FC236}">
                <a16:creationId xmlns:a16="http://schemas.microsoft.com/office/drawing/2014/main" id="{2A1529DB-9896-431F-A091-1C9E7C319C8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矩阵的压缩存储</a:t>
            </a:r>
          </a:p>
        </p:txBody>
      </p:sp>
      <p:sp>
        <p:nvSpPr>
          <p:cNvPr id="55" name="自选图形 8">
            <a:extLst>
              <a:ext uri="{FF2B5EF4-FFF2-40B4-BE49-F238E27FC236}">
                <a16:creationId xmlns:a16="http://schemas.microsoft.com/office/drawing/2014/main" id="{427105F5-6F80-4F19-9AB9-54A8BC130D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数组的顺序表示和实现</a:t>
            </a:r>
          </a:p>
        </p:txBody>
      </p:sp>
      <p:sp>
        <p:nvSpPr>
          <p:cNvPr id="56" name="自选图形 9">
            <a:extLst>
              <a:ext uri="{FF2B5EF4-FFF2-40B4-BE49-F238E27FC236}">
                <a16:creationId xmlns:a16="http://schemas.microsoft.com/office/drawing/2014/main" id="{CA814ACC-14D0-482B-9538-15281D75C51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数组的定义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C7B509E9-CE74-4406-AE72-D9505A996169}"/>
              </a:ext>
            </a:extLst>
          </p:cNvPr>
          <p:cNvGrpSpPr>
            <a:grpSpLocks/>
          </p:cNvGrpSpPr>
          <p:nvPr/>
        </p:nvGrpSpPr>
        <p:grpSpPr bwMode="auto">
          <a:xfrm>
            <a:off x="2917252" y="1777453"/>
            <a:ext cx="381000" cy="381000"/>
            <a:chOff x="2078" y="1680"/>
            <a:chExt cx="1615" cy="1615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E7D90751-D394-41DF-BD31-78E0221ECC9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767FC7F2-0312-496C-8B7A-754045E113E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61BEF971-CB87-40B0-9C27-04CFA8E1194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7523ED14-51D9-4E21-9860-B17BDCB0BA3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0E580914-405B-4F44-A930-1057079832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897DCCB9-BC35-48DF-B63A-CE0B51B4DBC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F86D88D3-5D09-46E1-9246-697B27E6EE6D}"/>
              </a:ext>
            </a:extLst>
          </p:cNvPr>
          <p:cNvGrpSpPr>
            <a:grpSpLocks/>
          </p:cNvGrpSpPr>
          <p:nvPr/>
        </p:nvGrpSpPr>
        <p:grpSpPr bwMode="auto">
          <a:xfrm>
            <a:off x="3432973" y="2536918"/>
            <a:ext cx="381000" cy="381000"/>
            <a:chOff x="2078" y="1680"/>
            <a:chExt cx="1615" cy="1615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294CC1D-09B4-43BA-8328-796DA6335F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471FC70B-793F-4CFC-B301-353BD72E319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1AB33CE8-9C56-4B96-962D-22EF7B3044C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40AC480-814F-4716-B5A0-26FF339C9B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D325C78C-7447-47C9-9F07-2732E7BFC09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1B682748-F4D7-474B-B9B9-A2B2EEB782E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EC40A801-9694-4B5A-845F-01299A7B0BFC}"/>
              </a:ext>
            </a:extLst>
          </p:cNvPr>
          <p:cNvGrpSpPr>
            <a:grpSpLocks/>
          </p:cNvGrpSpPr>
          <p:nvPr/>
        </p:nvGrpSpPr>
        <p:grpSpPr bwMode="auto">
          <a:xfrm>
            <a:off x="3601533" y="3421310"/>
            <a:ext cx="381000" cy="381000"/>
            <a:chOff x="2078" y="1680"/>
            <a:chExt cx="1615" cy="1615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D62B2096-B4C0-4E32-9FA9-00E91402223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C880BFE5-E842-4A0C-A671-7C8AE2CAA4C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E803974B-88BA-474C-A189-419B26432E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3B7FAFEE-1A3B-4FDE-A727-6F5124B4C2D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51EC52E8-E118-4B1A-A7A4-907F8AA9F1B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F29A4823-7F26-4FAE-851E-127A7603F0F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406AC3FC-CD50-456E-A5F2-554F447672A7}"/>
              </a:ext>
            </a:extLst>
          </p:cNvPr>
          <p:cNvGrpSpPr>
            <a:grpSpLocks/>
          </p:cNvGrpSpPr>
          <p:nvPr/>
        </p:nvGrpSpPr>
        <p:grpSpPr bwMode="auto">
          <a:xfrm>
            <a:off x="3487739" y="4213473"/>
            <a:ext cx="381000" cy="381000"/>
            <a:chOff x="2078" y="1680"/>
            <a:chExt cx="1615" cy="161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BEC37D56-5309-4051-A3F8-0053F3F984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EDBD4A7B-05ED-4682-9512-4699DD1B498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8E05A568-880A-4501-B5C9-CDC4C13E90D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FA5EB781-8B7A-497D-B006-5BBB4043D9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0DC587E1-9D1E-4432-A8FD-15936033A65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A96D29D4-DE59-4ED6-A97B-602C58B149D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8277CAE-E493-43F5-86B0-DCC6BEDB40C2}"/>
              </a:ext>
            </a:extLst>
          </p:cNvPr>
          <p:cNvGrpSpPr>
            <a:grpSpLocks/>
          </p:cNvGrpSpPr>
          <p:nvPr/>
        </p:nvGrpSpPr>
        <p:grpSpPr bwMode="auto">
          <a:xfrm>
            <a:off x="3016268" y="5055640"/>
            <a:ext cx="355600" cy="381000"/>
            <a:chOff x="2078" y="1680"/>
            <a:chExt cx="1615" cy="161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38EECEC2-77DF-4480-B494-A46254A3F8C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F6924C16-B152-4C98-AFAC-09C2096FD92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D5571895-AEFE-47E2-A033-AC98B5E1A80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33D66146-5C10-4400-8748-A79642FFAF5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75E2EF92-D575-4470-9D74-F52C8DCC085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9AD719E0-1C19-4BCD-B182-748F2F7D19B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86" name="Text Box 30"/>
          <p:cNvSpPr txBox="1">
            <a:spLocks noChangeArrowheads="1"/>
          </p:cNvSpPr>
          <p:nvPr/>
        </p:nvSpPr>
        <p:spPr bwMode="auto">
          <a:xfrm>
            <a:off x="2351089" y="549275"/>
            <a:ext cx="2339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ea typeface="华文中宋" pitchFamily="2" charset="-122"/>
              </a:rPr>
              <a:t>5.1  </a:t>
            </a:r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数组的定义 </a:t>
            </a:r>
          </a:p>
        </p:txBody>
      </p:sp>
      <p:sp>
        <p:nvSpPr>
          <p:cNvPr id="70697" name="Text Box 41"/>
          <p:cNvSpPr txBox="1">
            <a:spLocks noChangeArrowheads="1"/>
          </p:cNvSpPr>
          <p:nvPr/>
        </p:nvSpPr>
        <p:spPr bwMode="auto">
          <a:xfrm>
            <a:off x="2351089" y="947738"/>
            <a:ext cx="6417141" cy="143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>
                <a:ea typeface="华文中宋" pitchFamily="2" charset="-122"/>
                <a:cs typeface=""/>
              </a:rPr>
              <a:t>        </a:t>
            </a:r>
            <a:r>
              <a:rPr lang="zh-CN" altLang="en-US" sz="2400">
                <a:ea typeface="华文中宋" pitchFamily="2" charset="-122"/>
                <a:cs typeface=""/>
              </a:rPr>
              <a:t>数组：</a:t>
            </a:r>
            <a:r>
              <a:rPr lang="zh-CN" altLang="en-US" sz="2400">
                <a:cs typeface=""/>
              </a:rPr>
              <a:t>按一定格式排列起来的 </a:t>
            </a:r>
          </a:p>
          <a:p>
            <a:pPr>
              <a:lnSpc>
                <a:spcPct val="190000"/>
              </a:lnSpc>
            </a:pPr>
            <a:r>
              <a:rPr lang="zh-CN" altLang="en-US" sz="2400">
                <a:cs typeface=""/>
              </a:rPr>
              <a:t>                    具有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"/>
              </a:rPr>
              <a:t>相同类型</a:t>
            </a:r>
            <a:r>
              <a:rPr lang="zh-CN" altLang="en-US" sz="2400">
                <a:cs typeface=""/>
              </a:rPr>
              <a:t>的数据元素的集合。 </a:t>
            </a:r>
          </a:p>
        </p:txBody>
      </p:sp>
      <p:sp>
        <p:nvSpPr>
          <p:cNvPr id="70698" name="Text Box 42"/>
          <p:cNvSpPr txBox="1">
            <a:spLocks noChangeArrowheads="1"/>
          </p:cNvSpPr>
          <p:nvPr/>
        </p:nvSpPr>
        <p:spPr bwMode="auto">
          <a:xfrm>
            <a:off x="2351088" y="2420938"/>
            <a:ext cx="7648248" cy="1458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>
                <a:ea typeface="华文中宋" pitchFamily="2" charset="-122"/>
                <a:cs typeface=""/>
              </a:rPr>
              <a:t>        </a:t>
            </a:r>
            <a:r>
              <a:rPr lang="zh-CN" altLang="en-US" sz="2400">
                <a:ea typeface="华文中宋" pitchFamily="2" charset="-122"/>
                <a:cs typeface=""/>
              </a:rPr>
              <a:t>一维数组：</a:t>
            </a:r>
            <a:r>
              <a:rPr lang="zh-CN" altLang="en-US" sz="2400">
                <a:cs typeface=""/>
              </a:rPr>
              <a:t>若线性表中的数据元素为非结构的简单 </a:t>
            </a:r>
          </a:p>
          <a:p>
            <a:pPr>
              <a:lnSpc>
                <a:spcPct val="200000"/>
              </a:lnSpc>
            </a:pPr>
            <a:r>
              <a:rPr lang="zh-CN" altLang="en-US" sz="2400">
                <a:cs typeface=""/>
              </a:rPr>
              <a:t>                            元素，则称为一维数组。 </a:t>
            </a:r>
            <a:endParaRPr lang="zh-CN" altLang="en-US" sz="2400">
              <a:latin typeface="楷体_GB2312" pitchFamily="49" charset="-122"/>
              <a:cs typeface=""/>
            </a:endParaRPr>
          </a:p>
        </p:txBody>
      </p:sp>
      <p:sp>
        <p:nvSpPr>
          <p:cNvPr id="70764" name="Text Box 108"/>
          <p:cNvSpPr txBox="1">
            <a:spLocks noChangeArrowheads="1"/>
          </p:cNvSpPr>
          <p:nvPr/>
        </p:nvSpPr>
        <p:spPr bwMode="auto">
          <a:xfrm>
            <a:off x="2351088" y="4122738"/>
            <a:ext cx="759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ea typeface="华文中宋" pitchFamily="2" charset="-122"/>
              </a:rPr>
              <a:t>        </a:t>
            </a:r>
            <a:r>
              <a:rPr lang="zh-CN" altLang="en-US" sz="2400">
                <a:ea typeface="华文中宋" pitchFamily="2" charset="-122"/>
              </a:rPr>
              <a:t>一维数组的逻辑结构：</a:t>
            </a:r>
            <a:r>
              <a:rPr lang="zh-CN" altLang="en-US" sz="2400"/>
              <a:t>线性结构。定长的线性表。 </a:t>
            </a:r>
          </a:p>
        </p:txBody>
      </p:sp>
      <p:sp>
        <p:nvSpPr>
          <p:cNvPr id="70765" name="Text Box 109"/>
          <p:cNvSpPr txBox="1">
            <a:spLocks noChangeArrowheads="1"/>
          </p:cNvSpPr>
          <p:nvPr/>
        </p:nvSpPr>
        <p:spPr bwMode="auto">
          <a:xfrm>
            <a:off x="2351088" y="4743451"/>
            <a:ext cx="7848600" cy="55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400">
                <a:ea typeface="华文中宋" pitchFamily="2" charset="-122"/>
              </a:rPr>
              <a:t>        </a:t>
            </a:r>
            <a:r>
              <a:rPr lang="zh-CN" altLang="en-US" sz="2400">
                <a:ea typeface="华文中宋" pitchFamily="2" charset="-122"/>
              </a:rPr>
              <a:t>声明格式：    </a:t>
            </a:r>
            <a:r>
              <a:rPr lang="zh-CN" altLang="en-US" sz="2400">
                <a:solidFill>
                  <a:srgbClr val="000000"/>
                </a:solidFill>
              </a:rPr>
              <a:t>数据类型    变量名称</a:t>
            </a:r>
            <a:r>
              <a:rPr lang="en-US" altLang="zh-CN" sz="2400">
                <a:solidFill>
                  <a:srgbClr val="000000"/>
                </a:solidFill>
              </a:rPr>
              <a:t>[</a:t>
            </a:r>
            <a:r>
              <a:rPr lang="zh-CN" altLang="en-US" sz="2400">
                <a:solidFill>
                  <a:srgbClr val="000000"/>
                </a:solidFill>
              </a:rPr>
              <a:t>长度</a:t>
            </a:r>
            <a:r>
              <a:rPr lang="en-US" altLang="zh-CN" sz="2400">
                <a:solidFill>
                  <a:srgbClr val="000000"/>
                </a:solidFill>
              </a:rPr>
              <a:t>]</a:t>
            </a:r>
            <a:r>
              <a:rPr lang="zh-CN" altLang="en-US" sz="2400">
                <a:solidFill>
                  <a:srgbClr val="000000"/>
                </a:solidFill>
              </a:rPr>
              <a:t>；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  </a:t>
            </a:r>
          </a:p>
        </p:txBody>
      </p:sp>
      <p:sp>
        <p:nvSpPr>
          <p:cNvPr id="70766" name="Text Box 110"/>
          <p:cNvSpPr txBox="1">
            <a:spLocks noChangeArrowheads="1"/>
          </p:cNvSpPr>
          <p:nvPr/>
        </p:nvSpPr>
        <p:spPr bwMode="auto">
          <a:xfrm>
            <a:off x="2351088" y="5418139"/>
            <a:ext cx="6121400" cy="55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        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例：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int  num[5] = {0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2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3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4};   </a:t>
            </a:r>
            <a:endParaRPr lang="en-US" altLang="zh-CN" sz="2400">
              <a:effectLst>
                <a:outerShdw blurRad="38100" dist="38100" dir="2700000" algn="tl">
                  <a:srgbClr val="FFFFFF"/>
                </a:outerShdw>
              </a:effectLst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0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1000"/>
                                        <p:tgtEl>
                                          <p:spTgt spid="7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97" grpId="0"/>
      <p:bldP spid="70698" grpId="0"/>
      <p:bldP spid="70764" grpId="0"/>
      <p:bldP spid="70765" grpId="0"/>
      <p:bldP spid="707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31" name="Group 155"/>
          <p:cNvGrpSpPr>
            <a:grpSpLocks/>
          </p:cNvGrpSpPr>
          <p:nvPr/>
        </p:nvGrpSpPr>
        <p:grpSpPr bwMode="auto">
          <a:xfrm>
            <a:off x="5880101" y="981075"/>
            <a:ext cx="1870075" cy="1657350"/>
            <a:chOff x="2427" y="662"/>
            <a:chExt cx="1178" cy="1044"/>
          </a:xfrm>
        </p:grpSpPr>
        <p:sp>
          <p:nvSpPr>
            <p:cNvPr id="50332" name="Rectangle 156"/>
            <p:cNvSpPr>
              <a:spLocks noChangeArrowheads="1"/>
            </p:cNvSpPr>
            <p:nvPr/>
          </p:nvSpPr>
          <p:spPr bwMode="auto">
            <a:xfrm>
              <a:off x="3379" y="662"/>
              <a:ext cx="226" cy="10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33" name="Rectangle 157"/>
            <p:cNvSpPr>
              <a:spLocks noChangeArrowheads="1"/>
            </p:cNvSpPr>
            <p:nvPr/>
          </p:nvSpPr>
          <p:spPr bwMode="auto">
            <a:xfrm>
              <a:off x="3062" y="662"/>
              <a:ext cx="226" cy="1044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34" name="Rectangle 158"/>
            <p:cNvSpPr>
              <a:spLocks noChangeArrowheads="1"/>
            </p:cNvSpPr>
            <p:nvPr/>
          </p:nvSpPr>
          <p:spPr bwMode="auto">
            <a:xfrm>
              <a:off x="2745" y="662"/>
              <a:ext cx="226" cy="1044"/>
            </a:xfrm>
            <a:prstGeom prst="rect">
              <a:avLst/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35" name="Rectangle 159"/>
            <p:cNvSpPr>
              <a:spLocks noChangeArrowheads="1"/>
            </p:cNvSpPr>
            <p:nvPr/>
          </p:nvSpPr>
          <p:spPr bwMode="auto">
            <a:xfrm>
              <a:off x="2427" y="662"/>
              <a:ext cx="226" cy="10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336" name="Oval 160"/>
          <p:cNvSpPr>
            <a:spLocks noChangeArrowheads="1"/>
          </p:cNvSpPr>
          <p:nvPr/>
        </p:nvSpPr>
        <p:spPr bwMode="auto">
          <a:xfrm>
            <a:off x="5807076" y="1771650"/>
            <a:ext cx="468313" cy="4318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37" name="Rectangle 161"/>
          <p:cNvSpPr>
            <a:spLocks noChangeArrowheads="1"/>
          </p:cNvSpPr>
          <p:nvPr/>
        </p:nvSpPr>
        <p:spPr bwMode="auto">
          <a:xfrm>
            <a:off x="5375276" y="979488"/>
            <a:ext cx="358775" cy="165735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338" name="Object 162"/>
          <p:cNvGraphicFramePr>
            <a:graphicFrameLocks noChangeAspect="1"/>
          </p:cNvGraphicFramePr>
          <p:nvPr/>
        </p:nvGraphicFramePr>
        <p:xfrm>
          <a:off x="3943350" y="981075"/>
          <a:ext cx="3879850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60440" imgH="914400" progId="Equation.3">
                  <p:embed/>
                </p:oleObj>
              </mc:Choice>
              <mc:Fallback>
                <p:oleObj name="公式" r:id="rId3" imgW="2260440" imgH="914400" progId="Equation.3">
                  <p:embed/>
                  <p:pic>
                    <p:nvPicPr>
                      <p:cNvPr id="0" name="Picture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981075"/>
                        <a:ext cx="3879850" cy="163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39" name="Text Box 163"/>
          <p:cNvSpPr txBox="1">
            <a:spLocks noChangeArrowheads="1"/>
          </p:cNvSpPr>
          <p:nvPr/>
        </p:nvSpPr>
        <p:spPr bwMode="auto">
          <a:xfrm>
            <a:off x="1666876" y="2960688"/>
            <a:ext cx="8571577" cy="113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ea typeface="华文中宋" pitchFamily="2" charset="-122"/>
                <a:cs typeface=""/>
              </a:rPr>
              <a:t>        </a:t>
            </a:r>
            <a:r>
              <a:rPr lang="zh-CN" altLang="en-US" sz="2400">
                <a:ea typeface="华文中宋" pitchFamily="2" charset="-122"/>
                <a:cs typeface=""/>
              </a:rPr>
              <a:t>二维数组：</a:t>
            </a:r>
            <a:r>
              <a:rPr lang="zh-CN" altLang="en-US" sz="2400">
                <a:cs typeface=""/>
              </a:rPr>
              <a:t>若一维数组中的数据元素又是一维数组结构， 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cs typeface=""/>
              </a:rPr>
              <a:t>                            则称为二维数组。 </a:t>
            </a:r>
          </a:p>
        </p:txBody>
      </p:sp>
      <p:sp>
        <p:nvSpPr>
          <p:cNvPr id="50340" name="Text Box 164"/>
          <p:cNvSpPr txBox="1">
            <a:spLocks noChangeArrowheads="1"/>
          </p:cNvSpPr>
          <p:nvPr/>
        </p:nvSpPr>
        <p:spPr bwMode="auto">
          <a:xfrm>
            <a:off x="4762500" y="4437064"/>
            <a:ext cx="1944688" cy="4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>
                <a:ea typeface="华文中宋" pitchFamily="2" charset="-122"/>
              </a:rPr>
              <a:t>非线性结构</a:t>
            </a:r>
            <a:r>
              <a:rPr lang="zh-CN" altLang="en-US" sz="2400">
                <a:ea typeface="华文新魏" pitchFamily="2" charset="-122"/>
              </a:rPr>
              <a:t> </a:t>
            </a:r>
            <a:endParaRPr lang="zh-CN" altLang="en-US" sz="2400"/>
          </a:p>
        </p:txBody>
      </p:sp>
      <p:sp>
        <p:nvSpPr>
          <p:cNvPr id="50341" name="Text Box 165"/>
          <p:cNvSpPr txBox="1">
            <a:spLocks noChangeArrowheads="1"/>
          </p:cNvSpPr>
          <p:nvPr/>
        </p:nvSpPr>
        <p:spPr bwMode="auto">
          <a:xfrm>
            <a:off x="2135188" y="47625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                         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num[5] = {0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， 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2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3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4};   </a:t>
            </a:r>
            <a:endParaRPr lang="en-US" altLang="zh-CN" sz="2400">
              <a:effectLst>
                <a:outerShdw blurRad="38100" dist="38100" dir="2700000" algn="tl">
                  <a:srgbClr val="FFFFFF"/>
                </a:outerShdw>
              </a:effectLst>
              <a:ea typeface="华文中宋" pitchFamily="2" charset="-122"/>
            </a:endParaRPr>
          </a:p>
        </p:txBody>
      </p:sp>
      <p:sp useBgFill="1">
        <p:nvSpPr>
          <p:cNvPr id="50342" name="Rectangle 166"/>
          <p:cNvSpPr>
            <a:spLocks noChangeArrowheads="1"/>
          </p:cNvSpPr>
          <p:nvPr/>
        </p:nvSpPr>
        <p:spPr bwMode="auto">
          <a:xfrm>
            <a:off x="1811338" y="549276"/>
            <a:ext cx="8856662" cy="24479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43" name="Rectangle 167"/>
          <p:cNvSpPr>
            <a:spLocks noChangeArrowheads="1"/>
          </p:cNvSpPr>
          <p:nvPr/>
        </p:nvSpPr>
        <p:spPr bwMode="auto">
          <a:xfrm>
            <a:off x="2782888" y="1271589"/>
            <a:ext cx="3313112" cy="43338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44" name="Rectangle 168"/>
          <p:cNvSpPr>
            <a:spLocks noChangeArrowheads="1"/>
          </p:cNvSpPr>
          <p:nvPr/>
        </p:nvSpPr>
        <p:spPr bwMode="auto">
          <a:xfrm>
            <a:off x="3503614" y="623889"/>
            <a:ext cx="503237" cy="2160587"/>
          </a:xfrm>
          <a:prstGeom prst="rect">
            <a:avLst/>
          </a:prstGeom>
          <a:solidFill>
            <a:srgbClr val="FF66FF"/>
          </a:solidFill>
          <a:ln w="9525">
            <a:solidFill>
              <a:srgbClr val="FF66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45" name="Oval 169"/>
          <p:cNvSpPr>
            <a:spLocks noChangeArrowheads="1"/>
          </p:cNvSpPr>
          <p:nvPr/>
        </p:nvSpPr>
        <p:spPr bwMode="auto">
          <a:xfrm>
            <a:off x="3503614" y="1196975"/>
            <a:ext cx="503237" cy="503238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46" name="Text Box 170"/>
          <p:cNvSpPr txBox="1">
            <a:spLocks noChangeArrowheads="1"/>
          </p:cNvSpPr>
          <p:nvPr/>
        </p:nvSpPr>
        <p:spPr bwMode="auto">
          <a:xfrm>
            <a:off x="6527800" y="671514"/>
            <a:ext cx="353898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A</a:t>
            </a:r>
            <a:r>
              <a:rPr lang="en-US" altLang="zh-CN" sz="2400"/>
              <a:t>=(</a:t>
            </a:r>
            <a:r>
              <a:rPr lang="en-US" altLang="zh-CN" sz="2400" i="1">
                <a:sym typeface="Symbol" pitchFamily="18" charset="2"/>
              </a:rPr>
              <a:t></a:t>
            </a:r>
            <a:r>
              <a:rPr lang="en-US" altLang="zh-CN" sz="2400" baseline="-25000">
                <a:sym typeface="Symbol" pitchFamily="18" charset="2"/>
              </a:rPr>
              <a:t>0</a:t>
            </a:r>
            <a:r>
              <a:rPr lang="en-US" altLang="zh-CN" sz="2400">
                <a:sym typeface="Symbol" pitchFamily="18" charset="2"/>
              </a:rPr>
              <a:t>,</a:t>
            </a:r>
            <a:r>
              <a:rPr lang="en-US" altLang="zh-CN" sz="2400" i="1">
                <a:sym typeface="Symbol" pitchFamily="18" charset="2"/>
              </a:rPr>
              <a:t></a:t>
            </a:r>
            <a:r>
              <a:rPr lang="en-US" altLang="zh-CN" sz="2400" baseline="-25000">
                <a:sym typeface="Symbol" pitchFamily="18" charset="2"/>
              </a:rPr>
              <a:t>1</a:t>
            </a:r>
            <a:r>
              <a:rPr lang="en-US" altLang="zh-CN" sz="2400">
                <a:sym typeface="Symbol" pitchFamily="18" charset="2"/>
              </a:rPr>
              <a:t>,…,</a:t>
            </a:r>
            <a:r>
              <a:rPr lang="en-US" altLang="zh-CN" sz="2400" i="1">
                <a:sym typeface="Symbol" pitchFamily="18" charset="2"/>
              </a:rPr>
              <a:t></a:t>
            </a:r>
            <a:r>
              <a:rPr lang="en-US" altLang="zh-CN" sz="2400" i="1" baseline="-25000">
                <a:sym typeface="Symbol" pitchFamily="18" charset="2"/>
              </a:rPr>
              <a:t>p</a:t>
            </a:r>
            <a:r>
              <a:rPr lang="en-US" altLang="zh-CN" sz="2400">
                <a:sym typeface="Symbol" pitchFamily="18" charset="2"/>
              </a:rPr>
              <a:t>) (</a:t>
            </a:r>
            <a:r>
              <a:rPr lang="en-US" altLang="zh-CN" sz="2400" i="1">
                <a:sym typeface="Symbol" pitchFamily="18" charset="2"/>
              </a:rPr>
              <a:t>p </a:t>
            </a:r>
            <a:r>
              <a:rPr lang="en-US" altLang="zh-CN" sz="2400">
                <a:sym typeface="Symbol" pitchFamily="18" charset="2"/>
              </a:rPr>
              <a:t>= </a:t>
            </a:r>
            <a:r>
              <a:rPr lang="en-US" altLang="zh-CN" sz="2400" i="1">
                <a:sym typeface="Symbol" pitchFamily="18" charset="2"/>
              </a:rPr>
              <a:t>m</a:t>
            </a:r>
            <a:r>
              <a:rPr lang="en-US" altLang="zh-CN" sz="2400">
                <a:sym typeface="Symbol" pitchFamily="18" charset="2"/>
              </a:rPr>
              <a:t>-1 </a:t>
            </a:r>
          </a:p>
          <a:p>
            <a:r>
              <a:rPr lang="en-US" altLang="zh-CN" sz="2400">
                <a:sym typeface="Symbol" pitchFamily="18" charset="2"/>
              </a:rPr>
              <a:t>                               or </a:t>
            </a:r>
            <a:r>
              <a:rPr lang="en-US" altLang="zh-CN" sz="2400" i="1">
                <a:sym typeface="Symbol" pitchFamily="18" charset="2"/>
              </a:rPr>
              <a:t>n</a:t>
            </a:r>
            <a:r>
              <a:rPr lang="en-US" altLang="zh-CN" sz="2400">
                <a:sym typeface="Symbol" pitchFamily="18" charset="2"/>
              </a:rPr>
              <a:t>-1) </a:t>
            </a:r>
          </a:p>
        </p:txBody>
      </p:sp>
      <p:sp>
        <p:nvSpPr>
          <p:cNvPr id="50347" name="Text Box 171"/>
          <p:cNvSpPr txBox="1">
            <a:spLocks noChangeArrowheads="1"/>
          </p:cNvSpPr>
          <p:nvPr/>
        </p:nvSpPr>
        <p:spPr bwMode="auto">
          <a:xfrm>
            <a:off x="6435725" y="1574801"/>
            <a:ext cx="3735318" cy="461665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sym typeface="Symbol" pitchFamily="18" charset="2"/>
              </a:rPr>
              <a:t></a:t>
            </a:r>
            <a:r>
              <a:rPr lang="en-US" altLang="zh-CN" sz="2400" i="1" baseline="-25000">
                <a:sym typeface="Symbol" pitchFamily="18" charset="2"/>
              </a:rPr>
              <a:t>j</a:t>
            </a:r>
            <a:r>
              <a:rPr lang="en-US" altLang="zh-CN" sz="2400">
                <a:sym typeface="Symbol" pitchFamily="18" charset="2"/>
              </a:rPr>
              <a:t>=(</a:t>
            </a:r>
            <a:r>
              <a:rPr lang="en-US" altLang="zh-CN" sz="2400" i="1">
                <a:sym typeface="Symbol" pitchFamily="18" charset="2"/>
              </a:rPr>
              <a:t>a</a:t>
            </a:r>
            <a:r>
              <a:rPr lang="en-US" altLang="zh-CN" sz="2400" baseline="-25000">
                <a:sym typeface="Symbol" pitchFamily="18" charset="2"/>
              </a:rPr>
              <a:t>0</a:t>
            </a:r>
            <a:r>
              <a:rPr lang="en-US" altLang="zh-CN" sz="2400" i="1" baseline="-25000">
                <a:sym typeface="Symbol" pitchFamily="18" charset="2"/>
              </a:rPr>
              <a:t>j</a:t>
            </a:r>
            <a:r>
              <a:rPr lang="en-US" altLang="zh-CN" sz="2400">
                <a:sym typeface="Symbol" pitchFamily="18" charset="2"/>
              </a:rPr>
              <a:t>,</a:t>
            </a:r>
            <a:r>
              <a:rPr lang="en-US" altLang="zh-CN" sz="2400" i="1">
                <a:sym typeface="Symbol" pitchFamily="18" charset="2"/>
              </a:rPr>
              <a:t>a</a:t>
            </a:r>
            <a:r>
              <a:rPr lang="en-US" altLang="zh-CN" sz="2400" baseline="-25000">
                <a:sym typeface="Symbol" pitchFamily="18" charset="2"/>
              </a:rPr>
              <a:t>1</a:t>
            </a:r>
            <a:r>
              <a:rPr lang="en-US" altLang="zh-CN" sz="2400" i="1" baseline="-25000">
                <a:sym typeface="Symbol" pitchFamily="18" charset="2"/>
              </a:rPr>
              <a:t>j</a:t>
            </a:r>
            <a:r>
              <a:rPr lang="en-US" altLang="zh-CN" sz="2400">
                <a:sym typeface="Symbol" pitchFamily="18" charset="2"/>
              </a:rPr>
              <a:t>,…,</a:t>
            </a:r>
            <a:r>
              <a:rPr lang="en-US" altLang="zh-CN" sz="2400" i="1">
                <a:sym typeface="Symbol" pitchFamily="18" charset="2"/>
              </a:rPr>
              <a:t>a</a:t>
            </a:r>
            <a:r>
              <a:rPr lang="en-US" altLang="zh-CN" sz="2400" i="1" baseline="-25000">
                <a:sym typeface="Symbol" pitchFamily="18" charset="2"/>
              </a:rPr>
              <a:t>m</a:t>
            </a:r>
            <a:r>
              <a:rPr lang="en-US" altLang="zh-CN" sz="2400" baseline="-25000">
                <a:sym typeface="Symbol" pitchFamily="18" charset="2"/>
              </a:rPr>
              <a:t>-1,</a:t>
            </a:r>
            <a:r>
              <a:rPr lang="en-US" altLang="zh-CN" sz="2400" i="1" baseline="-25000">
                <a:sym typeface="Symbol" pitchFamily="18" charset="2"/>
              </a:rPr>
              <a:t>j</a:t>
            </a:r>
            <a:r>
              <a:rPr lang="en-US" altLang="zh-CN" sz="2400">
                <a:sym typeface="Symbol" pitchFamily="18" charset="2"/>
              </a:rPr>
              <a:t>) 0</a:t>
            </a:r>
            <a:r>
              <a:rPr lang="en-US" altLang="en-US" sz="2400">
                <a:sym typeface="Symbol" pitchFamily="18" charset="2"/>
              </a:rPr>
              <a:t>≤</a:t>
            </a:r>
            <a:r>
              <a:rPr lang="en-US" altLang="zh-CN" sz="2400" i="1">
                <a:sym typeface="Symbol" pitchFamily="18" charset="2"/>
              </a:rPr>
              <a:t>j</a:t>
            </a:r>
            <a:r>
              <a:rPr lang="en-US" altLang="en-US" sz="2400">
                <a:sym typeface="Symbol" pitchFamily="18" charset="2"/>
              </a:rPr>
              <a:t>≤</a:t>
            </a:r>
            <a:r>
              <a:rPr lang="en-US" altLang="zh-CN" sz="2400" i="1">
                <a:sym typeface="Symbol" pitchFamily="18" charset="2"/>
              </a:rPr>
              <a:t>n</a:t>
            </a:r>
            <a:r>
              <a:rPr lang="en-US" altLang="zh-CN" sz="2400">
                <a:sym typeface="Symbol" pitchFamily="18" charset="2"/>
              </a:rPr>
              <a:t>-1 </a:t>
            </a:r>
          </a:p>
        </p:txBody>
      </p:sp>
      <p:sp>
        <p:nvSpPr>
          <p:cNvPr id="50348" name="Text Box 172"/>
          <p:cNvSpPr txBox="1">
            <a:spLocks noChangeArrowheads="1"/>
          </p:cNvSpPr>
          <p:nvPr/>
        </p:nvSpPr>
        <p:spPr bwMode="auto">
          <a:xfrm>
            <a:off x="6397625" y="2279651"/>
            <a:ext cx="3756156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sym typeface="Symbol" pitchFamily="18" charset="2"/>
              </a:rPr>
              <a:t></a:t>
            </a:r>
            <a:r>
              <a:rPr lang="en-US" altLang="zh-CN" sz="2400" i="1" baseline="-25000">
                <a:sym typeface="Symbol" pitchFamily="18" charset="2"/>
              </a:rPr>
              <a:t>i</a:t>
            </a:r>
            <a:r>
              <a:rPr lang="en-US" altLang="zh-CN" sz="2400">
                <a:sym typeface="Symbol" pitchFamily="18" charset="2"/>
              </a:rPr>
              <a:t>=(</a:t>
            </a:r>
            <a:r>
              <a:rPr lang="en-US" altLang="zh-CN" sz="2400" i="1">
                <a:sym typeface="Symbol" pitchFamily="18" charset="2"/>
              </a:rPr>
              <a:t>a</a:t>
            </a:r>
            <a:r>
              <a:rPr lang="en-US" altLang="zh-CN" sz="2400" i="1" baseline="-25000">
                <a:sym typeface="Symbol" pitchFamily="18" charset="2"/>
              </a:rPr>
              <a:t>i</a:t>
            </a:r>
            <a:r>
              <a:rPr lang="en-US" altLang="zh-CN" sz="2400" baseline="-25000">
                <a:sym typeface="Symbol" pitchFamily="18" charset="2"/>
              </a:rPr>
              <a:t>0</a:t>
            </a:r>
            <a:r>
              <a:rPr lang="en-US" altLang="zh-CN" sz="2400">
                <a:sym typeface="Symbol" pitchFamily="18" charset="2"/>
              </a:rPr>
              <a:t>,</a:t>
            </a:r>
            <a:r>
              <a:rPr lang="en-US" altLang="zh-CN" sz="2400" i="1">
                <a:sym typeface="Symbol" pitchFamily="18" charset="2"/>
              </a:rPr>
              <a:t>a</a:t>
            </a:r>
            <a:r>
              <a:rPr lang="en-US" altLang="zh-CN" sz="2400" i="1" baseline="-25000">
                <a:sym typeface="Symbol" pitchFamily="18" charset="2"/>
              </a:rPr>
              <a:t>i</a:t>
            </a:r>
            <a:r>
              <a:rPr lang="en-US" altLang="zh-CN" sz="2400" baseline="-25000">
                <a:sym typeface="Symbol" pitchFamily="18" charset="2"/>
              </a:rPr>
              <a:t>1</a:t>
            </a:r>
            <a:r>
              <a:rPr lang="en-US" altLang="zh-CN" sz="2400">
                <a:sym typeface="Symbol" pitchFamily="18" charset="2"/>
              </a:rPr>
              <a:t>,…,</a:t>
            </a:r>
            <a:r>
              <a:rPr lang="en-US" altLang="zh-CN" sz="2400" i="1">
                <a:sym typeface="Symbol" pitchFamily="18" charset="2"/>
              </a:rPr>
              <a:t>a</a:t>
            </a:r>
            <a:r>
              <a:rPr lang="en-US" altLang="zh-CN" sz="2400" i="1" baseline="-25000">
                <a:sym typeface="Symbol" pitchFamily="18" charset="2"/>
              </a:rPr>
              <a:t>i,n</a:t>
            </a:r>
            <a:r>
              <a:rPr lang="en-US" altLang="zh-CN" sz="2400" baseline="-25000">
                <a:sym typeface="Symbol" pitchFamily="18" charset="2"/>
              </a:rPr>
              <a:t>-1</a:t>
            </a:r>
            <a:r>
              <a:rPr lang="en-US" altLang="zh-CN" sz="2400">
                <a:sym typeface="Symbol" pitchFamily="18" charset="2"/>
              </a:rPr>
              <a:t>) 0</a:t>
            </a:r>
            <a:r>
              <a:rPr lang="en-US" altLang="en-US" sz="2400">
                <a:sym typeface="Symbol" pitchFamily="18" charset="2"/>
              </a:rPr>
              <a:t>≤</a:t>
            </a:r>
            <a:r>
              <a:rPr lang="en-US" altLang="zh-CN" sz="2400" i="1">
                <a:sym typeface="Symbol" pitchFamily="18" charset="2"/>
              </a:rPr>
              <a:t>i</a:t>
            </a:r>
            <a:r>
              <a:rPr lang="en-US" altLang="en-US" sz="2400">
                <a:sym typeface="Symbol" pitchFamily="18" charset="2"/>
              </a:rPr>
              <a:t>≤</a:t>
            </a:r>
            <a:r>
              <a:rPr lang="en-US" altLang="zh-CN" sz="2400" i="1">
                <a:sym typeface="Symbol" pitchFamily="18" charset="2"/>
              </a:rPr>
              <a:t>m</a:t>
            </a:r>
            <a:r>
              <a:rPr lang="en-US" altLang="zh-CN" sz="2400">
                <a:sym typeface="Symbol" pitchFamily="18" charset="2"/>
              </a:rPr>
              <a:t>-1 </a:t>
            </a:r>
          </a:p>
        </p:txBody>
      </p:sp>
      <p:sp>
        <p:nvSpPr>
          <p:cNvPr id="50349" name="Text Box 173"/>
          <p:cNvSpPr txBox="1">
            <a:spLocks noChangeArrowheads="1"/>
          </p:cNvSpPr>
          <p:nvPr/>
        </p:nvSpPr>
        <p:spPr bwMode="auto">
          <a:xfrm>
            <a:off x="1992314" y="4878389"/>
            <a:ext cx="2916237" cy="52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>
                <a:ea typeface="华文中宋" pitchFamily="2" charset="-122"/>
              </a:rPr>
              <a:t>二维数组逻辑结构 </a:t>
            </a:r>
            <a:endParaRPr lang="zh-CN" altLang="en-US" sz="2400"/>
          </a:p>
        </p:txBody>
      </p:sp>
      <p:sp>
        <p:nvSpPr>
          <p:cNvPr id="50350" name="Text Box 174"/>
          <p:cNvSpPr txBox="1">
            <a:spLocks noChangeArrowheads="1"/>
          </p:cNvSpPr>
          <p:nvPr/>
        </p:nvSpPr>
        <p:spPr bwMode="auto">
          <a:xfrm>
            <a:off x="4762500" y="5445126"/>
            <a:ext cx="2160588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ea typeface="华文中宋" pitchFamily="2" charset="-122"/>
              </a:rPr>
              <a:t>线性结构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ea typeface="华文中宋" pitchFamily="2" charset="-122"/>
              </a:rPr>
              <a:t>定长的线性表</a:t>
            </a:r>
          </a:p>
        </p:txBody>
      </p:sp>
      <p:sp>
        <p:nvSpPr>
          <p:cNvPr id="50351" name="Text Box 175"/>
          <p:cNvSpPr txBox="1">
            <a:spLocks noChangeArrowheads="1"/>
          </p:cNvSpPr>
          <p:nvPr/>
        </p:nvSpPr>
        <p:spPr bwMode="auto">
          <a:xfrm>
            <a:off x="6780214" y="4076700"/>
            <a:ext cx="2663825" cy="129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>
                <a:ea typeface="华文新魏" pitchFamily="2" charset="-122"/>
              </a:rPr>
              <a:t>每一个数据元素 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ea typeface="华文新魏" pitchFamily="2" charset="-122"/>
              </a:rPr>
              <a:t>既在一个行表中， 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ea typeface="华文新魏" pitchFamily="2" charset="-122"/>
              </a:rPr>
              <a:t>又在一个列表中。</a:t>
            </a:r>
            <a:r>
              <a:rPr lang="zh-CN" altLang="en-US" sz="2400"/>
              <a:t>  </a:t>
            </a:r>
          </a:p>
        </p:txBody>
      </p:sp>
      <p:sp>
        <p:nvSpPr>
          <p:cNvPr id="50352" name="Text Box 176"/>
          <p:cNvSpPr txBox="1">
            <a:spLocks noChangeArrowheads="1"/>
          </p:cNvSpPr>
          <p:nvPr/>
        </p:nvSpPr>
        <p:spPr bwMode="auto">
          <a:xfrm>
            <a:off x="6778626" y="5445126"/>
            <a:ext cx="367347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ea typeface="华文新魏" pitchFamily="2" charset="-122"/>
              </a:rPr>
              <a:t>该线性表的每个数据元素 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ea typeface="华文新魏" pitchFamily="2" charset="-122"/>
              </a:rPr>
              <a:t>也是一个定长的线性表。</a:t>
            </a:r>
            <a:r>
              <a:rPr lang="zh-CN" altLang="en-US" sz="2400"/>
              <a:t> </a:t>
            </a:r>
            <a:endParaRPr lang="zh-CN" altLang="en-US" sz="2400">
              <a:ea typeface="华文中宋" pitchFamily="2" charset="-122"/>
            </a:endParaRPr>
          </a:p>
        </p:txBody>
      </p:sp>
      <p:sp>
        <p:nvSpPr>
          <p:cNvPr id="50353" name="AutoShape 177"/>
          <p:cNvSpPr>
            <a:spLocks/>
          </p:cNvSpPr>
          <p:nvPr/>
        </p:nvSpPr>
        <p:spPr bwMode="auto">
          <a:xfrm>
            <a:off x="4618038" y="4724401"/>
            <a:ext cx="144462" cy="1008063"/>
          </a:xfrm>
          <a:prstGeom prst="leftBrace">
            <a:avLst>
              <a:gd name="adj1" fmla="val 581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354" name="Object 178"/>
          <p:cNvGraphicFramePr>
            <a:graphicFrameLocks noChangeAspect="1"/>
          </p:cNvGraphicFramePr>
          <p:nvPr/>
        </p:nvGraphicFramePr>
        <p:xfrm>
          <a:off x="1900239" y="620713"/>
          <a:ext cx="4357687" cy="216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806560" imgH="939600" progId="Equation.3">
                  <p:embed/>
                </p:oleObj>
              </mc:Choice>
              <mc:Fallback>
                <p:oleObj name="公式" r:id="rId5" imgW="2806560" imgH="939600" progId="Equation.3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9" y="620713"/>
                        <a:ext cx="4357687" cy="2163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50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5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5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0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5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50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50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5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5" dur="500"/>
                                        <p:tgtEl>
                                          <p:spTgt spid="5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0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0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0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0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0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36" grpId="0" animBg="1"/>
      <p:bldP spid="50337" grpId="0" animBg="1"/>
      <p:bldP spid="50339" grpId="0"/>
      <p:bldP spid="50340" grpId="0"/>
      <p:bldP spid="50342" grpId="0" animBg="1"/>
      <p:bldP spid="50343" grpId="0" animBg="1"/>
      <p:bldP spid="50344" grpId="0" animBg="1"/>
      <p:bldP spid="50345" grpId="0" animBg="1"/>
      <p:bldP spid="50346" grpId="0"/>
      <p:bldP spid="50347" grpId="0" animBg="1"/>
      <p:bldP spid="50348" grpId="0" animBg="1"/>
      <p:bldP spid="50349" grpId="0"/>
      <p:bldP spid="50350" grpId="0"/>
      <p:bldP spid="50351" grpId="0"/>
      <p:bldP spid="50352" grpId="0"/>
      <p:bldP spid="503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2" name="Rectangle 158"/>
          <p:cNvSpPr>
            <a:spLocks noChangeArrowheads="1"/>
          </p:cNvSpPr>
          <p:nvPr/>
        </p:nvSpPr>
        <p:spPr bwMode="auto">
          <a:xfrm>
            <a:off x="2495550" y="1989138"/>
            <a:ext cx="7416800" cy="422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/>
              <a:t>        </a:t>
            </a:r>
            <a:r>
              <a:rPr lang="zh-CN" altLang="en-US" sz="2400"/>
              <a:t>在 </a:t>
            </a:r>
            <a:r>
              <a:rPr lang="en-US" altLang="zh-CN" sz="2400"/>
              <a:t>C </a:t>
            </a:r>
            <a:r>
              <a:rPr lang="zh-CN" altLang="en-US" sz="2400"/>
              <a:t>语言中，一个二维数组类型也可以定义为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/>
              <a:t>一维数组类型（其分量类型为一维数组类型），即：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/>
              <a:t>          </a:t>
            </a:r>
            <a:r>
              <a:rPr lang="en-US" altLang="zh-CN" sz="2400"/>
              <a:t>typedef  elemtype  array2[m][n];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等价于：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/>
              <a:t>          </a:t>
            </a:r>
            <a:r>
              <a:rPr lang="en-US" altLang="zh-CN" sz="2400"/>
              <a:t>typedef elemtype array1[n];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/>
              <a:t>          typedef  array1 array2[m]; </a:t>
            </a:r>
          </a:p>
        </p:txBody>
      </p:sp>
      <p:sp>
        <p:nvSpPr>
          <p:cNvPr id="26783" name="Text Box 159"/>
          <p:cNvSpPr txBox="1">
            <a:spLocks noChangeArrowheads="1"/>
          </p:cNvSpPr>
          <p:nvPr/>
        </p:nvSpPr>
        <p:spPr bwMode="auto">
          <a:xfrm>
            <a:off x="1992314" y="566739"/>
            <a:ext cx="7704137" cy="55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400">
                <a:ea typeface="华文中宋" pitchFamily="2" charset="-122"/>
              </a:rPr>
              <a:t>        </a:t>
            </a:r>
            <a:r>
              <a:rPr lang="zh-CN" altLang="en-US" sz="2400">
                <a:ea typeface="华文中宋" pitchFamily="2" charset="-122"/>
              </a:rPr>
              <a:t>声明格式：    </a:t>
            </a:r>
            <a:r>
              <a:rPr lang="zh-CN" altLang="en-US" sz="2400">
                <a:solidFill>
                  <a:srgbClr val="000000"/>
                </a:solidFill>
              </a:rPr>
              <a:t>数据类型    变量名称</a:t>
            </a:r>
            <a:r>
              <a:rPr lang="en-US" altLang="zh-CN" sz="2400">
                <a:solidFill>
                  <a:srgbClr val="000000"/>
                </a:solidFill>
              </a:rPr>
              <a:t>[</a:t>
            </a:r>
            <a:r>
              <a:rPr lang="zh-CN" altLang="en-US" sz="2400">
                <a:solidFill>
                  <a:srgbClr val="000000"/>
                </a:solidFill>
              </a:rPr>
              <a:t>行数</a:t>
            </a:r>
            <a:r>
              <a:rPr lang="en-US" altLang="zh-CN" sz="2400">
                <a:solidFill>
                  <a:srgbClr val="000000"/>
                </a:solidFill>
              </a:rPr>
              <a:t>] [</a:t>
            </a:r>
            <a:r>
              <a:rPr lang="zh-CN" altLang="en-US" sz="2400">
                <a:solidFill>
                  <a:srgbClr val="000000"/>
                </a:solidFill>
              </a:rPr>
              <a:t>列数</a:t>
            </a:r>
            <a:r>
              <a:rPr lang="en-US" altLang="zh-CN" sz="2400">
                <a:solidFill>
                  <a:srgbClr val="000000"/>
                </a:solidFill>
              </a:rPr>
              <a:t>]</a:t>
            </a:r>
            <a:r>
              <a:rPr lang="en-US" altLang="zh-CN" sz="2400"/>
              <a:t> </a:t>
            </a:r>
            <a:r>
              <a:rPr lang="zh-CN" altLang="en-US" sz="2400">
                <a:solidFill>
                  <a:srgbClr val="000000"/>
                </a:solidFill>
              </a:rPr>
              <a:t>；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  </a:t>
            </a:r>
          </a:p>
        </p:txBody>
      </p:sp>
      <p:sp>
        <p:nvSpPr>
          <p:cNvPr id="26784" name="Text Box 160"/>
          <p:cNvSpPr txBox="1">
            <a:spLocks noChangeArrowheads="1"/>
          </p:cNvSpPr>
          <p:nvPr/>
        </p:nvSpPr>
        <p:spPr bwMode="auto">
          <a:xfrm>
            <a:off x="1992313" y="1241426"/>
            <a:ext cx="7848600" cy="55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                                </a:t>
            </a: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例：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int  num[5] </a:t>
            </a:r>
            <a:r>
              <a:rPr lang="en-US" altLang="zh-CN" sz="2400">
                <a:solidFill>
                  <a:srgbClr val="000000"/>
                </a:solidFill>
              </a:rPr>
              <a:t>[8]</a:t>
            </a:r>
            <a:r>
              <a:rPr lang="en-US" altLang="zh-CN" sz="2400">
                <a:solidFill>
                  <a:srgbClr val="000000"/>
                </a:solidFill>
                <a:ea typeface="华文中宋" pitchFamily="2" charset="-122"/>
              </a:rPr>
              <a:t> ;  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82" grpId="0"/>
      <p:bldP spid="26783" grpId="0"/>
      <p:bldP spid="267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5" name="Rectangle 97"/>
          <p:cNvSpPr>
            <a:spLocks noChangeArrowheads="1"/>
          </p:cNvSpPr>
          <p:nvPr/>
        </p:nvSpPr>
        <p:spPr bwMode="auto">
          <a:xfrm>
            <a:off x="2025650" y="573089"/>
            <a:ext cx="7602538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zh-CN" sz="2400">
                <a:ea typeface="华文中宋" pitchFamily="2" charset="-122"/>
              </a:rPr>
              <a:t>        </a:t>
            </a:r>
            <a:r>
              <a:rPr lang="zh-CN" altLang="en-US" sz="2400">
                <a:ea typeface="华文中宋" pitchFamily="2" charset="-122"/>
              </a:rPr>
              <a:t>三维数组：</a:t>
            </a:r>
            <a:r>
              <a:rPr lang="zh-CN" altLang="en-US" sz="2400"/>
              <a:t>若二维数组中的元素又是一个一维数组 </a:t>
            </a:r>
          </a:p>
          <a:p>
            <a:pPr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</a:pPr>
            <a:r>
              <a:rPr lang="zh-CN" altLang="en-US" sz="2400"/>
              <a:t>                            结构，则称作三维数组。 </a:t>
            </a:r>
          </a:p>
        </p:txBody>
      </p:sp>
      <p:sp>
        <p:nvSpPr>
          <p:cNvPr id="27755" name="Text Box 107"/>
          <p:cNvSpPr txBox="1">
            <a:spLocks noChangeArrowheads="1"/>
          </p:cNvSpPr>
          <p:nvPr/>
        </p:nvSpPr>
        <p:spPr bwMode="auto">
          <a:xfrm>
            <a:off x="4685824" y="1828800"/>
            <a:ext cx="738664" cy="669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>
            <a:spAutoFit/>
          </a:bodyPr>
          <a:lstStyle/>
          <a:p>
            <a:r>
              <a:rPr lang="en-US" altLang="zh-CN" sz="3600"/>
              <a:t>… </a:t>
            </a:r>
          </a:p>
        </p:txBody>
      </p:sp>
      <p:sp>
        <p:nvSpPr>
          <p:cNvPr id="27756" name="Rectangle 108"/>
          <p:cNvSpPr>
            <a:spLocks noChangeArrowheads="1"/>
          </p:cNvSpPr>
          <p:nvPr/>
        </p:nvSpPr>
        <p:spPr bwMode="auto">
          <a:xfrm>
            <a:off x="2025650" y="2346326"/>
            <a:ext cx="7583488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zh-CN" sz="2400">
                <a:ea typeface="华文中宋" pitchFamily="2" charset="-122"/>
              </a:rPr>
              <a:t>        </a:t>
            </a:r>
            <a:r>
              <a:rPr lang="en-US" altLang="zh-CN" sz="2400" i="1">
                <a:ea typeface="华文中宋" pitchFamily="2" charset="-122"/>
              </a:rPr>
              <a:t>n</a:t>
            </a:r>
            <a:r>
              <a:rPr lang="en-US" altLang="zh-CN" sz="2400">
                <a:ea typeface="华文中宋" pitchFamily="2" charset="-122"/>
              </a:rPr>
              <a:t> </a:t>
            </a:r>
            <a:r>
              <a:rPr lang="zh-CN" altLang="en-US" sz="2400">
                <a:ea typeface="华文中宋" pitchFamily="2" charset="-122"/>
              </a:rPr>
              <a:t>维数组：</a:t>
            </a:r>
            <a:r>
              <a:rPr lang="zh-CN" altLang="en-US" sz="2400"/>
              <a:t>若 </a:t>
            </a:r>
            <a:r>
              <a:rPr lang="en-US" altLang="zh-CN" sz="2400" i="1"/>
              <a:t>n</a:t>
            </a:r>
            <a:r>
              <a:rPr lang="en-US" altLang="zh-CN" sz="2400"/>
              <a:t> -1 </a:t>
            </a:r>
            <a:r>
              <a:rPr lang="zh-CN" altLang="en-US" sz="2400"/>
              <a:t>维数组中的元素又是一个一维数 </a:t>
            </a:r>
          </a:p>
          <a:p>
            <a:pPr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</a:pPr>
            <a:r>
              <a:rPr lang="zh-CN" altLang="en-US" sz="2400"/>
              <a:t>                           组结构，则称作 </a:t>
            </a:r>
            <a:r>
              <a:rPr lang="en-US" altLang="zh-CN" sz="2400" i="1"/>
              <a:t>n</a:t>
            </a:r>
            <a:r>
              <a:rPr lang="en-US" altLang="zh-CN" sz="2400"/>
              <a:t> </a:t>
            </a:r>
            <a:r>
              <a:rPr lang="zh-CN" altLang="en-US" sz="2400"/>
              <a:t>维数组。 </a:t>
            </a:r>
          </a:p>
        </p:txBody>
      </p:sp>
      <p:sp>
        <p:nvSpPr>
          <p:cNvPr id="27757" name="Rectangle 109"/>
          <p:cNvSpPr>
            <a:spLocks noChangeArrowheads="1"/>
          </p:cNvSpPr>
          <p:nvPr/>
        </p:nvSpPr>
        <p:spPr bwMode="auto">
          <a:xfrm>
            <a:off x="4135439" y="3683699"/>
            <a:ext cx="4878259" cy="55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数组结构又是线性表结构的扩展。 </a:t>
            </a:r>
          </a:p>
        </p:txBody>
      </p:sp>
      <p:sp>
        <p:nvSpPr>
          <p:cNvPr id="27758" name="AutoShape 110"/>
          <p:cNvSpPr>
            <a:spLocks noChangeArrowheads="1"/>
          </p:cNvSpPr>
          <p:nvPr/>
        </p:nvSpPr>
        <p:spPr bwMode="auto">
          <a:xfrm>
            <a:off x="2744788" y="3429001"/>
            <a:ext cx="1008062" cy="936625"/>
          </a:xfrm>
          <a:prstGeom prst="flowChartMagneticTape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80000"/>
              </a:lnSpc>
            </a:pPr>
            <a:r>
              <a:rPr lang="zh-CN" altLang="en-US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结论</a:t>
            </a:r>
          </a:p>
        </p:txBody>
      </p:sp>
      <p:sp>
        <p:nvSpPr>
          <p:cNvPr id="27762" name="Rectangle 114"/>
          <p:cNvSpPr>
            <a:spLocks noChangeArrowheads="1"/>
          </p:cNvSpPr>
          <p:nvPr/>
        </p:nvSpPr>
        <p:spPr bwMode="auto">
          <a:xfrm>
            <a:off x="2608264" y="4724400"/>
            <a:ext cx="7375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数组特点：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结构固定：</a:t>
            </a:r>
            <a:r>
              <a:rPr lang="zh-CN" altLang="en-US" sz="2400" dirty="0"/>
              <a:t>定义后维数和维界不再改变。</a:t>
            </a:r>
            <a:r>
              <a:rPr lang="zh-CN" altLang="en-US" sz="2400" dirty="0">
                <a:solidFill>
                  <a:srgbClr val="4D4D4D"/>
                </a:solidFill>
              </a:rPr>
              <a:t>  </a:t>
            </a:r>
            <a:endParaRPr lang="zh-CN" altLang="en-US" sz="2400" dirty="0"/>
          </a:p>
        </p:txBody>
      </p:sp>
      <p:sp>
        <p:nvSpPr>
          <p:cNvPr id="27763" name="Rectangle 115"/>
          <p:cNvSpPr>
            <a:spLocks noChangeArrowheads="1"/>
          </p:cNvSpPr>
          <p:nvPr/>
        </p:nvSpPr>
        <p:spPr bwMode="auto">
          <a:xfrm>
            <a:off x="2608263" y="5267325"/>
            <a:ext cx="6989762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数组基本操作：</a:t>
            </a:r>
            <a:r>
              <a:rPr lang="zh-CN" altLang="en-US" sz="2400" dirty="0"/>
              <a:t>除了结构的初始化和销毁之外， 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                            只有取元素和修改元素值的操作。</a:t>
            </a:r>
            <a:r>
              <a:rPr lang="zh-CN" altLang="en-US" sz="2400" dirty="0"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77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45" grpId="0"/>
      <p:bldP spid="27755" grpId="0"/>
      <p:bldP spid="27756" grpId="0"/>
      <p:bldP spid="27757" grpId="0"/>
      <p:bldP spid="27758" grpId="0" animBg="1"/>
      <p:bldP spid="27762" grpId="0"/>
      <p:bldP spid="277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58" name="Text Box 22"/>
          <p:cNvSpPr txBox="1">
            <a:spLocks noChangeArrowheads="1"/>
          </p:cNvSpPr>
          <p:nvPr/>
        </p:nvSpPr>
        <p:spPr bwMode="auto">
          <a:xfrm>
            <a:off x="2135188" y="557213"/>
            <a:ext cx="4070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ea typeface="华文中宋" pitchFamily="2" charset="-122"/>
              </a:rPr>
              <a:t>数组的抽象数据类型的定义   </a:t>
            </a:r>
          </a:p>
        </p:txBody>
      </p:sp>
      <p:sp>
        <p:nvSpPr>
          <p:cNvPr id="65559" name="Text Box 23"/>
          <p:cNvSpPr txBox="1">
            <a:spLocks noChangeArrowheads="1"/>
          </p:cNvSpPr>
          <p:nvPr/>
        </p:nvSpPr>
        <p:spPr bwMode="auto">
          <a:xfrm>
            <a:off x="2135188" y="1065214"/>
            <a:ext cx="8208962" cy="495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>
                <a:ea typeface="华文中宋" pitchFamily="2" charset="-122"/>
              </a:rPr>
              <a:t>ADT Array {</a:t>
            </a:r>
            <a:br>
              <a:rPr lang="en-US" altLang="zh-CN" sz="2400">
                <a:ea typeface="华文中宋" pitchFamily="2" charset="-122"/>
              </a:rPr>
            </a:br>
            <a:r>
              <a:rPr lang="zh-CN" altLang="en-US" sz="2400">
                <a:ea typeface="华文中宋" pitchFamily="2" charset="-122"/>
              </a:rPr>
              <a:t>数据对象：</a:t>
            </a:r>
            <a:r>
              <a:rPr lang="en-US" altLang="zh-CN" sz="2400"/>
              <a:t>D={</a:t>
            </a:r>
            <a:r>
              <a:rPr lang="en-US" altLang="zh-CN" sz="2800" i="1"/>
              <a:t>a</a:t>
            </a:r>
            <a:r>
              <a:rPr lang="en-US" altLang="zh-CN" sz="2800" i="1" baseline="-25000"/>
              <a:t>j</a:t>
            </a:r>
            <a:r>
              <a:rPr lang="en-US" altLang="zh-CN" sz="2800" baseline="-25000"/>
              <a:t>1 </a:t>
            </a:r>
            <a:r>
              <a:rPr lang="en-US" altLang="zh-CN" sz="2800" i="1" baseline="-25000"/>
              <a:t>j</a:t>
            </a:r>
            <a:r>
              <a:rPr lang="en-US" altLang="zh-CN" sz="2800" baseline="-25000"/>
              <a:t>2 … </a:t>
            </a:r>
            <a:r>
              <a:rPr lang="en-US" altLang="zh-CN" sz="2800" i="1" baseline="-25000"/>
              <a:t>jn</a:t>
            </a:r>
            <a:r>
              <a:rPr lang="en-US" altLang="zh-CN" sz="2800"/>
              <a:t> | </a:t>
            </a:r>
            <a:r>
              <a:rPr lang="en-US" altLang="zh-CN" sz="2800" i="1"/>
              <a:t>j</a:t>
            </a:r>
            <a:r>
              <a:rPr lang="en-US" altLang="zh-CN" sz="2800" i="1" baseline="-25000"/>
              <a:t>i</a:t>
            </a:r>
            <a:r>
              <a:rPr lang="en-US" altLang="zh-CN" sz="2800" baseline="-25000"/>
              <a:t> </a:t>
            </a:r>
            <a:r>
              <a:rPr lang="en-US" altLang="zh-CN" sz="2800"/>
              <a:t>= 0, ..., </a:t>
            </a:r>
            <a:r>
              <a:rPr lang="en-US" altLang="zh-CN" sz="2800" i="1"/>
              <a:t>b</a:t>
            </a:r>
            <a:r>
              <a:rPr lang="en-US" altLang="zh-CN" sz="2800" i="1" baseline="-25000"/>
              <a:t>i</a:t>
            </a:r>
            <a:r>
              <a:rPr lang="en-US" altLang="zh-CN" sz="2800"/>
              <a:t> -1, </a:t>
            </a:r>
            <a:r>
              <a:rPr lang="en-US" altLang="zh-CN" sz="2800" i="1"/>
              <a:t>i</a:t>
            </a:r>
            <a:r>
              <a:rPr lang="en-US" altLang="zh-CN" sz="2800"/>
              <a:t> = 1, 2, .., </a:t>
            </a:r>
            <a:r>
              <a:rPr lang="en-US" altLang="zh-CN" sz="2800" i="1"/>
              <a:t>n</a:t>
            </a:r>
            <a:r>
              <a:rPr lang="en-US" altLang="zh-CN" sz="2800"/>
              <a:t>, 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                                            </a:t>
            </a:r>
            <a:r>
              <a:rPr lang="en-US" altLang="zh-CN" sz="2400" i="1"/>
              <a:t> </a:t>
            </a:r>
            <a:r>
              <a:rPr lang="en-US" altLang="zh-CN" sz="2800" i="1"/>
              <a:t>n </a:t>
            </a:r>
            <a:r>
              <a:rPr lang="en-US" altLang="zh-CN" sz="2800"/>
              <a:t>(&gt;0)</a:t>
            </a:r>
            <a:r>
              <a:rPr lang="en-US" altLang="zh-CN" sz="2400"/>
              <a:t> </a:t>
            </a:r>
            <a:r>
              <a:rPr lang="zh-CN" altLang="en-US" sz="2400"/>
              <a:t>称为数组的维数， </a:t>
            </a:r>
          </a:p>
          <a:p>
            <a:pPr>
              <a:lnSpc>
                <a:spcPct val="110000"/>
              </a:lnSpc>
            </a:pPr>
            <a:r>
              <a:rPr lang="zh-CN" altLang="en-US" sz="2400"/>
              <a:t>                                             </a:t>
            </a:r>
            <a:r>
              <a:rPr lang="en-US" altLang="zh-CN" sz="2800" i="1"/>
              <a:t>b</a:t>
            </a:r>
            <a:r>
              <a:rPr lang="en-US" altLang="zh-CN" sz="2800" i="1" baseline="-25000"/>
              <a:t>i</a:t>
            </a:r>
            <a:r>
              <a:rPr lang="en-US" altLang="zh-CN" sz="2800"/>
              <a:t> </a:t>
            </a:r>
            <a:r>
              <a:rPr lang="zh-CN" altLang="en-US" sz="2400"/>
              <a:t>是数组第 </a:t>
            </a:r>
            <a:r>
              <a:rPr lang="en-US" altLang="zh-CN" sz="2400" i="1"/>
              <a:t>i</a:t>
            </a:r>
            <a:r>
              <a:rPr lang="en-US" altLang="zh-CN" sz="2400"/>
              <a:t> </a:t>
            </a:r>
            <a:r>
              <a:rPr lang="zh-CN" altLang="en-US" sz="2400"/>
              <a:t>维的长度， </a:t>
            </a:r>
          </a:p>
          <a:p>
            <a:pPr>
              <a:lnSpc>
                <a:spcPct val="110000"/>
              </a:lnSpc>
            </a:pPr>
            <a:r>
              <a:rPr lang="zh-CN" altLang="en-US" sz="2400"/>
              <a:t>                                            </a:t>
            </a:r>
            <a:r>
              <a:rPr lang="zh-CN" altLang="en-US" sz="2800"/>
              <a:t> </a:t>
            </a:r>
            <a:r>
              <a:rPr lang="en-US" altLang="zh-CN" sz="2800" i="1"/>
              <a:t>j</a:t>
            </a:r>
            <a:r>
              <a:rPr lang="en-US" altLang="zh-CN" sz="2800" i="1" baseline="-25000"/>
              <a:t>i</a:t>
            </a:r>
            <a:r>
              <a:rPr lang="en-US" altLang="zh-CN" sz="2800"/>
              <a:t> </a:t>
            </a:r>
            <a:r>
              <a:rPr lang="zh-CN" altLang="en-US" sz="2400"/>
              <a:t>是数组元素的第 </a:t>
            </a:r>
            <a:r>
              <a:rPr lang="en-US" altLang="zh-CN" sz="2400" i="1"/>
              <a:t>i</a:t>
            </a:r>
            <a:r>
              <a:rPr lang="en-US" altLang="zh-CN" sz="2400"/>
              <a:t> </a:t>
            </a:r>
            <a:r>
              <a:rPr lang="zh-CN" altLang="en-US" sz="2400"/>
              <a:t>维下标， </a:t>
            </a:r>
          </a:p>
          <a:p>
            <a:pPr>
              <a:lnSpc>
                <a:spcPct val="110000"/>
              </a:lnSpc>
            </a:pPr>
            <a:r>
              <a:rPr lang="zh-CN" altLang="en-US" sz="2800" i="1"/>
              <a:t>                                      </a:t>
            </a:r>
            <a:r>
              <a:rPr lang="en-US" altLang="zh-CN" sz="2800" i="1"/>
              <a:t>a</a:t>
            </a:r>
            <a:r>
              <a:rPr lang="en-US" altLang="zh-CN" sz="2800" i="1" baseline="-25000"/>
              <a:t> j</a:t>
            </a:r>
            <a:r>
              <a:rPr lang="en-US" altLang="zh-CN" sz="2800" baseline="-25000"/>
              <a:t>1 </a:t>
            </a:r>
            <a:r>
              <a:rPr lang="en-US" altLang="zh-CN" sz="2800" i="1" baseline="-25000"/>
              <a:t>j</a:t>
            </a:r>
            <a:r>
              <a:rPr lang="en-US" altLang="zh-CN" sz="2800" baseline="-25000"/>
              <a:t>2 … </a:t>
            </a:r>
            <a:r>
              <a:rPr lang="en-US" altLang="zh-CN" sz="2800" i="1" baseline="-25000"/>
              <a:t>jn</a:t>
            </a:r>
            <a:r>
              <a:rPr lang="en-US" altLang="zh-CN" sz="2400"/>
              <a:t>∈ElemSet } 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ea typeface="华文中宋" pitchFamily="2" charset="-122"/>
              </a:rPr>
              <a:t>数据关系：</a:t>
            </a:r>
            <a:r>
              <a:rPr lang="en-US" altLang="zh-CN" sz="2400"/>
              <a:t>R</a:t>
            </a:r>
            <a:r>
              <a:rPr lang="zh-CN" altLang="en-US" sz="2400"/>
              <a:t>＝</a:t>
            </a:r>
            <a:r>
              <a:rPr lang="en-US" altLang="zh-CN" sz="2400"/>
              <a:t>{R1, R2, ..., R</a:t>
            </a:r>
            <a:r>
              <a:rPr lang="en-US" altLang="zh-CN" sz="2400" i="1"/>
              <a:t>n</a:t>
            </a:r>
            <a:r>
              <a:rPr lang="en-US" altLang="zh-CN" sz="2400"/>
              <a:t>} </a:t>
            </a:r>
          </a:p>
          <a:p>
            <a:pPr>
              <a:lnSpc>
                <a:spcPct val="90000"/>
              </a:lnSpc>
            </a:pPr>
            <a:r>
              <a:rPr lang="en-US" altLang="zh-CN" sz="2400"/>
              <a:t>                    R</a:t>
            </a:r>
            <a:r>
              <a:rPr lang="en-US" altLang="zh-CN" sz="2400" i="1"/>
              <a:t>i</a:t>
            </a:r>
            <a:r>
              <a:rPr lang="zh-CN" altLang="en-US" sz="2400"/>
              <a:t>＝</a:t>
            </a:r>
            <a:r>
              <a:rPr lang="en-US" altLang="zh-CN" sz="2400"/>
              <a:t>{&lt;</a:t>
            </a:r>
            <a:r>
              <a:rPr lang="en-US" altLang="zh-CN" sz="2800" i="1"/>
              <a:t>a</a:t>
            </a:r>
            <a:r>
              <a:rPr lang="en-US" altLang="zh-CN" sz="2800" baseline="-25000"/>
              <a:t>j1</a:t>
            </a:r>
            <a:r>
              <a:rPr lang="en-US" altLang="zh-CN" sz="2800" i="1" baseline="-25000"/>
              <a:t>...</a:t>
            </a:r>
            <a:r>
              <a:rPr lang="en-US" altLang="zh-CN" sz="2800" baseline="-25000"/>
              <a:t>j</a:t>
            </a:r>
            <a:r>
              <a:rPr lang="en-US" altLang="zh-CN" sz="2800" i="1" baseline="-25000"/>
              <a:t>i...</a:t>
            </a:r>
            <a:r>
              <a:rPr lang="en-US" altLang="zh-CN" sz="2800" baseline="-25000"/>
              <a:t>j</a:t>
            </a:r>
            <a:r>
              <a:rPr lang="en-US" altLang="zh-CN" sz="2800" i="1" baseline="-25000"/>
              <a:t>n</a:t>
            </a:r>
            <a:r>
              <a:rPr lang="en-US" altLang="zh-CN" sz="2800"/>
              <a:t> , </a:t>
            </a:r>
            <a:r>
              <a:rPr lang="en-US" altLang="zh-CN" sz="2800" i="1"/>
              <a:t>a</a:t>
            </a:r>
            <a:r>
              <a:rPr lang="en-US" altLang="zh-CN" sz="2800" baseline="-25000"/>
              <a:t>j1</a:t>
            </a:r>
            <a:r>
              <a:rPr lang="en-US" altLang="zh-CN" sz="2800" i="1" baseline="-25000"/>
              <a:t>...</a:t>
            </a:r>
            <a:r>
              <a:rPr lang="en-US" altLang="zh-CN" sz="2800" baseline="-25000"/>
              <a:t>j</a:t>
            </a:r>
            <a:r>
              <a:rPr lang="en-US" altLang="zh-CN" sz="2800" i="1" baseline="-25000"/>
              <a:t>i+</a:t>
            </a:r>
            <a:r>
              <a:rPr lang="en-US" altLang="zh-CN" sz="2800" baseline="-25000"/>
              <a:t>1</a:t>
            </a:r>
            <a:r>
              <a:rPr lang="en-US" altLang="zh-CN" sz="2800" i="1" baseline="-25000"/>
              <a:t>...</a:t>
            </a:r>
            <a:r>
              <a:rPr lang="en-US" altLang="zh-CN" sz="2800" baseline="-25000"/>
              <a:t>j</a:t>
            </a:r>
            <a:r>
              <a:rPr lang="en-US" altLang="zh-CN" sz="2800" i="1" baseline="-25000"/>
              <a:t>n</a:t>
            </a:r>
            <a:r>
              <a:rPr lang="en-US" altLang="zh-CN" sz="2800"/>
              <a:t> </a:t>
            </a:r>
            <a:r>
              <a:rPr lang="en-US" altLang="zh-CN" sz="2400"/>
              <a:t>&gt; </a:t>
            </a:r>
          </a:p>
          <a:p>
            <a:pPr>
              <a:lnSpc>
                <a:spcPct val="170000"/>
              </a:lnSpc>
            </a:pPr>
            <a:r>
              <a:rPr lang="en-US" altLang="zh-CN" sz="2400"/>
              <a:t>                             |0≤</a:t>
            </a:r>
            <a:r>
              <a:rPr lang="en-US" altLang="zh-CN" sz="2400" i="1"/>
              <a:t>j</a:t>
            </a:r>
            <a:r>
              <a:rPr lang="en-US" altLang="zh-CN" sz="2400" i="1" baseline="-25000"/>
              <a:t>k</a:t>
            </a:r>
            <a:r>
              <a:rPr lang="en-US" altLang="zh-CN" sz="2400"/>
              <a:t>≤</a:t>
            </a:r>
            <a:r>
              <a:rPr lang="en-US" altLang="zh-CN" sz="2400" i="1"/>
              <a:t>b</a:t>
            </a:r>
            <a:r>
              <a:rPr lang="en-US" altLang="zh-CN" sz="2400" i="1" baseline="-25000"/>
              <a:t>k</a:t>
            </a:r>
            <a:r>
              <a:rPr lang="en-US" altLang="zh-CN" sz="2400"/>
              <a:t> -1, 1≤</a:t>
            </a:r>
            <a:r>
              <a:rPr lang="en-US" altLang="zh-CN" sz="2400" i="1"/>
              <a:t>k</a:t>
            </a:r>
            <a:r>
              <a:rPr lang="en-US" altLang="zh-CN" sz="2400"/>
              <a:t>≤</a:t>
            </a:r>
            <a:r>
              <a:rPr lang="en-US" altLang="zh-CN" sz="2400" i="1"/>
              <a:t>n </a:t>
            </a:r>
            <a:r>
              <a:rPr lang="zh-CN" altLang="en-US" sz="2400"/>
              <a:t>且 </a:t>
            </a:r>
            <a:r>
              <a:rPr lang="en-US" altLang="zh-CN" sz="2400" i="1"/>
              <a:t>k</a:t>
            </a:r>
            <a:r>
              <a:rPr lang="en-US" altLang="zh-CN" sz="2400"/>
              <a:t>≠</a:t>
            </a:r>
            <a:r>
              <a:rPr lang="en-US" altLang="zh-CN" sz="2400" i="1"/>
              <a:t>i</a:t>
            </a:r>
            <a:r>
              <a:rPr lang="en-US" altLang="zh-CN" sz="2400"/>
              <a:t>, 0≤</a:t>
            </a:r>
            <a:r>
              <a:rPr lang="en-US" altLang="zh-CN" sz="2400" i="1"/>
              <a:t>j</a:t>
            </a:r>
            <a:r>
              <a:rPr lang="en-US" altLang="zh-CN" sz="2400" i="1" baseline="-25000"/>
              <a:t>i</a:t>
            </a:r>
            <a:r>
              <a:rPr lang="en-US" altLang="zh-CN" sz="2400"/>
              <a:t>≤</a:t>
            </a:r>
            <a:r>
              <a:rPr lang="en-US" altLang="zh-CN" sz="2400" i="1"/>
              <a:t>b</a:t>
            </a:r>
            <a:r>
              <a:rPr lang="en-US" altLang="zh-CN" sz="2400" i="1" baseline="-25000"/>
              <a:t>i</a:t>
            </a:r>
            <a:r>
              <a:rPr lang="en-US" altLang="zh-CN" sz="2400"/>
              <a:t> - 2,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                              </a:t>
            </a:r>
            <a:r>
              <a:rPr lang="en-US" altLang="zh-CN" sz="2400" i="1"/>
              <a:t>a</a:t>
            </a:r>
            <a:r>
              <a:rPr lang="en-US" altLang="zh-CN" sz="2400" baseline="-25000"/>
              <a:t>j1…j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…j</a:t>
            </a:r>
            <a:r>
              <a:rPr lang="en-US" altLang="zh-CN" sz="2400" i="1" baseline="-25000"/>
              <a:t>n</a:t>
            </a:r>
            <a:r>
              <a:rPr lang="en-US" altLang="zh-CN" sz="2400" baseline="-25000"/>
              <a:t> </a:t>
            </a:r>
            <a:r>
              <a:rPr lang="en-US" altLang="zh-CN" sz="2400"/>
              <a:t>, </a:t>
            </a:r>
            <a:r>
              <a:rPr lang="en-US" altLang="zh-CN" sz="2400" i="1"/>
              <a:t>a</a:t>
            </a:r>
            <a:r>
              <a:rPr lang="en-US" altLang="zh-CN" sz="2400" baseline="-25000"/>
              <a:t>j1…j</a:t>
            </a:r>
            <a:r>
              <a:rPr lang="en-US" altLang="zh-CN" sz="2400" i="1" baseline="-25000"/>
              <a:t>i</a:t>
            </a:r>
            <a:r>
              <a:rPr lang="en-US" altLang="zh-CN" sz="2400" baseline="-25000"/>
              <a:t>+1…j</a:t>
            </a:r>
            <a:r>
              <a:rPr lang="en-US" altLang="zh-CN" sz="2400" i="1" baseline="-25000"/>
              <a:t>n</a:t>
            </a:r>
            <a:r>
              <a:rPr lang="en-US" altLang="zh-CN" sz="2400"/>
              <a:t>∈D, i = 2, ..., </a:t>
            </a:r>
            <a:r>
              <a:rPr lang="en-US" altLang="zh-CN" sz="2400" i="1"/>
              <a:t>n</a:t>
            </a:r>
            <a:r>
              <a:rPr lang="en-US" altLang="zh-CN" sz="2400"/>
              <a:t> }</a:t>
            </a:r>
          </a:p>
        </p:txBody>
      </p:sp>
    </p:spTree>
  </p:cSld>
  <p:clrMapOvr>
    <a:masterClrMapping/>
  </p:clrMapOvr>
  <p:transition spd="slow">
    <p:check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9" name="Text Box 97"/>
          <p:cNvSpPr txBox="1">
            <a:spLocks noChangeArrowheads="1"/>
          </p:cNvSpPr>
          <p:nvPr/>
        </p:nvSpPr>
        <p:spPr bwMode="auto">
          <a:xfrm>
            <a:off x="2324101" y="1220788"/>
            <a:ext cx="7948613" cy="43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95000"/>
              </a:lnSpc>
            </a:pPr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数据对象</a:t>
            </a:r>
            <a:r>
              <a:rPr lang="en-US" altLang="zh-CN" sz="2400">
                <a:latin typeface="华文中宋" pitchFamily="2" charset="-122"/>
                <a:ea typeface="华文中宋" pitchFamily="2" charset="-122"/>
              </a:rPr>
              <a:t>:</a:t>
            </a:r>
          </a:p>
          <a:p>
            <a:pPr>
              <a:lnSpc>
                <a:spcPct val="195000"/>
              </a:lnSpc>
            </a:pPr>
            <a:r>
              <a:rPr lang="en-US" altLang="zh-CN" sz="2400">
                <a:latin typeface="楷体_GB2312" pitchFamily="49" charset="-122"/>
              </a:rPr>
              <a:t>   </a:t>
            </a:r>
            <a:r>
              <a:rPr lang="en-US" altLang="zh-CN" sz="2400"/>
              <a:t>D = {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ij</a:t>
            </a:r>
            <a:r>
              <a:rPr lang="en-US" altLang="zh-CN" sz="2400"/>
              <a:t> | 0 </a:t>
            </a:r>
            <a:r>
              <a:rPr lang="en-US" altLang="zh-CN" sz="2400">
                <a:ea typeface="宋体" pitchFamily="2" charset="-122"/>
              </a:rPr>
              <a:t>≤ </a:t>
            </a:r>
            <a:r>
              <a:rPr lang="en-US" altLang="zh-CN" sz="2400" i="1">
                <a:ea typeface="宋体" pitchFamily="2" charset="-122"/>
              </a:rPr>
              <a:t>i </a:t>
            </a:r>
            <a:r>
              <a:rPr lang="en-US" altLang="zh-CN" sz="2400">
                <a:ea typeface="宋体" pitchFamily="2" charset="-122"/>
              </a:rPr>
              <a:t>≤ </a:t>
            </a:r>
            <a:r>
              <a:rPr lang="en-US" altLang="zh-CN" sz="2400" i="1">
                <a:ea typeface="宋体" pitchFamily="2" charset="-122"/>
              </a:rPr>
              <a:t>b</a:t>
            </a:r>
            <a:r>
              <a:rPr lang="en-US" altLang="zh-CN" sz="2400" baseline="-25000">
                <a:ea typeface="宋体" pitchFamily="2" charset="-122"/>
              </a:rPr>
              <a:t>1 </a:t>
            </a:r>
            <a:r>
              <a:rPr lang="en-US" altLang="zh-CN" sz="2400">
                <a:ea typeface="宋体" pitchFamily="2" charset="-122"/>
              </a:rPr>
              <a:t>- 1,  0 ≤ </a:t>
            </a:r>
            <a:r>
              <a:rPr lang="en-US" altLang="zh-CN" sz="2400" i="1">
                <a:ea typeface="宋体" pitchFamily="2" charset="-122"/>
              </a:rPr>
              <a:t>j </a:t>
            </a:r>
            <a:r>
              <a:rPr lang="en-US" altLang="zh-CN" sz="2400">
                <a:ea typeface="宋体" pitchFamily="2" charset="-122"/>
              </a:rPr>
              <a:t>≤ </a:t>
            </a:r>
            <a:r>
              <a:rPr lang="en-US" altLang="zh-CN" sz="2400" i="1">
                <a:ea typeface="宋体" pitchFamily="2" charset="-122"/>
              </a:rPr>
              <a:t>b</a:t>
            </a:r>
            <a:r>
              <a:rPr lang="en-US" altLang="zh-CN" sz="2400" baseline="-25000">
                <a:ea typeface="宋体" pitchFamily="2" charset="-122"/>
              </a:rPr>
              <a:t>2 </a:t>
            </a:r>
            <a:r>
              <a:rPr lang="en-US" altLang="zh-CN" sz="2400">
                <a:ea typeface="宋体" pitchFamily="2" charset="-122"/>
              </a:rPr>
              <a:t>- 1} </a:t>
            </a:r>
          </a:p>
          <a:p>
            <a:pPr>
              <a:lnSpc>
                <a:spcPct val="195000"/>
              </a:lnSpc>
            </a:pPr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数据关系</a:t>
            </a:r>
            <a:r>
              <a:rPr lang="en-US" altLang="zh-CN" sz="2400">
                <a:latin typeface="华文中宋" pitchFamily="2" charset="-122"/>
                <a:ea typeface="华文中宋" pitchFamily="2" charset="-122"/>
              </a:rPr>
              <a:t>:</a:t>
            </a:r>
          </a:p>
          <a:p>
            <a:pPr>
              <a:lnSpc>
                <a:spcPct val="195000"/>
              </a:lnSpc>
            </a:pPr>
            <a:r>
              <a:rPr lang="en-US" altLang="zh-CN" sz="2400">
                <a:latin typeface="楷体_GB2312" pitchFamily="49" charset="-122"/>
              </a:rPr>
              <a:t>  </a:t>
            </a:r>
            <a:r>
              <a:rPr lang="en-US" altLang="zh-CN" sz="2400"/>
              <a:t>R = { ROW, COL }</a:t>
            </a:r>
          </a:p>
          <a:p>
            <a:pPr>
              <a:lnSpc>
                <a:spcPct val="195000"/>
              </a:lnSpc>
            </a:pPr>
            <a:r>
              <a:rPr lang="en-US" altLang="zh-CN" sz="2400"/>
              <a:t>    ROW = {&lt; 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i, j</a:t>
            </a:r>
            <a:r>
              <a:rPr lang="en-US" altLang="zh-CN" sz="2400" baseline="-25000"/>
              <a:t> </a:t>
            </a:r>
            <a:r>
              <a:rPr lang="en-US" altLang="zh-CN" sz="2400"/>
              <a:t>, 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i+</a:t>
            </a:r>
            <a:r>
              <a:rPr lang="en-US" altLang="zh-CN" sz="2400" baseline="-25000"/>
              <a:t>1</a:t>
            </a:r>
            <a:r>
              <a:rPr lang="en-US" altLang="zh-CN" sz="2400" i="1" baseline="-25000"/>
              <a:t>, j </a:t>
            </a:r>
            <a:r>
              <a:rPr lang="en-US" altLang="zh-CN" sz="2400"/>
              <a:t>&gt;| 0 </a:t>
            </a:r>
            <a:r>
              <a:rPr lang="en-US" altLang="zh-CN" sz="2400">
                <a:ea typeface="宋体" pitchFamily="2" charset="-122"/>
              </a:rPr>
              <a:t>≤ </a:t>
            </a:r>
            <a:r>
              <a:rPr lang="en-US" altLang="zh-CN" sz="2400" i="1">
                <a:ea typeface="宋体" pitchFamily="2" charset="-122"/>
              </a:rPr>
              <a:t>i</a:t>
            </a:r>
            <a:r>
              <a:rPr lang="en-US" altLang="zh-CN" sz="2400">
                <a:ea typeface="宋体" pitchFamily="2" charset="-122"/>
              </a:rPr>
              <a:t> ≤ </a:t>
            </a:r>
            <a:r>
              <a:rPr lang="en-US" altLang="zh-CN" sz="2400" i="1">
                <a:ea typeface="宋体" pitchFamily="2" charset="-122"/>
              </a:rPr>
              <a:t>b</a:t>
            </a:r>
            <a:r>
              <a:rPr lang="en-US" altLang="zh-CN" sz="2400" baseline="-25000">
                <a:ea typeface="宋体" pitchFamily="2" charset="-122"/>
              </a:rPr>
              <a:t>1 </a:t>
            </a:r>
            <a:r>
              <a:rPr lang="en-US" altLang="zh-CN" sz="2400">
                <a:ea typeface="宋体" pitchFamily="2" charset="-122"/>
              </a:rPr>
              <a:t>- 2,  0 ≤</a:t>
            </a:r>
            <a:r>
              <a:rPr lang="en-US" altLang="zh-CN" sz="2400" i="1">
                <a:ea typeface="宋体" pitchFamily="2" charset="-122"/>
              </a:rPr>
              <a:t> j</a:t>
            </a:r>
            <a:r>
              <a:rPr lang="en-US" altLang="zh-CN" sz="2400">
                <a:ea typeface="宋体" pitchFamily="2" charset="-122"/>
              </a:rPr>
              <a:t> ≤ </a:t>
            </a:r>
            <a:r>
              <a:rPr lang="en-US" altLang="zh-CN" sz="2400" i="1">
                <a:ea typeface="宋体" pitchFamily="2" charset="-122"/>
              </a:rPr>
              <a:t>b</a:t>
            </a:r>
            <a:r>
              <a:rPr lang="en-US" altLang="zh-CN" sz="2400" baseline="-25000">
                <a:ea typeface="宋体" pitchFamily="2" charset="-122"/>
              </a:rPr>
              <a:t>2 </a:t>
            </a:r>
            <a:r>
              <a:rPr lang="en-US" altLang="zh-CN" sz="2400">
                <a:ea typeface="宋体" pitchFamily="2" charset="-122"/>
              </a:rPr>
              <a:t>- 1}</a:t>
            </a:r>
          </a:p>
          <a:p>
            <a:pPr>
              <a:lnSpc>
                <a:spcPct val="195000"/>
              </a:lnSpc>
            </a:pPr>
            <a:r>
              <a:rPr lang="en-US" altLang="zh-CN" sz="2400">
                <a:ea typeface="宋体" pitchFamily="2" charset="-122"/>
              </a:rPr>
              <a:t>    COL  = {&lt; </a:t>
            </a:r>
            <a:r>
              <a:rPr lang="en-US" altLang="zh-CN" sz="2400" i="1">
                <a:ea typeface="宋体" pitchFamily="2" charset="-122"/>
              </a:rPr>
              <a:t>a</a:t>
            </a:r>
            <a:r>
              <a:rPr lang="en-US" altLang="zh-CN" sz="2400" i="1" baseline="-25000">
                <a:ea typeface="宋体" pitchFamily="2" charset="-122"/>
              </a:rPr>
              <a:t>i, j</a:t>
            </a:r>
            <a:r>
              <a:rPr lang="en-US" altLang="zh-CN" sz="2400" baseline="-25000">
                <a:ea typeface="宋体" pitchFamily="2" charset="-122"/>
              </a:rPr>
              <a:t> </a:t>
            </a:r>
            <a:r>
              <a:rPr lang="en-US" altLang="zh-CN" sz="2400">
                <a:ea typeface="宋体" pitchFamily="2" charset="-122"/>
              </a:rPr>
              <a:t>, </a:t>
            </a:r>
            <a:r>
              <a:rPr lang="en-US" altLang="zh-CN" sz="2400" i="1">
                <a:ea typeface="宋体" pitchFamily="2" charset="-122"/>
              </a:rPr>
              <a:t>a</a:t>
            </a:r>
            <a:r>
              <a:rPr lang="en-US" altLang="zh-CN" sz="2400" i="1" baseline="-25000">
                <a:ea typeface="宋体" pitchFamily="2" charset="-122"/>
              </a:rPr>
              <a:t>i,</a:t>
            </a:r>
            <a:r>
              <a:rPr lang="en-US" altLang="zh-CN" sz="2400" baseline="-25000">
                <a:ea typeface="宋体" pitchFamily="2" charset="-122"/>
              </a:rPr>
              <a:t> </a:t>
            </a:r>
            <a:r>
              <a:rPr lang="en-US" altLang="zh-CN" sz="2400" i="1" baseline="-25000">
                <a:ea typeface="宋体" pitchFamily="2" charset="-122"/>
              </a:rPr>
              <a:t>j</a:t>
            </a:r>
            <a:r>
              <a:rPr lang="en-US" altLang="zh-CN" sz="2400" baseline="-25000">
                <a:ea typeface="宋体" pitchFamily="2" charset="-122"/>
              </a:rPr>
              <a:t>+1 </a:t>
            </a:r>
            <a:r>
              <a:rPr lang="en-US" altLang="zh-CN" sz="2400">
                <a:ea typeface="宋体" pitchFamily="2" charset="-122"/>
              </a:rPr>
              <a:t>&gt;| 0 ≤ </a:t>
            </a:r>
            <a:r>
              <a:rPr lang="en-US" altLang="zh-CN" sz="2400" i="1">
                <a:ea typeface="宋体" pitchFamily="2" charset="-122"/>
              </a:rPr>
              <a:t>i </a:t>
            </a:r>
            <a:r>
              <a:rPr lang="en-US" altLang="zh-CN" sz="2400">
                <a:ea typeface="宋体" pitchFamily="2" charset="-122"/>
              </a:rPr>
              <a:t>≤ </a:t>
            </a:r>
            <a:r>
              <a:rPr lang="en-US" altLang="zh-CN" sz="2400" i="1">
                <a:ea typeface="宋体" pitchFamily="2" charset="-122"/>
              </a:rPr>
              <a:t>b</a:t>
            </a:r>
            <a:r>
              <a:rPr lang="en-US" altLang="zh-CN" sz="2400" baseline="-25000">
                <a:ea typeface="宋体" pitchFamily="2" charset="-122"/>
              </a:rPr>
              <a:t>1 </a:t>
            </a:r>
            <a:r>
              <a:rPr lang="en-US" altLang="zh-CN" sz="2400">
                <a:ea typeface="宋体" pitchFamily="2" charset="-122"/>
              </a:rPr>
              <a:t>- 1,  0 ≤ </a:t>
            </a:r>
            <a:r>
              <a:rPr lang="en-US" altLang="zh-CN" sz="2400" i="1">
                <a:ea typeface="宋体" pitchFamily="2" charset="-122"/>
              </a:rPr>
              <a:t>j </a:t>
            </a:r>
            <a:r>
              <a:rPr lang="en-US" altLang="zh-CN" sz="2400">
                <a:ea typeface="宋体" pitchFamily="2" charset="-122"/>
              </a:rPr>
              <a:t>≤ </a:t>
            </a:r>
            <a:r>
              <a:rPr lang="en-US" altLang="zh-CN" sz="2400" i="1">
                <a:ea typeface="宋体" pitchFamily="2" charset="-122"/>
              </a:rPr>
              <a:t>b</a:t>
            </a:r>
            <a:r>
              <a:rPr lang="en-US" altLang="zh-CN" sz="2400" baseline="-25000">
                <a:ea typeface="宋体" pitchFamily="2" charset="-122"/>
              </a:rPr>
              <a:t>2 </a:t>
            </a:r>
            <a:r>
              <a:rPr lang="en-US" altLang="zh-CN" sz="2400">
                <a:ea typeface="宋体" pitchFamily="2" charset="-122"/>
              </a:rPr>
              <a:t>- 2}</a:t>
            </a:r>
          </a:p>
        </p:txBody>
      </p:sp>
      <p:sp>
        <p:nvSpPr>
          <p:cNvPr id="28770" name="Text Box 98"/>
          <p:cNvSpPr txBox="1">
            <a:spLocks noChangeArrowheads="1"/>
          </p:cNvSpPr>
          <p:nvPr/>
        </p:nvSpPr>
        <p:spPr bwMode="auto">
          <a:xfrm>
            <a:off x="2301875" y="784225"/>
            <a:ext cx="7727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ea typeface="华文中宋" pitchFamily="2" charset="-122"/>
              </a:rPr>
              <a:t>二维数组的抽象数据类型的数据对象和数据关系的定义   </a:t>
            </a:r>
          </a:p>
        </p:txBody>
      </p:sp>
    </p:spTree>
  </p:cSld>
  <p:clrMapOvr>
    <a:masterClrMapping/>
  </p:clrMapOvr>
  <p:transition spd="slow">
    <p:checke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3" name="Text Box 27"/>
          <p:cNvSpPr txBox="1">
            <a:spLocks noChangeArrowheads="1"/>
          </p:cNvSpPr>
          <p:nvPr/>
        </p:nvSpPr>
        <p:spPr bwMode="auto">
          <a:xfrm>
            <a:off x="2439988" y="404814"/>
            <a:ext cx="7543800" cy="611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>
                <a:ea typeface="华文中宋" pitchFamily="2" charset="-122"/>
                <a:cs typeface=""/>
              </a:rPr>
              <a:t>基本操作：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cs typeface=""/>
              </a:rPr>
              <a:t>InitArray(&amp;A, </a:t>
            </a:r>
            <a:r>
              <a:rPr lang="en-US" altLang="zh-CN" sz="2400" i="1">
                <a:cs typeface=""/>
              </a:rPr>
              <a:t>n</a:t>
            </a:r>
            <a:r>
              <a:rPr lang="en-US" altLang="zh-CN" sz="2400">
                <a:cs typeface=""/>
              </a:rPr>
              <a:t>, bound</a:t>
            </a:r>
            <a:r>
              <a:rPr lang="en-US" altLang="zh-CN" sz="2400" baseline="-25000">
                <a:cs typeface=""/>
              </a:rPr>
              <a:t>1</a:t>
            </a:r>
            <a:r>
              <a:rPr lang="en-US" altLang="zh-CN" sz="2400">
                <a:cs typeface=""/>
              </a:rPr>
              <a:t>, ..., bound</a:t>
            </a:r>
            <a:r>
              <a:rPr lang="en-US" altLang="zh-CN" sz="2400" i="1" baseline="-25000">
                <a:cs typeface=""/>
              </a:rPr>
              <a:t>n</a:t>
            </a:r>
            <a:r>
              <a:rPr lang="en-US" altLang="zh-CN" sz="2400">
                <a:cs typeface=""/>
              </a:rPr>
              <a:t>)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solidFill>
                  <a:srgbClr val="0000FF"/>
                </a:solidFill>
                <a:ea typeface="华文中宋" pitchFamily="2" charset="-122"/>
                <a:cs typeface=""/>
              </a:rPr>
              <a:t>   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  <a:cs typeface=""/>
              </a:rPr>
              <a:t>操作结果：</a:t>
            </a:r>
            <a:r>
              <a:rPr lang="zh-CN" altLang="en-US" sz="2400">
                <a:cs typeface=""/>
              </a:rPr>
              <a:t>若维数 </a:t>
            </a:r>
            <a:r>
              <a:rPr lang="en-US" altLang="zh-CN" sz="2400" i="1">
                <a:cs typeface=""/>
              </a:rPr>
              <a:t>n</a:t>
            </a:r>
            <a:r>
              <a:rPr lang="en-US" altLang="zh-CN" sz="2400">
                <a:cs typeface=""/>
              </a:rPr>
              <a:t> </a:t>
            </a:r>
            <a:r>
              <a:rPr lang="zh-CN" altLang="en-US" sz="2400">
                <a:cs typeface=""/>
              </a:rPr>
              <a:t>和各维长度合法，则构造相应的 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cs typeface=""/>
              </a:rPr>
              <a:t>                       数组 </a:t>
            </a:r>
            <a:r>
              <a:rPr lang="en-US" altLang="zh-CN" sz="2400">
                <a:cs typeface=""/>
              </a:rPr>
              <a:t>A</a:t>
            </a:r>
            <a:r>
              <a:rPr lang="zh-CN" altLang="en-US" sz="2400">
                <a:cs typeface=""/>
              </a:rPr>
              <a:t>，并返回 </a:t>
            </a:r>
            <a:r>
              <a:rPr lang="en-US" altLang="zh-CN" sz="2400">
                <a:cs typeface=""/>
              </a:rPr>
              <a:t>OK</a:t>
            </a:r>
            <a:r>
              <a:rPr lang="zh-CN" altLang="en-US" sz="2400">
                <a:cs typeface=""/>
              </a:rPr>
              <a:t>。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cs typeface=""/>
              </a:rPr>
              <a:t>DestroyArray(&amp;A)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solidFill>
                  <a:srgbClr val="0000FF"/>
                </a:solidFill>
                <a:ea typeface="华文中宋" pitchFamily="2" charset="-122"/>
                <a:cs typeface=""/>
              </a:rPr>
              <a:t>   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  <a:cs typeface=""/>
              </a:rPr>
              <a:t>操作结果：</a:t>
            </a:r>
            <a:r>
              <a:rPr lang="zh-CN" altLang="en-US" sz="2400">
                <a:cs typeface=""/>
              </a:rPr>
              <a:t>销毁数组 </a:t>
            </a:r>
            <a:r>
              <a:rPr lang="en-US" altLang="zh-CN" sz="2400">
                <a:cs typeface=""/>
              </a:rPr>
              <a:t>A</a:t>
            </a:r>
            <a:r>
              <a:rPr lang="zh-CN" altLang="en-US" sz="2400">
                <a:cs typeface=""/>
              </a:rPr>
              <a:t>。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cs typeface=""/>
              </a:rPr>
              <a:t>Value(A, &amp;</a:t>
            </a:r>
            <a:r>
              <a:rPr lang="en-US" altLang="zh-CN" sz="2400" i="1">
                <a:cs typeface=""/>
              </a:rPr>
              <a:t>e</a:t>
            </a:r>
            <a:r>
              <a:rPr lang="en-US" altLang="zh-CN" sz="2400">
                <a:cs typeface=""/>
              </a:rPr>
              <a:t>, index</a:t>
            </a:r>
            <a:r>
              <a:rPr lang="en-US" altLang="zh-CN" sz="2400" baseline="-25000">
                <a:cs typeface=""/>
              </a:rPr>
              <a:t>1</a:t>
            </a:r>
            <a:r>
              <a:rPr lang="en-US" altLang="zh-CN" sz="2400">
                <a:cs typeface=""/>
              </a:rPr>
              <a:t>, ..., index</a:t>
            </a:r>
            <a:r>
              <a:rPr lang="en-US" altLang="zh-CN" sz="2400" i="1" baseline="-25000">
                <a:cs typeface=""/>
              </a:rPr>
              <a:t>n</a:t>
            </a:r>
            <a:r>
              <a:rPr lang="en-US" altLang="zh-CN" sz="2400">
                <a:cs typeface=""/>
              </a:rPr>
              <a:t>)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solidFill>
                  <a:srgbClr val="0000FF"/>
                </a:solidFill>
                <a:ea typeface="华文中宋" pitchFamily="2" charset="-122"/>
                <a:cs typeface=""/>
              </a:rPr>
              <a:t>   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  <a:cs typeface=""/>
              </a:rPr>
              <a:t>初始条件：</a:t>
            </a:r>
            <a:r>
              <a:rPr lang="en-US" altLang="zh-CN" sz="2400">
                <a:cs typeface=""/>
              </a:rPr>
              <a:t>A </a:t>
            </a:r>
            <a:r>
              <a:rPr lang="zh-CN" altLang="en-US" sz="2400">
                <a:cs typeface=""/>
              </a:rPr>
              <a:t>是 </a:t>
            </a:r>
            <a:r>
              <a:rPr lang="en-US" altLang="zh-CN" sz="2400" i="1">
                <a:cs typeface=""/>
              </a:rPr>
              <a:t>n</a:t>
            </a:r>
            <a:r>
              <a:rPr lang="en-US" altLang="zh-CN" sz="2400">
                <a:cs typeface=""/>
              </a:rPr>
              <a:t> </a:t>
            </a:r>
            <a:r>
              <a:rPr lang="zh-CN" altLang="en-US" sz="2400">
                <a:cs typeface=""/>
              </a:rPr>
              <a:t>维数组，</a:t>
            </a:r>
            <a:r>
              <a:rPr lang="en-US" altLang="zh-CN" sz="2400" i="1">
                <a:cs typeface=""/>
              </a:rPr>
              <a:t>e</a:t>
            </a:r>
            <a:r>
              <a:rPr lang="en-US" altLang="zh-CN" sz="2400">
                <a:cs typeface=""/>
              </a:rPr>
              <a:t> </a:t>
            </a:r>
            <a:r>
              <a:rPr lang="zh-CN" altLang="en-US" sz="2400">
                <a:cs typeface=""/>
              </a:rPr>
              <a:t>为元素变量。 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  <a:cs typeface=""/>
              </a:rPr>
              <a:t>   操作结果：</a:t>
            </a:r>
            <a:r>
              <a:rPr lang="zh-CN" altLang="en-US" sz="2400">
                <a:cs typeface=""/>
              </a:rPr>
              <a:t>若各下标不超界，则 </a:t>
            </a:r>
            <a:r>
              <a:rPr lang="en-US" altLang="zh-CN" sz="2400" i="1">
                <a:cs typeface=""/>
              </a:rPr>
              <a:t>e</a:t>
            </a:r>
            <a:r>
              <a:rPr lang="en-US" altLang="zh-CN" sz="2400">
                <a:cs typeface=""/>
              </a:rPr>
              <a:t> </a:t>
            </a:r>
            <a:r>
              <a:rPr lang="zh-CN" altLang="en-US" sz="2400">
                <a:cs typeface=""/>
              </a:rPr>
              <a:t>赋值为所指定的 </a:t>
            </a:r>
            <a:r>
              <a:rPr lang="en-US" altLang="zh-CN" sz="2400">
                <a:cs typeface=""/>
              </a:rPr>
              <a:t>A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cs typeface=""/>
              </a:rPr>
              <a:t>                       </a:t>
            </a:r>
            <a:r>
              <a:rPr lang="zh-CN" altLang="en-US" sz="2400">
                <a:cs typeface=""/>
              </a:rPr>
              <a:t>的元素值，并返回 </a:t>
            </a:r>
            <a:r>
              <a:rPr lang="en-US" altLang="zh-CN" sz="2400">
                <a:cs typeface=""/>
              </a:rPr>
              <a:t>OK</a:t>
            </a:r>
            <a:r>
              <a:rPr lang="zh-CN" altLang="en-US" sz="2400">
                <a:cs typeface=""/>
              </a:rPr>
              <a:t>。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cs typeface=""/>
              </a:rPr>
              <a:t>Assign(&amp;A, </a:t>
            </a:r>
            <a:r>
              <a:rPr lang="en-US" altLang="zh-CN" sz="2400" i="1">
                <a:cs typeface=""/>
              </a:rPr>
              <a:t>e</a:t>
            </a:r>
            <a:r>
              <a:rPr lang="en-US" altLang="zh-CN" sz="2400">
                <a:cs typeface=""/>
              </a:rPr>
              <a:t>, index</a:t>
            </a:r>
            <a:r>
              <a:rPr lang="en-US" altLang="zh-CN" sz="2400" baseline="-25000">
                <a:cs typeface=""/>
              </a:rPr>
              <a:t>1</a:t>
            </a:r>
            <a:r>
              <a:rPr lang="en-US" altLang="zh-CN" sz="2400">
                <a:cs typeface=""/>
              </a:rPr>
              <a:t>, ..., index</a:t>
            </a:r>
            <a:r>
              <a:rPr lang="en-US" altLang="zh-CN" sz="2400" i="1" baseline="-25000">
                <a:cs typeface=""/>
              </a:rPr>
              <a:t>n</a:t>
            </a:r>
            <a:r>
              <a:rPr lang="en-US" altLang="zh-CN" sz="2400">
                <a:cs typeface=""/>
              </a:rPr>
              <a:t>)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solidFill>
                  <a:srgbClr val="0000FF"/>
                </a:solidFill>
                <a:ea typeface="华文中宋" pitchFamily="2" charset="-122"/>
                <a:cs typeface=""/>
              </a:rPr>
              <a:t>   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  <a:cs typeface=""/>
              </a:rPr>
              <a:t>初始条件：</a:t>
            </a:r>
            <a:r>
              <a:rPr lang="en-US" altLang="zh-CN" sz="2400">
                <a:cs typeface=""/>
              </a:rPr>
              <a:t>A </a:t>
            </a:r>
            <a:r>
              <a:rPr lang="zh-CN" altLang="en-US" sz="2400">
                <a:cs typeface=""/>
              </a:rPr>
              <a:t>是 </a:t>
            </a:r>
            <a:r>
              <a:rPr lang="en-US" altLang="zh-CN" sz="2400" i="1">
                <a:cs typeface=""/>
              </a:rPr>
              <a:t>n</a:t>
            </a:r>
            <a:r>
              <a:rPr lang="en-US" altLang="zh-CN" sz="2400">
                <a:cs typeface=""/>
              </a:rPr>
              <a:t> </a:t>
            </a:r>
            <a:r>
              <a:rPr lang="zh-CN" altLang="en-US" sz="2400">
                <a:cs typeface=""/>
              </a:rPr>
              <a:t>维数组，</a:t>
            </a:r>
            <a:r>
              <a:rPr lang="en-US" altLang="zh-CN" sz="2400" i="1">
                <a:cs typeface=""/>
              </a:rPr>
              <a:t>e</a:t>
            </a:r>
            <a:r>
              <a:rPr lang="en-US" altLang="zh-CN" sz="2400">
                <a:cs typeface=""/>
              </a:rPr>
              <a:t> </a:t>
            </a:r>
            <a:r>
              <a:rPr lang="zh-CN" altLang="en-US" sz="2400">
                <a:cs typeface=""/>
              </a:rPr>
              <a:t>为元素变量。 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  <a:cs typeface=""/>
              </a:rPr>
              <a:t>   操作结果：</a:t>
            </a:r>
            <a:r>
              <a:rPr lang="zh-CN" altLang="en-US" sz="2400">
                <a:cs typeface=""/>
              </a:rPr>
              <a:t>若下标不超界，则将 </a:t>
            </a:r>
            <a:r>
              <a:rPr lang="en-US" altLang="zh-CN" sz="2400" i="1">
                <a:cs typeface=""/>
              </a:rPr>
              <a:t>e</a:t>
            </a:r>
            <a:r>
              <a:rPr lang="en-US" altLang="zh-CN" sz="2400">
                <a:cs typeface=""/>
              </a:rPr>
              <a:t> </a:t>
            </a:r>
            <a:r>
              <a:rPr lang="zh-CN" altLang="en-US" sz="2400">
                <a:cs typeface=""/>
              </a:rPr>
              <a:t>的值赋给所指定的 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cs typeface=""/>
              </a:rPr>
              <a:t>                       </a:t>
            </a:r>
            <a:r>
              <a:rPr lang="en-US" altLang="zh-CN" sz="2400">
                <a:cs typeface=""/>
              </a:rPr>
              <a:t>A </a:t>
            </a:r>
            <a:r>
              <a:rPr lang="zh-CN" altLang="en-US" sz="2400">
                <a:cs typeface=""/>
              </a:rPr>
              <a:t>的元素，并返回 </a:t>
            </a:r>
            <a:r>
              <a:rPr lang="en-US" altLang="zh-CN" sz="2400">
                <a:cs typeface=""/>
              </a:rPr>
              <a:t>OK</a:t>
            </a:r>
            <a:r>
              <a:rPr lang="zh-CN" altLang="en-US" sz="2400">
                <a:cs typeface=""/>
              </a:rPr>
              <a:t>。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cs typeface=""/>
              </a:rPr>
              <a:t>} ADT Array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491506" y="2515438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923306" y="2515438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355106" y="2515438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自选图形 3">
            <a:extLst>
              <a:ext uri="{FF2B5EF4-FFF2-40B4-BE49-F238E27FC236}">
                <a16:creationId xmlns:a16="http://schemas.microsoft.com/office/drawing/2014/main" id="{9CEE936D-3C50-42AC-9802-5B57FF30FAE1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0" name="自选图形 4">
            <a:extLst>
              <a:ext uri="{FF2B5EF4-FFF2-40B4-BE49-F238E27FC236}">
                <a16:creationId xmlns:a16="http://schemas.microsoft.com/office/drawing/2014/main" id="{D7FF96E9-7D8E-45EE-806A-BA3AEE2D1DE2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自选图形 5">
            <a:extLst>
              <a:ext uri="{FF2B5EF4-FFF2-40B4-BE49-F238E27FC236}">
                <a16:creationId xmlns:a16="http://schemas.microsoft.com/office/drawing/2014/main" id="{EAED94D2-48D3-47C1-9A80-E61EB86402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广义表的存储结构、相关递归算法</a:t>
            </a:r>
          </a:p>
        </p:txBody>
      </p:sp>
      <p:sp>
        <p:nvSpPr>
          <p:cNvPr id="52" name="自选图形 6">
            <a:extLst>
              <a:ext uri="{FF2B5EF4-FFF2-40B4-BE49-F238E27FC236}">
                <a16:creationId xmlns:a16="http://schemas.microsoft.com/office/drawing/2014/main" id="{6CD5F518-7365-49EC-B37A-3CBDF8E3B63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广义表的概念、性质</a:t>
            </a:r>
          </a:p>
        </p:txBody>
      </p:sp>
      <p:sp>
        <p:nvSpPr>
          <p:cNvPr id="53" name="自选图形 7">
            <a:extLst>
              <a:ext uri="{FF2B5EF4-FFF2-40B4-BE49-F238E27FC236}">
                <a16:creationId xmlns:a16="http://schemas.microsoft.com/office/drawing/2014/main" id="{25321A4E-6FA2-4972-837D-471FDA235A6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矩阵的压缩存储</a:t>
            </a:r>
          </a:p>
        </p:txBody>
      </p:sp>
      <p:sp>
        <p:nvSpPr>
          <p:cNvPr id="54" name="自选图形 8">
            <a:extLst>
              <a:ext uri="{FF2B5EF4-FFF2-40B4-BE49-F238E27FC236}">
                <a16:creationId xmlns:a16="http://schemas.microsoft.com/office/drawing/2014/main" id="{EEF5FE14-9DE5-48EA-919E-08717D98829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数组的顺序表示和实现</a:t>
            </a:r>
          </a:p>
        </p:txBody>
      </p:sp>
      <p:sp>
        <p:nvSpPr>
          <p:cNvPr id="55" name="自选图形 9">
            <a:extLst>
              <a:ext uri="{FF2B5EF4-FFF2-40B4-BE49-F238E27FC236}">
                <a16:creationId xmlns:a16="http://schemas.microsoft.com/office/drawing/2014/main" id="{EA425B2A-A343-424B-B7EC-AB880563AE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数组的定义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D3AA745-C55B-490A-A798-61A8F8E854CD}"/>
              </a:ext>
            </a:extLst>
          </p:cNvPr>
          <p:cNvGrpSpPr>
            <a:grpSpLocks/>
          </p:cNvGrpSpPr>
          <p:nvPr/>
        </p:nvGrpSpPr>
        <p:grpSpPr bwMode="auto">
          <a:xfrm>
            <a:off x="2917252" y="1777453"/>
            <a:ext cx="381000" cy="381000"/>
            <a:chOff x="2078" y="1680"/>
            <a:chExt cx="1615" cy="161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3F02EFA1-111C-41C0-BD77-57E946F509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E6E630B9-20B4-4676-BFDE-51B85B858D0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21497E9A-D8F0-4D47-B58E-1799C8C73D3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0E91C5B6-92BB-4A09-A8EE-8E715B92DF6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75865D3B-5962-4132-8CD1-C0500DA9643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8A9470AC-4D15-4461-9BD8-A084487FB71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CBC72D8E-9AD9-41EB-B600-6261CD8E7387}"/>
              </a:ext>
            </a:extLst>
          </p:cNvPr>
          <p:cNvGrpSpPr>
            <a:grpSpLocks/>
          </p:cNvGrpSpPr>
          <p:nvPr/>
        </p:nvGrpSpPr>
        <p:grpSpPr bwMode="auto">
          <a:xfrm>
            <a:off x="3432973" y="2536918"/>
            <a:ext cx="381000" cy="381000"/>
            <a:chOff x="2078" y="1680"/>
            <a:chExt cx="1615" cy="1615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0E2293CB-81FF-4986-933D-32510F8B589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C0A1CE25-00C4-467E-84BD-1B800027654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8A8BA3EB-9F53-4E2C-81E4-80E0AEABA5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F8E6DF5F-C072-4E3C-A591-AE2580FC6A7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9E1D52AE-BCED-4587-9101-ED2423EDCC1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B36295A0-5268-448F-8F20-8303FF10C2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3E6B678-A255-4A96-BEA9-DCA1B96C6683}"/>
              </a:ext>
            </a:extLst>
          </p:cNvPr>
          <p:cNvGrpSpPr>
            <a:grpSpLocks/>
          </p:cNvGrpSpPr>
          <p:nvPr/>
        </p:nvGrpSpPr>
        <p:grpSpPr bwMode="auto">
          <a:xfrm>
            <a:off x="3601533" y="3421310"/>
            <a:ext cx="381000" cy="381000"/>
            <a:chOff x="2078" y="1680"/>
            <a:chExt cx="1615" cy="1615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37F1483D-7882-4E6F-99C8-6E8725D642D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05A9E59E-57B4-45F8-BEFF-08AFD32BA39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88CA5475-1AF8-42B5-A194-437A2808AF7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EC5AD531-8E41-4F6A-81B2-2C7A131B1B6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3DEBAEBF-9F10-46F9-8A75-07CC58012B2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918440BA-B3EE-4E3D-9BED-3B9F85B6F72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FEA88638-601B-4CC1-B1BC-0A177BC690B9}"/>
              </a:ext>
            </a:extLst>
          </p:cNvPr>
          <p:cNvGrpSpPr>
            <a:grpSpLocks/>
          </p:cNvGrpSpPr>
          <p:nvPr/>
        </p:nvGrpSpPr>
        <p:grpSpPr bwMode="auto">
          <a:xfrm>
            <a:off x="3487739" y="4213473"/>
            <a:ext cx="381000" cy="381000"/>
            <a:chOff x="2078" y="1680"/>
            <a:chExt cx="1615" cy="1615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8F66CC48-D39F-4C83-8D03-A6CC5DC57CD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4E10D6A2-50DC-4CA3-A965-B141221CCBA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558D11C3-9EDB-4817-980B-3BCCDED3A90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F9445991-D8ED-422C-B775-1CDFC284E1E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838ACC99-BEC8-4D70-9DA6-BD8DD8150B6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6A62A0EB-4145-49B5-80B1-EE20E9635F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8E64121-FF5B-4442-95C0-8F014877373F}"/>
              </a:ext>
            </a:extLst>
          </p:cNvPr>
          <p:cNvGrpSpPr>
            <a:grpSpLocks/>
          </p:cNvGrpSpPr>
          <p:nvPr/>
        </p:nvGrpSpPr>
        <p:grpSpPr bwMode="auto">
          <a:xfrm>
            <a:off x="3016268" y="5055640"/>
            <a:ext cx="355600" cy="381000"/>
            <a:chOff x="2078" y="1680"/>
            <a:chExt cx="1615" cy="1615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7220B4B8-B60F-4C94-B3BE-421DFB34732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FB2FBD10-02F2-48B2-95EF-A099CA41FF7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C8262B04-B2B3-499E-86E4-5A3CAC723C6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75A7AEB8-48F0-44E8-992B-1AA61A298CF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1A68D8FD-20E8-4240-ACF3-8481FA7647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9B57D2F4-DD68-49E7-B4DF-9FF1C7CECF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3200400" y="1123950"/>
            <a:ext cx="614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ea typeface="华文中宋" pitchFamily="2" charset="-122"/>
              </a:rPr>
              <a:t>数组特点：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结构固定</a:t>
            </a:r>
            <a:r>
              <a:rPr lang="en-US" altLang="zh-CN" sz="2400"/>
              <a:t>——</a:t>
            </a:r>
            <a:r>
              <a:rPr lang="zh-CN" altLang="en-US" sz="2400"/>
              <a:t>维数和维界不变。</a:t>
            </a:r>
            <a:r>
              <a:rPr lang="zh-CN" altLang="en-US" sz="2400">
                <a:solidFill>
                  <a:srgbClr val="4D4D4D"/>
                </a:solidFill>
              </a:rPr>
              <a:t>  </a:t>
            </a:r>
            <a:endParaRPr lang="zh-CN" altLang="en-US" sz="2400"/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3192464" y="1555751"/>
            <a:ext cx="7340471" cy="52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>
                <a:ea typeface="华文中宋" pitchFamily="2" charset="-122"/>
              </a:rPr>
              <a:t>数组基本操作：</a:t>
            </a:r>
            <a:r>
              <a:rPr lang="zh-CN" altLang="en-US" sz="2400"/>
              <a:t>初始化、销毁、取元素、改元素值。</a:t>
            </a:r>
            <a:r>
              <a:rPr lang="zh-CN" altLang="en-US" sz="2400">
                <a:ea typeface="华文中宋" pitchFamily="2" charset="-122"/>
              </a:rPr>
              <a:t> </a:t>
            </a:r>
          </a:p>
        </p:txBody>
      </p:sp>
      <p:sp>
        <p:nvSpPr>
          <p:cNvPr id="66569" name="Rectangle 9"/>
          <p:cNvSpPr>
            <a:spLocks noChangeArrowheads="1"/>
          </p:cNvSpPr>
          <p:nvPr/>
        </p:nvSpPr>
        <p:spPr bwMode="auto">
          <a:xfrm>
            <a:off x="2173289" y="547689"/>
            <a:ext cx="43195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>
                <a:ea typeface="华文中宋" pitchFamily="2" charset="-122"/>
              </a:rPr>
              <a:t>5.2  </a:t>
            </a:r>
            <a:r>
              <a:rPr lang="zh-CN" altLang="en-US" sz="2400">
                <a:ea typeface="华文中宋" pitchFamily="2" charset="-122"/>
              </a:rPr>
              <a:t>数组的顺序表示和实现 </a:t>
            </a:r>
          </a:p>
        </p:txBody>
      </p:sp>
      <p:sp>
        <p:nvSpPr>
          <p:cNvPr id="66570" name="Rectangle 10"/>
          <p:cNvSpPr>
            <a:spLocks noChangeArrowheads="1"/>
          </p:cNvSpPr>
          <p:nvPr/>
        </p:nvSpPr>
        <p:spPr bwMode="auto">
          <a:xfrm>
            <a:off x="5353050" y="2132013"/>
            <a:ext cx="393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/>
              <a:t>一般不做插入和删除操作。 </a:t>
            </a:r>
          </a:p>
        </p:txBody>
      </p:sp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2316164" y="1387475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因为 </a:t>
            </a:r>
          </a:p>
        </p:txBody>
      </p:sp>
      <p:sp>
        <p:nvSpPr>
          <p:cNvPr id="66572" name="AutoShape 12"/>
          <p:cNvSpPr>
            <a:spLocks/>
          </p:cNvSpPr>
          <p:nvPr/>
        </p:nvSpPr>
        <p:spPr bwMode="auto">
          <a:xfrm>
            <a:off x="3108326" y="1339851"/>
            <a:ext cx="125413" cy="625475"/>
          </a:xfrm>
          <a:prstGeom prst="leftBrace">
            <a:avLst>
              <a:gd name="adj1" fmla="val 4156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3" name="Text Box 13"/>
          <p:cNvSpPr txBox="1">
            <a:spLocks noChangeArrowheads="1"/>
          </p:cNvSpPr>
          <p:nvPr/>
        </p:nvSpPr>
        <p:spPr bwMode="auto">
          <a:xfrm>
            <a:off x="2316164" y="2636838"/>
            <a:ext cx="1196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所以： </a:t>
            </a:r>
          </a:p>
        </p:txBody>
      </p:sp>
      <p:sp>
        <p:nvSpPr>
          <p:cNvPr id="66574" name="Rectangle 14"/>
          <p:cNvSpPr>
            <a:spLocks noChangeArrowheads="1"/>
          </p:cNvSpPr>
          <p:nvPr/>
        </p:nvSpPr>
        <p:spPr bwMode="auto">
          <a:xfrm>
            <a:off x="3468689" y="2636839"/>
            <a:ext cx="60483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>
                <a:latin typeface="楷体_GB2312" pitchFamily="49" charset="-122"/>
              </a:rPr>
              <a:t>一般都是采用</a:t>
            </a:r>
            <a:r>
              <a:rPr lang="zh-CN" altLang="en-US" sz="2400">
                <a:solidFill>
                  <a:srgbClr val="0000FF"/>
                </a:solidFill>
                <a:latin typeface="楷体_GB2312" pitchFamily="49" charset="-122"/>
              </a:rPr>
              <a:t>顺序存储结构</a:t>
            </a:r>
            <a:r>
              <a:rPr lang="zh-CN" altLang="en-US" sz="2400">
                <a:latin typeface="楷体_GB2312" pitchFamily="49" charset="-122"/>
              </a:rPr>
              <a:t>来表示数组。      </a:t>
            </a:r>
          </a:p>
        </p:txBody>
      </p:sp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2316164" y="3136901"/>
            <a:ext cx="7608887" cy="151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注意：</a:t>
            </a:r>
            <a:r>
              <a:rPr lang="zh-CN" altLang="en-US" sz="2400"/>
              <a:t>数组可以是多维的，但存储数据元素的内存单元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        地址是一维的，因此，在存储数组结构之前，需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        要解决将多维关系映射到一维关系的问题。 </a:t>
            </a:r>
          </a:p>
        </p:txBody>
      </p:sp>
      <p:sp>
        <p:nvSpPr>
          <p:cNvPr id="66584" name="Rectangle 24"/>
          <p:cNvSpPr>
            <a:spLocks noChangeArrowheads="1"/>
          </p:cNvSpPr>
          <p:nvPr/>
        </p:nvSpPr>
        <p:spPr bwMode="auto">
          <a:xfrm>
            <a:off x="2225675" y="4940301"/>
            <a:ext cx="165735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两种顺序 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存储方式 </a:t>
            </a:r>
          </a:p>
        </p:txBody>
      </p:sp>
      <p:sp>
        <p:nvSpPr>
          <p:cNvPr id="66585" name="Text Box 25"/>
          <p:cNvSpPr txBox="1">
            <a:spLocks noChangeArrowheads="1"/>
          </p:cNvSpPr>
          <p:nvPr/>
        </p:nvSpPr>
        <p:spPr bwMode="auto">
          <a:xfrm>
            <a:off x="3789363" y="4735513"/>
            <a:ext cx="3946914" cy="875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/>
              <a:t>以行序为主序 </a:t>
            </a:r>
            <a:r>
              <a:rPr lang="en-US" altLang="zh-CN" sz="2400" dirty="0"/>
              <a:t>(</a:t>
            </a:r>
            <a:r>
              <a:rPr lang="zh-CN" altLang="en-US" sz="2400" dirty="0"/>
              <a:t>低下标优先</a:t>
            </a:r>
            <a:r>
              <a:rPr lang="en-US" altLang="zh-CN" sz="2400" dirty="0"/>
              <a:t>) 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                         </a:t>
            </a:r>
          </a:p>
        </p:txBody>
      </p:sp>
      <p:sp>
        <p:nvSpPr>
          <p:cNvPr id="66586" name="Rectangle 26"/>
          <p:cNvSpPr>
            <a:spLocks noChangeArrowheads="1"/>
          </p:cNvSpPr>
          <p:nvPr/>
        </p:nvSpPr>
        <p:spPr bwMode="auto">
          <a:xfrm>
            <a:off x="3787775" y="5635626"/>
            <a:ext cx="39469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以列序为主序 </a:t>
            </a:r>
            <a:r>
              <a:rPr lang="en-US" altLang="zh-CN" sz="2400" dirty="0"/>
              <a:t>(</a:t>
            </a:r>
            <a:r>
              <a:rPr lang="zh-CN" altLang="en-US" sz="2400" dirty="0"/>
              <a:t>高下标优先</a:t>
            </a:r>
            <a:r>
              <a:rPr lang="en-US" altLang="zh-CN" sz="2400" dirty="0"/>
              <a:t>) </a:t>
            </a:r>
          </a:p>
        </p:txBody>
      </p:sp>
      <p:sp>
        <p:nvSpPr>
          <p:cNvPr id="66587" name="AutoShape 27"/>
          <p:cNvSpPr>
            <a:spLocks/>
          </p:cNvSpPr>
          <p:nvPr/>
        </p:nvSpPr>
        <p:spPr bwMode="auto">
          <a:xfrm>
            <a:off x="3667126" y="5011739"/>
            <a:ext cx="142875" cy="865187"/>
          </a:xfrm>
          <a:prstGeom prst="leftBrace">
            <a:avLst>
              <a:gd name="adj1" fmla="val 5046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1000"/>
                                        <p:tgtEl>
                                          <p:spTgt spid="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6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/>
      <p:bldP spid="66567" grpId="0"/>
      <p:bldP spid="66570" grpId="0"/>
      <p:bldP spid="66571" grpId="0"/>
      <p:bldP spid="66572" grpId="0" animBg="1"/>
      <p:bldP spid="66573" grpId="0"/>
      <p:bldP spid="66574" grpId="0"/>
      <p:bldP spid="66583" grpId="0"/>
      <p:bldP spid="66584" grpId="0"/>
      <p:bldP spid="66585" grpId="0"/>
      <p:bldP spid="66586" grpId="0"/>
      <p:bldP spid="6658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AutoShape 136"/>
          <p:cNvSpPr>
            <a:spLocks noChangeArrowheads="1"/>
          </p:cNvSpPr>
          <p:nvPr/>
        </p:nvSpPr>
        <p:spPr bwMode="auto">
          <a:xfrm>
            <a:off x="4014788" y="3789363"/>
            <a:ext cx="1439862" cy="431800"/>
          </a:xfrm>
          <a:prstGeom prst="roundRect">
            <a:avLst>
              <a:gd name="adj" fmla="val 16667"/>
            </a:avLst>
          </a:prstGeom>
          <a:solidFill>
            <a:srgbClr val="66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5" name="Text Box 83"/>
          <p:cNvSpPr txBox="1">
            <a:spLocks noChangeArrowheads="1"/>
          </p:cNvSpPr>
          <p:nvPr/>
        </p:nvSpPr>
        <p:spPr bwMode="auto">
          <a:xfrm>
            <a:off x="2214563" y="549275"/>
            <a:ext cx="338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>
                <a:ea typeface="华文中宋" pitchFamily="2" charset="-122"/>
              </a:rPr>
              <a:t>以行序为主序存放： </a:t>
            </a:r>
          </a:p>
        </p:txBody>
      </p:sp>
      <p:grpSp>
        <p:nvGrpSpPr>
          <p:cNvPr id="3200" name="Group 128"/>
          <p:cNvGrpSpPr>
            <a:grpSpLocks/>
          </p:cNvGrpSpPr>
          <p:nvPr/>
        </p:nvGrpSpPr>
        <p:grpSpPr bwMode="auto">
          <a:xfrm>
            <a:off x="7535864" y="476251"/>
            <a:ext cx="2592387" cy="5922963"/>
            <a:chOff x="3787" y="300"/>
            <a:chExt cx="1633" cy="3731"/>
          </a:xfrm>
        </p:grpSpPr>
        <p:grpSp>
          <p:nvGrpSpPr>
            <p:cNvPr id="3157" name="Group 85"/>
            <p:cNvGrpSpPr>
              <a:grpSpLocks/>
            </p:cNvGrpSpPr>
            <p:nvPr/>
          </p:nvGrpSpPr>
          <p:grpSpPr bwMode="auto">
            <a:xfrm>
              <a:off x="4460" y="300"/>
              <a:ext cx="960" cy="3731"/>
              <a:chOff x="4176" y="96"/>
              <a:chExt cx="960" cy="3731"/>
            </a:xfrm>
          </p:grpSpPr>
          <p:sp>
            <p:nvSpPr>
              <p:cNvPr id="3158" name="Rectangle 86"/>
              <p:cNvSpPr>
                <a:spLocks noChangeArrowheads="1"/>
              </p:cNvSpPr>
              <p:nvPr/>
            </p:nvSpPr>
            <p:spPr bwMode="auto">
              <a:xfrm>
                <a:off x="4176" y="3540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     </a:t>
                </a:r>
                <a:r>
                  <a:rPr lang="en-US" altLang="zh-CN" sz="2400" i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a</a:t>
                </a:r>
                <a:r>
                  <a:rPr lang="en-US" altLang="zh-CN" sz="2400" i="1" baseline="-250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m</a:t>
                </a:r>
                <a:r>
                  <a:rPr lang="en-US" altLang="zh-CN" sz="2400" baseline="-250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-1, </a:t>
                </a:r>
                <a:r>
                  <a:rPr lang="en-US" altLang="zh-CN" sz="2400" i="1" baseline="-250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n</a:t>
                </a:r>
                <a:r>
                  <a:rPr lang="en-US" altLang="zh-CN" sz="2400" baseline="-250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-1</a:t>
                </a:r>
                <a:endParaRPr lang="en-US" altLang="zh-CN" sz="2400" i="1" baseline="-250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endParaRPr>
              </a:p>
            </p:txBody>
          </p:sp>
          <p:sp>
            <p:nvSpPr>
              <p:cNvPr id="3159" name="Rectangle 87"/>
              <p:cNvSpPr>
                <a:spLocks noChangeArrowheads="1"/>
              </p:cNvSpPr>
              <p:nvPr/>
            </p:nvSpPr>
            <p:spPr bwMode="auto">
              <a:xfrm>
                <a:off x="4176" y="3253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   …….. </a:t>
                </a:r>
              </a:p>
            </p:txBody>
          </p:sp>
          <p:sp>
            <p:nvSpPr>
              <p:cNvPr id="3160" name="Rectangle 88"/>
              <p:cNvSpPr>
                <a:spLocks noChangeArrowheads="1"/>
              </p:cNvSpPr>
              <p:nvPr/>
            </p:nvSpPr>
            <p:spPr bwMode="auto">
              <a:xfrm>
                <a:off x="4176" y="2966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 baseline="-250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       </a:t>
                </a:r>
                <a:r>
                  <a:rPr lang="en-US" altLang="zh-CN" sz="2400" i="1" baseline="-250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</a:t>
                </a:r>
                <a:r>
                  <a:rPr lang="en-US" altLang="zh-CN" sz="2400" i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a</a:t>
                </a:r>
                <a:r>
                  <a:rPr lang="en-US" altLang="zh-CN" sz="2400" i="1" baseline="-250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m</a:t>
                </a:r>
                <a:r>
                  <a:rPr lang="en-US" altLang="zh-CN" sz="2400" baseline="-250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-1, 1</a:t>
                </a:r>
              </a:p>
            </p:txBody>
          </p:sp>
          <p:sp>
            <p:nvSpPr>
              <p:cNvPr id="3161" name="Rectangle 89"/>
              <p:cNvSpPr>
                <a:spLocks noChangeArrowheads="1"/>
              </p:cNvSpPr>
              <p:nvPr/>
            </p:nvSpPr>
            <p:spPr bwMode="auto">
              <a:xfrm>
                <a:off x="4176" y="2679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     </a:t>
                </a:r>
                <a:r>
                  <a:rPr lang="en-US" altLang="zh-CN" sz="2400" i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a</a:t>
                </a:r>
                <a:r>
                  <a:rPr lang="en-US" altLang="zh-CN" sz="2400" i="1" baseline="-250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m</a:t>
                </a:r>
                <a:r>
                  <a:rPr lang="en-US" altLang="zh-CN" sz="2400" baseline="-2500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-1, 0 </a:t>
                </a:r>
              </a:p>
            </p:txBody>
          </p:sp>
          <p:sp>
            <p:nvSpPr>
              <p:cNvPr id="3162" name="Rectangle 90"/>
              <p:cNvSpPr>
                <a:spLocks noChangeArrowheads="1"/>
              </p:cNvSpPr>
              <p:nvPr/>
            </p:nvSpPr>
            <p:spPr bwMode="auto">
              <a:xfrm>
                <a:off x="4176" y="2392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ea typeface="宋体" pitchFamily="2" charset="-122"/>
                  </a:rPr>
                  <a:t> ……….</a:t>
                </a:r>
                <a:endParaRPr lang="en-US" altLang="zh-CN" sz="2400" b="0">
                  <a:ea typeface="宋体" pitchFamily="2" charset="-122"/>
                </a:endParaRPr>
              </a:p>
            </p:txBody>
          </p:sp>
          <p:sp>
            <p:nvSpPr>
              <p:cNvPr id="3163" name="Rectangle 91"/>
              <p:cNvSpPr>
                <a:spLocks noChangeArrowheads="1"/>
              </p:cNvSpPr>
              <p:nvPr/>
            </p:nvSpPr>
            <p:spPr bwMode="auto">
              <a:xfrm>
                <a:off x="4176" y="2105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>
                    <a:solidFill>
                      <a:srgbClr val="0000FF"/>
                    </a:solidFill>
                    <a:ea typeface="宋体" pitchFamily="2" charset="-122"/>
                  </a:rPr>
                  <a:t>      </a:t>
                </a:r>
                <a:r>
                  <a:rPr lang="en-US" altLang="zh-CN" sz="2400" i="1">
                    <a:solidFill>
                      <a:srgbClr val="0000FF"/>
                    </a:solidFill>
                    <a:ea typeface="宋体" pitchFamily="2" charset="-122"/>
                  </a:rPr>
                  <a:t>a</a:t>
                </a:r>
                <a:r>
                  <a:rPr lang="en-US" altLang="zh-CN" sz="2400" baseline="-25000">
                    <a:solidFill>
                      <a:srgbClr val="0000FF"/>
                    </a:solidFill>
                    <a:ea typeface="宋体" pitchFamily="2" charset="-122"/>
                  </a:rPr>
                  <a:t>1, </a:t>
                </a:r>
                <a:r>
                  <a:rPr lang="en-US" altLang="zh-CN" sz="2400" i="1" baseline="-25000">
                    <a:solidFill>
                      <a:srgbClr val="0000FF"/>
                    </a:solidFill>
                    <a:ea typeface="宋体" pitchFamily="2" charset="-122"/>
                  </a:rPr>
                  <a:t>n</a:t>
                </a:r>
                <a:r>
                  <a:rPr lang="en-US" altLang="zh-CN" sz="2400" baseline="-25000">
                    <a:solidFill>
                      <a:srgbClr val="0000FF"/>
                    </a:solidFill>
                    <a:ea typeface="宋体" pitchFamily="2" charset="-122"/>
                  </a:rPr>
                  <a:t>-1 </a:t>
                </a:r>
              </a:p>
            </p:txBody>
          </p:sp>
          <p:sp>
            <p:nvSpPr>
              <p:cNvPr id="3164" name="Rectangle 92"/>
              <p:cNvSpPr>
                <a:spLocks noChangeArrowheads="1"/>
              </p:cNvSpPr>
              <p:nvPr/>
            </p:nvSpPr>
            <p:spPr bwMode="auto">
              <a:xfrm>
                <a:off x="4176" y="1818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>
                    <a:solidFill>
                      <a:srgbClr val="0000FF"/>
                    </a:solidFill>
                    <a:ea typeface="宋体" pitchFamily="2" charset="-122"/>
                  </a:rPr>
                  <a:t>     …….. </a:t>
                </a:r>
              </a:p>
            </p:txBody>
          </p:sp>
          <p:sp>
            <p:nvSpPr>
              <p:cNvPr id="3165" name="Rectangle 93"/>
              <p:cNvSpPr>
                <a:spLocks noChangeArrowheads="1"/>
              </p:cNvSpPr>
              <p:nvPr/>
            </p:nvSpPr>
            <p:spPr bwMode="auto">
              <a:xfrm>
                <a:off x="4176" y="1531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 baseline="-25000">
                    <a:solidFill>
                      <a:srgbClr val="0000FF"/>
                    </a:solidFill>
                    <a:ea typeface="宋体" pitchFamily="2" charset="-122"/>
                  </a:rPr>
                  <a:t>         </a:t>
                </a:r>
                <a:r>
                  <a:rPr lang="en-US" altLang="zh-CN" sz="2400" i="1">
                    <a:solidFill>
                      <a:srgbClr val="0000FF"/>
                    </a:solidFill>
                    <a:ea typeface="宋体" pitchFamily="2" charset="-122"/>
                  </a:rPr>
                  <a:t>a</a:t>
                </a:r>
                <a:r>
                  <a:rPr lang="en-US" altLang="zh-CN" sz="2400" baseline="-25000">
                    <a:solidFill>
                      <a:srgbClr val="0000FF"/>
                    </a:solidFill>
                    <a:ea typeface="宋体" pitchFamily="2" charset="-122"/>
                  </a:rPr>
                  <a:t>11</a:t>
                </a:r>
              </a:p>
            </p:txBody>
          </p:sp>
          <p:sp>
            <p:nvSpPr>
              <p:cNvPr id="3166" name="Rectangle 94"/>
              <p:cNvSpPr>
                <a:spLocks noChangeArrowheads="1"/>
              </p:cNvSpPr>
              <p:nvPr/>
            </p:nvSpPr>
            <p:spPr bwMode="auto">
              <a:xfrm>
                <a:off x="4176" y="1244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>
                    <a:solidFill>
                      <a:srgbClr val="0000FF"/>
                    </a:solidFill>
                    <a:ea typeface="宋体" pitchFamily="2" charset="-122"/>
                  </a:rPr>
                  <a:t>      </a:t>
                </a:r>
                <a:r>
                  <a:rPr lang="en-US" altLang="zh-CN" sz="2400" i="1">
                    <a:solidFill>
                      <a:srgbClr val="0000FF"/>
                    </a:solidFill>
                    <a:ea typeface="宋体" pitchFamily="2" charset="-122"/>
                  </a:rPr>
                  <a:t>a</a:t>
                </a:r>
                <a:r>
                  <a:rPr lang="en-US" altLang="zh-CN" sz="2400" baseline="-25000">
                    <a:solidFill>
                      <a:srgbClr val="0000FF"/>
                    </a:solidFill>
                    <a:ea typeface="宋体" pitchFamily="2" charset="-122"/>
                  </a:rPr>
                  <a:t>10 </a:t>
                </a:r>
              </a:p>
            </p:txBody>
          </p:sp>
          <p:sp>
            <p:nvSpPr>
              <p:cNvPr id="3167" name="Rectangle 95"/>
              <p:cNvSpPr>
                <a:spLocks noChangeArrowheads="1"/>
              </p:cNvSpPr>
              <p:nvPr/>
            </p:nvSpPr>
            <p:spPr bwMode="auto">
              <a:xfrm>
                <a:off x="4176" y="957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ea typeface="宋体" pitchFamily="2" charset="-122"/>
                  </a:rPr>
                  <a:t>      </a:t>
                </a:r>
                <a:r>
                  <a:rPr lang="en-US" altLang="zh-CN" sz="2400" i="1">
                    <a:ea typeface="宋体" pitchFamily="2" charset="-122"/>
                  </a:rPr>
                  <a:t>a</a:t>
                </a:r>
                <a:r>
                  <a:rPr lang="en-US" altLang="zh-CN" sz="2400" baseline="-25000">
                    <a:ea typeface="宋体" pitchFamily="2" charset="-122"/>
                  </a:rPr>
                  <a:t>0, </a:t>
                </a:r>
                <a:r>
                  <a:rPr lang="en-US" altLang="zh-CN" sz="2400" i="1" baseline="-25000">
                    <a:ea typeface="宋体" pitchFamily="2" charset="-122"/>
                  </a:rPr>
                  <a:t>n</a:t>
                </a:r>
                <a:r>
                  <a:rPr lang="en-US" altLang="zh-CN" sz="2400" baseline="-25000">
                    <a:ea typeface="宋体" pitchFamily="2" charset="-122"/>
                  </a:rPr>
                  <a:t>-1 </a:t>
                </a:r>
                <a:endParaRPr lang="en-US" altLang="zh-CN" sz="2400" b="0">
                  <a:ea typeface="宋体" pitchFamily="2" charset="-122"/>
                </a:endParaRPr>
              </a:p>
            </p:txBody>
          </p:sp>
          <p:sp>
            <p:nvSpPr>
              <p:cNvPr id="3168" name="Rectangle 96"/>
              <p:cNvSpPr>
                <a:spLocks noChangeArrowheads="1"/>
              </p:cNvSpPr>
              <p:nvPr/>
            </p:nvSpPr>
            <p:spPr bwMode="auto">
              <a:xfrm>
                <a:off x="4176" y="670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>
                    <a:ea typeface="宋体" pitchFamily="2" charset="-122"/>
                  </a:rPr>
                  <a:t>    …….</a:t>
                </a:r>
              </a:p>
            </p:txBody>
          </p:sp>
          <p:sp>
            <p:nvSpPr>
              <p:cNvPr id="3169" name="Rectangle 97"/>
              <p:cNvSpPr>
                <a:spLocks noChangeArrowheads="1"/>
              </p:cNvSpPr>
              <p:nvPr/>
            </p:nvSpPr>
            <p:spPr bwMode="auto">
              <a:xfrm>
                <a:off x="4176" y="383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>
                    <a:ea typeface="宋体" pitchFamily="2" charset="-122"/>
                  </a:rPr>
                  <a:t>      </a:t>
                </a:r>
                <a:r>
                  <a:rPr lang="en-US" altLang="zh-CN" sz="2400" i="1">
                    <a:ea typeface="宋体" pitchFamily="2" charset="-122"/>
                  </a:rPr>
                  <a:t>a</a:t>
                </a:r>
                <a:r>
                  <a:rPr lang="en-US" altLang="zh-CN" sz="2400" baseline="-25000">
                    <a:ea typeface="宋体" pitchFamily="2" charset="-122"/>
                  </a:rPr>
                  <a:t>01</a:t>
                </a:r>
              </a:p>
            </p:txBody>
          </p:sp>
          <p:sp>
            <p:nvSpPr>
              <p:cNvPr id="3170" name="Rectangle 98"/>
              <p:cNvSpPr>
                <a:spLocks noChangeArrowheads="1"/>
              </p:cNvSpPr>
              <p:nvPr/>
            </p:nvSpPr>
            <p:spPr bwMode="auto">
              <a:xfrm>
                <a:off x="4176" y="96"/>
                <a:ext cx="96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r>
                  <a:rPr lang="en-US" altLang="zh-CN" sz="2400" baseline="-25000">
                    <a:ea typeface="宋体" pitchFamily="2" charset="-122"/>
                  </a:rPr>
                  <a:t>         </a:t>
                </a:r>
                <a:r>
                  <a:rPr lang="en-US" altLang="zh-CN" sz="2400" i="1">
                    <a:ea typeface="宋体" pitchFamily="2" charset="-122"/>
                  </a:rPr>
                  <a:t>a</a:t>
                </a:r>
                <a:r>
                  <a:rPr lang="en-US" altLang="zh-CN" sz="2400" baseline="-25000">
                    <a:ea typeface="宋体" pitchFamily="2" charset="-122"/>
                  </a:rPr>
                  <a:t>00</a:t>
                </a:r>
              </a:p>
            </p:txBody>
          </p:sp>
          <p:sp>
            <p:nvSpPr>
              <p:cNvPr id="3171" name="Line 99"/>
              <p:cNvSpPr>
                <a:spLocks noChangeShapeType="1"/>
              </p:cNvSpPr>
              <p:nvPr/>
            </p:nvSpPr>
            <p:spPr bwMode="auto">
              <a:xfrm>
                <a:off x="4176" y="96"/>
                <a:ext cx="9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2" name="Line 100"/>
              <p:cNvSpPr>
                <a:spLocks noChangeShapeType="1"/>
              </p:cNvSpPr>
              <p:nvPr/>
            </p:nvSpPr>
            <p:spPr bwMode="auto">
              <a:xfrm>
                <a:off x="4176" y="383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3" name="Line 101"/>
              <p:cNvSpPr>
                <a:spLocks noChangeShapeType="1"/>
              </p:cNvSpPr>
              <p:nvPr/>
            </p:nvSpPr>
            <p:spPr bwMode="auto">
              <a:xfrm>
                <a:off x="4176" y="670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4" name="Line 102"/>
              <p:cNvSpPr>
                <a:spLocks noChangeShapeType="1"/>
              </p:cNvSpPr>
              <p:nvPr/>
            </p:nvSpPr>
            <p:spPr bwMode="auto">
              <a:xfrm>
                <a:off x="4176" y="957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" name="Line 103"/>
              <p:cNvSpPr>
                <a:spLocks noChangeShapeType="1"/>
              </p:cNvSpPr>
              <p:nvPr/>
            </p:nvSpPr>
            <p:spPr bwMode="auto">
              <a:xfrm>
                <a:off x="4176" y="1244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" name="Line 104"/>
              <p:cNvSpPr>
                <a:spLocks noChangeShapeType="1"/>
              </p:cNvSpPr>
              <p:nvPr/>
            </p:nvSpPr>
            <p:spPr bwMode="auto">
              <a:xfrm>
                <a:off x="4176" y="1531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7" name="Line 105"/>
              <p:cNvSpPr>
                <a:spLocks noChangeShapeType="1"/>
              </p:cNvSpPr>
              <p:nvPr/>
            </p:nvSpPr>
            <p:spPr bwMode="auto">
              <a:xfrm>
                <a:off x="4176" y="1818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8" name="Line 106"/>
              <p:cNvSpPr>
                <a:spLocks noChangeShapeType="1"/>
              </p:cNvSpPr>
              <p:nvPr/>
            </p:nvSpPr>
            <p:spPr bwMode="auto">
              <a:xfrm>
                <a:off x="4176" y="2105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9" name="Line 107"/>
              <p:cNvSpPr>
                <a:spLocks noChangeShapeType="1"/>
              </p:cNvSpPr>
              <p:nvPr/>
            </p:nvSpPr>
            <p:spPr bwMode="auto">
              <a:xfrm>
                <a:off x="4176" y="2392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0" name="Line 108"/>
              <p:cNvSpPr>
                <a:spLocks noChangeShapeType="1"/>
              </p:cNvSpPr>
              <p:nvPr/>
            </p:nvSpPr>
            <p:spPr bwMode="auto">
              <a:xfrm>
                <a:off x="4176" y="2679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1" name="Line 109"/>
              <p:cNvSpPr>
                <a:spLocks noChangeShapeType="1"/>
              </p:cNvSpPr>
              <p:nvPr/>
            </p:nvSpPr>
            <p:spPr bwMode="auto">
              <a:xfrm>
                <a:off x="4176" y="2966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2" name="Line 110"/>
              <p:cNvSpPr>
                <a:spLocks noChangeShapeType="1"/>
              </p:cNvSpPr>
              <p:nvPr/>
            </p:nvSpPr>
            <p:spPr bwMode="auto">
              <a:xfrm>
                <a:off x="4176" y="3253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3" name="Line 111"/>
              <p:cNvSpPr>
                <a:spLocks noChangeShapeType="1"/>
              </p:cNvSpPr>
              <p:nvPr/>
            </p:nvSpPr>
            <p:spPr bwMode="auto">
              <a:xfrm>
                <a:off x="4176" y="3540"/>
                <a:ext cx="9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4" name="Line 112"/>
              <p:cNvSpPr>
                <a:spLocks noChangeShapeType="1"/>
              </p:cNvSpPr>
              <p:nvPr/>
            </p:nvSpPr>
            <p:spPr bwMode="auto">
              <a:xfrm>
                <a:off x="4176" y="3827"/>
                <a:ext cx="96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" name="Line 113"/>
              <p:cNvSpPr>
                <a:spLocks noChangeShapeType="1"/>
              </p:cNvSpPr>
              <p:nvPr/>
            </p:nvSpPr>
            <p:spPr bwMode="auto">
              <a:xfrm>
                <a:off x="4176" y="96"/>
                <a:ext cx="0" cy="373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6" name="Line 114"/>
              <p:cNvSpPr>
                <a:spLocks noChangeShapeType="1"/>
              </p:cNvSpPr>
              <p:nvPr/>
            </p:nvSpPr>
            <p:spPr bwMode="auto">
              <a:xfrm>
                <a:off x="5136" y="96"/>
                <a:ext cx="0" cy="373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90" name="Text Box 118"/>
            <p:cNvSpPr txBox="1">
              <a:spLocks noChangeArrowheads="1"/>
            </p:cNvSpPr>
            <p:nvPr/>
          </p:nvSpPr>
          <p:spPr bwMode="auto">
            <a:xfrm>
              <a:off x="4151" y="33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ea typeface="宋体" pitchFamily="2" charset="-122"/>
                </a:rPr>
                <a:t>0</a:t>
              </a:r>
            </a:p>
          </p:txBody>
        </p:sp>
        <p:sp>
          <p:nvSpPr>
            <p:cNvPr id="3191" name="Text Box 119"/>
            <p:cNvSpPr txBox="1">
              <a:spLocks noChangeArrowheads="1"/>
            </p:cNvSpPr>
            <p:nvPr/>
          </p:nvSpPr>
          <p:spPr bwMode="auto">
            <a:xfrm>
              <a:off x="4147" y="54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ea typeface="宋体" pitchFamily="2" charset="-122"/>
                </a:rPr>
                <a:t>1</a:t>
              </a:r>
            </a:p>
          </p:txBody>
        </p:sp>
        <p:sp>
          <p:nvSpPr>
            <p:cNvPr id="3192" name="Line 120"/>
            <p:cNvSpPr>
              <a:spLocks noChangeShapeType="1"/>
            </p:cNvSpPr>
            <p:nvPr/>
          </p:nvSpPr>
          <p:spPr bwMode="auto">
            <a:xfrm>
              <a:off x="4241" y="822"/>
              <a:ext cx="0" cy="385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3" name="Text Box 121"/>
            <p:cNvSpPr txBox="1">
              <a:spLocks noChangeArrowheads="1"/>
            </p:cNvSpPr>
            <p:nvPr/>
          </p:nvSpPr>
          <p:spPr bwMode="auto">
            <a:xfrm>
              <a:off x="3942" y="1193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ea typeface="宋体" pitchFamily="2" charset="-122"/>
                </a:rPr>
                <a:t>n</a:t>
              </a:r>
              <a:r>
                <a:rPr lang="en-US" altLang="zh-CN" sz="2400">
                  <a:ea typeface="宋体" pitchFamily="2" charset="-122"/>
                </a:rPr>
                <a:t> -1</a:t>
              </a:r>
            </a:p>
          </p:txBody>
        </p:sp>
        <p:sp>
          <p:nvSpPr>
            <p:cNvPr id="3194" name="Text Box 122"/>
            <p:cNvSpPr txBox="1">
              <a:spLocks noChangeArrowheads="1"/>
            </p:cNvSpPr>
            <p:nvPr/>
          </p:nvSpPr>
          <p:spPr bwMode="auto">
            <a:xfrm>
              <a:off x="3787" y="3732"/>
              <a:ext cx="6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ea typeface="宋体" pitchFamily="2" charset="-122"/>
                </a:rPr>
                <a:t>m</a:t>
              </a:r>
              <a:r>
                <a:rPr lang="en-US" altLang="zh-CN" sz="2400">
                  <a:ea typeface="宋体" pitchFamily="2" charset="-122"/>
                </a:rPr>
                <a:t>*</a:t>
              </a:r>
              <a:r>
                <a:rPr lang="en-US" altLang="zh-CN" sz="2400" i="1">
                  <a:ea typeface="宋体" pitchFamily="2" charset="-122"/>
                </a:rPr>
                <a:t>n</a:t>
              </a:r>
              <a:r>
                <a:rPr lang="en-US" altLang="zh-CN" sz="2400">
                  <a:ea typeface="宋体" pitchFamily="2" charset="-122"/>
                </a:rPr>
                <a:t> -1</a:t>
              </a:r>
            </a:p>
          </p:txBody>
        </p:sp>
        <p:sp>
          <p:nvSpPr>
            <p:cNvPr id="3195" name="Text Box 123"/>
            <p:cNvSpPr txBox="1">
              <a:spLocks noChangeArrowheads="1"/>
            </p:cNvSpPr>
            <p:nvPr/>
          </p:nvSpPr>
          <p:spPr bwMode="auto">
            <a:xfrm>
              <a:off x="4119" y="147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ea typeface="宋体" pitchFamily="2" charset="-122"/>
                </a:rPr>
                <a:t>n</a:t>
              </a:r>
            </a:p>
          </p:txBody>
        </p:sp>
      </p:grpSp>
      <p:sp>
        <p:nvSpPr>
          <p:cNvPr id="3209" name="AutoShape 137"/>
          <p:cNvSpPr>
            <a:spLocks noChangeArrowheads="1"/>
          </p:cNvSpPr>
          <p:nvPr/>
        </p:nvSpPr>
        <p:spPr bwMode="auto">
          <a:xfrm>
            <a:off x="4014788" y="3789363"/>
            <a:ext cx="3600450" cy="4318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96" name="Text Box 124"/>
          <p:cNvSpPr txBox="1">
            <a:spLocks noChangeArrowheads="1"/>
          </p:cNvSpPr>
          <p:nvPr/>
        </p:nvSpPr>
        <p:spPr bwMode="auto">
          <a:xfrm>
            <a:off x="2119313" y="3141663"/>
            <a:ext cx="5783262" cy="1102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5000"/>
              </a:lnSpc>
            </a:pPr>
            <a:r>
              <a:rPr lang="zh-CN" altLang="en-US" sz="2400" dirty="0"/>
              <a:t>二维数组中任一元素</a:t>
            </a:r>
            <a:r>
              <a:rPr lang="zh-CN" altLang="en-US" sz="2400" i="1" dirty="0"/>
              <a:t>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ij</a:t>
            </a:r>
            <a:r>
              <a:rPr lang="en-US" altLang="zh-CN" sz="2400" dirty="0"/>
              <a:t>  </a:t>
            </a:r>
            <a:r>
              <a:rPr lang="zh-CN" altLang="en-US" sz="2400" dirty="0"/>
              <a:t>的存储位置 </a:t>
            </a:r>
          </a:p>
          <a:p>
            <a:pPr>
              <a:lnSpc>
                <a:spcPct val="145000"/>
              </a:lnSpc>
            </a:pPr>
            <a:r>
              <a:rPr lang="zh-CN" altLang="en-US" sz="2400" dirty="0"/>
              <a:t>     </a:t>
            </a:r>
            <a:r>
              <a:rPr lang="en-US" altLang="zh-CN" sz="2400" dirty="0"/>
              <a:t>LOC(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,</a:t>
            </a:r>
            <a:r>
              <a:rPr lang="en-US" altLang="zh-CN" sz="2400" i="1" dirty="0"/>
              <a:t> j</a:t>
            </a:r>
            <a:r>
              <a:rPr lang="en-US" altLang="zh-CN" sz="2400" dirty="0"/>
              <a:t>) = LOC(0, 0) + (</a:t>
            </a:r>
            <a:r>
              <a:rPr lang="en-US" altLang="zh-CN" sz="2400" i="1" dirty="0"/>
              <a:t>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×</a:t>
            </a:r>
            <a:r>
              <a:rPr lang="en-US" altLang="zh-CN" sz="2400" i="1" dirty="0"/>
              <a:t>i</a:t>
            </a:r>
            <a:r>
              <a:rPr lang="zh-CN" altLang="en-US" sz="2400" dirty="0"/>
              <a:t>＋</a:t>
            </a:r>
            <a:r>
              <a:rPr lang="en-US" altLang="zh-CN" sz="2400" i="1" dirty="0"/>
              <a:t>j </a:t>
            </a:r>
            <a:r>
              <a:rPr lang="en-US" altLang="zh-CN" sz="2400" dirty="0"/>
              <a:t>)×L </a:t>
            </a:r>
          </a:p>
        </p:txBody>
      </p:sp>
      <p:sp>
        <p:nvSpPr>
          <p:cNvPr id="3203" name="Rectangle 131"/>
          <p:cNvSpPr>
            <a:spLocks noChangeArrowheads="1"/>
          </p:cNvSpPr>
          <p:nvPr/>
        </p:nvSpPr>
        <p:spPr bwMode="auto">
          <a:xfrm>
            <a:off x="2141538" y="5013326"/>
            <a:ext cx="5472112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rgbClr val="0000FF"/>
                </a:solidFill>
                <a:ea typeface="华文新魏" pitchFamily="2" charset="-122"/>
              </a:rPr>
              <a:t>        </a:t>
            </a:r>
            <a:r>
              <a:rPr lang="zh-CN" altLang="en-US" sz="2400">
                <a:solidFill>
                  <a:srgbClr val="0000FF"/>
                </a:solidFill>
                <a:ea typeface="华文新魏" pitchFamily="2" charset="-122"/>
              </a:rPr>
              <a:t>某个元素的地址就是它前面所有行 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0000FF"/>
                </a:solidFill>
                <a:ea typeface="华文新魏" pitchFamily="2" charset="-122"/>
              </a:rPr>
              <a:t>所占的单元加上它所在行前面所有列元 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0000FF"/>
                </a:solidFill>
                <a:ea typeface="华文新魏" pitchFamily="2" charset="-122"/>
              </a:rPr>
              <a:t>素所占的单元数之和。 </a:t>
            </a:r>
          </a:p>
        </p:txBody>
      </p:sp>
      <p:grpSp>
        <p:nvGrpSpPr>
          <p:cNvPr id="3204" name="Group 132"/>
          <p:cNvGrpSpPr>
            <a:grpSpLocks/>
          </p:cNvGrpSpPr>
          <p:nvPr/>
        </p:nvGrpSpPr>
        <p:grpSpPr bwMode="auto">
          <a:xfrm>
            <a:off x="2646364" y="4222750"/>
            <a:ext cx="2098675" cy="719138"/>
            <a:chOff x="476" y="2614"/>
            <a:chExt cx="1322" cy="453"/>
          </a:xfrm>
        </p:grpSpPr>
        <p:sp>
          <p:nvSpPr>
            <p:cNvPr id="3205" name="Text Box 133"/>
            <p:cNvSpPr txBox="1">
              <a:spLocks noChangeArrowheads="1"/>
            </p:cNvSpPr>
            <p:nvPr/>
          </p:nvSpPr>
          <p:spPr bwMode="auto">
            <a:xfrm>
              <a:off x="476" y="2779"/>
              <a:ext cx="132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/>
                <a:t>基地址或基址 </a:t>
              </a:r>
            </a:p>
          </p:txBody>
        </p:sp>
        <p:sp>
          <p:nvSpPr>
            <p:cNvPr id="3206" name="Line 134"/>
            <p:cNvSpPr>
              <a:spLocks noChangeShapeType="1"/>
            </p:cNvSpPr>
            <p:nvPr/>
          </p:nvSpPr>
          <p:spPr bwMode="auto">
            <a:xfrm flipV="1">
              <a:off x="1791" y="2614"/>
              <a:ext cx="0" cy="3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07" name="Rectangle 135"/>
          <p:cNvSpPr>
            <a:spLocks noChangeArrowheads="1"/>
          </p:cNvSpPr>
          <p:nvPr/>
        </p:nvSpPr>
        <p:spPr bwMode="auto">
          <a:xfrm>
            <a:off x="5016500" y="4484688"/>
            <a:ext cx="3017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/>
              <a:t>二维数组的映象函数 </a:t>
            </a:r>
          </a:p>
        </p:txBody>
      </p:sp>
      <p:sp>
        <p:nvSpPr>
          <p:cNvPr id="3210" name="AutoShape 138"/>
          <p:cNvSpPr>
            <a:spLocks noChangeArrowheads="1"/>
          </p:cNvSpPr>
          <p:nvPr/>
        </p:nvSpPr>
        <p:spPr bwMode="auto">
          <a:xfrm>
            <a:off x="6391275" y="4221163"/>
            <a:ext cx="215900" cy="360362"/>
          </a:xfrm>
          <a:prstGeom prst="upArrow">
            <a:avLst>
              <a:gd name="adj1" fmla="val 50000"/>
              <a:gd name="adj2" fmla="val 41728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3211" name="Group 139"/>
          <p:cNvGrpSpPr>
            <a:grpSpLocks/>
          </p:cNvGrpSpPr>
          <p:nvPr/>
        </p:nvGrpSpPr>
        <p:grpSpPr bwMode="auto">
          <a:xfrm>
            <a:off x="2111376" y="1268413"/>
            <a:ext cx="5864225" cy="1719262"/>
            <a:chOff x="139" y="799"/>
            <a:chExt cx="3694" cy="1083"/>
          </a:xfrm>
        </p:grpSpPr>
        <p:sp>
          <p:nvSpPr>
            <p:cNvPr id="3212" name="Text Box 140"/>
            <p:cNvSpPr txBox="1">
              <a:spLocks noChangeArrowheads="1"/>
            </p:cNvSpPr>
            <p:nvPr/>
          </p:nvSpPr>
          <p:spPr bwMode="auto">
            <a:xfrm>
              <a:off x="139" y="799"/>
              <a:ext cx="369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 </a:t>
              </a:r>
              <a:r>
                <a:rPr lang="en-US" altLang="zh-CN" sz="2800" baseline="-25000">
                  <a:ea typeface="宋体" pitchFamily="2" charset="-122"/>
                </a:rPr>
                <a:t>     </a:t>
              </a:r>
              <a:r>
                <a:rPr lang="en-US" altLang="zh-CN" sz="2800" i="1" baseline="-25000">
                  <a:ea typeface="宋体" pitchFamily="2" charset="-122"/>
                </a:rPr>
                <a:t>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00       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01        </a:t>
              </a:r>
              <a:r>
                <a:rPr lang="en-US" altLang="zh-CN" sz="2800">
                  <a:ea typeface="宋体" pitchFamily="2" charset="-122"/>
                </a:rPr>
                <a:t>……..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0, </a:t>
              </a:r>
              <a:r>
                <a:rPr lang="en-US" altLang="zh-CN" sz="2800" i="1" baseline="-25000">
                  <a:ea typeface="宋体" pitchFamily="2" charset="-122"/>
                </a:rPr>
                <a:t>n</a:t>
              </a:r>
              <a:r>
                <a:rPr lang="en-US" altLang="zh-CN" sz="2800" baseline="-25000">
                  <a:ea typeface="宋体" pitchFamily="2" charset="-122"/>
                </a:rPr>
                <a:t>-1</a:t>
              </a:r>
              <a:r>
                <a:rPr lang="en-US" altLang="zh-CN" sz="2800" i="1" baseline="-25000">
                  <a:ea typeface="宋体" pitchFamily="2" charset="-122"/>
                </a:rPr>
                <a:t> </a:t>
              </a:r>
              <a:r>
                <a:rPr lang="en-US" altLang="zh-CN" sz="2000" baseline="-25000">
                  <a:ea typeface="宋体" pitchFamily="2" charset="-122"/>
                </a:rPr>
                <a:t> </a:t>
              </a:r>
            </a:p>
          </p:txBody>
        </p:sp>
        <p:sp>
          <p:nvSpPr>
            <p:cNvPr id="3213" name="Text Box 141"/>
            <p:cNvSpPr txBox="1">
              <a:spLocks noChangeArrowheads="1"/>
            </p:cNvSpPr>
            <p:nvPr/>
          </p:nvSpPr>
          <p:spPr bwMode="auto">
            <a:xfrm>
              <a:off x="139" y="1065"/>
              <a:ext cx="36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</a:t>
              </a:r>
              <a:r>
                <a:rPr lang="en-US" altLang="zh-CN" sz="2800" baseline="-25000">
                  <a:ea typeface="宋体" pitchFamily="2" charset="-122"/>
                </a:rPr>
                <a:t>       </a:t>
              </a:r>
              <a:r>
                <a:rPr lang="en-US" altLang="zh-CN" sz="28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  <a:r>
                <a:rPr lang="en-US" altLang="zh-CN" sz="2800" baseline="-25000">
                  <a:solidFill>
                    <a:srgbClr val="0000FF"/>
                  </a:solidFill>
                  <a:ea typeface="宋体" pitchFamily="2" charset="-122"/>
                </a:rPr>
                <a:t>10          </a:t>
              </a:r>
              <a:r>
                <a:rPr lang="en-US" altLang="zh-CN" sz="28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  <a:r>
                <a:rPr lang="en-US" altLang="zh-CN" sz="2800" baseline="-25000">
                  <a:solidFill>
                    <a:srgbClr val="0000FF"/>
                  </a:solidFill>
                  <a:ea typeface="宋体" pitchFamily="2" charset="-122"/>
                </a:rPr>
                <a:t>11        </a:t>
              </a:r>
              <a:r>
                <a:rPr lang="en-US" altLang="zh-CN" sz="2800">
                  <a:solidFill>
                    <a:srgbClr val="0000FF"/>
                  </a:solidFill>
                  <a:ea typeface="宋体" pitchFamily="2" charset="-122"/>
                </a:rPr>
                <a:t>……..   </a:t>
              </a:r>
              <a:r>
                <a:rPr lang="en-US" altLang="zh-CN" sz="28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  <a:r>
                <a:rPr lang="en-US" altLang="zh-CN" sz="2800" baseline="-25000">
                  <a:solidFill>
                    <a:srgbClr val="0000FF"/>
                  </a:solidFill>
                  <a:ea typeface="宋体" pitchFamily="2" charset="-122"/>
                </a:rPr>
                <a:t>1, </a:t>
              </a:r>
              <a:r>
                <a:rPr lang="en-US" altLang="zh-CN" sz="2800" i="1" baseline="-25000">
                  <a:solidFill>
                    <a:srgbClr val="0000FF"/>
                  </a:solidFill>
                  <a:ea typeface="宋体" pitchFamily="2" charset="-122"/>
                </a:rPr>
                <a:t>n</a:t>
              </a:r>
              <a:r>
                <a:rPr lang="en-US" altLang="zh-CN" sz="2800" baseline="-25000">
                  <a:solidFill>
                    <a:srgbClr val="0000FF"/>
                  </a:solidFill>
                  <a:ea typeface="宋体" pitchFamily="2" charset="-122"/>
                </a:rPr>
                <a:t>-1</a:t>
              </a:r>
              <a:r>
                <a:rPr lang="en-US" altLang="zh-CN" sz="2800" i="1" baseline="-25000">
                  <a:solidFill>
                    <a:srgbClr val="0000FF"/>
                  </a:solidFill>
                  <a:ea typeface="宋体" pitchFamily="2" charset="-122"/>
                </a:rPr>
                <a:t> </a:t>
              </a:r>
              <a:r>
                <a:rPr lang="en-US" altLang="zh-CN" sz="2000" baseline="-25000">
                  <a:solidFill>
                    <a:srgbClr val="0000FF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3214" name="Text Box 142"/>
            <p:cNvSpPr txBox="1">
              <a:spLocks noChangeArrowheads="1"/>
            </p:cNvSpPr>
            <p:nvPr/>
          </p:nvSpPr>
          <p:spPr bwMode="auto">
            <a:xfrm>
              <a:off x="160" y="1473"/>
              <a:ext cx="35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aseline="-25000">
                  <a:ea typeface="宋体" pitchFamily="2" charset="-122"/>
                </a:rPr>
                <a:t>     </a:t>
              </a:r>
              <a:r>
                <a:rPr lang="en-US" altLang="zh-CN" sz="2800">
                  <a:ea typeface="宋体" pitchFamily="2" charset="-122"/>
                </a:rPr>
                <a:t>    </a:t>
              </a:r>
              <a:r>
                <a:rPr lang="en-US" altLang="zh-CN" sz="2800" baseline="-25000">
                  <a:ea typeface="宋体" pitchFamily="2" charset="-122"/>
                </a:rPr>
                <a:t>     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a</a:t>
              </a:r>
              <a:r>
                <a:rPr lang="en-US" altLang="zh-CN" sz="2800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m</a:t>
              </a:r>
              <a:r>
                <a:rPr lang="en-US" altLang="zh-CN" sz="2800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-1, 0</a:t>
              </a:r>
              <a:r>
                <a:rPr lang="en-US" altLang="zh-CN" sz="2800" baseline="-25000">
                  <a:solidFill>
                    <a:schemeClr val="accent2"/>
                  </a:solidFill>
                  <a:ea typeface="宋体" pitchFamily="2" charset="-122"/>
                </a:rPr>
                <a:t>  </a:t>
              </a:r>
              <a:r>
                <a:rPr lang="en-US" altLang="zh-CN" sz="2800" baseline="-25000">
                  <a:solidFill>
                    <a:srgbClr val="008000"/>
                  </a:solidFill>
                  <a:ea typeface="宋体" pitchFamily="2" charset="-122"/>
                </a:rPr>
                <a:t> </a:t>
              </a:r>
              <a:r>
                <a:rPr lang="en-US" altLang="zh-CN" sz="2800" i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a</a:t>
              </a:r>
              <a:r>
                <a:rPr lang="en-US" altLang="zh-CN" sz="2800" i="1" baseline="-250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m</a:t>
              </a:r>
              <a:r>
                <a:rPr lang="en-US" altLang="zh-CN" sz="2800" baseline="-250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-1, 1  </a:t>
              </a:r>
              <a:r>
                <a:rPr lang="en-US" altLang="zh-CN" sz="28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……..   </a:t>
              </a:r>
              <a:r>
                <a:rPr lang="en-US" altLang="zh-CN" sz="2800" i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a</a:t>
              </a:r>
              <a:r>
                <a:rPr lang="en-US" altLang="zh-CN" sz="2800" i="1" baseline="-250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m</a:t>
              </a:r>
              <a:r>
                <a:rPr lang="en-US" altLang="zh-CN" sz="2800" baseline="-250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-1, </a:t>
              </a:r>
              <a:r>
                <a:rPr lang="en-US" altLang="zh-CN" sz="2800" i="1" baseline="-250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n</a:t>
              </a:r>
              <a:r>
                <a:rPr lang="en-US" altLang="zh-CN" sz="2800" baseline="-250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-1</a:t>
              </a:r>
              <a:r>
                <a:rPr lang="en-US" altLang="zh-CN" sz="2800" i="1" baseline="-25000">
                  <a:solidFill>
                    <a:schemeClr val="accent2"/>
                  </a:solidFill>
                  <a:ea typeface="宋体" pitchFamily="2" charset="-122"/>
                </a:rPr>
                <a:t> </a:t>
              </a:r>
              <a:r>
                <a:rPr lang="en-US" altLang="zh-CN" sz="2000" i="1" baseline="-25000">
                  <a:ea typeface="宋体" pitchFamily="2" charset="-122"/>
                </a:rPr>
                <a:t> </a:t>
              </a:r>
            </a:p>
          </p:txBody>
        </p:sp>
        <p:sp>
          <p:nvSpPr>
            <p:cNvPr id="3215" name="Text Box 143"/>
            <p:cNvSpPr txBox="1">
              <a:spLocks noChangeArrowheads="1"/>
            </p:cNvSpPr>
            <p:nvPr/>
          </p:nvSpPr>
          <p:spPr bwMode="auto">
            <a:xfrm>
              <a:off x="431" y="1289"/>
              <a:ext cx="268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       ………………….</a:t>
              </a:r>
            </a:p>
          </p:txBody>
        </p:sp>
        <p:sp>
          <p:nvSpPr>
            <p:cNvPr id="3216" name="Line 144"/>
            <p:cNvSpPr>
              <a:spLocks noChangeShapeType="1"/>
            </p:cNvSpPr>
            <p:nvPr/>
          </p:nvSpPr>
          <p:spPr bwMode="auto">
            <a:xfrm>
              <a:off x="667" y="799"/>
              <a:ext cx="0" cy="10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7" name="Line 145"/>
            <p:cNvSpPr>
              <a:spLocks noChangeShapeType="1"/>
            </p:cNvSpPr>
            <p:nvPr/>
          </p:nvSpPr>
          <p:spPr bwMode="auto">
            <a:xfrm>
              <a:off x="667" y="799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8" name="Line 146"/>
            <p:cNvSpPr>
              <a:spLocks noChangeShapeType="1"/>
            </p:cNvSpPr>
            <p:nvPr/>
          </p:nvSpPr>
          <p:spPr bwMode="auto">
            <a:xfrm>
              <a:off x="667" y="188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9" name="Line 147"/>
            <p:cNvSpPr>
              <a:spLocks noChangeShapeType="1"/>
            </p:cNvSpPr>
            <p:nvPr/>
          </p:nvSpPr>
          <p:spPr bwMode="auto">
            <a:xfrm>
              <a:off x="3470" y="799"/>
              <a:ext cx="0" cy="10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0" name="Line 148"/>
            <p:cNvSpPr>
              <a:spLocks noChangeShapeType="1"/>
            </p:cNvSpPr>
            <p:nvPr/>
          </p:nvSpPr>
          <p:spPr bwMode="auto">
            <a:xfrm>
              <a:off x="3326" y="799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1" name="Line 149"/>
            <p:cNvSpPr>
              <a:spLocks noChangeShapeType="1"/>
            </p:cNvSpPr>
            <p:nvPr/>
          </p:nvSpPr>
          <p:spPr bwMode="auto">
            <a:xfrm>
              <a:off x="3326" y="188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3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8" grpId="0" animBg="1"/>
      <p:bldP spid="3209" grpId="0" animBg="1"/>
      <p:bldP spid="3196" grpId="0" uiExpand="1" build="allAtOnce"/>
      <p:bldP spid="3203" grpId="0"/>
      <p:bldP spid="3207" grpId="0"/>
      <p:bldP spid="32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6" name="Text Box 34"/>
          <p:cNvSpPr txBox="1">
            <a:spLocks noChangeArrowheads="1"/>
          </p:cNvSpPr>
          <p:nvPr/>
        </p:nvSpPr>
        <p:spPr bwMode="auto">
          <a:xfrm>
            <a:off x="2351088" y="595313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按列序为主序存放 </a:t>
            </a:r>
          </a:p>
        </p:txBody>
      </p:sp>
      <p:grpSp>
        <p:nvGrpSpPr>
          <p:cNvPr id="8280" name="Group 88"/>
          <p:cNvGrpSpPr>
            <a:grpSpLocks/>
          </p:cNvGrpSpPr>
          <p:nvPr/>
        </p:nvGrpSpPr>
        <p:grpSpPr bwMode="auto">
          <a:xfrm>
            <a:off x="7391400" y="476251"/>
            <a:ext cx="2757488" cy="5922963"/>
            <a:chOff x="3696" y="300"/>
            <a:chExt cx="1737" cy="3731"/>
          </a:xfrm>
        </p:grpSpPr>
        <p:sp>
          <p:nvSpPr>
            <p:cNvPr id="8227" name="Text Box 35"/>
            <p:cNvSpPr txBox="1">
              <a:spLocks noChangeArrowheads="1"/>
            </p:cNvSpPr>
            <p:nvPr/>
          </p:nvSpPr>
          <p:spPr bwMode="auto">
            <a:xfrm>
              <a:off x="4154" y="32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ea typeface="宋体" pitchFamily="2" charset="-122"/>
                </a:rPr>
                <a:t>0</a:t>
              </a:r>
            </a:p>
          </p:txBody>
        </p:sp>
        <p:sp>
          <p:nvSpPr>
            <p:cNvPr id="8228" name="Text Box 36"/>
            <p:cNvSpPr txBox="1">
              <a:spLocks noChangeArrowheads="1"/>
            </p:cNvSpPr>
            <p:nvPr/>
          </p:nvSpPr>
          <p:spPr bwMode="auto">
            <a:xfrm>
              <a:off x="4150" y="61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ea typeface="宋体" pitchFamily="2" charset="-122"/>
                </a:rPr>
                <a:t>1</a:t>
              </a:r>
            </a:p>
          </p:txBody>
        </p:sp>
        <p:sp>
          <p:nvSpPr>
            <p:cNvPr id="8229" name="Line 37"/>
            <p:cNvSpPr>
              <a:spLocks noChangeShapeType="1"/>
            </p:cNvSpPr>
            <p:nvPr/>
          </p:nvSpPr>
          <p:spPr bwMode="auto">
            <a:xfrm>
              <a:off x="4241" y="889"/>
              <a:ext cx="0" cy="31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0" name="Text Box 38"/>
            <p:cNvSpPr txBox="1">
              <a:spLocks noChangeArrowheads="1"/>
            </p:cNvSpPr>
            <p:nvPr/>
          </p:nvSpPr>
          <p:spPr bwMode="auto">
            <a:xfrm>
              <a:off x="3923" y="1162"/>
              <a:ext cx="4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ea typeface="宋体" pitchFamily="2" charset="-122"/>
                </a:rPr>
                <a:t>m</a:t>
              </a:r>
              <a:r>
                <a:rPr lang="en-US" altLang="zh-CN" sz="2400">
                  <a:ea typeface="宋体" pitchFamily="2" charset="-122"/>
                </a:rPr>
                <a:t> -1</a:t>
              </a:r>
            </a:p>
          </p:txBody>
        </p:sp>
        <p:sp>
          <p:nvSpPr>
            <p:cNvPr id="8231" name="Text Box 39"/>
            <p:cNvSpPr txBox="1">
              <a:spLocks noChangeArrowheads="1"/>
            </p:cNvSpPr>
            <p:nvPr/>
          </p:nvSpPr>
          <p:spPr bwMode="auto">
            <a:xfrm>
              <a:off x="3696" y="3727"/>
              <a:ext cx="6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ea typeface="宋体" pitchFamily="2" charset="-122"/>
                </a:rPr>
                <a:t>m*n </a:t>
              </a:r>
              <a:r>
                <a:rPr lang="en-US" altLang="zh-CN" sz="2400">
                  <a:ea typeface="宋体" pitchFamily="2" charset="-122"/>
                </a:rPr>
                <a:t>-1</a:t>
              </a:r>
            </a:p>
          </p:txBody>
        </p:sp>
        <p:sp>
          <p:nvSpPr>
            <p:cNvPr id="8232" name="Text Box 40"/>
            <p:cNvSpPr txBox="1">
              <a:spLocks noChangeArrowheads="1"/>
            </p:cNvSpPr>
            <p:nvPr/>
          </p:nvSpPr>
          <p:spPr bwMode="auto">
            <a:xfrm>
              <a:off x="4122" y="1462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ea typeface="宋体" pitchFamily="2" charset="-122"/>
                </a:rPr>
                <a:t>m</a:t>
              </a:r>
            </a:p>
          </p:txBody>
        </p:sp>
        <p:grpSp>
          <p:nvGrpSpPr>
            <p:cNvPr id="8233" name="Group 41"/>
            <p:cNvGrpSpPr>
              <a:grpSpLocks/>
            </p:cNvGrpSpPr>
            <p:nvPr/>
          </p:nvGrpSpPr>
          <p:grpSpPr bwMode="auto">
            <a:xfrm>
              <a:off x="4377" y="300"/>
              <a:ext cx="1056" cy="3731"/>
              <a:chOff x="432" y="576"/>
              <a:chExt cx="1056" cy="3731"/>
            </a:xfrm>
          </p:grpSpPr>
          <p:sp>
            <p:nvSpPr>
              <p:cNvPr id="8234" name="Rectangle 42"/>
              <p:cNvSpPr>
                <a:spLocks noChangeArrowheads="1"/>
              </p:cNvSpPr>
              <p:nvPr/>
            </p:nvSpPr>
            <p:spPr bwMode="auto">
              <a:xfrm>
                <a:off x="432" y="4020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     </a:t>
                </a:r>
                <a:r>
                  <a:rPr kumimoji="0" lang="en-US" altLang="zh-CN" sz="2400" i="1">
                    <a:ea typeface="宋体" pitchFamily="2" charset="-122"/>
                  </a:rPr>
                  <a:t>a</a:t>
                </a:r>
                <a:r>
                  <a:rPr kumimoji="0" lang="en-US" altLang="zh-CN" sz="2400" i="1" baseline="-25000">
                    <a:ea typeface="宋体" pitchFamily="2" charset="-122"/>
                  </a:rPr>
                  <a:t>m</a:t>
                </a:r>
                <a:r>
                  <a:rPr kumimoji="0" lang="en-US" altLang="zh-CN" sz="2400" baseline="-25000">
                    <a:ea typeface="宋体" pitchFamily="2" charset="-122"/>
                  </a:rPr>
                  <a:t>-1,</a:t>
                </a:r>
                <a:r>
                  <a:rPr kumimoji="0" lang="en-US" altLang="zh-CN" sz="2400" i="1" baseline="-25000">
                    <a:ea typeface="宋体" pitchFamily="2" charset="-122"/>
                  </a:rPr>
                  <a:t> n</a:t>
                </a:r>
                <a:r>
                  <a:rPr kumimoji="0" lang="en-US" altLang="zh-CN" sz="2400" baseline="-25000">
                    <a:ea typeface="宋体" pitchFamily="2" charset="-122"/>
                  </a:rPr>
                  <a:t>-1</a:t>
                </a:r>
                <a:endParaRPr kumimoji="0" lang="en-US" altLang="zh-CN" sz="2400" i="1" baseline="-25000">
                  <a:ea typeface="宋体" pitchFamily="2" charset="-122"/>
                </a:endParaRPr>
              </a:p>
            </p:txBody>
          </p:sp>
          <p:sp>
            <p:nvSpPr>
              <p:cNvPr id="8235" name="Rectangle 43"/>
              <p:cNvSpPr>
                <a:spLocks noChangeArrowheads="1"/>
              </p:cNvSpPr>
              <p:nvPr/>
            </p:nvSpPr>
            <p:spPr bwMode="auto">
              <a:xfrm>
                <a:off x="432" y="3733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   </a:t>
                </a:r>
                <a:r>
                  <a:rPr kumimoji="0" lang="en-US" altLang="zh-CN" sz="2400">
                    <a:ea typeface="宋体" pitchFamily="2" charset="-122"/>
                  </a:rPr>
                  <a:t>…….. </a:t>
                </a:r>
              </a:p>
            </p:txBody>
          </p:sp>
          <p:sp>
            <p:nvSpPr>
              <p:cNvPr id="8236" name="Rectangle 44"/>
              <p:cNvSpPr>
                <a:spLocks noChangeArrowheads="1"/>
              </p:cNvSpPr>
              <p:nvPr/>
            </p:nvSpPr>
            <p:spPr bwMode="auto">
              <a:xfrm>
                <a:off x="432" y="3446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 baseline="-250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        </a:t>
                </a:r>
                <a:r>
                  <a:rPr kumimoji="0" lang="en-US" altLang="zh-CN" sz="2400" i="1">
                    <a:ea typeface="宋体" pitchFamily="2" charset="-122"/>
                  </a:rPr>
                  <a:t>a</a:t>
                </a:r>
                <a:r>
                  <a:rPr kumimoji="0" lang="en-US" altLang="zh-CN" sz="2400" baseline="-25000">
                    <a:ea typeface="宋体" pitchFamily="2" charset="-122"/>
                  </a:rPr>
                  <a:t>1, </a:t>
                </a:r>
                <a:r>
                  <a:rPr kumimoji="0" lang="en-US" altLang="zh-CN" sz="2400" i="1" baseline="-25000">
                    <a:ea typeface="宋体" pitchFamily="2" charset="-122"/>
                  </a:rPr>
                  <a:t>n</a:t>
                </a:r>
                <a:r>
                  <a:rPr kumimoji="0" lang="en-US" altLang="zh-CN" sz="2400" baseline="-25000">
                    <a:ea typeface="宋体" pitchFamily="2" charset="-122"/>
                  </a:rPr>
                  <a:t>-1</a:t>
                </a:r>
                <a:endParaRPr kumimoji="0" lang="en-US" altLang="zh-CN" sz="2400" i="1" baseline="-25000">
                  <a:ea typeface="宋体" pitchFamily="2" charset="-122"/>
                </a:endParaRPr>
              </a:p>
            </p:txBody>
          </p:sp>
          <p:sp>
            <p:nvSpPr>
              <p:cNvPr id="8237" name="Rectangle 45"/>
              <p:cNvSpPr>
                <a:spLocks noChangeArrowheads="1"/>
              </p:cNvSpPr>
              <p:nvPr/>
            </p:nvSpPr>
            <p:spPr bwMode="auto">
              <a:xfrm>
                <a:off x="432" y="3159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     </a:t>
                </a:r>
                <a:r>
                  <a:rPr kumimoji="0" lang="en-US" altLang="zh-CN" sz="2400" i="1">
                    <a:ea typeface="宋体" pitchFamily="2" charset="-122"/>
                  </a:rPr>
                  <a:t>a</a:t>
                </a:r>
                <a:r>
                  <a:rPr kumimoji="0" lang="en-US" altLang="zh-CN" sz="2400" baseline="-25000">
                    <a:ea typeface="宋体" pitchFamily="2" charset="-122"/>
                  </a:rPr>
                  <a:t>0, </a:t>
                </a:r>
                <a:r>
                  <a:rPr kumimoji="0" lang="en-US" altLang="zh-CN" sz="2400" i="1" baseline="-25000">
                    <a:ea typeface="宋体" pitchFamily="2" charset="-122"/>
                  </a:rPr>
                  <a:t>n</a:t>
                </a:r>
                <a:r>
                  <a:rPr kumimoji="0" lang="en-US" altLang="zh-CN" sz="2400" baseline="-25000">
                    <a:ea typeface="宋体" pitchFamily="2" charset="-122"/>
                  </a:rPr>
                  <a:t>-1 </a:t>
                </a:r>
              </a:p>
            </p:txBody>
          </p:sp>
          <p:sp>
            <p:nvSpPr>
              <p:cNvPr id="8238" name="Rectangle 46"/>
              <p:cNvSpPr>
                <a:spLocks noChangeArrowheads="1"/>
              </p:cNvSpPr>
              <p:nvPr/>
            </p:nvSpPr>
            <p:spPr bwMode="auto">
              <a:xfrm>
                <a:off x="432" y="2872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>
                    <a:ea typeface="宋体" pitchFamily="2" charset="-122"/>
                  </a:rPr>
                  <a:t> ……….</a:t>
                </a:r>
                <a:endParaRPr kumimoji="0" lang="en-US" altLang="zh-CN" sz="2400" b="0">
                  <a:ea typeface="宋体" pitchFamily="2" charset="-122"/>
                </a:endParaRPr>
              </a:p>
            </p:txBody>
          </p:sp>
          <p:sp>
            <p:nvSpPr>
              <p:cNvPr id="8239" name="Rectangle 47"/>
              <p:cNvSpPr>
                <a:spLocks noChangeArrowheads="1"/>
              </p:cNvSpPr>
              <p:nvPr/>
            </p:nvSpPr>
            <p:spPr bwMode="auto">
              <a:xfrm>
                <a:off x="432" y="2585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>
                    <a:solidFill>
                      <a:srgbClr val="0000FF"/>
                    </a:solidFill>
                    <a:ea typeface="宋体" pitchFamily="2" charset="-122"/>
                  </a:rPr>
                  <a:t>      </a:t>
                </a:r>
                <a:r>
                  <a:rPr kumimoji="0" lang="en-US" altLang="zh-CN" sz="2400" i="1">
                    <a:solidFill>
                      <a:srgbClr val="0000FF"/>
                    </a:solidFill>
                    <a:ea typeface="宋体" pitchFamily="2" charset="-122"/>
                  </a:rPr>
                  <a:t>a</a:t>
                </a:r>
                <a:r>
                  <a:rPr kumimoji="0" lang="en-US" altLang="zh-CN" sz="2400" i="1" baseline="-25000">
                    <a:solidFill>
                      <a:srgbClr val="0000FF"/>
                    </a:solidFill>
                    <a:ea typeface="宋体" pitchFamily="2" charset="-122"/>
                  </a:rPr>
                  <a:t>m</a:t>
                </a:r>
                <a:r>
                  <a:rPr kumimoji="0" lang="en-US" altLang="zh-CN" sz="2400" baseline="-25000">
                    <a:solidFill>
                      <a:srgbClr val="0000FF"/>
                    </a:solidFill>
                    <a:ea typeface="宋体" pitchFamily="2" charset="-122"/>
                  </a:rPr>
                  <a:t>-1, 1 </a:t>
                </a:r>
              </a:p>
            </p:txBody>
          </p:sp>
          <p:sp>
            <p:nvSpPr>
              <p:cNvPr id="8240" name="Rectangle 48"/>
              <p:cNvSpPr>
                <a:spLocks noChangeArrowheads="1"/>
              </p:cNvSpPr>
              <p:nvPr/>
            </p:nvSpPr>
            <p:spPr bwMode="auto">
              <a:xfrm>
                <a:off x="432" y="2298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>
                    <a:solidFill>
                      <a:srgbClr val="0000FF"/>
                    </a:solidFill>
                    <a:ea typeface="宋体" pitchFamily="2" charset="-122"/>
                  </a:rPr>
                  <a:t>     …….. </a:t>
                </a:r>
              </a:p>
            </p:txBody>
          </p:sp>
          <p:sp>
            <p:nvSpPr>
              <p:cNvPr id="8241" name="Rectangle 49"/>
              <p:cNvSpPr>
                <a:spLocks noChangeArrowheads="1"/>
              </p:cNvSpPr>
              <p:nvPr/>
            </p:nvSpPr>
            <p:spPr bwMode="auto">
              <a:xfrm>
                <a:off x="432" y="2011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 baseline="-25000">
                    <a:solidFill>
                      <a:srgbClr val="0000FF"/>
                    </a:solidFill>
                    <a:ea typeface="宋体" pitchFamily="2" charset="-122"/>
                  </a:rPr>
                  <a:t>         </a:t>
                </a:r>
                <a:r>
                  <a:rPr kumimoji="0" lang="en-US" altLang="zh-CN" sz="2400" i="1">
                    <a:solidFill>
                      <a:srgbClr val="0000FF"/>
                    </a:solidFill>
                    <a:ea typeface="宋体" pitchFamily="2" charset="-122"/>
                  </a:rPr>
                  <a:t>a</a:t>
                </a:r>
                <a:r>
                  <a:rPr kumimoji="0" lang="en-US" altLang="zh-CN" sz="2400" baseline="-25000">
                    <a:solidFill>
                      <a:srgbClr val="0000FF"/>
                    </a:solidFill>
                    <a:ea typeface="宋体" pitchFamily="2" charset="-122"/>
                  </a:rPr>
                  <a:t>11</a:t>
                </a:r>
              </a:p>
            </p:txBody>
          </p:sp>
          <p:sp>
            <p:nvSpPr>
              <p:cNvPr id="8242" name="Rectangle 50"/>
              <p:cNvSpPr>
                <a:spLocks noChangeArrowheads="1"/>
              </p:cNvSpPr>
              <p:nvPr/>
            </p:nvSpPr>
            <p:spPr bwMode="auto">
              <a:xfrm>
                <a:off x="432" y="1724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>
                    <a:solidFill>
                      <a:srgbClr val="0000FF"/>
                    </a:solidFill>
                    <a:ea typeface="宋体" pitchFamily="2" charset="-122"/>
                  </a:rPr>
                  <a:t>      </a:t>
                </a:r>
                <a:r>
                  <a:rPr kumimoji="0" lang="en-US" altLang="zh-CN" sz="2400" i="1">
                    <a:solidFill>
                      <a:srgbClr val="0000FF"/>
                    </a:solidFill>
                    <a:ea typeface="宋体" pitchFamily="2" charset="-122"/>
                  </a:rPr>
                  <a:t>a</a:t>
                </a:r>
                <a:r>
                  <a:rPr kumimoji="0" lang="en-US" altLang="zh-CN" sz="2400" baseline="-25000">
                    <a:solidFill>
                      <a:srgbClr val="0000FF"/>
                    </a:solidFill>
                    <a:ea typeface="宋体" pitchFamily="2" charset="-122"/>
                  </a:rPr>
                  <a:t>01 </a:t>
                </a:r>
              </a:p>
            </p:txBody>
          </p:sp>
          <p:sp>
            <p:nvSpPr>
              <p:cNvPr id="8243" name="Rectangle 51"/>
              <p:cNvSpPr>
                <a:spLocks noChangeArrowheads="1"/>
              </p:cNvSpPr>
              <p:nvPr/>
            </p:nvSpPr>
            <p:spPr bwMode="auto">
              <a:xfrm>
                <a:off x="432" y="1437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>
                    <a:solidFill>
                      <a:srgbClr val="FF0000"/>
                    </a:solidFill>
                    <a:ea typeface="宋体" pitchFamily="2" charset="-122"/>
                  </a:rPr>
                  <a:t>      </a:t>
                </a:r>
                <a:r>
                  <a:rPr kumimoji="0" lang="en-US" altLang="zh-CN" sz="2400" i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a</a:t>
                </a:r>
                <a:r>
                  <a:rPr kumimoji="0" lang="en-US" altLang="zh-CN" sz="2400" i="1" baseline="-2500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m</a:t>
                </a:r>
                <a:r>
                  <a:rPr kumimoji="0" lang="en-US" altLang="zh-CN" sz="2400" baseline="-2500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-1, 0</a:t>
                </a:r>
                <a:r>
                  <a:rPr kumimoji="0" lang="en-US" altLang="zh-CN" sz="2400" baseline="-25000">
                    <a:ea typeface="宋体" pitchFamily="2" charset="-122"/>
                  </a:rPr>
                  <a:t> </a:t>
                </a:r>
                <a:endParaRPr kumimoji="0" lang="en-US" altLang="zh-CN" sz="2400" b="0">
                  <a:ea typeface="宋体" pitchFamily="2" charset="-122"/>
                </a:endParaRPr>
              </a:p>
            </p:txBody>
          </p:sp>
          <p:sp>
            <p:nvSpPr>
              <p:cNvPr id="8244" name="Rectangle 52"/>
              <p:cNvSpPr>
                <a:spLocks noChangeArrowheads="1"/>
              </p:cNvSpPr>
              <p:nvPr/>
            </p:nvSpPr>
            <p:spPr bwMode="auto">
              <a:xfrm>
                <a:off x="432" y="1150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   …….</a:t>
                </a:r>
              </a:p>
            </p:txBody>
          </p:sp>
          <p:sp>
            <p:nvSpPr>
              <p:cNvPr id="8245" name="Rectangle 53"/>
              <p:cNvSpPr>
                <a:spLocks noChangeArrowheads="1"/>
              </p:cNvSpPr>
              <p:nvPr/>
            </p:nvSpPr>
            <p:spPr bwMode="auto">
              <a:xfrm>
                <a:off x="432" y="863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      </a:t>
                </a:r>
                <a:r>
                  <a:rPr kumimoji="0" lang="en-US" altLang="zh-CN" sz="2400" i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a</a:t>
                </a:r>
                <a:r>
                  <a:rPr kumimoji="0" lang="en-US" altLang="zh-CN" sz="2400" baseline="-2500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10</a:t>
                </a:r>
              </a:p>
            </p:txBody>
          </p:sp>
          <p:sp>
            <p:nvSpPr>
              <p:cNvPr id="8246" name="Rectangle 54"/>
              <p:cNvSpPr>
                <a:spLocks noChangeArrowheads="1"/>
              </p:cNvSpPr>
              <p:nvPr/>
            </p:nvSpPr>
            <p:spPr bwMode="auto">
              <a:xfrm>
                <a:off x="432" y="576"/>
                <a:ext cx="1056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kumimoji="0" lang="en-US" altLang="zh-CN" sz="2400" baseline="-25000">
                    <a:effectLst>
                      <a:outerShdw blurRad="38100" dist="38100" dir="2700000" algn="tl">
                        <a:srgbClr val="FFFFFF"/>
                      </a:outerShdw>
                    </a:effectLst>
                    <a:ea typeface="宋体" pitchFamily="2" charset="-122"/>
                  </a:rPr>
                  <a:t>         </a:t>
                </a:r>
                <a:r>
                  <a:rPr kumimoji="0" lang="en-US" altLang="zh-CN" sz="2400" i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a</a:t>
                </a:r>
                <a:r>
                  <a:rPr kumimoji="0" lang="en-US" altLang="zh-CN" sz="2400" baseline="-2500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ea typeface="宋体" pitchFamily="2" charset="-122"/>
                  </a:rPr>
                  <a:t>00</a:t>
                </a:r>
              </a:p>
            </p:txBody>
          </p:sp>
          <p:sp>
            <p:nvSpPr>
              <p:cNvPr id="8247" name="Line 55"/>
              <p:cNvSpPr>
                <a:spLocks noChangeShapeType="1"/>
              </p:cNvSpPr>
              <p:nvPr/>
            </p:nvSpPr>
            <p:spPr bwMode="auto">
              <a:xfrm>
                <a:off x="432" y="576"/>
                <a:ext cx="105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8" name="Line 56"/>
              <p:cNvSpPr>
                <a:spLocks noChangeShapeType="1"/>
              </p:cNvSpPr>
              <p:nvPr/>
            </p:nvSpPr>
            <p:spPr bwMode="auto">
              <a:xfrm>
                <a:off x="432" y="863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9" name="Line 57"/>
              <p:cNvSpPr>
                <a:spLocks noChangeShapeType="1"/>
              </p:cNvSpPr>
              <p:nvPr/>
            </p:nvSpPr>
            <p:spPr bwMode="auto">
              <a:xfrm>
                <a:off x="432" y="1150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0" name="Line 58"/>
              <p:cNvSpPr>
                <a:spLocks noChangeShapeType="1"/>
              </p:cNvSpPr>
              <p:nvPr/>
            </p:nvSpPr>
            <p:spPr bwMode="auto">
              <a:xfrm>
                <a:off x="432" y="1437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1" name="Line 59"/>
              <p:cNvSpPr>
                <a:spLocks noChangeShapeType="1"/>
              </p:cNvSpPr>
              <p:nvPr/>
            </p:nvSpPr>
            <p:spPr bwMode="auto">
              <a:xfrm>
                <a:off x="432" y="1724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2" name="Line 60"/>
              <p:cNvSpPr>
                <a:spLocks noChangeShapeType="1"/>
              </p:cNvSpPr>
              <p:nvPr/>
            </p:nvSpPr>
            <p:spPr bwMode="auto">
              <a:xfrm>
                <a:off x="432" y="2011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3" name="Line 61"/>
              <p:cNvSpPr>
                <a:spLocks noChangeShapeType="1"/>
              </p:cNvSpPr>
              <p:nvPr/>
            </p:nvSpPr>
            <p:spPr bwMode="auto">
              <a:xfrm>
                <a:off x="432" y="2298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4" name="Line 62"/>
              <p:cNvSpPr>
                <a:spLocks noChangeShapeType="1"/>
              </p:cNvSpPr>
              <p:nvPr/>
            </p:nvSpPr>
            <p:spPr bwMode="auto">
              <a:xfrm>
                <a:off x="432" y="2585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5" name="Line 63"/>
              <p:cNvSpPr>
                <a:spLocks noChangeShapeType="1"/>
              </p:cNvSpPr>
              <p:nvPr/>
            </p:nvSpPr>
            <p:spPr bwMode="auto">
              <a:xfrm>
                <a:off x="432" y="2872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6" name="Line 64"/>
              <p:cNvSpPr>
                <a:spLocks noChangeShapeType="1"/>
              </p:cNvSpPr>
              <p:nvPr/>
            </p:nvSpPr>
            <p:spPr bwMode="auto">
              <a:xfrm>
                <a:off x="432" y="3159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7" name="Line 65"/>
              <p:cNvSpPr>
                <a:spLocks noChangeShapeType="1"/>
              </p:cNvSpPr>
              <p:nvPr/>
            </p:nvSpPr>
            <p:spPr bwMode="auto">
              <a:xfrm>
                <a:off x="432" y="3446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8" name="Line 66"/>
              <p:cNvSpPr>
                <a:spLocks noChangeShapeType="1"/>
              </p:cNvSpPr>
              <p:nvPr/>
            </p:nvSpPr>
            <p:spPr bwMode="auto">
              <a:xfrm>
                <a:off x="432" y="3733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9" name="Line 67"/>
              <p:cNvSpPr>
                <a:spLocks noChangeShapeType="1"/>
              </p:cNvSpPr>
              <p:nvPr/>
            </p:nvSpPr>
            <p:spPr bwMode="auto">
              <a:xfrm>
                <a:off x="432" y="4020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60" name="Line 68"/>
              <p:cNvSpPr>
                <a:spLocks noChangeShapeType="1"/>
              </p:cNvSpPr>
              <p:nvPr/>
            </p:nvSpPr>
            <p:spPr bwMode="auto">
              <a:xfrm>
                <a:off x="432" y="4307"/>
                <a:ext cx="105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61" name="Line 69"/>
              <p:cNvSpPr>
                <a:spLocks noChangeShapeType="1"/>
              </p:cNvSpPr>
              <p:nvPr/>
            </p:nvSpPr>
            <p:spPr bwMode="auto">
              <a:xfrm>
                <a:off x="432" y="576"/>
                <a:ext cx="0" cy="373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62" name="Line 70"/>
              <p:cNvSpPr>
                <a:spLocks noChangeShapeType="1"/>
              </p:cNvSpPr>
              <p:nvPr/>
            </p:nvSpPr>
            <p:spPr bwMode="auto">
              <a:xfrm>
                <a:off x="1488" y="576"/>
                <a:ext cx="0" cy="373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284" name="Group 92"/>
          <p:cNvGrpSpPr>
            <a:grpSpLocks/>
          </p:cNvGrpSpPr>
          <p:nvPr/>
        </p:nvGrpSpPr>
        <p:grpSpPr bwMode="auto">
          <a:xfrm>
            <a:off x="2247901" y="1268413"/>
            <a:ext cx="5864225" cy="1719262"/>
            <a:chOff x="139" y="799"/>
            <a:chExt cx="3694" cy="1083"/>
          </a:xfrm>
        </p:grpSpPr>
        <p:sp>
          <p:nvSpPr>
            <p:cNvPr id="8264" name="Text Box 72"/>
            <p:cNvSpPr txBox="1">
              <a:spLocks noChangeArrowheads="1"/>
            </p:cNvSpPr>
            <p:nvPr/>
          </p:nvSpPr>
          <p:spPr bwMode="auto">
            <a:xfrm>
              <a:off x="139" y="799"/>
              <a:ext cx="369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 </a:t>
              </a:r>
              <a:r>
                <a:rPr lang="en-US" altLang="zh-CN" sz="2800" baseline="-25000">
                  <a:ea typeface="宋体" pitchFamily="2" charset="-122"/>
                </a:rPr>
                <a:t>     </a:t>
              </a:r>
              <a:r>
                <a:rPr lang="en-US" altLang="zh-CN" sz="2800" i="1" baseline="-25000">
                  <a:ea typeface="宋体" pitchFamily="2" charset="-122"/>
                </a:rPr>
                <a:t> 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a</a:t>
              </a:r>
              <a:r>
                <a:rPr lang="en-US" altLang="zh-CN" sz="2800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00</a:t>
              </a:r>
              <a:r>
                <a:rPr lang="en-US" altLang="zh-CN" sz="2800" baseline="-25000">
                  <a:solidFill>
                    <a:srgbClr val="FF0000"/>
                  </a:solidFill>
                  <a:ea typeface="宋体" pitchFamily="2" charset="-122"/>
                </a:rPr>
                <a:t>    </a:t>
              </a:r>
              <a:r>
                <a:rPr lang="en-US" altLang="zh-CN" sz="2800" baseline="-25000">
                  <a:solidFill>
                    <a:srgbClr val="008000"/>
                  </a:solidFill>
                  <a:ea typeface="宋体" pitchFamily="2" charset="-122"/>
                </a:rPr>
                <a:t>      </a:t>
              </a:r>
              <a:r>
                <a:rPr lang="en-US" altLang="zh-CN" sz="28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  <a:r>
                <a:rPr lang="en-US" altLang="zh-CN" sz="2800" baseline="-25000">
                  <a:solidFill>
                    <a:srgbClr val="0000FF"/>
                  </a:solidFill>
                  <a:ea typeface="宋体" pitchFamily="2" charset="-122"/>
                </a:rPr>
                <a:t>01</a:t>
              </a:r>
              <a:r>
                <a:rPr lang="en-US" altLang="zh-CN" sz="2800" baseline="-25000">
                  <a:solidFill>
                    <a:srgbClr val="FF0000"/>
                  </a:solidFill>
                  <a:ea typeface="宋体" pitchFamily="2" charset="-122"/>
                </a:rPr>
                <a:t>        </a:t>
              </a:r>
              <a:r>
                <a:rPr lang="en-US" altLang="zh-CN" sz="2800">
                  <a:ea typeface="宋体" pitchFamily="2" charset="-122"/>
                </a:rPr>
                <a:t>……..</a:t>
              </a:r>
              <a:r>
                <a:rPr lang="en-US" altLang="zh-CN" sz="2800">
                  <a:solidFill>
                    <a:srgbClr val="FF0000"/>
                  </a:solidFill>
                  <a:ea typeface="宋体" pitchFamily="2" charset="-122"/>
                </a:rPr>
                <a:t>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0, </a:t>
              </a:r>
              <a:r>
                <a:rPr lang="en-US" altLang="zh-CN" sz="2800" i="1" baseline="-25000">
                  <a:ea typeface="宋体" pitchFamily="2" charset="-122"/>
                </a:rPr>
                <a:t>n</a:t>
              </a:r>
              <a:r>
                <a:rPr lang="en-US" altLang="zh-CN" sz="2800" baseline="-25000">
                  <a:ea typeface="宋体" pitchFamily="2" charset="-122"/>
                </a:rPr>
                <a:t>-1</a:t>
              </a:r>
              <a:r>
                <a:rPr lang="en-US" altLang="zh-CN" sz="2800" i="1" baseline="-25000">
                  <a:solidFill>
                    <a:schemeClr val="accent2"/>
                  </a:solidFill>
                  <a:ea typeface="宋体" pitchFamily="2" charset="-122"/>
                </a:rPr>
                <a:t> </a:t>
              </a:r>
              <a:r>
                <a:rPr lang="en-US" altLang="zh-CN" sz="2000" baseline="-25000">
                  <a:solidFill>
                    <a:schemeClr val="accent2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8265" name="Text Box 73"/>
            <p:cNvSpPr txBox="1">
              <a:spLocks noChangeArrowheads="1"/>
            </p:cNvSpPr>
            <p:nvPr/>
          </p:nvSpPr>
          <p:spPr bwMode="auto">
            <a:xfrm>
              <a:off x="139" y="1065"/>
              <a:ext cx="36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</a:t>
              </a:r>
              <a:r>
                <a:rPr lang="en-US" altLang="zh-CN" sz="2800" baseline="-25000">
                  <a:ea typeface="宋体" pitchFamily="2" charset="-122"/>
                </a:rPr>
                <a:t>       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a</a:t>
              </a:r>
              <a:r>
                <a:rPr lang="en-US" altLang="zh-CN" sz="2800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10</a:t>
              </a:r>
              <a:r>
                <a:rPr lang="en-US" altLang="zh-CN" sz="2800" baseline="-25000">
                  <a:solidFill>
                    <a:srgbClr val="FF0000"/>
                  </a:solidFill>
                  <a:ea typeface="宋体" pitchFamily="2" charset="-122"/>
                </a:rPr>
                <a:t> </a:t>
              </a:r>
              <a:r>
                <a:rPr lang="en-US" altLang="zh-CN" sz="2800" baseline="-25000">
                  <a:solidFill>
                    <a:srgbClr val="008000"/>
                  </a:solidFill>
                  <a:ea typeface="宋体" pitchFamily="2" charset="-122"/>
                </a:rPr>
                <a:t>         </a:t>
              </a:r>
              <a:r>
                <a:rPr lang="en-US" altLang="zh-CN" sz="28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  <a:r>
                <a:rPr lang="en-US" altLang="zh-CN" sz="2800" baseline="-25000">
                  <a:solidFill>
                    <a:srgbClr val="0000FF"/>
                  </a:solidFill>
                  <a:ea typeface="宋体" pitchFamily="2" charset="-122"/>
                </a:rPr>
                <a:t>11</a:t>
              </a:r>
              <a:r>
                <a:rPr lang="en-US" altLang="zh-CN" sz="2800" baseline="-25000">
                  <a:solidFill>
                    <a:srgbClr val="008000"/>
                  </a:solidFill>
                  <a:ea typeface="宋体" pitchFamily="2" charset="-122"/>
                </a:rPr>
                <a:t>        </a:t>
              </a:r>
              <a:r>
                <a:rPr lang="en-US" altLang="zh-CN" sz="2800">
                  <a:ea typeface="宋体" pitchFamily="2" charset="-122"/>
                </a:rPr>
                <a:t>……..</a:t>
              </a:r>
              <a:r>
                <a:rPr lang="en-US" altLang="zh-CN" sz="2800">
                  <a:solidFill>
                    <a:srgbClr val="008000"/>
                  </a:solidFill>
                  <a:ea typeface="宋体" pitchFamily="2" charset="-122"/>
                </a:rPr>
                <a:t>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1, </a:t>
              </a:r>
              <a:r>
                <a:rPr lang="en-US" altLang="zh-CN" sz="2800" i="1" baseline="-25000">
                  <a:ea typeface="宋体" pitchFamily="2" charset="-122"/>
                </a:rPr>
                <a:t>n</a:t>
              </a:r>
              <a:r>
                <a:rPr lang="en-US" altLang="zh-CN" sz="2800" baseline="-25000">
                  <a:ea typeface="宋体" pitchFamily="2" charset="-122"/>
                </a:rPr>
                <a:t>-1</a:t>
              </a:r>
              <a:r>
                <a:rPr lang="en-US" altLang="zh-CN" sz="2800" i="1" baseline="-25000">
                  <a:solidFill>
                    <a:schemeClr val="accent2"/>
                  </a:solidFill>
                  <a:ea typeface="宋体" pitchFamily="2" charset="-122"/>
                </a:rPr>
                <a:t> </a:t>
              </a:r>
              <a:r>
                <a:rPr lang="en-US" altLang="zh-CN" sz="2000" baseline="-25000">
                  <a:solidFill>
                    <a:schemeClr val="accent2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8266" name="Text Box 74"/>
            <p:cNvSpPr txBox="1">
              <a:spLocks noChangeArrowheads="1"/>
            </p:cNvSpPr>
            <p:nvPr/>
          </p:nvSpPr>
          <p:spPr bwMode="auto">
            <a:xfrm>
              <a:off x="160" y="1473"/>
              <a:ext cx="35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aseline="-25000">
                  <a:ea typeface="宋体" pitchFamily="2" charset="-122"/>
                </a:rPr>
                <a:t>     </a:t>
              </a:r>
              <a:r>
                <a:rPr lang="en-US" altLang="zh-CN" sz="2800">
                  <a:ea typeface="宋体" pitchFamily="2" charset="-122"/>
                </a:rPr>
                <a:t>    </a:t>
              </a:r>
              <a:r>
                <a:rPr lang="en-US" altLang="zh-CN" sz="2800" baseline="-25000">
                  <a:ea typeface="宋体" pitchFamily="2" charset="-122"/>
                </a:rPr>
                <a:t>     </a:t>
              </a:r>
              <a:r>
                <a:rPr lang="en-US" altLang="zh-CN" sz="2800" i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a</a:t>
              </a:r>
              <a:r>
                <a:rPr lang="en-US" altLang="zh-CN" sz="2800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m</a:t>
              </a:r>
              <a:r>
                <a:rPr lang="en-US" altLang="zh-CN" sz="2800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宋体" pitchFamily="2" charset="-122"/>
                </a:rPr>
                <a:t>-1, 0</a:t>
              </a:r>
              <a:r>
                <a:rPr lang="en-US" altLang="zh-CN" sz="2800" baseline="-25000">
                  <a:solidFill>
                    <a:schemeClr val="accent2"/>
                  </a:solidFill>
                  <a:ea typeface="宋体" pitchFamily="2" charset="-122"/>
                </a:rPr>
                <a:t>  </a:t>
              </a:r>
              <a:r>
                <a:rPr lang="en-US" altLang="zh-CN" sz="2800" baseline="-25000">
                  <a:solidFill>
                    <a:srgbClr val="008000"/>
                  </a:solidFill>
                  <a:ea typeface="宋体" pitchFamily="2" charset="-122"/>
                </a:rPr>
                <a:t> </a:t>
              </a:r>
              <a:r>
                <a:rPr lang="en-US" altLang="zh-CN" sz="28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  <a:r>
                <a:rPr lang="en-US" altLang="zh-CN" sz="2800" i="1" baseline="-25000">
                  <a:solidFill>
                    <a:srgbClr val="0000FF"/>
                  </a:solidFill>
                  <a:ea typeface="宋体" pitchFamily="2" charset="-122"/>
                </a:rPr>
                <a:t>m</a:t>
              </a:r>
              <a:r>
                <a:rPr lang="en-US" altLang="zh-CN" sz="2800" baseline="-25000">
                  <a:solidFill>
                    <a:srgbClr val="0000FF"/>
                  </a:solidFill>
                  <a:ea typeface="宋体" pitchFamily="2" charset="-122"/>
                </a:rPr>
                <a:t>-1, 1</a:t>
              </a:r>
              <a:r>
                <a:rPr lang="en-US" altLang="zh-CN" sz="2800" baseline="-25000">
                  <a:solidFill>
                    <a:schemeClr val="accent2"/>
                  </a:solidFill>
                  <a:ea typeface="宋体" pitchFamily="2" charset="-122"/>
                </a:rPr>
                <a:t>  </a:t>
              </a:r>
              <a:r>
                <a:rPr lang="en-US" altLang="zh-CN" sz="2800">
                  <a:ea typeface="宋体" pitchFamily="2" charset="-122"/>
                </a:rPr>
                <a:t>……..</a:t>
              </a:r>
              <a:r>
                <a:rPr lang="en-US" altLang="zh-CN" sz="2800">
                  <a:solidFill>
                    <a:schemeClr val="accent2"/>
                  </a:solidFill>
                  <a:ea typeface="宋体" pitchFamily="2" charset="-122"/>
                </a:rPr>
                <a:t>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i="1" baseline="-25000">
                  <a:ea typeface="宋体" pitchFamily="2" charset="-122"/>
                </a:rPr>
                <a:t>m</a:t>
              </a:r>
              <a:r>
                <a:rPr lang="en-US" altLang="zh-CN" sz="2800" baseline="-25000">
                  <a:ea typeface="宋体" pitchFamily="2" charset="-122"/>
                </a:rPr>
                <a:t>-1, </a:t>
              </a:r>
              <a:r>
                <a:rPr lang="en-US" altLang="zh-CN" sz="2800" i="1" baseline="-25000">
                  <a:ea typeface="宋体" pitchFamily="2" charset="-122"/>
                </a:rPr>
                <a:t>n</a:t>
              </a:r>
              <a:r>
                <a:rPr lang="en-US" altLang="zh-CN" sz="2800" baseline="-25000">
                  <a:ea typeface="宋体" pitchFamily="2" charset="-122"/>
                </a:rPr>
                <a:t>-1</a:t>
              </a:r>
              <a:r>
                <a:rPr lang="en-US" altLang="zh-CN" sz="2800" i="1" baseline="-25000">
                  <a:solidFill>
                    <a:schemeClr val="accent2"/>
                  </a:solidFill>
                  <a:ea typeface="宋体" pitchFamily="2" charset="-122"/>
                </a:rPr>
                <a:t> </a:t>
              </a:r>
              <a:r>
                <a:rPr lang="en-US" altLang="zh-CN" sz="2000" i="1" baseline="-25000">
                  <a:ea typeface="宋体" pitchFamily="2" charset="-122"/>
                </a:rPr>
                <a:t> </a:t>
              </a:r>
            </a:p>
          </p:txBody>
        </p:sp>
        <p:sp>
          <p:nvSpPr>
            <p:cNvPr id="8267" name="Text Box 75"/>
            <p:cNvSpPr txBox="1">
              <a:spLocks noChangeArrowheads="1"/>
            </p:cNvSpPr>
            <p:nvPr/>
          </p:nvSpPr>
          <p:spPr bwMode="auto">
            <a:xfrm>
              <a:off x="431" y="1289"/>
              <a:ext cx="268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       ………………….</a:t>
              </a:r>
            </a:p>
          </p:txBody>
        </p:sp>
        <p:sp>
          <p:nvSpPr>
            <p:cNvPr id="8268" name="Line 76"/>
            <p:cNvSpPr>
              <a:spLocks noChangeShapeType="1"/>
            </p:cNvSpPr>
            <p:nvPr/>
          </p:nvSpPr>
          <p:spPr bwMode="auto">
            <a:xfrm>
              <a:off x="667" y="799"/>
              <a:ext cx="0" cy="10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9" name="Line 77"/>
            <p:cNvSpPr>
              <a:spLocks noChangeShapeType="1"/>
            </p:cNvSpPr>
            <p:nvPr/>
          </p:nvSpPr>
          <p:spPr bwMode="auto">
            <a:xfrm>
              <a:off x="667" y="799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0" name="Line 78"/>
            <p:cNvSpPr>
              <a:spLocks noChangeShapeType="1"/>
            </p:cNvSpPr>
            <p:nvPr/>
          </p:nvSpPr>
          <p:spPr bwMode="auto">
            <a:xfrm>
              <a:off x="667" y="188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1" name="Line 79"/>
            <p:cNvSpPr>
              <a:spLocks noChangeShapeType="1"/>
            </p:cNvSpPr>
            <p:nvPr/>
          </p:nvSpPr>
          <p:spPr bwMode="auto">
            <a:xfrm>
              <a:off x="3470" y="799"/>
              <a:ext cx="0" cy="10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2" name="Line 80"/>
            <p:cNvSpPr>
              <a:spLocks noChangeShapeType="1"/>
            </p:cNvSpPr>
            <p:nvPr/>
          </p:nvSpPr>
          <p:spPr bwMode="auto">
            <a:xfrm>
              <a:off x="3326" y="799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3" name="Line 81"/>
            <p:cNvSpPr>
              <a:spLocks noChangeShapeType="1"/>
            </p:cNvSpPr>
            <p:nvPr/>
          </p:nvSpPr>
          <p:spPr bwMode="auto">
            <a:xfrm>
              <a:off x="3326" y="188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75" name="Text Box 83"/>
          <p:cNvSpPr txBox="1">
            <a:spLocks noChangeArrowheads="1"/>
          </p:cNvSpPr>
          <p:nvPr/>
        </p:nvSpPr>
        <p:spPr bwMode="auto">
          <a:xfrm>
            <a:off x="2255838" y="3209926"/>
            <a:ext cx="5783262" cy="1296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75000"/>
              </a:lnSpc>
            </a:pPr>
            <a:r>
              <a:rPr lang="zh-CN" altLang="en-US" sz="2400"/>
              <a:t>二维数组中任一元素</a:t>
            </a:r>
            <a:r>
              <a:rPr lang="zh-CN" altLang="en-US" sz="2400" i="1"/>
              <a:t> 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ij</a:t>
            </a:r>
            <a:r>
              <a:rPr lang="en-US" altLang="zh-CN" sz="2400"/>
              <a:t>  </a:t>
            </a:r>
            <a:r>
              <a:rPr lang="zh-CN" altLang="en-US" sz="2400"/>
              <a:t>的存储位置 </a:t>
            </a:r>
          </a:p>
          <a:p>
            <a:pPr>
              <a:lnSpc>
                <a:spcPct val="175000"/>
              </a:lnSpc>
            </a:pPr>
            <a:r>
              <a:rPr lang="zh-CN" altLang="en-US" sz="2400"/>
              <a:t>     </a:t>
            </a:r>
            <a:r>
              <a:rPr lang="en-US" altLang="zh-CN" sz="2400"/>
              <a:t>LOC(</a:t>
            </a:r>
            <a:r>
              <a:rPr lang="en-US" altLang="zh-CN" sz="2400" i="1"/>
              <a:t>i</a:t>
            </a:r>
            <a:r>
              <a:rPr lang="en-US" altLang="zh-CN" sz="2400"/>
              <a:t>,</a:t>
            </a:r>
            <a:r>
              <a:rPr lang="en-US" altLang="zh-CN" sz="2400" i="1"/>
              <a:t> j</a:t>
            </a:r>
            <a:r>
              <a:rPr lang="en-US" altLang="zh-CN" sz="2400"/>
              <a:t>) = LOC(0, 0) + (</a:t>
            </a:r>
            <a:r>
              <a:rPr lang="en-US" altLang="zh-CN" sz="2400" i="1"/>
              <a:t>b</a:t>
            </a:r>
            <a:r>
              <a:rPr lang="en-US" altLang="zh-CN" sz="2400" baseline="-25000"/>
              <a:t>1</a:t>
            </a:r>
            <a:r>
              <a:rPr lang="en-US" altLang="zh-CN" sz="2400"/>
              <a:t>×</a:t>
            </a:r>
            <a:r>
              <a:rPr lang="en-US" altLang="zh-CN" sz="2400" i="1"/>
              <a:t>j</a:t>
            </a:r>
            <a:r>
              <a:rPr lang="zh-CN" altLang="en-US" sz="2400"/>
              <a:t>＋</a:t>
            </a:r>
            <a:r>
              <a:rPr lang="en-US" altLang="zh-CN" sz="2400" i="1"/>
              <a:t>i </a:t>
            </a:r>
            <a:r>
              <a:rPr lang="en-US" altLang="zh-CN" sz="2400"/>
              <a:t>)×L </a:t>
            </a:r>
          </a:p>
        </p:txBody>
      </p:sp>
      <p:sp>
        <p:nvSpPr>
          <p:cNvPr id="8281" name="Rectangle 89"/>
          <p:cNvSpPr>
            <a:spLocks noChangeArrowheads="1"/>
          </p:cNvSpPr>
          <p:nvPr/>
        </p:nvSpPr>
        <p:spPr bwMode="auto">
          <a:xfrm>
            <a:off x="2278063" y="4683125"/>
            <a:ext cx="5472112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>
                <a:solidFill>
                  <a:srgbClr val="0000FF"/>
                </a:solidFill>
                <a:ea typeface="华文新魏" pitchFamily="2" charset="-122"/>
              </a:rPr>
              <a:t>        </a:t>
            </a:r>
            <a:r>
              <a:rPr lang="zh-CN" altLang="en-US" sz="2400">
                <a:solidFill>
                  <a:srgbClr val="0000FF"/>
                </a:solidFill>
                <a:ea typeface="华文新魏" pitchFamily="2" charset="-122"/>
              </a:rPr>
              <a:t>某个元素的地址就是它前面所有列 </a:t>
            </a:r>
          </a:p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rgbClr val="0000FF"/>
                </a:solidFill>
                <a:ea typeface="华文新魏" pitchFamily="2" charset="-122"/>
              </a:rPr>
              <a:t>所占的单元加上它所在列前面所有行元 </a:t>
            </a:r>
          </a:p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rgbClr val="0000FF"/>
                </a:solidFill>
                <a:ea typeface="华文新魏" pitchFamily="2" charset="-122"/>
              </a:rPr>
              <a:t>素所占的单元数之和。 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8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75" grpId="0"/>
      <p:bldP spid="828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2495551" y="735013"/>
            <a:ext cx="7561263" cy="268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>
                <a:ea typeface="华文中宋" pitchFamily="2" charset="-122"/>
              </a:rPr>
              <a:t>例</a:t>
            </a:r>
            <a:r>
              <a:rPr lang="zh-CN" altLang="en-US" sz="2400"/>
              <a:t> </a:t>
            </a:r>
            <a:r>
              <a:rPr lang="en-US" altLang="zh-CN" sz="2400"/>
              <a:t>1</a:t>
            </a:r>
            <a:r>
              <a:rPr lang="zh-CN" altLang="en-US" sz="2400"/>
              <a:t>：一个二维数组 </a:t>
            </a:r>
            <a:r>
              <a:rPr lang="en-US" altLang="zh-CN" sz="2400"/>
              <a:t>A</a:t>
            </a:r>
            <a:r>
              <a:rPr lang="zh-CN" altLang="en-US" sz="2400"/>
              <a:t>，行下标的范围是 </a:t>
            </a:r>
            <a:r>
              <a:rPr lang="en-US" altLang="zh-CN" sz="2400"/>
              <a:t>1 </a:t>
            </a:r>
            <a:r>
              <a:rPr lang="zh-CN" altLang="en-US" sz="2400"/>
              <a:t>到 </a:t>
            </a:r>
            <a:r>
              <a:rPr lang="en-US" altLang="zh-CN" sz="2400"/>
              <a:t>6</a:t>
            </a:r>
            <a:r>
              <a:rPr lang="zh-CN" altLang="en-US" sz="2400"/>
              <a:t>，列 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/>
              <a:t>           下标的范围是 </a:t>
            </a:r>
            <a:r>
              <a:rPr lang="en-US" altLang="zh-CN" sz="2400"/>
              <a:t>0 </a:t>
            </a:r>
            <a:r>
              <a:rPr lang="zh-CN" altLang="en-US" sz="2400"/>
              <a:t>到 </a:t>
            </a:r>
            <a:r>
              <a:rPr lang="en-US" altLang="zh-CN" sz="2400"/>
              <a:t>7</a:t>
            </a:r>
            <a:r>
              <a:rPr lang="zh-CN" altLang="en-US" sz="2400"/>
              <a:t>，每个数组元素用相邻的 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/>
              <a:t>            </a:t>
            </a:r>
            <a:r>
              <a:rPr lang="en-US" altLang="zh-CN" sz="2400"/>
              <a:t>6</a:t>
            </a:r>
            <a:r>
              <a:rPr lang="en-US" altLang="zh-CN" sz="2400" baseline="-25000"/>
              <a:t> </a:t>
            </a:r>
            <a:r>
              <a:rPr lang="zh-CN" altLang="en-US" sz="2400"/>
              <a:t>个字节存储，存储器按字节编址。那么，这 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/>
              <a:t>           个数组的体积是</a:t>
            </a:r>
            <a:r>
              <a:rPr lang="zh-CN" altLang="en-US" sz="2400" u="sng"/>
              <a:t>         </a:t>
            </a:r>
            <a:r>
              <a:rPr lang="zh-CN" altLang="en-US" sz="2400"/>
              <a:t>个字节。  </a:t>
            </a: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2782889" y="3619501"/>
            <a:ext cx="6264275" cy="247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80000"/>
              </a:lnSpc>
              <a:spcBef>
                <a:spcPct val="20000"/>
              </a:spcBef>
            </a:pPr>
            <a:r>
              <a:rPr lang="zh-CN" altLang="en-US" sz="2400">
                <a:solidFill>
                  <a:srgbClr val="000000"/>
                </a:solidFill>
                <a:ea typeface="华文中宋" pitchFamily="2" charset="-122"/>
              </a:rPr>
              <a:t>答：</a:t>
            </a:r>
            <a:r>
              <a:rPr lang="zh-CN" altLang="en-US" sz="2400"/>
              <a:t> </a:t>
            </a:r>
            <a:r>
              <a:rPr lang="en-US" altLang="zh-CN" sz="2400"/>
              <a:t>Volume = m×n×L </a:t>
            </a:r>
          </a:p>
          <a:p>
            <a:pPr marL="342900" indent="-342900">
              <a:lnSpc>
                <a:spcPct val="180000"/>
              </a:lnSpc>
              <a:spcBef>
                <a:spcPct val="20000"/>
              </a:spcBef>
            </a:pPr>
            <a:r>
              <a:rPr lang="en-US" altLang="zh-CN" sz="2400"/>
              <a:t>                       = (6 – 1 </a:t>
            </a:r>
            <a:r>
              <a:rPr lang="en-US" altLang="zh-CN" sz="2400">
                <a:solidFill>
                  <a:schemeClr val="accent2"/>
                </a:solidFill>
              </a:rPr>
              <a:t>+ 1</a:t>
            </a:r>
            <a:r>
              <a:rPr lang="en-US" altLang="zh-CN" sz="2400"/>
              <a:t>) ×(7 – 0 </a:t>
            </a:r>
            <a:r>
              <a:rPr lang="en-US" altLang="zh-CN" sz="2400">
                <a:solidFill>
                  <a:schemeClr val="accent2"/>
                </a:solidFill>
              </a:rPr>
              <a:t>+ 1</a:t>
            </a:r>
            <a:r>
              <a:rPr lang="en-US" altLang="zh-CN" sz="2400"/>
              <a:t>) ×6 </a:t>
            </a:r>
          </a:p>
          <a:p>
            <a:pPr marL="342900" indent="-342900">
              <a:lnSpc>
                <a:spcPct val="180000"/>
              </a:lnSpc>
              <a:spcBef>
                <a:spcPct val="20000"/>
              </a:spcBef>
            </a:pPr>
            <a:r>
              <a:rPr lang="en-US" altLang="zh-CN" sz="2400"/>
              <a:t>                       = 48×6 = 288 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5522466" y="2900363"/>
            <a:ext cx="717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288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 autoUpdateAnimBg="0"/>
      <p:bldP spid="7680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2136776" y="549276"/>
            <a:ext cx="7777163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例 </a:t>
            </a:r>
            <a:r>
              <a:rPr lang="en-US" altLang="zh-CN" sz="2400">
                <a:solidFill>
                  <a:srgbClr val="000000"/>
                </a:solidFill>
              </a:rPr>
              <a:t>2</a:t>
            </a:r>
            <a:r>
              <a:rPr lang="zh-CN" altLang="en-US" sz="2400">
                <a:solidFill>
                  <a:srgbClr val="000000"/>
                </a:solidFill>
              </a:rPr>
              <a:t>：</a:t>
            </a:r>
            <a:r>
              <a:rPr lang="en-US" altLang="zh-CN" sz="2400">
                <a:solidFill>
                  <a:srgbClr val="0000FF"/>
                </a:solidFill>
              </a:rPr>
              <a:t>〖</a:t>
            </a:r>
            <a:r>
              <a:rPr lang="zh-CN" altLang="en-US" sz="2400">
                <a:solidFill>
                  <a:srgbClr val="0000FF"/>
                </a:solidFill>
              </a:rPr>
              <a:t>某校计算机系考研题</a:t>
            </a:r>
            <a:r>
              <a:rPr lang="en-US" altLang="zh-CN" sz="2400">
                <a:solidFill>
                  <a:srgbClr val="0000FF"/>
                </a:solidFill>
              </a:rPr>
              <a:t>〗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>
                <a:solidFill>
                  <a:schemeClr val="accent2"/>
                </a:solidFill>
              </a:rPr>
              <a:t>        </a:t>
            </a:r>
            <a:r>
              <a:rPr lang="zh-CN" altLang="en-US" sz="2400"/>
              <a:t>设数组 </a:t>
            </a:r>
            <a:r>
              <a:rPr lang="en-US" altLang="zh-CN" sz="2400"/>
              <a:t>A[0…59, 0…69] </a:t>
            </a:r>
            <a:r>
              <a:rPr lang="zh-CN" altLang="en-US" sz="2400"/>
              <a:t>的基地址为 </a:t>
            </a:r>
            <a:r>
              <a:rPr lang="en-US" altLang="zh-CN" sz="2400"/>
              <a:t>2048</a:t>
            </a:r>
            <a:r>
              <a:rPr lang="zh-CN" altLang="en-US" sz="2400"/>
              <a:t>，每个元 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/>
              <a:t>素占 </a:t>
            </a:r>
            <a:r>
              <a:rPr lang="en-US" altLang="zh-CN" sz="2400"/>
              <a:t>2 </a:t>
            </a:r>
            <a:r>
              <a:rPr lang="zh-CN" altLang="en-US" sz="2400"/>
              <a:t>个存储单元，若</a:t>
            </a:r>
            <a:r>
              <a:rPr lang="zh-CN" altLang="en-US" sz="2400">
                <a:solidFill>
                  <a:srgbClr val="0000FF"/>
                </a:solidFill>
              </a:rPr>
              <a:t>以列序为主序</a:t>
            </a:r>
            <a:r>
              <a:rPr lang="zh-CN" altLang="en-US" sz="2400"/>
              <a:t>顺序存储，则元素  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/>
              <a:t>A[31, 57] </a:t>
            </a:r>
            <a:r>
              <a:rPr lang="zh-CN" altLang="en-US" sz="2400"/>
              <a:t>的存储地址为</a:t>
            </a:r>
            <a:r>
              <a:rPr lang="zh-CN" altLang="en-US" sz="2400" u="sng"/>
              <a:t>                        </a:t>
            </a:r>
            <a:r>
              <a:rPr lang="zh-CN" altLang="en-US" sz="2400"/>
              <a:t>。 </a:t>
            </a: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2136775" y="2781301"/>
            <a:ext cx="4464050" cy="308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205000"/>
              </a:lnSpc>
            </a:pPr>
            <a:r>
              <a:rPr kumimoji="0" lang="zh-CN" altLang="en-US" sz="2400">
                <a:ea typeface="华文中宋" pitchFamily="2" charset="-122"/>
              </a:rPr>
              <a:t>解：</a:t>
            </a:r>
            <a:r>
              <a:rPr lang="en-US" altLang="zh-CN" sz="2400"/>
              <a:t>LOC(</a:t>
            </a:r>
            <a:r>
              <a:rPr lang="en-US" altLang="zh-CN" sz="2400" i="1"/>
              <a:t>i</a:t>
            </a:r>
            <a:r>
              <a:rPr lang="en-US" altLang="zh-CN" sz="2400"/>
              <a:t>,</a:t>
            </a:r>
            <a:r>
              <a:rPr lang="en-US" altLang="zh-CN" sz="2400" i="1"/>
              <a:t> j</a:t>
            </a:r>
            <a:r>
              <a:rPr lang="en-US" altLang="zh-CN" sz="2400"/>
              <a:t>) = LOC(31, 57) </a:t>
            </a:r>
          </a:p>
          <a:p>
            <a:pPr>
              <a:lnSpc>
                <a:spcPct val="205000"/>
              </a:lnSpc>
            </a:pPr>
            <a:r>
              <a:rPr lang="en-US" altLang="zh-CN" sz="2400"/>
              <a:t>     = LOC(0, 0)+(</a:t>
            </a:r>
            <a:r>
              <a:rPr lang="en-US" altLang="zh-CN" sz="2400" i="1"/>
              <a:t>b</a:t>
            </a:r>
            <a:r>
              <a:rPr lang="en-US" altLang="zh-CN" sz="2400" baseline="-25000"/>
              <a:t>1</a:t>
            </a:r>
            <a:r>
              <a:rPr lang="en-US" altLang="zh-CN" sz="2400"/>
              <a:t>×</a:t>
            </a:r>
            <a:r>
              <a:rPr lang="en-US" altLang="zh-CN" sz="2400" i="1"/>
              <a:t>j</a:t>
            </a:r>
            <a:r>
              <a:rPr lang="zh-CN" altLang="en-US" sz="2400"/>
              <a:t>＋</a:t>
            </a:r>
            <a:r>
              <a:rPr lang="en-US" altLang="zh-CN" sz="2400" i="1"/>
              <a:t>i </a:t>
            </a:r>
            <a:r>
              <a:rPr lang="en-US" altLang="zh-CN" sz="2400"/>
              <a:t>)×L </a:t>
            </a:r>
          </a:p>
          <a:p>
            <a:pPr>
              <a:lnSpc>
                <a:spcPct val="205000"/>
              </a:lnSpc>
            </a:pPr>
            <a:r>
              <a:rPr lang="en-US" altLang="zh-CN" sz="2400"/>
              <a:t>     = 2048 + (60×57</a:t>
            </a:r>
            <a:r>
              <a:rPr lang="zh-CN" altLang="en-US" sz="2400"/>
              <a:t>＋</a:t>
            </a:r>
            <a:r>
              <a:rPr lang="en-US" altLang="zh-CN" sz="2400"/>
              <a:t>31</a:t>
            </a:r>
            <a:r>
              <a:rPr lang="en-US" altLang="zh-CN" sz="2400" i="1"/>
              <a:t> </a:t>
            </a:r>
            <a:r>
              <a:rPr lang="en-US" altLang="zh-CN" sz="2400"/>
              <a:t>)×2 </a:t>
            </a:r>
          </a:p>
          <a:p>
            <a:pPr>
              <a:lnSpc>
                <a:spcPct val="205000"/>
              </a:lnSpc>
            </a:pPr>
            <a:r>
              <a:rPr lang="en-US" altLang="zh-CN" sz="2400"/>
              <a:t>     = 8950 </a:t>
            </a: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5807075" y="2251075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8950</a:t>
            </a:r>
          </a:p>
        </p:txBody>
      </p:sp>
      <p:grpSp>
        <p:nvGrpSpPr>
          <p:cNvPr id="77831" name="Group 7"/>
          <p:cNvGrpSpPr>
            <a:grpSpLocks/>
          </p:cNvGrpSpPr>
          <p:nvPr/>
        </p:nvGrpSpPr>
        <p:grpSpPr bwMode="auto">
          <a:xfrm>
            <a:off x="5592763" y="3200400"/>
            <a:ext cx="4824412" cy="2520950"/>
            <a:chOff x="2517" y="2296"/>
            <a:chExt cx="3039" cy="1588"/>
          </a:xfrm>
        </p:grpSpPr>
        <p:sp>
          <p:nvSpPr>
            <p:cNvPr id="77832" name="Text Box 8"/>
            <p:cNvSpPr txBox="1">
              <a:spLocks noChangeArrowheads="1"/>
            </p:cNvSpPr>
            <p:nvPr/>
          </p:nvSpPr>
          <p:spPr bwMode="auto">
            <a:xfrm>
              <a:off x="2517" y="2296"/>
              <a:ext cx="299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 </a:t>
              </a:r>
              <a:r>
                <a:rPr lang="en-US" altLang="zh-CN" sz="2800" baseline="-25000">
                  <a:ea typeface="宋体" pitchFamily="2" charset="-122"/>
                </a:rPr>
                <a:t>     </a:t>
              </a:r>
              <a:r>
                <a:rPr lang="en-US" altLang="zh-CN" sz="2800" i="1" baseline="-25000">
                  <a:ea typeface="宋体" pitchFamily="2" charset="-122"/>
                </a:rPr>
                <a:t>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00       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01        </a:t>
              </a:r>
              <a:r>
                <a:rPr lang="en-US" altLang="zh-CN" sz="2800">
                  <a:ea typeface="宋体" pitchFamily="2" charset="-122"/>
                </a:rPr>
                <a:t>…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0, 69</a:t>
              </a:r>
              <a:r>
                <a:rPr lang="en-US" altLang="zh-CN" sz="2800" i="1" baseline="-25000">
                  <a:ea typeface="宋体" pitchFamily="2" charset="-122"/>
                </a:rPr>
                <a:t> </a:t>
              </a:r>
              <a:r>
                <a:rPr lang="en-US" altLang="zh-CN" sz="2000" baseline="-25000">
                  <a:ea typeface="宋体" pitchFamily="2" charset="-122"/>
                </a:rPr>
                <a:t> </a:t>
              </a:r>
            </a:p>
          </p:txBody>
        </p:sp>
        <p:sp>
          <p:nvSpPr>
            <p:cNvPr id="77833" name="Text Box 9"/>
            <p:cNvSpPr txBox="1">
              <a:spLocks noChangeArrowheads="1"/>
            </p:cNvSpPr>
            <p:nvPr/>
          </p:nvSpPr>
          <p:spPr bwMode="auto">
            <a:xfrm>
              <a:off x="2517" y="2568"/>
              <a:ext cx="29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</a:t>
              </a:r>
              <a:r>
                <a:rPr lang="en-US" altLang="zh-CN" sz="2800" baseline="-25000">
                  <a:ea typeface="宋体" pitchFamily="2" charset="-122"/>
                </a:rPr>
                <a:t>    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10       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11        </a:t>
              </a:r>
              <a:r>
                <a:rPr lang="en-US" altLang="zh-CN" sz="2800">
                  <a:ea typeface="宋体" pitchFamily="2" charset="-122"/>
                </a:rPr>
                <a:t>…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1, 69</a:t>
              </a:r>
              <a:r>
                <a:rPr lang="en-US" altLang="zh-CN" sz="2800" i="1" baseline="-25000">
                  <a:ea typeface="宋体" pitchFamily="2" charset="-122"/>
                </a:rPr>
                <a:t> </a:t>
              </a:r>
              <a:r>
                <a:rPr lang="en-US" altLang="zh-CN" sz="2000" baseline="-25000">
                  <a:ea typeface="宋体" pitchFamily="2" charset="-122"/>
                </a:rPr>
                <a:t> </a:t>
              </a:r>
            </a:p>
          </p:txBody>
        </p:sp>
        <p:sp>
          <p:nvSpPr>
            <p:cNvPr id="77834" name="Text Box 10"/>
            <p:cNvSpPr txBox="1">
              <a:spLocks noChangeArrowheads="1"/>
            </p:cNvSpPr>
            <p:nvPr/>
          </p:nvSpPr>
          <p:spPr bwMode="auto">
            <a:xfrm>
              <a:off x="2538" y="3475"/>
              <a:ext cx="301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aseline="-25000">
                  <a:ea typeface="宋体" pitchFamily="2" charset="-122"/>
                </a:rPr>
                <a:t>     </a:t>
              </a:r>
              <a:r>
                <a:rPr lang="en-US" altLang="zh-CN" sz="2800">
                  <a:ea typeface="宋体" pitchFamily="2" charset="-122"/>
                </a:rPr>
                <a:t>    </a:t>
              </a:r>
              <a:r>
                <a:rPr lang="en-US" altLang="zh-CN" sz="2800" baseline="-25000">
                  <a:ea typeface="宋体" pitchFamily="2" charset="-122"/>
                </a:rPr>
                <a:t>  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59, 0  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59, 1  </a:t>
              </a:r>
              <a:r>
                <a:rPr lang="en-US" altLang="zh-CN" sz="2800">
                  <a:ea typeface="宋体" pitchFamily="2" charset="-122"/>
                </a:rPr>
                <a:t>…    </a:t>
              </a:r>
              <a:r>
                <a:rPr lang="en-US" altLang="zh-CN" sz="2800" i="1">
                  <a:ea typeface="宋体" pitchFamily="2" charset="-122"/>
                </a:rPr>
                <a:t>a</a:t>
              </a:r>
              <a:r>
                <a:rPr lang="en-US" altLang="zh-CN" sz="2800" baseline="-25000">
                  <a:ea typeface="宋体" pitchFamily="2" charset="-122"/>
                </a:rPr>
                <a:t>59, 69</a:t>
              </a:r>
              <a:r>
                <a:rPr lang="en-US" altLang="zh-CN" sz="2800" i="1" baseline="-25000">
                  <a:ea typeface="宋体" pitchFamily="2" charset="-122"/>
                </a:rPr>
                <a:t> </a:t>
              </a:r>
              <a:r>
                <a:rPr lang="en-US" altLang="zh-CN" sz="2000" i="1" baseline="-25000">
                  <a:ea typeface="宋体" pitchFamily="2" charset="-122"/>
                </a:rPr>
                <a:t> </a:t>
              </a:r>
            </a:p>
          </p:txBody>
        </p:sp>
        <p:sp>
          <p:nvSpPr>
            <p:cNvPr id="77835" name="Text Box 11"/>
            <p:cNvSpPr txBox="1">
              <a:spLocks noChangeArrowheads="1"/>
            </p:cNvSpPr>
            <p:nvPr/>
          </p:nvSpPr>
          <p:spPr bwMode="auto">
            <a:xfrm>
              <a:off x="2789" y="3058"/>
              <a:ext cx="268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    ………    </a:t>
              </a:r>
              <a:r>
                <a:rPr lang="en-US" altLang="zh-CN" sz="28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  <a:r>
                <a:rPr lang="en-US" altLang="zh-CN" sz="2800" baseline="-25000">
                  <a:solidFill>
                    <a:srgbClr val="0000FF"/>
                  </a:solidFill>
                  <a:ea typeface="宋体" pitchFamily="2" charset="-122"/>
                </a:rPr>
                <a:t>31, 57</a:t>
              </a:r>
              <a:r>
                <a:rPr lang="en-US" altLang="zh-CN" sz="2800">
                  <a:ea typeface="宋体" pitchFamily="2" charset="-122"/>
                </a:rPr>
                <a:t>  ……</a:t>
              </a:r>
            </a:p>
          </p:txBody>
        </p:sp>
        <p:sp>
          <p:nvSpPr>
            <p:cNvPr id="77836" name="Line 12"/>
            <p:cNvSpPr>
              <a:spLocks noChangeShapeType="1"/>
            </p:cNvSpPr>
            <p:nvPr/>
          </p:nvSpPr>
          <p:spPr bwMode="auto">
            <a:xfrm>
              <a:off x="3045" y="2296"/>
              <a:ext cx="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7" name="Line 13"/>
            <p:cNvSpPr>
              <a:spLocks noChangeShapeType="1"/>
            </p:cNvSpPr>
            <p:nvPr/>
          </p:nvSpPr>
          <p:spPr bwMode="auto">
            <a:xfrm>
              <a:off x="3045" y="229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8" name="Line 14"/>
            <p:cNvSpPr>
              <a:spLocks noChangeShapeType="1"/>
            </p:cNvSpPr>
            <p:nvPr/>
          </p:nvSpPr>
          <p:spPr bwMode="auto">
            <a:xfrm>
              <a:off x="3045" y="388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39" name="Line 15"/>
            <p:cNvSpPr>
              <a:spLocks noChangeShapeType="1"/>
            </p:cNvSpPr>
            <p:nvPr/>
          </p:nvSpPr>
          <p:spPr bwMode="auto">
            <a:xfrm>
              <a:off x="5556" y="2296"/>
              <a:ext cx="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0" name="Line 16"/>
            <p:cNvSpPr>
              <a:spLocks noChangeShapeType="1"/>
            </p:cNvSpPr>
            <p:nvPr/>
          </p:nvSpPr>
          <p:spPr bwMode="auto">
            <a:xfrm>
              <a:off x="5412" y="2296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1" name="Line 17"/>
            <p:cNvSpPr>
              <a:spLocks noChangeShapeType="1"/>
            </p:cNvSpPr>
            <p:nvPr/>
          </p:nvSpPr>
          <p:spPr bwMode="auto">
            <a:xfrm>
              <a:off x="5412" y="3884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2" name="Text Box 18"/>
            <p:cNvSpPr txBox="1">
              <a:spLocks noChangeArrowheads="1"/>
            </p:cNvSpPr>
            <p:nvPr/>
          </p:nvSpPr>
          <p:spPr bwMode="auto">
            <a:xfrm>
              <a:off x="2789" y="2840"/>
              <a:ext cx="268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    ……………</a:t>
              </a:r>
            </a:p>
          </p:txBody>
        </p:sp>
        <p:sp>
          <p:nvSpPr>
            <p:cNvPr id="77843" name="Text Box 19"/>
            <p:cNvSpPr txBox="1">
              <a:spLocks noChangeArrowheads="1"/>
            </p:cNvSpPr>
            <p:nvPr/>
          </p:nvSpPr>
          <p:spPr bwMode="auto">
            <a:xfrm>
              <a:off x="2789" y="3239"/>
              <a:ext cx="268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>
                  <a:ea typeface="宋体" pitchFamily="2" charset="-122"/>
                </a:rPr>
                <a:t>          ……………</a:t>
              </a:r>
            </a:p>
          </p:txBody>
        </p:sp>
      </p:grpSp>
      <p:sp>
        <p:nvSpPr>
          <p:cNvPr id="77845" name="Rectangle 21"/>
          <p:cNvSpPr>
            <a:spLocks noChangeArrowheads="1"/>
          </p:cNvSpPr>
          <p:nvPr/>
        </p:nvSpPr>
        <p:spPr bwMode="auto">
          <a:xfrm>
            <a:off x="10069513" y="6669088"/>
            <a:ext cx="489236" cy="24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30000"/>
              </a:lnSpc>
            </a:pP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7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7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78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78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77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77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9" grpId="0" uiExpand="1" build="p"/>
      <p:bldP spid="778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Text Box 2"/>
          <p:cNvSpPr txBox="1">
            <a:spLocks noChangeArrowheads="1"/>
          </p:cNvSpPr>
          <p:nvPr/>
        </p:nvSpPr>
        <p:spPr bwMode="auto">
          <a:xfrm>
            <a:off x="1703388" y="457201"/>
            <a:ext cx="8832850" cy="420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/>
              <a:t>同理，对三维数组</a:t>
            </a:r>
            <a:r>
              <a:rPr lang="en-US" altLang="zh-CN" sz="2400" dirty="0"/>
              <a:t>A[b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][b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][b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],</a:t>
            </a:r>
            <a:r>
              <a:rPr lang="zh-CN" altLang="en-US" sz="2400" dirty="0"/>
              <a:t>可以看成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个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× b</a:t>
            </a:r>
            <a:r>
              <a:rPr lang="en-US" altLang="zh-CN" sz="2400" baseline="-25000" dirty="0"/>
              <a:t>3</a:t>
            </a:r>
            <a:r>
              <a:rPr lang="zh-CN" altLang="en-US" sz="2400" dirty="0"/>
              <a:t>的二维数组，若首元素的存储地址为</a:t>
            </a:r>
            <a:r>
              <a:rPr lang="en-US" altLang="zh-CN" sz="2400" dirty="0"/>
              <a:t>LOC[0,0,0],</a:t>
            </a:r>
            <a:r>
              <a:rPr lang="zh-CN" altLang="en-US" sz="2400" dirty="0"/>
              <a:t>则元素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i00</a:t>
            </a:r>
            <a:r>
              <a:rPr lang="zh-CN" altLang="en-US" sz="2400" dirty="0"/>
              <a:t>的存储地址为</a:t>
            </a:r>
          </a:p>
          <a:p>
            <a:pPr algn="ctr">
              <a:lnSpc>
                <a:spcPct val="125000"/>
              </a:lnSpc>
            </a:pPr>
            <a:r>
              <a:rPr lang="en-US" altLang="zh-CN" sz="2400" dirty="0"/>
              <a:t>LOC(i,0,0)=LOC(0,0,0)+(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× 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× b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)*L</a:t>
            </a:r>
          </a:p>
          <a:p>
            <a:pPr>
              <a:lnSpc>
                <a:spcPct val="125000"/>
              </a:lnSpc>
            </a:pPr>
            <a:r>
              <a:rPr lang="zh-CN" altLang="en-US" sz="2400" dirty="0"/>
              <a:t>这是因为该元素之前有</a:t>
            </a:r>
            <a:r>
              <a:rPr lang="en-US" altLang="zh-CN" sz="2400" dirty="0" err="1"/>
              <a:t>i</a:t>
            </a:r>
            <a:r>
              <a:rPr lang="zh-CN" altLang="en-US" sz="2400" dirty="0"/>
              <a:t>个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× b</a:t>
            </a:r>
            <a:r>
              <a:rPr lang="en-US" altLang="zh-CN" sz="2400" baseline="-25000" dirty="0"/>
              <a:t>3</a:t>
            </a:r>
            <a:r>
              <a:rPr lang="zh-CN" altLang="en-US" sz="2400" dirty="0"/>
              <a:t>的二维数组，所以</a:t>
            </a:r>
          </a:p>
          <a:p>
            <a:pPr algn="ctr">
              <a:lnSpc>
                <a:spcPct val="125000"/>
              </a:lnSpc>
            </a:pPr>
            <a:r>
              <a:rPr lang="en-US" altLang="zh-CN" sz="2400" dirty="0"/>
              <a:t>LOC(</a:t>
            </a:r>
            <a:r>
              <a:rPr lang="en-US" altLang="zh-CN" sz="2400" dirty="0" err="1"/>
              <a:t>i,j,k</a:t>
            </a:r>
            <a:r>
              <a:rPr lang="en-US" altLang="zh-CN" sz="2400" dirty="0"/>
              <a:t>)=LOC(0,0,0)+(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× 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× b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 +j× b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 +k)*L</a:t>
            </a:r>
          </a:p>
          <a:p>
            <a:pPr>
              <a:lnSpc>
                <a:spcPct val="125000"/>
              </a:lnSpc>
            </a:pPr>
            <a:r>
              <a:rPr lang="zh-CN" altLang="en-US" sz="2400" dirty="0"/>
              <a:t>推广到一般情况，可得到 </a:t>
            </a:r>
            <a:r>
              <a:rPr lang="en-US" altLang="zh-CN" sz="2400" dirty="0"/>
              <a:t>n </a:t>
            </a:r>
            <a:r>
              <a:rPr lang="zh-CN" altLang="en-US" sz="2400" dirty="0"/>
              <a:t>维数组数据元素存储位置的映像关系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LOC(j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,j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,…,</a:t>
            </a:r>
            <a:r>
              <a:rPr lang="en-US" altLang="zh-CN" sz="2400" dirty="0" err="1"/>
              <a:t>j</a:t>
            </a:r>
            <a:r>
              <a:rPr lang="en-US" altLang="zh-CN" sz="2400" baseline="-25000" dirty="0" err="1"/>
              <a:t>n</a:t>
            </a:r>
            <a:r>
              <a:rPr lang="en-US" altLang="zh-CN" sz="2400" dirty="0"/>
              <a:t>)=LOC(0,0,0)+(b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×…×b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×j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+</a:t>
            </a:r>
          </a:p>
          <a:p>
            <a:pPr>
              <a:lnSpc>
                <a:spcPct val="125000"/>
              </a:lnSpc>
            </a:pPr>
            <a:r>
              <a:rPr lang="en-US" altLang="zh-CN" sz="2400" dirty="0"/>
              <a:t>                                                  b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×…×b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×j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+…+</a:t>
            </a:r>
            <a:r>
              <a:rPr lang="en-US" altLang="zh-CN" sz="2400" dirty="0" err="1"/>
              <a:t>b</a:t>
            </a:r>
            <a:r>
              <a:rPr lang="en-US" altLang="zh-CN" sz="2400" baseline="-25000" dirty="0" err="1"/>
              <a:t>n</a:t>
            </a:r>
            <a:r>
              <a:rPr lang="en-US" altLang="zh-CN" sz="2400" dirty="0"/>
              <a:t>× j</a:t>
            </a:r>
            <a:r>
              <a:rPr lang="en-US" altLang="zh-CN" sz="2400" baseline="-25000" dirty="0"/>
              <a:t>n-1</a:t>
            </a:r>
            <a:r>
              <a:rPr lang="en-US" altLang="zh-CN" sz="2400" dirty="0"/>
              <a:t>+ </a:t>
            </a:r>
            <a:r>
              <a:rPr lang="en-US" altLang="zh-CN" sz="2400" dirty="0" err="1"/>
              <a:t>j</a:t>
            </a:r>
            <a:r>
              <a:rPr lang="en-US" altLang="zh-CN" sz="2400" baseline="-25000" dirty="0" err="1"/>
              <a:t>n</a:t>
            </a:r>
            <a:r>
              <a:rPr lang="en-US" altLang="zh-CN" sz="2400" dirty="0"/>
              <a:t>) ×L</a:t>
            </a:r>
          </a:p>
          <a:p>
            <a:pPr>
              <a:lnSpc>
                <a:spcPct val="125000"/>
              </a:lnSpc>
            </a:pPr>
            <a:r>
              <a:rPr lang="zh-CN" altLang="en-US" sz="2400" dirty="0"/>
              <a:t>即</a:t>
            </a:r>
          </a:p>
        </p:txBody>
      </p:sp>
      <p:sp>
        <p:nvSpPr>
          <p:cNvPr id="195587" name="Text Box 3"/>
          <p:cNvSpPr txBox="1">
            <a:spLocks noChangeArrowheads="1"/>
          </p:cNvSpPr>
          <p:nvPr/>
        </p:nvSpPr>
        <p:spPr bwMode="auto">
          <a:xfrm>
            <a:off x="1974851" y="5518151"/>
            <a:ext cx="829786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0">
                <a:solidFill>
                  <a:srgbClr val="990033"/>
                </a:solidFill>
              </a:rPr>
              <a:t>     </a:t>
            </a:r>
            <a:r>
              <a:rPr lang="zh-CN" altLang="en-US" sz="2400"/>
              <a:t>称为 </a:t>
            </a:r>
            <a:r>
              <a:rPr lang="en-US" altLang="zh-CN" sz="2400"/>
              <a:t>n </a:t>
            </a:r>
            <a:r>
              <a:rPr lang="zh-CN" altLang="en-US" sz="2400"/>
              <a:t>维数组的映像函数。数组元素的存储位置是其下标的线性函数</a:t>
            </a:r>
          </a:p>
        </p:txBody>
      </p:sp>
      <p:sp>
        <p:nvSpPr>
          <p:cNvPr id="195595" name="Rectangle 11"/>
          <p:cNvSpPr>
            <a:spLocks noChangeArrowheads="1"/>
          </p:cNvSpPr>
          <p:nvPr/>
        </p:nvSpPr>
        <p:spPr bwMode="auto">
          <a:xfrm>
            <a:off x="1524001" y="2592558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95594" name="Object 10"/>
          <p:cNvGraphicFramePr>
            <a:graphicFrameLocks noChangeAspect="1"/>
          </p:cNvGraphicFramePr>
          <p:nvPr/>
        </p:nvGraphicFramePr>
        <p:xfrm>
          <a:off x="2208214" y="4292601"/>
          <a:ext cx="75596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65360" imgH="660240" progId="Equation.3">
                  <p:embed/>
                </p:oleObj>
              </mc:Choice>
              <mc:Fallback>
                <p:oleObj name="公式" r:id="rId2" imgW="2565360" imgH="660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292601"/>
                        <a:ext cx="7559675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5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5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5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955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9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152650" y="1214439"/>
            <a:ext cx="8229600" cy="2928937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dirty="0" err="1"/>
              <a:t>typedef</a:t>
            </a:r>
            <a:r>
              <a:rPr lang="en-US" altLang="zh-CN" dirty="0"/>
              <a:t>   </a:t>
            </a:r>
            <a:r>
              <a:rPr lang="en-US" altLang="zh-CN" dirty="0" err="1"/>
              <a:t>struct</a:t>
            </a:r>
            <a:r>
              <a:rPr lang="en-US" altLang="zh-CN" dirty="0"/>
              <a:t>{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ElemType</a:t>
            </a:r>
            <a:r>
              <a:rPr lang="en-US" altLang="zh-CN" dirty="0"/>
              <a:t>  *base;  //</a:t>
            </a:r>
            <a:r>
              <a:rPr lang="zh-CN" altLang="en-US" dirty="0"/>
              <a:t>存放元素的基址</a:t>
            </a:r>
            <a:endParaRPr lang="en-US" altLang="zh-CN" dirty="0"/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dim;                    //</a:t>
            </a:r>
            <a:r>
              <a:rPr lang="zh-CN" altLang="en-US" dirty="0"/>
              <a:t>维数</a:t>
            </a:r>
            <a:endParaRPr lang="en-US" altLang="zh-CN" dirty="0"/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*bounds;           //</a:t>
            </a:r>
            <a:r>
              <a:rPr lang="zh-CN" altLang="en-US" dirty="0"/>
              <a:t>等价整形数组，存各维长度</a:t>
            </a:r>
            <a:endParaRPr lang="en-US" altLang="zh-CN" dirty="0"/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*constants;       //</a:t>
            </a:r>
            <a:r>
              <a:rPr lang="zh-CN" altLang="en-US" dirty="0"/>
              <a:t>每变化一维的跨度</a:t>
            </a:r>
            <a:endParaRPr lang="en-US" altLang="zh-CN" dirty="0"/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dirty="0"/>
              <a:t>}Array;</a:t>
            </a:r>
            <a:endParaRPr lang="zh-CN" altLang="en-US" dirty="0"/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4063" y="4071938"/>
            <a:ext cx="8001000" cy="250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5" name="TextBox 7"/>
          <p:cNvSpPr txBox="1">
            <a:spLocks noChangeArrowheads="1"/>
          </p:cNvSpPr>
          <p:nvPr/>
        </p:nvSpPr>
        <p:spPr bwMode="auto">
          <a:xfrm>
            <a:off x="3646489" y="428626"/>
            <a:ext cx="512832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/>
              <a:t>数组的顺序表示及相关说明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-71438"/>
            <a:ext cx="6229350" cy="392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00213" y="3786188"/>
            <a:ext cx="575310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3370" y="142876"/>
            <a:ext cx="3714750" cy="225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91933" y="2500313"/>
            <a:ext cx="387667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631553"/>
              </p:ext>
            </p:extLst>
          </p:nvPr>
        </p:nvGraphicFramePr>
        <p:xfrm>
          <a:off x="8549182" y="3071813"/>
          <a:ext cx="27860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334746" y="3000375"/>
            <a:ext cx="98296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/>
              <a:t>bounds</a:t>
            </a:r>
            <a:endParaRPr lang="zh-CN" altLang="en-US" sz="2000" dirty="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477746" y="3571875"/>
            <a:ext cx="11929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 err="1"/>
              <a:t>elemtotal</a:t>
            </a:r>
            <a:endParaRPr lang="zh-CN" altLang="en-US" sz="2000" dirty="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0192245" y="3571875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834932" y="3038475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7</a:t>
            </a:r>
            <a:endParaRPr lang="zh-CN" altLang="en-US" sz="200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9763621" y="3038475"/>
            <a:ext cx="3524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4</a:t>
            </a:r>
            <a:endParaRPr lang="zh-CN" altLang="en-US" sz="2000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0692307" y="3071813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5</a:t>
            </a:r>
            <a:endParaRPr lang="zh-CN" altLang="en-US" sz="2000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0192245" y="3571875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7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0100170" y="3571875"/>
            <a:ext cx="4411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28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0049371" y="3571875"/>
            <a:ext cx="5693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140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7263308" y="5000625"/>
            <a:ext cx="12089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constants</a:t>
            </a:r>
            <a:endParaRPr lang="zh-CN" altLang="en-US" sz="2000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1593"/>
              </p:ext>
            </p:extLst>
          </p:nvPr>
        </p:nvGraphicFramePr>
        <p:xfrm>
          <a:off x="8549182" y="5067995"/>
          <a:ext cx="27860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10692307" y="5038725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9763621" y="5053360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853650" y="5053360"/>
            <a:ext cx="4411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/>
              <a:t>20</a:t>
            </a:r>
            <a:endParaRPr lang="zh-CN" altLang="en-US" sz="20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FFBF0FD-0330-4971-B685-FFB6C2523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851763"/>
              </p:ext>
            </p:extLst>
          </p:nvPr>
        </p:nvGraphicFramePr>
        <p:xfrm>
          <a:off x="8549182" y="4195437"/>
          <a:ext cx="3023849" cy="405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85">
                  <a:extLst>
                    <a:ext uri="{9D8B030D-6E8A-4147-A177-3AD203B41FA5}">
                      <a16:colId xmlns:a16="http://schemas.microsoft.com/office/drawing/2014/main" val="1930816934"/>
                    </a:ext>
                  </a:extLst>
                </a:gridCol>
                <a:gridCol w="302385">
                  <a:extLst>
                    <a:ext uri="{9D8B030D-6E8A-4147-A177-3AD203B41FA5}">
                      <a16:colId xmlns:a16="http://schemas.microsoft.com/office/drawing/2014/main" val="1681915360"/>
                    </a:ext>
                  </a:extLst>
                </a:gridCol>
                <a:gridCol w="302385">
                  <a:extLst>
                    <a:ext uri="{9D8B030D-6E8A-4147-A177-3AD203B41FA5}">
                      <a16:colId xmlns:a16="http://schemas.microsoft.com/office/drawing/2014/main" val="1924325403"/>
                    </a:ext>
                  </a:extLst>
                </a:gridCol>
                <a:gridCol w="302385">
                  <a:extLst>
                    <a:ext uri="{9D8B030D-6E8A-4147-A177-3AD203B41FA5}">
                      <a16:colId xmlns:a16="http://schemas.microsoft.com/office/drawing/2014/main" val="3599675523"/>
                    </a:ext>
                  </a:extLst>
                </a:gridCol>
                <a:gridCol w="1209539">
                  <a:extLst>
                    <a:ext uri="{9D8B030D-6E8A-4147-A177-3AD203B41FA5}">
                      <a16:colId xmlns:a16="http://schemas.microsoft.com/office/drawing/2014/main" val="844061227"/>
                    </a:ext>
                  </a:extLst>
                </a:gridCol>
                <a:gridCol w="302385">
                  <a:extLst>
                    <a:ext uri="{9D8B030D-6E8A-4147-A177-3AD203B41FA5}">
                      <a16:colId xmlns:a16="http://schemas.microsoft.com/office/drawing/2014/main" val="448435354"/>
                    </a:ext>
                  </a:extLst>
                </a:gridCol>
                <a:gridCol w="302385">
                  <a:extLst>
                    <a:ext uri="{9D8B030D-6E8A-4147-A177-3AD203B41FA5}">
                      <a16:colId xmlns:a16="http://schemas.microsoft.com/office/drawing/2014/main" val="1583786686"/>
                    </a:ext>
                  </a:extLst>
                </a:gridCol>
              </a:tblGrid>
              <a:tr h="40507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 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347862"/>
                  </a:ext>
                </a:extLst>
              </a:tr>
            </a:tbl>
          </a:graphicData>
        </a:graphic>
      </p:graphicFrame>
      <p:sp>
        <p:nvSpPr>
          <p:cNvPr id="26" name="TextBox 10">
            <a:extLst>
              <a:ext uri="{FF2B5EF4-FFF2-40B4-BE49-F238E27FC236}">
                <a16:creationId xmlns:a16="http://schemas.microsoft.com/office/drawing/2014/main" id="{A3B05231-33D9-4702-8C83-EB9CF637C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287" y="4181018"/>
            <a:ext cx="6687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/>
              <a:t>base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3" grpId="1"/>
      <p:bldP spid="14" grpId="0"/>
      <p:bldP spid="15" grpId="0"/>
      <p:bldP spid="16" grpId="0"/>
      <p:bldP spid="18" grpId="0"/>
      <p:bldP spid="18" grpId="1"/>
      <p:bldP spid="19" grpId="0"/>
      <p:bldP spid="19" grpId="1"/>
      <p:bldP spid="20" grpId="0"/>
      <p:bldP spid="22" grpId="0"/>
      <p:bldP spid="24" grpId="0"/>
      <p:bldP spid="25" grpId="0"/>
      <p:bldP spid="27" grpId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1703513" y="404664"/>
            <a:ext cx="6215063" cy="3900488"/>
          </a:xfrm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r>
              <a:rPr lang="en-US" altLang="zh-CN" sz="2400" dirty="0"/>
              <a:t>Status  Locate(Array </a:t>
            </a:r>
            <a:r>
              <a:rPr lang="en-US" altLang="zh-CN" sz="2400" dirty="0" err="1"/>
              <a:t>A,va_list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ap,int</a:t>
            </a:r>
            <a:r>
              <a:rPr lang="en-US" altLang="zh-CN" sz="2400" dirty="0"/>
              <a:t> &amp;off){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zh-CN" sz="2400" dirty="0"/>
              <a:t>      off=0;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zh-CN" sz="2400" dirty="0"/>
              <a:t>       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=0;i&lt;A.dim;++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){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zh-CN" sz="2400" dirty="0"/>
              <a:t>              </a:t>
            </a:r>
            <a:r>
              <a:rPr lang="en-US" altLang="zh-CN" sz="2400" dirty="0" err="1"/>
              <a:t>ind</a:t>
            </a:r>
            <a:r>
              <a:rPr lang="en-US" altLang="zh-CN" sz="2400" dirty="0"/>
              <a:t>=</a:t>
            </a:r>
            <a:r>
              <a:rPr lang="en-US" altLang="zh-CN" sz="2400" dirty="0" err="1"/>
              <a:t>va_arg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ap,int</a:t>
            </a:r>
            <a:r>
              <a:rPr lang="en-US" altLang="zh-CN" sz="2400" dirty="0"/>
              <a:t>);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zh-CN" sz="2400" dirty="0"/>
              <a:t>              if(</a:t>
            </a:r>
            <a:r>
              <a:rPr lang="en-US" altLang="zh-CN" sz="2400" dirty="0" err="1"/>
              <a:t>ind</a:t>
            </a:r>
            <a:r>
              <a:rPr lang="en-US" altLang="zh-CN" sz="2400" dirty="0"/>
              <a:t>&lt;1||</a:t>
            </a:r>
            <a:r>
              <a:rPr lang="en-US" altLang="zh-CN" sz="2400" dirty="0" err="1"/>
              <a:t>ind</a:t>
            </a:r>
            <a:r>
              <a:rPr lang="en-US" altLang="zh-CN" sz="2400" dirty="0"/>
              <a:t>&gt;=</a:t>
            </a:r>
            <a:r>
              <a:rPr lang="en-US" altLang="zh-CN" sz="2400" dirty="0" err="1"/>
              <a:t>A.bounds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])return  false;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zh-CN" sz="2400" dirty="0"/>
              <a:t>              off+=</a:t>
            </a:r>
            <a:r>
              <a:rPr lang="en-US" altLang="zh-CN" sz="2400" dirty="0" err="1"/>
              <a:t>A.constants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]*</a:t>
            </a:r>
            <a:r>
              <a:rPr lang="en-US" altLang="zh-CN" sz="2400" dirty="0" err="1"/>
              <a:t>ind</a:t>
            </a:r>
            <a:r>
              <a:rPr lang="en-US" altLang="zh-CN" sz="2400" dirty="0"/>
              <a:t>;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zh-CN" sz="2400" dirty="0"/>
              <a:t>       }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zh-CN" sz="2400" dirty="0"/>
              <a:t>       return ok;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666875" y="4397042"/>
            <a:ext cx="231345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/>
              <a:t>Locate (</a:t>
            </a:r>
            <a:r>
              <a:rPr lang="en-US" altLang="zh-CN" sz="2000" dirty="0" err="1"/>
              <a:t>AA,ap,off</a:t>
            </a:r>
            <a:r>
              <a:rPr lang="en-US" altLang="zh-CN" sz="2000" dirty="0"/>
              <a:t>);</a:t>
            </a:r>
            <a:endParaRPr lang="zh-CN" altLang="en-US" sz="2000" dirty="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658130" y="4797152"/>
            <a:ext cx="10534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/>
              <a:t>ap:3,2,4</a:t>
            </a:r>
            <a:endParaRPr lang="zh-CN" altLang="en-US" sz="2000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703513" y="5286375"/>
            <a:ext cx="12089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/>
              <a:t>constants</a:t>
            </a:r>
            <a:endParaRPr lang="zh-CN" altLang="en-US" sz="2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024188" y="5343525"/>
          <a:ext cx="27860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176838" y="5286375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1</a:t>
            </a:r>
            <a:endParaRPr lang="zh-CN" altLang="en-US" sz="2000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381500" y="5286375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5</a:t>
            </a:r>
            <a:endParaRPr lang="zh-CN" altLang="en-US" sz="200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309938" y="5324475"/>
            <a:ext cx="4411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20</a:t>
            </a:r>
            <a:endParaRPr lang="zh-CN" altLang="en-US" sz="200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326313" y="4286250"/>
            <a:ext cx="62869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/>
              <a:t>off=</a:t>
            </a:r>
            <a:endParaRPr lang="zh-CN" altLang="en-US" sz="2000" dirty="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953375" y="4286250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0</a:t>
            </a:r>
            <a:endParaRPr lang="zh-CN" altLang="en-US" sz="200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331075" y="4681538"/>
            <a:ext cx="6864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ind=</a:t>
            </a:r>
            <a:endParaRPr lang="zh-CN" altLang="en-US" sz="2000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7958138" y="4681538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3</a:t>
            </a:r>
            <a:endParaRPr lang="zh-CN" altLang="en-US" sz="200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7953375" y="4286250"/>
            <a:ext cx="4411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60</a:t>
            </a:r>
            <a:endParaRPr lang="zh-CN" altLang="en-US" sz="2000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7953375" y="4286250"/>
            <a:ext cx="4411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70</a:t>
            </a:r>
            <a:endParaRPr lang="zh-CN" altLang="en-US" sz="2000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953375" y="4643438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2</a:t>
            </a:r>
            <a:endParaRPr lang="zh-CN" altLang="en-US" sz="200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8024813" y="4643438"/>
            <a:ext cx="31290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4</a:t>
            </a:r>
            <a:endParaRPr lang="zh-CN" altLang="en-US" sz="2000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7953375" y="4286250"/>
            <a:ext cx="4411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/>
              <a:t>74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4" grpId="1"/>
      <p:bldP spid="15" grpId="0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648774" y="3396749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9080574" y="3396749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512374" y="3396749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自选图形 3">
            <a:extLst>
              <a:ext uri="{FF2B5EF4-FFF2-40B4-BE49-F238E27FC236}">
                <a16:creationId xmlns:a16="http://schemas.microsoft.com/office/drawing/2014/main" id="{05638FB0-C87C-4137-A067-E7D435EFE1A6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1" name="自选图形 4">
            <a:extLst>
              <a:ext uri="{FF2B5EF4-FFF2-40B4-BE49-F238E27FC236}">
                <a16:creationId xmlns:a16="http://schemas.microsoft.com/office/drawing/2014/main" id="{DF9B8EAA-2B9C-48C5-AC1E-F2BB7E4A963B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5">
            <a:extLst>
              <a:ext uri="{FF2B5EF4-FFF2-40B4-BE49-F238E27FC236}">
                <a16:creationId xmlns:a16="http://schemas.microsoft.com/office/drawing/2014/main" id="{C210ECAB-D0D4-4037-A51F-D9C89B58F2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广义表的存储结构、相关递归算法</a:t>
            </a:r>
          </a:p>
        </p:txBody>
      </p:sp>
      <p:sp>
        <p:nvSpPr>
          <p:cNvPr id="53" name="自选图形 6">
            <a:extLst>
              <a:ext uri="{FF2B5EF4-FFF2-40B4-BE49-F238E27FC236}">
                <a16:creationId xmlns:a16="http://schemas.microsoft.com/office/drawing/2014/main" id="{685F44CE-FFB1-4EEE-B421-099C3595BF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广义表的概念、性质</a:t>
            </a:r>
          </a:p>
        </p:txBody>
      </p:sp>
      <p:sp>
        <p:nvSpPr>
          <p:cNvPr id="54" name="自选图形 7">
            <a:extLst>
              <a:ext uri="{FF2B5EF4-FFF2-40B4-BE49-F238E27FC236}">
                <a16:creationId xmlns:a16="http://schemas.microsoft.com/office/drawing/2014/main" id="{04E8C226-1C58-4216-8C90-558CBB96FA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矩阵的压缩存储</a:t>
            </a:r>
          </a:p>
        </p:txBody>
      </p:sp>
      <p:sp>
        <p:nvSpPr>
          <p:cNvPr id="55" name="自选图形 8">
            <a:extLst>
              <a:ext uri="{FF2B5EF4-FFF2-40B4-BE49-F238E27FC236}">
                <a16:creationId xmlns:a16="http://schemas.microsoft.com/office/drawing/2014/main" id="{FA893FCB-6F23-4C73-BF8F-F224DB8B218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数组的顺序表示和实现</a:t>
            </a:r>
          </a:p>
        </p:txBody>
      </p:sp>
      <p:sp>
        <p:nvSpPr>
          <p:cNvPr id="56" name="自选图形 9">
            <a:extLst>
              <a:ext uri="{FF2B5EF4-FFF2-40B4-BE49-F238E27FC236}">
                <a16:creationId xmlns:a16="http://schemas.microsoft.com/office/drawing/2014/main" id="{3640E514-B625-4A57-9DE0-D2EEA2FAED0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数组的定义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17CB362-CDD8-4532-922B-91079156FB3A}"/>
              </a:ext>
            </a:extLst>
          </p:cNvPr>
          <p:cNvGrpSpPr>
            <a:grpSpLocks/>
          </p:cNvGrpSpPr>
          <p:nvPr/>
        </p:nvGrpSpPr>
        <p:grpSpPr bwMode="auto">
          <a:xfrm>
            <a:off x="2917252" y="1777453"/>
            <a:ext cx="381000" cy="381000"/>
            <a:chOff x="2078" y="1680"/>
            <a:chExt cx="1615" cy="1615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27A7D30F-0992-4C5A-B5E7-0CB46C03837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93866FF4-29F5-4803-BED4-2CFE8FD1CCD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DCC4A7E3-8A45-43C2-84AA-4337443946A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88320282-B8D7-4179-B1CD-0319B90EB71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05E9864A-4395-425D-AB26-96D5D701731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02EDF676-C792-47E1-9B01-F8D1BD8CCBC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F088A697-257D-48EA-B9FD-234A7D01E64B}"/>
              </a:ext>
            </a:extLst>
          </p:cNvPr>
          <p:cNvGrpSpPr>
            <a:grpSpLocks/>
          </p:cNvGrpSpPr>
          <p:nvPr/>
        </p:nvGrpSpPr>
        <p:grpSpPr bwMode="auto">
          <a:xfrm>
            <a:off x="3432973" y="2536918"/>
            <a:ext cx="381000" cy="381000"/>
            <a:chOff x="2078" y="1680"/>
            <a:chExt cx="1615" cy="1615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060D7C3-6425-458E-A51E-1C297AF5750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CC087EA-804A-42D2-B071-D2704AE26F8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50C544F4-7A2D-4DC1-BF8F-3C171017A99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988D9CF1-0EDC-4473-A063-47ECB0CF7F8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7EC54337-2528-4EF4-8C99-3A76F12E8BD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3B98DDF7-C140-43F5-A0A7-23BDD9B337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EEDD0456-C343-4B4B-AC14-52BB265EF6E2}"/>
              </a:ext>
            </a:extLst>
          </p:cNvPr>
          <p:cNvGrpSpPr>
            <a:grpSpLocks/>
          </p:cNvGrpSpPr>
          <p:nvPr/>
        </p:nvGrpSpPr>
        <p:grpSpPr bwMode="auto">
          <a:xfrm>
            <a:off x="3601533" y="3421310"/>
            <a:ext cx="381000" cy="381000"/>
            <a:chOff x="2078" y="1680"/>
            <a:chExt cx="1615" cy="1615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03AFE58A-6037-48F6-BA6D-930E611A6BD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7D643C2A-D325-4472-9456-E3301ACB249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9FFCDD8D-8137-4C41-A293-603130C3079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6FFAFCA1-A9F5-4F00-BCB4-6B2216AA3F9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C110FC18-77C6-47D5-872F-6EACB4469E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0E4CC68C-CE82-4CDD-BFBC-7565E3FA553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80D527A-4869-4E04-AE88-C7D6000F576F}"/>
              </a:ext>
            </a:extLst>
          </p:cNvPr>
          <p:cNvGrpSpPr>
            <a:grpSpLocks/>
          </p:cNvGrpSpPr>
          <p:nvPr/>
        </p:nvGrpSpPr>
        <p:grpSpPr bwMode="auto">
          <a:xfrm>
            <a:off x="3487739" y="4213473"/>
            <a:ext cx="381000" cy="381000"/>
            <a:chOff x="2078" y="1680"/>
            <a:chExt cx="1615" cy="161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AECAE19F-F6B7-40FE-8E8A-81FD6798422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9552FB7C-0FA5-4F81-BB0A-95503510948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18EDCEA3-8A72-413C-9065-4FC2CA33D3D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59B8A470-9765-4CC5-BC84-ECAD037ACFE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E78254A9-2FCE-4B93-B122-7612566486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CBCCDA5D-6165-4A5B-8D9F-EE61AF59644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57E12BAE-4250-403E-922C-C6DBB28A0682}"/>
              </a:ext>
            </a:extLst>
          </p:cNvPr>
          <p:cNvGrpSpPr>
            <a:grpSpLocks/>
          </p:cNvGrpSpPr>
          <p:nvPr/>
        </p:nvGrpSpPr>
        <p:grpSpPr bwMode="auto">
          <a:xfrm>
            <a:off x="3016268" y="5055640"/>
            <a:ext cx="355600" cy="381000"/>
            <a:chOff x="2078" y="1680"/>
            <a:chExt cx="1615" cy="161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92482B21-AF7D-4A85-9FE7-425A1FB3E19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8DA9C64F-DC70-4C72-BAF3-C6BC4F41356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64CC19E2-3660-4073-93F6-43A370E8136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C698155D-E349-4F06-AF86-A18EEF40535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D73E5666-4A13-4A4D-A811-89C445E0E55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34B77BC9-9ABD-4CE3-A4C4-227BEBF1A2F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5" name="Rectangle 161"/>
          <p:cNvSpPr>
            <a:spLocks noChangeArrowheads="1"/>
          </p:cNvSpPr>
          <p:nvPr/>
        </p:nvSpPr>
        <p:spPr bwMode="auto">
          <a:xfrm>
            <a:off x="2189163" y="622300"/>
            <a:ext cx="292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altLang="zh-CN" sz="2400">
                <a:ea typeface="华文中宋" pitchFamily="2" charset="-122"/>
              </a:rPr>
              <a:t>5.3  </a:t>
            </a:r>
            <a:r>
              <a:rPr lang="zh-CN" altLang="en-US" sz="2400">
                <a:ea typeface="华文中宋" pitchFamily="2" charset="-122"/>
              </a:rPr>
              <a:t>矩阵的压缩存储 </a:t>
            </a:r>
          </a:p>
        </p:txBody>
      </p:sp>
      <p:sp>
        <p:nvSpPr>
          <p:cNvPr id="11426" name="Rectangle 162"/>
          <p:cNvSpPr>
            <a:spLocks noChangeArrowheads="1"/>
          </p:cNvSpPr>
          <p:nvPr/>
        </p:nvSpPr>
        <p:spPr bwMode="auto">
          <a:xfrm>
            <a:off x="2189164" y="1047750"/>
            <a:ext cx="7939087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/>
              <a:t>        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矩阵定义</a:t>
            </a:r>
            <a:r>
              <a:rPr lang="zh-CN" altLang="en-US" sz="2400" dirty="0">
                <a:solidFill>
                  <a:srgbClr val="0000FF"/>
                </a:solidFill>
              </a:rPr>
              <a:t>：</a:t>
            </a:r>
            <a:r>
              <a:rPr lang="zh-CN" altLang="en-US" sz="2400" dirty="0"/>
              <a:t>一个由 </a:t>
            </a:r>
            <a:r>
              <a:rPr lang="en-US" altLang="zh-CN" sz="2400" i="1" dirty="0" err="1"/>
              <a:t>m</a:t>
            </a:r>
            <a:r>
              <a:rPr lang="en-US" altLang="zh-CN" sz="2400" dirty="0" err="1"/>
              <a:t>×</a:t>
            </a:r>
            <a:r>
              <a:rPr lang="en-US" altLang="zh-CN" sz="2400" i="1" dirty="0" err="1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个元素排成的 </a:t>
            </a:r>
            <a:r>
              <a:rPr lang="en-US" altLang="zh-CN" sz="2400" i="1" dirty="0"/>
              <a:t>m</a:t>
            </a:r>
            <a:r>
              <a:rPr lang="en-US" altLang="zh-CN" sz="2400" dirty="0"/>
              <a:t> </a:t>
            </a:r>
            <a:r>
              <a:rPr lang="zh-CN" altLang="en-US" sz="2400" dirty="0"/>
              <a:t>行（横向） 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                             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列（纵向）的表。 </a:t>
            </a:r>
          </a:p>
        </p:txBody>
      </p:sp>
      <p:graphicFrame>
        <p:nvGraphicFramePr>
          <p:cNvPr id="11427" name="Object 163"/>
          <p:cNvGraphicFramePr>
            <a:graphicFrameLocks noChangeAspect="1"/>
          </p:cNvGraphicFramePr>
          <p:nvPr/>
        </p:nvGraphicFramePr>
        <p:xfrm>
          <a:off x="7373938" y="1701801"/>
          <a:ext cx="2901950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20480" imgH="914400" progId="Equation.3">
                  <p:embed/>
                </p:oleObj>
              </mc:Choice>
              <mc:Fallback>
                <p:oleObj name="公式" r:id="rId3" imgW="1320480" imgH="914400" progId="Equation.3">
                  <p:embed/>
                  <p:pic>
                    <p:nvPicPr>
                      <p:cNvPr id="0" name="Picture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3938" y="1701801"/>
                        <a:ext cx="2901950" cy="200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28" name="Rectangle 164"/>
          <p:cNvSpPr>
            <a:spLocks noChangeArrowheads="1"/>
          </p:cNvSpPr>
          <p:nvPr/>
        </p:nvSpPr>
        <p:spPr bwMode="auto">
          <a:xfrm>
            <a:off x="2189164" y="2062164"/>
            <a:ext cx="540067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/>
              <a:t>        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矩阵的常规存储</a:t>
            </a:r>
            <a:r>
              <a:rPr lang="zh-CN" altLang="en-US" sz="2400">
                <a:solidFill>
                  <a:srgbClr val="0000FF"/>
                </a:solidFill>
              </a:rPr>
              <a:t>：</a:t>
            </a:r>
            <a:r>
              <a:rPr lang="zh-CN" altLang="en-US" sz="2400"/>
              <a:t> 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/>
              <a:t>                将矩阵描述为一个二维数组。 </a:t>
            </a:r>
          </a:p>
        </p:txBody>
      </p:sp>
      <p:sp>
        <p:nvSpPr>
          <p:cNvPr id="11429" name="Rectangle 165"/>
          <p:cNvSpPr>
            <a:spLocks noChangeArrowheads="1"/>
          </p:cNvSpPr>
          <p:nvPr/>
        </p:nvSpPr>
        <p:spPr bwMode="auto">
          <a:xfrm>
            <a:off x="2189164" y="2973388"/>
            <a:ext cx="6859587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/>
              <a:t>        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矩阵的常规存储的特点</a:t>
            </a:r>
            <a:r>
              <a:rPr lang="zh-CN" altLang="en-US" sz="2400">
                <a:solidFill>
                  <a:srgbClr val="0000FF"/>
                </a:solidFill>
              </a:rPr>
              <a:t>：</a:t>
            </a:r>
            <a:r>
              <a:rPr lang="zh-CN" altLang="en-US" sz="2400"/>
              <a:t> 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/>
              <a:t>                可以对其元素进行随机存取； 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/>
              <a:t>                矩阵运算非常简单；存储的密度为 </a:t>
            </a:r>
            <a:r>
              <a:rPr lang="en-US" altLang="zh-CN" sz="2400"/>
              <a:t>1</a:t>
            </a:r>
            <a:r>
              <a:rPr lang="zh-CN" altLang="en-US" sz="2400"/>
              <a:t>。 </a:t>
            </a:r>
          </a:p>
        </p:txBody>
      </p:sp>
      <p:sp>
        <p:nvSpPr>
          <p:cNvPr id="11430" name="Rectangle 166"/>
          <p:cNvSpPr>
            <a:spLocks noChangeArrowheads="1"/>
          </p:cNvSpPr>
          <p:nvPr/>
        </p:nvSpPr>
        <p:spPr bwMode="auto">
          <a:xfrm>
            <a:off x="2189163" y="4365626"/>
            <a:ext cx="8064500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/>
              <a:t>        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不适宜常规存储的矩阵：</a:t>
            </a:r>
            <a:r>
              <a:rPr lang="zh-CN" altLang="en-US" sz="2400"/>
              <a:t>值相同的元素很多且呈某种 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/>
              <a:t>                                                    规律分布；零元素多。 </a:t>
            </a:r>
          </a:p>
        </p:txBody>
      </p:sp>
      <p:sp>
        <p:nvSpPr>
          <p:cNvPr id="11431" name="Rectangle 167"/>
          <p:cNvSpPr>
            <a:spLocks noChangeArrowheads="1"/>
          </p:cNvSpPr>
          <p:nvPr/>
        </p:nvSpPr>
        <p:spPr bwMode="auto">
          <a:xfrm>
            <a:off x="2189164" y="5302250"/>
            <a:ext cx="8135937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/>
              <a:t>        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矩阵的压缩存储：</a:t>
            </a:r>
            <a:r>
              <a:rPr lang="zh-CN" altLang="en-US" sz="2400"/>
              <a:t>为多个相同的非零元素只分配一个 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/>
              <a:t>                                        存储空间；对零元素不分配空间。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1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1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26" grpId="0"/>
      <p:bldP spid="11428" grpId="0"/>
      <p:bldP spid="11429" grpId="0"/>
      <p:bldP spid="11430" grpId="0"/>
      <p:bldP spid="114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48" name="AutoShape 40"/>
          <p:cNvSpPr>
            <a:spLocks noChangeArrowheads="1"/>
          </p:cNvSpPr>
          <p:nvPr/>
        </p:nvSpPr>
        <p:spPr bwMode="auto">
          <a:xfrm>
            <a:off x="7031038" y="4292600"/>
            <a:ext cx="2520950" cy="1944688"/>
          </a:xfrm>
          <a:prstGeom prst="rtTriangle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49" name="Line 41"/>
          <p:cNvSpPr>
            <a:spLocks noChangeShapeType="1"/>
          </p:cNvSpPr>
          <p:nvPr/>
        </p:nvSpPr>
        <p:spPr bwMode="auto">
          <a:xfrm>
            <a:off x="7031038" y="4076700"/>
            <a:ext cx="2736850" cy="2160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8645" name="AutoShape 37"/>
          <p:cNvSpPr>
            <a:spLocks noChangeArrowheads="1"/>
          </p:cNvSpPr>
          <p:nvPr/>
        </p:nvSpPr>
        <p:spPr bwMode="auto">
          <a:xfrm>
            <a:off x="3287713" y="4292601"/>
            <a:ext cx="1871662" cy="2016125"/>
          </a:xfrm>
          <a:prstGeom prst="rtTriangle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43" name="Line 35"/>
          <p:cNvSpPr>
            <a:spLocks noChangeShapeType="1"/>
          </p:cNvSpPr>
          <p:nvPr/>
        </p:nvSpPr>
        <p:spPr bwMode="auto">
          <a:xfrm>
            <a:off x="3287713" y="4005264"/>
            <a:ext cx="2087562" cy="22320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8624" name="Rectangle 16"/>
          <p:cNvSpPr>
            <a:spLocks noChangeArrowheads="1"/>
          </p:cNvSpPr>
          <p:nvPr/>
        </p:nvSpPr>
        <p:spPr bwMode="auto">
          <a:xfrm>
            <a:off x="2135188" y="523875"/>
            <a:ext cx="224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ea typeface="华文中宋" pitchFamily="2" charset="-122"/>
              </a:rPr>
              <a:t>5.3.1  </a:t>
            </a:r>
            <a:r>
              <a:rPr lang="zh-CN" altLang="en-US" sz="2400">
                <a:ea typeface="华文中宋" pitchFamily="2" charset="-122"/>
              </a:rPr>
              <a:t>特殊矩阵 </a:t>
            </a:r>
          </a:p>
        </p:txBody>
      </p:sp>
      <p:sp>
        <p:nvSpPr>
          <p:cNvPr id="68626" name="Rectangle 18"/>
          <p:cNvSpPr>
            <a:spLocks noChangeArrowheads="1"/>
          </p:cNvSpPr>
          <p:nvPr/>
        </p:nvSpPr>
        <p:spPr bwMode="auto">
          <a:xfrm>
            <a:off x="2135188" y="1027113"/>
            <a:ext cx="7296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        </a:t>
            </a:r>
            <a:r>
              <a:rPr lang="zh-CN" altLang="en-US" sz="2400">
                <a:ea typeface="华文中宋" pitchFamily="2" charset="-122"/>
              </a:rPr>
              <a:t>特殊矩阵：</a:t>
            </a:r>
            <a:r>
              <a:rPr lang="zh-CN" altLang="en-US" sz="2400"/>
              <a:t>元素值的排列具有一定规律的矩阵。 </a:t>
            </a:r>
          </a:p>
        </p:txBody>
      </p:sp>
      <p:sp>
        <p:nvSpPr>
          <p:cNvPr id="68627" name="Rectangle 19"/>
          <p:cNvSpPr>
            <a:spLocks noChangeArrowheads="1"/>
          </p:cNvSpPr>
          <p:nvPr/>
        </p:nvSpPr>
        <p:spPr bwMode="auto">
          <a:xfrm>
            <a:off x="4222751" y="1531938"/>
            <a:ext cx="6049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latin typeface="华文新魏" pitchFamily="2" charset="-122"/>
                <a:ea typeface="华文新魏" pitchFamily="2" charset="-122"/>
              </a:rPr>
              <a:t>对称矩阵、下、上三角矩阵、对角线矩阵等 </a:t>
            </a:r>
          </a:p>
        </p:txBody>
      </p:sp>
      <p:sp>
        <p:nvSpPr>
          <p:cNvPr id="68628" name="Rectangle 20"/>
          <p:cNvSpPr>
            <a:spLocks noChangeArrowheads="1"/>
          </p:cNvSpPr>
          <p:nvPr/>
        </p:nvSpPr>
        <p:spPr bwMode="auto">
          <a:xfrm>
            <a:off x="2135188" y="1943100"/>
            <a:ext cx="7200900" cy="177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</a:pPr>
            <a:r>
              <a:rPr lang="en-US" altLang="zh-CN" sz="2400">
                <a:ea typeface="华文中宋" pitchFamily="2" charset="-122"/>
              </a:rPr>
              <a:t>  1</a:t>
            </a:r>
            <a:r>
              <a:rPr lang="zh-CN" altLang="en-US" sz="2400">
                <a:ea typeface="华文中宋" pitchFamily="2" charset="-122"/>
              </a:rPr>
              <a:t>、对称矩阵</a:t>
            </a:r>
            <a:r>
              <a:rPr lang="zh-CN" altLang="en-US" sz="2400"/>
              <a:t> </a:t>
            </a: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</a:pPr>
            <a:r>
              <a:rPr lang="zh-CN" altLang="en-US" sz="2400"/>
              <a:t>        在一个 </a:t>
            </a:r>
            <a:r>
              <a:rPr lang="en-US" altLang="zh-CN" sz="2400" i="1"/>
              <a:t>n</a:t>
            </a:r>
            <a:r>
              <a:rPr lang="en-US" altLang="zh-CN" sz="2400"/>
              <a:t> </a:t>
            </a:r>
            <a:r>
              <a:rPr lang="zh-CN" altLang="en-US" sz="2400"/>
              <a:t>阶方阵 </a:t>
            </a:r>
            <a:r>
              <a:rPr lang="en-US" altLang="zh-CN" sz="2400"/>
              <a:t>A </a:t>
            </a:r>
            <a:r>
              <a:rPr lang="zh-CN" altLang="en-US" sz="2400"/>
              <a:t>中，若元素满足下述性质： </a:t>
            </a: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</a:pPr>
            <a:r>
              <a:rPr lang="zh-CN" altLang="en-US" sz="2400"/>
              <a:t>                              </a:t>
            </a:r>
            <a:r>
              <a:rPr lang="en-US" altLang="zh-CN" sz="2400" i="1"/>
              <a:t>a</a:t>
            </a:r>
            <a:r>
              <a:rPr lang="en-US" altLang="zh-CN" sz="2400" i="1" baseline="-18000"/>
              <a:t>ij </a:t>
            </a:r>
            <a:r>
              <a:rPr lang="en-US" altLang="zh-CN" sz="2400"/>
              <a:t>= </a:t>
            </a:r>
            <a:r>
              <a:rPr lang="en-US" altLang="zh-CN" sz="2400" i="1"/>
              <a:t>a</a:t>
            </a:r>
            <a:r>
              <a:rPr lang="en-US" altLang="zh-CN" sz="2400" i="1" baseline="-18000"/>
              <a:t>ji</a:t>
            </a:r>
            <a:r>
              <a:rPr lang="en-US" altLang="zh-CN" sz="2400" i="1"/>
              <a:t> </a:t>
            </a:r>
            <a:r>
              <a:rPr lang="en-US" altLang="zh-CN" sz="2400"/>
              <a:t>   1 </a:t>
            </a:r>
            <a:r>
              <a:rPr lang="en-US" altLang="zh-CN" sz="2400">
                <a:ea typeface="宋体" pitchFamily="2" charset="-122"/>
              </a:rPr>
              <a:t>≤ </a:t>
            </a:r>
            <a:r>
              <a:rPr lang="en-US" altLang="zh-CN" sz="2400" i="1"/>
              <a:t>i</a:t>
            </a:r>
            <a:r>
              <a:rPr lang="en-US" altLang="zh-CN" sz="2400"/>
              <a:t>,  </a:t>
            </a:r>
            <a:r>
              <a:rPr lang="en-US" altLang="zh-CN" sz="2400" i="1"/>
              <a:t>j </a:t>
            </a:r>
            <a:r>
              <a:rPr lang="en-US" altLang="zh-CN" sz="2400">
                <a:ea typeface="宋体" pitchFamily="2" charset="-122"/>
              </a:rPr>
              <a:t>≤ </a:t>
            </a:r>
            <a:r>
              <a:rPr lang="en-US" altLang="zh-CN" sz="2400" i="1"/>
              <a:t>n</a:t>
            </a:r>
            <a:r>
              <a:rPr lang="en-US" altLang="zh-CN" sz="2400"/>
              <a:t>  </a:t>
            </a: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</a:pPr>
            <a:r>
              <a:rPr lang="zh-CN" altLang="en-US" sz="2400"/>
              <a:t>则称 </a:t>
            </a:r>
            <a:r>
              <a:rPr lang="en-US" altLang="zh-CN" sz="2400"/>
              <a:t>A </a:t>
            </a:r>
            <a:r>
              <a:rPr lang="zh-CN" altLang="en-US" sz="2400"/>
              <a:t>为</a:t>
            </a:r>
            <a:r>
              <a:rPr lang="zh-CN" altLang="en-US" sz="2400">
                <a:solidFill>
                  <a:srgbClr val="0000FF"/>
                </a:solidFill>
              </a:rPr>
              <a:t>对称矩阵</a:t>
            </a:r>
            <a:r>
              <a:rPr lang="zh-CN" altLang="en-US" sz="2400"/>
              <a:t>。 </a:t>
            </a:r>
          </a:p>
        </p:txBody>
      </p:sp>
      <p:graphicFrame>
        <p:nvGraphicFramePr>
          <p:cNvPr id="68642" name="Object 34"/>
          <p:cNvGraphicFramePr>
            <a:graphicFrameLocks noChangeAspect="1"/>
          </p:cNvGraphicFramePr>
          <p:nvPr/>
        </p:nvGraphicFramePr>
        <p:xfrm>
          <a:off x="3143251" y="3943350"/>
          <a:ext cx="2411413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3" imgW="1130040" imgH="1143000" progId="Equation.3">
                  <p:embed/>
                </p:oleObj>
              </mc:Choice>
              <mc:Fallback>
                <p:oleObj name="Microsoft 公式 3.0" r:id="rId3" imgW="1130040" imgH="114300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3943350"/>
                        <a:ext cx="2411413" cy="243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01" name="Object 93"/>
          <p:cNvGraphicFramePr>
            <a:graphicFrameLocks noChangeAspect="1"/>
          </p:cNvGraphicFramePr>
          <p:nvPr/>
        </p:nvGraphicFramePr>
        <p:xfrm>
          <a:off x="6815139" y="3860801"/>
          <a:ext cx="3240087" cy="242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95280" imgH="939600" progId="Equation.3">
                  <p:embed/>
                </p:oleObj>
              </mc:Choice>
              <mc:Fallback>
                <p:oleObj name="公式" r:id="rId5" imgW="1295280" imgH="93960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139" y="3860801"/>
                        <a:ext cx="3240087" cy="242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1000"/>
                                        <p:tgtEl>
                                          <p:spTgt spid="6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8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8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6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1000"/>
                                        <p:tgtEl>
                                          <p:spTgt spid="6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48" grpId="0" animBg="1"/>
      <p:bldP spid="68649" grpId="0" animBg="1"/>
      <p:bldP spid="68645" grpId="0" animBg="1"/>
      <p:bldP spid="68643" grpId="0" animBg="1"/>
      <p:bldP spid="68626" grpId="0"/>
      <p:bldP spid="68627" grpId="0"/>
      <p:bldP spid="686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7" name="Rectangle 167"/>
          <p:cNvSpPr>
            <a:spLocks noChangeArrowheads="1"/>
          </p:cNvSpPr>
          <p:nvPr/>
        </p:nvSpPr>
        <p:spPr bwMode="auto">
          <a:xfrm>
            <a:off x="2351088" y="1212851"/>
            <a:ext cx="4608512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 sz="2400"/>
              <a:t>对称矩阵上下三角中的元素数均 </a:t>
            </a:r>
          </a:p>
          <a:p>
            <a:pPr>
              <a:lnSpc>
                <a:spcPct val="180000"/>
              </a:lnSpc>
            </a:pPr>
            <a:r>
              <a:rPr lang="zh-CN" altLang="en-US" sz="2400"/>
              <a:t>为：        </a:t>
            </a:r>
            <a:r>
              <a:rPr lang="en-US" altLang="zh-CN" sz="2400" i="1"/>
              <a:t>n</a:t>
            </a:r>
            <a:r>
              <a:rPr lang="en-US" altLang="zh-CN" sz="2400"/>
              <a:t>(</a:t>
            </a:r>
            <a:r>
              <a:rPr lang="en-US" altLang="zh-CN" sz="2400" i="1"/>
              <a:t>n</a:t>
            </a:r>
            <a:r>
              <a:rPr lang="en-US" altLang="zh-CN" sz="2400"/>
              <a:t> + 1)/2 </a:t>
            </a:r>
          </a:p>
          <a:p>
            <a:pPr>
              <a:lnSpc>
                <a:spcPct val="180000"/>
              </a:lnSpc>
            </a:pPr>
            <a:r>
              <a:rPr lang="zh-CN" altLang="en-US" sz="2400"/>
              <a:t>可</a:t>
            </a:r>
            <a:r>
              <a:rPr lang="zh-CN" altLang="en-US" sz="2400">
                <a:solidFill>
                  <a:srgbClr val="0000FF"/>
                </a:solidFill>
              </a:rPr>
              <a:t>以行序</a:t>
            </a:r>
            <a:r>
              <a:rPr lang="zh-CN" altLang="en-US" sz="2400"/>
              <a:t>为主序将元素存放在一 </a:t>
            </a:r>
          </a:p>
          <a:p>
            <a:pPr>
              <a:lnSpc>
                <a:spcPct val="180000"/>
              </a:lnSpc>
            </a:pPr>
            <a:r>
              <a:rPr lang="zh-CN" altLang="en-US" sz="2400"/>
              <a:t>个一维数组</a:t>
            </a:r>
            <a:r>
              <a:rPr lang="zh-CN" altLang="en-US" sz="2400" i="1"/>
              <a:t> </a:t>
            </a:r>
            <a:r>
              <a:rPr lang="en-US" altLang="zh-CN" sz="2400" i="1"/>
              <a:t>sa</a:t>
            </a:r>
            <a:r>
              <a:rPr lang="en-US" altLang="zh-CN" sz="2400"/>
              <a:t>[</a:t>
            </a:r>
            <a:r>
              <a:rPr lang="en-US" altLang="zh-CN" sz="2400" i="1"/>
              <a:t>n</a:t>
            </a:r>
            <a:r>
              <a:rPr lang="en-US" altLang="zh-CN" sz="2400"/>
              <a:t>(</a:t>
            </a:r>
            <a:r>
              <a:rPr lang="en-US" altLang="zh-CN" sz="2400" i="1"/>
              <a:t>n</a:t>
            </a:r>
            <a:r>
              <a:rPr lang="en-US" altLang="zh-CN" sz="2400"/>
              <a:t>+1)/2] </a:t>
            </a:r>
            <a:r>
              <a:rPr lang="zh-CN" altLang="en-US" sz="2400"/>
              <a:t>中。 </a:t>
            </a:r>
          </a:p>
        </p:txBody>
      </p:sp>
      <p:sp>
        <p:nvSpPr>
          <p:cNvPr id="10408" name="AutoShape 168"/>
          <p:cNvSpPr>
            <a:spLocks noChangeArrowheads="1"/>
          </p:cNvSpPr>
          <p:nvPr/>
        </p:nvSpPr>
        <p:spPr bwMode="auto">
          <a:xfrm>
            <a:off x="7246939" y="1989138"/>
            <a:ext cx="2592387" cy="1871662"/>
          </a:xfrm>
          <a:prstGeom prst="rtTriangle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09" name="Line 169"/>
          <p:cNvSpPr>
            <a:spLocks noChangeShapeType="1"/>
          </p:cNvSpPr>
          <p:nvPr/>
        </p:nvSpPr>
        <p:spPr bwMode="auto">
          <a:xfrm>
            <a:off x="7246939" y="1628775"/>
            <a:ext cx="2808287" cy="2160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416" name="AutoShape 176"/>
          <p:cNvSpPr>
            <a:spLocks noChangeArrowheads="1"/>
          </p:cNvSpPr>
          <p:nvPr/>
        </p:nvSpPr>
        <p:spPr bwMode="auto">
          <a:xfrm rot="10800000">
            <a:off x="7678738" y="1628776"/>
            <a:ext cx="2449512" cy="1800225"/>
          </a:xfrm>
          <a:prstGeom prst="rtTriangle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410" name="Object 170"/>
          <p:cNvGraphicFramePr>
            <a:graphicFrameLocks noChangeAspect="1"/>
          </p:cNvGraphicFramePr>
          <p:nvPr/>
        </p:nvGraphicFramePr>
        <p:xfrm>
          <a:off x="7105650" y="1471613"/>
          <a:ext cx="3238500" cy="246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20480" imgH="939600" progId="Equation.3">
                  <p:embed/>
                </p:oleObj>
              </mc:Choice>
              <mc:Fallback>
                <p:oleObj name="公式" r:id="rId3" imgW="1320480" imgH="939600" progId="Equation.3">
                  <p:embed/>
                  <p:pic>
                    <p:nvPicPr>
                      <p:cNvPr id="0" name="Picture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650" y="1471613"/>
                        <a:ext cx="3238500" cy="2462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7" name="Rectangle 177"/>
          <p:cNvSpPr>
            <a:spLocks noChangeArrowheads="1"/>
          </p:cNvSpPr>
          <p:nvPr/>
        </p:nvSpPr>
        <p:spPr bwMode="auto">
          <a:xfrm>
            <a:off x="2351088" y="668338"/>
            <a:ext cx="300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ea typeface="华文中宋" pitchFamily="2" charset="-122"/>
              </a:rPr>
              <a:t>对称矩阵的存储结构 </a:t>
            </a:r>
          </a:p>
        </p:txBody>
      </p:sp>
      <p:sp>
        <p:nvSpPr>
          <p:cNvPr id="10418" name="Text Box 178"/>
          <p:cNvSpPr txBox="1">
            <a:spLocks noChangeArrowheads="1"/>
          </p:cNvSpPr>
          <p:nvPr/>
        </p:nvSpPr>
        <p:spPr bwMode="auto">
          <a:xfrm>
            <a:off x="2682875" y="5708650"/>
            <a:ext cx="694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400" i="1">
                <a:ea typeface="宋体" pitchFamily="2" charset="-122"/>
              </a:rPr>
              <a:t>k =    </a:t>
            </a:r>
            <a:r>
              <a:rPr lang="en-US" altLang="zh-CN" sz="2400">
                <a:ea typeface="宋体" pitchFamily="2" charset="-122"/>
              </a:rPr>
              <a:t>0      1      2      3      4         </a:t>
            </a:r>
            <a:r>
              <a:rPr lang="en-US" altLang="zh-CN" sz="2400" i="1">
                <a:ea typeface="宋体" pitchFamily="2" charset="-122"/>
              </a:rPr>
              <a:t>n</a:t>
            </a:r>
            <a:r>
              <a:rPr lang="en-US" altLang="zh-CN" sz="2400">
                <a:ea typeface="宋体" pitchFamily="2" charset="-122"/>
              </a:rPr>
              <a:t>(</a:t>
            </a:r>
            <a:r>
              <a:rPr lang="en-US" altLang="zh-CN" sz="2400" i="1">
                <a:ea typeface="宋体" pitchFamily="2" charset="-122"/>
              </a:rPr>
              <a:t>n</a:t>
            </a:r>
            <a:r>
              <a:rPr lang="en-US" altLang="zh-CN" sz="2400">
                <a:ea typeface="宋体" pitchFamily="2" charset="-122"/>
              </a:rPr>
              <a:t>-1)/2    </a:t>
            </a:r>
            <a:r>
              <a:rPr lang="en-US" altLang="zh-CN" sz="2400" i="1"/>
              <a:t>n</a:t>
            </a:r>
            <a:r>
              <a:rPr lang="en-US" altLang="zh-CN" sz="2400"/>
              <a:t>(</a:t>
            </a:r>
            <a:r>
              <a:rPr lang="en-US" altLang="zh-CN" sz="2400" i="1"/>
              <a:t>n</a:t>
            </a:r>
            <a:r>
              <a:rPr lang="en-US" altLang="zh-CN" sz="2400"/>
              <a:t>+1)/2-1 </a:t>
            </a:r>
          </a:p>
        </p:txBody>
      </p:sp>
      <p:sp>
        <p:nvSpPr>
          <p:cNvPr id="10419" name="Text Box 179"/>
          <p:cNvSpPr txBox="1">
            <a:spLocks noChangeArrowheads="1"/>
          </p:cNvSpPr>
          <p:nvPr/>
        </p:nvSpPr>
        <p:spPr bwMode="auto">
          <a:xfrm>
            <a:off x="3187700" y="4270375"/>
            <a:ext cx="3917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华文中宋" pitchFamily="2" charset="-122"/>
              </a:rPr>
              <a:t>以行序为主序存储下三角： </a:t>
            </a:r>
          </a:p>
        </p:txBody>
      </p:sp>
      <p:graphicFrame>
        <p:nvGraphicFramePr>
          <p:cNvPr id="10474" name="Group 234"/>
          <p:cNvGraphicFramePr>
            <a:graphicFrameLocks noGrp="1"/>
          </p:cNvGraphicFramePr>
          <p:nvPr/>
        </p:nvGraphicFramePr>
        <p:xfrm>
          <a:off x="3268663" y="5037138"/>
          <a:ext cx="5568950" cy="457200"/>
        </p:xfrm>
        <a:graphic>
          <a:graphicData uri="http://schemas.openxmlformats.org/drawingml/2006/table">
            <a:tbl>
              <a:tblPr/>
              <a:tblGrid>
                <a:gridCol w="61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07" grpId="0"/>
      <p:bldP spid="10418" grpId="0"/>
      <p:bldP spid="104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3" name="Rectangle 201"/>
          <p:cNvSpPr>
            <a:spLocks noChangeArrowheads="1"/>
          </p:cNvSpPr>
          <p:nvPr/>
        </p:nvSpPr>
        <p:spPr bwMode="auto">
          <a:xfrm>
            <a:off x="2155826" y="2684463"/>
            <a:ext cx="52117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 </a:t>
            </a:r>
            <a:r>
              <a:rPr lang="zh-CN" altLang="en-US" sz="2400"/>
              <a:t>则 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ij</a:t>
            </a:r>
            <a:r>
              <a:rPr lang="en-US" altLang="zh-CN" sz="2400"/>
              <a:t> </a:t>
            </a:r>
            <a:r>
              <a:rPr lang="zh-CN" altLang="en-US" sz="2400"/>
              <a:t>和 </a:t>
            </a:r>
            <a:r>
              <a:rPr lang="en-US" altLang="zh-CN" sz="2400" i="1"/>
              <a:t>sa</a:t>
            </a:r>
            <a:r>
              <a:rPr lang="en-US" altLang="zh-CN" sz="2400"/>
              <a:t>[</a:t>
            </a:r>
            <a:r>
              <a:rPr lang="en-US" altLang="zh-CN" sz="2400" i="1"/>
              <a:t>k</a:t>
            </a:r>
            <a:r>
              <a:rPr lang="en-US" altLang="zh-CN" sz="2400"/>
              <a:t>] </a:t>
            </a:r>
            <a:r>
              <a:rPr lang="zh-CN" altLang="en-US" sz="2400"/>
              <a:t>存在着一一对应关系： </a:t>
            </a:r>
          </a:p>
        </p:txBody>
      </p:sp>
      <p:graphicFrame>
        <p:nvGraphicFramePr>
          <p:cNvPr id="13514" name="Object 202"/>
          <p:cNvGraphicFramePr>
            <a:graphicFrameLocks noChangeAspect="1"/>
          </p:cNvGraphicFramePr>
          <p:nvPr/>
        </p:nvGraphicFramePr>
        <p:xfrm>
          <a:off x="2298701" y="3530600"/>
          <a:ext cx="3914775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803240" imgH="1193760" progId="Equation.3">
                  <p:embed/>
                </p:oleObj>
              </mc:Choice>
              <mc:Fallback>
                <p:oleObj name="公式" r:id="rId3" imgW="1803240" imgH="1193760" progId="Equation.3">
                  <p:embed/>
                  <p:pic>
                    <p:nvPicPr>
                      <p:cNvPr id="0" name="Picture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1" y="3530600"/>
                        <a:ext cx="3914775" cy="2592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5" name="Rectangle 203"/>
          <p:cNvSpPr>
            <a:spLocks noChangeArrowheads="1"/>
          </p:cNvSpPr>
          <p:nvPr/>
        </p:nvSpPr>
        <p:spPr bwMode="auto">
          <a:xfrm>
            <a:off x="6475413" y="3205163"/>
            <a:ext cx="3727450" cy="1516062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i="1"/>
              <a:t>a</a:t>
            </a:r>
            <a:r>
              <a:rPr lang="en-US" altLang="zh-CN" sz="2400" i="1" baseline="-25000"/>
              <a:t>ij</a:t>
            </a:r>
            <a:r>
              <a:rPr lang="en-US" altLang="zh-CN" sz="2400" i="1"/>
              <a:t> </a:t>
            </a:r>
            <a:r>
              <a:rPr lang="zh-CN" altLang="en-US" sz="2400"/>
              <a:t>前的 </a:t>
            </a:r>
            <a:r>
              <a:rPr lang="en-US" altLang="zh-CN" sz="2400" i="1"/>
              <a:t>i</a:t>
            </a:r>
            <a:r>
              <a:rPr lang="en-US" altLang="zh-CN" sz="2400"/>
              <a:t> -1 </a:t>
            </a:r>
            <a:r>
              <a:rPr lang="zh-CN" altLang="en-US" sz="2400"/>
              <a:t>行有 </a:t>
            </a:r>
            <a:r>
              <a:rPr lang="en-US" altLang="zh-CN" sz="2400"/>
              <a:t>1+2+…+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(</a:t>
            </a:r>
            <a:r>
              <a:rPr lang="en-US" altLang="zh-CN" sz="2400" i="1"/>
              <a:t>i </a:t>
            </a:r>
            <a:r>
              <a:rPr lang="en-US" altLang="zh-CN" sz="2400"/>
              <a:t>-1)=</a:t>
            </a:r>
            <a:r>
              <a:rPr lang="en-US" altLang="zh-CN" sz="2400" i="1"/>
              <a:t> i</a:t>
            </a:r>
            <a:r>
              <a:rPr lang="en-US" altLang="zh-CN" sz="2400"/>
              <a:t>(</a:t>
            </a:r>
            <a:r>
              <a:rPr lang="en-US" altLang="zh-CN" sz="2400" i="1"/>
              <a:t>i</a:t>
            </a:r>
            <a:r>
              <a:rPr lang="en-US" altLang="zh-CN" sz="2400"/>
              <a:t> -1)/2 </a:t>
            </a:r>
            <a:r>
              <a:rPr lang="zh-CN" altLang="en-US" sz="2400"/>
              <a:t>个元素，在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第 </a:t>
            </a:r>
            <a:r>
              <a:rPr lang="en-US" altLang="zh-CN" sz="2400" i="1"/>
              <a:t>i</a:t>
            </a:r>
            <a:r>
              <a:rPr lang="en-US" altLang="zh-CN" sz="2400"/>
              <a:t> </a:t>
            </a:r>
            <a:r>
              <a:rPr lang="zh-CN" altLang="en-US" sz="2400"/>
              <a:t>行上有 </a:t>
            </a:r>
            <a:r>
              <a:rPr lang="en-US" altLang="zh-CN" sz="2400" i="1"/>
              <a:t>j </a:t>
            </a:r>
            <a:r>
              <a:rPr lang="zh-CN" altLang="en-US" sz="2400"/>
              <a:t>个元素。 </a:t>
            </a:r>
          </a:p>
        </p:txBody>
      </p:sp>
      <p:sp>
        <p:nvSpPr>
          <p:cNvPr id="13516" name="Rectangle 204"/>
          <p:cNvSpPr>
            <a:spLocks noChangeArrowheads="1"/>
          </p:cNvSpPr>
          <p:nvPr/>
        </p:nvSpPr>
        <p:spPr bwMode="auto">
          <a:xfrm>
            <a:off x="6451601" y="4978400"/>
            <a:ext cx="3817071" cy="113486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因为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ij</a:t>
            </a:r>
            <a:r>
              <a:rPr lang="en-US" altLang="zh-CN" sz="2400" i="1"/>
              <a:t> </a:t>
            </a:r>
            <a:r>
              <a:rPr lang="en-US" altLang="zh-CN" sz="2400"/>
              <a:t>= 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ji</a:t>
            </a:r>
            <a:r>
              <a:rPr lang="zh-CN" altLang="en-US" sz="2400"/>
              <a:t>，所以只要交 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换关系式中的 </a:t>
            </a:r>
            <a:r>
              <a:rPr lang="en-US" altLang="zh-CN" sz="2400" i="1"/>
              <a:t>i</a:t>
            </a:r>
            <a:r>
              <a:rPr lang="en-US" altLang="zh-CN" sz="2400"/>
              <a:t> </a:t>
            </a:r>
            <a:r>
              <a:rPr lang="zh-CN" altLang="en-US" sz="2400"/>
              <a:t>和 </a:t>
            </a:r>
            <a:r>
              <a:rPr lang="en-US" altLang="zh-CN" sz="2400" i="1"/>
              <a:t>j</a:t>
            </a:r>
            <a:r>
              <a:rPr lang="en-US" altLang="zh-CN" sz="2400"/>
              <a:t> </a:t>
            </a:r>
            <a:r>
              <a:rPr lang="zh-CN" altLang="en-US" sz="2400"/>
              <a:t>即可。 </a:t>
            </a:r>
          </a:p>
        </p:txBody>
      </p:sp>
      <p:sp>
        <p:nvSpPr>
          <p:cNvPr id="13517" name="AutoShape 205"/>
          <p:cNvSpPr>
            <a:spLocks noChangeArrowheads="1"/>
          </p:cNvSpPr>
          <p:nvPr/>
        </p:nvSpPr>
        <p:spPr bwMode="auto">
          <a:xfrm>
            <a:off x="7175500" y="979488"/>
            <a:ext cx="2592388" cy="1871662"/>
          </a:xfrm>
          <a:prstGeom prst="rtTriangle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" name="Line 206"/>
          <p:cNvSpPr>
            <a:spLocks noChangeShapeType="1"/>
          </p:cNvSpPr>
          <p:nvPr/>
        </p:nvSpPr>
        <p:spPr bwMode="auto">
          <a:xfrm>
            <a:off x="7175500" y="619125"/>
            <a:ext cx="2808288" cy="2160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519" name="AutoShape 207"/>
          <p:cNvSpPr>
            <a:spLocks noChangeArrowheads="1"/>
          </p:cNvSpPr>
          <p:nvPr/>
        </p:nvSpPr>
        <p:spPr bwMode="auto">
          <a:xfrm rot="10800000">
            <a:off x="7607301" y="619126"/>
            <a:ext cx="2449513" cy="1800225"/>
          </a:xfrm>
          <a:prstGeom prst="rtTriangle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520" name="Object 208"/>
          <p:cNvGraphicFramePr>
            <a:graphicFrameLocks noChangeAspect="1"/>
          </p:cNvGraphicFramePr>
          <p:nvPr/>
        </p:nvGraphicFramePr>
        <p:xfrm>
          <a:off x="7034213" y="461963"/>
          <a:ext cx="3238500" cy="246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320480" imgH="939600" progId="Equation.3">
                  <p:embed/>
                </p:oleObj>
              </mc:Choice>
              <mc:Fallback>
                <p:oleObj name="公式" r:id="rId5" imgW="1320480" imgH="939600" progId="Equation.3">
                  <p:embed/>
                  <p:pic>
                    <p:nvPicPr>
                      <p:cNvPr id="0" name="Picture 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213" y="461963"/>
                        <a:ext cx="3238500" cy="2462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1" name="Text Box 209"/>
          <p:cNvSpPr txBox="1">
            <a:spLocks noChangeArrowheads="1"/>
          </p:cNvSpPr>
          <p:nvPr/>
        </p:nvSpPr>
        <p:spPr bwMode="auto">
          <a:xfrm>
            <a:off x="2155825" y="1916113"/>
            <a:ext cx="4057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400" i="1">
                <a:ea typeface="宋体" pitchFamily="2" charset="-122"/>
              </a:rPr>
              <a:t>k= </a:t>
            </a:r>
            <a:r>
              <a:rPr lang="en-US" altLang="zh-CN" sz="2400">
                <a:ea typeface="宋体" pitchFamily="2" charset="-122"/>
              </a:rPr>
              <a:t>0     1      2     3       </a:t>
            </a:r>
            <a:r>
              <a:rPr lang="en-US" altLang="zh-CN" sz="2400" i="1">
                <a:ea typeface="宋体" pitchFamily="2" charset="-122"/>
              </a:rPr>
              <a:t>n</a:t>
            </a:r>
            <a:r>
              <a:rPr lang="en-US" altLang="zh-CN" sz="2400">
                <a:ea typeface="宋体" pitchFamily="2" charset="-122"/>
              </a:rPr>
              <a:t>(</a:t>
            </a:r>
            <a:r>
              <a:rPr lang="en-US" altLang="zh-CN" sz="2400" i="1">
                <a:ea typeface="宋体" pitchFamily="2" charset="-122"/>
              </a:rPr>
              <a:t>n</a:t>
            </a:r>
            <a:r>
              <a:rPr lang="en-US" altLang="zh-CN" sz="2400">
                <a:ea typeface="宋体" pitchFamily="2" charset="-122"/>
              </a:rPr>
              <a:t>-1)/2 </a:t>
            </a:r>
            <a:endParaRPr lang="en-US" altLang="zh-CN" sz="2400"/>
          </a:p>
        </p:txBody>
      </p:sp>
      <p:sp>
        <p:nvSpPr>
          <p:cNvPr id="13522" name="Text Box 210"/>
          <p:cNvSpPr txBox="1">
            <a:spLocks noChangeArrowheads="1"/>
          </p:cNvSpPr>
          <p:nvPr/>
        </p:nvSpPr>
        <p:spPr bwMode="auto">
          <a:xfrm>
            <a:off x="2128838" y="620713"/>
            <a:ext cx="3917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华文中宋" pitchFamily="2" charset="-122"/>
              </a:rPr>
              <a:t>以行序为主序存储下三角： </a:t>
            </a:r>
          </a:p>
        </p:txBody>
      </p:sp>
      <p:graphicFrame>
        <p:nvGraphicFramePr>
          <p:cNvPr id="13578" name="Group 266"/>
          <p:cNvGraphicFramePr>
            <a:graphicFrameLocks noGrp="1"/>
          </p:cNvGraphicFramePr>
          <p:nvPr/>
        </p:nvGraphicFramePr>
        <p:xfrm>
          <a:off x="2443164" y="1389063"/>
          <a:ext cx="4537075" cy="457200"/>
        </p:xfrm>
        <a:graphic>
          <a:graphicData uri="http://schemas.openxmlformats.org/drawingml/2006/table">
            <a:tbl>
              <a:tblPr/>
              <a:tblGrid>
                <a:gridCol w="56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nn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1000"/>
                                        <p:tgtEl>
                                          <p:spTgt spid="1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1000"/>
                                        <p:tgtEl>
                                          <p:spTgt spid="1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3" grpId="0"/>
      <p:bldP spid="13515" grpId="0" animBg="1"/>
      <p:bldP spid="135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2279650" y="481013"/>
            <a:ext cx="806450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2400"/>
              <a:t>  2</a:t>
            </a:r>
            <a:r>
              <a:rPr lang="zh-CN" altLang="en-US" sz="2400"/>
              <a:t>、</a:t>
            </a:r>
            <a:r>
              <a:rPr lang="zh-CN" altLang="en-US" sz="2400">
                <a:ea typeface="华文中宋" pitchFamily="2" charset="-122"/>
              </a:rPr>
              <a:t>三角矩阵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2400"/>
              <a:t>        以主对角线划分，三角矩阵有上（</a:t>
            </a:r>
            <a:r>
              <a:rPr lang="zh-CN" altLang="en-US" sz="2400">
                <a:solidFill>
                  <a:srgbClr val="0000FF"/>
                </a:solidFill>
              </a:rPr>
              <a:t>下</a:t>
            </a:r>
            <a:r>
              <a:rPr lang="zh-CN" altLang="en-US" sz="2400"/>
              <a:t>）三角两种。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2400"/>
              <a:t>上（</a:t>
            </a:r>
            <a:r>
              <a:rPr lang="zh-CN" altLang="en-US" sz="2400">
                <a:solidFill>
                  <a:srgbClr val="0000FF"/>
                </a:solidFill>
              </a:rPr>
              <a:t>下</a:t>
            </a:r>
            <a:r>
              <a:rPr lang="zh-CN" altLang="en-US" sz="2400"/>
              <a:t>）三角矩阵的下（</a:t>
            </a:r>
            <a:r>
              <a:rPr lang="zh-CN" altLang="en-US" sz="2400">
                <a:solidFill>
                  <a:srgbClr val="0000FF"/>
                </a:solidFill>
              </a:rPr>
              <a:t>上</a:t>
            </a:r>
            <a:r>
              <a:rPr lang="zh-CN" altLang="en-US" sz="2400"/>
              <a:t>）三角（不含主对角线）中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2400"/>
              <a:t>的元素均为常数。在大多数情况下，三角矩阵常数为零。 </a:t>
            </a:r>
          </a:p>
        </p:txBody>
      </p:sp>
      <p:grpSp>
        <p:nvGrpSpPr>
          <p:cNvPr id="69652" name="Group 20"/>
          <p:cNvGrpSpPr>
            <a:grpSpLocks/>
          </p:cNvGrpSpPr>
          <p:nvPr/>
        </p:nvGrpSpPr>
        <p:grpSpPr bwMode="auto">
          <a:xfrm>
            <a:off x="2493963" y="2395539"/>
            <a:ext cx="7345362" cy="2689225"/>
            <a:chOff x="521" y="1645"/>
            <a:chExt cx="4627" cy="1694"/>
          </a:xfrm>
        </p:grpSpPr>
        <p:sp>
          <p:nvSpPr>
            <p:cNvPr id="69643" name="Line 11"/>
            <p:cNvSpPr>
              <a:spLocks noChangeShapeType="1"/>
            </p:cNvSpPr>
            <p:nvPr/>
          </p:nvSpPr>
          <p:spPr bwMode="auto">
            <a:xfrm>
              <a:off x="3470" y="1781"/>
              <a:ext cx="1496" cy="119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4" name="AutoShape 12"/>
            <p:cNvSpPr>
              <a:spLocks noChangeArrowheads="1"/>
            </p:cNvSpPr>
            <p:nvPr/>
          </p:nvSpPr>
          <p:spPr bwMode="auto">
            <a:xfrm rot="16200000" flipH="1">
              <a:off x="3802" y="1584"/>
              <a:ext cx="1059" cy="1361"/>
            </a:xfrm>
            <a:prstGeom prst="rtTriangle">
              <a:avLst/>
            </a:prstGeom>
            <a:solidFill>
              <a:srgbClr val="66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45" name="Line 13"/>
            <p:cNvSpPr>
              <a:spLocks noChangeShapeType="1"/>
            </p:cNvSpPr>
            <p:nvPr/>
          </p:nvSpPr>
          <p:spPr bwMode="auto">
            <a:xfrm>
              <a:off x="657" y="1781"/>
              <a:ext cx="1452" cy="119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6" name="AutoShape 14"/>
            <p:cNvSpPr>
              <a:spLocks noChangeArrowheads="1"/>
            </p:cNvSpPr>
            <p:nvPr/>
          </p:nvSpPr>
          <p:spPr bwMode="auto">
            <a:xfrm>
              <a:off x="657" y="1917"/>
              <a:ext cx="1270" cy="1059"/>
            </a:xfrm>
            <a:prstGeom prst="rtTriangle">
              <a:avLst/>
            </a:prstGeom>
            <a:solidFill>
              <a:srgbClr val="66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9647" name="Object 15"/>
            <p:cNvGraphicFramePr>
              <a:graphicFrameLocks noChangeAspect="1"/>
            </p:cNvGraphicFramePr>
            <p:nvPr/>
          </p:nvGraphicFramePr>
          <p:xfrm>
            <a:off x="521" y="1645"/>
            <a:ext cx="1765" cy="1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295280" imgH="939600" progId="Equation.3">
                    <p:embed/>
                  </p:oleObj>
                </mc:Choice>
                <mc:Fallback>
                  <p:oleObj name="公式" r:id="rId3" imgW="1295280" imgH="93960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1645"/>
                          <a:ext cx="1765" cy="14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8" name="Object 16"/>
            <p:cNvGraphicFramePr>
              <a:graphicFrameLocks noChangeAspect="1"/>
            </p:cNvGraphicFramePr>
            <p:nvPr/>
          </p:nvGraphicFramePr>
          <p:xfrm>
            <a:off x="3349" y="1645"/>
            <a:ext cx="1799" cy="1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320480" imgH="939600" progId="Equation.3">
                    <p:embed/>
                  </p:oleObj>
                </mc:Choice>
                <mc:Fallback>
                  <p:oleObj name="公式" r:id="rId5" imgW="1320480" imgH="93960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9" y="1645"/>
                          <a:ext cx="1799" cy="14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49" name="Text Box 17"/>
            <p:cNvSpPr txBox="1">
              <a:spLocks noChangeArrowheads="1"/>
            </p:cNvSpPr>
            <p:nvPr/>
          </p:nvSpPr>
          <p:spPr bwMode="auto">
            <a:xfrm>
              <a:off x="884" y="3051"/>
              <a:ext cx="108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/>
                <a:t>上三角矩阵</a:t>
              </a:r>
            </a:p>
          </p:txBody>
        </p:sp>
        <p:sp>
          <p:nvSpPr>
            <p:cNvPr id="69650" name="Text Box 18"/>
            <p:cNvSpPr txBox="1">
              <a:spLocks noChangeArrowheads="1"/>
            </p:cNvSpPr>
            <p:nvPr/>
          </p:nvSpPr>
          <p:spPr bwMode="auto">
            <a:xfrm>
              <a:off x="3795" y="3051"/>
              <a:ext cx="108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/>
                <a:t>下三角矩阵</a:t>
              </a:r>
            </a:p>
          </p:txBody>
        </p:sp>
      </p:grpSp>
      <p:sp>
        <p:nvSpPr>
          <p:cNvPr id="69651" name="Text Box 19"/>
          <p:cNvSpPr txBox="1">
            <a:spLocks noChangeArrowheads="1"/>
          </p:cNvSpPr>
          <p:nvPr/>
        </p:nvSpPr>
        <p:spPr bwMode="auto">
          <a:xfrm>
            <a:off x="2279651" y="5124451"/>
            <a:ext cx="7777163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2400"/>
              <a:t>        </a:t>
            </a:r>
            <a:r>
              <a:rPr lang="zh-CN" altLang="en-US" sz="2400">
                <a:ea typeface="华文中宋" pitchFamily="2" charset="-122"/>
              </a:rPr>
              <a:t>三角矩阵的存储：</a:t>
            </a:r>
            <a:r>
              <a:rPr lang="zh-CN" altLang="en-US" sz="2400"/>
              <a:t>除了存储主对角线及上（</a:t>
            </a:r>
            <a:r>
              <a:rPr lang="zh-CN" altLang="en-US" sz="2400">
                <a:solidFill>
                  <a:srgbClr val="0000FF"/>
                </a:solidFill>
              </a:rPr>
              <a:t>下</a:t>
            </a:r>
            <a:r>
              <a:rPr lang="zh-CN" altLang="en-US" sz="2400"/>
              <a:t>）三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2400"/>
              <a:t>角中的元素外，再加一个存储常数 </a:t>
            </a:r>
            <a:r>
              <a:rPr lang="en-US" altLang="zh-CN" sz="2400" i="1"/>
              <a:t>c</a:t>
            </a:r>
            <a:r>
              <a:rPr lang="en-US" altLang="zh-CN" sz="2400"/>
              <a:t> </a:t>
            </a:r>
            <a:r>
              <a:rPr lang="zh-CN" altLang="en-US" sz="2400"/>
              <a:t>的空间。 </a:t>
            </a: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1000"/>
                                        <p:tgtEl>
                                          <p:spTgt spid="6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1" grpId="0"/>
      <p:bldP spid="6965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2" name="Line 36"/>
          <p:cNvSpPr>
            <a:spLocks noChangeShapeType="1"/>
          </p:cNvSpPr>
          <p:nvPr/>
        </p:nvSpPr>
        <p:spPr bwMode="auto">
          <a:xfrm>
            <a:off x="4872039" y="1628776"/>
            <a:ext cx="3671887" cy="2447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69" name="Rectangle 33"/>
          <p:cNvSpPr>
            <a:spLocks noChangeArrowheads="1"/>
          </p:cNvSpPr>
          <p:nvPr/>
        </p:nvSpPr>
        <p:spPr bwMode="auto">
          <a:xfrm>
            <a:off x="2443163" y="765176"/>
            <a:ext cx="23749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>
                <a:ea typeface="华文中宋" pitchFamily="2" charset="-122"/>
              </a:rPr>
              <a:t> 3</a:t>
            </a:r>
            <a:r>
              <a:rPr lang="zh-CN" altLang="en-US" sz="2400">
                <a:ea typeface="华文中宋" pitchFamily="2" charset="-122"/>
              </a:rPr>
              <a:t>、 对角矩阵 </a:t>
            </a:r>
            <a:endParaRPr lang="zh-CN" altLang="en-US" sz="2400" baseline="-18000"/>
          </a:p>
        </p:txBody>
      </p:sp>
      <p:sp>
        <p:nvSpPr>
          <p:cNvPr id="14373" name="Line 37"/>
          <p:cNvSpPr>
            <a:spLocks noChangeShapeType="1"/>
          </p:cNvSpPr>
          <p:nvPr/>
        </p:nvSpPr>
        <p:spPr bwMode="auto">
          <a:xfrm>
            <a:off x="4872038" y="2133600"/>
            <a:ext cx="2736850" cy="19431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74" name="Line 38"/>
          <p:cNvSpPr>
            <a:spLocks noChangeShapeType="1"/>
          </p:cNvSpPr>
          <p:nvPr/>
        </p:nvSpPr>
        <p:spPr bwMode="auto">
          <a:xfrm>
            <a:off x="5664200" y="1628775"/>
            <a:ext cx="2827338" cy="19446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75" name="Rectangle 39"/>
          <p:cNvSpPr>
            <a:spLocks noChangeArrowheads="1"/>
          </p:cNvSpPr>
          <p:nvPr/>
        </p:nvSpPr>
        <p:spPr bwMode="auto">
          <a:xfrm>
            <a:off x="2443163" y="4543426"/>
            <a:ext cx="7613650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/>
              <a:t>        </a:t>
            </a:r>
            <a:r>
              <a:rPr lang="zh-CN" altLang="en-US" sz="2400"/>
              <a:t>对角矩阵可按行优先顺序或对角线的顺序，将其压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缩存储到一维数组中，且也能找到每个非零元素和向量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下标的对应关系。 </a:t>
            </a:r>
          </a:p>
        </p:txBody>
      </p:sp>
      <p:graphicFrame>
        <p:nvGraphicFramePr>
          <p:cNvPr id="14371" name="Object 35"/>
          <p:cNvGraphicFramePr>
            <a:graphicFrameLocks noChangeAspect="1"/>
          </p:cNvGraphicFramePr>
          <p:nvPr/>
        </p:nvGraphicFramePr>
        <p:xfrm>
          <a:off x="4651375" y="1341439"/>
          <a:ext cx="4343400" cy="286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42920" imgH="1168200" progId="Equation.3">
                  <p:embed/>
                </p:oleObj>
              </mc:Choice>
              <mc:Fallback>
                <p:oleObj name="公式" r:id="rId3" imgW="1942920" imgH="116820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75" y="1341439"/>
                        <a:ext cx="4343400" cy="286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trips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7" name="Rectangle 7"/>
          <p:cNvSpPr>
            <a:spLocks noChangeArrowheads="1"/>
          </p:cNvSpPr>
          <p:nvPr/>
        </p:nvSpPr>
        <p:spPr bwMode="auto">
          <a:xfrm>
            <a:off x="2039939" y="531813"/>
            <a:ext cx="2376487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>
                <a:ea typeface="华文中宋" pitchFamily="2" charset="-122"/>
              </a:rPr>
              <a:t>5.3.2  </a:t>
            </a:r>
            <a:r>
              <a:rPr lang="zh-CN" altLang="en-US" sz="2400">
                <a:ea typeface="华文中宋" pitchFamily="2" charset="-122"/>
              </a:rPr>
              <a:t>稀疏矩阵  </a:t>
            </a: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2039938" y="1052513"/>
            <a:ext cx="7632700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稀疏矩阵：</a:t>
            </a:r>
            <a:r>
              <a:rPr lang="zh-CN" altLang="en-US" sz="2400"/>
              <a:t>设在 </a:t>
            </a:r>
            <a:r>
              <a:rPr lang="en-US" altLang="zh-CN" sz="2400" i="1"/>
              <a:t>m</a:t>
            </a:r>
            <a:r>
              <a:rPr lang="en-US" altLang="zh-CN" sz="2400"/>
              <a:t>×</a:t>
            </a:r>
            <a:r>
              <a:rPr lang="en-US" altLang="zh-CN" sz="2400" i="1"/>
              <a:t>n</a:t>
            </a:r>
            <a:r>
              <a:rPr lang="en-US" altLang="zh-CN" sz="2400"/>
              <a:t> </a:t>
            </a:r>
            <a:r>
              <a:rPr lang="zh-CN" altLang="en-US" sz="2400"/>
              <a:t>的矩阵中有 </a:t>
            </a:r>
            <a:r>
              <a:rPr lang="en-US" altLang="zh-CN" sz="2400" i="1"/>
              <a:t>t</a:t>
            </a:r>
            <a:r>
              <a:rPr lang="en-US" altLang="zh-CN" sz="2400"/>
              <a:t> </a:t>
            </a:r>
            <a:r>
              <a:rPr lang="zh-CN" altLang="en-US" sz="2400"/>
              <a:t>个非零元素。 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/>
              <a:t>                    令       </a:t>
            </a:r>
            <a:r>
              <a:rPr lang="zh-CN" altLang="en-US" sz="2400" i="1">
                <a:sym typeface="Symbol" pitchFamily="18" charset="2"/>
              </a:rPr>
              <a:t></a:t>
            </a:r>
            <a:r>
              <a:rPr lang="zh-CN" altLang="en-US" sz="2400">
                <a:sym typeface="Symbol" pitchFamily="18" charset="2"/>
              </a:rPr>
              <a:t> </a:t>
            </a:r>
            <a:r>
              <a:rPr lang="en-US" altLang="zh-CN" sz="2400">
                <a:sym typeface="Symbol" pitchFamily="18" charset="2"/>
              </a:rPr>
              <a:t>= </a:t>
            </a:r>
            <a:r>
              <a:rPr lang="en-US" altLang="zh-CN" sz="2400" i="1">
                <a:sym typeface="Symbol" pitchFamily="18" charset="2"/>
              </a:rPr>
              <a:t>t</a:t>
            </a:r>
            <a:r>
              <a:rPr lang="en-US" altLang="zh-CN" sz="2400">
                <a:sym typeface="Symbol" pitchFamily="18" charset="2"/>
              </a:rPr>
              <a:t> /(</a:t>
            </a:r>
            <a:r>
              <a:rPr lang="en-US" altLang="zh-CN" sz="2400" i="1">
                <a:sym typeface="Symbol" pitchFamily="18" charset="2"/>
              </a:rPr>
              <a:t>m</a:t>
            </a:r>
            <a:r>
              <a:rPr lang="en-US" altLang="zh-CN" sz="2400"/>
              <a:t>×</a:t>
            </a:r>
            <a:r>
              <a:rPr lang="en-US" altLang="zh-CN" sz="2400" i="1"/>
              <a:t>n</a:t>
            </a:r>
            <a:r>
              <a:rPr lang="en-US" altLang="zh-CN" sz="2400">
                <a:sym typeface="Symbol" pitchFamily="18" charset="2"/>
              </a:rPr>
              <a:t>)  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sz="2400">
                <a:sym typeface="Symbol" pitchFamily="18" charset="2"/>
              </a:rPr>
              <a:t>                    </a:t>
            </a:r>
            <a:r>
              <a:rPr lang="zh-CN" altLang="en-US" sz="2400"/>
              <a:t>当 </a:t>
            </a:r>
            <a:r>
              <a:rPr lang="zh-CN" altLang="en-US" sz="2400" i="1">
                <a:sym typeface="Symbol" pitchFamily="18" charset="2"/>
              </a:rPr>
              <a:t></a:t>
            </a:r>
            <a:r>
              <a:rPr lang="zh-CN" altLang="en-US" sz="2400"/>
              <a:t> </a:t>
            </a:r>
            <a:r>
              <a:rPr lang="zh-CN" altLang="en-US" sz="2400">
                <a:ea typeface="宋体" pitchFamily="2" charset="-122"/>
              </a:rPr>
              <a:t>≤</a:t>
            </a:r>
            <a:r>
              <a:rPr lang="en-US" altLang="zh-CN" sz="2400">
                <a:ea typeface="宋体" pitchFamily="2" charset="-122"/>
              </a:rPr>
              <a:t>0.05</a:t>
            </a:r>
            <a:r>
              <a:rPr lang="en-US" altLang="zh-CN" sz="2400"/>
              <a:t> </a:t>
            </a:r>
            <a:r>
              <a:rPr lang="zh-CN" altLang="en-US" sz="2400"/>
              <a:t>时称为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稀疏矩阵</a:t>
            </a:r>
            <a:r>
              <a:rPr lang="zh-CN" altLang="en-US" sz="2400"/>
              <a:t>。 </a:t>
            </a:r>
          </a:p>
        </p:txBody>
      </p:sp>
      <p:sp>
        <p:nvSpPr>
          <p:cNvPr id="71689" name="Rectangle 9"/>
          <p:cNvSpPr>
            <a:spLocks noChangeArrowheads="1"/>
          </p:cNvSpPr>
          <p:nvPr/>
        </p:nvSpPr>
        <p:spPr bwMode="auto">
          <a:xfrm>
            <a:off x="2039939" y="5157789"/>
            <a:ext cx="8571577" cy="55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压缩存储原则：</a:t>
            </a:r>
            <a:r>
              <a:rPr lang="zh-CN" altLang="en-US" sz="2400"/>
              <a:t>存各非零元的值、行列位置和矩阵的行列数。 </a:t>
            </a:r>
          </a:p>
        </p:txBody>
      </p:sp>
      <p:graphicFrame>
        <p:nvGraphicFramePr>
          <p:cNvPr id="71690" name="Object 10"/>
          <p:cNvGraphicFramePr>
            <a:graphicFrameLocks noChangeAspect="1"/>
          </p:cNvGraphicFramePr>
          <p:nvPr/>
        </p:nvGraphicFramePr>
        <p:xfrm>
          <a:off x="2143126" y="2508250"/>
          <a:ext cx="3929063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11200" imgH="1523880" progId="Equation.3">
                  <p:embed/>
                </p:oleObj>
              </mc:Choice>
              <mc:Fallback>
                <p:oleObj name="公式" r:id="rId3" imgW="2311200" imgH="15238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6" y="2508250"/>
                        <a:ext cx="3929063" cy="259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6373814" y="2492375"/>
            <a:ext cx="413702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/>
              <a:t>M </a:t>
            </a:r>
            <a:r>
              <a:rPr lang="zh-CN" altLang="zh-CN" sz="2400"/>
              <a:t>由</a:t>
            </a:r>
            <a:r>
              <a:rPr lang="zh-CN" altLang="en-US" sz="2400"/>
              <a:t> </a:t>
            </a:r>
          </a:p>
          <a:p>
            <a:pPr>
              <a:lnSpc>
                <a:spcPct val="140000"/>
              </a:lnSpc>
            </a:pPr>
            <a:r>
              <a:rPr lang="zh-CN" altLang="zh-CN" sz="2400"/>
              <a:t>{(1,2,12), </a:t>
            </a:r>
            <a:r>
              <a:rPr lang="en-US" altLang="zh-CN" sz="2400"/>
              <a:t> </a:t>
            </a:r>
            <a:r>
              <a:rPr lang="zh-CN" altLang="zh-CN" sz="2400"/>
              <a:t>(1,3,9), </a:t>
            </a:r>
            <a:r>
              <a:rPr lang="en-US" altLang="zh-CN" sz="2400"/>
              <a:t> </a:t>
            </a:r>
            <a:r>
              <a:rPr lang="zh-CN" altLang="zh-CN" sz="2400"/>
              <a:t>(3,1,-3), </a:t>
            </a:r>
            <a:r>
              <a:rPr lang="en-US" altLang="zh-CN" sz="2400"/>
              <a:t> </a:t>
            </a:r>
          </a:p>
          <a:p>
            <a:pPr>
              <a:lnSpc>
                <a:spcPct val="140000"/>
              </a:lnSpc>
            </a:pPr>
            <a:r>
              <a:rPr lang="en-US" altLang="zh-CN" sz="2400"/>
              <a:t>  </a:t>
            </a:r>
            <a:r>
              <a:rPr lang="zh-CN" altLang="zh-CN" sz="2400"/>
              <a:t>(3,6,14), (4,3,24), (5,2,18), </a:t>
            </a:r>
            <a:endParaRPr lang="en-US" altLang="zh-CN" sz="2400"/>
          </a:p>
          <a:p>
            <a:pPr>
              <a:lnSpc>
                <a:spcPct val="140000"/>
              </a:lnSpc>
            </a:pPr>
            <a:r>
              <a:rPr lang="en-US" altLang="zh-CN" sz="2400"/>
              <a:t>  </a:t>
            </a:r>
            <a:r>
              <a:rPr lang="zh-CN" altLang="zh-CN" sz="2400"/>
              <a:t>(6,1,15), (6,4,-7) } </a:t>
            </a:r>
            <a:endParaRPr lang="en-US" altLang="zh-CN" sz="2400"/>
          </a:p>
          <a:p>
            <a:pPr>
              <a:lnSpc>
                <a:spcPct val="140000"/>
              </a:lnSpc>
            </a:pPr>
            <a:r>
              <a:rPr lang="zh-CN" altLang="zh-CN" sz="2400"/>
              <a:t>和矩阵维数</a:t>
            </a:r>
            <a:r>
              <a:rPr lang="zh-CN" altLang="en-US" sz="2400"/>
              <a:t> </a:t>
            </a:r>
            <a:r>
              <a:rPr lang="en-US" altLang="zh-CN" sz="2400"/>
              <a:t>(</a:t>
            </a:r>
            <a:r>
              <a:rPr lang="zh-CN" altLang="zh-CN" sz="2400"/>
              <a:t>6,</a:t>
            </a:r>
            <a:r>
              <a:rPr lang="en-US" altLang="zh-CN" sz="2400"/>
              <a:t> </a:t>
            </a:r>
            <a:r>
              <a:rPr lang="zh-CN" altLang="zh-CN" sz="2400"/>
              <a:t>7</a:t>
            </a:r>
            <a:r>
              <a:rPr lang="en-US" altLang="zh-CN" sz="2400"/>
              <a:t>) </a:t>
            </a:r>
            <a:r>
              <a:rPr lang="zh-CN" altLang="zh-CN" sz="2400"/>
              <a:t>唯一确定</a:t>
            </a:r>
            <a:r>
              <a:rPr lang="zh-CN" altLang="en-US" sz="2400"/>
              <a:t>。 </a:t>
            </a:r>
          </a:p>
        </p:txBody>
      </p:sp>
      <p:sp>
        <p:nvSpPr>
          <p:cNvPr id="71692" name="AutoShape 12"/>
          <p:cNvSpPr>
            <a:spLocks noChangeArrowheads="1"/>
          </p:cNvSpPr>
          <p:nvPr/>
        </p:nvSpPr>
        <p:spPr bwMode="auto">
          <a:xfrm>
            <a:off x="7583489" y="1700213"/>
            <a:ext cx="2592387" cy="1295400"/>
          </a:xfrm>
          <a:prstGeom prst="wedgeRoundRectCallout">
            <a:avLst>
              <a:gd name="adj1" fmla="val -50551"/>
              <a:gd name="adj2" fmla="val 6764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zh-CN" altLang="en-US" sz="2400"/>
              <a:t>三元组 </a:t>
            </a:r>
            <a:r>
              <a:rPr lang="en-US" altLang="zh-CN" sz="2400"/>
              <a:t>(</a:t>
            </a:r>
            <a:r>
              <a:rPr lang="en-US" altLang="zh-CN" sz="2400" i="1"/>
              <a:t>i</a:t>
            </a:r>
            <a:r>
              <a:rPr lang="en-US" altLang="zh-CN" sz="2400"/>
              <a:t>, </a:t>
            </a:r>
            <a:r>
              <a:rPr lang="en-US" altLang="zh-CN" sz="2400" i="1"/>
              <a:t>j</a:t>
            </a:r>
            <a:r>
              <a:rPr lang="en-US" altLang="zh-CN" sz="2400"/>
              <a:t>, 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ij</a:t>
            </a:r>
            <a:r>
              <a:rPr lang="en-US" altLang="zh-CN" sz="2400"/>
              <a:t>) </a:t>
            </a:r>
            <a:r>
              <a:rPr lang="zh-CN" altLang="en-US" sz="2400"/>
              <a:t>惟一确定矩阵的一个非零元。 </a:t>
            </a:r>
          </a:p>
        </p:txBody>
      </p:sp>
      <p:sp>
        <p:nvSpPr>
          <p:cNvPr id="71693" name="Rectangle 13"/>
          <p:cNvSpPr>
            <a:spLocks noChangeArrowheads="1"/>
          </p:cNvSpPr>
          <p:nvPr/>
        </p:nvSpPr>
        <p:spPr bwMode="auto">
          <a:xfrm>
            <a:off x="2039938" y="5889625"/>
            <a:ext cx="8488362" cy="4572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2400">
                <a:latin typeface="华文新魏" pitchFamily="2" charset="-122"/>
                <a:ea typeface="华文新魏" pitchFamily="2" charset="-122"/>
              </a:rPr>
              <a:t>三元组的不同表示方法可决定稀疏矩阵不同的压缩存储方法。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1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1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10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9" grpId="0"/>
      <p:bldP spid="71691" grpId="0"/>
      <p:bldP spid="71692" grpId="0" animBg="1"/>
      <p:bldP spid="7169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77" name="Object 117"/>
          <p:cNvGraphicFramePr>
            <a:graphicFrameLocks noChangeAspect="1"/>
          </p:cNvGraphicFramePr>
          <p:nvPr/>
        </p:nvGraphicFramePr>
        <p:xfrm>
          <a:off x="2351089" y="1773239"/>
          <a:ext cx="4897437" cy="322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11200" imgH="1523880" progId="Equation.3">
                  <p:embed/>
                </p:oleObj>
              </mc:Choice>
              <mc:Fallback>
                <p:oleObj name="公式" r:id="rId3" imgW="2311200" imgH="1523880" progId="Equation.3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1773239"/>
                        <a:ext cx="4897437" cy="3227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5446" name="Text Box 86"/>
          <p:cNvSpPr txBox="1">
            <a:spLocks noChangeArrowheads="1"/>
          </p:cNvSpPr>
          <p:nvPr/>
        </p:nvSpPr>
        <p:spPr bwMode="auto">
          <a:xfrm>
            <a:off x="2351089" y="1495426"/>
            <a:ext cx="5113337" cy="49117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/>
              <a:t>#define MAXSIZE 12500  </a:t>
            </a:r>
          </a:p>
          <a:p>
            <a:pPr>
              <a:lnSpc>
                <a:spcPct val="120000"/>
              </a:lnSpc>
            </a:pPr>
            <a:r>
              <a:rPr lang="en-US" altLang="zh-CN" sz="2400"/>
              <a:t>             //</a:t>
            </a:r>
            <a:r>
              <a:rPr lang="zh-CN" altLang="en-US" sz="2400"/>
              <a:t>假设非零元个数的最大值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typedef   struct {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     int  </a:t>
            </a:r>
            <a:r>
              <a:rPr lang="en-US" altLang="zh-CN" sz="2400" i="1">
                <a:solidFill>
                  <a:srgbClr val="0000FF"/>
                </a:solidFill>
              </a:rPr>
              <a:t>i</a:t>
            </a:r>
            <a:r>
              <a:rPr lang="en-US" altLang="zh-CN" sz="2400">
                <a:solidFill>
                  <a:srgbClr val="0000FF"/>
                </a:solidFill>
              </a:rPr>
              <a:t>, </a:t>
            </a:r>
            <a:r>
              <a:rPr lang="en-US" altLang="zh-CN" sz="2400" i="1">
                <a:solidFill>
                  <a:srgbClr val="0000FF"/>
                </a:solidFill>
              </a:rPr>
              <a:t>j</a:t>
            </a:r>
            <a:r>
              <a:rPr lang="en-US" altLang="zh-CN" sz="2400">
                <a:solidFill>
                  <a:srgbClr val="0000FF"/>
                </a:solidFill>
              </a:rPr>
              <a:t>;    //</a:t>
            </a:r>
            <a:r>
              <a:rPr lang="zh-CN" altLang="en-US" sz="2400">
                <a:solidFill>
                  <a:srgbClr val="0000FF"/>
                </a:solidFill>
              </a:rPr>
              <a:t>该非零元的行列下标 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    </a:t>
            </a:r>
            <a:r>
              <a:rPr lang="en-US" altLang="zh-CN" sz="2400">
                <a:solidFill>
                  <a:srgbClr val="0000FF"/>
                </a:solidFill>
              </a:rPr>
              <a:t>Elemtype  </a:t>
            </a:r>
            <a:r>
              <a:rPr lang="en-US" altLang="zh-CN" sz="2400" i="1">
                <a:solidFill>
                  <a:srgbClr val="0000FF"/>
                </a:solidFill>
              </a:rPr>
              <a:t>e</a:t>
            </a:r>
            <a:r>
              <a:rPr lang="en-US" altLang="zh-CN" sz="2400">
                <a:solidFill>
                  <a:srgbClr val="0000FF"/>
                </a:solidFill>
              </a:rPr>
              <a:t>;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}Triple;</a:t>
            </a:r>
            <a:r>
              <a:rPr lang="en-US" altLang="zh-CN" sz="2400"/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2400"/>
              <a:t>typedef  struct { </a:t>
            </a:r>
          </a:p>
          <a:p>
            <a:pPr>
              <a:lnSpc>
                <a:spcPct val="120000"/>
              </a:lnSpc>
            </a:pPr>
            <a:r>
              <a:rPr lang="en-US" altLang="zh-CN" sz="2400"/>
              <a:t>     Triple  data[MAXSIZE + 1]; </a:t>
            </a:r>
          </a:p>
          <a:p>
            <a:pPr>
              <a:lnSpc>
                <a:spcPct val="120000"/>
              </a:lnSpc>
            </a:pPr>
            <a:r>
              <a:rPr lang="en-US" altLang="zh-CN" sz="2400"/>
              <a:t>      int       </a:t>
            </a:r>
            <a:r>
              <a:rPr lang="en-US" altLang="zh-CN" sz="2400" i="1"/>
              <a:t>mu, nu, tu</a:t>
            </a:r>
            <a:r>
              <a:rPr lang="en-US" altLang="zh-CN" sz="2400"/>
              <a:t>;  </a:t>
            </a:r>
          </a:p>
          <a:p>
            <a:pPr>
              <a:lnSpc>
                <a:spcPct val="120000"/>
              </a:lnSpc>
            </a:pPr>
            <a:r>
              <a:rPr lang="en-US" altLang="zh-CN" sz="2400"/>
              <a:t>     //</a:t>
            </a:r>
            <a:r>
              <a:rPr lang="zh-CN" altLang="en-US" sz="2400"/>
              <a:t>矩阵的行、列数和非零元个数 </a:t>
            </a:r>
          </a:p>
          <a:p>
            <a:pPr>
              <a:lnSpc>
                <a:spcPct val="120000"/>
              </a:lnSpc>
            </a:pPr>
            <a:r>
              <a:rPr lang="en-US" altLang="zh-CN" sz="2400"/>
              <a:t>}TSMatrix;</a:t>
            </a:r>
          </a:p>
        </p:txBody>
      </p:sp>
      <p:sp>
        <p:nvSpPr>
          <p:cNvPr id="15471" name="Text Box 111"/>
          <p:cNvSpPr txBox="1">
            <a:spLocks noChangeArrowheads="1"/>
          </p:cNvSpPr>
          <p:nvPr/>
        </p:nvSpPr>
        <p:spPr bwMode="auto">
          <a:xfrm>
            <a:off x="8112126" y="1243013"/>
            <a:ext cx="1978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400" i="1">
                <a:ea typeface="宋体" pitchFamily="2" charset="-122"/>
              </a:rPr>
              <a:t>i         j        tu </a:t>
            </a:r>
          </a:p>
        </p:txBody>
      </p:sp>
      <p:sp>
        <p:nvSpPr>
          <p:cNvPr id="15472" name="Text Box 112"/>
          <p:cNvSpPr txBox="1">
            <a:spLocks noChangeArrowheads="1"/>
          </p:cNvSpPr>
          <p:nvPr/>
        </p:nvSpPr>
        <p:spPr bwMode="auto">
          <a:xfrm>
            <a:off x="7464425" y="1698626"/>
            <a:ext cx="412750" cy="403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>
                <a:ea typeface="宋体" pitchFamily="2" charset="-122"/>
              </a:rPr>
              <a:t>0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ea typeface="宋体" pitchFamily="2" charset="-122"/>
              </a:rPr>
              <a:t>1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ea typeface="宋体" pitchFamily="2" charset="-122"/>
              </a:rPr>
              <a:t>2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ea typeface="宋体" pitchFamily="2" charset="-122"/>
              </a:rPr>
              <a:t>3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ea typeface="宋体" pitchFamily="2" charset="-122"/>
              </a:rPr>
              <a:t>4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ea typeface="宋体" pitchFamily="2" charset="-122"/>
              </a:rPr>
              <a:t>5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ea typeface="宋体" pitchFamily="2" charset="-122"/>
              </a:rPr>
              <a:t>6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ea typeface="宋体" pitchFamily="2" charset="-122"/>
              </a:rPr>
              <a:t>7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ea typeface="宋体" pitchFamily="2" charset="-122"/>
              </a:rPr>
              <a:t>8 </a:t>
            </a:r>
          </a:p>
        </p:txBody>
      </p:sp>
      <p:sp>
        <p:nvSpPr>
          <p:cNvPr id="15478" name="Rectangle 118"/>
          <p:cNvSpPr>
            <a:spLocks noChangeArrowheads="1"/>
          </p:cNvSpPr>
          <p:nvPr/>
        </p:nvSpPr>
        <p:spPr bwMode="auto">
          <a:xfrm>
            <a:off x="2254251" y="496888"/>
            <a:ext cx="6073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稀疏矩阵的压缩存储方法</a:t>
            </a:r>
            <a:r>
              <a:rPr lang="en-US" altLang="zh-CN" sz="2400">
                <a:latin typeface="华文中宋" pitchFamily="2" charset="-122"/>
                <a:ea typeface="华文中宋" pitchFamily="2" charset="-122"/>
              </a:rPr>
              <a:t>——</a:t>
            </a:r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顺序存储结构 </a:t>
            </a:r>
          </a:p>
        </p:txBody>
      </p:sp>
      <p:sp>
        <p:nvSpPr>
          <p:cNvPr id="15479" name="Rectangle 119"/>
          <p:cNvSpPr>
            <a:spLocks noChangeArrowheads="1"/>
          </p:cNvSpPr>
          <p:nvPr/>
        </p:nvSpPr>
        <p:spPr bwMode="auto">
          <a:xfrm>
            <a:off x="2254250" y="1027113"/>
            <a:ext cx="2622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ea typeface="华文中宋" pitchFamily="2" charset="-122"/>
              </a:rPr>
              <a:t> 1</a:t>
            </a:r>
            <a:r>
              <a:rPr lang="zh-CN" altLang="en-US" sz="2400">
                <a:ea typeface="华文中宋" pitchFamily="2" charset="-122"/>
              </a:rPr>
              <a:t>、三元组顺序表 </a:t>
            </a:r>
          </a:p>
        </p:txBody>
      </p:sp>
      <p:graphicFrame>
        <p:nvGraphicFramePr>
          <p:cNvPr id="15524" name="Group 164"/>
          <p:cNvGraphicFramePr>
            <a:graphicFrameLocks noGrp="1"/>
          </p:cNvGraphicFramePr>
          <p:nvPr/>
        </p:nvGraphicFramePr>
        <p:xfrm>
          <a:off x="7872414" y="1704975"/>
          <a:ext cx="2255837" cy="4114800"/>
        </p:xfrm>
        <a:graphic>
          <a:graphicData uri="http://schemas.openxmlformats.org/drawingml/2006/table">
            <a:tbl>
              <a:tblPr/>
              <a:tblGrid>
                <a:gridCol w="75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3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46" grpId="0" animBg="1"/>
      <p:bldP spid="15471" grpId="0"/>
      <p:bldP spid="15472" grpId="0"/>
      <p:bldP spid="1547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4" name="Rectangle 156"/>
          <p:cNvSpPr>
            <a:spLocks noChangeArrowheads="1"/>
          </p:cNvSpPr>
          <p:nvPr/>
        </p:nvSpPr>
        <p:spPr bwMode="auto">
          <a:xfrm>
            <a:off x="2206626" y="1104901"/>
            <a:ext cx="7993063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</a:pPr>
            <a:r>
              <a:rPr lang="en-US" altLang="zh-CN" sz="2400"/>
              <a:t>        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转置矩阵：</a:t>
            </a:r>
            <a:r>
              <a:rPr lang="zh-CN" altLang="en-US" sz="2400"/>
              <a:t>一个 </a:t>
            </a:r>
            <a:r>
              <a:rPr lang="en-US" altLang="zh-CN" sz="2400" i="1"/>
              <a:t>m</a:t>
            </a:r>
            <a:r>
              <a:rPr lang="en-US" altLang="zh-CN" sz="2400"/>
              <a:t>×</a:t>
            </a:r>
            <a:r>
              <a:rPr lang="en-US" altLang="zh-CN" sz="2400" i="1"/>
              <a:t>n</a:t>
            </a:r>
            <a:r>
              <a:rPr lang="en-US" altLang="zh-CN" sz="2400"/>
              <a:t> </a:t>
            </a:r>
            <a:r>
              <a:rPr lang="zh-CN" altLang="en-US" sz="2400"/>
              <a:t>的矩阵 </a:t>
            </a:r>
            <a:r>
              <a:rPr lang="en-US" altLang="zh-CN" sz="2400" i="1"/>
              <a:t>M</a:t>
            </a:r>
            <a:r>
              <a:rPr lang="zh-CN" altLang="en-US" sz="2400"/>
              <a:t>，它的转置 </a:t>
            </a:r>
            <a:r>
              <a:rPr lang="en-US" altLang="zh-CN" sz="2400" i="1"/>
              <a:t>T</a:t>
            </a:r>
            <a:r>
              <a:rPr lang="en-US" altLang="zh-CN" sz="2400"/>
              <a:t> </a:t>
            </a:r>
            <a:r>
              <a:rPr lang="zh-CN" altLang="en-US" sz="2400"/>
              <a:t>是一个 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</a:pPr>
            <a:r>
              <a:rPr lang="zh-CN" altLang="en-US" sz="2400" i="1"/>
              <a:t>    </a:t>
            </a:r>
            <a:r>
              <a:rPr lang="en-US" altLang="zh-CN" sz="2400" i="1"/>
              <a:t>n</a:t>
            </a:r>
            <a:r>
              <a:rPr lang="en-US" altLang="zh-CN" sz="2400"/>
              <a:t>×</a:t>
            </a:r>
            <a:r>
              <a:rPr lang="en-US" altLang="zh-CN" sz="2400" i="1"/>
              <a:t>m </a:t>
            </a:r>
            <a:r>
              <a:rPr lang="zh-CN" altLang="en-US" sz="2400"/>
              <a:t>的矩阵，且 </a:t>
            </a:r>
            <a:r>
              <a:rPr lang="en-US" altLang="zh-CN" sz="2400" i="1"/>
              <a:t>T </a:t>
            </a:r>
            <a:r>
              <a:rPr lang="en-US" altLang="zh-CN" sz="2400"/>
              <a:t>(</a:t>
            </a:r>
            <a:r>
              <a:rPr lang="en-US" altLang="zh-CN" sz="2400" i="1"/>
              <a:t>i, j</a:t>
            </a:r>
            <a:r>
              <a:rPr lang="en-US" altLang="zh-CN" sz="2400"/>
              <a:t>) = </a:t>
            </a:r>
            <a:r>
              <a:rPr lang="en-US" altLang="zh-CN" sz="2400" i="1"/>
              <a:t>M</a:t>
            </a:r>
            <a:r>
              <a:rPr lang="en-US" altLang="zh-CN" sz="2400"/>
              <a:t>[ </a:t>
            </a:r>
            <a:r>
              <a:rPr lang="en-US" altLang="zh-CN" sz="2400" i="1"/>
              <a:t>j</a:t>
            </a:r>
            <a:r>
              <a:rPr lang="en-US" altLang="zh-CN" sz="2400"/>
              <a:t>, </a:t>
            </a:r>
            <a:r>
              <a:rPr lang="en-US" altLang="zh-CN" sz="2400" i="1"/>
              <a:t>i</a:t>
            </a:r>
            <a:r>
              <a:rPr lang="en-US" altLang="zh-CN" sz="2400"/>
              <a:t>]</a:t>
            </a:r>
            <a:r>
              <a:rPr lang="zh-CN" altLang="en-US" sz="2400"/>
              <a:t>，</a:t>
            </a:r>
            <a:r>
              <a:rPr lang="en-US" altLang="zh-CN" sz="2400"/>
              <a:t>1</a:t>
            </a:r>
            <a:r>
              <a:rPr lang="en-US" altLang="en-US" sz="2400">
                <a:ea typeface="宋体" pitchFamily="2" charset="-122"/>
              </a:rPr>
              <a:t>≤</a:t>
            </a:r>
            <a:r>
              <a:rPr lang="en-US" altLang="zh-CN" sz="2400" i="1"/>
              <a:t>i</a:t>
            </a:r>
            <a:r>
              <a:rPr lang="en-US" altLang="en-US" sz="2400">
                <a:ea typeface="宋体" pitchFamily="2" charset="-122"/>
              </a:rPr>
              <a:t>≤</a:t>
            </a:r>
            <a:r>
              <a:rPr lang="en-US" altLang="zh-CN" sz="2400" i="1"/>
              <a:t>n</a:t>
            </a:r>
            <a:r>
              <a:rPr lang="zh-CN" altLang="en-US" sz="2400"/>
              <a:t>，</a:t>
            </a:r>
            <a:r>
              <a:rPr lang="en-US" altLang="zh-CN" sz="2400"/>
              <a:t>1</a:t>
            </a:r>
            <a:r>
              <a:rPr lang="en-US" altLang="en-US" sz="2400">
                <a:ea typeface="宋体" pitchFamily="2" charset="-122"/>
              </a:rPr>
              <a:t>≤</a:t>
            </a:r>
            <a:r>
              <a:rPr lang="en-US" altLang="zh-CN" sz="2400" i="1"/>
              <a:t>j</a:t>
            </a:r>
            <a:r>
              <a:rPr lang="en-US" altLang="en-US" sz="2400">
                <a:ea typeface="宋体" pitchFamily="2" charset="-122"/>
              </a:rPr>
              <a:t>≤</a:t>
            </a:r>
            <a:r>
              <a:rPr lang="en-US" altLang="zh-CN" sz="2400" i="1"/>
              <a:t>m</a:t>
            </a:r>
            <a:r>
              <a:rPr lang="zh-CN" altLang="en-US" sz="2400"/>
              <a:t>， 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</a:pPr>
            <a:r>
              <a:rPr lang="zh-CN" altLang="en-US" sz="2400"/>
              <a:t>   即 </a:t>
            </a:r>
            <a:r>
              <a:rPr lang="en-US" altLang="zh-CN" sz="2400" i="1"/>
              <a:t>M</a:t>
            </a:r>
            <a:r>
              <a:rPr lang="en-US" altLang="zh-CN" sz="2400"/>
              <a:t> </a:t>
            </a:r>
            <a:r>
              <a:rPr lang="zh-CN" altLang="en-US" sz="2400"/>
              <a:t>的行是 </a:t>
            </a:r>
            <a:r>
              <a:rPr lang="en-US" altLang="zh-CN" sz="2400" i="1"/>
              <a:t>T </a:t>
            </a:r>
            <a:r>
              <a:rPr lang="zh-CN" altLang="en-US" sz="2400"/>
              <a:t>的列，</a:t>
            </a:r>
            <a:r>
              <a:rPr lang="en-US" altLang="zh-CN" sz="2400" i="1"/>
              <a:t>M </a:t>
            </a:r>
            <a:r>
              <a:rPr lang="zh-CN" altLang="en-US" sz="2400"/>
              <a:t>的列是 </a:t>
            </a:r>
            <a:r>
              <a:rPr lang="en-US" altLang="zh-CN" sz="2400" i="1"/>
              <a:t>T  </a:t>
            </a:r>
            <a:r>
              <a:rPr lang="zh-CN" altLang="en-US" sz="2400"/>
              <a:t>的行。 </a:t>
            </a:r>
          </a:p>
        </p:txBody>
      </p:sp>
      <p:sp>
        <p:nvSpPr>
          <p:cNvPr id="17566" name="Rectangle 158"/>
          <p:cNvSpPr>
            <a:spLocks noChangeArrowheads="1"/>
          </p:cNvSpPr>
          <p:nvPr/>
        </p:nvSpPr>
        <p:spPr bwMode="auto">
          <a:xfrm>
            <a:off x="2206625" y="620713"/>
            <a:ext cx="2228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400">
                <a:ea typeface="华文中宋" pitchFamily="2" charset="-122"/>
              </a:rPr>
              <a:t>   </a:t>
            </a:r>
            <a:r>
              <a:rPr lang="zh-CN" altLang="en-US" sz="2400">
                <a:ea typeface="华文中宋" pitchFamily="2" charset="-122"/>
              </a:rPr>
              <a:t>求转置矩阵 </a:t>
            </a:r>
          </a:p>
        </p:txBody>
      </p:sp>
      <p:graphicFrame>
        <p:nvGraphicFramePr>
          <p:cNvPr id="17569" name="Object 161"/>
          <p:cNvGraphicFramePr>
            <a:graphicFrameLocks noChangeAspect="1"/>
          </p:cNvGraphicFramePr>
          <p:nvPr/>
        </p:nvGraphicFramePr>
        <p:xfrm>
          <a:off x="2201863" y="3200400"/>
          <a:ext cx="4108450" cy="270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11200" imgH="1523880" progId="Equation.3">
                  <p:embed/>
                </p:oleObj>
              </mc:Choice>
              <mc:Fallback>
                <p:oleObj name="公式" r:id="rId4" imgW="2311200" imgH="1523880" progId="Equation.3">
                  <p:embed/>
                  <p:pic>
                    <p:nvPicPr>
                      <p:cNvPr id="0" name="Picture 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3200400"/>
                        <a:ext cx="4108450" cy="2706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71" name="Object 163"/>
          <p:cNvGraphicFramePr>
            <a:graphicFrameLocks noChangeAspect="1"/>
          </p:cNvGraphicFramePr>
          <p:nvPr/>
        </p:nvGraphicFramePr>
        <p:xfrm>
          <a:off x="6599239" y="2865438"/>
          <a:ext cx="3455987" cy="306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31840" imgH="1803240" progId="Equation.3">
                  <p:embed/>
                </p:oleObj>
              </mc:Choice>
              <mc:Fallback>
                <p:oleObj name="公式" r:id="rId6" imgW="2031840" imgH="1803240" progId="Equation.3">
                  <p:embed/>
                  <p:pic>
                    <p:nvPicPr>
                      <p:cNvPr id="0" name="Picture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239" y="2865438"/>
                        <a:ext cx="3455987" cy="306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15" name="Object 383"/>
          <p:cNvGraphicFramePr>
            <a:graphicFrameLocks noChangeAspect="1"/>
          </p:cNvGraphicFramePr>
          <p:nvPr/>
        </p:nvGraphicFramePr>
        <p:xfrm>
          <a:off x="4005263" y="2438401"/>
          <a:ext cx="4468812" cy="294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11200" imgH="1523880" progId="Equation.3">
                  <p:embed/>
                </p:oleObj>
              </mc:Choice>
              <mc:Fallback>
                <p:oleObj name="公式" r:id="rId3" imgW="2311200" imgH="1523880" progId="Equation.3">
                  <p:embed/>
                  <p:pic>
                    <p:nvPicPr>
                      <p:cNvPr id="0" name="Picture 3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2438401"/>
                        <a:ext cx="4468812" cy="294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8816" name="Rectangle 384"/>
          <p:cNvSpPr>
            <a:spLocks noChangeArrowheads="1"/>
          </p:cNvSpPr>
          <p:nvPr/>
        </p:nvSpPr>
        <p:spPr bwMode="auto">
          <a:xfrm>
            <a:off x="4010026" y="2079625"/>
            <a:ext cx="4537075" cy="367188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676" name="Object 244"/>
          <p:cNvGraphicFramePr>
            <a:graphicFrameLocks noChangeAspect="1"/>
          </p:cNvGraphicFramePr>
          <p:nvPr/>
        </p:nvGraphicFramePr>
        <p:xfrm>
          <a:off x="4225925" y="2146301"/>
          <a:ext cx="3816350" cy="338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31840" imgH="1803240" progId="Equation.3">
                  <p:embed/>
                </p:oleObj>
              </mc:Choice>
              <mc:Fallback>
                <p:oleObj name="公式" r:id="rId5" imgW="2031840" imgH="1803240" progId="Equation.3">
                  <p:embed/>
                  <p:pic>
                    <p:nvPicPr>
                      <p:cNvPr id="0" name="Picture 2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925" y="2146301"/>
                        <a:ext cx="3816350" cy="338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8736" name="Rectangle 304"/>
          <p:cNvSpPr>
            <a:spLocks noChangeArrowheads="1"/>
          </p:cNvSpPr>
          <p:nvPr/>
        </p:nvSpPr>
        <p:spPr bwMode="auto">
          <a:xfrm>
            <a:off x="4081464" y="2006600"/>
            <a:ext cx="4537075" cy="367188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18" name="Rectangle 186"/>
          <p:cNvSpPr>
            <a:spLocks noChangeArrowheads="1"/>
          </p:cNvSpPr>
          <p:nvPr/>
        </p:nvSpPr>
        <p:spPr bwMode="auto">
          <a:xfrm>
            <a:off x="1993900" y="476250"/>
            <a:ext cx="8064500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>
                <a:ea typeface="华文中宋" pitchFamily="2" charset="-122"/>
              </a:rPr>
              <a:t>        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问题描述：</a:t>
            </a:r>
            <a:r>
              <a:rPr lang="zh-CN" altLang="en-US" sz="2400"/>
              <a:t>已知一个稀疏矩阵的三元组表，求该矩阵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                        转置矩阵的三元组表。 </a:t>
            </a:r>
          </a:p>
        </p:txBody>
      </p:sp>
      <p:sp>
        <p:nvSpPr>
          <p:cNvPr id="18620" name="Text Box 188"/>
          <p:cNvSpPr txBox="1">
            <a:spLocks noChangeArrowheads="1"/>
          </p:cNvSpPr>
          <p:nvPr/>
        </p:nvSpPr>
        <p:spPr bwMode="auto">
          <a:xfrm>
            <a:off x="2497139" y="1577976"/>
            <a:ext cx="1423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i="1">
                <a:ea typeface="宋体" pitchFamily="2" charset="-122"/>
              </a:rPr>
              <a:t>i        j     tu </a:t>
            </a:r>
          </a:p>
        </p:txBody>
      </p:sp>
      <p:sp>
        <p:nvSpPr>
          <p:cNvPr id="18621" name="Text Box 189"/>
          <p:cNvSpPr txBox="1">
            <a:spLocks noChangeArrowheads="1"/>
          </p:cNvSpPr>
          <p:nvPr/>
        </p:nvSpPr>
        <p:spPr bwMode="auto">
          <a:xfrm>
            <a:off x="1993900" y="2006600"/>
            <a:ext cx="374650" cy="36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0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1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2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3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4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5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6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7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8 </a:t>
            </a:r>
          </a:p>
        </p:txBody>
      </p:sp>
      <p:graphicFrame>
        <p:nvGraphicFramePr>
          <p:cNvPr id="18675" name="Group 243"/>
          <p:cNvGraphicFramePr>
            <a:graphicFrameLocks noGrp="1"/>
          </p:cNvGraphicFramePr>
          <p:nvPr/>
        </p:nvGraphicFramePr>
        <p:xfrm>
          <a:off x="2401889" y="2009775"/>
          <a:ext cx="1463675" cy="3668716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8734" name="Group 302"/>
          <p:cNvGraphicFramePr>
            <a:graphicFrameLocks noGrp="1"/>
          </p:cNvGraphicFramePr>
          <p:nvPr/>
        </p:nvGraphicFramePr>
        <p:xfrm>
          <a:off x="6665914" y="2006600"/>
          <a:ext cx="1463675" cy="3671892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735" name="Rectangle 303"/>
          <p:cNvSpPr>
            <a:spLocks noChangeArrowheads="1"/>
          </p:cNvSpPr>
          <p:nvPr/>
        </p:nvSpPr>
        <p:spPr bwMode="auto">
          <a:xfrm>
            <a:off x="4381500" y="1714500"/>
            <a:ext cx="170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ea typeface="华文中宋" pitchFamily="2" charset="-122"/>
              </a:rPr>
              <a:t>解决思路：</a:t>
            </a:r>
          </a:p>
        </p:txBody>
      </p:sp>
      <p:sp>
        <p:nvSpPr>
          <p:cNvPr id="18738" name="Line 306"/>
          <p:cNvSpPr>
            <a:spLocks noChangeShapeType="1"/>
          </p:cNvSpPr>
          <p:nvPr/>
        </p:nvSpPr>
        <p:spPr bwMode="auto">
          <a:xfrm>
            <a:off x="3865563" y="2222500"/>
            <a:ext cx="252095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737" name="Rectangle 305"/>
          <p:cNvSpPr>
            <a:spLocks noChangeArrowheads="1"/>
          </p:cNvSpPr>
          <p:nvPr/>
        </p:nvSpPr>
        <p:spPr bwMode="auto">
          <a:xfrm>
            <a:off x="3865563" y="2295526"/>
            <a:ext cx="245932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ym typeface="Wingdings" pitchFamily="2" charset="2"/>
              </a:rPr>
              <a:t> </a:t>
            </a:r>
            <a:r>
              <a:rPr lang="zh-CN" altLang="en-US" sz="2400">
                <a:sym typeface="Wingdings" pitchFamily="2" charset="2"/>
              </a:rPr>
              <a:t>将矩阵行、列 </a:t>
            </a:r>
          </a:p>
          <a:p>
            <a:r>
              <a:rPr lang="zh-CN" altLang="en-US" sz="2400">
                <a:sym typeface="Wingdings" pitchFamily="2" charset="2"/>
              </a:rPr>
              <a:t>    </a:t>
            </a:r>
            <a:r>
              <a:rPr lang="zh-CN" altLang="en-US" sz="2400" baseline="30000">
                <a:sym typeface="Wingdings" pitchFamily="2" charset="2"/>
              </a:rPr>
              <a:t> </a:t>
            </a:r>
            <a:r>
              <a:rPr lang="zh-CN" altLang="en-US" sz="2400">
                <a:sym typeface="Wingdings" pitchFamily="2" charset="2"/>
              </a:rPr>
              <a:t>维数互换 </a:t>
            </a:r>
          </a:p>
        </p:txBody>
      </p:sp>
      <p:sp>
        <p:nvSpPr>
          <p:cNvPr id="18739" name="Rectangle 307"/>
          <p:cNvSpPr>
            <a:spLocks noChangeArrowheads="1"/>
          </p:cNvSpPr>
          <p:nvPr/>
        </p:nvSpPr>
        <p:spPr bwMode="auto">
          <a:xfrm>
            <a:off x="3865563" y="3087689"/>
            <a:ext cx="248337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ym typeface="Wingdings" pitchFamily="2" charset="2"/>
              </a:rPr>
              <a:t> </a:t>
            </a:r>
            <a:r>
              <a:rPr lang="zh-CN" altLang="en-US" sz="2400">
                <a:sym typeface="Wingdings" pitchFamily="2" charset="2"/>
              </a:rPr>
              <a:t>将每个三元组 </a:t>
            </a:r>
          </a:p>
          <a:p>
            <a:r>
              <a:rPr lang="zh-CN" altLang="en-US" sz="2400">
                <a:sym typeface="Wingdings" pitchFamily="2" charset="2"/>
              </a:rPr>
              <a:t>    </a:t>
            </a:r>
            <a:r>
              <a:rPr lang="zh-CN" altLang="en-US" sz="2400" baseline="30000">
                <a:sym typeface="Wingdings" pitchFamily="2" charset="2"/>
              </a:rPr>
              <a:t> </a:t>
            </a:r>
            <a:r>
              <a:rPr lang="zh-CN" altLang="en-US" sz="2400">
                <a:sym typeface="Wingdings" pitchFamily="2" charset="2"/>
              </a:rPr>
              <a:t>中的 </a:t>
            </a:r>
            <a:r>
              <a:rPr lang="en-US" altLang="zh-CN" sz="2400" i="1">
                <a:sym typeface="Wingdings" pitchFamily="2" charset="2"/>
              </a:rPr>
              <a:t>i</a:t>
            </a:r>
            <a:r>
              <a:rPr lang="en-US" altLang="zh-CN" sz="2400">
                <a:sym typeface="Wingdings" pitchFamily="2" charset="2"/>
              </a:rPr>
              <a:t>  </a:t>
            </a:r>
            <a:r>
              <a:rPr lang="zh-CN" altLang="zh-CN" sz="2400">
                <a:sym typeface="Wingdings" pitchFamily="2" charset="2"/>
              </a:rPr>
              <a:t>和</a:t>
            </a:r>
            <a:r>
              <a:rPr lang="zh-CN" altLang="en-US" sz="2400">
                <a:sym typeface="Wingdings" pitchFamily="2" charset="2"/>
              </a:rPr>
              <a:t> </a:t>
            </a:r>
            <a:r>
              <a:rPr lang="en-US" altLang="zh-CN" sz="2400" i="1">
                <a:sym typeface="Wingdings" pitchFamily="2" charset="2"/>
              </a:rPr>
              <a:t>j</a:t>
            </a:r>
            <a:r>
              <a:rPr lang="en-US" altLang="zh-CN" sz="2400">
                <a:sym typeface="Wingdings" pitchFamily="2" charset="2"/>
              </a:rPr>
              <a:t>  </a:t>
            </a:r>
            <a:r>
              <a:rPr lang="zh-CN" altLang="zh-CN" sz="2400">
                <a:sym typeface="Wingdings" pitchFamily="2" charset="2"/>
              </a:rPr>
              <a:t>相</a:t>
            </a:r>
            <a:r>
              <a:rPr lang="zh-CN" altLang="en-US" sz="2400">
                <a:sym typeface="Wingdings" pitchFamily="2" charset="2"/>
              </a:rPr>
              <a:t> </a:t>
            </a:r>
          </a:p>
          <a:p>
            <a:r>
              <a:rPr lang="zh-CN" altLang="en-US" sz="2400">
                <a:sym typeface="Wingdings" pitchFamily="2" charset="2"/>
              </a:rPr>
              <a:t>    </a:t>
            </a:r>
            <a:r>
              <a:rPr lang="zh-CN" altLang="en-US" sz="2400" baseline="30000">
                <a:sym typeface="Wingdings" pitchFamily="2" charset="2"/>
              </a:rPr>
              <a:t> </a:t>
            </a:r>
            <a:r>
              <a:rPr lang="zh-CN" altLang="zh-CN" sz="2400">
                <a:sym typeface="Wingdings" pitchFamily="2" charset="2"/>
              </a:rPr>
              <a:t>互调换</a:t>
            </a:r>
            <a:r>
              <a:rPr lang="zh-CN" altLang="en-US" sz="2400">
                <a:sym typeface="Wingdings" pitchFamily="2" charset="2"/>
              </a:rPr>
              <a:t> </a:t>
            </a:r>
          </a:p>
        </p:txBody>
      </p:sp>
      <p:sp>
        <p:nvSpPr>
          <p:cNvPr id="18749" name="Rectangle 317"/>
          <p:cNvSpPr>
            <a:spLocks noChangeArrowheads="1"/>
          </p:cNvSpPr>
          <p:nvPr/>
        </p:nvSpPr>
        <p:spPr bwMode="auto">
          <a:xfrm>
            <a:off x="3865564" y="4208463"/>
            <a:ext cx="2511425" cy="210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>
                <a:solidFill>
                  <a:srgbClr val="0000FF"/>
                </a:solidFill>
                <a:sym typeface="Wingdings" pitchFamily="2" charset="2"/>
              </a:rPr>
              <a:t> </a:t>
            </a:r>
            <a:r>
              <a:rPr lang="zh-CN" altLang="en-US" sz="2400">
                <a:solidFill>
                  <a:srgbClr val="0000FF"/>
                </a:solidFill>
                <a:sym typeface="Wingdings" pitchFamily="2" charset="2"/>
              </a:rPr>
              <a:t>重排三元组次 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0000FF"/>
                </a:solidFill>
                <a:sym typeface="Wingdings" pitchFamily="2" charset="2"/>
              </a:rPr>
              <a:t>     序，使 </a:t>
            </a:r>
            <a:r>
              <a:rPr lang="en-US" altLang="zh-CN" sz="2400" i="1">
                <a:solidFill>
                  <a:srgbClr val="0000FF"/>
                </a:solidFill>
              </a:rPr>
              <a:t>T.data</a:t>
            </a:r>
            <a:r>
              <a:rPr lang="en-US" altLang="zh-CN" sz="2400">
                <a:solidFill>
                  <a:srgbClr val="0000FF"/>
                </a:solidFill>
                <a:sym typeface="Wingdings" pitchFamily="2" charset="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solidFill>
                  <a:srgbClr val="0000FF"/>
                </a:solidFill>
                <a:sym typeface="Wingdings" pitchFamily="2" charset="2"/>
              </a:rPr>
              <a:t>     </a:t>
            </a:r>
            <a:r>
              <a:rPr lang="zh-CN" altLang="zh-CN" sz="2400">
                <a:solidFill>
                  <a:srgbClr val="0000FF"/>
                </a:solidFill>
                <a:sym typeface="Wingdings" pitchFamily="2" charset="2"/>
              </a:rPr>
              <a:t>中元素以</a:t>
            </a:r>
            <a:r>
              <a:rPr lang="zh-CN" altLang="en-US" sz="240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altLang="zh-CN" sz="2400" i="1">
                <a:solidFill>
                  <a:srgbClr val="0000FF"/>
                </a:solidFill>
                <a:sym typeface="Wingdings" pitchFamily="2" charset="2"/>
              </a:rPr>
              <a:t>T</a:t>
            </a:r>
            <a:r>
              <a:rPr lang="en-US" altLang="zh-CN" sz="240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zh-CN" altLang="zh-CN" sz="2400">
                <a:solidFill>
                  <a:srgbClr val="0000FF"/>
                </a:solidFill>
                <a:sym typeface="Wingdings" pitchFamily="2" charset="2"/>
              </a:rPr>
              <a:t>的</a:t>
            </a:r>
            <a:r>
              <a:rPr lang="zh-CN" altLang="en-US" sz="2400">
                <a:solidFill>
                  <a:srgbClr val="0000FF"/>
                </a:solidFill>
                <a:sym typeface="Wingdings" pitchFamily="2" charset="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0000FF"/>
                </a:solidFill>
                <a:sym typeface="Wingdings" pitchFamily="2" charset="2"/>
              </a:rPr>
              <a:t>     </a:t>
            </a:r>
            <a:r>
              <a:rPr lang="zh-CN" altLang="zh-CN" sz="2400">
                <a:solidFill>
                  <a:srgbClr val="0000FF"/>
                </a:solidFill>
                <a:sym typeface="Wingdings" pitchFamily="2" charset="2"/>
              </a:rPr>
              <a:t>行</a:t>
            </a:r>
            <a:r>
              <a:rPr lang="zh-CN" altLang="en-US" sz="240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zh-CN" altLang="zh-CN" sz="2400">
                <a:solidFill>
                  <a:srgbClr val="0000FF"/>
                </a:solidFill>
                <a:sym typeface="Wingdings" pitchFamily="2" charset="2"/>
              </a:rPr>
              <a:t>(</a:t>
            </a:r>
            <a:r>
              <a:rPr lang="en-US" altLang="zh-CN" sz="2400" i="1">
                <a:solidFill>
                  <a:srgbClr val="0000FF"/>
                </a:solidFill>
                <a:sym typeface="Wingdings" pitchFamily="2" charset="2"/>
              </a:rPr>
              <a:t>M</a:t>
            </a:r>
            <a:r>
              <a:rPr lang="zh-CN" altLang="zh-CN" sz="2400">
                <a:solidFill>
                  <a:srgbClr val="0000FF"/>
                </a:solidFill>
                <a:sym typeface="Wingdings" pitchFamily="2" charset="2"/>
              </a:rPr>
              <a:t>的列)</a:t>
            </a:r>
            <a:r>
              <a:rPr lang="en-US" altLang="zh-CN" sz="240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zh-CN" altLang="zh-CN" sz="2400">
                <a:solidFill>
                  <a:srgbClr val="0000FF"/>
                </a:solidFill>
                <a:sym typeface="Wingdings" pitchFamily="2" charset="2"/>
              </a:rPr>
              <a:t>为</a:t>
            </a:r>
            <a:r>
              <a:rPr lang="zh-CN" altLang="en-US" sz="2400">
                <a:solidFill>
                  <a:srgbClr val="0000FF"/>
                </a:solidFill>
                <a:sym typeface="Wingdings" pitchFamily="2" charset="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0000FF"/>
                </a:solidFill>
                <a:sym typeface="Wingdings" pitchFamily="2" charset="2"/>
              </a:rPr>
              <a:t>     </a:t>
            </a:r>
            <a:r>
              <a:rPr lang="zh-CN" altLang="zh-CN" sz="2400">
                <a:solidFill>
                  <a:srgbClr val="0000FF"/>
                </a:solidFill>
                <a:sym typeface="Wingdings" pitchFamily="2" charset="2"/>
              </a:rPr>
              <a:t>主序。</a:t>
            </a:r>
            <a:r>
              <a:rPr lang="zh-CN" altLang="en-US" sz="2400">
                <a:solidFill>
                  <a:srgbClr val="0000FF"/>
                </a:solidFill>
                <a:sym typeface="Wingdings" pitchFamily="2" charset="2"/>
              </a:rPr>
              <a:t> </a:t>
            </a:r>
          </a:p>
        </p:txBody>
      </p:sp>
      <p:sp>
        <p:nvSpPr>
          <p:cNvPr id="18750" name="Text Box 318"/>
          <p:cNvSpPr txBox="1">
            <a:spLocks noChangeArrowheads="1"/>
          </p:cNvSpPr>
          <p:nvPr/>
        </p:nvSpPr>
        <p:spPr bwMode="auto">
          <a:xfrm>
            <a:off x="2425700" y="5678488"/>
            <a:ext cx="114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2400" i="1"/>
              <a:t>M.</a:t>
            </a:r>
            <a:r>
              <a:rPr lang="en-US" altLang="zh-CN" sz="2400" i="1"/>
              <a:t>data </a:t>
            </a:r>
          </a:p>
        </p:txBody>
      </p:sp>
      <p:sp>
        <p:nvSpPr>
          <p:cNvPr id="18752" name="Text Box 320"/>
          <p:cNvSpPr txBox="1">
            <a:spLocks noChangeArrowheads="1"/>
          </p:cNvSpPr>
          <p:nvPr/>
        </p:nvSpPr>
        <p:spPr bwMode="auto">
          <a:xfrm>
            <a:off x="8848725" y="1574801"/>
            <a:ext cx="1423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i="1">
                <a:ea typeface="宋体" pitchFamily="2" charset="-122"/>
              </a:rPr>
              <a:t>i        j     tu </a:t>
            </a:r>
          </a:p>
        </p:txBody>
      </p:sp>
      <p:sp>
        <p:nvSpPr>
          <p:cNvPr id="18753" name="Text Box 321"/>
          <p:cNvSpPr txBox="1">
            <a:spLocks noChangeArrowheads="1"/>
          </p:cNvSpPr>
          <p:nvPr/>
        </p:nvSpPr>
        <p:spPr bwMode="auto">
          <a:xfrm>
            <a:off x="8401050" y="2014538"/>
            <a:ext cx="374650" cy="36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0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1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2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3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4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5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6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7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8 </a:t>
            </a:r>
          </a:p>
        </p:txBody>
      </p:sp>
      <p:graphicFrame>
        <p:nvGraphicFramePr>
          <p:cNvPr id="18754" name="Group 322"/>
          <p:cNvGraphicFramePr>
            <a:graphicFrameLocks noGrp="1"/>
          </p:cNvGraphicFramePr>
          <p:nvPr/>
        </p:nvGraphicFramePr>
        <p:xfrm>
          <a:off x="8753476" y="2006600"/>
          <a:ext cx="1463675" cy="3671892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796" name="Text Box 364"/>
          <p:cNvSpPr txBox="1">
            <a:spLocks noChangeArrowheads="1"/>
          </p:cNvSpPr>
          <p:nvPr/>
        </p:nvSpPr>
        <p:spPr bwMode="auto">
          <a:xfrm>
            <a:off x="8977314" y="5678488"/>
            <a:ext cx="1063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T.data </a:t>
            </a:r>
          </a:p>
        </p:txBody>
      </p:sp>
      <p:sp>
        <p:nvSpPr>
          <p:cNvPr id="18751" name="Text Box 319"/>
          <p:cNvSpPr txBox="1">
            <a:spLocks noChangeArrowheads="1"/>
          </p:cNvSpPr>
          <p:nvPr/>
        </p:nvSpPr>
        <p:spPr bwMode="auto">
          <a:xfrm>
            <a:off x="6889751" y="5678488"/>
            <a:ext cx="1063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2400" i="1"/>
              <a:t>T</a:t>
            </a:r>
            <a:r>
              <a:rPr lang="en-US" altLang="zh-CN" sz="2400" i="1"/>
              <a:t>.data </a:t>
            </a:r>
          </a:p>
        </p:txBody>
      </p:sp>
      <p:sp>
        <p:nvSpPr>
          <p:cNvPr id="18677" name="Text Box 245"/>
          <p:cNvSpPr txBox="1">
            <a:spLocks noChangeArrowheads="1"/>
          </p:cNvSpPr>
          <p:nvPr/>
        </p:nvSpPr>
        <p:spPr bwMode="auto">
          <a:xfrm>
            <a:off x="6761164" y="1574801"/>
            <a:ext cx="1423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i="1">
                <a:ea typeface="宋体" pitchFamily="2" charset="-122"/>
              </a:rPr>
              <a:t>i        j     tu </a:t>
            </a:r>
          </a:p>
        </p:txBody>
      </p:sp>
      <p:sp>
        <p:nvSpPr>
          <p:cNvPr id="18678" name="Text Box 246"/>
          <p:cNvSpPr txBox="1">
            <a:spLocks noChangeArrowheads="1"/>
          </p:cNvSpPr>
          <p:nvPr/>
        </p:nvSpPr>
        <p:spPr bwMode="auto">
          <a:xfrm>
            <a:off x="6313488" y="2014538"/>
            <a:ext cx="374650" cy="36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0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1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2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3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4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5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6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7 </a:t>
            </a:r>
          </a:p>
          <a:p>
            <a:pPr>
              <a:lnSpc>
                <a:spcPct val="130000"/>
              </a:lnSpc>
            </a:pPr>
            <a:r>
              <a:rPr lang="en-US" altLang="zh-CN" sz="2000">
                <a:ea typeface="宋体" pitchFamily="2" charset="-122"/>
              </a:rPr>
              <a:t>8 </a:t>
            </a:r>
          </a:p>
        </p:txBody>
      </p:sp>
      <p:sp>
        <p:nvSpPr>
          <p:cNvPr id="18797" name="Text Box 365"/>
          <p:cNvSpPr txBox="1">
            <a:spLocks noChangeArrowheads="1"/>
          </p:cNvSpPr>
          <p:nvPr/>
        </p:nvSpPr>
        <p:spPr bwMode="auto">
          <a:xfrm>
            <a:off x="6723063" y="2041526"/>
            <a:ext cx="1390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</a:rPr>
              <a:t>7</a:t>
            </a:r>
            <a:r>
              <a:rPr lang="en-US" altLang="zh-CN" sz="2000"/>
              <a:t>      </a:t>
            </a:r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  <a:r>
              <a:rPr lang="en-US" altLang="zh-CN" sz="2000"/>
              <a:t>      </a:t>
            </a:r>
            <a:r>
              <a:rPr lang="en-US" altLang="zh-CN"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  <a:r>
              <a:rPr lang="en-US" altLang="zh-CN" sz="2000"/>
              <a:t> </a:t>
            </a:r>
          </a:p>
        </p:txBody>
      </p:sp>
      <p:sp>
        <p:nvSpPr>
          <p:cNvPr id="18798" name="Text Box 366"/>
          <p:cNvSpPr txBox="1">
            <a:spLocks noChangeArrowheads="1"/>
          </p:cNvSpPr>
          <p:nvPr/>
        </p:nvSpPr>
        <p:spPr bwMode="auto">
          <a:xfrm>
            <a:off x="6723063" y="2438401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2      1     12 </a:t>
            </a:r>
          </a:p>
        </p:txBody>
      </p:sp>
      <p:sp>
        <p:nvSpPr>
          <p:cNvPr id="18799" name="Line 367"/>
          <p:cNvSpPr>
            <a:spLocks noChangeShapeType="1"/>
          </p:cNvSpPr>
          <p:nvPr/>
        </p:nvSpPr>
        <p:spPr bwMode="auto">
          <a:xfrm>
            <a:off x="3865563" y="2654300"/>
            <a:ext cx="2520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01" name="Text Box 369"/>
          <p:cNvSpPr txBox="1">
            <a:spLocks noChangeArrowheads="1"/>
          </p:cNvSpPr>
          <p:nvPr/>
        </p:nvSpPr>
        <p:spPr bwMode="auto">
          <a:xfrm>
            <a:off x="6723063" y="2833689"/>
            <a:ext cx="1390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3      1      9 </a:t>
            </a:r>
          </a:p>
        </p:txBody>
      </p:sp>
      <p:sp>
        <p:nvSpPr>
          <p:cNvPr id="18802" name="Line 370"/>
          <p:cNvSpPr>
            <a:spLocks noChangeShapeType="1"/>
          </p:cNvSpPr>
          <p:nvPr/>
        </p:nvSpPr>
        <p:spPr bwMode="auto">
          <a:xfrm>
            <a:off x="3865563" y="3049588"/>
            <a:ext cx="2520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03" name="Text Box 371"/>
          <p:cNvSpPr txBox="1">
            <a:spLocks noChangeArrowheads="1"/>
          </p:cNvSpPr>
          <p:nvPr/>
        </p:nvSpPr>
        <p:spPr bwMode="auto">
          <a:xfrm>
            <a:off x="6723064" y="3230564"/>
            <a:ext cx="1411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1      3     -3 </a:t>
            </a:r>
          </a:p>
        </p:txBody>
      </p:sp>
      <p:sp>
        <p:nvSpPr>
          <p:cNvPr id="18804" name="Line 372"/>
          <p:cNvSpPr>
            <a:spLocks noChangeShapeType="1"/>
          </p:cNvSpPr>
          <p:nvPr/>
        </p:nvSpPr>
        <p:spPr bwMode="auto">
          <a:xfrm>
            <a:off x="3865563" y="3446463"/>
            <a:ext cx="2520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05" name="Text Box 373"/>
          <p:cNvSpPr txBox="1">
            <a:spLocks noChangeArrowheads="1"/>
          </p:cNvSpPr>
          <p:nvPr/>
        </p:nvSpPr>
        <p:spPr bwMode="auto">
          <a:xfrm>
            <a:off x="6723063" y="3625851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6      3     14 </a:t>
            </a:r>
          </a:p>
        </p:txBody>
      </p:sp>
      <p:sp>
        <p:nvSpPr>
          <p:cNvPr id="18806" name="Line 374"/>
          <p:cNvSpPr>
            <a:spLocks noChangeShapeType="1"/>
          </p:cNvSpPr>
          <p:nvPr/>
        </p:nvSpPr>
        <p:spPr bwMode="auto">
          <a:xfrm>
            <a:off x="3865563" y="3841750"/>
            <a:ext cx="2520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07" name="Text Box 375"/>
          <p:cNvSpPr txBox="1">
            <a:spLocks noChangeArrowheads="1"/>
          </p:cNvSpPr>
          <p:nvPr/>
        </p:nvSpPr>
        <p:spPr bwMode="auto">
          <a:xfrm>
            <a:off x="6723063" y="4057651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3      4     24 </a:t>
            </a:r>
          </a:p>
        </p:txBody>
      </p:sp>
      <p:sp>
        <p:nvSpPr>
          <p:cNvPr id="18808" name="Line 376"/>
          <p:cNvSpPr>
            <a:spLocks noChangeShapeType="1"/>
          </p:cNvSpPr>
          <p:nvPr/>
        </p:nvSpPr>
        <p:spPr bwMode="auto">
          <a:xfrm>
            <a:off x="3865563" y="4273550"/>
            <a:ext cx="2520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09" name="Text Box 377"/>
          <p:cNvSpPr txBox="1">
            <a:spLocks noChangeArrowheads="1"/>
          </p:cNvSpPr>
          <p:nvPr/>
        </p:nvSpPr>
        <p:spPr bwMode="auto">
          <a:xfrm>
            <a:off x="6723063" y="4454526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2      5     18 </a:t>
            </a:r>
          </a:p>
        </p:txBody>
      </p:sp>
      <p:sp>
        <p:nvSpPr>
          <p:cNvPr id="18810" name="Line 378"/>
          <p:cNvSpPr>
            <a:spLocks noChangeShapeType="1"/>
          </p:cNvSpPr>
          <p:nvPr/>
        </p:nvSpPr>
        <p:spPr bwMode="auto">
          <a:xfrm>
            <a:off x="3865563" y="4670425"/>
            <a:ext cx="2520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11" name="Text Box 379"/>
          <p:cNvSpPr txBox="1">
            <a:spLocks noChangeArrowheads="1"/>
          </p:cNvSpPr>
          <p:nvPr/>
        </p:nvSpPr>
        <p:spPr bwMode="auto">
          <a:xfrm>
            <a:off x="6723063" y="4849814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1      6     15 </a:t>
            </a:r>
          </a:p>
        </p:txBody>
      </p:sp>
      <p:sp>
        <p:nvSpPr>
          <p:cNvPr id="18812" name="Line 380"/>
          <p:cNvSpPr>
            <a:spLocks noChangeShapeType="1"/>
          </p:cNvSpPr>
          <p:nvPr/>
        </p:nvSpPr>
        <p:spPr bwMode="auto">
          <a:xfrm>
            <a:off x="3865563" y="5065713"/>
            <a:ext cx="2520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13" name="Text Box 381"/>
          <p:cNvSpPr txBox="1">
            <a:spLocks noChangeArrowheads="1"/>
          </p:cNvSpPr>
          <p:nvPr/>
        </p:nvSpPr>
        <p:spPr bwMode="auto">
          <a:xfrm>
            <a:off x="6723064" y="5283201"/>
            <a:ext cx="1411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4      6     -7 </a:t>
            </a:r>
          </a:p>
        </p:txBody>
      </p:sp>
      <p:sp>
        <p:nvSpPr>
          <p:cNvPr id="18814" name="Line 382"/>
          <p:cNvSpPr>
            <a:spLocks noChangeShapeType="1"/>
          </p:cNvSpPr>
          <p:nvPr/>
        </p:nvSpPr>
        <p:spPr bwMode="auto">
          <a:xfrm>
            <a:off x="3865563" y="5499100"/>
            <a:ext cx="2520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17" name="Rectangle 385"/>
          <p:cNvSpPr>
            <a:spLocks noChangeArrowheads="1"/>
          </p:cNvSpPr>
          <p:nvPr/>
        </p:nvSpPr>
        <p:spPr bwMode="auto">
          <a:xfrm>
            <a:off x="10069513" y="6683375"/>
            <a:ext cx="489236" cy="24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30000"/>
              </a:lnSpc>
            </a:pP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187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1000"/>
                                        <p:tgtEl>
                                          <p:spTgt spid="187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1000"/>
                                        <p:tgtEl>
                                          <p:spTgt spid="188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00"/>
                                        <p:tgtEl>
                                          <p:spTgt spid="18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0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1000"/>
                                        <p:tgtEl>
                                          <p:spTgt spid="1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1000"/>
                                        <p:tgtEl>
                                          <p:spTgt spid="188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1000"/>
                                        <p:tgtEl>
                                          <p:spTgt spid="1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000"/>
                                        <p:tgtEl>
                                          <p:spTgt spid="188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0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1000"/>
                                        <p:tgtEl>
                                          <p:spTgt spid="1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000"/>
                                        <p:tgtEl>
                                          <p:spTgt spid="18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0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1000"/>
                                        <p:tgtEl>
                                          <p:spTgt spid="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1000"/>
                                        <p:tgtEl>
                                          <p:spTgt spid="18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30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1000"/>
                                        <p:tgtEl>
                                          <p:spTgt spid="18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1000"/>
                                        <p:tgtEl>
                                          <p:spTgt spid="188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3000"/>
                            </p:stCondLst>
                            <p:childTnLst>
                              <p:par>
                                <p:cTn id="1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1000"/>
                                        <p:tgtEl>
                                          <p:spTgt spid="1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1" dur="1000"/>
                                        <p:tgtEl>
                                          <p:spTgt spid="1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16" grpId="0" animBg="1"/>
      <p:bldP spid="18736" grpId="0" animBg="1"/>
      <p:bldP spid="18620" grpId="0"/>
      <p:bldP spid="18621" grpId="0"/>
      <p:bldP spid="18735" grpId="0"/>
      <p:bldP spid="18738" grpId="0" animBg="1"/>
      <p:bldP spid="18737" grpId="0"/>
      <p:bldP spid="18739" grpId="0"/>
      <p:bldP spid="18749" grpId="0"/>
      <p:bldP spid="18750" grpId="0"/>
      <p:bldP spid="18752" grpId="0"/>
      <p:bldP spid="18753" grpId="0"/>
      <p:bldP spid="18796" grpId="0"/>
      <p:bldP spid="18751" grpId="0"/>
      <p:bldP spid="18677" grpId="0"/>
      <p:bldP spid="18678" grpId="0"/>
      <p:bldP spid="18797" grpId="0"/>
      <p:bldP spid="18798" grpId="0"/>
      <p:bldP spid="18799" grpId="0" animBg="1"/>
      <p:bldP spid="18801" grpId="0"/>
      <p:bldP spid="18802" grpId="0" animBg="1"/>
      <p:bldP spid="18803" grpId="0"/>
      <p:bldP spid="18804" grpId="0" animBg="1"/>
      <p:bldP spid="18805" grpId="0"/>
      <p:bldP spid="18806" grpId="0" animBg="1"/>
      <p:bldP spid="18807" grpId="0"/>
      <p:bldP spid="18808" grpId="0" animBg="1"/>
      <p:bldP spid="18809" grpId="0"/>
      <p:bldP spid="18810" grpId="0" animBg="1"/>
      <p:bldP spid="18811" grpId="0"/>
      <p:bldP spid="18812" grpId="0" animBg="1"/>
      <p:bldP spid="18813" grpId="0"/>
      <p:bldP spid="188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91" name="Text Box 227"/>
          <p:cNvSpPr txBox="1">
            <a:spLocks noChangeArrowheads="1"/>
          </p:cNvSpPr>
          <p:nvPr/>
        </p:nvSpPr>
        <p:spPr bwMode="auto">
          <a:xfrm>
            <a:off x="2133600" y="668338"/>
            <a:ext cx="3817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华文中宋" pitchFamily="2" charset="-122"/>
              </a:rPr>
              <a:t>方法一：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按 </a:t>
            </a:r>
            <a:r>
              <a:rPr lang="en-US" altLang="zh-CN" sz="2400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的列序转置</a:t>
            </a:r>
            <a:r>
              <a:rPr lang="zh-CN" altLang="en-US" sz="2400"/>
              <a:t>  </a:t>
            </a:r>
            <a:endParaRPr lang="zh-CN" altLang="zh-CN" sz="2400"/>
          </a:p>
        </p:txBody>
      </p:sp>
      <p:graphicFrame>
        <p:nvGraphicFramePr>
          <p:cNvPr id="62758" name="Group 294"/>
          <p:cNvGraphicFramePr>
            <a:graphicFrameLocks noGrp="1"/>
          </p:cNvGraphicFramePr>
          <p:nvPr/>
        </p:nvGraphicFramePr>
        <p:xfrm>
          <a:off x="8458201" y="1811338"/>
          <a:ext cx="1463675" cy="35661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2759" name="Group 295"/>
          <p:cNvGraphicFramePr>
            <a:graphicFrameLocks noGrp="1"/>
          </p:cNvGraphicFramePr>
          <p:nvPr/>
        </p:nvGraphicFramePr>
        <p:xfrm>
          <a:off x="2208214" y="1700213"/>
          <a:ext cx="1463675" cy="3668716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2801" name="Text Box 337"/>
          <p:cNvSpPr txBox="1">
            <a:spLocks noChangeArrowheads="1"/>
          </p:cNvSpPr>
          <p:nvPr/>
        </p:nvSpPr>
        <p:spPr bwMode="auto">
          <a:xfrm>
            <a:off x="8721726" y="5516563"/>
            <a:ext cx="1063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T.data </a:t>
            </a:r>
          </a:p>
        </p:txBody>
      </p:sp>
      <p:sp>
        <p:nvSpPr>
          <p:cNvPr id="62802" name="Text Box 338"/>
          <p:cNvSpPr txBox="1">
            <a:spLocks noChangeArrowheads="1"/>
          </p:cNvSpPr>
          <p:nvPr/>
        </p:nvSpPr>
        <p:spPr bwMode="auto">
          <a:xfrm>
            <a:off x="2447925" y="5492750"/>
            <a:ext cx="114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M.data </a:t>
            </a:r>
          </a:p>
        </p:txBody>
      </p:sp>
      <p:sp>
        <p:nvSpPr>
          <p:cNvPr id="62803" name="Text Box 339"/>
          <p:cNvSpPr txBox="1">
            <a:spLocks noChangeArrowheads="1"/>
          </p:cNvSpPr>
          <p:nvPr/>
        </p:nvSpPr>
        <p:spPr bwMode="auto">
          <a:xfrm>
            <a:off x="8529639" y="2205039"/>
            <a:ext cx="1411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1      3     -3 </a:t>
            </a:r>
          </a:p>
        </p:txBody>
      </p:sp>
      <p:sp>
        <p:nvSpPr>
          <p:cNvPr id="62804" name="Line 340"/>
          <p:cNvSpPr>
            <a:spLocks noChangeShapeType="1"/>
          </p:cNvSpPr>
          <p:nvPr/>
        </p:nvSpPr>
        <p:spPr bwMode="auto">
          <a:xfrm flipV="1">
            <a:off x="3719514" y="2420939"/>
            <a:ext cx="4752975" cy="72072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805" name="Text Box 341"/>
          <p:cNvSpPr txBox="1">
            <a:spLocks noChangeArrowheads="1"/>
          </p:cNvSpPr>
          <p:nvPr/>
        </p:nvSpPr>
        <p:spPr bwMode="auto">
          <a:xfrm>
            <a:off x="8529638" y="2660650"/>
            <a:ext cx="145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1      6     15 </a:t>
            </a:r>
          </a:p>
        </p:txBody>
      </p:sp>
      <p:sp>
        <p:nvSpPr>
          <p:cNvPr id="62806" name="Line 342"/>
          <p:cNvSpPr>
            <a:spLocks noChangeShapeType="1"/>
          </p:cNvSpPr>
          <p:nvPr/>
        </p:nvSpPr>
        <p:spPr bwMode="auto">
          <a:xfrm flipV="1">
            <a:off x="3719514" y="2781301"/>
            <a:ext cx="4752975" cy="201612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807" name="Text Box 343"/>
          <p:cNvSpPr txBox="1">
            <a:spLocks noChangeArrowheads="1"/>
          </p:cNvSpPr>
          <p:nvPr/>
        </p:nvSpPr>
        <p:spPr bwMode="auto">
          <a:xfrm>
            <a:off x="8529638" y="2997201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2      1     12 </a:t>
            </a:r>
          </a:p>
        </p:txBody>
      </p:sp>
      <p:sp>
        <p:nvSpPr>
          <p:cNvPr id="62808" name="Line 344"/>
          <p:cNvSpPr>
            <a:spLocks noChangeShapeType="1"/>
          </p:cNvSpPr>
          <p:nvPr/>
        </p:nvSpPr>
        <p:spPr bwMode="auto">
          <a:xfrm>
            <a:off x="3719514" y="2276476"/>
            <a:ext cx="4752975" cy="93662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809" name="Text Box 345"/>
          <p:cNvSpPr txBox="1">
            <a:spLocks noChangeArrowheads="1"/>
          </p:cNvSpPr>
          <p:nvPr/>
        </p:nvSpPr>
        <p:spPr bwMode="auto">
          <a:xfrm>
            <a:off x="8529638" y="3451225"/>
            <a:ext cx="145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2      5     18 </a:t>
            </a:r>
          </a:p>
        </p:txBody>
      </p:sp>
      <p:sp>
        <p:nvSpPr>
          <p:cNvPr id="62810" name="Line 346"/>
          <p:cNvSpPr>
            <a:spLocks noChangeShapeType="1"/>
          </p:cNvSpPr>
          <p:nvPr/>
        </p:nvSpPr>
        <p:spPr bwMode="auto">
          <a:xfrm flipV="1">
            <a:off x="3695700" y="3573463"/>
            <a:ext cx="4776788" cy="792162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811" name="Text Box 347"/>
          <p:cNvSpPr txBox="1">
            <a:spLocks noChangeArrowheads="1"/>
          </p:cNvSpPr>
          <p:nvPr/>
        </p:nvSpPr>
        <p:spPr bwMode="auto">
          <a:xfrm>
            <a:off x="8529638" y="3789364"/>
            <a:ext cx="1390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3      1      9 </a:t>
            </a:r>
          </a:p>
        </p:txBody>
      </p:sp>
      <p:sp>
        <p:nvSpPr>
          <p:cNvPr id="62812" name="Line 348"/>
          <p:cNvSpPr>
            <a:spLocks noChangeShapeType="1"/>
          </p:cNvSpPr>
          <p:nvPr/>
        </p:nvSpPr>
        <p:spPr bwMode="auto">
          <a:xfrm>
            <a:off x="3719514" y="2708275"/>
            <a:ext cx="4752975" cy="122555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813" name="Text Box 349"/>
          <p:cNvSpPr txBox="1">
            <a:spLocks noChangeArrowheads="1"/>
          </p:cNvSpPr>
          <p:nvPr/>
        </p:nvSpPr>
        <p:spPr bwMode="auto">
          <a:xfrm>
            <a:off x="8529638" y="4183064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3      4     24 </a:t>
            </a:r>
          </a:p>
        </p:txBody>
      </p:sp>
      <p:sp>
        <p:nvSpPr>
          <p:cNvPr id="62814" name="Line 350"/>
          <p:cNvSpPr>
            <a:spLocks noChangeShapeType="1"/>
          </p:cNvSpPr>
          <p:nvPr/>
        </p:nvSpPr>
        <p:spPr bwMode="auto">
          <a:xfrm>
            <a:off x="3719514" y="3933825"/>
            <a:ext cx="4752975" cy="431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815" name="Text Box 351"/>
          <p:cNvSpPr txBox="1">
            <a:spLocks noChangeArrowheads="1"/>
          </p:cNvSpPr>
          <p:nvPr/>
        </p:nvSpPr>
        <p:spPr bwMode="auto">
          <a:xfrm>
            <a:off x="8529638" y="4635501"/>
            <a:ext cx="1423788" cy="313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4      6     -7 </a:t>
            </a:r>
          </a:p>
        </p:txBody>
      </p:sp>
      <p:sp>
        <p:nvSpPr>
          <p:cNvPr id="62816" name="Line 352"/>
          <p:cNvSpPr>
            <a:spLocks noChangeShapeType="1"/>
          </p:cNvSpPr>
          <p:nvPr/>
        </p:nvSpPr>
        <p:spPr bwMode="auto">
          <a:xfrm flipV="1">
            <a:off x="3719514" y="4797426"/>
            <a:ext cx="4752975" cy="36036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817" name="Text Box 353"/>
          <p:cNvSpPr txBox="1">
            <a:spLocks noChangeArrowheads="1"/>
          </p:cNvSpPr>
          <p:nvPr/>
        </p:nvSpPr>
        <p:spPr bwMode="auto">
          <a:xfrm>
            <a:off x="8529638" y="4975226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6      3     14 </a:t>
            </a:r>
          </a:p>
        </p:txBody>
      </p:sp>
      <p:sp>
        <p:nvSpPr>
          <p:cNvPr id="62818" name="Line 354"/>
          <p:cNvSpPr>
            <a:spLocks noChangeShapeType="1"/>
          </p:cNvSpPr>
          <p:nvPr/>
        </p:nvSpPr>
        <p:spPr bwMode="auto">
          <a:xfrm>
            <a:off x="3719514" y="3573464"/>
            <a:ext cx="4681537" cy="158432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2819" name="Rectangle 355"/>
          <p:cNvSpPr>
            <a:spLocks noChangeArrowheads="1"/>
          </p:cNvSpPr>
          <p:nvPr/>
        </p:nvSpPr>
        <p:spPr bwMode="auto">
          <a:xfrm>
            <a:off x="3756025" y="1958976"/>
            <a:ext cx="4572000" cy="341471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/>
              <a:t>      for (p = 1; p &lt;= 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M.tu</a:t>
            </a:r>
            <a:r>
              <a:rPr lang="en-US" altLang="zh-CN" sz="2400"/>
              <a:t>;  ++ p)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if ( M.data[p].j == col )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{ T.data[q].i = M.data[p].j ;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  T.data[q].j = M.data[p].i ;  </a:t>
            </a:r>
            <a:br>
              <a:rPr lang="en-US" altLang="zh-CN" sz="2400"/>
            </a:br>
            <a:r>
              <a:rPr lang="en-US" altLang="zh-CN" sz="2400"/>
              <a:t>           T.data[q].e = M.data[p].e; 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  ++ q;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} </a:t>
            </a:r>
          </a:p>
        </p:txBody>
      </p:sp>
      <p:sp>
        <p:nvSpPr>
          <p:cNvPr id="62820" name="Rectangle 356"/>
          <p:cNvSpPr>
            <a:spLocks noChangeArrowheads="1"/>
          </p:cNvSpPr>
          <p:nvPr/>
        </p:nvSpPr>
        <p:spPr bwMode="auto">
          <a:xfrm>
            <a:off x="3684588" y="1484314"/>
            <a:ext cx="4716462" cy="38893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/>
              <a:t> for (col = 1;  col &lt;= 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M.nu</a:t>
            </a:r>
            <a:r>
              <a:rPr lang="en-US" altLang="zh-CN" sz="2400"/>
              <a:t>;  ++ col)  </a:t>
            </a:r>
            <a:br>
              <a:rPr lang="en-US" altLang="zh-CN" sz="2400"/>
            </a:br>
            <a:r>
              <a:rPr lang="en-US" altLang="zh-CN" sz="2400"/>
              <a:t>       for (p = 1; p &lt;= 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M.tu</a:t>
            </a:r>
            <a:r>
              <a:rPr lang="en-US" altLang="zh-CN" sz="2400"/>
              <a:t>;  ++ p)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 if ( M.data[p].j == col )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 { T.data[q].i = M.data[p].j ;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   T.data[q].j = M.data[p].i ;  </a:t>
            </a:r>
            <a:br>
              <a:rPr lang="en-US" altLang="zh-CN" sz="2400"/>
            </a:br>
            <a:r>
              <a:rPr lang="en-US" altLang="zh-CN" sz="2400"/>
              <a:t>            T.data[q].e = M.data[p].e;  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   ++ q;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 }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62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"/>
                                            </p:cond>
                                          </p:stCondLst>
                                        </p:cTn>
                                        <p:tgtEl>
                                          <p:spTgt spid="6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28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1"/>
                                            </p:cond>
                                          </p:stCondLst>
                                        </p:cTn>
                                        <p:tgtEl>
                                          <p:spTgt spid="6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28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0"/>
                                            </p:cond>
                                          </p:stCondLst>
                                        </p:cTn>
                                        <p:tgtEl>
                                          <p:spTgt spid="6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6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62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9"/>
                                            </p:cond>
                                          </p:stCondLst>
                                        </p:cTn>
                                        <p:tgtEl>
                                          <p:spTgt spid="6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6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62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8"/>
                                            </p:cond>
                                          </p:stCondLst>
                                        </p:cTn>
                                        <p:tgtEl>
                                          <p:spTgt spid="6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628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7"/>
                                            </p:cond>
                                          </p:stCondLst>
                                        </p:cTn>
                                        <p:tgtEl>
                                          <p:spTgt spid="6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6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628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6"/>
                                            </p:cond>
                                          </p:stCondLst>
                                        </p:cTn>
                                        <p:tgtEl>
                                          <p:spTgt spid="6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6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628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5"/>
                                            </p:cond>
                                          </p:stCondLst>
                                        </p:cTn>
                                        <p:tgtEl>
                                          <p:spTgt spid="6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6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2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2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01" grpId="0"/>
      <p:bldP spid="62802" grpId="0"/>
      <p:bldP spid="62803" grpId="0"/>
      <p:bldP spid="62804" grpId="0" animBg="1"/>
      <p:bldP spid="62805" grpId="0"/>
      <p:bldP spid="62806" grpId="0" animBg="1"/>
      <p:bldP spid="62807" grpId="0"/>
      <p:bldP spid="62808" grpId="0" animBg="1"/>
      <p:bldP spid="62809" grpId="0"/>
      <p:bldP spid="62810" grpId="0" animBg="1"/>
      <p:bldP spid="62811" grpId="0"/>
      <p:bldP spid="62812" grpId="0" animBg="1"/>
      <p:bldP spid="62813" grpId="0"/>
      <p:bldP spid="62814" grpId="0" animBg="1"/>
      <p:bldP spid="62815" grpId="0"/>
      <p:bldP spid="62816" grpId="0" animBg="1"/>
      <p:bldP spid="62817" grpId="0"/>
      <p:bldP spid="62818" grpId="0" animBg="1"/>
      <p:bldP spid="62819" grpId="0" animBg="1"/>
      <p:bldP spid="628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32" name="Rectangle 332"/>
          <p:cNvSpPr>
            <a:spLocks noChangeArrowheads="1"/>
          </p:cNvSpPr>
          <p:nvPr/>
        </p:nvSpPr>
        <p:spPr bwMode="auto">
          <a:xfrm>
            <a:off x="5737225" y="4364038"/>
            <a:ext cx="647700" cy="3603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530" name="Rectangle 330"/>
          <p:cNvSpPr>
            <a:spLocks noChangeArrowheads="1"/>
          </p:cNvSpPr>
          <p:nvPr/>
        </p:nvSpPr>
        <p:spPr bwMode="auto">
          <a:xfrm>
            <a:off x="2784475" y="3573464"/>
            <a:ext cx="2952750" cy="11509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524" name="Rectangle 324"/>
          <p:cNvSpPr>
            <a:spLocks noChangeArrowheads="1"/>
          </p:cNvSpPr>
          <p:nvPr/>
        </p:nvSpPr>
        <p:spPr bwMode="auto">
          <a:xfrm>
            <a:off x="4873625" y="2708276"/>
            <a:ext cx="647700" cy="360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523" name="Rectangle 323"/>
          <p:cNvSpPr>
            <a:spLocks noChangeArrowheads="1"/>
          </p:cNvSpPr>
          <p:nvPr/>
        </p:nvSpPr>
        <p:spPr bwMode="auto">
          <a:xfrm>
            <a:off x="2640014" y="3140076"/>
            <a:ext cx="2592387" cy="360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521" name="Text Box 321"/>
          <p:cNvSpPr txBox="1">
            <a:spLocks noChangeArrowheads="1"/>
          </p:cNvSpPr>
          <p:nvPr/>
        </p:nvSpPr>
        <p:spPr bwMode="auto">
          <a:xfrm>
            <a:off x="5737226" y="5021264"/>
            <a:ext cx="4824413" cy="1311275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sz="2000"/>
              <a:t>typedef  struct { </a:t>
            </a:r>
          </a:p>
          <a:p>
            <a:r>
              <a:rPr lang="en-US" altLang="zh-CN" sz="2000"/>
              <a:t>     Triple  data[MAXSIZE + 1]; </a:t>
            </a:r>
          </a:p>
          <a:p>
            <a:r>
              <a:rPr lang="en-US" altLang="zh-CN" sz="2000"/>
              <a:t>      int  </a:t>
            </a:r>
            <a:r>
              <a:rPr lang="en-US" altLang="zh-CN" sz="2000" i="1"/>
              <a:t>mu, nu, tu</a:t>
            </a:r>
            <a:r>
              <a:rPr lang="en-US" altLang="zh-CN" sz="2000"/>
              <a:t>;      //</a:t>
            </a:r>
            <a:r>
              <a:rPr lang="zh-CN" altLang="en-US" sz="2000"/>
              <a:t>行、列、非零元数  </a:t>
            </a:r>
          </a:p>
          <a:p>
            <a:r>
              <a:rPr lang="en-US" altLang="zh-CN" sz="2000"/>
              <a:t>}TSMatrix; </a:t>
            </a:r>
          </a:p>
        </p:txBody>
      </p:sp>
      <p:sp useBgFill="1">
        <p:nvSpPr>
          <p:cNvPr id="51522" name="Rectangle 322"/>
          <p:cNvSpPr>
            <a:spLocks noChangeArrowheads="1"/>
          </p:cNvSpPr>
          <p:nvPr/>
        </p:nvSpPr>
        <p:spPr bwMode="auto">
          <a:xfrm>
            <a:off x="5664200" y="4868863"/>
            <a:ext cx="5003800" cy="165576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507" name="Rectangle 307"/>
          <p:cNvSpPr>
            <a:spLocks noChangeArrowheads="1"/>
          </p:cNvSpPr>
          <p:nvPr/>
        </p:nvSpPr>
        <p:spPr bwMode="auto">
          <a:xfrm>
            <a:off x="3000375" y="2708276"/>
            <a:ext cx="647700" cy="360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503" name="Rectangle 303"/>
          <p:cNvSpPr>
            <a:spLocks noChangeArrowheads="1"/>
          </p:cNvSpPr>
          <p:nvPr/>
        </p:nvSpPr>
        <p:spPr bwMode="auto">
          <a:xfrm>
            <a:off x="2279651" y="1844676"/>
            <a:ext cx="792163" cy="360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99" name="Rectangle 299"/>
          <p:cNvSpPr>
            <a:spLocks noChangeArrowheads="1"/>
          </p:cNvSpPr>
          <p:nvPr/>
        </p:nvSpPr>
        <p:spPr bwMode="auto">
          <a:xfrm>
            <a:off x="2135189" y="981076"/>
            <a:ext cx="4249737" cy="360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02" name="Text Box 202"/>
          <p:cNvSpPr txBox="1">
            <a:spLocks noChangeArrowheads="1"/>
          </p:cNvSpPr>
          <p:nvPr/>
        </p:nvSpPr>
        <p:spPr bwMode="auto">
          <a:xfrm>
            <a:off x="1992313" y="404813"/>
            <a:ext cx="6430962" cy="607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Status TransposeSMatrix(TSMatrix M, TSMatrix &amp;T) { 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T.mu=M.nu; T.nu=M.mu; T.tu=M.tu;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if (T.tu) </a:t>
            </a:r>
          </a:p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  { q = 1;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for (col = 1;  col &lt;= </a:t>
            </a:r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"/>
              </a:rPr>
              <a:t>M.nu</a:t>
            </a:r>
            <a:r>
              <a:rPr lang="en-US" altLang="zh-CN" sz="2000">
                <a:cs typeface=""/>
              </a:rPr>
              <a:t>;  ++ col) 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for (p = 1; p &lt;= </a:t>
            </a:r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"/>
              </a:rPr>
              <a:t>M.tu</a:t>
            </a:r>
            <a:r>
              <a:rPr lang="en-US" altLang="zh-CN" sz="2000">
                <a:cs typeface=""/>
              </a:rPr>
              <a:t>;  ++ p) </a:t>
            </a:r>
          </a:p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         if ( M.data[p].j == col ) </a:t>
            </a:r>
          </a:p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         { T.data[q].i = M.data[p].j ; </a:t>
            </a:r>
          </a:p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           T.data[q].j = M.data[p].i ; 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T.data[q].e = M.data[p].e;   ++ q; </a:t>
            </a:r>
          </a:p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         } </a:t>
            </a:r>
          </a:p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  }</a:t>
            </a:r>
          </a:p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  return OK; </a:t>
            </a:r>
          </a:p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} // TransposeSMatrix </a:t>
            </a:r>
          </a:p>
        </p:txBody>
      </p:sp>
      <p:sp>
        <p:nvSpPr>
          <p:cNvPr id="51403" name="Rectangle 203"/>
          <p:cNvSpPr>
            <a:spLocks noChangeArrowheads="1"/>
          </p:cNvSpPr>
          <p:nvPr/>
        </p:nvSpPr>
        <p:spPr bwMode="auto">
          <a:xfrm>
            <a:off x="6745289" y="4868863"/>
            <a:ext cx="3321743" cy="60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/>
              <a:t>时间复杂度：</a:t>
            </a:r>
            <a:r>
              <a:rPr lang="en-US" altLang="zh-CN" sz="2400" i="1"/>
              <a:t>O</a:t>
            </a:r>
            <a:r>
              <a:rPr lang="en-US" altLang="zh-CN" sz="2400"/>
              <a:t>(nu</a:t>
            </a:r>
            <a:r>
              <a:rPr lang="en-US" altLang="zh-CN" sz="2400">
                <a:sym typeface="Symbol" pitchFamily="18" charset="2"/>
              </a:rPr>
              <a:t>tu) </a:t>
            </a:r>
          </a:p>
        </p:txBody>
      </p:sp>
      <p:sp>
        <p:nvSpPr>
          <p:cNvPr id="51405" name="Rectangle 205"/>
          <p:cNvSpPr>
            <a:spLocks noChangeArrowheads="1"/>
          </p:cNvSpPr>
          <p:nvPr/>
        </p:nvSpPr>
        <p:spPr bwMode="auto">
          <a:xfrm>
            <a:off x="6726238" y="5456239"/>
            <a:ext cx="383540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/>
              <a:t>若 </a:t>
            </a:r>
            <a:r>
              <a:rPr lang="en-US" altLang="zh-CN" sz="2400"/>
              <a:t>tu </a:t>
            </a:r>
            <a:r>
              <a:rPr lang="zh-CN" altLang="zh-CN" sz="2400"/>
              <a:t>与</a:t>
            </a:r>
            <a:r>
              <a:rPr lang="en-US" altLang="zh-CN" sz="2400"/>
              <a:t>mu</a:t>
            </a:r>
            <a:r>
              <a:rPr lang="en-US" altLang="zh-CN" sz="2400">
                <a:sym typeface="Symbol" pitchFamily="18" charset="2"/>
              </a:rPr>
              <a:t>nu </a:t>
            </a:r>
            <a:r>
              <a:rPr lang="zh-CN" altLang="zh-CN" sz="2400">
                <a:sym typeface="Symbol" pitchFamily="18" charset="2"/>
              </a:rPr>
              <a:t>同数量级，</a:t>
            </a:r>
            <a:r>
              <a:rPr lang="zh-CN" altLang="en-US" sz="2400">
                <a:sym typeface="Symbol" pitchFamily="18" charset="2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zh-CN" sz="2400">
                <a:sym typeface="Symbol" pitchFamily="18" charset="2"/>
              </a:rPr>
              <a:t>则为：</a:t>
            </a:r>
            <a:r>
              <a:rPr lang="zh-CN" altLang="zh-CN" sz="2400" i="1">
                <a:sym typeface="Symbol" pitchFamily="18" charset="2"/>
              </a:rPr>
              <a:t>O</a:t>
            </a:r>
            <a:r>
              <a:rPr lang="en-US" altLang="zh-CN" sz="2400">
                <a:sym typeface="Symbol" pitchFamily="18" charset="2"/>
              </a:rPr>
              <a:t>(munu</a:t>
            </a:r>
            <a:r>
              <a:rPr lang="en-US" altLang="zh-CN" sz="2400" baseline="30000">
                <a:sym typeface="Symbol" pitchFamily="18" charset="2"/>
              </a:rPr>
              <a:t>2</a:t>
            </a:r>
            <a:r>
              <a:rPr lang="en-US" altLang="zh-CN" sz="2400">
                <a:sym typeface="Symbol" pitchFamily="18" charset="2"/>
              </a:rPr>
              <a:t>) </a:t>
            </a:r>
          </a:p>
        </p:txBody>
      </p:sp>
      <p:graphicFrame>
        <p:nvGraphicFramePr>
          <p:cNvPr id="51406" name="Group 206"/>
          <p:cNvGraphicFramePr>
            <a:graphicFrameLocks noGrp="1"/>
          </p:cNvGraphicFramePr>
          <p:nvPr/>
        </p:nvGraphicFramePr>
        <p:xfrm>
          <a:off x="8924926" y="1163638"/>
          <a:ext cx="1463675" cy="35661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1448" name="Group 248"/>
          <p:cNvGraphicFramePr>
            <a:graphicFrameLocks noGrp="1"/>
          </p:cNvGraphicFramePr>
          <p:nvPr/>
        </p:nvGraphicFramePr>
        <p:xfrm>
          <a:off x="6816726" y="1125539"/>
          <a:ext cx="1463675" cy="3595689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1490" name="Text Box 290"/>
          <p:cNvSpPr txBox="1">
            <a:spLocks noChangeArrowheads="1"/>
          </p:cNvSpPr>
          <p:nvPr/>
        </p:nvSpPr>
        <p:spPr bwMode="auto">
          <a:xfrm>
            <a:off x="8996364" y="1557339"/>
            <a:ext cx="1411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1      3     -3 </a:t>
            </a:r>
          </a:p>
        </p:txBody>
      </p:sp>
      <p:sp>
        <p:nvSpPr>
          <p:cNvPr id="51491" name="Text Box 291"/>
          <p:cNvSpPr txBox="1">
            <a:spLocks noChangeArrowheads="1"/>
          </p:cNvSpPr>
          <p:nvPr/>
        </p:nvSpPr>
        <p:spPr bwMode="auto">
          <a:xfrm>
            <a:off x="8996363" y="2012950"/>
            <a:ext cx="145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1      6     15 </a:t>
            </a:r>
          </a:p>
        </p:txBody>
      </p:sp>
      <p:sp>
        <p:nvSpPr>
          <p:cNvPr id="51492" name="Text Box 292"/>
          <p:cNvSpPr txBox="1">
            <a:spLocks noChangeArrowheads="1"/>
          </p:cNvSpPr>
          <p:nvPr/>
        </p:nvSpPr>
        <p:spPr bwMode="auto">
          <a:xfrm>
            <a:off x="8996363" y="2349501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2      1     12 </a:t>
            </a:r>
          </a:p>
        </p:txBody>
      </p:sp>
      <p:sp>
        <p:nvSpPr>
          <p:cNvPr id="51493" name="Text Box 293"/>
          <p:cNvSpPr txBox="1">
            <a:spLocks noChangeArrowheads="1"/>
          </p:cNvSpPr>
          <p:nvPr/>
        </p:nvSpPr>
        <p:spPr bwMode="auto">
          <a:xfrm>
            <a:off x="8996363" y="2803525"/>
            <a:ext cx="145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2      5     18 </a:t>
            </a:r>
          </a:p>
        </p:txBody>
      </p:sp>
      <p:sp>
        <p:nvSpPr>
          <p:cNvPr id="51494" name="Text Box 294"/>
          <p:cNvSpPr txBox="1">
            <a:spLocks noChangeArrowheads="1"/>
          </p:cNvSpPr>
          <p:nvPr/>
        </p:nvSpPr>
        <p:spPr bwMode="auto">
          <a:xfrm>
            <a:off x="8996363" y="3141664"/>
            <a:ext cx="1390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3      1      9 </a:t>
            </a:r>
          </a:p>
        </p:txBody>
      </p:sp>
      <p:sp>
        <p:nvSpPr>
          <p:cNvPr id="51495" name="Text Box 295"/>
          <p:cNvSpPr txBox="1">
            <a:spLocks noChangeArrowheads="1"/>
          </p:cNvSpPr>
          <p:nvPr/>
        </p:nvSpPr>
        <p:spPr bwMode="auto">
          <a:xfrm>
            <a:off x="8996363" y="3535364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3      4     24 </a:t>
            </a:r>
          </a:p>
        </p:txBody>
      </p:sp>
      <p:sp>
        <p:nvSpPr>
          <p:cNvPr id="51496" name="Text Box 296"/>
          <p:cNvSpPr txBox="1">
            <a:spLocks noChangeArrowheads="1"/>
          </p:cNvSpPr>
          <p:nvPr/>
        </p:nvSpPr>
        <p:spPr bwMode="auto">
          <a:xfrm>
            <a:off x="8996363" y="3987801"/>
            <a:ext cx="1423788" cy="313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4      6     -7 </a:t>
            </a:r>
          </a:p>
        </p:txBody>
      </p:sp>
      <p:sp>
        <p:nvSpPr>
          <p:cNvPr id="51497" name="Text Box 297"/>
          <p:cNvSpPr txBox="1">
            <a:spLocks noChangeArrowheads="1"/>
          </p:cNvSpPr>
          <p:nvPr/>
        </p:nvSpPr>
        <p:spPr bwMode="auto">
          <a:xfrm>
            <a:off x="8996363" y="4327526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6      3     14 </a:t>
            </a:r>
          </a:p>
        </p:txBody>
      </p:sp>
      <p:sp>
        <p:nvSpPr>
          <p:cNvPr id="51498" name="Text Box 298"/>
          <p:cNvSpPr txBox="1">
            <a:spLocks noChangeArrowheads="1"/>
          </p:cNvSpPr>
          <p:nvPr/>
        </p:nvSpPr>
        <p:spPr bwMode="auto">
          <a:xfrm>
            <a:off x="9009063" y="1160464"/>
            <a:ext cx="1390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  <a:r>
              <a:rPr lang="en-US" altLang="zh-CN" sz="2000"/>
              <a:t>      </a:t>
            </a:r>
            <a:r>
              <a:rPr lang="en-US" altLang="zh-CN" sz="2000">
                <a:solidFill>
                  <a:srgbClr val="0000FF"/>
                </a:solidFill>
              </a:rPr>
              <a:t>6</a:t>
            </a:r>
            <a:r>
              <a:rPr lang="en-US" altLang="zh-CN" sz="2000"/>
              <a:t>      </a:t>
            </a:r>
            <a:r>
              <a:rPr lang="en-US" altLang="zh-CN" sz="2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  <a:r>
              <a:rPr lang="en-US" altLang="zh-CN" sz="2000"/>
              <a:t> </a:t>
            </a:r>
          </a:p>
        </p:txBody>
      </p:sp>
      <p:grpSp>
        <p:nvGrpSpPr>
          <p:cNvPr id="51502" name="Group 302"/>
          <p:cNvGrpSpPr>
            <a:grpSpLocks/>
          </p:cNvGrpSpPr>
          <p:nvPr/>
        </p:nvGrpSpPr>
        <p:grpSpPr bwMode="auto">
          <a:xfrm>
            <a:off x="8291514" y="1557339"/>
            <a:ext cx="574675" cy="396875"/>
            <a:chOff x="4332" y="981"/>
            <a:chExt cx="362" cy="250"/>
          </a:xfrm>
        </p:grpSpPr>
        <p:sp>
          <p:nvSpPr>
            <p:cNvPr id="51500" name="Line 300"/>
            <p:cNvSpPr>
              <a:spLocks noChangeShapeType="1"/>
            </p:cNvSpPr>
            <p:nvPr/>
          </p:nvSpPr>
          <p:spPr bwMode="auto">
            <a:xfrm>
              <a:off x="4513" y="111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01" name="Text Box 301"/>
            <p:cNvSpPr txBox="1">
              <a:spLocks noChangeArrowheads="1"/>
            </p:cNvSpPr>
            <p:nvPr/>
          </p:nvSpPr>
          <p:spPr bwMode="auto">
            <a:xfrm>
              <a:off x="4332" y="981"/>
              <a:ext cx="2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q </a:t>
              </a:r>
            </a:p>
          </p:txBody>
        </p:sp>
      </p:grpSp>
      <p:grpSp>
        <p:nvGrpSpPr>
          <p:cNvPr id="51504" name="Group 304"/>
          <p:cNvGrpSpPr>
            <a:grpSpLocks/>
          </p:cNvGrpSpPr>
          <p:nvPr/>
        </p:nvGrpSpPr>
        <p:grpSpPr bwMode="auto">
          <a:xfrm>
            <a:off x="6169026" y="1557339"/>
            <a:ext cx="574675" cy="396875"/>
            <a:chOff x="4332" y="981"/>
            <a:chExt cx="362" cy="250"/>
          </a:xfrm>
        </p:grpSpPr>
        <p:sp>
          <p:nvSpPr>
            <p:cNvPr id="51505" name="Line 305"/>
            <p:cNvSpPr>
              <a:spLocks noChangeShapeType="1"/>
            </p:cNvSpPr>
            <p:nvPr/>
          </p:nvSpPr>
          <p:spPr bwMode="auto">
            <a:xfrm>
              <a:off x="4513" y="111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06" name="Text Box 306"/>
            <p:cNvSpPr txBox="1">
              <a:spLocks noChangeArrowheads="1"/>
            </p:cNvSpPr>
            <p:nvPr/>
          </p:nvSpPr>
          <p:spPr bwMode="auto">
            <a:xfrm>
              <a:off x="4332" y="981"/>
              <a:ext cx="2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en-US" altLang="zh-CN" sz="2000"/>
                <a:t>p </a:t>
              </a:r>
              <a:endParaRPr lang="en-US" altLang="zh-CN" sz="2000"/>
            </a:p>
          </p:txBody>
        </p:sp>
      </p:grpSp>
      <p:grpSp>
        <p:nvGrpSpPr>
          <p:cNvPr id="51508" name="Group 308"/>
          <p:cNvGrpSpPr>
            <a:grpSpLocks/>
          </p:cNvGrpSpPr>
          <p:nvPr/>
        </p:nvGrpSpPr>
        <p:grpSpPr bwMode="auto">
          <a:xfrm>
            <a:off x="6169026" y="1916114"/>
            <a:ext cx="574675" cy="396875"/>
            <a:chOff x="4332" y="981"/>
            <a:chExt cx="362" cy="250"/>
          </a:xfrm>
        </p:grpSpPr>
        <p:sp>
          <p:nvSpPr>
            <p:cNvPr id="51509" name="Line 309"/>
            <p:cNvSpPr>
              <a:spLocks noChangeShapeType="1"/>
            </p:cNvSpPr>
            <p:nvPr/>
          </p:nvSpPr>
          <p:spPr bwMode="auto">
            <a:xfrm>
              <a:off x="4513" y="111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10" name="Text Box 310"/>
            <p:cNvSpPr txBox="1">
              <a:spLocks noChangeArrowheads="1"/>
            </p:cNvSpPr>
            <p:nvPr/>
          </p:nvSpPr>
          <p:spPr bwMode="auto">
            <a:xfrm>
              <a:off x="4332" y="981"/>
              <a:ext cx="2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en-US" altLang="zh-CN" sz="2000"/>
                <a:t>p </a:t>
              </a:r>
              <a:endParaRPr lang="en-US" altLang="zh-CN" sz="2000"/>
            </a:p>
          </p:txBody>
        </p:sp>
      </p:grpSp>
      <p:grpSp>
        <p:nvGrpSpPr>
          <p:cNvPr id="51511" name="Group 311"/>
          <p:cNvGrpSpPr>
            <a:grpSpLocks/>
          </p:cNvGrpSpPr>
          <p:nvPr/>
        </p:nvGrpSpPr>
        <p:grpSpPr bwMode="auto">
          <a:xfrm>
            <a:off x="8291514" y="1989139"/>
            <a:ext cx="574675" cy="396875"/>
            <a:chOff x="4332" y="981"/>
            <a:chExt cx="362" cy="250"/>
          </a:xfrm>
        </p:grpSpPr>
        <p:sp>
          <p:nvSpPr>
            <p:cNvPr id="51512" name="Line 312"/>
            <p:cNvSpPr>
              <a:spLocks noChangeShapeType="1"/>
            </p:cNvSpPr>
            <p:nvPr/>
          </p:nvSpPr>
          <p:spPr bwMode="auto">
            <a:xfrm>
              <a:off x="4513" y="111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13" name="Text Box 313"/>
            <p:cNvSpPr txBox="1">
              <a:spLocks noChangeArrowheads="1"/>
            </p:cNvSpPr>
            <p:nvPr/>
          </p:nvSpPr>
          <p:spPr bwMode="auto">
            <a:xfrm>
              <a:off x="4332" y="981"/>
              <a:ext cx="2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q </a:t>
              </a:r>
            </a:p>
          </p:txBody>
        </p:sp>
      </p:grpSp>
      <p:grpSp>
        <p:nvGrpSpPr>
          <p:cNvPr id="51514" name="Group 314"/>
          <p:cNvGrpSpPr>
            <a:grpSpLocks/>
          </p:cNvGrpSpPr>
          <p:nvPr/>
        </p:nvGrpSpPr>
        <p:grpSpPr bwMode="auto">
          <a:xfrm>
            <a:off x="6169026" y="3933826"/>
            <a:ext cx="574675" cy="396875"/>
            <a:chOff x="4332" y="981"/>
            <a:chExt cx="362" cy="250"/>
          </a:xfrm>
        </p:grpSpPr>
        <p:sp>
          <p:nvSpPr>
            <p:cNvPr id="51515" name="Line 315"/>
            <p:cNvSpPr>
              <a:spLocks noChangeShapeType="1"/>
            </p:cNvSpPr>
            <p:nvPr/>
          </p:nvSpPr>
          <p:spPr bwMode="auto">
            <a:xfrm>
              <a:off x="4513" y="111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16" name="Text Box 316"/>
            <p:cNvSpPr txBox="1">
              <a:spLocks noChangeArrowheads="1"/>
            </p:cNvSpPr>
            <p:nvPr/>
          </p:nvSpPr>
          <p:spPr bwMode="auto">
            <a:xfrm>
              <a:off x="4332" y="981"/>
              <a:ext cx="2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en-US" altLang="zh-CN" sz="2000"/>
                <a:t>p </a:t>
              </a:r>
              <a:endParaRPr lang="en-US" altLang="zh-CN" sz="2000"/>
            </a:p>
          </p:txBody>
        </p:sp>
      </p:grpSp>
      <p:grpSp>
        <p:nvGrpSpPr>
          <p:cNvPr id="51517" name="Group 317"/>
          <p:cNvGrpSpPr>
            <a:grpSpLocks/>
          </p:cNvGrpSpPr>
          <p:nvPr/>
        </p:nvGrpSpPr>
        <p:grpSpPr bwMode="auto">
          <a:xfrm>
            <a:off x="8291514" y="2384426"/>
            <a:ext cx="574675" cy="396875"/>
            <a:chOff x="4332" y="981"/>
            <a:chExt cx="362" cy="250"/>
          </a:xfrm>
        </p:grpSpPr>
        <p:sp>
          <p:nvSpPr>
            <p:cNvPr id="51518" name="Line 318"/>
            <p:cNvSpPr>
              <a:spLocks noChangeShapeType="1"/>
            </p:cNvSpPr>
            <p:nvPr/>
          </p:nvSpPr>
          <p:spPr bwMode="auto">
            <a:xfrm>
              <a:off x="4513" y="111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19" name="Text Box 319"/>
            <p:cNvSpPr txBox="1">
              <a:spLocks noChangeArrowheads="1"/>
            </p:cNvSpPr>
            <p:nvPr/>
          </p:nvSpPr>
          <p:spPr bwMode="auto">
            <a:xfrm>
              <a:off x="4332" y="981"/>
              <a:ext cx="2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q </a:t>
              </a:r>
            </a:p>
          </p:txBody>
        </p:sp>
      </p:grpSp>
      <p:sp useBgFill="1">
        <p:nvSpPr>
          <p:cNvPr id="51525" name="Rectangle 325"/>
          <p:cNvSpPr>
            <a:spLocks noChangeArrowheads="1"/>
          </p:cNvSpPr>
          <p:nvPr/>
        </p:nvSpPr>
        <p:spPr bwMode="auto">
          <a:xfrm>
            <a:off x="6240464" y="1700214"/>
            <a:ext cx="504825" cy="2889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1526" name="Group 326"/>
          <p:cNvGrpSpPr>
            <a:grpSpLocks/>
          </p:cNvGrpSpPr>
          <p:nvPr/>
        </p:nvGrpSpPr>
        <p:grpSpPr bwMode="auto">
          <a:xfrm>
            <a:off x="6169026" y="2349501"/>
            <a:ext cx="574675" cy="396875"/>
            <a:chOff x="4332" y="981"/>
            <a:chExt cx="362" cy="250"/>
          </a:xfrm>
        </p:grpSpPr>
        <p:sp>
          <p:nvSpPr>
            <p:cNvPr id="51527" name="Line 327"/>
            <p:cNvSpPr>
              <a:spLocks noChangeShapeType="1"/>
            </p:cNvSpPr>
            <p:nvPr/>
          </p:nvSpPr>
          <p:spPr bwMode="auto">
            <a:xfrm>
              <a:off x="4513" y="111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28" name="Text Box 328"/>
            <p:cNvSpPr txBox="1">
              <a:spLocks noChangeArrowheads="1"/>
            </p:cNvSpPr>
            <p:nvPr/>
          </p:nvSpPr>
          <p:spPr bwMode="auto">
            <a:xfrm>
              <a:off x="4332" y="981"/>
              <a:ext cx="2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en-US" altLang="zh-CN" sz="2000"/>
                <a:t>p </a:t>
              </a:r>
              <a:endParaRPr lang="en-US" altLang="zh-CN" sz="2000"/>
            </a:p>
          </p:txBody>
        </p:sp>
      </p:grpSp>
      <p:sp useBgFill="1">
        <p:nvSpPr>
          <p:cNvPr id="51529" name="Rectangle 329"/>
          <p:cNvSpPr>
            <a:spLocks noChangeArrowheads="1"/>
          </p:cNvSpPr>
          <p:nvPr/>
        </p:nvSpPr>
        <p:spPr bwMode="auto">
          <a:xfrm>
            <a:off x="6240464" y="1989139"/>
            <a:ext cx="504825" cy="2889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51531" name="Rectangle 331"/>
          <p:cNvSpPr>
            <a:spLocks noChangeArrowheads="1"/>
          </p:cNvSpPr>
          <p:nvPr/>
        </p:nvSpPr>
        <p:spPr bwMode="auto">
          <a:xfrm>
            <a:off x="8361364" y="1628776"/>
            <a:ext cx="504825" cy="2889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51533" name="Rectangle 333"/>
          <p:cNvSpPr>
            <a:spLocks noChangeArrowheads="1"/>
          </p:cNvSpPr>
          <p:nvPr/>
        </p:nvSpPr>
        <p:spPr bwMode="auto">
          <a:xfrm>
            <a:off x="6240464" y="2420939"/>
            <a:ext cx="504825" cy="2889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51534" name="Rectangle 334"/>
          <p:cNvSpPr>
            <a:spLocks noChangeArrowheads="1"/>
          </p:cNvSpPr>
          <p:nvPr/>
        </p:nvSpPr>
        <p:spPr bwMode="auto">
          <a:xfrm>
            <a:off x="8362951" y="2132014"/>
            <a:ext cx="504825" cy="2889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1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1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5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1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5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5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1000"/>
                                        <p:tgtEl>
                                          <p:spTgt spid="5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1000"/>
                                        <p:tgtEl>
                                          <p:spTgt spid="5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1000"/>
                                        <p:tgtEl>
                                          <p:spTgt spid="5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1000"/>
                                        <p:tgtEl>
                                          <p:spTgt spid="5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0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1000"/>
                                        <p:tgtEl>
                                          <p:spTgt spid="5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1000"/>
                                        <p:tgtEl>
                                          <p:spTgt spid="5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1" dur="500"/>
                                        <p:tgtEl>
                                          <p:spTgt spid="5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32" grpId="0" animBg="1"/>
      <p:bldP spid="51530" grpId="0" animBg="1"/>
      <p:bldP spid="51524" grpId="0" animBg="1"/>
      <p:bldP spid="51523" grpId="0" animBg="1"/>
      <p:bldP spid="51521" grpId="0" animBg="1"/>
      <p:bldP spid="51522" grpId="0" animBg="1"/>
      <p:bldP spid="51507" grpId="0" animBg="1"/>
      <p:bldP spid="51503" grpId="0" animBg="1"/>
      <p:bldP spid="51499" grpId="0" animBg="1"/>
      <p:bldP spid="51403" grpId="0"/>
      <p:bldP spid="51405" grpId="0"/>
      <p:bldP spid="51490" grpId="0"/>
      <p:bldP spid="51491" grpId="0"/>
      <p:bldP spid="51492" grpId="0"/>
      <p:bldP spid="51493" grpId="0"/>
      <p:bldP spid="51494" grpId="0"/>
      <p:bldP spid="51495" grpId="0"/>
      <p:bldP spid="51496" grpId="0"/>
      <p:bldP spid="51497" grpId="0"/>
      <p:bldP spid="51498" grpId="0"/>
      <p:bldP spid="51525" grpId="0" animBg="1"/>
      <p:bldP spid="51529" grpId="0" animBg="1"/>
      <p:bldP spid="51531" grpId="0" animBg="1"/>
      <p:bldP spid="51533" grpId="0" animBg="1"/>
      <p:bldP spid="5153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2" name="Text Box 86"/>
          <p:cNvSpPr txBox="1">
            <a:spLocks noChangeArrowheads="1"/>
          </p:cNvSpPr>
          <p:nvPr/>
        </p:nvSpPr>
        <p:spPr bwMode="auto">
          <a:xfrm>
            <a:off x="2208214" y="1052513"/>
            <a:ext cx="5240337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>
                <a:ea typeface="宋体" pitchFamily="2" charset="-122"/>
              </a:rPr>
              <a:t>for (col = 1;  col &lt;= nu;  ++ col) </a:t>
            </a:r>
          </a:p>
          <a:p>
            <a:pPr>
              <a:lnSpc>
                <a:spcPct val="140000"/>
              </a:lnSpc>
            </a:pPr>
            <a:r>
              <a:rPr lang="en-US" altLang="zh-CN" sz="2400">
                <a:ea typeface="宋体" pitchFamily="2" charset="-122"/>
              </a:rPr>
              <a:t>     for (row = 1;  row &lt;= mu;   ++ row) </a:t>
            </a:r>
          </a:p>
          <a:p>
            <a:pPr>
              <a:lnSpc>
                <a:spcPct val="140000"/>
              </a:lnSpc>
            </a:pPr>
            <a:r>
              <a:rPr lang="en-US" altLang="zh-CN" sz="2400">
                <a:ea typeface="宋体" pitchFamily="2" charset="-122"/>
              </a:rPr>
              <a:t>            T[col][row] = M[row][col];  </a:t>
            </a:r>
          </a:p>
        </p:txBody>
      </p:sp>
      <p:sp>
        <p:nvSpPr>
          <p:cNvPr id="19543" name="Rectangle 87"/>
          <p:cNvSpPr>
            <a:spLocks noChangeArrowheads="1"/>
          </p:cNvSpPr>
          <p:nvPr/>
        </p:nvSpPr>
        <p:spPr bwMode="auto">
          <a:xfrm>
            <a:off x="1631950" y="601663"/>
            <a:ext cx="3536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ea typeface="华文中宋" pitchFamily="2" charset="-122"/>
              </a:rPr>
              <a:t>        </a:t>
            </a:r>
            <a:r>
              <a:rPr lang="zh-CN" altLang="en-US" sz="2400">
                <a:ea typeface="华文中宋" pitchFamily="2" charset="-122"/>
              </a:rPr>
              <a:t>一般矩阵转置算法：</a:t>
            </a:r>
          </a:p>
        </p:txBody>
      </p:sp>
      <p:sp>
        <p:nvSpPr>
          <p:cNvPr id="19544" name="Rectangle 88"/>
          <p:cNvSpPr>
            <a:spLocks noChangeArrowheads="1"/>
          </p:cNvSpPr>
          <p:nvPr/>
        </p:nvSpPr>
        <p:spPr bwMode="auto">
          <a:xfrm>
            <a:off x="2208213" y="2636838"/>
            <a:ext cx="6014788" cy="60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/>
              <a:t>一般矩阵转置算法时间复杂度：</a:t>
            </a:r>
            <a:r>
              <a:rPr lang="en-US" altLang="zh-CN" sz="2400" i="1"/>
              <a:t>O</a:t>
            </a:r>
            <a:r>
              <a:rPr lang="en-US" altLang="zh-CN" sz="2400"/>
              <a:t>(mu</a:t>
            </a:r>
            <a:r>
              <a:rPr lang="en-US" altLang="zh-CN" sz="2400">
                <a:sym typeface="Symbol" pitchFamily="18" charset="2"/>
              </a:rPr>
              <a:t>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nu</a:t>
            </a:r>
            <a:r>
              <a:rPr lang="en-US" altLang="zh-CN" sz="2400">
                <a:sym typeface="Symbol" pitchFamily="18" charset="2"/>
              </a:rPr>
              <a:t>)  </a:t>
            </a:r>
          </a:p>
        </p:txBody>
      </p:sp>
      <p:sp>
        <p:nvSpPr>
          <p:cNvPr id="19545" name="Rectangle 89"/>
          <p:cNvSpPr>
            <a:spLocks noChangeArrowheads="1"/>
          </p:cNvSpPr>
          <p:nvPr/>
        </p:nvSpPr>
        <p:spPr bwMode="auto">
          <a:xfrm>
            <a:off x="2227263" y="3284539"/>
            <a:ext cx="8246168" cy="552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用三元组顺序表存储</a:t>
            </a:r>
            <a:r>
              <a:rPr lang="zh-CN" altLang="zh-CN" sz="2400">
                <a:solidFill>
                  <a:srgbClr val="0000FF"/>
                </a:solidFill>
              </a:rPr>
              <a:t>的矩阵转置算法</a:t>
            </a:r>
            <a:r>
              <a:rPr lang="zh-CN" altLang="en-US" sz="2400">
                <a:solidFill>
                  <a:srgbClr val="0000FF"/>
                </a:solidFill>
              </a:rPr>
              <a:t>时间复杂度：</a:t>
            </a:r>
            <a:r>
              <a:rPr lang="en-US" altLang="zh-CN" sz="2400" i="1">
                <a:solidFill>
                  <a:srgbClr val="0000FF"/>
                </a:solidFill>
              </a:rPr>
              <a:t>O</a:t>
            </a:r>
            <a:r>
              <a:rPr lang="en-US" altLang="zh-CN" sz="2400">
                <a:solidFill>
                  <a:srgbClr val="0000FF"/>
                </a:solidFill>
              </a:rPr>
              <a:t>(nu</a:t>
            </a:r>
            <a:r>
              <a:rPr lang="en-US" altLang="zh-CN" sz="2400">
                <a:solidFill>
                  <a:srgbClr val="0000FF"/>
                </a:solidFill>
                <a:sym typeface="Symbol" pitchFamily="18" charset="2"/>
              </a:rPr>
              <a:t>tu) </a:t>
            </a:r>
          </a:p>
        </p:txBody>
      </p:sp>
      <p:sp>
        <p:nvSpPr>
          <p:cNvPr id="19546" name="Rectangle 90"/>
          <p:cNvSpPr>
            <a:spLocks noChangeArrowheads="1"/>
          </p:cNvSpPr>
          <p:nvPr/>
        </p:nvSpPr>
        <p:spPr bwMode="auto">
          <a:xfrm>
            <a:off x="2208214" y="3933826"/>
            <a:ext cx="6253635" cy="496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若 </a:t>
            </a:r>
            <a:r>
              <a:rPr lang="en-US" altLang="zh-CN" sz="2400">
                <a:solidFill>
                  <a:srgbClr val="0000FF"/>
                </a:solidFill>
              </a:rPr>
              <a:t>tu </a:t>
            </a:r>
            <a:r>
              <a:rPr lang="zh-CN" altLang="zh-CN" sz="2400">
                <a:solidFill>
                  <a:srgbClr val="0000FF"/>
                </a:solidFill>
              </a:rPr>
              <a:t>与</a:t>
            </a:r>
            <a:r>
              <a:rPr lang="en-US" altLang="zh-CN" sz="2400">
                <a:solidFill>
                  <a:srgbClr val="0000FF"/>
                </a:solidFill>
              </a:rPr>
              <a:t>mu</a:t>
            </a:r>
            <a:r>
              <a:rPr lang="en-US" altLang="zh-CN" sz="2400">
                <a:solidFill>
                  <a:srgbClr val="0000FF"/>
                </a:solidFill>
                <a:sym typeface="Symbol" pitchFamily="18" charset="2"/>
              </a:rPr>
              <a:t>nu </a:t>
            </a:r>
            <a:r>
              <a:rPr lang="zh-CN" altLang="zh-CN" sz="2400">
                <a:solidFill>
                  <a:srgbClr val="0000FF"/>
                </a:solidFill>
                <a:sym typeface="Symbol" pitchFamily="18" charset="2"/>
              </a:rPr>
              <a:t>同数量级，则为：</a:t>
            </a:r>
            <a:r>
              <a:rPr lang="zh-CN" altLang="zh-CN" sz="2400" i="1">
                <a:solidFill>
                  <a:srgbClr val="0000FF"/>
                </a:solidFill>
                <a:sym typeface="Symbol" pitchFamily="18" charset="2"/>
              </a:rPr>
              <a:t>O</a:t>
            </a:r>
            <a:r>
              <a:rPr lang="en-US" altLang="zh-CN" sz="2400">
                <a:solidFill>
                  <a:srgbClr val="0000FF"/>
                </a:solidFill>
                <a:sym typeface="Symbol" pitchFamily="18" charset="2"/>
              </a:rPr>
              <a:t>(mu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nu</a:t>
            </a:r>
            <a:r>
              <a:rPr lang="en-US" altLang="zh-CN" sz="2400" baseline="30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2</a:t>
            </a:r>
            <a:r>
              <a:rPr lang="en-US" altLang="zh-CN" sz="2400">
                <a:solidFill>
                  <a:srgbClr val="0000FF"/>
                </a:solidFill>
                <a:sym typeface="Symbol" pitchFamily="18" charset="2"/>
              </a:rPr>
              <a:t>) </a:t>
            </a:r>
          </a:p>
        </p:txBody>
      </p:sp>
      <p:sp>
        <p:nvSpPr>
          <p:cNvPr id="19550" name="Rectangle 94"/>
          <p:cNvSpPr>
            <a:spLocks noChangeArrowheads="1"/>
          </p:cNvSpPr>
          <p:nvPr/>
        </p:nvSpPr>
        <p:spPr bwMode="auto">
          <a:xfrm>
            <a:off x="2859089" y="5780088"/>
            <a:ext cx="5176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kumimoji="0" lang="zh-CN" altLang="en-US" sz="2400"/>
              <a:t>算法仅适用于 </a:t>
            </a:r>
            <a:r>
              <a:rPr kumimoji="0" lang="en-US" altLang="zh-CN" sz="2400"/>
              <a:t>tu &lt;&lt; mu</a:t>
            </a:r>
            <a:r>
              <a:rPr lang="en-US" altLang="zh-CN" sz="2400">
                <a:sym typeface="Symbol" pitchFamily="18" charset="2"/>
              </a:rPr>
              <a:t></a:t>
            </a:r>
            <a:r>
              <a:rPr kumimoji="0" lang="en-US" altLang="zh-CN" sz="2400"/>
              <a:t>nu </a:t>
            </a:r>
            <a:r>
              <a:rPr kumimoji="0" lang="zh-CN" altLang="en-US" sz="2400"/>
              <a:t>的情况。 </a:t>
            </a:r>
          </a:p>
        </p:txBody>
      </p:sp>
      <p:sp>
        <p:nvSpPr>
          <p:cNvPr id="19551" name="Text Box 95"/>
          <p:cNvSpPr txBox="1">
            <a:spLocks noChangeArrowheads="1"/>
          </p:cNvSpPr>
          <p:nvPr/>
        </p:nvSpPr>
        <p:spPr bwMode="auto">
          <a:xfrm>
            <a:off x="1890714" y="5203825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结论 </a:t>
            </a:r>
          </a:p>
        </p:txBody>
      </p:sp>
      <p:sp>
        <p:nvSpPr>
          <p:cNvPr id="19552" name="Rectangle 96"/>
          <p:cNvSpPr>
            <a:spLocks noChangeArrowheads="1"/>
          </p:cNvSpPr>
          <p:nvPr/>
        </p:nvSpPr>
        <p:spPr bwMode="auto">
          <a:xfrm>
            <a:off x="2859088" y="4543426"/>
            <a:ext cx="7648248" cy="55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/>
              <a:t>用三元组顺序表存储稀疏</a:t>
            </a:r>
            <a:r>
              <a:rPr lang="zh-CN" altLang="zh-CN" sz="2400"/>
              <a:t>矩阵节约存储空间（</a:t>
            </a:r>
            <a:r>
              <a:rPr lang="zh-CN" altLang="zh-CN" sz="2400">
                <a:solidFill>
                  <a:srgbClr val="0000FF"/>
                </a:solidFill>
              </a:rPr>
              <a:t>优点</a:t>
            </a:r>
            <a:r>
              <a:rPr lang="zh-CN" altLang="zh-CN" sz="2400"/>
              <a:t>）；</a:t>
            </a:r>
            <a:r>
              <a:rPr lang="zh-CN" altLang="en-US" sz="2400"/>
              <a:t> </a:t>
            </a:r>
            <a:endParaRPr lang="zh-CN" altLang="en-US" sz="2400">
              <a:sym typeface="Symbol" pitchFamily="18" charset="2"/>
            </a:endParaRPr>
          </a:p>
        </p:txBody>
      </p:sp>
      <p:sp>
        <p:nvSpPr>
          <p:cNvPr id="19553" name="Rectangle 97"/>
          <p:cNvSpPr>
            <a:spLocks noChangeArrowheads="1"/>
          </p:cNvSpPr>
          <p:nvPr/>
        </p:nvSpPr>
        <p:spPr bwMode="auto">
          <a:xfrm>
            <a:off x="2855914" y="5037138"/>
            <a:ext cx="7630615" cy="60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tu</a:t>
            </a:r>
            <a:r>
              <a:rPr lang="zh-CN" altLang="zh-CN" sz="2400">
                <a:solidFill>
                  <a:srgbClr val="0000FF"/>
                </a:solidFill>
              </a:rPr>
              <a:t>与</a:t>
            </a:r>
            <a:r>
              <a:rPr lang="en-US" altLang="zh-CN" sz="2400">
                <a:solidFill>
                  <a:srgbClr val="0000FF"/>
                </a:solidFill>
              </a:rPr>
              <a:t>mu</a:t>
            </a:r>
            <a:r>
              <a:rPr lang="en-US" altLang="zh-CN" sz="2400">
                <a:solidFill>
                  <a:srgbClr val="0000FF"/>
                </a:solidFill>
                <a:sym typeface="Symbol" pitchFamily="18" charset="2"/>
              </a:rPr>
              <a:t>nu</a:t>
            </a:r>
            <a:r>
              <a:rPr lang="zh-CN" altLang="zh-CN" sz="2400">
                <a:solidFill>
                  <a:srgbClr val="0000FF"/>
                </a:solidFill>
                <a:sym typeface="Symbol" pitchFamily="18" charset="2"/>
              </a:rPr>
              <a:t>同数量级</a:t>
            </a:r>
            <a:r>
              <a:rPr lang="zh-CN" altLang="en-US" sz="2400">
                <a:solidFill>
                  <a:srgbClr val="0000FF"/>
                </a:solidFill>
                <a:sym typeface="Symbol" pitchFamily="18" charset="2"/>
              </a:rPr>
              <a:t>时，</a:t>
            </a:r>
            <a:r>
              <a:rPr lang="zh-CN" altLang="en-US" sz="2400"/>
              <a:t>算法时间复杂度高（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缺点</a:t>
            </a:r>
            <a:r>
              <a:rPr lang="zh-CN" altLang="en-US" sz="2400"/>
              <a:t>）； </a:t>
            </a:r>
          </a:p>
        </p:txBody>
      </p:sp>
      <p:sp>
        <p:nvSpPr>
          <p:cNvPr id="19554" name="AutoShape 98"/>
          <p:cNvSpPr>
            <a:spLocks/>
          </p:cNvSpPr>
          <p:nvPr/>
        </p:nvSpPr>
        <p:spPr bwMode="auto">
          <a:xfrm>
            <a:off x="2711451" y="4849813"/>
            <a:ext cx="144463" cy="1223962"/>
          </a:xfrm>
          <a:prstGeom prst="leftBrace">
            <a:avLst>
              <a:gd name="adj1" fmla="val 70604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1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44" grpId="0"/>
      <p:bldP spid="19545" grpId="0"/>
      <p:bldP spid="19546" grpId="0"/>
      <p:bldP spid="19550" grpId="0"/>
      <p:bldP spid="19551" grpId="0"/>
      <p:bldP spid="19552" grpId="0"/>
      <p:bldP spid="19553" grpId="0"/>
      <p:bldP spid="1955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1" name="Rectangle 121"/>
          <p:cNvSpPr>
            <a:spLocks noChangeArrowheads="1"/>
          </p:cNvSpPr>
          <p:nvPr/>
        </p:nvSpPr>
        <p:spPr bwMode="auto">
          <a:xfrm>
            <a:off x="9104314" y="3357564"/>
            <a:ext cx="1296987" cy="28733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2025650" y="476250"/>
            <a:ext cx="6015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sz="2400">
                <a:ea typeface="华文中宋" pitchFamily="2" charset="-122"/>
              </a:rPr>
              <a:t>方法</a:t>
            </a:r>
            <a:r>
              <a:rPr lang="zh-CN" altLang="en-US" sz="2400"/>
              <a:t> </a:t>
            </a:r>
            <a:r>
              <a:rPr lang="en-US" altLang="zh-CN" sz="2400"/>
              <a:t>2</a:t>
            </a:r>
            <a:r>
              <a:rPr lang="zh-CN" altLang="en-US" sz="2400"/>
              <a:t>：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按 </a:t>
            </a:r>
            <a:r>
              <a:rPr lang="en-US" altLang="zh-CN" sz="2400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的行序转置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zh-CN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——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快速转置</a:t>
            </a:r>
            <a:r>
              <a:rPr lang="zh-CN" altLang="en-US" sz="2400"/>
              <a:t>  </a:t>
            </a:r>
            <a:endParaRPr lang="zh-CN" altLang="zh-CN" sz="2400"/>
          </a:p>
        </p:txBody>
      </p:sp>
      <p:graphicFrame>
        <p:nvGraphicFramePr>
          <p:cNvPr id="20511" name="Group 31"/>
          <p:cNvGraphicFramePr>
            <a:graphicFrameLocks noGrp="1"/>
          </p:cNvGraphicFramePr>
          <p:nvPr/>
        </p:nvGraphicFramePr>
        <p:xfrm>
          <a:off x="9009064" y="2928938"/>
          <a:ext cx="1463675" cy="35661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0599" name="Group 119"/>
          <p:cNvGraphicFramePr>
            <a:graphicFrameLocks noGrp="1"/>
          </p:cNvGraphicFramePr>
          <p:nvPr/>
        </p:nvGraphicFramePr>
        <p:xfrm>
          <a:off x="7353301" y="2928938"/>
          <a:ext cx="1463675" cy="35661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595" name="Text Box 115"/>
          <p:cNvSpPr txBox="1">
            <a:spLocks noChangeArrowheads="1"/>
          </p:cNvSpPr>
          <p:nvPr/>
        </p:nvSpPr>
        <p:spPr bwMode="auto">
          <a:xfrm>
            <a:off x="9177339" y="2492375"/>
            <a:ext cx="1063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T.data </a:t>
            </a:r>
          </a:p>
        </p:txBody>
      </p:sp>
      <p:sp>
        <p:nvSpPr>
          <p:cNvPr id="20596" name="Text Box 116"/>
          <p:cNvSpPr txBox="1">
            <a:spLocks noChangeArrowheads="1"/>
          </p:cNvSpPr>
          <p:nvPr/>
        </p:nvSpPr>
        <p:spPr bwMode="auto">
          <a:xfrm>
            <a:off x="7521575" y="2492375"/>
            <a:ext cx="114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M.data </a:t>
            </a:r>
          </a:p>
        </p:txBody>
      </p:sp>
      <p:sp>
        <p:nvSpPr>
          <p:cNvPr id="20597" name="Text Box 117"/>
          <p:cNvSpPr txBox="1">
            <a:spLocks noChangeArrowheads="1"/>
          </p:cNvSpPr>
          <p:nvPr/>
        </p:nvSpPr>
        <p:spPr bwMode="auto">
          <a:xfrm>
            <a:off x="2025651" y="981075"/>
            <a:ext cx="1806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实施步骤： </a:t>
            </a:r>
          </a:p>
        </p:txBody>
      </p:sp>
      <p:sp>
        <p:nvSpPr>
          <p:cNvPr id="20598" name="Text Box 118"/>
          <p:cNvSpPr txBox="1">
            <a:spLocks noChangeArrowheads="1"/>
          </p:cNvSpPr>
          <p:nvPr/>
        </p:nvSpPr>
        <p:spPr bwMode="auto">
          <a:xfrm>
            <a:off x="2005013" y="1454151"/>
            <a:ext cx="7935762" cy="47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/>
              <a:t>1</a:t>
            </a:r>
            <a:r>
              <a:rPr lang="zh-CN" altLang="en-US" sz="2400"/>
              <a:t>、确定 </a:t>
            </a:r>
            <a:r>
              <a:rPr lang="en-US" altLang="zh-CN" sz="2400" i="1"/>
              <a:t>M</a:t>
            </a:r>
            <a:r>
              <a:rPr lang="en-US" altLang="zh-CN" sz="2400"/>
              <a:t> </a:t>
            </a:r>
            <a:r>
              <a:rPr lang="zh-CN" altLang="en-US" sz="2400"/>
              <a:t>的第 </a:t>
            </a:r>
            <a:r>
              <a:rPr lang="en-US" altLang="zh-CN" sz="2400"/>
              <a:t>1 </a:t>
            </a:r>
            <a:r>
              <a:rPr lang="zh-CN" altLang="en-US" sz="2400"/>
              <a:t>列的第 </a:t>
            </a:r>
            <a:r>
              <a:rPr lang="en-US" altLang="zh-CN" sz="2400"/>
              <a:t>1 </a:t>
            </a:r>
            <a:r>
              <a:rPr lang="zh-CN" altLang="en-US" sz="2400"/>
              <a:t>个非零元在 </a:t>
            </a:r>
            <a:r>
              <a:rPr lang="en-US" altLang="zh-CN" sz="2400" i="1"/>
              <a:t>T.data</a:t>
            </a:r>
            <a:r>
              <a:rPr lang="en-US" altLang="zh-CN" sz="2400"/>
              <a:t> </a:t>
            </a:r>
            <a:r>
              <a:rPr lang="zh-CN" altLang="en-US" sz="2400"/>
              <a:t>中的位置。 </a:t>
            </a:r>
          </a:p>
        </p:txBody>
      </p:sp>
      <p:sp>
        <p:nvSpPr>
          <p:cNvPr id="20600" name="Text Box 120"/>
          <p:cNvSpPr txBox="1">
            <a:spLocks noChangeArrowheads="1"/>
          </p:cNvSpPr>
          <p:nvPr/>
        </p:nvSpPr>
        <p:spPr bwMode="auto">
          <a:xfrm>
            <a:off x="9696450" y="1412876"/>
            <a:ext cx="450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 </a:t>
            </a:r>
          </a:p>
        </p:txBody>
      </p:sp>
      <p:sp>
        <p:nvSpPr>
          <p:cNvPr id="20602" name="Text Box 122"/>
          <p:cNvSpPr txBox="1">
            <a:spLocks noChangeArrowheads="1"/>
          </p:cNvSpPr>
          <p:nvPr/>
        </p:nvSpPr>
        <p:spPr bwMode="auto">
          <a:xfrm>
            <a:off x="1992313" y="2349501"/>
            <a:ext cx="5649912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/>
              <a:t>3</a:t>
            </a:r>
            <a:r>
              <a:rPr lang="zh-CN" altLang="en-US" sz="2400"/>
              <a:t>、确定 </a:t>
            </a:r>
            <a:r>
              <a:rPr lang="en-US" altLang="zh-CN" sz="2400" i="1"/>
              <a:t>M</a:t>
            </a:r>
            <a:r>
              <a:rPr lang="en-US" altLang="zh-CN" sz="2400"/>
              <a:t> </a:t>
            </a:r>
            <a:r>
              <a:rPr lang="zh-CN" altLang="en-US" sz="2400"/>
              <a:t>的第 </a:t>
            </a:r>
            <a:r>
              <a:rPr lang="en-US" altLang="zh-CN" sz="2400"/>
              <a:t>col </a:t>
            </a:r>
            <a:r>
              <a:rPr lang="zh-CN" altLang="en-US" sz="2400"/>
              <a:t>列的第一个非零元在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       </a:t>
            </a:r>
            <a:r>
              <a:rPr lang="en-US" altLang="zh-CN" sz="2400" i="1"/>
              <a:t>T.data</a:t>
            </a:r>
            <a:r>
              <a:rPr lang="en-US" altLang="zh-CN" sz="2400"/>
              <a:t> </a:t>
            </a:r>
            <a:r>
              <a:rPr lang="zh-CN" altLang="en-US" sz="2400"/>
              <a:t>中的位置。 </a:t>
            </a:r>
          </a:p>
        </p:txBody>
      </p:sp>
      <p:sp>
        <p:nvSpPr>
          <p:cNvPr id="20603" name="Text Box 123"/>
          <p:cNvSpPr txBox="1">
            <a:spLocks noChangeArrowheads="1"/>
          </p:cNvSpPr>
          <p:nvPr/>
        </p:nvSpPr>
        <p:spPr bwMode="auto">
          <a:xfrm>
            <a:off x="2006601" y="1916113"/>
            <a:ext cx="5673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2</a:t>
            </a:r>
            <a:r>
              <a:rPr lang="zh-CN" altLang="en-US" sz="2400"/>
              <a:t>、确定 </a:t>
            </a:r>
            <a:r>
              <a:rPr lang="en-US" altLang="zh-CN" sz="2400" i="1"/>
              <a:t>M</a:t>
            </a:r>
            <a:r>
              <a:rPr lang="en-US" altLang="zh-CN" sz="2400"/>
              <a:t> </a:t>
            </a:r>
            <a:r>
              <a:rPr lang="zh-CN" altLang="en-US" sz="2400"/>
              <a:t>的第 </a:t>
            </a:r>
            <a:r>
              <a:rPr lang="en-US" altLang="zh-CN" sz="2400"/>
              <a:t>col -1 </a:t>
            </a:r>
            <a:r>
              <a:rPr lang="zh-CN" altLang="en-US" sz="2400"/>
              <a:t>列的非零元个数。 </a:t>
            </a:r>
          </a:p>
        </p:txBody>
      </p:sp>
      <p:sp>
        <p:nvSpPr>
          <p:cNvPr id="20606" name="Text Box 126"/>
          <p:cNvSpPr txBox="1">
            <a:spLocks noChangeArrowheads="1"/>
          </p:cNvSpPr>
          <p:nvPr/>
        </p:nvSpPr>
        <p:spPr bwMode="auto">
          <a:xfrm>
            <a:off x="7426326" y="1916113"/>
            <a:ext cx="304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存入数组 </a:t>
            </a:r>
            <a:r>
              <a:rPr lang="en-US" altLang="zh-CN" sz="2400">
                <a:solidFill>
                  <a:srgbClr val="0000FF"/>
                </a:solidFill>
              </a:rPr>
              <a:t>num[</a:t>
            </a:r>
            <a:r>
              <a:rPr lang="en-US" altLang="zh-CN" sz="2400" i="1">
                <a:solidFill>
                  <a:srgbClr val="0000FF"/>
                </a:solidFill>
              </a:rPr>
              <a:t>M.nu</a:t>
            </a:r>
            <a:r>
              <a:rPr lang="en-US" altLang="zh-CN" sz="2400">
                <a:solidFill>
                  <a:srgbClr val="0000FF"/>
                </a:solidFill>
              </a:rPr>
              <a:t>] </a:t>
            </a:r>
          </a:p>
        </p:txBody>
      </p:sp>
      <p:sp>
        <p:nvSpPr>
          <p:cNvPr id="20607" name="Text Box 127"/>
          <p:cNvSpPr txBox="1">
            <a:spLocks noChangeArrowheads="1"/>
          </p:cNvSpPr>
          <p:nvPr/>
        </p:nvSpPr>
        <p:spPr bwMode="auto">
          <a:xfrm>
            <a:off x="4329114" y="3259138"/>
            <a:ext cx="3011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存入数组 </a:t>
            </a:r>
            <a:r>
              <a:rPr lang="en-US" altLang="zh-CN" sz="2400">
                <a:solidFill>
                  <a:srgbClr val="0000FF"/>
                </a:solidFill>
              </a:rPr>
              <a:t>cpot[</a:t>
            </a:r>
            <a:r>
              <a:rPr lang="en-US" altLang="zh-CN" sz="2400" i="1">
                <a:solidFill>
                  <a:srgbClr val="0000FF"/>
                </a:solidFill>
              </a:rPr>
              <a:t>M.nu</a:t>
            </a:r>
            <a:r>
              <a:rPr lang="en-US" altLang="zh-CN" sz="2400">
                <a:solidFill>
                  <a:srgbClr val="0000FF"/>
                </a:solidFill>
              </a:rPr>
              <a:t>] </a:t>
            </a:r>
          </a:p>
        </p:txBody>
      </p:sp>
      <p:sp>
        <p:nvSpPr>
          <p:cNvPr id="20608" name="Text Box 128"/>
          <p:cNvSpPr txBox="1">
            <a:spLocks noChangeArrowheads="1"/>
          </p:cNvSpPr>
          <p:nvPr/>
        </p:nvSpPr>
        <p:spPr bwMode="auto">
          <a:xfrm>
            <a:off x="2457450" y="3548063"/>
            <a:ext cx="1830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cpot[1] = 1;  </a:t>
            </a:r>
          </a:p>
        </p:txBody>
      </p:sp>
      <p:sp>
        <p:nvSpPr>
          <p:cNvPr id="20609" name="Text Box 129"/>
          <p:cNvSpPr txBox="1">
            <a:spLocks noChangeArrowheads="1"/>
          </p:cNvSpPr>
          <p:nvPr/>
        </p:nvSpPr>
        <p:spPr bwMode="auto">
          <a:xfrm>
            <a:off x="2457451" y="3900488"/>
            <a:ext cx="4651375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cpot[col]=cpot[col–1]+num[col–1] </a:t>
            </a:r>
          </a:p>
          <a:p>
            <a:pPr>
              <a:lnSpc>
                <a:spcPct val="13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                                   2≤col≤</a:t>
            </a:r>
            <a:r>
              <a:rPr lang="en-US" altLang="zh-CN" sz="2400" i="1">
                <a:solidFill>
                  <a:srgbClr val="0000FF"/>
                </a:solidFill>
              </a:rPr>
              <a:t>a.nu</a:t>
            </a:r>
          </a:p>
        </p:txBody>
      </p:sp>
      <p:graphicFrame>
        <p:nvGraphicFramePr>
          <p:cNvPr id="20698" name="Group 218"/>
          <p:cNvGraphicFramePr>
            <a:graphicFrameLocks noGrp="1"/>
          </p:cNvGraphicFramePr>
          <p:nvPr/>
        </p:nvGraphicFramePr>
        <p:xfrm>
          <a:off x="2135189" y="5086350"/>
          <a:ext cx="4968875" cy="1188720"/>
        </p:xfrm>
        <a:graphic>
          <a:graphicData uri="http://schemas.openxmlformats.org/drawingml/2006/table">
            <a:tbl>
              <a:tblPr/>
              <a:tblGrid>
                <a:gridCol w="135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col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num(col)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cpot(col)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699" name="Group 219"/>
          <p:cNvGraphicFramePr>
            <a:graphicFrameLocks noGrp="1"/>
          </p:cNvGraphicFramePr>
          <p:nvPr/>
        </p:nvGraphicFramePr>
        <p:xfrm>
          <a:off x="2135189" y="5084763"/>
          <a:ext cx="4968875" cy="1188720"/>
        </p:xfrm>
        <a:graphic>
          <a:graphicData uri="http://schemas.openxmlformats.org/drawingml/2006/table">
            <a:tbl>
              <a:tblPr/>
              <a:tblGrid>
                <a:gridCol w="135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col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num(col)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cpot(col)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2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500"/>
                                        <p:tgtEl>
                                          <p:spTgt spid="2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01" grpId="0" animBg="1"/>
      <p:bldP spid="20597" grpId="0" autoUpdateAnimBg="0"/>
      <p:bldP spid="20598" grpId="0" autoUpdateAnimBg="0"/>
      <p:bldP spid="20600" grpId="0" autoUpdateAnimBg="0"/>
      <p:bldP spid="20602" grpId="0" autoUpdateAnimBg="0"/>
      <p:bldP spid="20603" grpId="0" autoUpdateAnimBg="0"/>
      <p:bldP spid="20606" grpId="0" autoUpdateAnimBg="0"/>
      <p:bldP spid="20607" grpId="0" autoUpdateAnimBg="0"/>
      <p:bldP spid="20608" grpId="0" autoUpdateAnimBg="0"/>
      <p:bldP spid="20609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71" name="Rectangle 167"/>
          <p:cNvSpPr>
            <a:spLocks noChangeArrowheads="1"/>
          </p:cNvSpPr>
          <p:nvPr/>
        </p:nvSpPr>
        <p:spPr bwMode="auto">
          <a:xfrm>
            <a:off x="3049589" y="4365625"/>
            <a:ext cx="4175125" cy="287338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69" name="Rectangle 165"/>
          <p:cNvSpPr>
            <a:spLocks noChangeArrowheads="1"/>
          </p:cNvSpPr>
          <p:nvPr/>
        </p:nvSpPr>
        <p:spPr bwMode="auto">
          <a:xfrm>
            <a:off x="2689226" y="3502025"/>
            <a:ext cx="1439863" cy="287338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67" name="Rectangle 163"/>
          <p:cNvSpPr>
            <a:spLocks noChangeArrowheads="1"/>
          </p:cNvSpPr>
          <p:nvPr/>
        </p:nvSpPr>
        <p:spPr bwMode="auto">
          <a:xfrm>
            <a:off x="9024939" y="3105150"/>
            <a:ext cx="1296987" cy="28733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65" name="Rectangle 161"/>
          <p:cNvSpPr>
            <a:spLocks noChangeArrowheads="1"/>
          </p:cNvSpPr>
          <p:nvPr/>
        </p:nvSpPr>
        <p:spPr bwMode="auto">
          <a:xfrm>
            <a:off x="9024939" y="2773364"/>
            <a:ext cx="1296987" cy="28733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63" name="Rectangle 159"/>
          <p:cNvSpPr>
            <a:spLocks noChangeArrowheads="1"/>
          </p:cNvSpPr>
          <p:nvPr/>
        </p:nvSpPr>
        <p:spPr bwMode="auto">
          <a:xfrm>
            <a:off x="9024939" y="2428875"/>
            <a:ext cx="1296987" cy="28733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61" name="Rectangle 157"/>
          <p:cNvSpPr>
            <a:spLocks noChangeArrowheads="1"/>
          </p:cNvSpPr>
          <p:nvPr/>
        </p:nvSpPr>
        <p:spPr bwMode="auto">
          <a:xfrm>
            <a:off x="9024939" y="2097089"/>
            <a:ext cx="1296987" cy="28733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59" name="Rectangle 155"/>
          <p:cNvSpPr>
            <a:spLocks noChangeArrowheads="1"/>
          </p:cNvSpPr>
          <p:nvPr/>
        </p:nvSpPr>
        <p:spPr bwMode="auto">
          <a:xfrm>
            <a:off x="9024939" y="1773239"/>
            <a:ext cx="1296987" cy="28733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57" name="Rectangle 153"/>
          <p:cNvSpPr>
            <a:spLocks noChangeArrowheads="1"/>
          </p:cNvSpPr>
          <p:nvPr/>
        </p:nvSpPr>
        <p:spPr bwMode="auto">
          <a:xfrm>
            <a:off x="9024939" y="1412875"/>
            <a:ext cx="1296987" cy="28733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55" name="Rectangle 151"/>
          <p:cNvSpPr>
            <a:spLocks noChangeArrowheads="1"/>
          </p:cNvSpPr>
          <p:nvPr/>
        </p:nvSpPr>
        <p:spPr bwMode="auto">
          <a:xfrm>
            <a:off x="9024939" y="1089025"/>
            <a:ext cx="1296987" cy="28733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53" name="Rectangle 149"/>
          <p:cNvSpPr>
            <a:spLocks noChangeArrowheads="1"/>
          </p:cNvSpPr>
          <p:nvPr/>
        </p:nvSpPr>
        <p:spPr bwMode="auto">
          <a:xfrm>
            <a:off x="9024939" y="765175"/>
            <a:ext cx="1296987" cy="28733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49" name="Rectangle 145"/>
          <p:cNvSpPr>
            <a:spLocks noChangeArrowheads="1"/>
          </p:cNvSpPr>
          <p:nvPr/>
        </p:nvSpPr>
        <p:spPr bwMode="auto">
          <a:xfrm>
            <a:off x="2689226" y="2636839"/>
            <a:ext cx="5040313" cy="287337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48" name="Rectangle 144"/>
          <p:cNvSpPr>
            <a:spLocks noChangeArrowheads="1"/>
          </p:cNvSpPr>
          <p:nvPr/>
        </p:nvSpPr>
        <p:spPr bwMode="auto">
          <a:xfrm>
            <a:off x="2689226" y="2205039"/>
            <a:ext cx="5040313" cy="287337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47" name="Rectangle 143"/>
          <p:cNvSpPr>
            <a:spLocks noChangeArrowheads="1"/>
          </p:cNvSpPr>
          <p:nvPr/>
        </p:nvSpPr>
        <p:spPr bwMode="auto">
          <a:xfrm>
            <a:off x="2328863" y="1341439"/>
            <a:ext cx="4608512" cy="287337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6" name="Text Box 12"/>
          <p:cNvSpPr txBox="1">
            <a:spLocks noChangeArrowheads="1"/>
          </p:cNvSpPr>
          <p:nvPr/>
        </p:nvSpPr>
        <p:spPr bwMode="auto">
          <a:xfrm>
            <a:off x="1897064" y="330200"/>
            <a:ext cx="7056437" cy="478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Status FastTransposeSMatrix( TSMatrix M, TSMatrix &amp;T ) { 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//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采用三元组顺序表存储表示，求稀疏矩阵 </a:t>
            </a:r>
            <a:r>
              <a:rPr lang="en-US" altLang="zh-CN" sz="2000">
                <a:solidFill>
                  <a:srgbClr val="0000FF"/>
                </a:solidFill>
                <a:cs typeface=""/>
              </a:rPr>
              <a:t>M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的转置矩阵 </a:t>
            </a:r>
            <a:r>
              <a:rPr lang="en-US" altLang="zh-CN" sz="2000">
                <a:solidFill>
                  <a:srgbClr val="0000FF"/>
                </a:solidFill>
                <a:cs typeface=""/>
              </a:rPr>
              <a:t>T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T.mu = M.nu; T.nu = M.mu; T.tu = M.tu;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if (T.tu) {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for (col=1; col&lt;=M.nu; ++col)    num[col] = 0;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for (t=1; t&lt;=M.tu; ++t)   ++ num[M.data[t].j];  </a:t>
            </a:r>
          </a:p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                 //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求 </a:t>
            </a:r>
            <a:r>
              <a:rPr lang="en-US" altLang="zh-CN" sz="2000">
                <a:solidFill>
                  <a:srgbClr val="0000FF"/>
                </a:solidFill>
                <a:cs typeface=""/>
              </a:rPr>
              <a:t>M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中各列非零元的个数 </a:t>
            </a:r>
            <a:br>
              <a:rPr lang="zh-CN" altLang="en-US" sz="2000">
                <a:cs typeface=""/>
              </a:rPr>
            </a:br>
            <a:r>
              <a:rPr lang="zh-CN" altLang="en-US" sz="2000">
                <a:cs typeface=""/>
              </a:rPr>
              <a:t>            </a:t>
            </a:r>
            <a:r>
              <a:rPr lang="en-US" altLang="zh-CN" sz="2000">
                <a:cs typeface=""/>
              </a:rPr>
              <a:t>cpot[1] = 1;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for (col=2; col&lt;=M.nu; ++col)  </a:t>
            </a:r>
          </a:p>
          <a:p>
            <a:pPr>
              <a:lnSpc>
                <a:spcPct val="140000"/>
              </a:lnSpc>
            </a:pPr>
            <a:r>
              <a:rPr lang="en-US" altLang="zh-CN" sz="2000">
                <a:cs typeface=""/>
              </a:rPr>
              <a:t>                  cpot[col] = cpot[col -1] + num[col -1]; 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         //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求 </a:t>
            </a:r>
            <a:r>
              <a:rPr lang="en-US" altLang="zh-CN" sz="2000">
                <a:solidFill>
                  <a:srgbClr val="0000FF"/>
                </a:solidFill>
                <a:cs typeface=""/>
              </a:rPr>
              <a:t>M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中各列的第一个非零元在</a:t>
            </a:r>
            <a:r>
              <a:rPr lang="zh-CN" altLang="en-US" sz="2000" i="1">
                <a:solidFill>
                  <a:srgbClr val="0000FF"/>
                </a:solidFill>
                <a:cs typeface=""/>
              </a:rPr>
              <a:t> </a:t>
            </a:r>
            <a:r>
              <a:rPr lang="en-US" altLang="zh-CN" sz="2000" i="1">
                <a:solidFill>
                  <a:srgbClr val="0000FF"/>
                </a:solidFill>
                <a:cs typeface=""/>
              </a:rPr>
              <a:t>T.data</a:t>
            </a:r>
            <a:r>
              <a:rPr lang="en-US" altLang="zh-CN" sz="2000">
                <a:solidFill>
                  <a:srgbClr val="0000FF"/>
                </a:solidFill>
                <a:cs typeface=""/>
              </a:rPr>
              <a:t>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中的序号</a:t>
            </a:r>
            <a:r>
              <a:rPr lang="zh-CN" altLang="en-US" sz="2000">
                <a:cs typeface=""/>
              </a:rPr>
              <a:t> </a:t>
            </a:r>
          </a:p>
        </p:txBody>
      </p:sp>
      <p:graphicFrame>
        <p:nvGraphicFramePr>
          <p:cNvPr id="72763" name="Group 59"/>
          <p:cNvGraphicFramePr>
            <a:graphicFrameLocks noGrp="1"/>
          </p:cNvGraphicFramePr>
          <p:nvPr/>
        </p:nvGraphicFramePr>
        <p:xfrm>
          <a:off x="8953501" y="404813"/>
          <a:ext cx="1463675" cy="301752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2764" name="Group 60"/>
          <p:cNvGraphicFramePr>
            <a:graphicFrameLocks noGrp="1"/>
          </p:cNvGraphicFramePr>
          <p:nvPr/>
        </p:nvGraphicFramePr>
        <p:xfrm>
          <a:off x="2400300" y="5195888"/>
          <a:ext cx="5545138" cy="1188720"/>
        </p:xfrm>
        <a:graphic>
          <a:graphicData uri="http://schemas.openxmlformats.org/drawingml/2006/table">
            <a:tbl>
              <a:tblPr/>
              <a:tblGrid>
                <a:gridCol w="151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col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num(col)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cpot(col)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2844" name="Group 140"/>
          <p:cNvGraphicFramePr>
            <a:graphicFrameLocks noGrp="1"/>
          </p:cNvGraphicFramePr>
          <p:nvPr/>
        </p:nvGraphicFramePr>
        <p:xfrm>
          <a:off x="8953501" y="3500438"/>
          <a:ext cx="1463675" cy="301752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2850" name="Text Box 146"/>
          <p:cNvSpPr txBox="1">
            <a:spLocks noChangeArrowheads="1"/>
          </p:cNvSpPr>
          <p:nvPr/>
        </p:nvSpPr>
        <p:spPr bwMode="auto">
          <a:xfrm>
            <a:off x="9024938" y="3500438"/>
            <a:ext cx="1352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        </a:t>
            </a:r>
            <a:r>
              <a:rPr lang="en-US" altLang="zh-CN" sz="1600">
                <a:solidFill>
                  <a:srgbClr val="0000FF"/>
                </a:solidFill>
              </a:rPr>
              <a:t>6</a:t>
            </a:r>
            <a:r>
              <a:rPr lang="en-US" altLang="zh-CN" sz="1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</a:t>
            </a:r>
            <a:r>
              <a:rPr lang="en-US" altLang="zh-CN" sz="1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  <a:r>
              <a:rPr lang="en-US" altLang="zh-CN" sz="1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72852" name="Text Box 148"/>
          <p:cNvSpPr txBox="1">
            <a:spLocks noChangeArrowheads="1"/>
          </p:cNvSpPr>
          <p:nvPr/>
        </p:nvSpPr>
        <p:spPr bwMode="auto">
          <a:xfrm>
            <a:off x="4057650" y="5589589"/>
            <a:ext cx="3803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0       0       0       0       0       0       0 </a:t>
            </a:r>
          </a:p>
        </p:txBody>
      </p:sp>
      <p:sp useBgFill="1">
        <p:nvSpPr>
          <p:cNvPr id="72854" name="Text Box 150"/>
          <p:cNvSpPr txBox="1">
            <a:spLocks noChangeArrowheads="1"/>
          </p:cNvSpPr>
          <p:nvPr/>
        </p:nvSpPr>
        <p:spPr bwMode="auto">
          <a:xfrm>
            <a:off x="4618038" y="5613400"/>
            <a:ext cx="374650" cy="33655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1 </a:t>
            </a:r>
          </a:p>
        </p:txBody>
      </p:sp>
      <p:sp useBgFill="1">
        <p:nvSpPr>
          <p:cNvPr id="72856" name="Text Box 152"/>
          <p:cNvSpPr txBox="1">
            <a:spLocks noChangeArrowheads="1"/>
          </p:cNvSpPr>
          <p:nvPr/>
        </p:nvSpPr>
        <p:spPr bwMode="auto">
          <a:xfrm>
            <a:off x="5194300" y="5624513"/>
            <a:ext cx="374650" cy="33655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1 </a:t>
            </a:r>
          </a:p>
        </p:txBody>
      </p:sp>
      <p:sp useBgFill="1">
        <p:nvSpPr>
          <p:cNvPr id="72858" name="Text Box 154"/>
          <p:cNvSpPr txBox="1">
            <a:spLocks noChangeArrowheads="1"/>
          </p:cNvSpPr>
          <p:nvPr/>
        </p:nvSpPr>
        <p:spPr bwMode="auto">
          <a:xfrm>
            <a:off x="4041775" y="5613400"/>
            <a:ext cx="374650" cy="33655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1 </a:t>
            </a:r>
          </a:p>
        </p:txBody>
      </p:sp>
      <p:sp useBgFill="1">
        <p:nvSpPr>
          <p:cNvPr id="72860" name="Text Box 156"/>
          <p:cNvSpPr txBox="1">
            <a:spLocks noChangeArrowheads="1"/>
          </p:cNvSpPr>
          <p:nvPr/>
        </p:nvSpPr>
        <p:spPr bwMode="auto">
          <a:xfrm>
            <a:off x="6923088" y="5645151"/>
            <a:ext cx="377026" cy="31399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1 </a:t>
            </a:r>
          </a:p>
        </p:txBody>
      </p:sp>
      <p:sp useBgFill="1">
        <p:nvSpPr>
          <p:cNvPr id="72862" name="Text Box 158"/>
          <p:cNvSpPr txBox="1">
            <a:spLocks noChangeArrowheads="1"/>
          </p:cNvSpPr>
          <p:nvPr/>
        </p:nvSpPr>
        <p:spPr bwMode="auto">
          <a:xfrm>
            <a:off x="5194300" y="5613400"/>
            <a:ext cx="374650" cy="33655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2 </a:t>
            </a:r>
          </a:p>
        </p:txBody>
      </p:sp>
      <p:sp useBgFill="1">
        <p:nvSpPr>
          <p:cNvPr id="72864" name="Text Box 160"/>
          <p:cNvSpPr txBox="1">
            <a:spLocks noChangeArrowheads="1"/>
          </p:cNvSpPr>
          <p:nvPr/>
        </p:nvSpPr>
        <p:spPr bwMode="auto">
          <a:xfrm>
            <a:off x="4618038" y="5613400"/>
            <a:ext cx="374650" cy="33655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2 </a:t>
            </a:r>
          </a:p>
        </p:txBody>
      </p:sp>
      <p:sp useBgFill="1">
        <p:nvSpPr>
          <p:cNvPr id="72866" name="Text Box 162"/>
          <p:cNvSpPr txBox="1">
            <a:spLocks noChangeArrowheads="1"/>
          </p:cNvSpPr>
          <p:nvPr/>
        </p:nvSpPr>
        <p:spPr bwMode="auto">
          <a:xfrm>
            <a:off x="4041775" y="5613400"/>
            <a:ext cx="374650" cy="33655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2 </a:t>
            </a:r>
          </a:p>
        </p:txBody>
      </p:sp>
      <p:sp useBgFill="1">
        <p:nvSpPr>
          <p:cNvPr id="72868" name="Text Box 164"/>
          <p:cNvSpPr txBox="1">
            <a:spLocks noChangeArrowheads="1"/>
          </p:cNvSpPr>
          <p:nvPr/>
        </p:nvSpPr>
        <p:spPr bwMode="auto">
          <a:xfrm>
            <a:off x="5770563" y="5645151"/>
            <a:ext cx="377026" cy="31399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1 </a:t>
            </a:r>
          </a:p>
        </p:txBody>
      </p:sp>
      <p:sp useBgFill="1">
        <p:nvSpPr>
          <p:cNvPr id="72870" name="Text Box 166"/>
          <p:cNvSpPr txBox="1">
            <a:spLocks noChangeArrowheads="1"/>
          </p:cNvSpPr>
          <p:nvPr/>
        </p:nvSpPr>
        <p:spPr bwMode="auto">
          <a:xfrm>
            <a:off x="4041775" y="6021389"/>
            <a:ext cx="377026" cy="31399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1 </a:t>
            </a:r>
          </a:p>
        </p:txBody>
      </p:sp>
      <p:sp useBgFill="1">
        <p:nvSpPr>
          <p:cNvPr id="72872" name="Text Box 168"/>
          <p:cNvSpPr txBox="1">
            <a:spLocks noChangeArrowheads="1"/>
          </p:cNvSpPr>
          <p:nvPr/>
        </p:nvSpPr>
        <p:spPr bwMode="auto">
          <a:xfrm>
            <a:off x="4618038" y="6021389"/>
            <a:ext cx="377026" cy="31399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3 </a:t>
            </a:r>
          </a:p>
        </p:txBody>
      </p:sp>
      <p:sp useBgFill="1">
        <p:nvSpPr>
          <p:cNvPr id="72873" name="Text Box 169"/>
          <p:cNvSpPr txBox="1">
            <a:spLocks noChangeArrowheads="1"/>
          </p:cNvSpPr>
          <p:nvPr/>
        </p:nvSpPr>
        <p:spPr bwMode="auto">
          <a:xfrm>
            <a:off x="5194300" y="6021389"/>
            <a:ext cx="377026" cy="31399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5 </a:t>
            </a:r>
          </a:p>
        </p:txBody>
      </p:sp>
      <p:sp useBgFill="1">
        <p:nvSpPr>
          <p:cNvPr id="72874" name="Text Box 170"/>
          <p:cNvSpPr txBox="1">
            <a:spLocks noChangeArrowheads="1"/>
          </p:cNvSpPr>
          <p:nvPr/>
        </p:nvSpPr>
        <p:spPr bwMode="auto">
          <a:xfrm>
            <a:off x="5784850" y="6021389"/>
            <a:ext cx="377026" cy="31399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7 </a:t>
            </a:r>
          </a:p>
        </p:txBody>
      </p:sp>
      <p:sp useBgFill="1">
        <p:nvSpPr>
          <p:cNvPr id="72875" name="Text Box 171"/>
          <p:cNvSpPr txBox="1">
            <a:spLocks noChangeArrowheads="1"/>
          </p:cNvSpPr>
          <p:nvPr/>
        </p:nvSpPr>
        <p:spPr bwMode="auto">
          <a:xfrm>
            <a:off x="6346825" y="6021389"/>
            <a:ext cx="377026" cy="31399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8 </a:t>
            </a:r>
          </a:p>
        </p:txBody>
      </p:sp>
      <p:sp useBgFill="1">
        <p:nvSpPr>
          <p:cNvPr id="72876" name="Text Box 172"/>
          <p:cNvSpPr txBox="1">
            <a:spLocks noChangeArrowheads="1"/>
          </p:cNvSpPr>
          <p:nvPr/>
        </p:nvSpPr>
        <p:spPr bwMode="auto">
          <a:xfrm>
            <a:off x="6923088" y="6021389"/>
            <a:ext cx="377026" cy="31399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8 </a:t>
            </a:r>
          </a:p>
        </p:txBody>
      </p:sp>
      <p:sp useBgFill="1">
        <p:nvSpPr>
          <p:cNvPr id="72877" name="Text Box 173"/>
          <p:cNvSpPr txBox="1">
            <a:spLocks noChangeArrowheads="1"/>
          </p:cNvSpPr>
          <p:nvPr/>
        </p:nvSpPr>
        <p:spPr bwMode="auto">
          <a:xfrm>
            <a:off x="7499350" y="6021389"/>
            <a:ext cx="377026" cy="31399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sz="2000"/>
              <a:t>9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28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28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7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728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28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2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728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728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72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728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2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728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728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2" dur="500"/>
                                        <p:tgtEl>
                                          <p:spTgt spid="728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2" dur="500"/>
                                        <p:tgtEl>
                                          <p:spTgt spid="72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7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71" grpId="0" animBg="1"/>
      <p:bldP spid="72869" grpId="0" animBg="1"/>
      <p:bldP spid="72867" grpId="0" animBg="1"/>
      <p:bldP spid="72865" grpId="0" animBg="1"/>
      <p:bldP spid="72863" grpId="0" animBg="1"/>
      <p:bldP spid="72861" grpId="0" animBg="1"/>
      <p:bldP spid="72859" grpId="0" animBg="1"/>
      <p:bldP spid="72857" grpId="0" animBg="1"/>
      <p:bldP spid="72855" grpId="0" animBg="1"/>
      <p:bldP spid="72853" grpId="0" animBg="1"/>
      <p:bldP spid="72849" grpId="0" animBg="1"/>
      <p:bldP spid="72848" grpId="0" animBg="1"/>
      <p:bldP spid="72847" grpId="0" animBg="1"/>
      <p:bldP spid="72850" grpId="0"/>
      <p:bldP spid="72852" grpId="0"/>
      <p:bldP spid="72854" grpId="0" animBg="1"/>
      <p:bldP spid="72856" grpId="0" animBg="1"/>
      <p:bldP spid="72858" grpId="0" animBg="1"/>
      <p:bldP spid="72860" grpId="0" animBg="1"/>
      <p:bldP spid="72862" grpId="0" animBg="1"/>
      <p:bldP spid="72864" grpId="0" animBg="1"/>
      <p:bldP spid="72866" grpId="0" animBg="1"/>
      <p:bldP spid="72868" grpId="0" animBg="1"/>
      <p:bldP spid="72870" grpId="0" animBg="1"/>
      <p:bldP spid="72872" grpId="0" animBg="1"/>
      <p:bldP spid="72873" grpId="0" animBg="1"/>
      <p:bldP spid="72874" grpId="0" animBg="1"/>
      <p:bldP spid="72875" grpId="0" animBg="1"/>
      <p:bldP spid="72876" grpId="0" animBg="1"/>
      <p:bldP spid="7287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3" name="Rectangle 449"/>
          <p:cNvSpPr>
            <a:spLocks noChangeArrowheads="1"/>
          </p:cNvSpPr>
          <p:nvPr/>
        </p:nvSpPr>
        <p:spPr bwMode="auto">
          <a:xfrm>
            <a:off x="5087938" y="620713"/>
            <a:ext cx="431800" cy="360362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93" name="Rectangle 389"/>
          <p:cNvSpPr>
            <a:spLocks noChangeArrowheads="1"/>
          </p:cNvSpPr>
          <p:nvPr/>
        </p:nvSpPr>
        <p:spPr bwMode="auto">
          <a:xfrm>
            <a:off x="3432175" y="620713"/>
            <a:ext cx="503238" cy="360362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87" name="Rectangle 383"/>
          <p:cNvSpPr>
            <a:spLocks noChangeArrowheads="1"/>
          </p:cNvSpPr>
          <p:nvPr/>
        </p:nvSpPr>
        <p:spPr bwMode="auto">
          <a:xfrm>
            <a:off x="3287713" y="2781301"/>
            <a:ext cx="1511300" cy="360363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85" name="Rectangle 381"/>
          <p:cNvSpPr>
            <a:spLocks noChangeArrowheads="1"/>
          </p:cNvSpPr>
          <p:nvPr/>
        </p:nvSpPr>
        <p:spPr bwMode="auto">
          <a:xfrm>
            <a:off x="3287714" y="2347913"/>
            <a:ext cx="2879725" cy="360362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83" name="Rectangle 379"/>
          <p:cNvSpPr>
            <a:spLocks noChangeArrowheads="1"/>
          </p:cNvSpPr>
          <p:nvPr/>
        </p:nvSpPr>
        <p:spPr bwMode="auto">
          <a:xfrm>
            <a:off x="3287714" y="1916113"/>
            <a:ext cx="2879725" cy="360362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81" name="Rectangle 377"/>
          <p:cNvSpPr>
            <a:spLocks noChangeArrowheads="1"/>
          </p:cNvSpPr>
          <p:nvPr/>
        </p:nvSpPr>
        <p:spPr bwMode="auto">
          <a:xfrm>
            <a:off x="3287714" y="1484313"/>
            <a:ext cx="2879725" cy="360362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79" name="Rectangle 375"/>
          <p:cNvSpPr>
            <a:spLocks noChangeArrowheads="1"/>
          </p:cNvSpPr>
          <p:nvPr/>
        </p:nvSpPr>
        <p:spPr bwMode="auto">
          <a:xfrm>
            <a:off x="5519739" y="1052513"/>
            <a:ext cx="1584325" cy="360362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77" name="Rectangle 373"/>
          <p:cNvSpPr>
            <a:spLocks noChangeArrowheads="1"/>
          </p:cNvSpPr>
          <p:nvPr/>
        </p:nvSpPr>
        <p:spPr bwMode="auto">
          <a:xfrm>
            <a:off x="3287714" y="1052513"/>
            <a:ext cx="2016125" cy="360362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04" name="Text Box 200"/>
          <p:cNvSpPr txBox="1">
            <a:spLocks noChangeArrowheads="1"/>
          </p:cNvSpPr>
          <p:nvPr/>
        </p:nvSpPr>
        <p:spPr bwMode="auto">
          <a:xfrm>
            <a:off x="2111375" y="506413"/>
            <a:ext cx="575310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/>
              <a:t>            for (p=1; p&lt;=M.tu; ++p) {  // </a:t>
            </a:r>
            <a:r>
              <a:rPr lang="zh-CN" altLang="en-US" sz="2000">
                <a:solidFill>
                  <a:srgbClr val="0000FF"/>
                </a:solidFill>
              </a:rPr>
              <a:t>转置矩阵元素 </a:t>
            </a:r>
            <a:r>
              <a:rPr lang="zh-CN" altLang="en-US" sz="2000"/>
              <a:t> </a:t>
            </a:r>
          </a:p>
          <a:p>
            <a:pPr>
              <a:lnSpc>
                <a:spcPct val="140000"/>
              </a:lnSpc>
            </a:pPr>
            <a:r>
              <a:rPr lang="zh-CN" altLang="en-US" sz="2000"/>
              <a:t>                  </a:t>
            </a:r>
            <a:r>
              <a:rPr lang="en-US" altLang="zh-CN" sz="2000"/>
              <a:t>col = M.data[p].j;     q = cpot[col]; </a:t>
            </a:r>
            <a:br>
              <a:rPr lang="en-US" altLang="zh-CN" sz="2000"/>
            </a:br>
            <a:r>
              <a:rPr lang="en-US" altLang="zh-CN" sz="2000"/>
              <a:t>                  T.data[q].i = M.data[p].j;     </a:t>
            </a:r>
          </a:p>
          <a:p>
            <a:pPr>
              <a:lnSpc>
                <a:spcPct val="140000"/>
              </a:lnSpc>
            </a:pPr>
            <a:r>
              <a:rPr lang="en-US" altLang="zh-CN" sz="2000"/>
              <a:t>                  T.data[q].j = M.data[p].i; </a:t>
            </a:r>
            <a:br>
              <a:rPr lang="en-US" altLang="zh-CN" sz="2000"/>
            </a:br>
            <a:r>
              <a:rPr lang="en-US" altLang="zh-CN" sz="2000"/>
              <a:t>                  T.data[q].e = M.data[p].e; </a:t>
            </a:r>
          </a:p>
          <a:p>
            <a:pPr>
              <a:lnSpc>
                <a:spcPct val="140000"/>
              </a:lnSpc>
            </a:pPr>
            <a:r>
              <a:rPr lang="en-US" altLang="zh-CN" sz="2000"/>
              <a:t>                  ++ cpot[col];  </a:t>
            </a:r>
            <a:br>
              <a:rPr lang="en-US" altLang="zh-CN" sz="2000"/>
            </a:br>
            <a:r>
              <a:rPr lang="en-US" altLang="zh-CN" sz="2000"/>
              <a:t>            } // for</a:t>
            </a:r>
            <a:br>
              <a:rPr lang="en-US" altLang="zh-CN" sz="2000"/>
            </a:br>
            <a:r>
              <a:rPr lang="en-US" altLang="zh-CN" sz="2000"/>
              <a:t>      } // if</a:t>
            </a:r>
            <a:br>
              <a:rPr lang="en-US" altLang="zh-CN" sz="2000"/>
            </a:br>
            <a:r>
              <a:rPr lang="en-US" altLang="zh-CN" sz="2000"/>
              <a:t>      return OK;</a:t>
            </a:r>
            <a:br>
              <a:rPr lang="en-US" altLang="zh-CN" sz="2000"/>
            </a:br>
            <a:r>
              <a:rPr lang="en-US" altLang="zh-CN" sz="2000"/>
              <a:t>} // FastTransposeSMatrix</a:t>
            </a:r>
          </a:p>
        </p:txBody>
      </p:sp>
      <p:graphicFrame>
        <p:nvGraphicFramePr>
          <p:cNvPr id="21747" name="Group 243"/>
          <p:cNvGraphicFramePr>
            <a:graphicFrameLocks noGrp="1"/>
          </p:cNvGraphicFramePr>
          <p:nvPr/>
        </p:nvGraphicFramePr>
        <p:xfrm>
          <a:off x="8543926" y="404813"/>
          <a:ext cx="1463675" cy="301752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1789" name="Group 285"/>
          <p:cNvGraphicFramePr>
            <a:graphicFrameLocks noGrp="1"/>
          </p:cNvGraphicFramePr>
          <p:nvPr/>
        </p:nvGraphicFramePr>
        <p:xfrm>
          <a:off x="8543926" y="3500438"/>
          <a:ext cx="1463675" cy="301752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1831" name="Group 327"/>
          <p:cNvGraphicFramePr>
            <a:graphicFrameLocks noGrp="1"/>
          </p:cNvGraphicFramePr>
          <p:nvPr/>
        </p:nvGraphicFramePr>
        <p:xfrm>
          <a:off x="2206625" y="5195888"/>
          <a:ext cx="5545138" cy="1188720"/>
        </p:xfrm>
        <a:graphic>
          <a:graphicData uri="http://schemas.openxmlformats.org/drawingml/2006/table">
            <a:tbl>
              <a:tblPr/>
              <a:tblGrid>
                <a:gridCol w="151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col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num(col)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cpot(col)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869" name="Text Box 365"/>
          <p:cNvSpPr txBox="1">
            <a:spLocks noChangeArrowheads="1"/>
          </p:cNvSpPr>
          <p:nvPr/>
        </p:nvSpPr>
        <p:spPr bwMode="auto">
          <a:xfrm>
            <a:off x="8616950" y="3500438"/>
            <a:ext cx="1352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        </a:t>
            </a:r>
            <a:r>
              <a:rPr lang="en-US" altLang="zh-CN" sz="1600">
                <a:solidFill>
                  <a:srgbClr val="0000FF"/>
                </a:solidFill>
              </a:rPr>
              <a:t>6</a:t>
            </a:r>
            <a:r>
              <a:rPr lang="en-US" altLang="zh-CN" sz="1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</a:t>
            </a:r>
            <a:r>
              <a:rPr lang="en-US" altLang="zh-CN" sz="1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  <a:r>
              <a:rPr lang="en-US" altLang="zh-CN" sz="1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21882" name="Text Box 378"/>
          <p:cNvSpPr txBox="1">
            <a:spLocks noChangeArrowheads="1"/>
          </p:cNvSpPr>
          <p:nvPr/>
        </p:nvSpPr>
        <p:spPr bwMode="auto">
          <a:xfrm>
            <a:off x="8639175" y="4519613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2 </a:t>
            </a:r>
          </a:p>
        </p:txBody>
      </p:sp>
      <p:sp>
        <p:nvSpPr>
          <p:cNvPr id="21884" name="Text Box 380"/>
          <p:cNvSpPr txBox="1">
            <a:spLocks noChangeArrowheads="1"/>
          </p:cNvSpPr>
          <p:nvPr/>
        </p:nvSpPr>
        <p:spPr bwMode="auto">
          <a:xfrm>
            <a:off x="9144000" y="4519613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1 </a:t>
            </a:r>
          </a:p>
        </p:txBody>
      </p:sp>
      <p:sp>
        <p:nvSpPr>
          <p:cNvPr id="21886" name="Text Box 382"/>
          <p:cNvSpPr txBox="1">
            <a:spLocks noChangeArrowheads="1"/>
          </p:cNvSpPr>
          <p:nvPr/>
        </p:nvSpPr>
        <p:spPr bwMode="auto">
          <a:xfrm>
            <a:off x="9551988" y="4508500"/>
            <a:ext cx="438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12 </a:t>
            </a:r>
          </a:p>
        </p:txBody>
      </p:sp>
      <p:sp useBgFill="1">
        <p:nvSpPr>
          <p:cNvPr id="21888" name="Text Box 384"/>
          <p:cNvSpPr txBox="1">
            <a:spLocks noChangeArrowheads="1"/>
          </p:cNvSpPr>
          <p:nvPr/>
        </p:nvSpPr>
        <p:spPr bwMode="auto">
          <a:xfrm>
            <a:off x="4424363" y="6094414"/>
            <a:ext cx="377026" cy="2909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000"/>
              <a:t>4 </a:t>
            </a:r>
          </a:p>
        </p:txBody>
      </p:sp>
      <p:sp>
        <p:nvSpPr>
          <p:cNvPr id="21897" name="Text Box 393"/>
          <p:cNvSpPr txBox="1">
            <a:spLocks noChangeArrowheads="1"/>
          </p:cNvSpPr>
          <p:nvPr/>
        </p:nvSpPr>
        <p:spPr bwMode="auto">
          <a:xfrm>
            <a:off x="8639175" y="5180013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3 </a:t>
            </a:r>
          </a:p>
        </p:txBody>
      </p:sp>
      <p:sp>
        <p:nvSpPr>
          <p:cNvPr id="21898" name="Text Box 394"/>
          <p:cNvSpPr txBox="1">
            <a:spLocks noChangeArrowheads="1"/>
          </p:cNvSpPr>
          <p:nvPr/>
        </p:nvSpPr>
        <p:spPr bwMode="auto">
          <a:xfrm>
            <a:off x="9144000" y="5180013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1 </a:t>
            </a:r>
          </a:p>
        </p:txBody>
      </p:sp>
      <p:sp>
        <p:nvSpPr>
          <p:cNvPr id="21899" name="Text Box 395"/>
          <p:cNvSpPr txBox="1">
            <a:spLocks noChangeArrowheads="1"/>
          </p:cNvSpPr>
          <p:nvPr/>
        </p:nvSpPr>
        <p:spPr bwMode="auto">
          <a:xfrm>
            <a:off x="9578975" y="518001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 9 </a:t>
            </a:r>
          </a:p>
        </p:txBody>
      </p:sp>
      <p:sp useBgFill="1">
        <p:nvSpPr>
          <p:cNvPr id="21900" name="Text Box 396"/>
          <p:cNvSpPr txBox="1">
            <a:spLocks noChangeArrowheads="1"/>
          </p:cNvSpPr>
          <p:nvPr/>
        </p:nvSpPr>
        <p:spPr bwMode="auto">
          <a:xfrm>
            <a:off x="5000625" y="6094414"/>
            <a:ext cx="377026" cy="2909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000"/>
              <a:t>6 </a:t>
            </a:r>
          </a:p>
        </p:txBody>
      </p:sp>
      <p:sp>
        <p:nvSpPr>
          <p:cNvPr id="21904" name="Text Box 400"/>
          <p:cNvSpPr txBox="1">
            <a:spLocks noChangeArrowheads="1"/>
          </p:cNvSpPr>
          <p:nvPr/>
        </p:nvSpPr>
        <p:spPr bwMode="auto">
          <a:xfrm>
            <a:off x="8639175" y="3860800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1 </a:t>
            </a:r>
          </a:p>
        </p:txBody>
      </p:sp>
      <p:sp>
        <p:nvSpPr>
          <p:cNvPr id="21905" name="Text Box 401"/>
          <p:cNvSpPr txBox="1">
            <a:spLocks noChangeArrowheads="1"/>
          </p:cNvSpPr>
          <p:nvPr/>
        </p:nvSpPr>
        <p:spPr bwMode="auto">
          <a:xfrm>
            <a:off x="9144000" y="3860800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3 </a:t>
            </a:r>
          </a:p>
        </p:txBody>
      </p:sp>
      <p:sp>
        <p:nvSpPr>
          <p:cNvPr id="21906" name="Text Box 402"/>
          <p:cNvSpPr txBox="1">
            <a:spLocks noChangeArrowheads="1"/>
          </p:cNvSpPr>
          <p:nvPr/>
        </p:nvSpPr>
        <p:spPr bwMode="auto">
          <a:xfrm>
            <a:off x="9578976" y="3860800"/>
            <a:ext cx="4048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-3 </a:t>
            </a:r>
          </a:p>
        </p:txBody>
      </p:sp>
      <p:sp useBgFill="1">
        <p:nvSpPr>
          <p:cNvPr id="21907" name="Text Box 403"/>
          <p:cNvSpPr txBox="1">
            <a:spLocks noChangeArrowheads="1"/>
          </p:cNvSpPr>
          <p:nvPr/>
        </p:nvSpPr>
        <p:spPr bwMode="auto">
          <a:xfrm>
            <a:off x="3849688" y="6094414"/>
            <a:ext cx="377026" cy="2909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000"/>
              <a:t>2 </a:t>
            </a:r>
          </a:p>
        </p:txBody>
      </p:sp>
      <p:sp>
        <p:nvSpPr>
          <p:cNvPr id="21911" name="Text Box 407"/>
          <p:cNvSpPr txBox="1">
            <a:spLocks noChangeArrowheads="1"/>
          </p:cNvSpPr>
          <p:nvPr/>
        </p:nvSpPr>
        <p:spPr bwMode="auto">
          <a:xfrm>
            <a:off x="8616950" y="6188075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6 </a:t>
            </a:r>
          </a:p>
        </p:txBody>
      </p:sp>
      <p:sp>
        <p:nvSpPr>
          <p:cNvPr id="21912" name="Text Box 408"/>
          <p:cNvSpPr txBox="1">
            <a:spLocks noChangeArrowheads="1"/>
          </p:cNvSpPr>
          <p:nvPr/>
        </p:nvSpPr>
        <p:spPr bwMode="auto">
          <a:xfrm>
            <a:off x="9144000" y="6188075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3 </a:t>
            </a:r>
          </a:p>
        </p:txBody>
      </p:sp>
      <p:sp>
        <p:nvSpPr>
          <p:cNvPr id="21913" name="Text Box 409"/>
          <p:cNvSpPr txBox="1">
            <a:spLocks noChangeArrowheads="1"/>
          </p:cNvSpPr>
          <p:nvPr/>
        </p:nvSpPr>
        <p:spPr bwMode="auto">
          <a:xfrm>
            <a:off x="9551988" y="6165850"/>
            <a:ext cx="438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14 </a:t>
            </a:r>
          </a:p>
        </p:txBody>
      </p:sp>
      <p:sp useBgFill="1">
        <p:nvSpPr>
          <p:cNvPr id="21914" name="Text Box 410"/>
          <p:cNvSpPr txBox="1">
            <a:spLocks noChangeArrowheads="1"/>
          </p:cNvSpPr>
          <p:nvPr/>
        </p:nvSpPr>
        <p:spPr bwMode="auto">
          <a:xfrm>
            <a:off x="6729413" y="6094414"/>
            <a:ext cx="377026" cy="2909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000"/>
              <a:t>9 </a:t>
            </a:r>
          </a:p>
        </p:txBody>
      </p:sp>
      <p:sp>
        <p:nvSpPr>
          <p:cNvPr id="21918" name="Text Box 414"/>
          <p:cNvSpPr txBox="1">
            <a:spLocks noChangeArrowheads="1"/>
          </p:cNvSpPr>
          <p:nvPr/>
        </p:nvSpPr>
        <p:spPr bwMode="auto">
          <a:xfrm>
            <a:off x="8639175" y="5516563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3 </a:t>
            </a:r>
          </a:p>
        </p:txBody>
      </p:sp>
      <p:sp>
        <p:nvSpPr>
          <p:cNvPr id="21919" name="Text Box 415"/>
          <p:cNvSpPr txBox="1">
            <a:spLocks noChangeArrowheads="1"/>
          </p:cNvSpPr>
          <p:nvPr/>
        </p:nvSpPr>
        <p:spPr bwMode="auto">
          <a:xfrm>
            <a:off x="9144000" y="5516563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4 </a:t>
            </a:r>
          </a:p>
        </p:txBody>
      </p:sp>
      <p:sp>
        <p:nvSpPr>
          <p:cNvPr id="21920" name="Text Box 416"/>
          <p:cNvSpPr txBox="1">
            <a:spLocks noChangeArrowheads="1"/>
          </p:cNvSpPr>
          <p:nvPr/>
        </p:nvSpPr>
        <p:spPr bwMode="auto">
          <a:xfrm>
            <a:off x="9551988" y="5516563"/>
            <a:ext cx="438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24 </a:t>
            </a:r>
          </a:p>
        </p:txBody>
      </p:sp>
      <p:sp useBgFill="1">
        <p:nvSpPr>
          <p:cNvPr id="21921" name="Text Box 417"/>
          <p:cNvSpPr txBox="1">
            <a:spLocks noChangeArrowheads="1"/>
          </p:cNvSpPr>
          <p:nvPr/>
        </p:nvSpPr>
        <p:spPr bwMode="auto">
          <a:xfrm>
            <a:off x="5000625" y="6094414"/>
            <a:ext cx="377026" cy="2909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000"/>
              <a:t>7 </a:t>
            </a:r>
          </a:p>
        </p:txBody>
      </p:sp>
      <p:sp>
        <p:nvSpPr>
          <p:cNvPr id="21925" name="Text Box 421"/>
          <p:cNvSpPr txBox="1">
            <a:spLocks noChangeArrowheads="1"/>
          </p:cNvSpPr>
          <p:nvPr/>
        </p:nvSpPr>
        <p:spPr bwMode="auto">
          <a:xfrm>
            <a:off x="8639175" y="4868863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2 </a:t>
            </a:r>
          </a:p>
        </p:txBody>
      </p:sp>
      <p:sp>
        <p:nvSpPr>
          <p:cNvPr id="21926" name="Text Box 422"/>
          <p:cNvSpPr txBox="1">
            <a:spLocks noChangeArrowheads="1"/>
          </p:cNvSpPr>
          <p:nvPr/>
        </p:nvSpPr>
        <p:spPr bwMode="auto">
          <a:xfrm>
            <a:off x="9144000" y="4868863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5 </a:t>
            </a:r>
          </a:p>
        </p:txBody>
      </p:sp>
      <p:sp>
        <p:nvSpPr>
          <p:cNvPr id="21927" name="Text Box 423"/>
          <p:cNvSpPr txBox="1">
            <a:spLocks noChangeArrowheads="1"/>
          </p:cNvSpPr>
          <p:nvPr/>
        </p:nvSpPr>
        <p:spPr bwMode="auto">
          <a:xfrm>
            <a:off x="9551988" y="4868863"/>
            <a:ext cx="438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18 </a:t>
            </a:r>
          </a:p>
        </p:txBody>
      </p:sp>
      <p:sp useBgFill="1">
        <p:nvSpPr>
          <p:cNvPr id="21928" name="Text Box 424"/>
          <p:cNvSpPr txBox="1">
            <a:spLocks noChangeArrowheads="1"/>
          </p:cNvSpPr>
          <p:nvPr/>
        </p:nvSpPr>
        <p:spPr bwMode="auto">
          <a:xfrm>
            <a:off x="4424363" y="6094414"/>
            <a:ext cx="377026" cy="2909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000"/>
              <a:t>5 </a:t>
            </a:r>
          </a:p>
        </p:txBody>
      </p:sp>
      <p:sp>
        <p:nvSpPr>
          <p:cNvPr id="21932" name="Text Box 428"/>
          <p:cNvSpPr txBox="1">
            <a:spLocks noChangeArrowheads="1"/>
          </p:cNvSpPr>
          <p:nvPr/>
        </p:nvSpPr>
        <p:spPr bwMode="auto">
          <a:xfrm>
            <a:off x="8639175" y="4171950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1 </a:t>
            </a:r>
          </a:p>
        </p:txBody>
      </p:sp>
      <p:sp>
        <p:nvSpPr>
          <p:cNvPr id="21933" name="Text Box 429"/>
          <p:cNvSpPr txBox="1">
            <a:spLocks noChangeArrowheads="1"/>
          </p:cNvSpPr>
          <p:nvPr/>
        </p:nvSpPr>
        <p:spPr bwMode="auto">
          <a:xfrm>
            <a:off x="9144000" y="4171950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6 </a:t>
            </a:r>
          </a:p>
        </p:txBody>
      </p:sp>
      <p:sp>
        <p:nvSpPr>
          <p:cNvPr id="21934" name="Text Box 430"/>
          <p:cNvSpPr txBox="1">
            <a:spLocks noChangeArrowheads="1"/>
          </p:cNvSpPr>
          <p:nvPr/>
        </p:nvSpPr>
        <p:spPr bwMode="auto">
          <a:xfrm>
            <a:off x="9551988" y="4171950"/>
            <a:ext cx="438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15 </a:t>
            </a:r>
          </a:p>
        </p:txBody>
      </p:sp>
      <p:sp useBgFill="1">
        <p:nvSpPr>
          <p:cNvPr id="21935" name="Text Box 431"/>
          <p:cNvSpPr txBox="1">
            <a:spLocks noChangeArrowheads="1"/>
          </p:cNvSpPr>
          <p:nvPr/>
        </p:nvSpPr>
        <p:spPr bwMode="auto">
          <a:xfrm>
            <a:off x="3849688" y="6094414"/>
            <a:ext cx="377026" cy="2909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000"/>
              <a:t>3 </a:t>
            </a:r>
          </a:p>
        </p:txBody>
      </p:sp>
      <p:sp>
        <p:nvSpPr>
          <p:cNvPr id="21939" name="Text Box 435"/>
          <p:cNvSpPr txBox="1">
            <a:spLocks noChangeArrowheads="1"/>
          </p:cNvSpPr>
          <p:nvPr/>
        </p:nvSpPr>
        <p:spPr bwMode="auto">
          <a:xfrm>
            <a:off x="8616950" y="5829300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4 </a:t>
            </a:r>
          </a:p>
        </p:txBody>
      </p:sp>
      <p:sp>
        <p:nvSpPr>
          <p:cNvPr id="21940" name="Text Box 436"/>
          <p:cNvSpPr txBox="1">
            <a:spLocks noChangeArrowheads="1"/>
          </p:cNvSpPr>
          <p:nvPr/>
        </p:nvSpPr>
        <p:spPr bwMode="auto">
          <a:xfrm>
            <a:off x="9144000" y="5829300"/>
            <a:ext cx="336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6 </a:t>
            </a:r>
          </a:p>
        </p:txBody>
      </p:sp>
      <p:sp>
        <p:nvSpPr>
          <p:cNvPr id="21941" name="Text Box 437"/>
          <p:cNvSpPr txBox="1">
            <a:spLocks noChangeArrowheads="1"/>
          </p:cNvSpPr>
          <p:nvPr/>
        </p:nvSpPr>
        <p:spPr bwMode="auto">
          <a:xfrm>
            <a:off x="9578976" y="5829300"/>
            <a:ext cx="4048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1600"/>
              <a:t>-7 </a:t>
            </a:r>
          </a:p>
        </p:txBody>
      </p:sp>
      <p:sp useBgFill="1">
        <p:nvSpPr>
          <p:cNvPr id="21942" name="Text Box 438"/>
          <p:cNvSpPr txBox="1">
            <a:spLocks noChangeArrowheads="1"/>
          </p:cNvSpPr>
          <p:nvPr/>
        </p:nvSpPr>
        <p:spPr bwMode="auto">
          <a:xfrm>
            <a:off x="5576888" y="6094414"/>
            <a:ext cx="377026" cy="2909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000"/>
              <a:t>8 </a:t>
            </a:r>
          </a:p>
        </p:txBody>
      </p:sp>
      <p:sp>
        <p:nvSpPr>
          <p:cNvPr id="21944" name="Text Box 440"/>
          <p:cNvSpPr txBox="1">
            <a:spLocks noChangeArrowheads="1"/>
          </p:cNvSpPr>
          <p:nvPr/>
        </p:nvSpPr>
        <p:spPr bwMode="auto">
          <a:xfrm>
            <a:off x="10007600" y="298451"/>
            <a:ext cx="336550" cy="317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600"/>
              <a:t>0 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1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2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3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4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5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6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7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8 </a:t>
            </a:r>
          </a:p>
        </p:txBody>
      </p:sp>
      <p:sp>
        <p:nvSpPr>
          <p:cNvPr id="21945" name="Text Box 441"/>
          <p:cNvSpPr txBox="1">
            <a:spLocks noChangeArrowheads="1"/>
          </p:cNvSpPr>
          <p:nvPr/>
        </p:nvSpPr>
        <p:spPr bwMode="auto">
          <a:xfrm>
            <a:off x="10007600" y="3357564"/>
            <a:ext cx="336550" cy="317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600"/>
              <a:t>0 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1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2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3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4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5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6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7</a:t>
            </a:r>
          </a:p>
          <a:p>
            <a:pPr>
              <a:lnSpc>
                <a:spcPct val="140000"/>
              </a:lnSpc>
            </a:pPr>
            <a:r>
              <a:rPr lang="en-US" altLang="zh-CN" sz="1600"/>
              <a:t>8 </a:t>
            </a:r>
          </a:p>
        </p:txBody>
      </p:sp>
      <p:grpSp>
        <p:nvGrpSpPr>
          <p:cNvPr id="21948" name="Group 444"/>
          <p:cNvGrpSpPr>
            <a:grpSpLocks/>
          </p:cNvGrpSpPr>
          <p:nvPr/>
        </p:nvGrpSpPr>
        <p:grpSpPr bwMode="auto">
          <a:xfrm>
            <a:off x="7896226" y="620713"/>
            <a:ext cx="576263" cy="457200"/>
            <a:chOff x="3923" y="391"/>
            <a:chExt cx="363" cy="288"/>
          </a:xfrm>
        </p:grpSpPr>
        <p:sp>
          <p:nvSpPr>
            <p:cNvPr id="21946" name="Line 442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47" name="Text Box 443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p</a:t>
              </a:r>
            </a:p>
          </p:txBody>
        </p:sp>
      </p:grpSp>
      <p:sp>
        <p:nvSpPr>
          <p:cNvPr id="21949" name="Line 445"/>
          <p:cNvSpPr>
            <a:spLocks noChangeShapeType="1"/>
          </p:cNvSpPr>
          <p:nvPr/>
        </p:nvSpPr>
        <p:spPr bwMode="auto">
          <a:xfrm>
            <a:off x="4583113" y="4941888"/>
            <a:ext cx="0" cy="215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21950" name="Group 446"/>
          <p:cNvGrpSpPr>
            <a:grpSpLocks/>
          </p:cNvGrpSpPr>
          <p:nvPr/>
        </p:nvGrpSpPr>
        <p:grpSpPr bwMode="auto">
          <a:xfrm>
            <a:off x="7896226" y="4437063"/>
            <a:ext cx="576263" cy="457200"/>
            <a:chOff x="3923" y="391"/>
            <a:chExt cx="363" cy="288"/>
          </a:xfrm>
        </p:grpSpPr>
        <p:sp>
          <p:nvSpPr>
            <p:cNvPr id="21951" name="Line 447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52" name="Text Box 448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q</a:t>
              </a:r>
            </a:p>
          </p:txBody>
        </p:sp>
      </p:grpSp>
      <p:grpSp>
        <p:nvGrpSpPr>
          <p:cNvPr id="21954" name="Group 450"/>
          <p:cNvGrpSpPr>
            <a:grpSpLocks/>
          </p:cNvGrpSpPr>
          <p:nvPr/>
        </p:nvGrpSpPr>
        <p:grpSpPr bwMode="auto">
          <a:xfrm>
            <a:off x="7896226" y="981075"/>
            <a:ext cx="576263" cy="457200"/>
            <a:chOff x="3923" y="391"/>
            <a:chExt cx="363" cy="288"/>
          </a:xfrm>
        </p:grpSpPr>
        <p:sp>
          <p:nvSpPr>
            <p:cNvPr id="21955" name="Line 451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56" name="Text Box 452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p</a:t>
              </a:r>
            </a:p>
          </p:txBody>
        </p:sp>
      </p:grpSp>
      <p:sp useBgFill="1">
        <p:nvSpPr>
          <p:cNvPr id="21957" name="Rectangle 453"/>
          <p:cNvSpPr>
            <a:spLocks noChangeArrowheads="1"/>
          </p:cNvSpPr>
          <p:nvPr/>
        </p:nvSpPr>
        <p:spPr bwMode="auto">
          <a:xfrm>
            <a:off x="7967664" y="765175"/>
            <a:ext cx="504825" cy="2873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21958" name="Rectangle 454"/>
          <p:cNvSpPr>
            <a:spLocks noChangeArrowheads="1"/>
          </p:cNvSpPr>
          <p:nvPr/>
        </p:nvSpPr>
        <p:spPr bwMode="auto">
          <a:xfrm>
            <a:off x="4440239" y="4870450"/>
            <a:ext cx="287337" cy="2873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59" name="Line 455"/>
          <p:cNvSpPr>
            <a:spLocks noChangeShapeType="1"/>
          </p:cNvSpPr>
          <p:nvPr/>
        </p:nvSpPr>
        <p:spPr bwMode="auto">
          <a:xfrm>
            <a:off x="5159375" y="4941888"/>
            <a:ext cx="0" cy="215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21960" name="Group 456"/>
          <p:cNvGrpSpPr>
            <a:grpSpLocks/>
          </p:cNvGrpSpPr>
          <p:nvPr/>
        </p:nvGrpSpPr>
        <p:grpSpPr bwMode="auto">
          <a:xfrm>
            <a:off x="7896226" y="5084763"/>
            <a:ext cx="576263" cy="457200"/>
            <a:chOff x="3923" y="391"/>
            <a:chExt cx="363" cy="288"/>
          </a:xfrm>
        </p:grpSpPr>
        <p:sp>
          <p:nvSpPr>
            <p:cNvPr id="21961" name="Line 457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62" name="Text Box 458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q</a:t>
              </a:r>
            </a:p>
          </p:txBody>
        </p:sp>
      </p:grpSp>
      <p:sp useBgFill="1">
        <p:nvSpPr>
          <p:cNvPr id="21963" name="Rectangle 459"/>
          <p:cNvSpPr>
            <a:spLocks noChangeArrowheads="1"/>
          </p:cNvSpPr>
          <p:nvPr/>
        </p:nvSpPr>
        <p:spPr bwMode="auto">
          <a:xfrm>
            <a:off x="7967664" y="4581525"/>
            <a:ext cx="504825" cy="2873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964" name="Group 460"/>
          <p:cNvGrpSpPr>
            <a:grpSpLocks/>
          </p:cNvGrpSpPr>
          <p:nvPr/>
        </p:nvGrpSpPr>
        <p:grpSpPr bwMode="auto">
          <a:xfrm>
            <a:off x="7896226" y="1316038"/>
            <a:ext cx="576263" cy="457200"/>
            <a:chOff x="3923" y="391"/>
            <a:chExt cx="363" cy="288"/>
          </a:xfrm>
        </p:grpSpPr>
        <p:sp>
          <p:nvSpPr>
            <p:cNvPr id="21965" name="Line 461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66" name="Text Box 462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p</a:t>
              </a:r>
            </a:p>
          </p:txBody>
        </p:sp>
      </p:grpSp>
      <p:sp useBgFill="1">
        <p:nvSpPr>
          <p:cNvPr id="21967" name="Rectangle 463"/>
          <p:cNvSpPr>
            <a:spLocks noChangeArrowheads="1"/>
          </p:cNvSpPr>
          <p:nvPr/>
        </p:nvSpPr>
        <p:spPr bwMode="auto">
          <a:xfrm>
            <a:off x="7967664" y="1100139"/>
            <a:ext cx="504825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68" name="Line 464"/>
          <p:cNvSpPr>
            <a:spLocks noChangeShapeType="1"/>
          </p:cNvSpPr>
          <p:nvPr/>
        </p:nvSpPr>
        <p:spPr bwMode="auto">
          <a:xfrm>
            <a:off x="4008438" y="4941888"/>
            <a:ext cx="0" cy="215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21969" name="Rectangle 465"/>
          <p:cNvSpPr>
            <a:spLocks noChangeArrowheads="1"/>
          </p:cNvSpPr>
          <p:nvPr/>
        </p:nvSpPr>
        <p:spPr bwMode="auto">
          <a:xfrm>
            <a:off x="5016500" y="4868864"/>
            <a:ext cx="287338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21976" name="Rectangle 472"/>
          <p:cNvSpPr>
            <a:spLocks noChangeArrowheads="1"/>
          </p:cNvSpPr>
          <p:nvPr/>
        </p:nvSpPr>
        <p:spPr bwMode="auto">
          <a:xfrm>
            <a:off x="7967664" y="5229225"/>
            <a:ext cx="504825" cy="2873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977" name="Group 473"/>
          <p:cNvGrpSpPr>
            <a:grpSpLocks/>
          </p:cNvGrpSpPr>
          <p:nvPr/>
        </p:nvGrpSpPr>
        <p:grpSpPr bwMode="auto">
          <a:xfrm>
            <a:off x="7896226" y="3763963"/>
            <a:ext cx="576263" cy="457200"/>
            <a:chOff x="3923" y="391"/>
            <a:chExt cx="363" cy="288"/>
          </a:xfrm>
        </p:grpSpPr>
        <p:sp>
          <p:nvSpPr>
            <p:cNvPr id="21978" name="Line 474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79" name="Text Box 475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q</a:t>
              </a:r>
            </a:p>
          </p:txBody>
        </p:sp>
      </p:grpSp>
      <p:grpSp>
        <p:nvGrpSpPr>
          <p:cNvPr id="21980" name="Group 476"/>
          <p:cNvGrpSpPr>
            <a:grpSpLocks/>
          </p:cNvGrpSpPr>
          <p:nvPr/>
        </p:nvGrpSpPr>
        <p:grpSpPr bwMode="auto">
          <a:xfrm>
            <a:off x="7896226" y="1628775"/>
            <a:ext cx="576263" cy="457200"/>
            <a:chOff x="3923" y="391"/>
            <a:chExt cx="363" cy="288"/>
          </a:xfrm>
        </p:grpSpPr>
        <p:sp>
          <p:nvSpPr>
            <p:cNvPr id="21981" name="Line 477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82" name="Text Box 478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p</a:t>
              </a:r>
            </a:p>
          </p:txBody>
        </p:sp>
      </p:grpSp>
      <p:sp useBgFill="1">
        <p:nvSpPr>
          <p:cNvPr id="21983" name="Rectangle 479"/>
          <p:cNvSpPr>
            <a:spLocks noChangeArrowheads="1"/>
          </p:cNvSpPr>
          <p:nvPr/>
        </p:nvSpPr>
        <p:spPr bwMode="auto">
          <a:xfrm>
            <a:off x="7967664" y="1485900"/>
            <a:ext cx="504825" cy="2873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84" name="Line 480"/>
          <p:cNvSpPr>
            <a:spLocks noChangeShapeType="1"/>
          </p:cNvSpPr>
          <p:nvPr/>
        </p:nvSpPr>
        <p:spPr bwMode="auto">
          <a:xfrm>
            <a:off x="6888163" y="4941888"/>
            <a:ext cx="0" cy="215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21985" name="Rectangle 481"/>
          <p:cNvSpPr>
            <a:spLocks noChangeArrowheads="1"/>
          </p:cNvSpPr>
          <p:nvPr/>
        </p:nvSpPr>
        <p:spPr bwMode="auto">
          <a:xfrm>
            <a:off x="3863975" y="4868864"/>
            <a:ext cx="287338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986" name="Group 482"/>
          <p:cNvGrpSpPr>
            <a:grpSpLocks/>
          </p:cNvGrpSpPr>
          <p:nvPr/>
        </p:nvGrpSpPr>
        <p:grpSpPr bwMode="auto">
          <a:xfrm>
            <a:off x="7896226" y="6067425"/>
            <a:ext cx="576263" cy="457200"/>
            <a:chOff x="3923" y="391"/>
            <a:chExt cx="363" cy="288"/>
          </a:xfrm>
        </p:grpSpPr>
        <p:sp>
          <p:nvSpPr>
            <p:cNvPr id="21987" name="Line 483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88" name="Text Box 484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q</a:t>
              </a:r>
            </a:p>
          </p:txBody>
        </p:sp>
      </p:grpSp>
      <p:sp useBgFill="1">
        <p:nvSpPr>
          <p:cNvPr id="21989" name="Rectangle 485"/>
          <p:cNvSpPr>
            <a:spLocks noChangeArrowheads="1"/>
          </p:cNvSpPr>
          <p:nvPr/>
        </p:nvSpPr>
        <p:spPr bwMode="auto">
          <a:xfrm>
            <a:off x="7967664" y="3933825"/>
            <a:ext cx="504825" cy="2873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990" name="Group 486"/>
          <p:cNvGrpSpPr>
            <a:grpSpLocks/>
          </p:cNvGrpSpPr>
          <p:nvPr/>
        </p:nvGrpSpPr>
        <p:grpSpPr bwMode="auto">
          <a:xfrm>
            <a:off x="7896226" y="1963738"/>
            <a:ext cx="576263" cy="457200"/>
            <a:chOff x="3923" y="391"/>
            <a:chExt cx="363" cy="288"/>
          </a:xfrm>
        </p:grpSpPr>
        <p:sp>
          <p:nvSpPr>
            <p:cNvPr id="21991" name="Line 487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92" name="Text Box 488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p</a:t>
              </a:r>
            </a:p>
          </p:txBody>
        </p:sp>
      </p:grpSp>
      <p:sp useBgFill="1">
        <p:nvSpPr>
          <p:cNvPr id="21993" name="Rectangle 489"/>
          <p:cNvSpPr>
            <a:spLocks noChangeArrowheads="1"/>
          </p:cNvSpPr>
          <p:nvPr/>
        </p:nvSpPr>
        <p:spPr bwMode="auto">
          <a:xfrm>
            <a:off x="7967664" y="1773239"/>
            <a:ext cx="504825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94" name="Line 490"/>
          <p:cNvSpPr>
            <a:spLocks noChangeShapeType="1"/>
          </p:cNvSpPr>
          <p:nvPr/>
        </p:nvSpPr>
        <p:spPr bwMode="auto">
          <a:xfrm>
            <a:off x="5159375" y="4941888"/>
            <a:ext cx="0" cy="215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21995" name="Rectangle 491"/>
          <p:cNvSpPr>
            <a:spLocks noChangeArrowheads="1"/>
          </p:cNvSpPr>
          <p:nvPr/>
        </p:nvSpPr>
        <p:spPr bwMode="auto">
          <a:xfrm>
            <a:off x="6745289" y="4868864"/>
            <a:ext cx="287337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996" name="Group 492"/>
          <p:cNvGrpSpPr>
            <a:grpSpLocks/>
          </p:cNvGrpSpPr>
          <p:nvPr/>
        </p:nvGrpSpPr>
        <p:grpSpPr bwMode="auto">
          <a:xfrm>
            <a:off x="7896226" y="5419725"/>
            <a:ext cx="576263" cy="457200"/>
            <a:chOff x="3923" y="391"/>
            <a:chExt cx="363" cy="288"/>
          </a:xfrm>
        </p:grpSpPr>
        <p:sp>
          <p:nvSpPr>
            <p:cNvPr id="21997" name="Line 493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98" name="Text Box 494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q</a:t>
              </a:r>
            </a:p>
          </p:txBody>
        </p:sp>
      </p:grpSp>
      <p:sp useBgFill="1">
        <p:nvSpPr>
          <p:cNvPr id="21999" name="Rectangle 495"/>
          <p:cNvSpPr>
            <a:spLocks noChangeArrowheads="1"/>
          </p:cNvSpPr>
          <p:nvPr/>
        </p:nvSpPr>
        <p:spPr bwMode="auto">
          <a:xfrm>
            <a:off x="7967664" y="6237289"/>
            <a:ext cx="504825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000" name="Group 496"/>
          <p:cNvGrpSpPr>
            <a:grpSpLocks/>
          </p:cNvGrpSpPr>
          <p:nvPr/>
        </p:nvGrpSpPr>
        <p:grpSpPr bwMode="auto">
          <a:xfrm>
            <a:off x="7896226" y="2324100"/>
            <a:ext cx="576263" cy="457200"/>
            <a:chOff x="3923" y="391"/>
            <a:chExt cx="363" cy="288"/>
          </a:xfrm>
        </p:grpSpPr>
        <p:sp>
          <p:nvSpPr>
            <p:cNvPr id="22001" name="Line 497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02" name="Text Box 498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p</a:t>
              </a:r>
            </a:p>
          </p:txBody>
        </p:sp>
      </p:grpSp>
      <p:sp useBgFill="1">
        <p:nvSpPr>
          <p:cNvPr id="22003" name="Rectangle 499"/>
          <p:cNvSpPr>
            <a:spLocks noChangeArrowheads="1"/>
          </p:cNvSpPr>
          <p:nvPr/>
        </p:nvSpPr>
        <p:spPr bwMode="auto">
          <a:xfrm>
            <a:off x="7967664" y="2133600"/>
            <a:ext cx="504825" cy="2873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04" name="Line 500"/>
          <p:cNvSpPr>
            <a:spLocks noChangeShapeType="1"/>
          </p:cNvSpPr>
          <p:nvPr/>
        </p:nvSpPr>
        <p:spPr bwMode="auto">
          <a:xfrm>
            <a:off x="4583113" y="4941888"/>
            <a:ext cx="0" cy="215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22005" name="Rectangle 501"/>
          <p:cNvSpPr>
            <a:spLocks noChangeArrowheads="1"/>
          </p:cNvSpPr>
          <p:nvPr/>
        </p:nvSpPr>
        <p:spPr bwMode="auto">
          <a:xfrm>
            <a:off x="5016500" y="4868864"/>
            <a:ext cx="287338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006" name="Group 502"/>
          <p:cNvGrpSpPr>
            <a:grpSpLocks/>
          </p:cNvGrpSpPr>
          <p:nvPr/>
        </p:nvGrpSpPr>
        <p:grpSpPr bwMode="auto">
          <a:xfrm>
            <a:off x="7896226" y="4772025"/>
            <a:ext cx="576263" cy="457200"/>
            <a:chOff x="3923" y="391"/>
            <a:chExt cx="363" cy="288"/>
          </a:xfrm>
        </p:grpSpPr>
        <p:sp>
          <p:nvSpPr>
            <p:cNvPr id="22007" name="Line 503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08" name="Text Box 504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q</a:t>
              </a:r>
            </a:p>
          </p:txBody>
        </p:sp>
      </p:grpSp>
      <p:sp useBgFill="1">
        <p:nvSpPr>
          <p:cNvPr id="22009" name="Rectangle 505"/>
          <p:cNvSpPr>
            <a:spLocks noChangeArrowheads="1"/>
          </p:cNvSpPr>
          <p:nvPr/>
        </p:nvSpPr>
        <p:spPr bwMode="auto">
          <a:xfrm>
            <a:off x="7967664" y="5589589"/>
            <a:ext cx="504825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010" name="Group 506"/>
          <p:cNvGrpSpPr>
            <a:grpSpLocks/>
          </p:cNvGrpSpPr>
          <p:nvPr/>
        </p:nvGrpSpPr>
        <p:grpSpPr bwMode="auto">
          <a:xfrm>
            <a:off x="7896226" y="2636838"/>
            <a:ext cx="576263" cy="457200"/>
            <a:chOff x="3923" y="391"/>
            <a:chExt cx="363" cy="288"/>
          </a:xfrm>
        </p:grpSpPr>
        <p:sp>
          <p:nvSpPr>
            <p:cNvPr id="22011" name="Line 507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12" name="Text Box 508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p</a:t>
              </a:r>
            </a:p>
          </p:txBody>
        </p:sp>
      </p:grpSp>
      <p:sp useBgFill="1">
        <p:nvSpPr>
          <p:cNvPr id="22013" name="Rectangle 509"/>
          <p:cNvSpPr>
            <a:spLocks noChangeArrowheads="1"/>
          </p:cNvSpPr>
          <p:nvPr/>
        </p:nvSpPr>
        <p:spPr bwMode="auto">
          <a:xfrm>
            <a:off x="7967664" y="2493964"/>
            <a:ext cx="504825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14" name="Line 510"/>
          <p:cNvSpPr>
            <a:spLocks noChangeShapeType="1"/>
          </p:cNvSpPr>
          <p:nvPr/>
        </p:nvSpPr>
        <p:spPr bwMode="auto">
          <a:xfrm>
            <a:off x="4008438" y="4941888"/>
            <a:ext cx="0" cy="215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22015" name="Rectangle 511"/>
          <p:cNvSpPr>
            <a:spLocks noChangeArrowheads="1"/>
          </p:cNvSpPr>
          <p:nvPr/>
        </p:nvSpPr>
        <p:spPr bwMode="auto">
          <a:xfrm>
            <a:off x="4440239" y="4868864"/>
            <a:ext cx="287337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016" name="Group 512"/>
          <p:cNvGrpSpPr>
            <a:grpSpLocks/>
          </p:cNvGrpSpPr>
          <p:nvPr/>
        </p:nvGrpSpPr>
        <p:grpSpPr bwMode="auto">
          <a:xfrm>
            <a:off x="7896226" y="4076700"/>
            <a:ext cx="576263" cy="457200"/>
            <a:chOff x="3923" y="391"/>
            <a:chExt cx="363" cy="288"/>
          </a:xfrm>
        </p:grpSpPr>
        <p:sp>
          <p:nvSpPr>
            <p:cNvPr id="22017" name="Line 513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18" name="Text Box 514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q</a:t>
              </a:r>
            </a:p>
          </p:txBody>
        </p:sp>
      </p:grpSp>
      <p:sp useBgFill="1">
        <p:nvSpPr>
          <p:cNvPr id="22019" name="Rectangle 515"/>
          <p:cNvSpPr>
            <a:spLocks noChangeArrowheads="1"/>
          </p:cNvSpPr>
          <p:nvPr/>
        </p:nvSpPr>
        <p:spPr bwMode="auto">
          <a:xfrm>
            <a:off x="7967664" y="4941889"/>
            <a:ext cx="504825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020" name="Group 516"/>
          <p:cNvGrpSpPr>
            <a:grpSpLocks/>
          </p:cNvGrpSpPr>
          <p:nvPr/>
        </p:nvGrpSpPr>
        <p:grpSpPr bwMode="auto">
          <a:xfrm>
            <a:off x="7896226" y="2971800"/>
            <a:ext cx="576263" cy="457200"/>
            <a:chOff x="3923" y="391"/>
            <a:chExt cx="363" cy="288"/>
          </a:xfrm>
        </p:grpSpPr>
        <p:sp>
          <p:nvSpPr>
            <p:cNvPr id="22021" name="Line 517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22" name="Text Box 518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p</a:t>
              </a:r>
            </a:p>
          </p:txBody>
        </p:sp>
      </p:grpSp>
      <p:sp useBgFill="1">
        <p:nvSpPr>
          <p:cNvPr id="22023" name="Rectangle 519"/>
          <p:cNvSpPr>
            <a:spLocks noChangeArrowheads="1"/>
          </p:cNvSpPr>
          <p:nvPr/>
        </p:nvSpPr>
        <p:spPr bwMode="auto">
          <a:xfrm>
            <a:off x="7967664" y="2781300"/>
            <a:ext cx="504825" cy="2873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4" name="Line 520"/>
          <p:cNvSpPr>
            <a:spLocks noChangeShapeType="1"/>
          </p:cNvSpPr>
          <p:nvPr/>
        </p:nvSpPr>
        <p:spPr bwMode="auto">
          <a:xfrm>
            <a:off x="5735638" y="4941888"/>
            <a:ext cx="0" cy="215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22025" name="Rectangle 521"/>
          <p:cNvSpPr>
            <a:spLocks noChangeArrowheads="1"/>
          </p:cNvSpPr>
          <p:nvPr/>
        </p:nvSpPr>
        <p:spPr bwMode="auto">
          <a:xfrm>
            <a:off x="3863975" y="4868864"/>
            <a:ext cx="287338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026" name="Group 522"/>
          <p:cNvGrpSpPr>
            <a:grpSpLocks/>
          </p:cNvGrpSpPr>
          <p:nvPr/>
        </p:nvGrpSpPr>
        <p:grpSpPr bwMode="auto">
          <a:xfrm>
            <a:off x="7896226" y="5734050"/>
            <a:ext cx="576263" cy="457200"/>
            <a:chOff x="3923" y="391"/>
            <a:chExt cx="363" cy="288"/>
          </a:xfrm>
        </p:grpSpPr>
        <p:sp>
          <p:nvSpPr>
            <p:cNvPr id="22027" name="Line 523"/>
            <p:cNvSpPr>
              <a:spLocks noChangeShapeType="1"/>
            </p:cNvSpPr>
            <p:nvPr/>
          </p:nvSpPr>
          <p:spPr bwMode="auto">
            <a:xfrm>
              <a:off x="4104" y="57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28" name="Text Box 524"/>
            <p:cNvSpPr txBox="1">
              <a:spLocks noChangeArrowheads="1"/>
            </p:cNvSpPr>
            <p:nvPr/>
          </p:nvSpPr>
          <p:spPr bwMode="auto">
            <a:xfrm>
              <a:off x="3923" y="39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q</a:t>
              </a:r>
            </a:p>
          </p:txBody>
        </p:sp>
      </p:grpSp>
      <p:sp useBgFill="1">
        <p:nvSpPr>
          <p:cNvPr id="22029" name="Rectangle 525"/>
          <p:cNvSpPr>
            <a:spLocks noChangeArrowheads="1"/>
          </p:cNvSpPr>
          <p:nvPr/>
        </p:nvSpPr>
        <p:spPr bwMode="auto">
          <a:xfrm>
            <a:off x="7967664" y="4221164"/>
            <a:ext cx="504825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030" name="Object 526"/>
          <p:cNvGraphicFramePr>
            <a:graphicFrameLocks noChangeAspect="1"/>
          </p:cNvGraphicFramePr>
          <p:nvPr/>
        </p:nvGraphicFramePr>
        <p:xfrm>
          <a:off x="4440238" y="1412876"/>
          <a:ext cx="3816350" cy="338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31840" imgH="1803240" progId="Equation.3">
                  <p:embed/>
                </p:oleObj>
              </mc:Choice>
              <mc:Fallback>
                <p:oleObj name="公式" r:id="rId3" imgW="2031840" imgH="1803240" progId="Equation.3">
                  <p:embed/>
                  <p:pic>
                    <p:nvPicPr>
                      <p:cNvPr id="0" name="Picture 5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1412876"/>
                        <a:ext cx="3816350" cy="3387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18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18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18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18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21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218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21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1" dur="500"/>
                                        <p:tgtEl>
                                          <p:spTgt spid="219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1000"/>
                                        <p:tgtEl>
                                          <p:spTgt spid="2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2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1000"/>
                                        <p:tgtEl>
                                          <p:spTgt spid="2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1000"/>
                                        <p:tgtEl>
                                          <p:spTgt spid="2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1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1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1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1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1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1000"/>
                                        <p:tgtEl>
                                          <p:spTgt spid="2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2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1000"/>
                                        <p:tgtEl>
                                          <p:spTgt spid="2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2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1000"/>
                                        <p:tgtEl>
                                          <p:spTgt spid="2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1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1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1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21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1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1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2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1000"/>
                                        <p:tgtEl>
                                          <p:spTgt spid="2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2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1000"/>
                                        <p:tgtEl>
                                          <p:spTgt spid="2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2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"/>
                            </p:stCondLst>
                            <p:childTnLst>
                              <p:par>
                                <p:cTn id="2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1000"/>
                                        <p:tgtEl>
                                          <p:spTgt spid="2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1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1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1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21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1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1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21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1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2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1000"/>
                                        <p:tgtEl>
                                          <p:spTgt spid="2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2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500"/>
                            </p:stCondLst>
                            <p:childTnLst>
                              <p:par>
                                <p:cTn id="2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1000"/>
                                        <p:tgtEl>
                                          <p:spTgt spid="2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500"/>
                                        <p:tgtEl>
                                          <p:spTgt spid="2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1000"/>
                                        <p:tgtEl>
                                          <p:spTgt spid="2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21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21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21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21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21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21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21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21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500"/>
                                        <p:tgtEl>
                                          <p:spTgt spid="2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500"/>
                            </p:stCondLst>
                            <p:childTnLst>
                              <p:par>
                                <p:cTn id="2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1000"/>
                                        <p:tgtEl>
                                          <p:spTgt spid="2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2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500"/>
                            </p:stCondLst>
                            <p:childTnLst>
                              <p:par>
                                <p:cTn id="3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3" dur="1000"/>
                                        <p:tgtEl>
                                          <p:spTgt spid="2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8" dur="500"/>
                                        <p:tgtEl>
                                          <p:spTgt spid="2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500"/>
                            </p:stCondLst>
                            <p:childTnLst>
                              <p:par>
                                <p:cTn id="3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2" dur="1000"/>
                                        <p:tgtEl>
                                          <p:spTgt spid="2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21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500" fill="hold"/>
                                        <p:tgtEl>
                                          <p:spTgt spid="21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21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21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21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21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5" dur="500" fill="hold"/>
                                        <p:tgtEl>
                                          <p:spTgt spid="21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21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1" dur="500"/>
                                        <p:tgtEl>
                                          <p:spTgt spid="2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500"/>
                            </p:stCondLst>
                            <p:childTnLst>
                              <p:par>
                                <p:cTn id="3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5" dur="1000"/>
                                        <p:tgtEl>
                                          <p:spTgt spid="2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0" dur="500"/>
                                        <p:tgtEl>
                                          <p:spTgt spid="2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500"/>
                            </p:stCondLst>
                            <p:childTnLst>
                              <p:par>
                                <p:cTn id="3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4" dur="1000"/>
                                        <p:tgtEl>
                                          <p:spTgt spid="2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9" dur="500"/>
                                        <p:tgtEl>
                                          <p:spTgt spid="2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500"/>
                            </p:stCondLst>
                            <p:childTnLst>
                              <p:par>
                                <p:cTn id="3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3" dur="1000"/>
                                        <p:tgtEl>
                                          <p:spTgt spid="2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21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21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4" dur="500" fill="hold"/>
                                        <p:tgtEl>
                                          <p:spTgt spid="21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00" fill="hold"/>
                                        <p:tgtEl>
                                          <p:spTgt spid="21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21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500" fill="hold"/>
                                        <p:tgtEl>
                                          <p:spTgt spid="21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6" dur="500" fill="hold"/>
                                        <p:tgtEl>
                                          <p:spTgt spid="21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21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2" dur="500"/>
                                        <p:tgtEl>
                                          <p:spTgt spid="2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500"/>
                            </p:stCondLst>
                            <p:childTnLst>
                              <p:par>
                                <p:cTn id="3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6" dur="1000"/>
                                        <p:tgtEl>
                                          <p:spTgt spid="2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1" dur="500"/>
                                        <p:tgtEl>
                                          <p:spTgt spid="2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500"/>
                            </p:stCondLst>
                            <p:childTnLst>
                              <p:par>
                                <p:cTn id="4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5" dur="1000"/>
                                        <p:tgtEl>
                                          <p:spTgt spid="2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0" dur="500"/>
                                        <p:tgtEl>
                                          <p:spTgt spid="2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4" dur="1000"/>
                                        <p:tgtEl>
                                          <p:spTgt spid="2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9" dur="500" fill="hold"/>
                                        <p:tgtEl>
                                          <p:spTgt spid="21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500" fill="hold"/>
                                        <p:tgtEl>
                                          <p:spTgt spid="21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5" dur="500" fill="hold"/>
                                        <p:tgtEl>
                                          <p:spTgt spid="21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500" fill="hold"/>
                                        <p:tgtEl>
                                          <p:spTgt spid="21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1" dur="500" fill="hold"/>
                                        <p:tgtEl>
                                          <p:spTgt spid="21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2" dur="500" fill="hold"/>
                                        <p:tgtEl>
                                          <p:spTgt spid="21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7" dur="500" fill="hold"/>
                                        <p:tgtEl>
                                          <p:spTgt spid="21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21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3" dur="500"/>
                                        <p:tgtEl>
                                          <p:spTgt spid="2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53" grpId="0" animBg="1"/>
      <p:bldP spid="21893" grpId="0" animBg="1"/>
      <p:bldP spid="21887" grpId="0" animBg="1"/>
      <p:bldP spid="21885" grpId="0" animBg="1"/>
      <p:bldP spid="21883" grpId="0" animBg="1"/>
      <p:bldP spid="21881" grpId="0" animBg="1"/>
      <p:bldP spid="21879" grpId="0" animBg="1"/>
      <p:bldP spid="21877" grpId="0" animBg="1"/>
      <p:bldP spid="21882" grpId="0"/>
      <p:bldP spid="21884" grpId="0"/>
      <p:bldP spid="21886" grpId="0"/>
      <p:bldP spid="21888" grpId="0" animBg="1"/>
      <p:bldP spid="21897" grpId="0"/>
      <p:bldP spid="21898" grpId="0"/>
      <p:bldP spid="21899" grpId="0"/>
      <p:bldP spid="21900" grpId="0" animBg="1"/>
      <p:bldP spid="21904" grpId="0"/>
      <p:bldP spid="21905" grpId="0"/>
      <p:bldP spid="21906" grpId="0"/>
      <p:bldP spid="21907" grpId="0" animBg="1"/>
      <p:bldP spid="21911" grpId="0"/>
      <p:bldP spid="21912" grpId="0"/>
      <p:bldP spid="21913" grpId="0"/>
      <p:bldP spid="21914" grpId="0" animBg="1"/>
      <p:bldP spid="21918" grpId="0"/>
      <p:bldP spid="21919" grpId="0"/>
      <p:bldP spid="21920" grpId="0"/>
      <p:bldP spid="21921" grpId="0" animBg="1"/>
      <p:bldP spid="21925" grpId="0"/>
      <p:bldP spid="21926" grpId="0"/>
      <p:bldP spid="21927" grpId="0"/>
      <p:bldP spid="21928" grpId="0" animBg="1"/>
      <p:bldP spid="21932" grpId="0"/>
      <p:bldP spid="21933" grpId="0"/>
      <p:bldP spid="21934" grpId="0"/>
      <p:bldP spid="21935" grpId="0" animBg="1"/>
      <p:bldP spid="21939" grpId="0"/>
      <p:bldP spid="21940" grpId="0"/>
      <p:bldP spid="21941" grpId="0"/>
      <p:bldP spid="21942" grpId="0" animBg="1"/>
      <p:bldP spid="21949" grpId="0" animBg="1"/>
      <p:bldP spid="21957" grpId="0" animBg="1"/>
      <p:bldP spid="21958" grpId="0" animBg="1"/>
      <p:bldP spid="21959" grpId="0" animBg="1"/>
      <p:bldP spid="21963" grpId="0" animBg="1"/>
      <p:bldP spid="21967" grpId="0" animBg="1"/>
      <p:bldP spid="21968" grpId="0" animBg="1"/>
      <p:bldP spid="21969" grpId="0" animBg="1"/>
      <p:bldP spid="21976" grpId="0" animBg="1"/>
      <p:bldP spid="21983" grpId="0" animBg="1"/>
      <p:bldP spid="21984" grpId="0" animBg="1"/>
      <p:bldP spid="21985" grpId="0" animBg="1"/>
      <p:bldP spid="21989" grpId="0" animBg="1"/>
      <p:bldP spid="21993" grpId="0" animBg="1"/>
      <p:bldP spid="21994" grpId="0" animBg="1"/>
      <p:bldP spid="21995" grpId="0" animBg="1"/>
      <p:bldP spid="21999" grpId="0" animBg="1"/>
      <p:bldP spid="22003" grpId="0" animBg="1"/>
      <p:bldP spid="22004" grpId="0" animBg="1"/>
      <p:bldP spid="22005" grpId="0" animBg="1"/>
      <p:bldP spid="22009" grpId="0" animBg="1"/>
      <p:bldP spid="22013" grpId="0" animBg="1"/>
      <p:bldP spid="22014" grpId="0" animBg="1"/>
      <p:bldP spid="22015" grpId="0" animBg="1"/>
      <p:bldP spid="22019" grpId="0" animBg="1"/>
      <p:bldP spid="22023" grpId="0" animBg="1"/>
      <p:bldP spid="22024" grpId="0" animBg="1"/>
      <p:bldP spid="22025" grpId="0" animBg="1"/>
      <p:bldP spid="220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70" name="Group 142"/>
          <p:cNvGrpSpPr>
            <a:grpSpLocks/>
          </p:cNvGrpSpPr>
          <p:nvPr/>
        </p:nvGrpSpPr>
        <p:grpSpPr bwMode="auto">
          <a:xfrm>
            <a:off x="4079876" y="1844675"/>
            <a:ext cx="1152525" cy="2305050"/>
            <a:chOff x="1610" y="1162"/>
            <a:chExt cx="726" cy="1452"/>
          </a:xfrm>
        </p:grpSpPr>
        <p:sp>
          <p:nvSpPr>
            <p:cNvPr id="22666" name="Rectangle 138"/>
            <p:cNvSpPr>
              <a:spLocks noChangeArrowheads="1"/>
            </p:cNvSpPr>
            <p:nvPr/>
          </p:nvSpPr>
          <p:spPr bwMode="auto">
            <a:xfrm>
              <a:off x="1882" y="1162"/>
              <a:ext cx="408" cy="182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7" name="Rectangle 139"/>
            <p:cNvSpPr>
              <a:spLocks noChangeArrowheads="1"/>
            </p:cNvSpPr>
            <p:nvPr/>
          </p:nvSpPr>
          <p:spPr bwMode="auto">
            <a:xfrm>
              <a:off x="1610" y="1388"/>
              <a:ext cx="408" cy="182"/>
            </a:xfrm>
            <a:prstGeom prst="rect">
              <a:avLst/>
            </a:prstGeom>
            <a:solidFill>
              <a:srgbClr val="66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8" name="Rectangle 140"/>
            <p:cNvSpPr>
              <a:spLocks noChangeArrowheads="1"/>
            </p:cNvSpPr>
            <p:nvPr/>
          </p:nvSpPr>
          <p:spPr bwMode="auto">
            <a:xfrm>
              <a:off x="1928" y="2024"/>
              <a:ext cx="408" cy="182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9" name="Rectangle 141"/>
            <p:cNvSpPr>
              <a:spLocks noChangeArrowheads="1"/>
            </p:cNvSpPr>
            <p:nvPr/>
          </p:nvSpPr>
          <p:spPr bwMode="auto">
            <a:xfrm>
              <a:off x="1656" y="2432"/>
              <a:ext cx="408" cy="182"/>
            </a:xfrm>
            <a:prstGeom prst="rect">
              <a:avLst/>
            </a:prstGeom>
            <a:solidFill>
              <a:srgbClr val="66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664" name="Group 136"/>
          <p:cNvGrpSpPr>
            <a:grpSpLocks/>
          </p:cNvGrpSpPr>
          <p:nvPr/>
        </p:nvGrpSpPr>
        <p:grpSpPr bwMode="auto">
          <a:xfrm>
            <a:off x="2711450" y="1844675"/>
            <a:ext cx="431800" cy="2305050"/>
            <a:chOff x="748" y="1162"/>
            <a:chExt cx="272" cy="1452"/>
          </a:xfrm>
        </p:grpSpPr>
        <p:sp>
          <p:nvSpPr>
            <p:cNvPr id="22660" name="Rectangle 132"/>
            <p:cNvSpPr>
              <a:spLocks noChangeArrowheads="1"/>
            </p:cNvSpPr>
            <p:nvPr/>
          </p:nvSpPr>
          <p:spPr bwMode="auto">
            <a:xfrm>
              <a:off x="748" y="1162"/>
              <a:ext cx="272" cy="182"/>
            </a:xfrm>
            <a:prstGeom prst="rect">
              <a:avLst/>
            </a:prstGeom>
            <a:solidFill>
              <a:srgbClr val="FF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1" name="Rectangle 133"/>
            <p:cNvSpPr>
              <a:spLocks noChangeArrowheads="1"/>
            </p:cNvSpPr>
            <p:nvPr/>
          </p:nvSpPr>
          <p:spPr bwMode="auto">
            <a:xfrm>
              <a:off x="748" y="1388"/>
              <a:ext cx="272" cy="182"/>
            </a:xfrm>
            <a:prstGeom prst="rect">
              <a:avLst/>
            </a:prstGeom>
            <a:solidFill>
              <a:srgbClr val="FF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2" name="Rectangle 134"/>
            <p:cNvSpPr>
              <a:spLocks noChangeArrowheads="1"/>
            </p:cNvSpPr>
            <p:nvPr/>
          </p:nvSpPr>
          <p:spPr bwMode="auto">
            <a:xfrm>
              <a:off x="748" y="2023"/>
              <a:ext cx="272" cy="182"/>
            </a:xfrm>
            <a:prstGeom prst="rect">
              <a:avLst/>
            </a:prstGeom>
            <a:solidFill>
              <a:srgbClr val="FF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63" name="Rectangle 135"/>
            <p:cNvSpPr>
              <a:spLocks noChangeArrowheads="1"/>
            </p:cNvSpPr>
            <p:nvPr/>
          </p:nvSpPr>
          <p:spPr bwMode="auto">
            <a:xfrm>
              <a:off x="748" y="2432"/>
              <a:ext cx="272" cy="182"/>
            </a:xfrm>
            <a:prstGeom prst="rect">
              <a:avLst/>
            </a:prstGeom>
            <a:solidFill>
              <a:srgbClr val="FF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658" name="Text Box 130"/>
          <p:cNvSpPr txBox="1">
            <a:spLocks noChangeArrowheads="1"/>
          </p:cNvSpPr>
          <p:nvPr/>
        </p:nvSpPr>
        <p:spPr bwMode="auto">
          <a:xfrm>
            <a:off x="1895476" y="404813"/>
            <a:ext cx="8448675" cy="612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>
                <a:cs typeface=""/>
              </a:rPr>
              <a:t>Status FastTransposeSMatrix( TSMatrix M, TSMatrix &amp;T ) { 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//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采用三元组顺序表存储表示，求稀疏矩阵 </a:t>
            </a:r>
            <a:r>
              <a:rPr lang="en-US" altLang="zh-CN" sz="2000">
                <a:solidFill>
                  <a:srgbClr val="0000FF"/>
                </a:solidFill>
                <a:cs typeface=""/>
              </a:rPr>
              <a:t>M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的转置矩阵 </a:t>
            </a:r>
            <a:r>
              <a:rPr lang="en-US" altLang="zh-CN" sz="2000">
                <a:solidFill>
                  <a:srgbClr val="0000FF"/>
                </a:solidFill>
                <a:cs typeface=""/>
              </a:rPr>
              <a:t>T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T.mu = M.nu; T.nu = M.mu; T.tu = M.tu;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if (T.tu) {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for (col=1; col&lt;=M.nu; ++col)    num[col] = 0;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for (t=1; t&lt;=M.tu; ++t)   ++ num[M.data[t].j];  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cs typeface=""/>
              </a:rPr>
              <a:t>                 //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求 </a:t>
            </a:r>
            <a:r>
              <a:rPr lang="en-US" altLang="zh-CN" sz="2000">
                <a:solidFill>
                  <a:srgbClr val="0000FF"/>
                </a:solidFill>
                <a:cs typeface=""/>
              </a:rPr>
              <a:t>M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中各列非零元的个数 </a:t>
            </a:r>
            <a:br>
              <a:rPr lang="zh-CN" altLang="en-US" sz="2000">
                <a:cs typeface=""/>
              </a:rPr>
            </a:br>
            <a:r>
              <a:rPr lang="zh-CN" altLang="en-US" sz="2000">
                <a:cs typeface=""/>
              </a:rPr>
              <a:t>            </a:t>
            </a:r>
            <a:r>
              <a:rPr lang="en-US" altLang="zh-CN" sz="2000">
                <a:cs typeface=""/>
              </a:rPr>
              <a:t>cpot[1] = 1;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for (col=2; col&lt;=M.nu; ++col)  cpot[col] = cpot[col -1] + num[col -1]; 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   //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求 </a:t>
            </a:r>
            <a:r>
              <a:rPr lang="en-US" altLang="zh-CN" sz="2000">
                <a:solidFill>
                  <a:srgbClr val="0000FF"/>
                </a:solidFill>
                <a:cs typeface=""/>
              </a:rPr>
              <a:t>M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中各列的第一个非零元在</a:t>
            </a:r>
            <a:r>
              <a:rPr lang="zh-CN" altLang="en-US" sz="2000" i="1">
                <a:solidFill>
                  <a:srgbClr val="0000FF"/>
                </a:solidFill>
                <a:cs typeface=""/>
              </a:rPr>
              <a:t> </a:t>
            </a:r>
            <a:r>
              <a:rPr lang="en-US" altLang="zh-CN" sz="2000" i="1">
                <a:solidFill>
                  <a:srgbClr val="0000FF"/>
                </a:solidFill>
                <a:cs typeface=""/>
              </a:rPr>
              <a:t>T.data</a:t>
            </a:r>
            <a:r>
              <a:rPr lang="en-US" altLang="zh-CN" sz="2000">
                <a:solidFill>
                  <a:srgbClr val="0000FF"/>
                </a:solidFill>
                <a:cs typeface=""/>
              </a:rPr>
              <a:t>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中的序号</a:t>
            </a:r>
            <a:r>
              <a:rPr lang="zh-CN" altLang="en-US" sz="2000">
                <a:cs typeface="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zh-CN" altLang="en-US" sz="2000">
                <a:cs typeface=""/>
              </a:rPr>
              <a:t>            </a:t>
            </a:r>
            <a:r>
              <a:rPr lang="en-US" altLang="zh-CN" sz="2000">
                <a:cs typeface=""/>
              </a:rPr>
              <a:t>for (p=1; p&lt;=M.tu; ++p) {  // </a:t>
            </a:r>
            <a:r>
              <a:rPr lang="zh-CN" altLang="en-US" sz="2000">
                <a:solidFill>
                  <a:srgbClr val="0000FF"/>
                </a:solidFill>
                <a:cs typeface=""/>
              </a:rPr>
              <a:t>转置矩阵元素 </a:t>
            </a:r>
            <a:r>
              <a:rPr lang="zh-CN" altLang="en-US" sz="2000">
                <a:cs typeface="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zh-CN" altLang="en-US" sz="2000">
                <a:cs typeface=""/>
              </a:rPr>
              <a:t>                  </a:t>
            </a:r>
            <a:r>
              <a:rPr lang="en-US" altLang="zh-CN" sz="2000">
                <a:cs typeface=""/>
              </a:rPr>
              <a:t>col = M.data[p].j;     q = cpot[col];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      T.data[q].i = M.data[p].j;     T.data[q].j = M.data[p].i;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      T.data[q].e = M.data[p].e;    ++ cpot[col];  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      } // for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} // if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      return OK;</a:t>
            </a:r>
            <a:br>
              <a:rPr lang="en-US" altLang="zh-CN" sz="2000">
                <a:cs typeface=""/>
              </a:rPr>
            </a:br>
            <a:r>
              <a:rPr lang="en-US" altLang="zh-CN" sz="2000">
                <a:cs typeface=""/>
              </a:rPr>
              <a:t>} // FastTransposeSMatrix</a:t>
            </a:r>
          </a:p>
        </p:txBody>
      </p:sp>
      <p:sp>
        <p:nvSpPr>
          <p:cNvPr id="22659" name="Rectangle 131"/>
          <p:cNvSpPr>
            <a:spLocks noChangeArrowheads="1"/>
          </p:cNvSpPr>
          <p:nvPr/>
        </p:nvSpPr>
        <p:spPr bwMode="auto">
          <a:xfrm>
            <a:off x="5016501" y="5229225"/>
            <a:ext cx="220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时间复杂度为</a:t>
            </a:r>
            <a:r>
              <a:rPr lang="en-US" altLang="zh-CN" sz="2400">
                <a:solidFill>
                  <a:srgbClr val="0000FF"/>
                </a:solidFill>
              </a:rPr>
              <a:t>: </a:t>
            </a:r>
            <a:endParaRPr lang="en-US" altLang="zh-CN" sz="2400"/>
          </a:p>
        </p:txBody>
      </p:sp>
      <p:sp>
        <p:nvSpPr>
          <p:cNvPr id="22665" name="Rectangle 137"/>
          <p:cNvSpPr>
            <a:spLocks noChangeArrowheads="1"/>
          </p:cNvSpPr>
          <p:nvPr/>
        </p:nvSpPr>
        <p:spPr bwMode="auto">
          <a:xfrm>
            <a:off x="7162800" y="5229225"/>
            <a:ext cx="1697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solidFill>
                  <a:srgbClr val="0000FF"/>
                </a:solidFill>
              </a:rPr>
              <a:t>O</a:t>
            </a:r>
            <a:r>
              <a:rPr lang="en-US" altLang="zh-CN" sz="2400">
                <a:solidFill>
                  <a:srgbClr val="0000FF"/>
                </a:solidFill>
              </a:rPr>
              <a:t>(nu + tu)</a:t>
            </a:r>
            <a:r>
              <a:rPr lang="en-US" altLang="zh-CN" sz="2400"/>
              <a:t>  </a:t>
            </a:r>
          </a:p>
        </p:txBody>
      </p:sp>
      <p:sp>
        <p:nvSpPr>
          <p:cNvPr id="22671" name="Rectangle 143"/>
          <p:cNvSpPr>
            <a:spLocks noChangeArrowheads="1"/>
          </p:cNvSpPr>
          <p:nvPr/>
        </p:nvSpPr>
        <p:spPr bwMode="auto">
          <a:xfrm>
            <a:off x="4278314" y="5635626"/>
            <a:ext cx="6151043" cy="496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若 </a:t>
            </a:r>
            <a:r>
              <a:rPr lang="en-US" altLang="zh-CN" sz="2400">
                <a:solidFill>
                  <a:srgbClr val="0000FF"/>
                </a:solidFill>
              </a:rPr>
              <a:t>tu </a:t>
            </a:r>
            <a:r>
              <a:rPr lang="zh-CN" altLang="zh-CN" sz="2400">
                <a:solidFill>
                  <a:srgbClr val="0000FF"/>
                </a:solidFill>
              </a:rPr>
              <a:t>与</a:t>
            </a:r>
            <a:r>
              <a:rPr lang="en-US" altLang="zh-CN" sz="2400">
                <a:solidFill>
                  <a:srgbClr val="0000FF"/>
                </a:solidFill>
              </a:rPr>
              <a:t>mu</a:t>
            </a:r>
            <a:r>
              <a:rPr lang="en-US" altLang="zh-CN" sz="2400">
                <a:solidFill>
                  <a:srgbClr val="0000FF"/>
                </a:solidFill>
                <a:sym typeface="Symbol" pitchFamily="18" charset="2"/>
              </a:rPr>
              <a:t>nu </a:t>
            </a:r>
            <a:r>
              <a:rPr lang="zh-CN" altLang="zh-CN" sz="2400">
                <a:solidFill>
                  <a:srgbClr val="0000FF"/>
                </a:solidFill>
                <a:sym typeface="Symbol" pitchFamily="18" charset="2"/>
              </a:rPr>
              <a:t>同数量级，则为：</a:t>
            </a:r>
            <a:r>
              <a:rPr lang="zh-CN" altLang="zh-CN" sz="2400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O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(munu)</a:t>
            </a:r>
            <a:r>
              <a:rPr lang="en-US" altLang="zh-CN" sz="2400">
                <a:solidFill>
                  <a:srgbClr val="0000FF"/>
                </a:solidFill>
                <a:sym typeface="Symbol" pitchFamily="18" charset="2"/>
              </a:rPr>
              <a:t> </a:t>
            </a:r>
          </a:p>
        </p:txBody>
      </p:sp>
      <p:grpSp>
        <p:nvGrpSpPr>
          <p:cNvPr id="22674" name="Group 146"/>
          <p:cNvGrpSpPr>
            <a:grpSpLocks/>
          </p:cNvGrpSpPr>
          <p:nvPr/>
        </p:nvGrpSpPr>
        <p:grpSpPr bwMode="auto">
          <a:xfrm>
            <a:off x="8858250" y="4724400"/>
            <a:ext cx="1492250" cy="1081088"/>
            <a:chOff x="4740" y="2976"/>
            <a:chExt cx="940" cy="681"/>
          </a:xfrm>
        </p:grpSpPr>
        <p:sp>
          <p:nvSpPr>
            <p:cNvPr id="22672" name="Text Box 144"/>
            <p:cNvSpPr txBox="1">
              <a:spLocks noChangeArrowheads="1"/>
            </p:cNvSpPr>
            <p:nvPr/>
          </p:nvSpPr>
          <p:spPr bwMode="auto">
            <a:xfrm>
              <a:off x="4740" y="2976"/>
              <a:ext cx="940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/>
                <a:t>与经典算 </a:t>
              </a:r>
            </a:p>
            <a:p>
              <a:r>
                <a:rPr lang="zh-CN" altLang="en-US" sz="2400"/>
                <a:t>法相同。 </a:t>
              </a:r>
            </a:p>
          </p:txBody>
        </p:sp>
        <p:sp>
          <p:nvSpPr>
            <p:cNvPr id="22673" name="Line 145"/>
            <p:cNvSpPr>
              <a:spLocks noChangeShapeType="1"/>
            </p:cNvSpPr>
            <p:nvPr/>
          </p:nvSpPr>
          <p:spPr bwMode="auto">
            <a:xfrm>
              <a:off x="5103" y="3475"/>
              <a:ext cx="0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2000"/>
                                        <p:tgtEl>
                                          <p:spTgt spid="2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59" grpId="0"/>
      <p:bldP spid="22665" grpId="0"/>
      <p:bldP spid="2267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1" name="Text Box 59"/>
          <p:cNvSpPr txBox="1">
            <a:spLocks noChangeArrowheads="1"/>
          </p:cNvSpPr>
          <p:nvPr/>
        </p:nvSpPr>
        <p:spPr bwMode="auto">
          <a:xfrm>
            <a:off x="2035175" y="909639"/>
            <a:ext cx="5905500" cy="55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/>
              <a:t>        </a:t>
            </a:r>
            <a:r>
              <a:rPr lang="zh-CN" altLang="en-US" sz="2400"/>
              <a:t>三元组顺序表又称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有序的双下标法</a:t>
            </a:r>
            <a:r>
              <a:rPr lang="zh-CN" altLang="en-US" sz="2400"/>
              <a:t>。 </a:t>
            </a:r>
          </a:p>
        </p:txBody>
      </p:sp>
      <p:sp>
        <p:nvSpPr>
          <p:cNvPr id="23612" name="Text Box 60"/>
          <p:cNvSpPr txBox="1">
            <a:spLocks noChangeArrowheads="1"/>
          </p:cNvSpPr>
          <p:nvPr/>
        </p:nvSpPr>
        <p:spPr bwMode="auto">
          <a:xfrm>
            <a:off x="2035175" y="1773238"/>
            <a:ext cx="8382000" cy="1716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240000"/>
              </a:lnSpc>
            </a:pPr>
            <a:r>
              <a:rPr lang="en-US" altLang="zh-CN" sz="2400"/>
              <a:t>        </a:t>
            </a:r>
            <a:r>
              <a:rPr lang="zh-CN" altLang="en-US" sz="2400"/>
              <a:t>三元组顺序表的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优点</a:t>
            </a:r>
            <a:r>
              <a:rPr lang="zh-CN" altLang="en-US" sz="2400"/>
              <a:t>：非零元在表中按行序有序存储，因此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便于进行依行顺序处理的矩阵运算</a:t>
            </a:r>
            <a:r>
              <a:rPr lang="zh-CN" altLang="en-US" sz="2400"/>
              <a:t>。 </a:t>
            </a:r>
          </a:p>
        </p:txBody>
      </p:sp>
      <p:sp>
        <p:nvSpPr>
          <p:cNvPr id="23613" name="Text Box 61"/>
          <p:cNvSpPr txBox="1">
            <a:spLocks noChangeArrowheads="1"/>
          </p:cNvSpPr>
          <p:nvPr/>
        </p:nvSpPr>
        <p:spPr bwMode="auto">
          <a:xfrm>
            <a:off x="2035175" y="3889375"/>
            <a:ext cx="8382000" cy="1716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240000"/>
              </a:lnSpc>
            </a:pPr>
            <a:r>
              <a:rPr lang="en-US" altLang="zh-CN" sz="2400"/>
              <a:t>        </a:t>
            </a:r>
            <a:r>
              <a:rPr lang="zh-CN" altLang="en-US" sz="2400"/>
              <a:t>三元组顺序表的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缺点</a:t>
            </a:r>
            <a:r>
              <a:rPr lang="zh-CN" altLang="en-US" sz="2400">
                <a:ea typeface="华文中宋" pitchFamily="2" charset="-122"/>
              </a:rPr>
              <a:t>：不能</a:t>
            </a:r>
            <a:r>
              <a:rPr lang="zh-CN" altLang="zh-CN" sz="2400">
                <a:ea typeface="华文中宋" pitchFamily="2" charset="-122"/>
              </a:rPr>
              <a:t>随机</a:t>
            </a:r>
            <a:r>
              <a:rPr lang="zh-CN" altLang="en-US" sz="2400">
                <a:ea typeface="华文中宋" pitchFamily="2" charset="-122"/>
              </a:rPr>
              <a:t>存取</a:t>
            </a:r>
            <a:r>
              <a:rPr lang="zh-CN" altLang="en-US" sz="2400"/>
              <a:t>。若按行号存取某 </a:t>
            </a:r>
          </a:p>
          <a:p>
            <a:pPr>
              <a:lnSpc>
                <a:spcPct val="240000"/>
              </a:lnSpc>
            </a:pPr>
            <a:r>
              <a:rPr lang="zh-CN" altLang="en-US" sz="2400"/>
              <a:t>一行中的非零元，则需从头开始进行查找。 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11" grpId="0" autoUpdateAnimBg="0"/>
      <p:bldP spid="23612" grpId="0" autoUpdateAnimBg="0"/>
      <p:bldP spid="23613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76" name="AutoShape 88"/>
          <p:cNvSpPr>
            <a:spLocks noChangeArrowheads="1"/>
          </p:cNvSpPr>
          <p:nvPr/>
        </p:nvSpPr>
        <p:spPr bwMode="auto">
          <a:xfrm rot="19582125" flipV="1">
            <a:off x="4262438" y="4116389"/>
            <a:ext cx="4692650" cy="141287"/>
          </a:xfrm>
          <a:prstGeom prst="notchedRightArrow">
            <a:avLst>
              <a:gd name="adj1" fmla="val 50000"/>
              <a:gd name="adj2" fmla="val 830340"/>
            </a:avLst>
          </a:prstGeom>
          <a:solidFill>
            <a:srgbClr val="FF33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77" name="AutoShape 89"/>
          <p:cNvSpPr>
            <a:spLocks noChangeArrowheads="1"/>
          </p:cNvSpPr>
          <p:nvPr/>
        </p:nvSpPr>
        <p:spPr bwMode="auto">
          <a:xfrm rot="19725899" flipV="1">
            <a:off x="5000626" y="4495801"/>
            <a:ext cx="3871913" cy="144463"/>
          </a:xfrm>
          <a:prstGeom prst="notchedRightArrow">
            <a:avLst>
              <a:gd name="adj1" fmla="val 50000"/>
              <a:gd name="adj2" fmla="val 670053"/>
            </a:avLst>
          </a:prstGeom>
          <a:solidFill>
            <a:srgbClr val="FF33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78" name="AutoShape 90"/>
          <p:cNvSpPr>
            <a:spLocks noChangeArrowheads="1"/>
          </p:cNvSpPr>
          <p:nvPr/>
        </p:nvSpPr>
        <p:spPr bwMode="auto">
          <a:xfrm rot="20228437" flipV="1">
            <a:off x="5772151" y="4945063"/>
            <a:ext cx="2936875" cy="144462"/>
          </a:xfrm>
          <a:prstGeom prst="notchedRightArrow">
            <a:avLst>
              <a:gd name="adj1" fmla="val 50000"/>
              <a:gd name="adj2" fmla="val 508244"/>
            </a:avLst>
          </a:prstGeom>
          <a:solidFill>
            <a:srgbClr val="FF33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79" name="AutoShape 91"/>
          <p:cNvSpPr>
            <a:spLocks noChangeArrowheads="1"/>
          </p:cNvSpPr>
          <p:nvPr/>
        </p:nvSpPr>
        <p:spPr bwMode="auto">
          <a:xfrm rot="20999309" flipV="1">
            <a:off x="6440488" y="5340351"/>
            <a:ext cx="2159000" cy="138113"/>
          </a:xfrm>
          <a:prstGeom prst="notchedRightArrow">
            <a:avLst>
              <a:gd name="adj1" fmla="val 50000"/>
              <a:gd name="adj2" fmla="val 390803"/>
            </a:avLst>
          </a:prstGeom>
          <a:solidFill>
            <a:srgbClr val="FF33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80" name="AutoShape 92"/>
          <p:cNvSpPr>
            <a:spLocks noChangeArrowheads="1"/>
          </p:cNvSpPr>
          <p:nvPr/>
        </p:nvSpPr>
        <p:spPr bwMode="auto">
          <a:xfrm rot="26046" flipV="1">
            <a:off x="7599364" y="5578475"/>
            <a:ext cx="998537" cy="122238"/>
          </a:xfrm>
          <a:prstGeom prst="notchedRightArrow">
            <a:avLst>
              <a:gd name="adj1" fmla="val 50000"/>
              <a:gd name="adj2" fmla="val 204220"/>
            </a:avLst>
          </a:prstGeom>
          <a:solidFill>
            <a:srgbClr val="FF33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2046288" y="533400"/>
            <a:ext cx="6280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ea typeface="华文中宋" pitchFamily="2" charset="-122"/>
              </a:rPr>
              <a:t> 2</a:t>
            </a:r>
            <a:r>
              <a:rPr lang="zh-CN" altLang="en-US" sz="2400">
                <a:ea typeface="华文中宋" pitchFamily="2" charset="-122"/>
              </a:rPr>
              <a:t>、行逻辑联接的顺序表（</a:t>
            </a:r>
            <a:r>
              <a:rPr kumimoji="0" lang="zh-CN" altLang="en-US" sz="2400">
                <a:ea typeface="华文中宋" pitchFamily="2" charset="-122"/>
              </a:rPr>
              <a:t>带行表的三元组</a:t>
            </a:r>
            <a:r>
              <a:rPr lang="zh-CN" altLang="en-US" sz="2400">
                <a:ea typeface="华文中宋" pitchFamily="2" charset="-122"/>
              </a:rPr>
              <a:t>） </a:t>
            </a:r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2247901" y="1144589"/>
            <a:ext cx="6109365" cy="47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>
                <a:cs typeface=""/>
              </a:rPr>
              <a:t>在稀疏矩阵中若</a:t>
            </a:r>
            <a:r>
              <a:rPr lang="zh-CN" altLang="en-US" sz="2400">
                <a:solidFill>
                  <a:srgbClr val="0000FF"/>
                </a:solidFill>
                <a:cs typeface=""/>
              </a:rPr>
              <a:t>随机存取</a:t>
            </a:r>
            <a:r>
              <a:rPr lang="zh-CN" altLang="en-US" sz="2400">
                <a:cs typeface=""/>
              </a:rPr>
              <a:t>任意一行的非零元 </a:t>
            </a:r>
          </a:p>
        </p:txBody>
      </p:sp>
      <p:graphicFrame>
        <p:nvGraphicFramePr>
          <p:cNvPr id="63496" name="Group 8"/>
          <p:cNvGraphicFramePr>
            <a:graphicFrameLocks noGrp="1"/>
          </p:cNvGraphicFramePr>
          <p:nvPr/>
        </p:nvGraphicFramePr>
        <p:xfrm>
          <a:off x="8570914" y="2247900"/>
          <a:ext cx="1463675" cy="35661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3538" name="Group 50"/>
          <p:cNvGraphicFramePr>
            <a:graphicFrameLocks noGrp="1"/>
          </p:cNvGraphicFramePr>
          <p:nvPr/>
        </p:nvGraphicFramePr>
        <p:xfrm>
          <a:off x="2838450" y="4619625"/>
          <a:ext cx="5545138" cy="1188720"/>
        </p:xfrm>
        <a:graphic>
          <a:graphicData uri="http://schemas.openxmlformats.org/drawingml/2006/table">
            <a:tbl>
              <a:tblPr/>
              <a:tblGrid>
                <a:gridCol w="151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col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num(col)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cpot(col)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3581" name="Text Box 93"/>
          <p:cNvSpPr txBox="1">
            <a:spLocks noChangeArrowheads="1"/>
          </p:cNvSpPr>
          <p:nvPr/>
        </p:nvSpPr>
        <p:spPr bwMode="auto">
          <a:xfrm>
            <a:off x="2247901" y="2603501"/>
            <a:ext cx="6494085" cy="94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cs typeface=""/>
              </a:rPr>
              <a:t>在存储三元组表的同时存储一个行表 </a:t>
            </a:r>
            <a:r>
              <a:rPr lang="en-US" altLang="zh-CN" sz="2400">
                <a:cs typeface=""/>
              </a:rPr>
              <a:t>rpos </a:t>
            </a:r>
          </a:p>
          <a:p>
            <a:pPr>
              <a:lnSpc>
                <a:spcPct val="120000"/>
              </a:lnSpc>
            </a:pPr>
            <a:r>
              <a:rPr lang="zh-CN" altLang="en-US" sz="2400">
                <a:cs typeface=""/>
              </a:rPr>
              <a:t>（快速转置算法中“带行链接信息”的</a:t>
            </a:r>
            <a:r>
              <a:rPr lang="zh-CN" altLang="en-US" sz="2400" baseline="-25000">
                <a:cs typeface=""/>
              </a:rPr>
              <a:t> </a:t>
            </a:r>
            <a:r>
              <a:rPr lang="en-US" altLang="zh-CN" sz="2400">
                <a:cs typeface=""/>
              </a:rPr>
              <a:t>cpot </a:t>
            </a:r>
            <a:r>
              <a:rPr lang="zh-CN" altLang="en-US" sz="2400">
                <a:cs typeface=""/>
              </a:rPr>
              <a:t>） </a:t>
            </a:r>
          </a:p>
        </p:txBody>
      </p:sp>
      <p:sp>
        <p:nvSpPr>
          <p:cNvPr id="63583" name="Text Box 95"/>
          <p:cNvSpPr txBox="1">
            <a:spLocks noChangeArrowheads="1"/>
          </p:cNvSpPr>
          <p:nvPr/>
        </p:nvSpPr>
        <p:spPr bwMode="auto">
          <a:xfrm>
            <a:off x="2265364" y="1865314"/>
            <a:ext cx="6109365" cy="47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>
                <a:cs typeface=""/>
              </a:rPr>
              <a:t>需知道每行首个非零元在三元组表中的位置 </a:t>
            </a:r>
          </a:p>
        </p:txBody>
      </p:sp>
      <p:sp>
        <p:nvSpPr>
          <p:cNvPr id="63584" name="Text Box 96"/>
          <p:cNvSpPr txBox="1">
            <a:spLocks noChangeArrowheads="1"/>
          </p:cNvSpPr>
          <p:nvPr/>
        </p:nvSpPr>
        <p:spPr bwMode="auto">
          <a:xfrm>
            <a:off x="3614739" y="3870326"/>
            <a:ext cx="3054041" cy="4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  <a:cs typeface=""/>
              </a:rPr>
              <a:t>行逻辑联接的顺序表 </a:t>
            </a:r>
            <a:endParaRPr lang="zh-CN" altLang="en-US" sz="2400">
              <a:cs typeface=""/>
            </a:endParaRPr>
          </a:p>
        </p:txBody>
      </p:sp>
      <p:sp>
        <p:nvSpPr>
          <p:cNvPr id="63585" name="AutoShape 97"/>
          <p:cNvSpPr>
            <a:spLocks noChangeArrowheads="1"/>
          </p:cNvSpPr>
          <p:nvPr/>
        </p:nvSpPr>
        <p:spPr bwMode="auto">
          <a:xfrm rot="5400000">
            <a:off x="4949032" y="1675607"/>
            <a:ext cx="317500" cy="185737"/>
          </a:xfrm>
          <a:prstGeom prst="notchedRightArrow">
            <a:avLst>
              <a:gd name="adj1" fmla="val 50000"/>
              <a:gd name="adj2" fmla="val 42735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86" name="AutoShape 98"/>
          <p:cNvSpPr>
            <a:spLocks noChangeArrowheads="1"/>
          </p:cNvSpPr>
          <p:nvPr/>
        </p:nvSpPr>
        <p:spPr bwMode="auto">
          <a:xfrm rot="5400000">
            <a:off x="4949032" y="2424907"/>
            <a:ext cx="317500" cy="185737"/>
          </a:xfrm>
          <a:prstGeom prst="notchedRightArrow">
            <a:avLst>
              <a:gd name="adj1" fmla="val 50000"/>
              <a:gd name="adj2" fmla="val 42735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87" name="AutoShape 99"/>
          <p:cNvSpPr>
            <a:spLocks noChangeArrowheads="1"/>
          </p:cNvSpPr>
          <p:nvPr/>
        </p:nvSpPr>
        <p:spPr bwMode="auto">
          <a:xfrm rot="5400000">
            <a:off x="4949032" y="3637757"/>
            <a:ext cx="317500" cy="185737"/>
          </a:xfrm>
          <a:prstGeom prst="notchedRightArrow">
            <a:avLst>
              <a:gd name="adj1" fmla="val 50000"/>
              <a:gd name="adj2" fmla="val 42735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588" name="Text Box 100"/>
          <p:cNvSpPr txBox="1">
            <a:spLocks noChangeArrowheads="1"/>
          </p:cNvSpPr>
          <p:nvPr/>
        </p:nvSpPr>
        <p:spPr bwMode="auto">
          <a:xfrm>
            <a:off x="2351089" y="5949950"/>
            <a:ext cx="7920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ea typeface="华文中宋" pitchFamily="2" charset="-122"/>
                <a:cs typeface="ˎ̥"/>
              </a:rPr>
              <a:t>两个稀疏矩阵相乘时，可以看出这种表示方法的优越性。 </a:t>
            </a:r>
            <a:endParaRPr kumimoji="0" lang="zh-CN" altLang="en-US" sz="2400">
              <a:ea typeface="华文中宋" pitchFamily="2" charset="-122"/>
              <a:cs typeface="ˎ̥"/>
            </a:endParaRPr>
          </a:p>
        </p:txBody>
      </p:sp>
      <p:sp>
        <p:nvSpPr>
          <p:cNvPr id="63589" name="Rectangle 101"/>
          <p:cNvSpPr>
            <a:spLocks noChangeArrowheads="1"/>
          </p:cNvSpPr>
          <p:nvPr/>
        </p:nvSpPr>
        <p:spPr bwMode="auto">
          <a:xfrm>
            <a:off x="10025063" y="6651625"/>
            <a:ext cx="489236" cy="24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30000"/>
              </a:lnSpc>
            </a:pP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1000"/>
                                        <p:tgtEl>
                                          <p:spTgt spid="6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6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6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6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6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6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1000"/>
                                        <p:tgtEl>
                                          <p:spTgt spid="6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6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76" grpId="0" animBg="1"/>
      <p:bldP spid="63577" grpId="0" animBg="1"/>
      <p:bldP spid="63578" grpId="0" animBg="1"/>
      <p:bldP spid="63579" grpId="0" animBg="1"/>
      <p:bldP spid="63580" grpId="0" animBg="1"/>
      <p:bldP spid="63494" grpId="0"/>
      <p:bldP spid="63581" grpId="0"/>
      <p:bldP spid="63583" grpId="0"/>
      <p:bldP spid="63584" grpId="0"/>
      <p:bldP spid="63585" grpId="0" animBg="1"/>
      <p:bldP spid="63586" grpId="0" animBg="1"/>
      <p:bldP spid="63587" grpId="0" animBg="1"/>
      <p:bldP spid="6358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2312989" y="420688"/>
            <a:ext cx="5329237" cy="531336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/>
              <a:t>#define MAXSIZE 12500 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             //</a:t>
            </a:r>
            <a:r>
              <a:rPr lang="zh-CN" altLang="en-US" sz="2400"/>
              <a:t>假设非零元个数的最大值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typedef   struct {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     int  </a:t>
            </a:r>
            <a:r>
              <a:rPr lang="en-US" altLang="zh-CN" sz="2400" i="1"/>
              <a:t>i</a:t>
            </a:r>
            <a:r>
              <a:rPr lang="en-US" altLang="zh-CN" sz="2400"/>
              <a:t>, </a:t>
            </a:r>
            <a:r>
              <a:rPr lang="en-US" altLang="zh-CN" sz="2400" i="1"/>
              <a:t>j</a:t>
            </a:r>
            <a:r>
              <a:rPr lang="en-US" altLang="zh-CN" sz="2400"/>
              <a:t>;    //</a:t>
            </a:r>
            <a:r>
              <a:rPr lang="zh-CN" altLang="en-US" sz="2400"/>
              <a:t>该非零元的行列下标 </a:t>
            </a:r>
          </a:p>
          <a:p>
            <a:pPr>
              <a:lnSpc>
                <a:spcPct val="110000"/>
              </a:lnSpc>
            </a:pPr>
            <a:r>
              <a:rPr lang="zh-CN" altLang="en-US" sz="2400"/>
              <a:t>     </a:t>
            </a:r>
            <a:r>
              <a:rPr lang="en-US" altLang="zh-CN" sz="2400"/>
              <a:t>Elemtype  </a:t>
            </a:r>
            <a:r>
              <a:rPr lang="en-US" altLang="zh-CN" sz="2400" i="1"/>
              <a:t>e</a:t>
            </a:r>
            <a:r>
              <a:rPr lang="en-US" altLang="zh-CN" sz="2400"/>
              <a:t>;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}Triple; </a:t>
            </a:r>
          </a:p>
          <a:p>
            <a:pPr>
              <a:lnSpc>
                <a:spcPct val="110000"/>
              </a:lnSpc>
            </a:pPr>
            <a:endParaRPr lang="en-US" altLang="zh-CN" sz="2400"/>
          </a:p>
          <a:p>
            <a:pPr>
              <a:lnSpc>
                <a:spcPct val="110000"/>
              </a:lnSpc>
            </a:pPr>
            <a:r>
              <a:rPr lang="en-US" altLang="zh-CN" sz="2400"/>
              <a:t>typedef  struct {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     Triple  data[MAXSIZE + 1];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     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      int  </a:t>
            </a:r>
            <a:r>
              <a:rPr lang="en-US" altLang="zh-CN" sz="2400" i="1"/>
              <a:t>mu, nu, tu</a:t>
            </a:r>
            <a:r>
              <a:rPr lang="en-US" altLang="zh-CN" sz="2400"/>
              <a:t>; 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     //</a:t>
            </a:r>
            <a:r>
              <a:rPr lang="zh-CN" altLang="en-US" sz="2400"/>
              <a:t>矩阵的行、列数和非零元个数 </a:t>
            </a:r>
          </a:p>
          <a:p>
            <a:pPr>
              <a:lnSpc>
                <a:spcPct val="110000"/>
              </a:lnSpc>
            </a:pPr>
            <a:r>
              <a:rPr lang="en-US" altLang="zh-CN" sz="2400"/>
              <a:t>}TSMatrix;</a:t>
            </a:r>
          </a:p>
        </p:txBody>
      </p:sp>
      <p:sp>
        <p:nvSpPr>
          <p:cNvPr id="64521" name="Rectangle 9"/>
          <p:cNvSpPr>
            <a:spLocks noChangeArrowheads="1"/>
          </p:cNvSpPr>
          <p:nvPr/>
        </p:nvSpPr>
        <p:spPr bwMode="auto">
          <a:xfrm>
            <a:off x="2747963" y="4051300"/>
            <a:ext cx="7524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int  rpos[MAXRC + 1]; //</a:t>
            </a:r>
            <a:r>
              <a:rPr lang="en-US" altLang="zh-CN" sz="2400"/>
              <a:t> </a:t>
            </a:r>
            <a:r>
              <a:rPr lang="zh-CN" altLang="en-US" sz="2400">
                <a:solidFill>
                  <a:srgbClr val="0000FF"/>
                </a:solidFill>
              </a:rPr>
              <a:t>指示各行第一个非零元的位置</a:t>
            </a: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2170114" y="5851525"/>
            <a:ext cx="7920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ea typeface="华文中宋" pitchFamily="2" charset="-122"/>
                <a:cs typeface="ˎ̥"/>
              </a:rPr>
              <a:t>两个稀疏矩阵相乘时，可以看出这种表示方法的优越性。 </a:t>
            </a:r>
            <a:endParaRPr kumimoji="0" lang="zh-CN" altLang="en-US" sz="2400">
              <a:ea typeface="华文中宋" pitchFamily="2" charset="-122"/>
              <a:cs typeface="ˎ̥"/>
            </a:endParaRPr>
          </a:p>
        </p:txBody>
      </p:sp>
      <p:sp useBgFill="1">
        <p:nvSpPr>
          <p:cNvPr id="64523" name="Rectangle 11"/>
          <p:cNvSpPr>
            <a:spLocks noChangeArrowheads="1"/>
          </p:cNvSpPr>
          <p:nvPr/>
        </p:nvSpPr>
        <p:spPr bwMode="auto">
          <a:xfrm>
            <a:off x="2533650" y="5300663"/>
            <a:ext cx="1868488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RLSMatrix; </a:t>
            </a:r>
          </a:p>
        </p:txBody>
      </p:sp>
      <p:sp>
        <p:nvSpPr>
          <p:cNvPr id="64524" name="Rectangle 12"/>
          <p:cNvSpPr>
            <a:spLocks noChangeArrowheads="1"/>
          </p:cNvSpPr>
          <p:nvPr/>
        </p:nvSpPr>
        <p:spPr bwMode="auto">
          <a:xfrm>
            <a:off x="10025063" y="6651625"/>
            <a:ext cx="489236" cy="24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30000"/>
              </a:lnSpc>
            </a:pP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1" grpId="0"/>
      <p:bldP spid="645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88" name="AutoShape 32"/>
          <p:cNvSpPr>
            <a:spLocks noChangeArrowheads="1"/>
          </p:cNvSpPr>
          <p:nvPr/>
        </p:nvSpPr>
        <p:spPr bwMode="auto">
          <a:xfrm>
            <a:off x="4800601" y="4724401"/>
            <a:ext cx="1008063" cy="360363"/>
          </a:xfrm>
          <a:prstGeom prst="roundRect">
            <a:avLst>
              <a:gd name="adj" fmla="val 16667"/>
            </a:avLst>
          </a:prstGeom>
          <a:solidFill>
            <a:srgbClr val="66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89" name="AutoShape 33"/>
          <p:cNvSpPr>
            <a:spLocks noChangeArrowheads="1"/>
          </p:cNvSpPr>
          <p:nvPr/>
        </p:nvSpPr>
        <p:spPr bwMode="auto">
          <a:xfrm>
            <a:off x="6024564" y="4724401"/>
            <a:ext cx="936625" cy="360363"/>
          </a:xfrm>
          <a:prstGeom prst="roundRect">
            <a:avLst>
              <a:gd name="adj" fmla="val 16667"/>
            </a:avLst>
          </a:prstGeom>
          <a:solidFill>
            <a:srgbClr val="66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1992314" y="523875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矩阵乘法 </a:t>
            </a:r>
            <a:endParaRPr kumimoji="0" lang="zh-CN" altLang="en-US" sz="240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1992313" y="1128713"/>
            <a:ext cx="8280400" cy="94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>
                <a:cs typeface="ˎ̥"/>
              </a:rPr>
              <a:t>        </a:t>
            </a:r>
            <a:r>
              <a:rPr lang="zh-CN" altLang="en-US" sz="2400">
                <a:cs typeface="ˎ̥"/>
              </a:rPr>
              <a:t>设矩阵</a:t>
            </a:r>
            <a:r>
              <a:rPr lang="en-US" altLang="zh-CN" sz="2400" i="1">
                <a:cs typeface="ˎ̥"/>
              </a:rPr>
              <a:t>M</a:t>
            </a:r>
            <a:r>
              <a:rPr lang="zh-CN" altLang="en-US" sz="2400">
                <a:cs typeface="ˎ̥"/>
              </a:rPr>
              <a:t>是</a:t>
            </a:r>
            <a:r>
              <a:rPr lang="en-US" altLang="zh-CN" sz="2400" i="1">
                <a:cs typeface="ˎ̥"/>
              </a:rPr>
              <a:t>m</a:t>
            </a:r>
            <a:r>
              <a:rPr lang="en-US" altLang="zh-CN" sz="2400" baseline="-30000">
                <a:cs typeface="ˎ̥"/>
              </a:rPr>
              <a:t>1</a:t>
            </a:r>
            <a:r>
              <a:rPr lang="en-US" altLang="zh-CN" sz="2400">
                <a:cs typeface="ˎ̥"/>
              </a:rPr>
              <a:t>×</a:t>
            </a:r>
            <a:r>
              <a:rPr lang="en-US" altLang="zh-CN" sz="2400" i="1">
                <a:cs typeface="ˎ̥"/>
              </a:rPr>
              <a:t>n</a:t>
            </a:r>
            <a:r>
              <a:rPr lang="en-US" altLang="zh-CN" sz="2400" baseline="-30000">
                <a:cs typeface="ˎ̥"/>
              </a:rPr>
              <a:t>1</a:t>
            </a:r>
            <a:r>
              <a:rPr lang="zh-CN" altLang="en-US" sz="2400">
                <a:cs typeface="ˎ̥"/>
              </a:rPr>
              <a:t>矩阵，</a:t>
            </a:r>
            <a:r>
              <a:rPr lang="en-US" altLang="zh-CN" sz="2400" i="1">
                <a:cs typeface="ˎ̥"/>
              </a:rPr>
              <a:t>N</a:t>
            </a:r>
            <a:r>
              <a:rPr lang="zh-CN" altLang="en-US" sz="2400">
                <a:cs typeface="ˎ̥"/>
              </a:rPr>
              <a:t>是 </a:t>
            </a:r>
            <a:r>
              <a:rPr lang="en-US" altLang="zh-CN" sz="2400" i="1">
                <a:cs typeface="ˎ̥"/>
              </a:rPr>
              <a:t>m</a:t>
            </a:r>
            <a:r>
              <a:rPr lang="en-US" altLang="zh-CN" sz="2400" baseline="-30000">
                <a:cs typeface="ˎ̥"/>
              </a:rPr>
              <a:t>2</a:t>
            </a:r>
            <a:r>
              <a:rPr lang="en-US" altLang="zh-CN" sz="2400">
                <a:cs typeface="ˎ̥"/>
              </a:rPr>
              <a:t>×</a:t>
            </a:r>
            <a:r>
              <a:rPr lang="en-US" altLang="zh-CN" sz="2400" i="1">
                <a:cs typeface="ˎ̥"/>
              </a:rPr>
              <a:t>n</a:t>
            </a:r>
            <a:r>
              <a:rPr lang="en-US" altLang="zh-CN" sz="2400" baseline="-30000">
                <a:cs typeface="ˎ̥"/>
              </a:rPr>
              <a:t>2</a:t>
            </a:r>
            <a:r>
              <a:rPr lang="zh-CN" altLang="en-US" sz="2400">
                <a:cs typeface="ˎ̥"/>
              </a:rPr>
              <a:t>矩阵；只有</a:t>
            </a:r>
            <a:r>
              <a:rPr lang="en-US" altLang="zh-CN" sz="2400" i="1">
                <a:cs typeface="ˎ̥"/>
              </a:rPr>
              <a:t>n</a:t>
            </a:r>
            <a:r>
              <a:rPr lang="en-US" altLang="zh-CN" sz="2400" baseline="-30000">
                <a:cs typeface="ˎ̥"/>
              </a:rPr>
              <a:t>1</a:t>
            </a:r>
            <a:r>
              <a:rPr lang="en-US" altLang="zh-CN" sz="2400">
                <a:cs typeface="ˎ̥"/>
              </a:rPr>
              <a:t>= </a:t>
            </a:r>
            <a:r>
              <a:rPr lang="en-US" altLang="zh-CN" sz="2400" i="1">
                <a:cs typeface="ˎ̥"/>
              </a:rPr>
              <a:t>m</a:t>
            </a:r>
            <a:r>
              <a:rPr lang="en-US" altLang="zh-CN" sz="2400" baseline="-30000">
                <a:cs typeface="ˎ̥"/>
              </a:rPr>
              <a:t>2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>
                <a:cs typeface="ˎ̥"/>
              </a:rPr>
              <a:t>时，才能相乘得到结果矩阵</a:t>
            </a:r>
            <a:r>
              <a:rPr lang="en-US" altLang="zh-CN" sz="2400" i="1">
                <a:cs typeface="ˎ̥"/>
              </a:rPr>
              <a:t>Q</a:t>
            </a:r>
            <a:r>
              <a:rPr lang="en-US" altLang="zh-CN" sz="2400">
                <a:cs typeface="ˎ̥"/>
              </a:rPr>
              <a:t>=</a:t>
            </a:r>
            <a:r>
              <a:rPr lang="en-US" altLang="zh-CN" sz="2400" i="1">
                <a:cs typeface="ˎ̥"/>
              </a:rPr>
              <a:t>M</a:t>
            </a:r>
            <a:r>
              <a:rPr lang="en-US" altLang="zh-CN" sz="2400">
                <a:cs typeface="ˎ̥"/>
              </a:rPr>
              <a:t>×</a:t>
            </a:r>
            <a:r>
              <a:rPr lang="en-US" altLang="zh-CN" sz="2400" i="1">
                <a:cs typeface="ˎ̥"/>
              </a:rPr>
              <a:t>N </a:t>
            </a:r>
            <a:r>
              <a:rPr lang="en-US" altLang="zh-CN" sz="2400">
                <a:cs typeface="ˎ̥"/>
              </a:rPr>
              <a:t>(</a:t>
            </a:r>
            <a:r>
              <a:rPr lang="zh-CN" altLang="en-US" sz="2400">
                <a:cs typeface="ˎ̥"/>
              </a:rPr>
              <a:t>一个</a:t>
            </a:r>
            <a:r>
              <a:rPr lang="en-US" altLang="zh-CN" sz="2400" i="1">
                <a:cs typeface="ˎ̥"/>
              </a:rPr>
              <a:t>m</a:t>
            </a:r>
            <a:r>
              <a:rPr lang="en-US" altLang="zh-CN" sz="2400" baseline="-30000">
                <a:cs typeface="ˎ̥"/>
              </a:rPr>
              <a:t>1</a:t>
            </a:r>
            <a:r>
              <a:rPr lang="en-US" altLang="zh-CN" sz="2400">
                <a:cs typeface="ˎ̥"/>
              </a:rPr>
              <a:t>×</a:t>
            </a:r>
            <a:r>
              <a:rPr lang="en-US" altLang="zh-CN" sz="2400" i="1">
                <a:cs typeface="ˎ̥"/>
              </a:rPr>
              <a:t>n</a:t>
            </a:r>
            <a:r>
              <a:rPr lang="en-US" altLang="zh-CN" sz="2400" baseline="-30000">
                <a:cs typeface="ˎ̥"/>
              </a:rPr>
              <a:t>2</a:t>
            </a:r>
            <a:r>
              <a:rPr lang="zh-CN" altLang="en-US" sz="2400">
                <a:cs typeface="ˎ̥"/>
              </a:rPr>
              <a:t>的矩阵</a:t>
            </a:r>
            <a:r>
              <a:rPr lang="en-US" altLang="zh-CN" sz="2400">
                <a:cs typeface="ˎ̥"/>
              </a:rPr>
              <a:t>)</a:t>
            </a:r>
            <a:r>
              <a:rPr lang="zh-CN" altLang="en-US" sz="2400">
                <a:cs typeface="ˎ̥"/>
              </a:rPr>
              <a:t>。 </a:t>
            </a:r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1992314" y="2205038"/>
            <a:ext cx="34559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矩阵相乘的经典算法： </a:t>
            </a:r>
            <a:endParaRPr kumimoji="0" lang="zh-CN" altLang="en-US" sz="240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96263" name="Text Box 7"/>
          <p:cNvSpPr txBox="1">
            <a:spLocks noChangeArrowheads="1"/>
          </p:cNvSpPr>
          <p:nvPr/>
        </p:nvSpPr>
        <p:spPr bwMode="auto">
          <a:xfrm>
            <a:off x="1992314" y="2781300"/>
            <a:ext cx="5400675" cy="2788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>
                <a:ea typeface="ˎ̥"/>
                <a:cs typeface="ˎ̥"/>
              </a:rPr>
              <a:t>for(</a:t>
            </a:r>
            <a:r>
              <a:rPr lang="en-US" altLang="zh-CN" sz="2400" i="1">
                <a:ea typeface="ˎ̥"/>
                <a:cs typeface="ˎ̥"/>
              </a:rPr>
              <a:t>i</a:t>
            </a:r>
            <a:r>
              <a:rPr lang="en-US" altLang="zh-CN" sz="2400">
                <a:ea typeface="ˎ̥"/>
                <a:cs typeface="ˎ̥"/>
              </a:rPr>
              <a:t>=1;  </a:t>
            </a:r>
            <a:r>
              <a:rPr lang="en-US" altLang="zh-CN" sz="2400" i="1">
                <a:ea typeface="ˎ̥"/>
                <a:cs typeface="ˎ̥"/>
              </a:rPr>
              <a:t>i</a:t>
            </a:r>
            <a:r>
              <a:rPr lang="en-US" altLang="zh-CN" sz="2400">
                <a:ea typeface="ˎ̥"/>
                <a:cs typeface="ˎ̥"/>
              </a:rPr>
              <a:t>&lt;=</a:t>
            </a:r>
            <a:r>
              <a:rPr lang="en-US" altLang="zh-CN" sz="2400" i="1">
                <a:ea typeface="ˎ̥"/>
                <a:cs typeface="ˎ̥"/>
              </a:rPr>
              <a:t>m</a:t>
            </a:r>
            <a:r>
              <a:rPr lang="en-US" altLang="zh-CN" sz="2400" baseline="-25000">
                <a:ea typeface="ˎ̥"/>
                <a:cs typeface="ˎ̥"/>
              </a:rPr>
              <a:t>1</a:t>
            </a:r>
            <a:r>
              <a:rPr lang="en-US" altLang="zh-CN" sz="2400">
                <a:ea typeface="ˎ̥"/>
                <a:cs typeface="ˎ̥"/>
              </a:rPr>
              <a:t>;  </a:t>
            </a:r>
            <a:r>
              <a:rPr lang="en-US" altLang="zh-CN" sz="2400" i="1">
                <a:ea typeface="ˎ̥"/>
                <a:cs typeface="ˎ̥"/>
              </a:rPr>
              <a:t>i</a:t>
            </a:r>
            <a:r>
              <a:rPr lang="en-US" altLang="zh-CN" sz="2400">
                <a:ea typeface="ˎ̥"/>
                <a:cs typeface="ˎ̥"/>
              </a:rPr>
              <a:t>++)  </a:t>
            </a:r>
            <a:endParaRPr lang="en-US" altLang="zh-CN" sz="2400" b="0">
              <a:ea typeface="ˎ̥"/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>
                <a:ea typeface="ˎ̥"/>
                <a:cs typeface="ˎ̥"/>
              </a:rPr>
              <a:t>   for(</a:t>
            </a:r>
            <a:r>
              <a:rPr lang="en-US" altLang="zh-CN" sz="2400" i="1">
                <a:ea typeface="ˎ̥"/>
                <a:cs typeface="ˎ̥"/>
              </a:rPr>
              <a:t>j</a:t>
            </a:r>
            <a:r>
              <a:rPr lang="en-US" altLang="zh-CN" sz="2400">
                <a:ea typeface="ˎ̥"/>
                <a:cs typeface="ˎ̥"/>
              </a:rPr>
              <a:t>=1;  </a:t>
            </a:r>
            <a:r>
              <a:rPr lang="en-US" altLang="zh-CN" sz="2400" i="1">
                <a:ea typeface="ˎ̥"/>
                <a:cs typeface="ˎ̥"/>
              </a:rPr>
              <a:t>j</a:t>
            </a:r>
            <a:r>
              <a:rPr lang="en-US" altLang="zh-CN" sz="2400">
                <a:ea typeface="ˎ̥"/>
                <a:cs typeface="ˎ̥"/>
              </a:rPr>
              <a:t>&lt;=</a:t>
            </a:r>
            <a:r>
              <a:rPr lang="en-US" altLang="zh-CN" sz="2400" i="1">
                <a:ea typeface="ˎ̥"/>
                <a:cs typeface="ˎ̥"/>
              </a:rPr>
              <a:t>n</a:t>
            </a:r>
            <a:r>
              <a:rPr lang="en-US" altLang="zh-CN" sz="2400" baseline="-25000">
                <a:ea typeface="ˎ̥"/>
                <a:cs typeface="ˎ̥"/>
              </a:rPr>
              <a:t>2</a:t>
            </a:r>
            <a:r>
              <a:rPr lang="en-US" altLang="zh-CN" sz="2400">
                <a:ea typeface="ˎ̥"/>
                <a:cs typeface="ˎ̥"/>
              </a:rPr>
              <a:t>;  </a:t>
            </a:r>
            <a:r>
              <a:rPr lang="en-US" altLang="zh-CN" sz="2400" i="1">
                <a:ea typeface="ˎ̥"/>
                <a:cs typeface="ˎ̥"/>
              </a:rPr>
              <a:t>j</a:t>
            </a:r>
            <a:r>
              <a:rPr lang="en-US" altLang="zh-CN" sz="2400">
                <a:ea typeface="ˎ̥"/>
                <a:cs typeface="ˎ̥"/>
              </a:rPr>
              <a:t>++)  </a:t>
            </a:r>
            <a:endParaRPr lang="en-US" altLang="zh-CN" sz="2400" b="0">
              <a:ea typeface="ˎ̥"/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>
                <a:ea typeface="ˎ̥"/>
                <a:cs typeface="ˎ̥"/>
              </a:rPr>
              <a:t>    { </a:t>
            </a:r>
            <a:r>
              <a:rPr lang="en-US" altLang="zh-CN" sz="2400" i="1">
                <a:ea typeface="ˎ̥"/>
                <a:cs typeface="ˎ̥"/>
              </a:rPr>
              <a:t>Q</a:t>
            </a:r>
            <a:r>
              <a:rPr lang="en-US" altLang="zh-CN" sz="2400">
                <a:ea typeface="ˎ̥"/>
                <a:cs typeface="ˎ̥"/>
              </a:rPr>
              <a:t>[</a:t>
            </a:r>
            <a:r>
              <a:rPr lang="en-US" altLang="zh-CN" sz="2400" i="1">
                <a:ea typeface="ˎ̥"/>
                <a:cs typeface="ˎ̥"/>
              </a:rPr>
              <a:t>i</a:t>
            </a:r>
            <a:r>
              <a:rPr lang="en-US" altLang="zh-CN" sz="2400">
                <a:ea typeface="ˎ̥"/>
                <a:cs typeface="ˎ̥"/>
              </a:rPr>
              <a:t>][</a:t>
            </a:r>
            <a:r>
              <a:rPr lang="en-US" altLang="zh-CN" sz="2400" i="1">
                <a:ea typeface="ˎ̥"/>
                <a:cs typeface="ˎ̥"/>
              </a:rPr>
              <a:t>j</a:t>
            </a:r>
            <a:r>
              <a:rPr lang="en-US" altLang="zh-CN" sz="2400">
                <a:ea typeface="ˎ̥"/>
                <a:cs typeface="ˎ̥"/>
              </a:rPr>
              <a:t>]=0;  </a:t>
            </a:r>
            <a:endParaRPr lang="en-US" altLang="zh-CN" sz="2400" b="0">
              <a:ea typeface="ˎ̥"/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>
                <a:ea typeface="ˎ̥"/>
                <a:cs typeface="ˎ̥"/>
              </a:rPr>
              <a:t>       for(</a:t>
            </a:r>
            <a:r>
              <a:rPr lang="en-US" altLang="zh-CN" sz="2400" i="1">
                <a:ea typeface="ˎ̥"/>
                <a:cs typeface="ˎ̥"/>
              </a:rPr>
              <a:t>k</a:t>
            </a:r>
            <a:r>
              <a:rPr lang="en-US" altLang="zh-CN" sz="2400">
                <a:ea typeface="ˎ̥"/>
                <a:cs typeface="ˎ̥"/>
              </a:rPr>
              <a:t>=1;  </a:t>
            </a:r>
            <a:r>
              <a:rPr lang="en-US" altLang="zh-CN" sz="2400" i="1">
                <a:ea typeface="ˎ̥"/>
                <a:cs typeface="ˎ̥"/>
              </a:rPr>
              <a:t>k</a:t>
            </a:r>
            <a:r>
              <a:rPr lang="en-US" altLang="zh-CN" sz="2400">
                <a:ea typeface="ˎ̥"/>
                <a:cs typeface="ˎ̥"/>
              </a:rPr>
              <a:t>&lt;=</a:t>
            </a:r>
            <a:r>
              <a:rPr lang="en-US" altLang="zh-CN" sz="2400" i="1">
                <a:ea typeface="ˎ̥"/>
                <a:cs typeface="ˎ̥"/>
              </a:rPr>
              <a:t>n</a:t>
            </a:r>
            <a:r>
              <a:rPr lang="en-US" altLang="zh-CN" sz="2400" baseline="-25000">
                <a:ea typeface="ˎ̥"/>
                <a:cs typeface="ˎ̥"/>
              </a:rPr>
              <a:t>1</a:t>
            </a:r>
            <a:r>
              <a:rPr lang="en-US" altLang="zh-CN" sz="2400">
                <a:ea typeface="ˎ̥"/>
                <a:cs typeface="ˎ̥"/>
              </a:rPr>
              <a:t>;  </a:t>
            </a:r>
            <a:r>
              <a:rPr lang="en-US" altLang="zh-CN" sz="2400" i="1">
                <a:ea typeface="ˎ̥"/>
                <a:cs typeface="ˎ̥"/>
              </a:rPr>
              <a:t>k</a:t>
            </a:r>
            <a:r>
              <a:rPr lang="en-US" altLang="zh-CN" sz="2400">
                <a:ea typeface="ˎ̥"/>
                <a:cs typeface="ˎ̥"/>
              </a:rPr>
              <a:t>++)  </a:t>
            </a:r>
            <a:endParaRPr lang="en-US" altLang="zh-CN" sz="2400" b="0">
              <a:ea typeface="ˎ̥"/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>
                <a:ea typeface="ˎ̥"/>
                <a:cs typeface="ˎ̥"/>
              </a:rPr>
              <a:t>       </a:t>
            </a:r>
            <a:r>
              <a:rPr lang="en-US" altLang="zh-CN" sz="2400" i="1">
                <a:ea typeface="ˎ̥"/>
                <a:cs typeface="ˎ̥"/>
              </a:rPr>
              <a:t>Q</a:t>
            </a:r>
            <a:r>
              <a:rPr lang="en-US" altLang="zh-CN" sz="2400">
                <a:ea typeface="ˎ̥"/>
                <a:cs typeface="ˎ̥"/>
              </a:rPr>
              <a:t>[</a:t>
            </a:r>
            <a:r>
              <a:rPr lang="en-US" altLang="zh-CN" sz="2400" i="1">
                <a:ea typeface="ˎ̥"/>
                <a:cs typeface="ˎ̥"/>
              </a:rPr>
              <a:t>i</a:t>
            </a:r>
            <a:r>
              <a:rPr lang="en-US" altLang="zh-CN" sz="2400">
                <a:ea typeface="ˎ̥"/>
                <a:cs typeface="ˎ̥"/>
              </a:rPr>
              <a:t>][</a:t>
            </a:r>
            <a:r>
              <a:rPr lang="en-US" altLang="zh-CN" sz="2400" i="1">
                <a:ea typeface="ˎ̥"/>
                <a:cs typeface="ˎ̥"/>
              </a:rPr>
              <a:t>j</a:t>
            </a:r>
            <a:r>
              <a:rPr lang="en-US" altLang="zh-CN" sz="2400">
                <a:ea typeface="ˎ̥"/>
                <a:cs typeface="ˎ̥"/>
              </a:rPr>
              <a:t>] = </a:t>
            </a:r>
            <a:r>
              <a:rPr lang="en-US" altLang="zh-CN" sz="2400" i="1">
                <a:ea typeface="ˎ̥"/>
                <a:cs typeface="ˎ̥"/>
              </a:rPr>
              <a:t>Q</a:t>
            </a:r>
            <a:r>
              <a:rPr lang="en-US" altLang="zh-CN" sz="2400">
                <a:ea typeface="ˎ̥"/>
                <a:cs typeface="ˎ̥"/>
              </a:rPr>
              <a:t>[</a:t>
            </a:r>
            <a:r>
              <a:rPr lang="en-US" altLang="zh-CN" sz="2400" i="1">
                <a:ea typeface="ˎ̥"/>
                <a:cs typeface="ˎ̥"/>
              </a:rPr>
              <a:t>i</a:t>
            </a:r>
            <a:r>
              <a:rPr lang="en-US" altLang="zh-CN" sz="2400">
                <a:ea typeface="ˎ̥"/>
                <a:cs typeface="ˎ̥"/>
              </a:rPr>
              <a:t>][</a:t>
            </a:r>
            <a:r>
              <a:rPr lang="en-US" altLang="zh-CN" sz="2400" i="1">
                <a:ea typeface="ˎ̥"/>
                <a:cs typeface="ˎ̥"/>
              </a:rPr>
              <a:t>j</a:t>
            </a:r>
            <a:r>
              <a:rPr lang="en-US" altLang="zh-CN" sz="2400">
                <a:ea typeface="ˎ̥"/>
                <a:cs typeface="ˎ̥"/>
              </a:rPr>
              <a:t>] + </a:t>
            </a:r>
            <a:r>
              <a:rPr lang="en-US" altLang="zh-CN" sz="2400" i="1">
                <a:ea typeface="ˎ̥"/>
                <a:cs typeface="ˎ̥"/>
              </a:rPr>
              <a:t>M</a:t>
            </a:r>
            <a:r>
              <a:rPr lang="en-US" altLang="zh-CN" sz="2400">
                <a:ea typeface="ˎ̥"/>
                <a:cs typeface="ˎ̥"/>
              </a:rPr>
              <a:t>[</a:t>
            </a:r>
            <a:r>
              <a:rPr lang="en-US" altLang="zh-CN" sz="2400" i="1">
                <a:ea typeface="ˎ̥"/>
                <a:cs typeface="ˎ̥"/>
              </a:rPr>
              <a:t>i</a:t>
            </a:r>
            <a:r>
              <a:rPr lang="en-US" altLang="zh-CN" sz="2400">
                <a:ea typeface="ˎ̥"/>
                <a:cs typeface="ˎ̥"/>
              </a:rPr>
              <a:t>][</a:t>
            </a:r>
            <a:r>
              <a:rPr lang="en-US" altLang="zh-CN" sz="2400" i="1">
                <a:ea typeface="ˎ̥"/>
                <a:cs typeface="ˎ̥"/>
              </a:rPr>
              <a:t>k</a:t>
            </a:r>
            <a:r>
              <a:rPr lang="en-US" altLang="zh-CN" sz="2400">
                <a:ea typeface="ˎ̥"/>
                <a:cs typeface="ˎ̥"/>
              </a:rPr>
              <a:t>] * </a:t>
            </a:r>
            <a:r>
              <a:rPr lang="en-US" altLang="zh-CN" sz="2400" i="1">
                <a:ea typeface="ˎ̥"/>
                <a:cs typeface="ˎ̥"/>
              </a:rPr>
              <a:t>N</a:t>
            </a:r>
            <a:r>
              <a:rPr lang="en-US" altLang="zh-CN" sz="2400">
                <a:ea typeface="ˎ̥"/>
                <a:cs typeface="ˎ̥"/>
              </a:rPr>
              <a:t>[</a:t>
            </a:r>
            <a:r>
              <a:rPr lang="en-US" altLang="zh-CN" sz="2400" i="1">
                <a:ea typeface="ˎ̥"/>
                <a:cs typeface="ˎ̥"/>
              </a:rPr>
              <a:t>k</a:t>
            </a:r>
            <a:r>
              <a:rPr lang="en-US" altLang="zh-CN" sz="2400">
                <a:ea typeface="ˎ̥"/>
                <a:cs typeface="ˎ̥"/>
              </a:rPr>
              <a:t>][</a:t>
            </a:r>
            <a:r>
              <a:rPr lang="en-US" altLang="zh-CN" sz="2400" i="1">
                <a:ea typeface="ˎ̥"/>
                <a:cs typeface="ˎ̥"/>
              </a:rPr>
              <a:t>j</a:t>
            </a:r>
            <a:r>
              <a:rPr lang="en-US" altLang="zh-CN" sz="2400">
                <a:ea typeface="ˎ̥"/>
                <a:cs typeface="ˎ̥"/>
              </a:rPr>
              <a:t>];  </a:t>
            </a:r>
            <a:endParaRPr lang="en-US" altLang="zh-CN" sz="2400" b="0">
              <a:ea typeface="ˎ̥"/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>
                <a:ea typeface="ˎ̥"/>
                <a:cs typeface="ˎ̥"/>
              </a:rPr>
              <a:t>    } </a:t>
            </a:r>
            <a:endParaRPr kumimoji="0" lang="en-US" altLang="zh-CN" sz="2400" b="0">
              <a:latin typeface="Arial" pitchFamily="34" charset="0"/>
              <a:ea typeface="宋体" pitchFamily="2" charset="-122"/>
            </a:endParaRPr>
          </a:p>
        </p:txBody>
      </p:sp>
      <p:graphicFrame>
        <p:nvGraphicFramePr>
          <p:cNvPr id="96264" name="Object 8"/>
          <p:cNvGraphicFramePr>
            <a:graphicFrameLocks noChangeAspect="1"/>
          </p:cNvGraphicFramePr>
          <p:nvPr/>
        </p:nvGraphicFramePr>
        <p:xfrm>
          <a:off x="5735638" y="2230439"/>
          <a:ext cx="4430712" cy="165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76440" imgH="927000" progId="Equation.3">
                  <p:embed/>
                </p:oleObj>
              </mc:Choice>
              <mc:Fallback>
                <p:oleObj name="公式" r:id="rId4" imgW="2476440" imgH="9270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2230439"/>
                        <a:ext cx="4430712" cy="165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5" name="Object 9"/>
          <p:cNvGraphicFramePr>
            <a:graphicFrameLocks noChangeAspect="1"/>
          </p:cNvGraphicFramePr>
          <p:nvPr/>
        </p:nvGraphicFramePr>
        <p:xfrm>
          <a:off x="7524750" y="4508501"/>
          <a:ext cx="2687638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34960" imgH="698400" progId="Equation.3">
                  <p:embed/>
                </p:oleObj>
              </mc:Choice>
              <mc:Fallback>
                <p:oleObj name="公式" r:id="rId6" imgW="1434960" imgH="6984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508501"/>
                        <a:ext cx="2687638" cy="1249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6268" name="Group 12"/>
          <p:cNvGrpSpPr>
            <a:grpSpLocks/>
          </p:cNvGrpSpPr>
          <p:nvPr/>
        </p:nvGrpSpPr>
        <p:grpSpPr bwMode="auto">
          <a:xfrm>
            <a:off x="5861050" y="2420938"/>
            <a:ext cx="488950" cy="457200"/>
            <a:chOff x="2890" y="1600"/>
            <a:chExt cx="308" cy="288"/>
          </a:xfrm>
        </p:grpSpPr>
        <p:sp>
          <p:nvSpPr>
            <p:cNvPr id="96266" name="Line 10"/>
            <p:cNvSpPr>
              <a:spLocks noChangeShapeType="1"/>
            </p:cNvSpPr>
            <p:nvPr/>
          </p:nvSpPr>
          <p:spPr bwMode="auto">
            <a:xfrm>
              <a:off x="3016" y="175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7" name="Text Box 11"/>
            <p:cNvSpPr txBox="1">
              <a:spLocks noChangeArrowheads="1"/>
            </p:cNvSpPr>
            <p:nvPr/>
          </p:nvSpPr>
          <p:spPr bwMode="auto">
            <a:xfrm>
              <a:off x="2890" y="1600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/>
                <a:t>i</a:t>
              </a:r>
              <a:r>
                <a:rPr lang="en-US" altLang="zh-CN" sz="2400"/>
                <a:t> </a:t>
              </a:r>
            </a:p>
          </p:txBody>
        </p:sp>
      </p:grpSp>
      <p:grpSp>
        <p:nvGrpSpPr>
          <p:cNvPr id="96269" name="Group 13"/>
          <p:cNvGrpSpPr>
            <a:grpSpLocks/>
          </p:cNvGrpSpPr>
          <p:nvPr/>
        </p:nvGrpSpPr>
        <p:grpSpPr bwMode="auto">
          <a:xfrm>
            <a:off x="8704263" y="4508500"/>
            <a:ext cx="488950" cy="457200"/>
            <a:chOff x="2890" y="1600"/>
            <a:chExt cx="308" cy="288"/>
          </a:xfrm>
        </p:grpSpPr>
        <p:sp>
          <p:nvSpPr>
            <p:cNvPr id="96270" name="Line 14"/>
            <p:cNvSpPr>
              <a:spLocks noChangeShapeType="1"/>
            </p:cNvSpPr>
            <p:nvPr/>
          </p:nvSpPr>
          <p:spPr bwMode="auto">
            <a:xfrm>
              <a:off x="3016" y="1752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1" name="Text Box 15"/>
            <p:cNvSpPr txBox="1">
              <a:spLocks noChangeArrowheads="1"/>
            </p:cNvSpPr>
            <p:nvPr/>
          </p:nvSpPr>
          <p:spPr bwMode="auto">
            <a:xfrm>
              <a:off x="2890" y="1600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/>
                <a:t>i</a:t>
              </a:r>
              <a:r>
                <a:rPr lang="en-US" altLang="zh-CN" sz="2400"/>
                <a:t> </a:t>
              </a:r>
            </a:p>
          </p:txBody>
        </p:sp>
      </p:grpSp>
      <p:grpSp>
        <p:nvGrpSpPr>
          <p:cNvPr id="96274" name="Group 18"/>
          <p:cNvGrpSpPr>
            <a:grpSpLocks/>
          </p:cNvGrpSpPr>
          <p:nvPr/>
        </p:nvGrpSpPr>
        <p:grpSpPr bwMode="auto">
          <a:xfrm>
            <a:off x="9423400" y="5686425"/>
            <a:ext cx="344488" cy="647700"/>
            <a:chOff x="5112" y="3657"/>
            <a:chExt cx="217" cy="408"/>
          </a:xfrm>
        </p:grpSpPr>
        <p:sp>
          <p:nvSpPr>
            <p:cNvPr id="96272" name="Line 16"/>
            <p:cNvSpPr>
              <a:spLocks noChangeShapeType="1"/>
            </p:cNvSpPr>
            <p:nvPr/>
          </p:nvSpPr>
          <p:spPr bwMode="auto">
            <a:xfrm flipV="1">
              <a:off x="5193" y="3657"/>
              <a:ext cx="0" cy="18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3" name="Text Box 17"/>
            <p:cNvSpPr txBox="1">
              <a:spLocks noChangeArrowheads="1"/>
            </p:cNvSpPr>
            <p:nvPr/>
          </p:nvSpPr>
          <p:spPr bwMode="auto">
            <a:xfrm>
              <a:off x="5112" y="3777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/>
                <a:t>j</a:t>
              </a:r>
              <a:r>
                <a:rPr lang="en-US" altLang="zh-CN" sz="2400"/>
                <a:t> </a:t>
              </a:r>
            </a:p>
          </p:txBody>
        </p:sp>
      </p:grpSp>
      <p:grpSp>
        <p:nvGrpSpPr>
          <p:cNvPr id="96275" name="Group 19"/>
          <p:cNvGrpSpPr>
            <a:grpSpLocks/>
          </p:cNvGrpSpPr>
          <p:nvPr/>
        </p:nvGrpSpPr>
        <p:grpSpPr bwMode="auto">
          <a:xfrm>
            <a:off x="9423400" y="3814763"/>
            <a:ext cx="344488" cy="647700"/>
            <a:chOff x="5112" y="3657"/>
            <a:chExt cx="217" cy="408"/>
          </a:xfrm>
        </p:grpSpPr>
        <p:sp>
          <p:nvSpPr>
            <p:cNvPr id="96276" name="Line 20"/>
            <p:cNvSpPr>
              <a:spLocks noChangeShapeType="1"/>
            </p:cNvSpPr>
            <p:nvPr/>
          </p:nvSpPr>
          <p:spPr bwMode="auto">
            <a:xfrm flipV="1">
              <a:off x="5193" y="3657"/>
              <a:ext cx="0" cy="18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7" name="Text Box 21"/>
            <p:cNvSpPr txBox="1">
              <a:spLocks noChangeArrowheads="1"/>
            </p:cNvSpPr>
            <p:nvPr/>
          </p:nvSpPr>
          <p:spPr bwMode="auto">
            <a:xfrm>
              <a:off x="5112" y="3777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/>
                <a:t>j</a:t>
              </a:r>
              <a:r>
                <a:rPr lang="en-US" altLang="zh-CN" sz="2400"/>
                <a:t> </a:t>
              </a:r>
            </a:p>
          </p:txBody>
        </p:sp>
      </p:grpSp>
      <p:grpSp>
        <p:nvGrpSpPr>
          <p:cNvPr id="96285" name="Group 29"/>
          <p:cNvGrpSpPr>
            <a:grpSpLocks/>
          </p:cNvGrpSpPr>
          <p:nvPr/>
        </p:nvGrpSpPr>
        <p:grpSpPr bwMode="auto">
          <a:xfrm>
            <a:off x="6330950" y="3670300"/>
            <a:ext cx="412750" cy="673100"/>
            <a:chOff x="3164" y="2387"/>
            <a:chExt cx="260" cy="424"/>
          </a:xfrm>
        </p:grpSpPr>
        <p:sp>
          <p:nvSpPr>
            <p:cNvPr id="96279" name="Line 23"/>
            <p:cNvSpPr>
              <a:spLocks noChangeShapeType="1"/>
            </p:cNvSpPr>
            <p:nvPr/>
          </p:nvSpPr>
          <p:spPr bwMode="auto">
            <a:xfrm flipV="1">
              <a:off x="3279" y="2387"/>
              <a:ext cx="0" cy="18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0" name="Text Box 24"/>
            <p:cNvSpPr txBox="1">
              <a:spLocks noChangeArrowheads="1"/>
            </p:cNvSpPr>
            <p:nvPr/>
          </p:nvSpPr>
          <p:spPr bwMode="auto">
            <a:xfrm>
              <a:off x="3164" y="2523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/>
                <a:t>k</a:t>
              </a:r>
              <a:r>
                <a:rPr lang="en-US" altLang="zh-CN" sz="2400"/>
                <a:t> </a:t>
              </a:r>
            </a:p>
          </p:txBody>
        </p:sp>
      </p:grpSp>
      <p:grpSp>
        <p:nvGrpSpPr>
          <p:cNvPr id="96284" name="Group 28"/>
          <p:cNvGrpSpPr>
            <a:grpSpLocks/>
          </p:cNvGrpSpPr>
          <p:nvPr/>
        </p:nvGrpSpPr>
        <p:grpSpPr bwMode="auto">
          <a:xfrm>
            <a:off x="8636001" y="2205038"/>
            <a:ext cx="557213" cy="457200"/>
            <a:chOff x="4616" y="1464"/>
            <a:chExt cx="351" cy="288"/>
          </a:xfrm>
        </p:grpSpPr>
        <p:sp>
          <p:nvSpPr>
            <p:cNvPr id="96282" name="Line 26"/>
            <p:cNvSpPr>
              <a:spLocks noChangeShapeType="1"/>
            </p:cNvSpPr>
            <p:nvPr/>
          </p:nvSpPr>
          <p:spPr bwMode="auto">
            <a:xfrm>
              <a:off x="4785" y="1616"/>
              <a:ext cx="18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3" name="Text Box 27"/>
            <p:cNvSpPr txBox="1">
              <a:spLocks noChangeArrowheads="1"/>
            </p:cNvSpPr>
            <p:nvPr/>
          </p:nvSpPr>
          <p:spPr bwMode="auto">
            <a:xfrm>
              <a:off x="4616" y="1464"/>
              <a:ext cx="2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i="1"/>
                <a:t>k</a:t>
              </a:r>
              <a:r>
                <a:rPr lang="en-US" altLang="zh-CN" sz="2400"/>
                <a:t> </a:t>
              </a:r>
            </a:p>
          </p:txBody>
        </p:sp>
      </p:grpSp>
      <p:sp>
        <p:nvSpPr>
          <p:cNvPr id="96286" name="Rectangle 30"/>
          <p:cNvSpPr>
            <a:spLocks noChangeArrowheads="1"/>
          </p:cNvSpPr>
          <p:nvPr/>
        </p:nvSpPr>
        <p:spPr bwMode="auto">
          <a:xfrm>
            <a:off x="2697163" y="5372100"/>
            <a:ext cx="5162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/>
              <a:t>不论是否为零，都要进行乘法运算。 </a:t>
            </a:r>
          </a:p>
        </p:txBody>
      </p:sp>
      <p:sp>
        <p:nvSpPr>
          <p:cNvPr id="96287" name="Rectangle 31"/>
          <p:cNvSpPr>
            <a:spLocks noChangeArrowheads="1"/>
          </p:cNvSpPr>
          <p:nvPr/>
        </p:nvSpPr>
        <p:spPr bwMode="auto">
          <a:xfrm>
            <a:off x="5303839" y="5851525"/>
            <a:ext cx="1501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没必要！ </a:t>
            </a:r>
          </a:p>
        </p:txBody>
      </p:sp>
      <p:sp>
        <p:nvSpPr>
          <p:cNvPr id="96290" name="AutoShape 34"/>
          <p:cNvSpPr>
            <a:spLocks/>
          </p:cNvSpPr>
          <p:nvPr/>
        </p:nvSpPr>
        <p:spPr bwMode="auto">
          <a:xfrm rot="16200000">
            <a:off x="5772151" y="4256088"/>
            <a:ext cx="215900" cy="2016125"/>
          </a:xfrm>
          <a:prstGeom prst="leftBrace">
            <a:avLst>
              <a:gd name="adj1" fmla="val 77819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9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9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9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9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6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6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6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6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1000"/>
                                        <p:tgtEl>
                                          <p:spTgt spid="9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6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6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6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6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88" grpId="0" animBg="1"/>
      <p:bldP spid="96289" grpId="0" animBg="1"/>
      <p:bldP spid="96261" grpId="0"/>
      <p:bldP spid="96262" grpId="0"/>
      <p:bldP spid="96263" grpId="0"/>
      <p:bldP spid="96286" grpId="0"/>
      <p:bldP spid="96287" grpId="0"/>
      <p:bldP spid="9629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62" name="AutoShape 382"/>
          <p:cNvSpPr>
            <a:spLocks noChangeArrowheads="1"/>
          </p:cNvSpPr>
          <p:nvPr/>
        </p:nvSpPr>
        <p:spPr bwMode="auto">
          <a:xfrm>
            <a:off x="3717925" y="3286125"/>
            <a:ext cx="215900" cy="287338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405" name="AutoShape 125"/>
          <p:cNvSpPr>
            <a:spLocks noChangeArrowheads="1"/>
          </p:cNvSpPr>
          <p:nvPr/>
        </p:nvSpPr>
        <p:spPr bwMode="auto">
          <a:xfrm>
            <a:off x="3719513" y="2924175"/>
            <a:ext cx="215900" cy="287338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406" name="AutoShape 126"/>
          <p:cNvSpPr>
            <a:spLocks noChangeArrowheads="1"/>
          </p:cNvSpPr>
          <p:nvPr/>
        </p:nvSpPr>
        <p:spPr bwMode="auto">
          <a:xfrm>
            <a:off x="5735638" y="2924175"/>
            <a:ext cx="215900" cy="287338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407" name="AutoShape 127"/>
          <p:cNvSpPr>
            <a:spLocks noChangeArrowheads="1"/>
          </p:cNvSpPr>
          <p:nvPr/>
        </p:nvSpPr>
        <p:spPr bwMode="auto">
          <a:xfrm>
            <a:off x="3719513" y="4076700"/>
            <a:ext cx="215900" cy="287338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408" name="AutoShape 128"/>
          <p:cNvSpPr>
            <a:spLocks noChangeArrowheads="1"/>
          </p:cNvSpPr>
          <p:nvPr/>
        </p:nvSpPr>
        <p:spPr bwMode="auto">
          <a:xfrm>
            <a:off x="3719513" y="3716339"/>
            <a:ext cx="215900" cy="2873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409" name="AutoShape 129"/>
          <p:cNvSpPr>
            <a:spLocks noChangeArrowheads="1"/>
          </p:cNvSpPr>
          <p:nvPr/>
        </p:nvSpPr>
        <p:spPr bwMode="auto">
          <a:xfrm>
            <a:off x="5735638" y="3284539"/>
            <a:ext cx="215900" cy="2873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7284" name="Object 4"/>
          <p:cNvGraphicFramePr>
            <a:graphicFrameLocks noChangeAspect="1"/>
          </p:cNvGraphicFramePr>
          <p:nvPr/>
        </p:nvGraphicFramePr>
        <p:xfrm>
          <a:off x="2386013" y="619125"/>
          <a:ext cx="4430712" cy="165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76440" imgH="927000" progId="Equation.3">
                  <p:embed/>
                </p:oleObj>
              </mc:Choice>
              <mc:Fallback>
                <p:oleObj name="公式" r:id="rId3" imgW="2476440" imgH="9270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013" y="619125"/>
                        <a:ext cx="4430712" cy="165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5" name="Object 5"/>
          <p:cNvGraphicFramePr>
            <a:graphicFrameLocks noChangeAspect="1"/>
          </p:cNvGraphicFramePr>
          <p:nvPr/>
        </p:nvGraphicFramePr>
        <p:xfrm>
          <a:off x="7175500" y="809626"/>
          <a:ext cx="2687638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34960" imgH="698400" progId="Equation.3">
                  <p:embed/>
                </p:oleObj>
              </mc:Choice>
              <mc:Fallback>
                <p:oleObj name="公式" r:id="rId5" imgW="1434960" imgH="6984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809626"/>
                        <a:ext cx="2687638" cy="1249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661" name="Group 381"/>
          <p:cNvGraphicFramePr>
            <a:graphicFrameLocks noGrp="1"/>
          </p:cNvGraphicFramePr>
          <p:nvPr/>
        </p:nvGraphicFramePr>
        <p:xfrm>
          <a:off x="3141663" y="2462213"/>
          <a:ext cx="1441450" cy="1981200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350" name="Group 70"/>
          <p:cNvGraphicFramePr>
            <a:graphicFrameLocks noGrp="1"/>
          </p:cNvGraphicFramePr>
          <p:nvPr/>
        </p:nvGraphicFramePr>
        <p:xfrm>
          <a:off x="5640389" y="2459038"/>
          <a:ext cx="1463675" cy="198120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7579" name="Group 299"/>
          <p:cNvGraphicFramePr>
            <a:graphicFrameLocks noGrp="1"/>
          </p:cNvGraphicFramePr>
          <p:nvPr/>
        </p:nvGraphicFramePr>
        <p:xfrm>
          <a:off x="8278814" y="2390775"/>
          <a:ext cx="1463675" cy="277368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7404" name="Rectangle 124"/>
          <p:cNvSpPr>
            <a:spLocks noChangeArrowheads="1"/>
          </p:cNvSpPr>
          <p:nvPr/>
        </p:nvSpPr>
        <p:spPr bwMode="auto">
          <a:xfrm>
            <a:off x="3648075" y="4700588"/>
            <a:ext cx="297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M</a:t>
            </a:r>
            <a:r>
              <a:rPr lang="en-US" altLang="zh-CN" sz="2400"/>
              <a:t>[</a:t>
            </a:r>
            <a:r>
              <a:rPr lang="en-US" altLang="zh-CN" sz="2400" i="1"/>
              <a:t>i</a:t>
            </a:r>
            <a:r>
              <a:rPr lang="en-US" altLang="zh-CN" sz="2400"/>
              <a:t>][</a:t>
            </a:r>
            <a:r>
              <a:rPr lang="en-US" altLang="zh-CN" sz="2400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en-US" altLang="zh-CN" sz="2400"/>
              <a:t>]     *     </a:t>
            </a:r>
            <a:r>
              <a:rPr lang="en-US" altLang="zh-CN" sz="2400" i="1"/>
              <a:t>N</a:t>
            </a:r>
            <a:r>
              <a:rPr lang="en-US" altLang="zh-CN" sz="2400"/>
              <a:t>[</a:t>
            </a:r>
            <a:r>
              <a:rPr lang="en-US" altLang="zh-CN" sz="2400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en-US" altLang="zh-CN" sz="2400"/>
              <a:t>][</a:t>
            </a:r>
            <a:r>
              <a:rPr lang="en-US" altLang="zh-CN" sz="2400" i="1"/>
              <a:t>j</a:t>
            </a:r>
            <a:r>
              <a:rPr lang="en-US" altLang="zh-CN" sz="2400"/>
              <a:t>];</a:t>
            </a:r>
          </a:p>
        </p:txBody>
      </p:sp>
      <p:graphicFrame>
        <p:nvGraphicFramePr>
          <p:cNvPr id="97469" name="Group 189"/>
          <p:cNvGraphicFramePr>
            <a:graphicFrameLocks noGrp="1"/>
          </p:cNvGraphicFramePr>
          <p:nvPr/>
        </p:nvGraphicFramePr>
        <p:xfrm>
          <a:off x="4799014" y="5430839"/>
          <a:ext cx="3119437" cy="807403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row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rpos[row]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7470" name="AutoShape 190"/>
          <p:cNvSpPr>
            <a:spLocks noChangeArrowheads="1"/>
          </p:cNvSpPr>
          <p:nvPr/>
        </p:nvSpPr>
        <p:spPr bwMode="auto">
          <a:xfrm rot="5400000">
            <a:off x="6384132" y="4869657"/>
            <a:ext cx="865188" cy="142875"/>
          </a:xfrm>
          <a:prstGeom prst="notchedRightArrow">
            <a:avLst>
              <a:gd name="adj1" fmla="val 50000"/>
              <a:gd name="adj2" fmla="val 151389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7580" name="Group 300"/>
          <p:cNvGraphicFramePr>
            <a:graphicFrameLocks noGrp="1"/>
          </p:cNvGraphicFramePr>
          <p:nvPr/>
        </p:nvGraphicFramePr>
        <p:xfrm>
          <a:off x="8278814" y="2817813"/>
          <a:ext cx="1463675" cy="39624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  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6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541" name="Group 261"/>
          <p:cNvGraphicFramePr>
            <a:graphicFrameLocks noGrp="1"/>
          </p:cNvGraphicFramePr>
          <p:nvPr/>
        </p:nvGraphicFramePr>
        <p:xfrm>
          <a:off x="8278814" y="3214688"/>
          <a:ext cx="1463675" cy="39624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  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-1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558" name="Group 278"/>
          <p:cNvGraphicFramePr>
            <a:graphicFrameLocks noGrp="1"/>
          </p:cNvGraphicFramePr>
          <p:nvPr/>
        </p:nvGraphicFramePr>
        <p:xfrm>
          <a:off x="8278814" y="3609975"/>
          <a:ext cx="1463675" cy="39624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  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4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658" name="Group 378"/>
          <p:cNvGraphicFramePr>
            <a:graphicFrameLocks noGrp="1"/>
          </p:cNvGraphicFramePr>
          <p:nvPr/>
        </p:nvGraphicFramePr>
        <p:xfrm>
          <a:off x="8518526" y="5481638"/>
          <a:ext cx="1031875" cy="396240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581" name="Text Box 301"/>
          <p:cNvSpPr txBox="1">
            <a:spLocks noChangeArrowheads="1"/>
          </p:cNvSpPr>
          <p:nvPr/>
        </p:nvSpPr>
        <p:spPr bwMode="auto">
          <a:xfrm>
            <a:off x="9142413" y="5516563"/>
            <a:ext cx="311150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6</a:t>
            </a:r>
          </a:p>
        </p:txBody>
      </p:sp>
      <p:sp>
        <p:nvSpPr>
          <p:cNvPr id="97582" name="Text Box 302"/>
          <p:cNvSpPr txBox="1">
            <a:spLocks noChangeArrowheads="1"/>
          </p:cNvSpPr>
          <p:nvPr/>
        </p:nvSpPr>
        <p:spPr bwMode="auto">
          <a:xfrm>
            <a:off x="8589964" y="5516563"/>
            <a:ext cx="395287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-1</a:t>
            </a:r>
          </a:p>
        </p:txBody>
      </p:sp>
      <p:sp>
        <p:nvSpPr>
          <p:cNvPr id="97659" name="Text Box 379"/>
          <p:cNvSpPr txBox="1">
            <a:spLocks noChangeArrowheads="1"/>
          </p:cNvSpPr>
          <p:nvPr/>
        </p:nvSpPr>
        <p:spPr bwMode="auto">
          <a:xfrm>
            <a:off x="9142413" y="5516563"/>
            <a:ext cx="311150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0</a:t>
            </a:r>
          </a:p>
        </p:txBody>
      </p:sp>
      <p:sp>
        <p:nvSpPr>
          <p:cNvPr id="97660" name="Text Box 380"/>
          <p:cNvSpPr txBox="1">
            <a:spLocks noChangeArrowheads="1"/>
          </p:cNvSpPr>
          <p:nvPr/>
        </p:nvSpPr>
        <p:spPr bwMode="auto">
          <a:xfrm>
            <a:off x="8589963" y="5516563"/>
            <a:ext cx="311150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0</a:t>
            </a:r>
          </a:p>
        </p:txBody>
      </p:sp>
      <p:sp>
        <p:nvSpPr>
          <p:cNvPr id="97583" name="Text Box 303"/>
          <p:cNvSpPr txBox="1">
            <a:spLocks noChangeArrowheads="1"/>
          </p:cNvSpPr>
          <p:nvPr/>
        </p:nvSpPr>
        <p:spPr bwMode="auto">
          <a:xfrm>
            <a:off x="9151938" y="5516563"/>
            <a:ext cx="374650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000"/>
              <a:t>4 </a:t>
            </a:r>
          </a:p>
        </p:txBody>
      </p:sp>
      <p:grpSp>
        <p:nvGrpSpPr>
          <p:cNvPr id="97650" name="Group 370"/>
          <p:cNvGrpSpPr>
            <a:grpSpLocks/>
          </p:cNvGrpSpPr>
          <p:nvPr/>
        </p:nvGrpSpPr>
        <p:grpSpPr bwMode="auto">
          <a:xfrm>
            <a:off x="2422525" y="2389189"/>
            <a:ext cx="5113338" cy="2840037"/>
            <a:chOff x="158" y="1505"/>
            <a:chExt cx="3221" cy="1789"/>
          </a:xfrm>
        </p:grpSpPr>
        <p:sp>
          <p:nvSpPr>
            <p:cNvPr id="97632" name="Text Box 352"/>
            <p:cNvSpPr txBox="1">
              <a:spLocks noChangeArrowheads="1"/>
            </p:cNvSpPr>
            <p:nvPr/>
          </p:nvSpPr>
          <p:spPr bwMode="auto">
            <a:xfrm>
              <a:off x="158" y="1505"/>
              <a:ext cx="3221" cy="17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70000"/>
                </a:lnSpc>
                <a:spcBef>
                  <a:spcPct val="50000"/>
                </a:spcBef>
              </a:pPr>
              <a:r>
                <a:rPr lang="zh-CN" altLang="en-US" sz="2400">
                  <a:solidFill>
                    <a:srgbClr val="FF3300"/>
                  </a:solidFill>
                  <a:ea typeface="华文中宋" pitchFamily="2" charset="-122"/>
                </a:rPr>
                <a:t>注意：</a:t>
              </a:r>
              <a:r>
                <a:rPr lang="zh-CN" altLang="en-US" sz="2400"/>
                <a:t>两个稀疏矩阵相乘的结果 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2400"/>
                <a:t>            </a:t>
              </a:r>
              <a:r>
                <a:rPr lang="zh-CN" altLang="en-US" sz="2400">
                  <a:solidFill>
                    <a:srgbClr val="0000FF"/>
                  </a:solidFill>
                </a:rPr>
                <a:t>不一定</a:t>
              </a:r>
              <a:r>
                <a:rPr lang="zh-CN" altLang="en-US" sz="2400"/>
                <a:t>是稀疏矩阵。 </a:t>
              </a:r>
            </a:p>
            <a:p>
              <a:pPr>
                <a:spcBef>
                  <a:spcPct val="50000"/>
                </a:spcBef>
              </a:pPr>
              <a:endParaRPr lang="zh-CN" altLang="en-US" sz="2400"/>
            </a:p>
            <a:p>
              <a:pPr>
                <a:lnSpc>
                  <a:spcPct val="110000"/>
                </a:lnSpc>
                <a:spcBef>
                  <a:spcPct val="50000"/>
                </a:spcBef>
              </a:pPr>
              <a:endParaRPr lang="zh-CN" altLang="en-US" sz="2400"/>
            </a:p>
            <a:p>
              <a:pPr>
                <a:lnSpc>
                  <a:spcPct val="110000"/>
                </a:lnSpc>
                <a:spcBef>
                  <a:spcPct val="50000"/>
                </a:spcBef>
              </a:pPr>
              <a:endParaRPr kumimoji="0" lang="en-US" altLang="zh-CN" sz="2400" b="0"/>
            </a:p>
          </p:txBody>
        </p:sp>
        <p:graphicFrame>
          <p:nvGraphicFramePr>
            <p:cNvPr id="97649" name="Object 369"/>
            <p:cNvGraphicFramePr>
              <a:graphicFrameLocks noChangeAspect="1"/>
            </p:cNvGraphicFramePr>
            <p:nvPr/>
          </p:nvGraphicFramePr>
          <p:xfrm>
            <a:off x="249" y="2251"/>
            <a:ext cx="2994" cy="9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209680" imgH="698400" progId="Equation.3">
                    <p:embed/>
                  </p:oleObj>
                </mc:Choice>
                <mc:Fallback>
                  <p:oleObj name="公式" r:id="rId7" imgW="2209680" imgH="698400" progId="Equation.3">
                    <p:embed/>
                    <p:pic>
                      <p:nvPicPr>
                        <p:cNvPr id="0" name="Picture 3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2251"/>
                          <a:ext cx="2994" cy="9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7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7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7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7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9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7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7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7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7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9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2" dur="1000"/>
                                        <p:tgtEl>
                                          <p:spTgt spid="976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7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7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7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7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7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7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7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7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97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7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9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7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7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7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7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9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97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97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9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97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97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97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97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9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7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7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97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4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2" dur="1000"/>
                                        <p:tgtEl>
                                          <p:spTgt spid="9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97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97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9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97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97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662" grpId="0" animBg="1"/>
      <p:bldP spid="97405" grpId="0" animBg="1"/>
      <p:bldP spid="97406" grpId="0" animBg="1"/>
      <p:bldP spid="97406" grpId="1" animBg="1"/>
      <p:bldP spid="97407" grpId="0" animBg="1"/>
      <p:bldP spid="97408" grpId="0" animBg="1"/>
      <p:bldP spid="97409" grpId="0" animBg="1"/>
      <p:bldP spid="97404" grpId="0"/>
      <p:bldP spid="97470" grpId="0" animBg="1"/>
      <p:bldP spid="97581" grpId="0" animBg="1"/>
      <p:bldP spid="97582" grpId="0" animBg="1"/>
      <p:bldP spid="97659" grpId="0" animBg="1"/>
      <p:bldP spid="97660" grpId="0" animBg="1"/>
      <p:bldP spid="9758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1703389" y="476251"/>
            <a:ext cx="8785225" cy="6119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 err="1">
                <a:cs typeface="ˎ̥"/>
              </a:rPr>
              <a:t>int</a:t>
            </a:r>
            <a:r>
              <a:rPr lang="en-US" altLang="zh-CN" sz="2400" dirty="0">
                <a:cs typeface="ˎ̥"/>
              </a:rPr>
              <a:t> </a:t>
            </a:r>
            <a:r>
              <a:rPr lang="en-US" altLang="zh-CN" sz="2400" dirty="0" err="1">
                <a:cs typeface="ˎ̥"/>
              </a:rPr>
              <a:t>MulSMatrix</a:t>
            </a:r>
            <a:r>
              <a:rPr lang="en-US" altLang="zh-CN" sz="2400" dirty="0">
                <a:cs typeface="ˎ̥"/>
              </a:rPr>
              <a:t> (</a:t>
            </a:r>
            <a:r>
              <a:rPr lang="en-US" altLang="zh-CN" sz="2400" dirty="0" err="1">
                <a:cs typeface="ˎ̥"/>
              </a:rPr>
              <a:t>RLSMatrix</a:t>
            </a:r>
            <a:r>
              <a:rPr lang="en-US" altLang="zh-CN" sz="2400" dirty="0">
                <a:cs typeface="ˎ̥"/>
              </a:rPr>
              <a:t> M, </a:t>
            </a:r>
            <a:r>
              <a:rPr lang="en-US" altLang="zh-CN" sz="2400" dirty="0" err="1">
                <a:cs typeface="ˎ̥"/>
              </a:rPr>
              <a:t>RLSMatrix</a:t>
            </a:r>
            <a:r>
              <a:rPr lang="en-US" altLang="zh-CN" sz="2400" dirty="0">
                <a:cs typeface="ˎ̥"/>
              </a:rPr>
              <a:t> N, </a:t>
            </a:r>
            <a:r>
              <a:rPr lang="en-US" altLang="zh-CN" sz="2400" dirty="0" err="1">
                <a:cs typeface="ˎ̥"/>
              </a:rPr>
              <a:t>RLSMatrix</a:t>
            </a:r>
            <a:r>
              <a:rPr lang="en-US" altLang="zh-CN" sz="2400" dirty="0">
                <a:cs typeface="ˎ̥"/>
              </a:rPr>
              <a:t>  *Q)  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{ if (M.nu != N.mu) return ERROR;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      Q.mu = M.mu;  Q.nu = N.nu;  </a:t>
            </a:r>
            <a:r>
              <a:rPr lang="en-US" altLang="zh-CN" sz="2400" dirty="0" err="1">
                <a:cs typeface="ˎ̥"/>
              </a:rPr>
              <a:t>Q.tu</a:t>
            </a:r>
            <a:r>
              <a:rPr lang="en-US" altLang="zh-CN" sz="2400" dirty="0">
                <a:cs typeface="ˎ̥"/>
              </a:rPr>
              <a:t> = 0;  // </a:t>
            </a:r>
            <a:r>
              <a:rPr lang="en-US" altLang="zh-CN" sz="2400" dirty="0">
                <a:solidFill>
                  <a:srgbClr val="0000FF"/>
                </a:solidFill>
                <a:cs typeface="ˎ̥"/>
              </a:rPr>
              <a:t>Q </a:t>
            </a:r>
            <a:r>
              <a:rPr lang="zh-CN" altLang="en-US" sz="2400" dirty="0">
                <a:solidFill>
                  <a:srgbClr val="0000FF"/>
                </a:solidFill>
                <a:cs typeface="ˎ̥"/>
              </a:rPr>
              <a:t>初始化</a:t>
            </a:r>
            <a:r>
              <a:rPr lang="zh-CN" altLang="en-US" sz="2400" dirty="0">
                <a:cs typeface="ˎ̥"/>
              </a:rPr>
              <a:t>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zh-CN" altLang="en-US" sz="2400" dirty="0">
                <a:cs typeface="ˎ̥"/>
              </a:rPr>
              <a:t>      </a:t>
            </a:r>
            <a:r>
              <a:rPr lang="en-US" altLang="zh-CN" sz="2400" dirty="0">
                <a:cs typeface="ˎ̥"/>
              </a:rPr>
              <a:t>if (</a:t>
            </a:r>
            <a:r>
              <a:rPr lang="en-US" altLang="zh-CN" sz="2400" dirty="0" err="1">
                <a:cs typeface="ˎ̥"/>
              </a:rPr>
              <a:t>M.tu</a:t>
            </a:r>
            <a:r>
              <a:rPr lang="en-US" altLang="zh-CN" sz="2400" dirty="0">
                <a:cs typeface="ˎ̥"/>
              </a:rPr>
              <a:t> * </a:t>
            </a:r>
            <a:r>
              <a:rPr lang="en-US" altLang="zh-CN" sz="2400" dirty="0" err="1">
                <a:cs typeface="ˎ̥"/>
              </a:rPr>
              <a:t>N.tu</a:t>
            </a:r>
            <a:r>
              <a:rPr lang="en-US" altLang="zh-CN" sz="2400" dirty="0">
                <a:cs typeface="ˎ̥"/>
              </a:rPr>
              <a:t> != 0)   // </a:t>
            </a:r>
            <a:r>
              <a:rPr lang="en-US" altLang="zh-CN" sz="2400" dirty="0">
                <a:solidFill>
                  <a:srgbClr val="0000FF"/>
                </a:solidFill>
                <a:cs typeface="ˎ̥"/>
              </a:rPr>
              <a:t>Q </a:t>
            </a:r>
            <a:r>
              <a:rPr lang="zh-CN" altLang="en-US" sz="2400" dirty="0">
                <a:solidFill>
                  <a:srgbClr val="0000FF"/>
                </a:solidFill>
                <a:cs typeface="ˎ̥"/>
              </a:rPr>
              <a:t>是非零矩阵</a:t>
            </a:r>
            <a:r>
              <a:rPr lang="zh-CN" altLang="en-US" sz="2400" dirty="0">
                <a:cs typeface="ˎ̥"/>
              </a:rPr>
              <a:t>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zh-CN" altLang="en-US" sz="2400" dirty="0">
                <a:cs typeface="ˎ̥"/>
              </a:rPr>
              <a:t>         </a:t>
            </a:r>
            <a:r>
              <a:rPr lang="en-US" altLang="zh-CN" sz="2400" dirty="0">
                <a:cs typeface="ˎ̥"/>
              </a:rPr>
              <a:t>for (</a:t>
            </a:r>
            <a:r>
              <a:rPr lang="en-US" altLang="zh-CN" sz="2400" dirty="0" err="1">
                <a:cs typeface="ˎ̥"/>
              </a:rPr>
              <a:t>arow</a:t>
            </a:r>
            <a:r>
              <a:rPr lang="en-US" altLang="zh-CN" sz="2400" dirty="0">
                <a:cs typeface="ˎ̥"/>
              </a:rPr>
              <a:t>=1;  </a:t>
            </a:r>
            <a:r>
              <a:rPr lang="en-US" altLang="zh-CN" sz="2400" dirty="0" err="1">
                <a:cs typeface="ˎ̥"/>
              </a:rPr>
              <a:t>arow</a:t>
            </a:r>
            <a:r>
              <a:rPr lang="en-US" altLang="zh-CN" sz="2400" dirty="0">
                <a:cs typeface="ˎ̥"/>
              </a:rPr>
              <a:t>&lt;=M.mu;  ++</a:t>
            </a:r>
            <a:r>
              <a:rPr lang="en-US" altLang="zh-CN" sz="2400" dirty="0" err="1">
                <a:cs typeface="ˎ̥"/>
              </a:rPr>
              <a:t>arow</a:t>
            </a:r>
            <a:r>
              <a:rPr lang="en-US" altLang="zh-CN" sz="2400" dirty="0">
                <a:cs typeface="ˎ̥"/>
              </a:rPr>
              <a:t>)    //</a:t>
            </a:r>
            <a:r>
              <a:rPr lang="zh-CN" altLang="en-US" sz="2400" dirty="0">
                <a:solidFill>
                  <a:srgbClr val="0000FF"/>
                </a:solidFill>
                <a:cs typeface="ˎ̥"/>
              </a:rPr>
              <a:t>逐行处理 </a:t>
            </a:r>
            <a:r>
              <a:rPr lang="en-US" altLang="zh-CN" sz="2400" dirty="0">
                <a:solidFill>
                  <a:srgbClr val="0000FF"/>
                </a:solidFill>
                <a:cs typeface="ˎ̥"/>
              </a:rPr>
              <a:t>M</a:t>
            </a:r>
            <a:r>
              <a:rPr lang="en-US" altLang="zh-CN" sz="2400" dirty="0">
                <a:cs typeface="ˎ̥"/>
              </a:rPr>
              <a:t>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        {  </a:t>
            </a:r>
            <a:r>
              <a:rPr lang="en-US" altLang="zh-CN" sz="2400" dirty="0" err="1">
                <a:cs typeface="ˎ̥"/>
              </a:rPr>
              <a:t>ctemp</a:t>
            </a:r>
            <a:r>
              <a:rPr lang="en-US" altLang="zh-CN" sz="2400" dirty="0">
                <a:cs typeface="ˎ̥"/>
              </a:rPr>
              <a:t>[ ]=0 ;    // </a:t>
            </a:r>
            <a:r>
              <a:rPr lang="zh-CN" altLang="en-US" sz="2400" dirty="0">
                <a:solidFill>
                  <a:srgbClr val="0000FF"/>
                </a:solidFill>
                <a:cs typeface="ˎ̥"/>
              </a:rPr>
              <a:t>当前行各元素的累加器清零</a:t>
            </a:r>
            <a:r>
              <a:rPr lang="zh-CN" altLang="en-US" sz="2400" dirty="0">
                <a:cs typeface="ˎ̥"/>
              </a:rPr>
              <a:t>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zh-CN" altLang="en-US" sz="2400" dirty="0">
                <a:cs typeface="ˎ̥"/>
              </a:rPr>
              <a:t>            </a:t>
            </a:r>
            <a:r>
              <a:rPr lang="en-US" altLang="zh-CN" sz="2400" dirty="0" err="1">
                <a:cs typeface="ˎ̥"/>
              </a:rPr>
              <a:t>Q.rpos</a:t>
            </a:r>
            <a:r>
              <a:rPr lang="en-US" altLang="zh-CN" sz="2400" dirty="0">
                <a:cs typeface="ˎ̥"/>
              </a:rPr>
              <a:t>[</a:t>
            </a:r>
            <a:r>
              <a:rPr lang="en-US" altLang="zh-CN" sz="2400" dirty="0" err="1">
                <a:cs typeface="ˎ̥"/>
              </a:rPr>
              <a:t>arow</a:t>
            </a:r>
            <a:r>
              <a:rPr lang="en-US" altLang="zh-CN" sz="2400" dirty="0">
                <a:cs typeface="ˎ̥"/>
              </a:rPr>
              <a:t>] = </a:t>
            </a:r>
            <a:r>
              <a:rPr lang="en-US" altLang="zh-CN" sz="2400" dirty="0" err="1">
                <a:cs typeface="ˎ̥"/>
              </a:rPr>
              <a:t>Q.tu</a:t>
            </a:r>
            <a:r>
              <a:rPr lang="en-US" altLang="zh-CN" sz="2400" dirty="0">
                <a:cs typeface="ˎ̥"/>
              </a:rPr>
              <a:t> + 1;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            if (</a:t>
            </a:r>
            <a:r>
              <a:rPr lang="en-US" altLang="zh-CN" sz="2400" dirty="0" err="1">
                <a:cs typeface="ˎ̥"/>
              </a:rPr>
              <a:t>arow</a:t>
            </a:r>
            <a:r>
              <a:rPr lang="en-US" altLang="zh-CN" sz="2400" dirty="0">
                <a:cs typeface="ˎ̥"/>
              </a:rPr>
              <a:t>&lt;M.mu)  </a:t>
            </a:r>
            <a:r>
              <a:rPr lang="en-US" altLang="zh-CN" sz="2400" dirty="0" err="1">
                <a:cs typeface="ˎ̥"/>
              </a:rPr>
              <a:t>tp</a:t>
            </a:r>
            <a:r>
              <a:rPr lang="en-US" altLang="zh-CN" sz="2400" dirty="0">
                <a:cs typeface="ˎ̥"/>
              </a:rPr>
              <a:t>=</a:t>
            </a:r>
            <a:r>
              <a:rPr lang="en-US" altLang="zh-CN" sz="2400" dirty="0" err="1">
                <a:cs typeface="ˎ̥"/>
              </a:rPr>
              <a:t>M.rpos</a:t>
            </a:r>
            <a:r>
              <a:rPr lang="en-US" altLang="zh-CN" sz="2400" dirty="0">
                <a:cs typeface="ˎ̥"/>
              </a:rPr>
              <a:t>[arow+1];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            else  </a:t>
            </a:r>
            <a:r>
              <a:rPr lang="en-US" altLang="zh-CN" sz="2400" dirty="0" err="1">
                <a:cs typeface="ˎ̥"/>
              </a:rPr>
              <a:t>tp</a:t>
            </a:r>
            <a:r>
              <a:rPr lang="en-US" altLang="zh-CN" sz="2400" dirty="0">
                <a:cs typeface="ˎ̥"/>
              </a:rPr>
              <a:t>=M.tu+1;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            for (p=</a:t>
            </a:r>
            <a:r>
              <a:rPr lang="en-US" altLang="zh-CN" sz="2400" dirty="0" err="1">
                <a:cs typeface="ˎ̥"/>
              </a:rPr>
              <a:t>M.rpos</a:t>
            </a:r>
            <a:r>
              <a:rPr lang="en-US" altLang="zh-CN" sz="2400" dirty="0">
                <a:cs typeface="ˎ̥"/>
              </a:rPr>
              <a:t>[</a:t>
            </a:r>
            <a:r>
              <a:rPr lang="en-US" altLang="zh-CN" sz="2400" dirty="0" err="1">
                <a:cs typeface="ˎ̥"/>
              </a:rPr>
              <a:t>arow</a:t>
            </a:r>
            <a:r>
              <a:rPr lang="en-US" altLang="zh-CN" sz="2400" dirty="0">
                <a:cs typeface="ˎ̥"/>
              </a:rPr>
              <a:t>];  p&lt;</a:t>
            </a:r>
            <a:r>
              <a:rPr lang="en-US" altLang="zh-CN" sz="2400" dirty="0" err="1">
                <a:cs typeface="ˎ̥"/>
              </a:rPr>
              <a:t>tp</a:t>
            </a:r>
            <a:r>
              <a:rPr lang="en-US" altLang="zh-CN" sz="2400" dirty="0">
                <a:cs typeface="ˎ̥"/>
              </a:rPr>
              <a:t>;  ++p)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           { //</a:t>
            </a:r>
            <a:r>
              <a:rPr lang="zh-CN" altLang="en-US" sz="2400" dirty="0">
                <a:solidFill>
                  <a:srgbClr val="0000FF"/>
                </a:solidFill>
                <a:cs typeface="ˎ̥"/>
              </a:rPr>
              <a:t>对当前行中每一个非零元找到对应元在 </a:t>
            </a:r>
            <a:r>
              <a:rPr lang="en-US" altLang="zh-CN" sz="2400" dirty="0">
                <a:solidFill>
                  <a:srgbClr val="0000FF"/>
                </a:solidFill>
                <a:cs typeface="ˎ̥"/>
              </a:rPr>
              <a:t>N </a:t>
            </a:r>
            <a:r>
              <a:rPr lang="zh-CN" altLang="en-US" sz="2400" dirty="0">
                <a:solidFill>
                  <a:srgbClr val="0000FF"/>
                </a:solidFill>
                <a:cs typeface="ˎ̥"/>
              </a:rPr>
              <a:t>中的行号</a:t>
            </a:r>
            <a:r>
              <a:rPr lang="zh-CN" altLang="en-US" sz="2400" dirty="0">
                <a:cs typeface="ˎ̥"/>
              </a:rPr>
              <a:t>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zh-CN" altLang="en-US" sz="2400" dirty="0">
                <a:cs typeface="ˎ̥"/>
              </a:rPr>
              <a:t>                </a:t>
            </a:r>
            <a:r>
              <a:rPr lang="en-US" altLang="zh-CN" sz="2400" dirty="0">
                <a:cs typeface="ˎ̥"/>
              </a:rPr>
              <a:t>brow=</a:t>
            </a:r>
            <a:r>
              <a:rPr lang="en-US" altLang="zh-CN" sz="2400" dirty="0" err="1">
                <a:cs typeface="ˎ̥"/>
              </a:rPr>
              <a:t>M.data</a:t>
            </a:r>
            <a:r>
              <a:rPr lang="en-US" altLang="zh-CN" sz="2400" dirty="0">
                <a:cs typeface="ˎ̥"/>
              </a:rPr>
              <a:t>[p].j; 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                if (brow &lt; N.nu )   t = </a:t>
            </a:r>
            <a:r>
              <a:rPr lang="en-US" altLang="zh-CN" sz="2400" dirty="0" err="1">
                <a:cs typeface="ˎ̥"/>
              </a:rPr>
              <a:t>N.rpos</a:t>
            </a:r>
            <a:r>
              <a:rPr lang="en-US" altLang="zh-CN" sz="2400" dirty="0">
                <a:cs typeface="ˎ̥"/>
              </a:rPr>
              <a:t>[brow+1];  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                else  t = N.tu+1; </a:t>
            </a:r>
          </a:p>
        </p:txBody>
      </p:sp>
    </p:spTree>
  </p:cSld>
  <p:clrMapOvr>
    <a:masterClrMapping/>
  </p:clrMapOvr>
  <p:transition spd="slow">
    <p:split orient="vert" dir="in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2017714" y="333376"/>
            <a:ext cx="8542337" cy="622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/>
              <a:t>            for (q=N.rpos[brow];  q&lt; t;  ++q) { </a:t>
            </a:r>
            <a:br>
              <a:rPr lang="en-US" altLang="zh-CN" sz="2400"/>
            </a:br>
            <a:r>
              <a:rPr lang="en-US" altLang="zh-CN" sz="2400"/>
              <a:t>               ccol = N.data[q].j;    // </a:t>
            </a:r>
            <a:r>
              <a:rPr lang="zh-CN" altLang="en-US" sz="2400">
                <a:solidFill>
                  <a:srgbClr val="0000FF"/>
                </a:solidFill>
              </a:rPr>
              <a:t>乘积元素在</a:t>
            </a:r>
            <a:r>
              <a:rPr lang="en-US" altLang="zh-CN" sz="2400">
                <a:solidFill>
                  <a:srgbClr val="0000FF"/>
                </a:solidFill>
              </a:rPr>
              <a:t>Q</a:t>
            </a:r>
            <a:r>
              <a:rPr lang="zh-CN" altLang="en-US" sz="2400">
                <a:solidFill>
                  <a:srgbClr val="0000FF"/>
                </a:solidFill>
              </a:rPr>
              <a:t>中列号 </a:t>
            </a:r>
            <a:br>
              <a:rPr lang="zh-CN" altLang="en-US" sz="2400"/>
            </a:br>
            <a:r>
              <a:rPr lang="zh-CN" altLang="en-US" sz="2400"/>
              <a:t>               </a:t>
            </a:r>
            <a:r>
              <a:rPr lang="en-US" altLang="zh-CN" sz="2400"/>
              <a:t>ctemp[ccol] += M.data[p].e * N.data[q].e; </a:t>
            </a:r>
            <a:br>
              <a:rPr lang="en-US" altLang="zh-CN" sz="2400"/>
            </a:br>
            <a:r>
              <a:rPr lang="en-US" altLang="zh-CN" sz="2400"/>
              <a:t>            } // </a:t>
            </a:r>
            <a:r>
              <a:rPr lang="en-US" altLang="zh-CN" sz="2400">
                <a:solidFill>
                  <a:srgbClr val="0000FF"/>
                </a:solidFill>
              </a:rPr>
              <a:t>for q </a:t>
            </a:r>
            <a:br>
              <a:rPr lang="en-US" altLang="zh-CN" sz="2400"/>
            </a:br>
            <a:r>
              <a:rPr lang="en-US" altLang="zh-CN" sz="2400"/>
              <a:t>         } // </a:t>
            </a:r>
            <a:r>
              <a:rPr lang="zh-CN" altLang="en-US" sz="2400">
                <a:solidFill>
                  <a:srgbClr val="0000FF"/>
                </a:solidFill>
              </a:rPr>
              <a:t>求得</a:t>
            </a:r>
            <a:r>
              <a:rPr lang="en-US" altLang="zh-CN" sz="2400">
                <a:solidFill>
                  <a:srgbClr val="0000FF"/>
                </a:solidFill>
              </a:rPr>
              <a:t>Q</a:t>
            </a:r>
            <a:r>
              <a:rPr lang="zh-CN" altLang="en-US" sz="2400">
                <a:solidFill>
                  <a:srgbClr val="0000FF"/>
                </a:solidFill>
              </a:rPr>
              <a:t>中第</a:t>
            </a:r>
            <a:r>
              <a:rPr lang="en-US" altLang="zh-CN" sz="2400">
                <a:solidFill>
                  <a:srgbClr val="0000FF"/>
                </a:solidFill>
              </a:rPr>
              <a:t>crow( =arow)</a:t>
            </a:r>
            <a:r>
              <a:rPr lang="zh-CN" altLang="en-US" sz="2400">
                <a:solidFill>
                  <a:srgbClr val="0000FF"/>
                </a:solidFill>
              </a:rPr>
              <a:t>行的非零元 </a:t>
            </a:r>
            <a:br>
              <a:rPr lang="zh-CN" altLang="en-US" sz="2400"/>
            </a:br>
            <a:r>
              <a:rPr lang="zh-CN" altLang="en-US" sz="2400"/>
              <a:t>         </a:t>
            </a:r>
            <a:r>
              <a:rPr lang="en-US" altLang="zh-CN" sz="2400"/>
              <a:t>for (ccol=1;  ccol&lt;=Q.nu;  ++ccol) // </a:t>
            </a:r>
            <a:r>
              <a:rPr lang="zh-CN" altLang="en-US" sz="2400">
                <a:solidFill>
                  <a:srgbClr val="0000FF"/>
                </a:solidFill>
              </a:rPr>
              <a:t>压缩存储该行非零元   </a:t>
            </a:r>
            <a:br>
              <a:rPr lang="zh-CN" altLang="en-US" sz="2400"/>
            </a:br>
            <a:r>
              <a:rPr lang="zh-CN" altLang="en-US" sz="2400"/>
              <a:t>            </a:t>
            </a:r>
            <a:r>
              <a:rPr lang="en-US" altLang="zh-CN" sz="2400"/>
              <a:t>if (ctemp[ccol]) { </a:t>
            </a:r>
            <a:br>
              <a:rPr lang="en-US" altLang="zh-CN" sz="2400"/>
            </a:br>
            <a:r>
              <a:rPr lang="en-US" altLang="zh-CN" sz="2400"/>
              <a:t>               if (++Q.tu &gt; MAXSIZE) return ERROR; </a:t>
            </a:r>
            <a:br>
              <a:rPr lang="en-US" altLang="zh-CN" sz="2400"/>
            </a:br>
            <a:r>
              <a:rPr lang="en-US" altLang="zh-CN" sz="2400"/>
              <a:t>               Q.data[Q.tu] = {arow, ccol, ctemp[ccol]}; </a:t>
            </a:r>
            <a:br>
              <a:rPr lang="en-US" altLang="zh-CN" sz="2400"/>
            </a:br>
            <a:r>
              <a:rPr lang="en-US" altLang="zh-CN" sz="2400"/>
              <a:t>            } // if </a:t>
            </a:r>
            <a:br>
              <a:rPr lang="en-US" altLang="zh-CN" sz="2400"/>
            </a:br>
            <a:r>
              <a:rPr lang="en-US" altLang="zh-CN" sz="2400"/>
              <a:t>      } // for arow </a:t>
            </a:r>
            <a:br>
              <a:rPr lang="en-US" altLang="zh-CN" sz="2400"/>
            </a:br>
            <a:r>
              <a:rPr lang="en-US" altLang="zh-CN" sz="2400"/>
              <a:t>   } // if </a:t>
            </a:r>
            <a:br>
              <a:rPr lang="en-US" altLang="zh-CN" sz="2400"/>
            </a:br>
            <a:r>
              <a:rPr lang="en-US" altLang="zh-CN" sz="2400"/>
              <a:t>   return OK; </a:t>
            </a:r>
            <a:br>
              <a:rPr lang="en-US" altLang="zh-CN" sz="2400"/>
            </a:br>
            <a:r>
              <a:rPr lang="en-US" altLang="zh-CN" sz="2400"/>
              <a:t>} // MultSMatrix 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6" name="Text Box 4"/>
          <p:cNvSpPr txBox="1">
            <a:spLocks noChangeArrowheads="1"/>
          </p:cNvSpPr>
          <p:nvPr/>
        </p:nvSpPr>
        <p:spPr bwMode="auto">
          <a:xfrm>
            <a:off x="2163763" y="568326"/>
            <a:ext cx="8253412" cy="578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>
                <a:ea typeface="华文中宋" pitchFamily="2" charset="-122"/>
              </a:rPr>
              <a:t>上述算法的时间复杂度分析： </a:t>
            </a:r>
            <a:br>
              <a:rPr lang="zh-CN" altLang="en-US" sz="2400"/>
            </a:br>
            <a:r>
              <a:rPr lang="zh-CN" altLang="en-US" sz="2400">
                <a:solidFill>
                  <a:srgbClr val="000000"/>
                </a:solidFill>
              </a:rPr>
              <a:t>◆</a:t>
            </a:r>
            <a:r>
              <a:rPr lang="zh-CN" altLang="en-US" sz="2400"/>
              <a:t> 累加器</a:t>
            </a:r>
            <a:r>
              <a:rPr lang="en-US" altLang="zh-CN" sz="2400">
                <a:solidFill>
                  <a:srgbClr val="0000FF"/>
                </a:solidFill>
              </a:rPr>
              <a:t>ctemp</a:t>
            </a:r>
            <a:r>
              <a:rPr lang="zh-CN" altLang="en-US" sz="2400">
                <a:solidFill>
                  <a:srgbClr val="0000FF"/>
                </a:solidFill>
              </a:rPr>
              <a:t>初始化</a:t>
            </a:r>
            <a:r>
              <a:rPr lang="zh-CN" altLang="en-US" sz="2400"/>
              <a:t>的时间复杂度为 </a:t>
            </a:r>
            <a:r>
              <a:rPr lang="en-US" altLang="zh-CN" sz="2400" i="1">
                <a:solidFill>
                  <a:srgbClr val="000000"/>
                </a:solidFill>
              </a:rPr>
              <a:t>O</a:t>
            </a:r>
            <a:r>
              <a:rPr lang="en-US" altLang="zh-CN" sz="2400"/>
              <a:t>(M.mu</a:t>
            </a:r>
            <a:r>
              <a:rPr lang="en-US" altLang="en-US" sz="2400"/>
              <a:t>×</a:t>
            </a:r>
            <a:r>
              <a:rPr lang="en-US" altLang="zh-CN" sz="2400"/>
              <a:t>N.mu) </a:t>
            </a:r>
            <a:br>
              <a:rPr lang="en-US" altLang="zh-CN" sz="2400"/>
            </a:br>
            <a:r>
              <a:rPr lang="en-US" altLang="zh-CN" sz="2400">
                <a:solidFill>
                  <a:srgbClr val="000000"/>
                </a:solidFill>
              </a:rPr>
              <a:t>◆</a:t>
            </a:r>
            <a:r>
              <a:rPr lang="zh-CN" altLang="en-US" sz="2400"/>
              <a:t>求</a:t>
            </a:r>
            <a:r>
              <a:rPr lang="en-US" altLang="zh-CN" sz="2400"/>
              <a:t>Q</a:t>
            </a:r>
            <a:r>
              <a:rPr lang="zh-CN" altLang="en-US" sz="2400"/>
              <a:t>的所有非零元的时间复杂度为 </a:t>
            </a:r>
            <a:r>
              <a:rPr lang="en-US" altLang="zh-CN" sz="2400" i="1"/>
              <a:t>O</a:t>
            </a:r>
            <a:r>
              <a:rPr lang="en-US" altLang="zh-CN" sz="2400"/>
              <a:t>(M.tu</a:t>
            </a:r>
            <a:r>
              <a:rPr lang="en-US" altLang="en-US" sz="2400"/>
              <a:t>×</a:t>
            </a:r>
            <a:r>
              <a:rPr lang="en-US" altLang="zh-CN" sz="2400"/>
              <a:t>N.tu/N.mu) </a:t>
            </a:r>
            <a:br>
              <a:rPr lang="en-US" altLang="zh-CN" sz="2400"/>
            </a:br>
            <a:r>
              <a:rPr lang="en-US" altLang="zh-CN" sz="2400">
                <a:solidFill>
                  <a:srgbClr val="000000"/>
                </a:solidFill>
              </a:rPr>
              <a:t>◆</a:t>
            </a:r>
            <a:r>
              <a:rPr lang="en-US" altLang="zh-CN" sz="2400"/>
              <a:t> </a:t>
            </a:r>
            <a:r>
              <a:rPr lang="zh-CN" altLang="en-US" sz="2400"/>
              <a:t>进行压缩存储的时间复杂度为 </a:t>
            </a:r>
            <a:r>
              <a:rPr lang="en-US" altLang="zh-CN" sz="2400" i="1"/>
              <a:t>O</a:t>
            </a:r>
            <a:r>
              <a:rPr lang="en-US" altLang="zh-CN" sz="2400"/>
              <a:t>(M.mu</a:t>
            </a:r>
            <a:r>
              <a:rPr lang="en-US" altLang="en-US" sz="2400"/>
              <a:t>×</a:t>
            </a:r>
            <a:r>
              <a:rPr lang="en-US" altLang="zh-CN" sz="2400"/>
              <a:t>N.nu) </a:t>
            </a:r>
            <a:br>
              <a:rPr lang="en-US" altLang="zh-CN" sz="2400"/>
            </a:br>
            <a:r>
              <a:rPr lang="zh-CN" altLang="en-US" sz="2400">
                <a:solidFill>
                  <a:srgbClr val="000000"/>
                </a:solidFill>
              </a:rPr>
              <a:t>总的时间复杂度就是 </a:t>
            </a:r>
            <a:r>
              <a:rPr lang="en-US" altLang="zh-CN" sz="2400" i="1">
                <a:solidFill>
                  <a:srgbClr val="0000FF"/>
                </a:solidFill>
              </a:rPr>
              <a:t>O</a:t>
            </a:r>
            <a:r>
              <a:rPr lang="en-US" altLang="zh-CN" sz="2400">
                <a:solidFill>
                  <a:srgbClr val="0000FF"/>
                </a:solidFill>
              </a:rPr>
              <a:t>(M.mu</a:t>
            </a:r>
            <a:r>
              <a:rPr lang="en-US" altLang="en-US" sz="2400">
                <a:solidFill>
                  <a:srgbClr val="0000FF"/>
                </a:solidFill>
              </a:rPr>
              <a:t>×</a:t>
            </a:r>
            <a:r>
              <a:rPr lang="en-US" altLang="zh-CN" sz="2400">
                <a:solidFill>
                  <a:srgbClr val="0000FF"/>
                </a:solidFill>
              </a:rPr>
              <a:t>N.nu + M.tu</a:t>
            </a:r>
            <a:r>
              <a:rPr lang="en-US" altLang="en-US" sz="2400">
                <a:solidFill>
                  <a:srgbClr val="0000FF"/>
                </a:solidFill>
              </a:rPr>
              <a:t>×</a:t>
            </a:r>
            <a:r>
              <a:rPr lang="en-US" altLang="zh-CN" sz="2400">
                <a:solidFill>
                  <a:srgbClr val="0000FF"/>
                </a:solidFill>
              </a:rPr>
              <a:t>N.tu/N.mu)</a:t>
            </a:r>
            <a:r>
              <a:rPr lang="zh-CN" altLang="en-US" sz="2400">
                <a:solidFill>
                  <a:srgbClr val="0000FF"/>
                </a:solidFill>
              </a:rPr>
              <a:t>。 </a:t>
            </a:r>
            <a:br>
              <a:rPr lang="zh-CN" altLang="en-US" sz="2400"/>
            </a:br>
            <a:r>
              <a:rPr lang="zh-CN" altLang="en-US" sz="2400"/>
              <a:t>若</a:t>
            </a:r>
            <a:r>
              <a:rPr lang="en-US" altLang="zh-CN" sz="2400"/>
              <a:t>M</a:t>
            </a:r>
            <a:r>
              <a:rPr lang="zh-CN" altLang="en-US" sz="2400"/>
              <a:t>是</a:t>
            </a:r>
            <a:r>
              <a:rPr lang="en-US" altLang="zh-CN" sz="2400"/>
              <a:t>m</a:t>
            </a:r>
            <a:r>
              <a:rPr lang="zh-CN" altLang="en-US" sz="2400"/>
              <a:t>行</a:t>
            </a:r>
            <a:r>
              <a:rPr lang="en-US" altLang="zh-CN" sz="2400"/>
              <a:t>n</a:t>
            </a:r>
            <a:r>
              <a:rPr lang="zh-CN" altLang="en-US" sz="2400"/>
              <a:t>列的稀疏矩阵，</a:t>
            </a:r>
            <a:r>
              <a:rPr lang="en-US" altLang="zh-CN" sz="2400"/>
              <a:t>N</a:t>
            </a:r>
            <a:r>
              <a:rPr lang="zh-CN" altLang="en-US" sz="2400"/>
              <a:t>是</a:t>
            </a:r>
            <a:r>
              <a:rPr lang="en-US" altLang="zh-CN" sz="2400"/>
              <a:t>n</a:t>
            </a:r>
            <a:r>
              <a:rPr lang="zh-CN" altLang="en-US" sz="2400"/>
              <a:t>行</a:t>
            </a:r>
            <a:r>
              <a:rPr lang="en-US" altLang="zh-CN" sz="2400"/>
              <a:t>p</a:t>
            </a:r>
            <a:r>
              <a:rPr lang="zh-CN" altLang="en-US" sz="2400"/>
              <a:t>列的稀疏矩阵，则</a:t>
            </a:r>
            <a:r>
              <a:rPr lang="en-US" altLang="zh-CN" sz="2400"/>
              <a:t>M</a:t>
            </a:r>
            <a:r>
              <a:rPr lang="zh-CN" altLang="en-US" sz="2400"/>
              <a:t>中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非零元的个数 </a:t>
            </a:r>
            <a:r>
              <a:rPr lang="en-US" altLang="zh-CN" sz="2400"/>
              <a:t>M.tu = d M</a:t>
            </a:r>
            <a:r>
              <a:rPr lang="en-US" altLang="en-US" sz="2400"/>
              <a:t>×</a:t>
            </a:r>
            <a:r>
              <a:rPr lang="en-US" altLang="zh-CN" sz="2400"/>
              <a:t>m</a:t>
            </a:r>
            <a:r>
              <a:rPr lang="en-US" altLang="en-US" sz="2400"/>
              <a:t>×</a:t>
            </a:r>
            <a:r>
              <a:rPr lang="en-US" altLang="zh-CN" sz="2400"/>
              <a:t>n</a:t>
            </a:r>
            <a:r>
              <a:rPr lang="zh-CN" altLang="en-US" sz="2400"/>
              <a:t>，</a:t>
            </a:r>
            <a:r>
              <a:rPr lang="en-US" altLang="zh-CN" sz="2400"/>
              <a:t>N</a:t>
            </a:r>
            <a:r>
              <a:rPr lang="zh-CN" altLang="en-US" sz="2400"/>
              <a:t>中非零元的个数 </a:t>
            </a:r>
          </a:p>
          <a:p>
            <a:pPr>
              <a:lnSpc>
                <a:spcPct val="120000"/>
              </a:lnSpc>
            </a:pPr>
            <a:r>
              <a:rPr lang="en-US" altLang="zh-CN" sz="2400"/>
              <a:t>N.tu = d N</a:t>
            </a:r>
            <a:r>
              <a:rPr lang="en-US" altLang="en-US" sz="2400"/>
              <a:t>×</a:t>
            </a:r>
            <a:r>
              <a:rPr lang="en-US" altLang="zh-CN" sz="2400"/>
              <a:t>n</a:t>
            </a:r>
            <a:r>
              <a:rPr lang="en-US" altLang="en-US" sz="2400"/>
              <a:t>×</a:t>
            </a:r>
            <a:r>
              <a:rPr lang="en-US" altLang="zh-CN" sz="2400"/>
              <a:t>p</a:t>
            </a:r>
            <a:r>
              <a:rPr lang="zh-CN" altLang="en-US" sz="2400"/>
              <a:t>，相乘算法的时间复杂度就是 </a:t>
            </a:r>
          </a:p>
          <a:p>
            <a:pPr>
              <a:lnSpc>
                <a:spcPct val="120000"/>
              </a:lnSpc>
            </a:pPr>
            <a:r>
              <a:rPr lang="en-US" altLang="zh-CN" sz="2400" i="1"/>
              <a:t>O</a:t>
            </a:r>
            <a:r>
              <a:rPr lang="en-US" altLang="zh-CN" sz="2400"/>
              <a:t>(m</a:t>
            </a:r>
            <a:r>
              <a:rPr lang="en-US" altLang="en-US" sz="2400"/>
              <a:t>×</a:t>
            </a:r>
            <a:r>
              <a:rPr lang="en-US" altLang="zh-CN" sz="2400"/>
              <a:t>p</a:t>
            </a:r>
            <a:r>
              <a:rPr lang="en-US" altLang="en-US" sz="2400"/>
              <a:t>×</a:t>
            </a:r>
            <a:r>
              <a:rPr lang="en-US" altLang="zh-CN" sz="2400"/>
              <a:t> (1+nd Md N)) </a:t>
            </a:r>
            <a:r>
              <a:rPr lang="zh-CN" altLang="en-US" sz="2400"/>
              <a:t>，当</a:t>
            </a:r>
            <a:r>
              <a:rPr lang="en-US" altLang="zh-CN" sz="2400"/>
              <a:t>d M&lt;0.05 </a:t>
            </a:r>
            <a:r>
              <a:rPr lang="zh-CN" altLang="en-US" sz="2400"/>
              <a:t>和</a:t>
            </a:r>
            <a:r>
              <a:rPr lang="en-US" altLang="zh-CN" sz="2400"/>
              <a:t>d N&lt;0.05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及 </a:t>
            </a:r>
            <a:r>
              <a:rPr lang="en-US" altLang="zh-CN" sz="2400"/>
              <a:t>n &lt;1000</a:t>
            </a:r>
            <a:r>
              <a:rPr lang="zh-CN" altLang="en-US" sz="2400"/>
              <a:t>时，相乘算法的时间复杂度就相当于 </a:t>
            </a:r>
            <a:r>
              <a:rPr lang="en-US" altLang="zh-CN" sz="2400"/>
              <a:t>O (m</a:t>
            </a:r>
            <a:r>
              <a:rPr lang="en-US" altLang="en-US" sz="2400"/>
              <a:t>×</a:t>
            </a:r>
            <a:r>
              <a:rPr lang="en-US" altLang="zh-CN" sz="2400"/>
              <a:t>p)</a:t>
            </a:r>
            <a:r>
              <a:rPr lang="zh-CN" altLang="en-US" sz="2400"/>
              <a:t>。 </a:t>
            </a:r>
            <a:br>
              <a:rPr lang="zh-CN" altLang="en-US" sz="2400"/>
            </a:br>
            <a:r>
              <a:rPr lang="zh-CN" altLang="en-US" sz="2400"/>
              <a:t>显然，这是一个相当理想的结果。如果事先能估算出所求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乘积矩阵</a:t>
            </a:r>
            <a:r>
              <a:rPr lang="en-US" altLang="zh-CN" sz="2400"/>
              <a:t>Q</a:t>
            </a:r>
            <a:r>
              <a:rPr lang="zh-CN" altLang="en-US" sz="2400"/>
              <a:t>不再是稀疏矩阵，则以二维数组表示</a:t>
            </a:r>
            <a:r>
              <a:rPr lang="en-US" altLang="zh-CN" sz="2400"/>
              <a:t>Q</a:t>
            </a:r>
            <a:r>
              <a:rPr lang="zh-CN" altLang="en-US" sz="2400"/>
              <a:t>，相乘的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算法也就更简单了。  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06" name="Text Box 30"/>
          <p:cNvSpPr txBox="1">
            <a:spLocks noChangeArrowheads="1"/>
          </p:cNvSpPr>
          <p:nvPr/>
        </p:nvSpPr>
        <p:spPr bwMode="auto">
          <a:xfrm>
            <a:off x="2206625" y="549275"/>
            <a:ext cx="612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ea typeface="华文中宋" pitchFamily="2" charset="-122"/>
                <a:cs typeface="ˎ̥"/>
              </a:rPr>
              <a:t>3</a:t>
            </a:r>
            <a:r>
              <a:rPr lang="zh-CN" altLang="en-US" sz="2400">
                <a:ea typeface="华文中宋" pitchFamily="2" charset="-122"/>
                <a:cs typeface="ˎ̥"/>
              </a:rPr>
              <a:t>、稀疏矩阵的链式存储结构：十字链表</a:t>
            </a:r>
            <a:endParaRPr kumimoji="0" lang="zh-CN" altLang="en-US" sz="2400">
              <a:ea typeface="华文中宋" pitchFamily="2" charset="-122"/>
              <a:cs typeface="ˎ̥"/>
            </a:endParaRPr>
          </a:p>
        </p:txBody>
      </p:sp>
      <p:sp>
        <p:nvSpPr>
          <p:cNvPr id="101407" name="Text Box 31"/>
          <p:cNvSpPr txBox="1">
            <a:spLocks noChangeArrowheads="1"/>
          </p:cNvSpPr>
          <p:nvPr/>
        </p:nvSpPr>
        <p:spPr bwMode="auto">
          <a:xfrm>
            <a:off x="2135188" y="1201739"/>
            <a:ext cx="8280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优点：</a:t>
            </a:r>
            <a:r>
              <a:rPr lang="zh-CN" altLang="en-US" sz="2400"/>
              <a:t>它能够灵活地</a:t>
            </a:r>
            <a:r>
              <a:rPr lang="zh-CN" altLang="en-US" sz="2400">
                <a:solidFill>
                  <a:srgbClr val="0000FF"/>
                </a:solidFill>
              </a:rPr>
              <a:t>插入</a:t>
            </a:r>
            <a:r>
              <a:rPr lang="zh-CN" altLang="en-US" sz="2400"/>
              <a:t>因运算而产生的</a:t>
            </a:r>
            <a:r>
              <a:rPr lang="zh-CN" altLang="en-US" sz="2400">
                <a:solidFill>
                  <a:srgbClr val="0000FF"/>
                </a:solidFill>
              </a:rPr>
              <a:t>新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0000FF"/>
                </a:solidFill>
              </a:rPr>
              <a:t>非零元素</a:t>
            </a:r>
            <a:r>
              <a:rPr lang="zh-CN" altLang="en-US" sz="2400"/>
              <a:t>， </a:t>
            </a:r>
          </a:p>
          <a:p>
            <a:pPr>
              <a:spcBef>
                <a:spcPct val="50000"/>
              </a:spcBef>
            </a:pPr>
            <a:r>
              <a:rPr lang="zh-CN" altLang="en-US" sz="2400"/>
              <a:t>            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删除</a:t>
            </a:r>
            <a:r>
              <a:rPr lang="zh-CN" altLang="en-US" sz="2400"/>
              <a:t>因运算而产生的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新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零元素</a:t>
            </a:r>
            <a:r>
              <a:rPr lang="zh-CN" altLang="en-US" sz="2400"/>
              <a:t>，实现矩阵的运算。 </a:t>
            </a:r>
            <a:endParaRPr kumimoji="0" lang="zh-CN" altLang="en-US" sz="2400">
              <a:latin typeface="Arial" pitchFamily="34" charset="0"/>
            </a:endParaRPr>
          </a:p>
        </p:txBody>
      </p:sp>
      <p:sp>
        <p:nvSpPr>
          <p:cNvPr id="101408" name="Text Box 32"/>
          <p:cNvSpPr txBox="1">
            <a:spLocks noChangeArrowheads="1"/>
          </p:cNvSpPr>
          <p:nvPr/>
        </p:nvSpPr>
        <p:spPr bwMode="auto">
          <a:xfrm>
            <a:off x="2422526" y="2352675"/>
            <a:ext cx="7993063" cy="94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/>
              <a:t>        </a:t>
            </a:r>
            <a:r>
              <a:rPr lang="zh-CN" altLang="en-US" sz="2400"/>
              <a:t>在十字链表中，矩阵的每一个非零元素用一个结点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/>
              <a:t>表示，该结点除了（</a:t>
            </a:r>
            <a:r>
              <a:rPr lang="en-US" altLang="zh-CN" sz="2400">
                <a:cs typeface="ˎ̥"/>
              </a:rPr>
              <a:t>row</a:t>
            </a:r>
            <a:r>
              <a:rPr lang="zh-CN" altLang="en-US" sz="2400"/>
              <a:t>，</a:t>
            </a:r>
            <a:r>
              <a:rPr lang="en-US" altLang="zh-CN" sz="2400"/>
              <a:t>col</a:t>
            </a:r>
            <a:r>
              <a:rPr lang="zh-CN" altLang="en-US" sz="2400"/>
              <a:t>，</a:t>
            </a:r>
            <a:r>
              <a:rPr lang="en-US" altLang="zh-CN" sz="2400"/>
              <a:t>value</a:t>
            </a:r>
            <a:r>
              <a:rPr lang="zh-CN" altLang="en-US" sz="2400"/>
              <a:t>）外，还有两个域： </a:t>
            </a:r>
            <a:endParaRPr kumimoji="0" lang="zh-CN" altLang="en-US" sz="2400"/>
          </a:p>
        </p:txBody>
      </p:sp>
      <p:sp>
        <p:nvSpPr>
          <p:cNvPr id="101409" name="Text Box 33"/>
          <p:cNvSpPr txBox="1">
            <a:spLocks noChangeArrowheads="1"/>
          </p:cNvSpPr>
          <p:nvPr/>
        </p:nvSpPr>
        <p:spPr bwMode="auto">
          <a:xfrm>
            <a:off x="2495550" y="3433763"/>
            <a:ext cx="7416800" cy="94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>
                <a:cs typeface="ˎ̥"/>
              </a:rPr>
              <a:t>        right</a:t>
            </a:r>
            <a:r>
              <a:rPr lang="zh-CN" altLang="en-US" sz="2400">
                <a:cs typeface="ˎ̥"/>
              </a:rPr>
              <a:t>： 用于链接同一行中的下一个非零元素； </a:t>
            </a:r>
            <a:endParaRPr lang="zh-CN" altLang="en-US" sz="2400" b="0">
              <a:cs typeface="ˎ̥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>
                <a:cs typeface="ˎ̥"/>
              </a:rPr>
              <a:t>        </a:t>
            </a:r>
            <a:r>
              <a:rPr lang="en-US" altLang="zh-CN" sz="2400">
                <a:cs typeface="ˎ̥"/>
              </a:rPr>
              <a:t>down</a:t>
            </a:r>
            <a:r>
              <a:rPr lang="zh-CN" altLang="en-US" sz="2400">
                <a:cs typeface="ˎ̥"/>
              </a:rPr>
              <a:t>：用以链接同一列中的下一个非零元素。 </a:t>
            </a:r>
            <a:endParaRPr kumimoji="0" lang="zh-CN" altLang="en-US" sz="2400" b="0">
              <a:cs typeface="ˎ̥"/>
            </a:endParaRPr>
          </a:p>
        </p:txBody>
      </p:sp>
      <p:graphicFrame>
        <p:nvGraphicFramePr>
          <p:cNvPr id="101425" name="Group 49"/>
          <p:cNvGraphicFramePr>
            <a:graphicFrameLocks noGrp="1"/>
          </p:cNvGraphicFramePr>
          <p:nvPr/>
        </p:nvGraphicFramePr>
        <p:xfrm>
          <a:off x="4159250" y="5202238"/>
          <a:ext cx="4267200" cy="1036320"/>
        </p:xfrm>
        <a:graphic>
          <a:graphicData uri="http://schemas.openxmlformats.org/drawingml/2006/table">
            <a:tbl>
              <a:tblPr/>
              <a:tblGrid>
                <a:gridCol w="1338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ˎ̥"/>
                          <a:cs typeface="ˎ̥"/>
                        </a:rPr>
                        <a:t>row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ˎ̥"/>
                          <a:cs typeface="ˎ̥"/>
                        </a:rPr>
                        <a:t>col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ˎ̥"/>
                          <a:cs typeface="ˎ̥"/>
                        </a:rPr>
                        <a:t>value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ˎ̥"/>
                          <a:cs typeface="ˎ̥"/>
                        </a:rPr>
                        <a:t>down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ˎ̥"/>
                          <a:cs typeface="ˎ̥"/>
                        </a:rPr>
                        <a:t>right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1424" name="Text Box 48"/>
          <p:cNvSpPr txBox="1">
            <a:spLocks noChangeArrowheads="1"/>
          </p:cNvSpPr>
          <p:nvPr/>
        </p:nvSpPr>
        <p:spPr bwMode="auto">
          <a:xfrm>
            <a:off x="3071813" y="4484688"/>
            <a:ext cx="4824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ea typeface="华文中宋" pitchFamily="2" charset="-122"/>
              </a:rPr>
              <a:t>十字链表中结点的结构示意图： </a:t>
            </a:r>
            <a:endParaRPr kumimoji="0" lang="zh-CN" altLang="en-US" sz="2400" b="0">
              <a:latin typeface="Arial" pitchFamily="34" charset="0"/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1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1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07" grpId="0"/>
      <p:bldP spid="101408" grpId="0"/>
      <p:bldP spid="101409" grpId="0"/>
      <p:bldP spid="10142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548" name="Object 4"/>
          <p:cNvGraphicFramePr>
            <a:graphicFrameLocks noChangeAspect="1"/>
          </p:cNvGraphicFramePr>
          <p:nvPr/>
        </p:nvGraphicFramePr>
        <p:xfrm>
          <a:off x="7359650" y="4005263"/>
          <a:ext cx="2408238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46040" imgH="698400" progId="Equation.3">
                  <p:embed/>
                </p:oleObj>
              </mc:Choice>
              <mc:Fallback>
                <p:oleObj name="公式" r:id="rId3" imgW="1346040" imgH="698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650" y="4005263"/>
                        <a:ext cx="2408238" cy="1249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68" name="Group 24"/>
          <p:cNvGraphicFramePr>
            <a:graphicFrameLocks noGrp="1"/>
          </p:cNvGraphicFramePr>
          <p:nvPr/>
        </p:nvGraphicFramePr>
        <p:xfrm>
          <a:off x="4119563" y="2276475"/>
          <a:ext cx="1223962" cy="792480"/>
        </p:xfrm>
        <a:graphic>
          <a:graphicData uri="http://schemas.openxmlformats.org/drawingml/2006/table">
            <a:tbl>
              <a:tblPr/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8569" name="Group 25"/>
          <p:cNvGraphicFramePr>
            <a:graphicFrameLocks noGrp="1"/>
          </p:cNvGraphicFramePr>
          <p:nvPr/>
        </p:nvGraphicFramePr>
        <p:xfrm>
          <a:off x="8440738" y="2276475"/>
          <a:ext cx="1223962" cy="792480"/>
        </p:xfrm>
        <a:graphic>
          <a:graphicData uri="http://schemas.openxmlformats.org/drawingml/2006/table">
            <a:tbl>
              <a:tblPr/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8584" name="Line 40"/>
          <p:cNvSpPr>
            <a:spLocks noChangeShapeType="1"/>
          </p:cNvSpPr>
          <p:nvPr/>
        </p:nvSpPr>
        <p:spPr bwMode="auto">
          <a:xfrm>
            <a:off x="5056188" y="2852738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8602" name="Group 58"/>
          <p:cNvGraphicFramePr>
            <a:graphicFrameLocks noGrp="1"/>
          </p:cNvGraphicFramePr>
          <p:nvPr/>
        </p:nvGraphicFramePr>
        <p:xfrm>
          <a:off x="4119563" y="4151313"/>
          <a:ext cx="1223962" cy="792480"/>
        </p:xfrm>
        <a:graphic>
          <a:graphicData uri="http://schemas.openxmlformats.org/drawingml/2006/table">
            <a:tbl>
              <a:tblPr/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8603" name="Line 59"/>
          <p:cNvSpPr>
            <a:spLocks noChangeShapeType="1"/>
          </p:cNvSpPr>
          <p:nvPr/>
        </p:nvSpPr>
        <p:spPr bwMode="auto">
          <a:xfrm>
            <a:off x="4406900" y="2852739"/>
            <a:ext cx="0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8619" name="Group 75"/>
          <p:cNvGraphicFramePr>
            <a:graphicFrameLocks noGrp="1"/>
          </p:cNvGraphicFramePr>
          <p:nvPr/>
        </p:nvGraphicFramePr>
        <p:xfrm>
          <a:off x="5487988" y="3214688"/>
          <a:ext cx="1223962" cy="792480"/>
        </p:xfrm>
        <a:graphic>
          <a:graphicData uri="http://schemas.openxmlformats.org/drawingml/2006/table">
            <a:tbl>
              <a:tblPr/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8633" name="Group 89"/>
          <p:cNvGraphicFramePr>
            <a:graphicFrameLocks noGrp="1"/>
          </p:cNvGraphicFramePr>
          <p:nvPr/>
        </p:nvGraphicFramePr>
        <p:xfrm>
          <a:off x="3616325" y="1235075"/>
          <a:ext cx="5759450" cy="39624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8663" name="Group 119"/>
          <p:cNvGraphicFramePr>
            <a:graphicFrameLocks noGrp="1"/>
          </p:cNvGraphicFramePr>
          <p:nvPr/>
        </p:nvGraphicFramePr>
        <p:xfrm>
          <a:off x="2968626" y="2317750"/>
          <a:ext cx="384175" cy="2840038"/>
        </p:xfrm>
        <a:graphic>
          <a:graphicData uri="http://schemas.openxmlformats.org/drawingml/2006/table">
            <a:tbl>
              <a:tblPr/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6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664" name="Line 120"/>
          <p:cNvSpPr>
            <a:spLocks noChangeShapeType="1"/>
          </p:cNvSpPr>
          <p:nvPr/>
        </p:nvSpPr>
        <p:spPr bwMode="auto">
          <a:xfrm>
            <a:off x="4335463" y="1414463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8665" name="Line 121"/>
          <p:cNvSpPr>
            <a:spLocks noChangeShapeType="1"/>
          </p:cNvSpPr>
          <p:nvPr/>
        </p:nvSpPr>
        <p:spPr bwMode="auto">
          <a:xfrm>
            <a:off x="8656638" y="1414463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8666" name="Line 122"/>
          <p:cNvSpPr>
            <a:spLocks noChangeShapeType="1"/>
          </p:cNvSpPr>
          <p:nvPr/>
        </p:nvSpPr>
        <p:spPr bwMode="auto">
          <a:xfrm>
            <a:off x="5703888" y="1414464"/>
            <a:ext cx="0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8667" name="Line 123"/>
          <p:cNvSpPr>
            <a:spLocks noChangeShapeType="1"/>
          </p:cNvSpPr>
          <p:nvPr/>
        </p:nvSpPr>
        <p:spPr bwMode="auto">
          <a:xfrm>
            <a:off x="3184525" y="2854325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8668" name="Line 124"/>
          <p:cNvSpPr>
            <a:spLocks noChangeShapeType="1"/>
          </p:cNvSpPr>
          <p:nvPr/>
        </p:nvSpPr>
        <p:spPr bwMode="auto">
          <a:xfrm>
            <a:off x="3184525" y="4725988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8669" name="Line 125"/>
          <p:cNvSpPr>
            <a:spLocks noChangeShapeType="1"/>
          </p:cNvSpPr>
          <p:nvPr/>
        </p:nvSpPr>
        <p:spPr bwMode="auto">
          <a:xfrm>
            <a:off x="3184526" y="3789363"/>
            <a:ext cx="2303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8670" name="Text Box 126"/>
          <p:cNvSpPr txBox="1">
            <a:spLocks noChangeArrowheads="1"/>
          </p:cNvSpPr>
          <p:nvPr/>
        </p:nvSpPr>
        <p:spPr bwMode="auto">
          <a:xfrm>
            <a:off x="2516188" y="1843089"/>
            <a:ext cx="1185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M.rhead </a:t>
            </a:r>
          </a:p>
        </p:txBody>
      </p:sp>
      <p:sp>
        <p:nvSpPr>
          <p:cNvPr id="108671" name="Text Box 127"/>
          <p:cNvSpPr txBox="1">
            <a:spLocks noChangeArrowheads="1"/>
          </p:cNvSpPr>
          <p:nvPr/>
        </p:nvSpPr>
        <p:spPr bwMode="auto">
          <a:xfrm>
            <a:off x="2732088" y="765176"/>
            <a:ext cx="1185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M.chead </a:t>
            </a: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8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8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8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8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8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1" dur="500"/>
                                        <p:tgtEl>
                                          <p:spTgt spid="10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8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8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0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0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8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8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84" grpId="0" animBg="1"/>
      <p:bldP spid="108603" grpId="0" animBg="1"/>
      <p:bldP spid="108664" grpId="0" animBg="1"/>
      <p:bldP spid="108665" grpId="0" animBg="1"/>
      <p:bldP spid="108666" grpId="0" animBg="1"/>
      <p:bldP spid="108667" grpId="0" animBg="1"/>
      <p:bldP spid="108668" grpId="0" animBg="1"/>
      <p:bldP spid="108669" grpId="0" animBg="1"/>
      <p:bldP spid="108670" grpId="0"/>
      <p:bldP spid="10867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72" name="Object 4"/>
          <p:cNvGraphicFramePr>
            <a:graphicFrameLocks noChangeAspect="1"/>
          </p:cNvGraphicFramePr>
          <p:nvPr/>
        </p:nvGraphicFramePr>
        <p:xfrm>
          <a:off x="2417764" y="2562225"/>
          <a:ext cx="1590675" cy="165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88840" imgH="927000" progId="Equation.3">
                  <p:embed/>
                </p:oleObj>
              </mc:Choice>
              <mc:Fallback>
                <p:oleObj name="公式" r:id="rId3" imgW="888840" imgH="9270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4" y="2562225"/>
                        <a:ext cx="1590675" cy="165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82" name="Group 114"/>
          <p:cNvGraphicFramePr>
            <a:graphicFrameLocks noGrp="1"/>
          </p:cNvGraphicFramePr>
          <p:nvPr/>
        </p:nvGraphicFramePr>
        <p:xfrm>
          <a:off x="6170613" y="2924176"/>
          <a:ext cx="1223962" cy="793115"/>
        </p:xfrm>
        <a:graphic>
          <a:graphicData uri="http://schemas.openxmlformats.org/drawingml/2006/table">
            <a:tbl>
              <a:tblPr/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9683" name="Group 115"/>
          <p:cNvGraphicFramePr>
            <a:graphicFrameLocks noGrp="1"/>
          </p:cNvGraphicFramePr>
          <p:nvPr/>
        </p:nvGraphicFramePr>
        <p:xfrm>
          <a:off x="8185151" y="1987551"/>
          <a:ext cx="1223963" cy="793115"/>
        </p:xfrm>
        <a:graphic>
          <a:graphicData uri="http://schemas.openxmlformats.org/drawingml/2006/table">
            <a:tbl>
              <a:tblPr/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601" name="Line 33"/>
          <p:cNvSpPr>
            <a:spLocks noChangeShapeType="1"/>
          </p:cNvSpPr>
          <p:nvPr/>
        </p:nvSpPr>
        <p:spPr bwMode="auto">
          <a:xfrm>
            <a:off x="5089526" y="2563813"/>
            <a:ext cx="309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9602" name="Group 34"/>
          <p:cNvGraphicFramePr>
            <a:graphicFrameLocks noGrp="1"/>
          </p:cNvGraphicFramePr>
          <p:nvPr/>
        </p:nvGraphicFramePr>
        <p:xfrm>
          <a:off x="6170613" y="4078288"/>
          <a:ext cx="1223962" cy="792480"/>
        </p:xfrm>
        <a:graphic>
          <a:graphicData uri="http://schemas.openxmlformats.org/drawingml/2006/table">
            <a:tbl>
              <a:tblPr/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616" name="Line 48"/>
          <p:cNvSpPr>
            <a:spLocks noChangeShapeType="1"/>
          </p:cNvSpPr>
          <p:nvPr/>
        </p:nvSpPr>
        <p:spPr bwMode="auto">
          <a:xfrm>
            <a:off x="6450013" y="35004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9617" name="Group 49"/>
          <p:cNvGraphicFramePr>
            <a:graphicFrameLocks noGrp="1"/>
          </p:cNvGraphicFramePr>
          <p:nvPr/>
        </p:nvGraphicFramePr>
        <p:xfrm>
          <a:off x="8185151" y="4078288"/>
          <a:ext cx="1223963" cy="792480"/>
        </p:xfrm>
        <a:graphic>
          <a:graphicData uri="http://schemas.openxmlformats.org/drawingml/2006/table">
            <a:tbl>
              <a:tblPr/>
              <a:tblGrid>
                <a:gridCol w="3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5B52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9663" name="Group 95"/>
          <p:cNvGraphicFramePr>
            <a:graphicFrameLocks noGrp="1"/>
          </p:cNvGraphicFramePr>
          <p:nvPr/>
        </p:nvGraphicFramePr>
        <p:xfrm>
          <a:off x="5594351" y="946150"/>
          <a:ext cx="3673475" cy="396240"/>
        </p:xfrm>
        <a:graphic>
          <a:graphicData uri="http://schemas.openxmlformats.org/drawingml/2006/table">
            <a:tbl>
              <a:tblPr/>
              <a:tblGrid>
                <a:gridCol w="1836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9653" name="Line 85"/>
          <p:cNvSpPr>
            <a:spLocks noChangeShapeType="1"/>
          </p:cNvSpPr>
          <p:nvPr/>
        </p:nvSpPr>
        <p:spPr bwMode="auto">
          <a:xfrm>
            <a:off x="6384925" y="1125539"/>
            <a:ext cx="0" cy="1798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9654" name="Line 86"/>
          <p:cNvSpPr>
            <a:spLocks noChangeShapeType="1"/>
          </p:cNvSpPr>
          <p:nvPr/>
        </p:nvSpPr>
        <p:spPr bwMode="auto">
          <a:xfrm>
            <a:off x="8402638" y="1125538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9657" name="Line 89"/>
          <p:cNvSpPr>
            <a:spLocks noChangeShapeType="1"/>
          </p:cNvSpPr>
          <p:nvPr/>
        </p:nvSpPr>
        <p:spPr bwMode="auto">
          <a:xfrm>
            <a:off x="5089525" y="4652963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9658" name="Line 90"/>
          <p:cNvSpPr>
            <a:spLocks noChangeShapeType="1"/>
          </p:cNvSpPr>
          <p:nvPr/>
        </p:nvSpPr>
        <p:spPr bwMode="auto">
          <a:xfrm>
            <a:off x="5089525" y="3500438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9659" name="Text Box 91"/>
          <p:cNvSpPr txBox="1">
            <a:spLocks noChangeArrowheads="1"/>
          </p:cNvSpPr>
          <p:nvPr/>
        </p:nvSpPr>
        <p:spPr bwMode="auto">
          <a:xfrm>
            <a:off x="4421188" y="1554164"/>
            <a:ext cx="1185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M.rhead </a:t>
            </a:r>
          </a:p>
        </p:txBody>
      </p:sp>
      <p:sp>
        <p:nvSpPr>
          <p:cNvPr id="109660" name="Text Box 92"/>
          <p:cNvSpPr txBox="1">
            <a:spLocks noChangeArrowheads="1"/>
          </p:cNvSpPr>
          <p:nvPr/>
        </p:nvSpPr>
        <p:spPr bwMode="auto">
          <a:xfrm>
            <a:off x="4637088" y="476251"/>
            <a:ext cx="1185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M.chead </a:t>
            </a:r>
          </a:p>
        </p:txBody>
      </p:sp>
      <p:graphicFrame>
        <p:nvGraphicFramePr>
          <p:cNvPr id="109679" name="Group 111"/>
          <p:cNvGraphicFramePr>
            <a:graphicFrameLocks noGrp="1"/>
          </p:cNvGraphicFramePr>
          <p:nvPr/>
        </p:nvGraphicFramePr>
        <p:xfrm>
          <a:off x="4849813" y="2100263"/>
          <a:ext cx="455612" cy="4064000"/>
        </p:xfrm>
        <a:graphic>
          <a:graphicData uri="http://schemas.openxmlformats.org/drawingml/2006/table">
            <a:tbl>
              <a:tblPr/>
              <a:tblGrid>
                <a:gridCol w="455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680" name="Line 112"/>
          <p:cNvSpPr>
            <a:spLocks noChangeShapeType="1"/>
          </p:cNvSpPr>
          <p:nvPr/>
        </p:nvSpPr>
        <p:spPr bwMode="auto">
          <a:xfrm>
            <a:off x="7105650" y="4652963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9684" name="Line 116"/>
          <p:cNvSpPr>
            <a:spLocks noChangeShapeType="1"/>
          </p:cNvSpPr>
          <p:nvPr/>
        </p:nvSpPr>
        <p:spPr bwMode="auto">
          <a:xfrm>
            <a:off x="8466138" y="2563814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9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9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9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9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9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9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9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9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1" dur="500"/>
                                        <p:tgtEl>
                                          <p:spTgt spid="109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9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9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0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0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9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9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01" grpId="0" animBg="1"/>
      <p:bldP spid="109616" grpId="0" animBg="1"/>
      <p:bldP spid="109653" grpId="0" animBg="1"/>
      <p:bldP spid="109654" grpId="0" animBg="1"/>
      <p:bldP spid="109657" grpId="0" animBg="1"/>
      <p:bldP spid="109658" grpId="0" animBg="1"/>
      <p:bldP spid="109659" grpId="0"/>
      <p:bldP spid="109660" grpId="0"/>
      <p:bldP spid="109680" grpId="0" animBg="1"/>
      <p:bldP spid="10968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2136775" y="620713"/>
            <a:ext cx="4895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ea typeface="华文中宋" pitchFamily="2" charset="-122"/>
              </a:rPr>
              <a:t>十字链表的结构类型说明如下：  </a:t>
            </a:r>
            <a:endParaRPr kumimoji="0" lang="zh-CN" altLang="en-US" sz="2400" b="0">
              <a:latin typeface="Arial" pitchFamily="34" charset="0"/>
              <a:ea typeface="华文中宋" pitchFamily="2" charset="-122"/>
            </a:endParaRPr>
          </a:p>
        </p:txBody>
      </p:sp>
      <p:sp>
        <p:nvSpPr>
          <p:cNvPr id="102405" name="Text Box 5"/>
          <p:cNvSpPr txBox="1">
            <a:spLocks noChangeArrowheads="1"/>
          </p:cNvSpPr>
          <p:nvPr/>
        </p:nvSpPr>
        <p:spPr bwMode="auto">
          <a:xfrm>
            <a:off x="2208213" y="1290639"/>
            <a:ext cx="8280400" cy="4930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 err="1">
                <a:cs typeface="ˎ̥"/>
              </a:rPr>
              <a:t>typedef</a:t>
            </a:r>
            <a:r>
              <a:rPr lang="en-US" altLang="zh-CN" sz="2400" dirty="0">
                <a:cs typeface="ˎ̥"/>
              </a:rPr>
              <a:t> </a:t>
            </a:r>
            <a:r>
              <a:rPr lang="en-US" altLang="zh-CN" sz="2400" dirty="0" err="1">
                <a:cs typeface="ˎ̥"/>
              </a:rPr>
              <a:t>struct</a:t>
            </a:r>
            <a:r>
              <a:rPr lang="en-US" altLang="zh-CN" sz="2400" dirty="0">
                <a:cs typeface="ˎ̥"/>
              </a:rPr>
              <a:t> </a:t>
            </a:r>
            <a:r>
              <a:rPr lang="en-US" altLang="zh-CN" sz="2400" dirty="0" err="1">
                <a:cs typeface="ˎ̥"/>
              </a:rPr>
              <a:t>OLNode</a:t>
            </a:r>
            <a:r>
              <a:rPr lang="en-US" altLang="zh-CN" sz="2400" dirty="0">
                <a:cs typeface="ˎ̥"/>
              </a:rPr>
              <a:t> </a:t>
            </a:r>
            <a:endParaRPr lang="en-US" altLang="zh-CN" sz="2400" b="0" dirty="0"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{ </a:t>
            </a:r>
            <a:r>
              <a:rPr lang="en-US" altLang="zh-CN" sz="2400" dirty="0" err="1">
                <a:cs typeface="ˎ̥"/>
              </a:rPr>
              <a:t>int</a:t>
            </a:r>
            <a:r>
              <a:rPr lang="en-US" altLang="zh-CN" sz="2400" dirty="0">
                <a:cs typeface="ˎ̥"/>
              </a:rPr>
              <a:t>                     </a:t>
            </a:r>
            <a:r>
              <a:rPr lang="en-US" altLang="zh-CN" sz="2400" dirty="0" err="1">
                <a:cs typeface="ˎ̥"/>
              </a:rPr>
              <a:t>i</a:t>
            </a:r>
            <a:r>
              <a:rPr lang="en-US" altLang="zh-CN" sz="2400" dirty="0">
                <a:cs typeface="ˎ̥"/>
              </a:rPr>
              <a:t>,  j;        // </a:t>
            </a:r>
            <a:r>
              <a:rPr lang="zh-CN" altLang="en-US" sz="2400" dirty="0">
                <a:cs typeface="ˎ̥"/>
              </a:rPr>
              <a:t>非零元素的行和列下标 </a:t>
            </a:r>
            <a:endParaRPr lang="zh-CN" altLang="en-US" sz="2400" b="0" dirty="0"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dirty="0">
                <a:cs typeface="ˎ̥"/>
              </a:rPr>
              <a:t>   </a:t>
            </a:r>
            <a:r>
              <a:rPr lang="en-US" altLang="zh-CN" sz="2400" dirty="0" err="1">
                <a:cs typeface="ˎ̥"/>
              </a:rPr>
              <a:t>ElemType</a:t>
            </a:r>
            <a:r>
              <a:rPr lang="en-US" altLang="zh-CN" sz="2400" dirty="0">
                <a:cs typeface="ˎ̥"/>
              </a:rPr>
              <a:t>   e; </a:t>
            </a:r>
            <a:endParaRPr lang="en-US" altLang="zh-CN" sz="2400" b="0" dirty="0"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   </a:t>
            </a:r>
            <a:r>
              <a:rPr lang="en-US" altLang="zh-CN" sz="2400" dirty="0" err="1">
                <a:cs typeface="ˎ̥"/>
              </a:rPr>
              <a:t>struct</a:t>
            </a:r>
            <a:r>
              <a:rPr lang="en-US" altLang="zh-CN" sz="2400" dirty="0">
                <a:cs typeface="ˎ̥"/>
              </a:rPr>
              <a:t> </a:t>
            </a:r>
            <a:r>
              <a:rPr lang="en-US" altLang="zh-CN" sz="2400" dirty="0" err="1">
                <a:cs typeface="ˎ̥"/>
              </a:rPr>
              <a:t>OLNode</a:t>
            </a:r>
            <a:r>
              <a:rPr lang="en-US" altLang="zh-CN" sz="2400" dirty="0">
                <a:cs typeface="ˎ̥"/>
              </a:rPr>
              <a:t>  * right,  *down;  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          // </a:t>
            </a:r>
            <a:r>
              <a:rPr lang="zh-CN" altLang="en-US" sz="2400" dirty="0">
                <a:cs typeface="ˎ̥"/>
              </a:rPr>
              <a:t>非零元素所在行表列表的后继链域 </a:t>
            </a:r>
            <a:endParaRPr lang="zh-CN" altLang="en-US" sz="2400" b="0" dirty="0"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}</a:t>
            </a:r>
            <a:r>
              <a:rPr lang="en-US" altLang="zh-CN" sz="2400" dirty="0" err="1">
                <a:cs typeface="ˎ̥"/>
              </a:rPr>
              <a:t>OLNode</a:t>
            </a:r>
            <a:r>
              <a:rPr lang="en-US" altLang="zh-CN" sz="2400" dirty="0">
                <a:cs typeface="ˎ̥"/>
              </a:rPr>
              <a:t>; *</a:t>
            </a:r>
            <a:r>
              <a:rPr lang="en-US" altLang="zh-CN" sz="2400" dirty="0" err="1">
                <a:cs typeface="ˎ̥"/>
              </a:rPr>
              <a:t>OLink</a:t>
            </a:r>
            <a:r>
              <a:rPr lang="en-US" altLang="zh-CN" sz="2400" dirty="0">
                <a:cs typeface="ˎ̥"/>
              </a:rPr>
              <a:t>; </a:t>
            </a:r>
            <a:endParaRPr lang="en-US" altLang="zh-CN" sz="2400" b="0" dirty="0"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en-US" altLang="zh-CN" sz="2400" dirty="0">
              <a:cs typeface="ˎ̥"/>
            </a:endParaRPr>
          </a:p>
          <a:p>
            <a:pPr algn="just">
              <a:lnSpc>
                <a:spcPct val="10000"/>
              </a:lnSpc>
              <a:spcBef>
                <a:spcPct val="50000"/>
              </a:spcBef>
            </a:pPr>
            <a:r>
              <a:rPr lang="en-US" altLang="zh-CN" sz="2400" dirty="0" err="1">
                <a:cs typeface="ˎ̥"/>
              </a:rPr>
              <a:t>typedef</a:t>
            </a:r>
            <a:r>
              <a:rPr lang="en-US" altLang="zh-CN" sz="2400" dirty="0">
                <a:cs typeface="ˎ̥"/>
              </a:rPr>
              <a:t> </a:t>
            </a:r>
            <a:r>
              <a:rPr lang="en-US" altLang="zh-CN" sz="2400" dirty="0" err="1">
                <a:cs typeface="ˎ̥"/>
              </a:rPr>
              <a:t>struct</a:t>
            </a:r>
            <a:r>
              <a:rPr lang="en-US" altLang="zh-CN" sz="2400" dirty="0">
                <a:cs typeface="ˎ̥"/>
              </a:rPr>
              <a:t> </a:t>
            </a:r>
            <a:endParaRPr lang="en-US" altLang="zh-CN" sz="2400" b="0" dirty="0"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{  </a:t>
            </a:r>
            <a:r>
              <a:rPr lang="en-US" altLang="zh-CN" sz="2400" dirty="0" err="1">
                <a:cs typeface="ˎ̥"/>
              </a:rPr>
              <a:t>OLink</a:t>
            </a:r>
            <a:r>
              <a:rPr lang="en-US" altLang="zh-CN" sz="2400" dirty="0">
                <a:cs typeface="ˎ̥"/>
              </a:rPr>
              <a:t>  * </a:t>
            </a:r>
            <a:r>
              <a:rPr lang="en-US" altLang="zh-CN" sz="2400" dirty="0" err="1">
                <a:cs typeface="ˎ̥"/>
              </a:rPr>
              <a:t>rhead</a:t>
            </a:r>
            <a:r>
              <a:rPr lang="en-US" altLang="zh-CN" sz="2400" dirty="0">
                <a:cs typeface="ˎ̥"/>
              </a:rPr>
              <a:t>,  *</a:t>
            </a:r>
            <a:r>
              <a:rPr lang="en-US" altLang="zh-CN" sz="2400" dirty="0" err="1">
                <a:cs typeface="ˎ̥"/>
              </a:rPr>
              <a:t>chead</a:t>
            </a:r>
            <a:r>
              <a:rPr lang="en-US" altLang="zh-CN" sz="2400" dirty="0">
                <a:cs typeface="ˎ̥"/>
              </a:rPr>
              <a:t>;  //</a:t>
            </a:r>
            <a:r>
              <a:rPr lang="zh-CN" altLang="en-US" sz="2400" dirty="0">
                <a:cs typeface="ˎ̥"/>
              </a:rPr>
              <a:t>行、列链表的头指针向量基址  </a:t>
            </a:r>
            <a:endParaRPr lang="zh-CN" altLang="en-US" sz="2400" b="0" dirty="0">
              <a:cs typeface="ˎ̥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dirty="0">
                <a:cs typeface="ˎ̥"/>
              </a:rPr>
              <a:t>    </a:t>
            </a:r>
            <a:r>
              <a:rPr lang="en-US" altLang="zh-CN" sz="2400" dirty="0" err="1">
                <a:cs typeface="ˎ̥"/>
              </a:rPr>
              <a:t>int</a:t>
            </a:r>
            <a:r>
              <a:rPr lang="en-US" altLang="zh-CN" sz="2400" dirty="0">
                <a:cs typeface="ˎ̥"/>
              </a:rPr>
              <a:t>  mu, nu, </a:t>
            </a:r>
            <a:r>
              <a:rPr lang="en-US" altLang="zh-CN" sz="2400" dirty="0" err="1">
                <a:cs typeface="ˎ̥"/>
              </a:rPr>
              <a:t>tu</a:t>
            </a:r>
            <a:r>
              <a:rPr lang="en-US" altLang="zh-CN" sz="2400" dirty="0">
                <a:cs typeface="ˎ̥"/>
              </a:rPr>
              <a:t>;   //</a:t>
            </a:r>
            <a:r>
              <a:rPr lang="zh-CN" altLang="en-US" sz="2400" dirty="0">
                <a:cs typeface="ˎ̥"/>
              </a:rPr>
              <a:t>稀疏矩阵的行数、列数、非零元个数 </a:t>
            </a:r>
            <a:endParaRPr lang="zh-CN" altLang="en-US" sz="2400" b="0" dirty="0">
              <a:cs typeface="ˎ̥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cs typeface="ˎ̥"/>
              </a:rPr>
              <a:t>}</a:t>
            </a:r>
            <a:r>
              <a:rPr lang="en-US" altLang="zh-CN" sz="2400" dirty="0" err="1">
                <a:cs typeface="ˎ̥"/>
              </a:rPr>
              <a:t>CrossList</a:t>
            </a:r>
            <a:r>
              <a:rPr lang="en-US" altLang="zh-CN" sz="2400" dirty="0">
                <a:cs typeface="ˎ̥"/>
              </a:rPr>
              <a:t>; </a:t>
            </a:r>
            <a:endParaRPr kumimoji="0" lang="en-US" altLang="zh-CN" sz="2400" b="0" dirty="0">
              <a:cs typeface="ˎ̥"/>
            </a:endParaRPr>
          </a:p>
        </p:txBody>
      </p:sp>
    </p:spTree>
  </p:cSld>
  <p:clrMapOvr>
    <a:masterClrMapping/>
  </p:clrMapOvr>
  <p:transition spd="slow">
    <p:split orient="vert" dir="in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1954214" y="476250"/>
            <a:ext cx="4752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ea typeface="华文中宋" pitchFamily="2" charset="-122"/>
              </a:rPr>
              <a:t>建立稀疏矩阵的十字链表算法： </a:t>
            </a:r>
            <a:endParaRPr kumimoji="0" lang="zh-CN" altLang="en-US" sz="2400">
              <a:latin typeface="Arial" pitchFamily="34" charset="0"/>
              <a:ea typeface="华文中宋" pitchFamily="2" charset="-122"/>
            </a:endParaRP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1774825" y="1052514"/>
            <a:ext cx="882015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CreateCrossList (CrossList * M) </a:t>
            </a:r>
            <a:endParaRPr lang="en-US" altLang="zh-CN" sz="2000" b="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{//</a:t>
            </a:r>
            <a:r>
              <a:rPr lang="zh-CN" altLang="en-US" sz="2000">
                <a:cs typeface="ˎ̥"/>
              </a:rPr>
              <a:t>采用十字链表存储结构，创建稀疏矩阵</a:t>
            </a:r>
            <a:r>
              <a:rPr lang="en-US" altLang="zh-CN" sz="2000">
                <a:cs typeface="ˎ̥"/>
              </a:rPr>
              <a:t>M </a:t>
            </a:r>
            <a:endParaRPr lang="en-US" altLang="zh-CN" sz="2000" b="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if(M!=NULL) free(M); </a:t>
            </a:r>
            <a:endParaRPr lang="en-US" altLang="zh-CN" sz="2000" b="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scanf(&amp;m,&amp;n,&amp;t);  //</a:t>
            </a:r>
            <a:r>
              <a:rPr lang="zh-CN" altLang="en-US" sz="2000">
                <a:cs typeface="ˎ̥"/>
              </a:rPr>
              <a:t>输入</a:t>
            </a:r>
            <a:r>
              <a:rPr lang="en-US" altLang="zh-CN" sz="2000">
                <a:cs typeface="ˎ̥"/>
              </a:rPr>
              <a:t>M</a:t>
            </a:r>
            <a:r>
              <a:rPr lang="zh-CN" altLang="en-US" sz="2000">
                <a:cs typeface="ˎ̥"/>
              </a:rPr>
              <a:t>的行数</a:t>
            </a:r>
            <a:r>
              <a:rPr lang="en-US" altLang="zh-CN" sz="2000">
                <a:cs typeface="ˎ̥"/>
              </a:rPr>
              <a:t>,</a:t>
            </a:r>
            <a:r>
              <a:rPr lang="zh-CN" altLang="en-US" sz="2000">
                <a:cs typeface="ˎ̥"/>
              </a:rPr>
              <a:t>列数和非零元素的个数 </a:t>
            </a:r>
            <a:endParaRPr lang="zh-CN" altLang="en-US" sz="2000" b="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M-&gt;m=m;M-&gt;n=n;M-&gt;len=t; </a:t>
            </a:r>
            <a:endParaRPr lang="en-US" altLang="zh-CN" sz="2000" b="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If(!(M-&gt;row_head=(Olink*)malloc((m+1)sizeof(OLink)))) exit(OVERFLOW); </a:t>
            </a:r>
            <a:endParaRPr lang="en-US" altLang="zh-CN" sz="2000" b="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If(!(M-&gt;col_head=(OLink * )malloc((n+1)sizeof(OLink)))) exit(OVERFLOW); </a:t>
            </a:r>
            <a:endParaRPr lang="en-US" altLang="zh-CN" sz="2000" b="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M-&gt;row_head[ ]=M-&gt;col_head[ ]=NULL;   </a:t>
            </a: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//</a:t>
            </a:r>
            <a:r>
              <a:rPr lang="zh-CN" altLang="en-US" sz="2000">
                <a:cs typeface="ˎ̥"/>
              </a:rPr>
              <a:t>初始化行、列头指针向量，各行、列链表为空的链表  </a:t>
            </a:r>
            <a:endParaRPr lang="zh-CN" altLang="en-US" sz="2000" b="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for(scanf(&amp;i,&amp;j,&amp;e);i!=0; scanf(&amp;i,&amp;j,&amp;e)) </a:t>
            </a:r>
            <a:endParaRPr lang="en-US" altLang="zh-CN" sz="2000" b="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{if(!(p=(OLNode *) malloc(sizeof(OLNode)))) exit(OVERFLOW); </a:t>
            </a:r>
            <a:endParaRPr lang="en-US" altLang="zh-CN" sz="2000" b="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p-&gt;row=i;p-&gt;col=j;p-&gt;value=e;  //</a:t>
            </a:r>
            <a:r>
              <a:rPr lang="zh-CN" altLang="en-US" sz="2000">
                <a:cs typeface="ˎ̥"/>
              </a:rPr>
              <a:t>生成结点 </a:t>
            </a:r>
            <a:endParaRPr kumimoji="0" lang="zh-CN" altLang="en-US" sz="2000" b="0">
              <a:cs typeface="ˎ̥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1898650" y="836614"/>
            <a:ext cx="82296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if(M-&gt;row_head[i]==NULL)   M-&gt;row_head[i]=p; </a:t>
            </a:r>
            <a:endParaRPr lang="en-US" altLang="zh-CN" sz="240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    else{  /*</a:t>
            </a:r>
            <a:r>
              <a:rPr lang="zh-CN" altLang="en-US" sz="2000">
                <a:cs typeface="ˎ̥"/>
              </a:rPr>
              <a:t>寻找行表中的插入位置*</a:t>
            </a:r>
            <a:r>
              <a:rPr lang="en-US" altLang="zh-CN" sz="2000">
                <a:cs typeface="ˎ̥"/>
              </a:rPr>
              <a:t>/ </a:t>
            </a:r>
            <a:endParaRPr lang="en-US" altLang="zh-CN" sz="240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	for(q=M-&gt;row_head[i];  q-&gt;right&amp;&amp;q-&gt;right-&gt;col&lt;j;  q=q-&gt;right) </a:t>
            </a:r>
            <a:endParaRPr lang="en-US" altLang="zh-CN" sz="240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                    p-&gt;right=q-&gt;right; q-&gt;right=p;  /*</a:t>
            </a:r>
            <a:r>
              <a:rPr lang="zh-CN" altLang="en-US" sz="2000">
                <a:cs typeface="ˎ̥"/>
              </a:rPr>
              <a:t>完成插入*</a:t>
            </a:r>
            <a:r>
              <a:rPr lang="en-US" altLang="zh-CN" sz="2000">
                <a:cs typeface="ˎ̥"/>
              </a:rPr>
              <a:t>/ </a:t>
            </a:r>
            <a:endParaRPr lang="en-US" altLang="zh-CN" sz="240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          } </a:t>
            </a:r>
            <a:endParaRPr lang="en-US" altLang="zh-CN" sz="240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if(M-&gt;col_head[j]==NULL)   M-&gt;col_head[j]=p; </a:t>
            </a:r>
            <a:endParaRPr lang="en-US" altLang="zh-CN" sz="240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   else{  /*</a:t>
            </a:r>
            <a:r>
              <a:rPr lang="zh-CN" altLang="en-US" sz="2000">
                <a:cs typeface="ˎ̥"/>
              </a:rPr>
              <a:t>寻找列表中的插入位置*</a:t>
            </a:r>
            <a:r>
              <a:rPr lang="en-US" altLang="zh-CN" sz="2000">
                <a:cs typeface="ˎ̥"/>
              </a:rPr>
              <a:t>/ </a:t>
            </a:r>
            <a:endParaRPr lang="en-US" altLang="zh-CN" sz="240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           for(q=M-&gt;col_head[j];  q-&gt;down&amp;&amp;q-&gt;down-&gt;row&lt;i;  q=q-&gt;down) </a:t>
            </a:r>
            <a:endParaRPr lang="en-US" altLang="zh-CN" sz="240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                  p-&gt;down=q-&gt;down; q-&gt;down=p;   /*</a:t>
            </a:r>
            <a:r>
              <a:rPr lang="zh-CN" altLang="en-US" sz="2000">
                <a:cs typeface="ˎ̥"/>
              </a:rPr>
              <a:t>完成插入*</a:t>
            </a:r>
            <a:r>
              <a:rPr lang="en-US" altLang="zh-CN" sz="2000">
                <a:cs typeface="ˎ̥"/>
              </a:rPr>
              <a:t>/ </a:t>
            </a:r>
            <a:endParaRPr lang="en-US" altLang="zh-CN" sz="240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          } </a:t>
            </a:r>
            <a:endParaRPr lang="en-US" altLang="zh-CN" sz="2400">
              <a:cs typeface="ˎ̥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>
                <a:cs typeface="ˎ̥"/>
              </a:rPr>
              <a:t>       } </a:t>
            </a:r>
            <a:endParaRPr lang="en-US" altLang="zh-CN" sz="2400">
              <a:cs typeface="ˎ̥"/>
            </a:endParaRPr>
          </a:p>
          <a:p>
            <a:pPr>
              <a:spcBef>
                <a:spcPct val="50000"/>
              </a:spcBef>
            </a:pPr>
            <a:r>
              <a:rPr lang="en-US" altLang="zh-CN" sz="2000">
                <a:cs typeface="ˎ̥"/>
              </a:rPr>
              <a:t>    } </a:t>
            </a:r>
            <a:endParaRPr kumimoji="0" lang="en-US" altLang="zh-CN" sz="1800">
              <a:cs typeface="ˎ̥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2062164" y="477838"/>
            <a:ext cx="3938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两个矩阵相加的算法描述：</a:t>
            </a:r>
            <a:r>
              <a:rPr lang="zh-CN" altLang="en-US" sz="2400" b="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2247900" y="1003301"/>
            <a:ext cx="788035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(1) </a:t>
            </a:r>
            <a:r>
              <a:rPr lang="zh-CN" altLang="en-US" sz="2400"/>
              <a:t>初始令</a:t>
            </a:r>
            <a:r>
              <a:rPr lang="en-US" altLang="zh-CN" sz="2400"/>
              <a:t>pa</a:t>
            </a:r>
            <a:r>
              <a:rPr lang="zh-CN" altLang="en-US" sz="2400"/>
              <a:t>和</a:t>
            </a:r>
            <a:r>
              <a:rPr lang="en-US" altLang="zh-CN" sz="2400"/>
              <a:t>pb</a:t>
            </a:r>
            <a:r>
              <a:rPr lang="zh-CN" altLang="en-US" sz="2400"/>
              <a:t>分别指向</a:t>
            </a:r>
            <a:r>
              <a:rPr lang="en-US" altLang="zh-CN" sz="2400"/>
              <a:t>A</a:t>
            </a:r>
            <a:r>
              <a:rPr lang="zh-CN" altLang="en-US" sz="2400"/>
              <a:t>和</a:t>
            </a:r>
            <a:r>
              <a:rPr lang="en-US" altLang="zh-CN" sz="2400"/>
              <a:t>B</a:t>
            </a:r>
            <a:r>
              <a:rPr lang="zh-CN" altLang="en-US" sz="2400"/>
              <a:t>的第一行的第一个非零</a:t>
            </a:r>
          </a:p>
          <a:p>
            <a:r>
              <a:rPr lang="zh-CN" altLang="en-US" sz="2400"/>
              <a:t>元素的结点，即</a:t>
            </a:r>
            <a:br>
              <a:rPr lang="zh-CN" altLang="en-US" sz="2400"/>
            </a:br>
            <a:r>
              <a:rPr lang="zh-CN" altLang="en-US" sz="2400"/>
              <a:t>　　</a:t>
            </a:r>
            <a:r>
              <a:rPr lang="en-US" altLang="zh-CN" sz="2400"/>
              <a:t>pa</a:t>
            </a:r>
            <a:r>
              <a:rPr lang="zh-CN" altLang="en-US" sz="2400"/>
              <a:t>＝</a:t>
            </a:r>
            <a:r>
              <a:rPr lang="en-US" altLang="zh-CN" sz="2400"/>
              <a:t>A.rhead[1]; pb</a:t>
            </a:r>
            <a:r>
              <a:rPr lang="zh-CN" altLang="en-US" sz="2400"/>
              <a:t>＝</a:t>
            </a:r>
            <a:r>
              <a:rPr lang="en-US" altLang="zh-CN" sz="2400"/>
              <a:t>B.rhead[1]; pre =</a:t>
            </a:r>
            <a:r>
              <a:rPr lang="en-US" altLang="zh-CN" sz="2400">
                <a:solidFill>
                  <a:srgbClr val="0000FF"/>
                </a:solidFill>
              </a:rPr>
              <a:t> NULL</a:t>
            </a:r>
            <a:r>
              <a:rPr lang="en-US" altLang="zh-CN" sz="2400"/>
              <a:t>;</a:t>
            </a:r>
            <a:br>
              <a:rPr lang="en-US" altLang="zh-CN" sz="2400"/>
            </a:br>
            <a:r>
              <a:rPr lang="zh-CN" altLang="en-US" sz="2400"/>
              <a:t>　　且令</a:t>
            </a:r>
            <a:r>
              <a:rPr lang="en-US" altLang="zh-CN" sz="2400"/>
              <a:t>hl</a:t>
            </a:r>
            <a:r>
              <a:rPr lang="zh-CN" altLang="en-US" sz="2400"/>
              <a:t>初始化 </a:t>
            </a:r>
            <a:r>
              <a:rPr lang="en-US" altLang="zh-CN" sz="2400"/>
              <a:t>for (j=1; j&lt;=A.nu; ++j) hl[j]</a:t>
            </a:r>
          </a:p>
          <a:p>
            <a:r>
              <a:rPr lang="zh-CN" altLang="en-US" sz="2400"/>
              <a:t>＝</a:t>
            </a:r>
            <a:r>
              <a:rPr lang="en-US" altLang="zh-CN" sz="2400"/>
              <a:t>A.chead[j];</a:t>
            </a:r>
            <a:br>
              <a:rPr lang="en-US" altLang="zh-CN" sz="2400"/>
            </a:br>
            <a:r>
              <a:rPr lang="en-US" altLang="zh-CN" sz="2400"/>
              <a:t>(2) </a:t>
            </a:r>
            <a:r>
              <a:rPr lang="zh-CN" altLang="en-US" sz="2400"/>
              <a:t>重复本步骤，依次处理本行结点，直到</a:t>
            </a:r>
            <a:r>
              <a:rPr lang="en-US" altLang="zh-CN" sz="2400"/>
              <a:t>B</a:t>
            </a:r>
            <a:r>
              <a:rPr lang="zh-CN" altLang="en-US" sz="2400"/>
              <a:t>的本行中</a:t>
            </a:r>
          </a:p>
          <a:p>
            <a:r>
              <a:rPr lang="zh-CN" altLang="en-US" sz="2400"/>
              <a:t>无非零元素的结点，即</a:t>
            </a:r>
            <a:r>
              <a:rPr lang="en-US" altLang="zh-CN" sz="2400"/>
              <a:t>pb==</a:t>
            </a:r>
            <a:r>
              <a:rPr lang="en-US" altLang="zh-CN" sz="2400">
                <a:solidFill>
                  <a:srgbClr val="0000FF"/>
                </a:solidFill>
              </a:rPr>
              <a:t>NULL</a:t>
            </a:r>
            <a:r>
              <a:rPr lang="zh-CN" altLang="en-US" sz="2400"/>
              <a:t>为止：</a:t>
            </a:r>
            <a:br>
              <a:rPr lang="zh-CN" altLang="en-US" sz="2400"/>
            </a:br>
            <a:r>
              <a:rPr lang="zh-CN" altLang="en-US" sz="2400"/>
              <a:t>① 若</a:t>
            </a:r>
            <a:r>
              <a:rPr lang="en-US" altLang="zh-CN" sz="2400"/>
              <a:t>pa==</a:t>
            </a:r>
            <a:r>
              <a:rPr lang="en-US" altLang="zh-CN" sz="2400">
                <a:solidFill>
                  <a:srgbClr val="0000FF"/>
                </a:solidFill>
              </a:rPr>
              <a:t>NULL</a:t>
            </a:r>
            <a:r>
              <a:rPr lang="zh-CN" altLang="en-US" sz="2400"/>
              <a:t>或</a:t>
            </a:r>
            <a:r>
              <a:rPr lang="en-US" altLang="zh-CN" sz="2400"/>
              <a:t>pa-&gt;j〉pb-&gt;j</a:t>
            </a:r>
            <a:r>
              <a:rPr lang="zh-CN" altLang="en-US" sz="2400"/>
              <a:t>（即</a:t>
            </a:r>
            <a:r>
              <a:rPr lang="en-US" altLang="zh-CN" sz="2400"/>
              <a:t>A</a:t>
            </a:r>
            <a:r>
              <a:rPr lang="zh-CN" altLang="en-US" sz="2400"/>
              <a:t>的这一行中非零</a:t>
            </a:r>
          </a:p>
          <a:p>
            <a:r>
              <a:rPr lang="zh-CN" altLang="en-US" sz="2400"/>
              <a:t>元素已处理完），则需在</a:t>
            </a:r>
            <a:r>
              <a:rPr lang="en-US" altLang="zh-CN" sz="2400"/>
              <a:t>A</a:t>
            </a:r>
            <a:r>
              <a:rPr lang="zh-CN" altLang="en-US" sz="2400"/>
              <a:t>中插入一个</a:t>
            </a:r>
            <a:r>
              <a:rPr lang="en-US" altLang="zh-CN" sz="2400"/>
              <a:t>pb</a:t>
            </a:r>
            <a:r>
              <a:rPr lang="zh-CN" altLang="en-US" sz="2400"/>
              <a:t>所指　　</a:t>
            </a:r>
          </a:p>
          <a:p>
            <a:r>
              <a:rPr lang="zh-CN" altLang="en-US" sz="2400"/>
              <a:t>结点的复制结点。假设新结点的地址为</a:t>
            </a:r>
            <a:r>
              <a:rPr lang="en-US" altLang="zh-CN" sz="2400"/>
              <a:t>p</a:t>
            </a:r>
            <a:r>
              <a:rPr lang="zh-CN" altLang="en-US" sz="2400"/>
              <a:t>，则</a:t>
            </a:r>
            <a:r>
              <a:rPr lang="en-US" altLang="zh-CN" sz="2400"/>
              <a:t>A</a:t>
            </a:r>
            <a:r>
              <a:rPr lang="zh-CN" altLang="en-US" sz="2400"/>
              <a:t>的行表</a:t>
            </a:r>
          </a:p>
          <a:p>
            <a:r>
              <a:rPr lang="zh-CN" altLang="en-US" sz="2400"/>
              <a:t>中的指针作如下变化：</a:t>
            </a:r>
            <a:br>
              <a:rPr lang="zh-CN" altLang="en-US" sz="2400"/>
            </a:br>
            <a:r>
              <a:rPr lang="en-US" altLang="zh-CN" sz="2400"/>
              <a:t>if pre ==</a:t>
            </a:r>
            <a:r>
              <a:rPr lang="en-US" altLang="zh-CN" sz="2400">
                <a:solidFill>
                  <a:srgbClr val="0000FF"/>
                </a:solidFill>
              </a:rPr>
              <a:t> NULL</a:t>
            </a:r>
            <a:r>
              <a:rPr lang="en-US" altLang="zh-CN" sz="2400"/>
              <a:t> rhead[p-&gt;i]=p;</a:t>
            </a:r>
            <a:br>
              <a:rPr lang="en-US" altLang="zh-CN" sz="2400"/>
            </a:br>
            <a:r>
              <a:rPr lang="en-US" altLang="zh-CN" sz="2400"/>
              <a:t>else { pre-&gt;right</a:t>
            </a:r>
            <a:r>
              <a:rPr lang="zh-CN" altLang="en-US" sz="2400"/>
              <a:t>＝</a:t>
            </a:r>
            <a:r>
              <a:rPr lang="en-US" altLang="zh-CN" sz="2400"/>
              <a:t>p; }</a:t>
            </a:r>
            <a:br>
              <a:rPr lang="en-US" altLang="zh-CN" sz="2400"/>
            </a:br>
            <a:r>
              <a:rPr lang="en-US" altLang="zh-CN" sz="2400"/>
              <a:t>p-&gt;right</a:t>
            </a:r>
            <a:r>
              <a:rPr lang="zh-CN" altLang="en-US" sz="2400"/>
              <a:t>＝</a:t>
            </a:r>
            <a:r>
              <a:rPr lang="en-US" altLang="zh-CN" sz="2400"/>
              <a:t>pa; pre = p;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2286000" y="520701"/>
            <a:ext cx="7842250" cy="578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/>
              <a:t>A</a:t>
            </a:r>
            <a:r>
              <a:rPr lang="zh-CN" altLang="en-US" sz="2400"/>
              <a:t>的列链表中的指针也要作相应的改变。首先需从</a:t>
            </a:r>
            <a:r>
              <a:rPr lang="en-US" altLang="zh-CN" sz="2400"/>
              <a:t>hl[p-&gt;j]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开始找到新结点在同一列中的前驱结点，并让</a:t>
            </a:r>
            <a:r>
              <a:rPr lang="en-US" altLang="zh-CN" sz="2400"/>
              <a:t>hl[p-&gt;j]</a:t>
            </a:r>
            <a:r>
              <a:rPr lang="zh-CN" altLang="en-US" sz="2400"/>
              <a:t>指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向它，然后在列链表中插入新结点：</a:t>
            </a:r>
            <a:br>
              <a:rPr lang="zh-CN" altLang="en-US" sz="2400"/>
            </a:br>
            <a:r>
              <a:rPr lang="en-US" altLang="zh-CN" sz="2400"/>
              <a:t>if chead[p-&gt;j] == </a:t>
            </a:r>
            <a:r>
              <a:rPr lang="en-US" altLang="zh-CN" sz="2400">
                <a:solidFill>
                  <a:srgbClr val="0000FF"/>
                </a:solidFill>
              </a:rPr>
              <a:t>NULL </a:t>
            </a:r>
            <a:br>
              <a:rPr lang="en-US" altLang="zh-CN" sz="2400"/>
            </a:br>
            <a:r>
              <a:rPr lang="en-US" altLang="zh-CN" sz="2400"/>
              <a:t>{ chead[p-&gt;j] = p; p-&gt;down = </a:t>
            </a:r>
            <a:r>
              <a:rPr lang="en-US" altLang="zh-CN" sz="2400">
                <a:solidFill>
                  <a:srgbClr val="0000FF"/>
                </a:solidFill>
              </a:rPr>
              <a:t>NULL</a:t>
            </a:r>
            <a:r>
              <a:rPr lang="en-US" altLang="zh-CN" sz="2400"/>
              <a:t>; }</a:t>
            </a:r>
            <a:br>
              <a:rPr lang="en-US" altLang="zh-CN" sz="2400"/>
            </a:br>
            <a:r>
              <a:rPr lang="en-US" altLang="zh-CN" sz="2400"/>
              <a:t>else { </a:t>
            </a:r>
            <a:br>
              <a:rPr lang="en-US" altLang="zh-CN" sz="2400"/>
            </a:br>
            <a:r>
              <a:rPr lang="en-US" altLang="zh-CN" sz="2400"/>
              <a:t>p-&gt;down</a:t>
            </a:r>
            <a:r>
              <a:rPr lang="zh-CN" altLang="en-US" sz="2400"/>
              <a:t>＝</a:t>
            </a:r>
            <a:r>
              <a:rPr lang="en-US" altLang="zh-CN" sz="2400"/>
              <a:t>hl[p-&gt;j]-&gt;down; hl[p-&gt;j]-&gt;down</a:t>
            </a:r>
            <a:r>
              <a:rPr lang="zh-CN" altLang="en-US" sz="2400"/>
              <a:t>＝</a:t>
            </a:r>
            <a:r>
              <a:rPr lang="en-US" altLang="zh-CN" sz="2400"/>
              <a:t>p; }</a:t>
            </a:r>
            <a:br>
              <a:rPr lang="en-US" altLang="zh-CN" sz="2400"/>
            </a:br>
            <a:r>
              <a:rPr lang="en-US" altLang="zh-CN" sz="2400"/>
              <a:t>hl[p-&gt;j] = p;</a:t>
            </a:r>
            <a:br>
              <a:rPr lang="en-US" altLang="zh-CN" sz="2400"/>
            </a:br>
            <a:r>
              <a:rPr lang="en-US" altLang="zh-CN" sz="2400"/>
              <a:t>② </a:t>
            </a:r>
            <a:r>
              <a:rPr lang="zh-CN" altLang="en-US" sz="2400"/>
              <a:t>若</a:t>
            </a:r>
            <a:r>
              <a:rPr lang="en-US" altLang="zh-CN" sz="2400"/>
              <a:t>pa-&gt;j〈pb-&gt;j</a:t>
            </a:r>
            <a:r>
              <a:rPr lang="zh-CN" altLang="en-US" sz="2400"/>
              <a:t>且</a:t>
            </a:r>
            <a:r>
              <a:rPr lang="en-US" altLang="zh-CN" sz="2400"/>
              <a:t>pa-&gt;j!=0</a:t>
            </a:r>
            <a:r>
              <a:rPr lang="zh-CN" altLang="en-US" sz="2400"/>
              <a:t>，则令</a:t>
            </a:r>
            <a:r>
              <a:rPr lang="en-US" altLang="zh-CN" sz="2400"/>
              <a:t>pa</a:t>
            </a:r>
            <a:r>
              <a:rPr lang="zh-CN" altLang="en-US" sz="2400"/>
              <a:t>指向本行下一个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非零元结点，即 </a:t>
            </a:r>
            <a:r>
              <a:rPr lang="en-US" altLang="zh-CN" sz="2400"/>
              <a:t>pre</a:t>
            </a:r>
            <a:r>
              <a:rPr lang="zh-CN" altLang="en-US" sz="2400"/>
              <a:t>＝</a:t>
            </a:r>
            <a:r>
              <a:rPr lang="en-US" altLang="zh-CN" sz="2400"/>
              <a:t>pa; pa</a:t>
            </a:r>
            <a:r>
              <a:rPr lang="zh-CN" altLang="en-US" sz="2400"/>
              <a:t>＝</a:t>
            </a:r>
            <a:r>
              <a:rPr lang="en-US" altLang="zh-CN" sz="2400"/>
              <a:t>pa-&gt;right;</a:t>
            </a:r>
            <a:br>
              <a:rPr lang="en-US" altLang="zh-CN" sz="2400"/>
            </a:br>
            <a:r>
              <a:rPr lang="en-US" altLang="zh-CN" sz="2400"/>
              <a:t>③ </a:t>
            </a:r>
            <a:r>
              <a:rPr lang="zh-CN" altLang="en-US" sz="2400"/>
              <a:t>若</a:t>
            </a:r>
            <a:r>
              <a:rPr lang="en-US" altLang="zh-CN" sz="2400"/>
              <a:t>pa-&gt;j == pb-&gt;j</a:t>
            </a:r>
            <a:r>
              <a:rPr lang="zh-CN" altLang="en-US" sz="2400"/>
              <a:t>，则将</a:t>
            </a:r>
            <a:r>
              <a:rPr lang="en-US" altLang="zh-CN" sz="2400"/>
              <a:t>B</a:t>
            </a:r>
            <a:r>
              <a:rPr lang="zh-CN" altLang="en-US" sz="2400"/>
              <a:t>中当前结点的值加到</a:t>
            </a:r>
            <a:r>
              <a:rPr lang="en-US" altLang="zh-CN" sz="2400"/>
              <a:t>A</a:t>
            </a:r>
            <a:r>
              <a:rPr lang="zh-CN" altLang="en-US" sz="2400"/>
              <a:t>中当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前结点上，即</a:t>
            </a:r>
            <a:br>
              <a:rPr lang="zh-CN" altLang="en-US" sz="2400"/>
            </a:br>
            <a:r>
              <a:rPr lang="en-US" altLang="zh-CN" sz="2400"/>
              <a:t>pa-&gt;e</a:t>
            </a:r>
            <a:r>
              <a:rPr lang="zh-CN" altLang="en-US" sz="2400"/>
              <a:t>＋＝</a:t>
            </a:r>
            <a:r>
              <a:rPr lang="en-US" altLang="zh-CN" sz="2400"/>
              <a:t>pb-&gt;e; 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2063751" y="404814"/>
            <a:ext cx="8304213" cy="611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/>
              <a:t>此时若</a:t>
            </a:r>
            <a:r>
              <a:rPr lang="en-US" altLang="zh-CN" sz="2400"/>
              <a:t>pa-&gt;e!=0</a:t>
            </a:r>
            <a:r>
              <a:rPr lang="zh-CN" altLang="en-US" sz="2400"/>
              <a:t>，则指针不变，否则删除</a:t>
            </a:r>
            <a:r>
              <a:rPr lang="en-US" altLang="zh-CN" sz="2400"/>
              <a:t>A</a:t>
            </a:r>
            <a:r>
              <a:rPr lang="zh-CN" altLang="en-US" sz="2400"/>
              <a:t>中该结点，即行表</a:t>
            </a:r>
          </a:p>
          <a:p>
            <a:pPr>
              <a:lnSpc>
                <a:spcPct val="110000"/>
              </a:lnSpc>
            </a:pPr>
            <a:r>
              <a:rPr lang="zh-CN" altLang="en-US" sz="2400"/>
              <a:t>中指针变为：</a:t>
            </a:r>
            <a:br>
              <a:rPr lang="zh-CN" altLang="en-US" sz="2400"/>
            </a:br>
            <a:r>
              <a:rPr lang="en-US" altLang="zh-CN" sz="2400"/>
              <a:t>if pre == NULL rhead[pa-&gt;i] = pa-&gt;right;</a:t>
            </a:r>
            <a:br>
              <a:rPr lang="en-US" altLang="zh-CN" sz="2400"/>
            </a:br>
            <a:r>
              <a:rPr lang="en-US" altLang="zh-CN" sz="2400"/>
              <a:t>else { pre-&gt;right</a:t>
            </a:r>
            <a:r>
              <a:rPr lang="zh-CN" altLang="en-US" sz="2400"/>
              <a:t>＝</a:t>
            </a:r>
            <a:r>
              <a:rPr lang="en-US" altLang="zh-CN" sz="2400"/>
              <a:t>pa-&gt;right; }</a:t>
            </a:r>
            <a:br>
              <a:rPr lang="en-US" altLang="zh-CN" sz="2400"/>
            </a:br>
            <a:r>
              <a:rPr lang="en-US" altLang="zh-CN" sz="2400"/>
              <a:t>p=pa; pa=pa-&gt;right; </a:t>
            </a:r>
            <a:br>
              <a:rPr lang="en-US" altLang="zh-CN" sz="2400"/>
            </a:br>
            <a:br>
              <a:rPr lang="en-US" altLang="zh-CN" sz="2400"/>
            </a:br>
            <a:r>
              <a:rPr lang="zh-CN" altLang="en-US" sz="2400"/>
              <a:t>同时，为了改变列表中的指针，需要先找到同一列中的前驱</a:t>
            </a:r>
          </a:p>
          <a:p>
            <a:pPr>
              <a:lnSpc>
                <a:spcPct val="110000"/>
              </a:lnSpc>
            </a:pPr>
            <a:r>
              <a:rPr lang="zh-CN" altLang="en-US" sz="2400"/>
              <a:t>结点，且让</a:t>
            </a:r>
            <a:r>
              <a:rPr lang="en-US" altLang="zh-CN" sz="2400"/>
              <a:t>hl[pa-&gt;j]</a:t>
            </a:r>
            <a:r>
              <a:rPr lang="zh-CN" altLang="en-US" sz="2400"/>
              <a:t>指向该结点，然后如下修改相应指针：</a:t>
            </a:r>
            <a:br>
              <a:rPr lang="zh-CN" altLang="en-US" sz="2400"/>
            </a:br>
            <a:r>
              <a:rPr lang="en-US" altLang="zh-CN" sz="2400"/>
              <a:t>if chead[p-&gt;j] == p</a:t>
            </a:r>
            <a:br>
              <a:rPr lang="en-US" altLang="zh-CN" sz="2400"/>
            </a:br>
            <a:r>
              <a:rPr lang="en-US" altLang="zh-CN" sz="2400"/>
              <a:t>chead[p-&gt;j] = hl[p-&gt;j] = p-&gt;down; </a:t>
            </a:r>
            <a:br>
              <a:rPr lang="en-US" altLang="zh-CN" sz="2400"/>
            </a:br>
            <a:r>
              <a:rPr lang="en-US" altLang="zh-CN" sz="2400"/>
              <a:t>else { hl[p-&gt;j]-&gt;down</a:t>
            </a:r>
            <a:r>
              <a:rPr lang="zh-CN" altLang="en-US" sz="2400"/>
              <a:t>＝</a:t>
            </a:r>
            <a:r>
              <a:rPr lang="en-US" altLang="zh-CN" sz="2400"/>
              <a:t>p-&gt;down; }</a:t>
            </a:r>
            <a:br>
              <a:rPr lang="en-US" altLang="zh-CN" sz="2400"/>
            </a:br>
            <a:r>
              <a:rPr lang="en-US" altLang="zh-CN" sz="2400"/>
              <a:t>free (p);</a:t>
            </a:r>
            <a:br>
              <a:rPr lang="en-US" altLang="zh-CN" sz="2400"/>
            </a:br>
            <a:r>
              <a:rPr lang="en-US" altLang="zh-CN" sz="2400"/>
              <a:t>(3) </a:t>
            </a:r>
            <a:r>
              <a:rPr lang="zh-CN" altLang="en-US" sz="2400"/>
              <a:t>若本行不是最后一行，则令</a:t>
            </a:r>
            <a:r>
              <a:rPr lang="en-US" altLang="zh-CN" sz="2400"/>
              <a:t>pa</a:t>
            </a:r>
            <a:r>
              <a:rPr lang="zh-CN" altLang="en-US" sz="2400"/>
              <a:t>和</a:t>
            </a:r>
            <a:r>
              <a:rPr lang="en-US" altLang="zh-CN" sz="2400"/>
              <a:t>pb</a:t>
            </a:r>
            <a:r>
              <a:rPr lang="zh-CN" altLang="en-US" sz="2400"/>
              <a:t>指向下一行的第一个</a:t>
            </a:r>
          </a:p>
          <a:p>
            <a:pPr>
              <a:lnSpc>
                <a:spcPct val="110000"/>
              </a:lnSpc>
            </a:pPr>
            <a:r>
              <a:rPr lang="zh-CN" altLang="en-US" sz="2400"/>
              <a:t>非零元结点，转</a:t>
            </a:r>
            <a:r>
              <a:rPr lang="en-US" altLang="zh-CN" sz="2400"/>
              <a:t>(2)</a:t>
            </a:r>
            <a:r>
              <a:rPr lang="zh-CN" altLang="en-US" sz="2400"/>
              <a:t>；否则结束。</a:t>
            </a:r>
            <a:br>
              <a:rPr lang="zh-CN" altLang="en-US" sz="2400"/>
            </a:br>
            <a:r>
              <a:rPr lang="zh-CN" altLang="en-US" sz="2400">
                <a:solidFill>
                  <a:srgbClr val="0000FF"/>
                </a:solidFill>
              </a:rPr>
              <a:t>此算法时间复杂度：</a:t>
            </a:r>
            <a:r>
              <a:rPr lang="en-US" altLang="zh-CN" sz="2400">
                <a:solidFill>
                  <a:srgbClr val="0000FF"/>
                </a:solidFill>
              </a:rPr>
              <a:t>O(ta+tb)</a:t>
            </a:r>
            <a:endParaRPr lang="en-US" altLang="zh-CN" sz="2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648774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9080574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512374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自选图形 3">
            <a:extLst>
              <a:ext uri="{FF2B5EF4-FFF2-40B4-BE49-F238E27FC236}">
                <a16:creationId xmlns:a16="http://schemas.microsoft.com/office/drawing/2014/main" id="{AB2CBFEC-C603-4F98-BA8F-CD1A9A3F196B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1" name="自选图形 4">
            <a:extLst>
              <a:ext uri="{FF2B5EF4-FFF2-40B4-BE49-F238E27FC236}">
                <a16:creationId xmlns:a16="http://schemas.microsoft.com/office/drawing/2014/main" id="{E0C85A51-8CC0-419B-997B-60C08B0BBA10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5">
            <a:extLst>
              <a:ext uri="{FF2B5EF4-FFF2-40B4-BE49-F238E27FC236}">
                <a16:creationId xmlns:a16="http://schemas.microsoft.com/office/drawing/2014/main" id="{F2B7855C-C99F-44DB-93FC-42D0A89F211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广义表的存储结构、相关递归算法</a:t>
            </a:r>
          </a:p>
        </p:txBody>
      </p:sp>
      <p:sp>
        <p:nvSpPr>
          <p:cNvPr id="53" name="自选图形 6">
            <a:extLst>
              <a:ext uri="{FF2B5EF4-FFF2-40B4-BE49-F238E27FC236}">
                <a16:creationId xmlns:a16="http://schemas.microsoft.com/office/drawing/2014/main" id="{0F5587EC-12ED-4A26-8C41-9D2447E39D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广义表的概念、性质</a:t>
            </a:r>
          </a:p>
        </p:txBody>
      </p:sp>
      <p:sp>
        <p:nvSpPr>
          <p:cNvPr id="54" name="自选图形 7">
            <a:extLst>
              <a:ext uri="{FF2B5EF4-FFF2-40B4-BE49-F238E27FC236}">
                <a16:creationId xmlns:a16="http://schemas.microsoft.com/office/drawing/2014/main" id="{CA10185B-9ECD-4970-83BD-5F69667521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矩阵的压缩存储</a:t>
            </a:r>
          </a:p>
        </p:txBody>
      </p:sp>
      <p:sp>
        <p:nvSpPr>
          <p:cNvPr id="55" name="自选图形 8">
            <a:extLst>
              <a:ext uri="{FF2B5EF4-FFF2-40B4-BE49-F238E27FC236}">
                <a16:creationId xmlns:a16="http://schemas.microsoft.com/office/drawing/2014/main" id="{A8523CE0-8085-4717-8D3A-2CB9EBBD2FB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数组的顺序表示和实现</a:t>
            </a:r>
          </a:p>
        </p:txBody>
      </p:sp>
      <p:sp>
        <p:nvSpPr>
          <p:cNvPr id="56" name="自选图形 9">
            <a:extLst>
              <a:ext uri="{FF2B5EF4-FFF2-40B4-BE49-F238E27FC236}">
                <a16:creationId xmlns:a16="http://schemas.microsoft.com/office/drawing/2014/main" id="{51B9A67B-8748-409A-B412-831FD8B21CE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数组的定义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05046EB8-8B34-4849-8041-EE42C6069F8F}"/>
              </a:ext>
            </a:extLst>
          </p:cNvPr>
          <p:cNvGrpSpPr>
            <a:grpSpLocks/>
          </p:cNvGrpSpPr>
          <p:nvPr/>
        </p:nvGrpSpPr>
        <p:grpSpPr bwMode="auto">
          <a:xfrm>
            <a:off x="2917252" y="1777453"/>
            <a:ext cx="381000" cy="381000"/>
            <a:chOff x="2078" y="1680"/>
            <a:chExt cx="1615" cy="1615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4E506CF7-7372-4439-A465-5073570171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7B499A55-1120-48E5-8FCE-162E81A90A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F8E85B97-2E4D-4BA9-87EA-40F9DC4828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12501AB5-4EBB-44C6-B37B-2D6D9580E20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E824BD91-8C69-4B76-AC68-02CAB287C14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410C8892-5427-400F-8895-1C3DE0EBEC6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580DD506-DDA0-4678-88CD-D794FF0A3525}"/>
              </a:ext>
            </a:extLst>
          </p:cNvPr>
          <p:cNvGrpSpPr>
            <a:grpSpLocks/>
          </p:cNvGrpSpPr>
          <p:nvPr/>
        </p:nvGrpSpPr>
        <p:grpSpPr bwMode="auto">
          <a:xfrm>
            <a:off x="3432973" y="2536918"/>
            <a:ext cx="381000" cy="381000"/>
            <a:chOff x="2078" y="1680"/>
            <a:chExt cx="1615" cy="1615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05064E74-F0DD-4CDC-9414-D047459CAA7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90421D79-13D5-4D5B-9D16-21115F67F94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4DEF1B93-F901-47D9-9E0F-BEBCBCA48BF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FBA69B1B-A62B-4C6A-9170-944767E6910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5249F84A-6418-4380-BC38-6C868197533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047D353E-E894-465E-AA8E-B8D58B235D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399379B-8F43-440E-9F26-8B9F9D4762A6}"/>
              </a:ext>
            </a:extLst>
          </p:cNvPr>
          <p:cNvGrpSpPr>
            <a:grpSpLocks/>
          </p:cNvGrpSpPr>
          <p:nvPr/>
        </p:nvGrpSpPr>
        <p:grpSpPr bwMode="auto">
          <a:xfrm>
            <a:off x="3601533" y="3421310"/>
            <a:ext cx="381000" cy="381000"/>
            <a:chOff x="2078" y="1680"/>
            <a:chExt cx="1615" cy="1615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6BD5DAEC-3F70-43BD-B871-8FF22979452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01EB522-959F-4096-AD1C-971504C26CE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C28F25A8-913A-4E77-9A18-E91F33FE3BF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80122E87-FD2F-4487-8AEA-00FAA78A4D1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E2DD0318-F421-4253-B81A-CB07F52ABFE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FE966004-FBFD-4769-82D8-2399EAB4CCA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8DFF747-58AF-4DFD-AA7C-D9BE36FD0AF4}"/>
              </a:ext>
            </a:extLst>
          </p:cNvPr>
          <p:cNvGrpSpPr>
            <a:grpSpLocks/>
          </p:cNvGrpSpPr>
          <p:nvPr/>
        </p:nvGrpSpPr>
        <p:grpSpPr bwMode="auto">
          <a:xfrm>
            <a:off x="3487739" y="4213473"/>
            <a:ext cx="381000" cy="381000"/>
            <a:chOff x="2078" y="1680"/>
            <a:chExt cx="1615" cy="161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175AD976-81BB-4BE4-A4C9-0520A20746C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16B17DB7-2D07-48CC-8072-03AD596AB4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D303027B-0B51-4202-BCDD-12B1D09614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E7A1A89E-5CE6-4E9C-8419-2C646799ECD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4CBEA21C-B839-4D81-909E-E9F07222B7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DFD73B4E-84A1-4275-B7B9-91BAD2714AD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D1E67233-EC61-404A-8933-C1B480E7FC70}"/>
              </a:ext>
            </a:extLst>
          </p:cNvPr>
          <p:cNvGrpSpPr>
            <a:grpSpLocks/>
          </p:cNvGrpSpPr>
          <p:nvPr/>
        </p:nvGrpSpPr>
        <p:grpSpPr bwMode="auto">
          <a:xfrm>
            <a:off x="3016268" y="5055640"/>
            <a:ext cx="355600" cy="381000"/>
            <a:chOff x="2078" y="1680"/>
            <a:chExt cx="1615" cy="161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283B099B-E6EF-4E05-AB44-F8837A68721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77F7F30C-166F-4E84-9A57-36A2839FD53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4C129641-594A-4498-BC6B-4BA8BA9D6C6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FE859E36-73DF-4AD6-9489-9BF2F745F58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9C6BD5E0-7721-44F8-BD01-D2D2DE307BB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6DEBD47A-824C-41E2-87FB-378346B24B8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1" name="AutoShape 5"/>
          <p:cNvSpPr>
            <a:spLocks noChangeArrowheads="1"/>
          </p:cNvSpPr>
          <p:nvPr/>
        </p:nvSpPr>
        <p:spPr bwMode="auto">
          <a:xfrm>
            <a:off x="2243139" y="1196975"/>
            <a:ext cx="8135937" cy="10795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        </a:t>
            </a:r>
            <a:r>
              <a:rPr lang="zh-CN" altLang="en-US" sz="2400" dirty="0">
                <a:solidFill>
                  <a:srgbClr val="0000FF"/>
                </a:solidFill>
              </a:rPr>
              <a:t>广义表</a:t>
            </a:r>
            <a:r>
              <a:rPr lang="zh-CN" altLang="en-US" sz="2400" dirty="0"/>
              <a:t>（又称</a:t>
            </a:r>
            <a:r>
              <a:rPr lang="zh-CN" altLang="en-US" sz="2400" dirty="0">
                <a:solidFill>
                  <a:srgbClr val="333333"/>
                </a:solidFill>
              </a:rPr>
              <a:t>列表 </a:t>
            </a:r>
            <a:r>
              <a:rPr lang="en-US" altLang="zh-CN" sz="2400" dirty="0">
                <a:solidFill>
                  <a:srgbClr val="333333"/>
                </a:solidFill>
              </a:rPr>
              <a:t>Lists</a:t>
            </a:r>
            <a:r>
              <a:rPr lang="zh-CN" altLang="en-US" sz="2400" dirty="0">
                <a:solidFill>
                  <a:srgbClr val="333333"/>
                </a:solidFill>
              </a:rPr>
              <a:t>）</a:t>
            </a:r>
            <a:r>
              <a:rPr lang="zh-CN" altLang="en-US" sz="2400" dirty="0"/>
              <a:t>是</a:t>
            </a:r>
            <a:r>
              <a:rPr lang="en-US" altLang="zh-CN" sz="2400" i="1" dirty="0"/>
              <a:t>n</a:t>
            </a:r>
            <a:r>
              <a:rPr lang="en-US" altLang="zh-CN" sz="2400" dirty="0"/>
              <a:t>≥0</a:t>
            </a:r>
            <a:r>
              <a:rPr lang="zh-CN" altLang="en-US" sz="2400" dirty="0"/>
              <a:t>个元素 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</a:t>
            </a:r>
            <a:endParaRPr lang="en-US" altLang="zh-CN" sz="2400" dirty="0"/>
          </a:p>
          <a:p>
            <a:pPr>
              <a:lnSpc>
                <a:spcPct val="140000"/>
              </a:lnSpc>
            </a:pPr>
            <a:r>
              <a:rPr lang="zh-CN" altLang="en-US" sz="2400" dirty="0"/>
              <a:t>的有限序列，其中每一个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或者是</a:t>
            </a:r>
            <a:r>
              <a:rPr lang="zh-CN" altLang="en-US" sz="2400" dirty="0">
                <a:solidFill>
                  <a:srgbClr val="0000FF"/>
                </a:solidFill>
              </a:rPr>
              <a:t>原子</a:t>
            </a:r>
            <a:r>
              <a:rPr lang="zh-CN" altLang="en-US" sz="2400" dirty="0"/>
              <a:t>，或者是一个</a:t>
            </a:r>
            <a:r>
              <a:rPr lang="zh-CN" altLang="en-US" sz="2400" dirty="0">
                <a:solidFill>
                  <a:srgbClr val="0000FF"/>
                </a:solidFill>
              </a:rPr>
              <a:t>子表</a:t>
            </a:r>
            <a:r>
              <a:rPr lang="zh-CN" altLang="en-US" sz="2400" dirty="0"/>
              <a:t>。 </a:t>
            </a:r>
          </a:p>
          <a:p>
            <a:pPr>
              <a:lnSpc>
                <a:spcPct val="40000"/>
              </a:lnSpc>
            </a:pPr>
            <a:endParaRPr lang="en-US" altLang="zh-CN" sz="2400" dirty="0"/>
          </a:p>
        </p:txBody>
      </p:sp>
      <p:sp>
        <p:nvSpPr>
          <p:cNvPr id="111628" name="Rectangle 12"/>
          <p:cNvSpPr>
            <a:spLocks noChangeArrowheads="1"/>
          </p:cNvSpPr>
          <p:nvPr/>
        </p:nvSpPr>
        <p:spPr bwMode="auto">
          <a:xfrm>
            <a:off x="2027239" y="531813"/>
            <a:ext cx="2808287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>
                <a:ea typeface="华文中宋" pitchFamily="2" charset="-122"/>
              </a:rPr>
              <a:t>5.4  </a:t>
            </a:r>
            <a:r>
              <a:rPr lang="zh-CN" altLang="en-US" sz="2400">
                <a:ea typeface="华文中宋" pitchFamily="2" charset="-122"/>
              </a:rPr>
              <a:t>广义表的定义   </a:t>
            </a:r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2027238" y="2436813"/>
            <a:ext cx="8223250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>
                <a:ea typeface="华文中宋" pitchFamily="2" charset="-122"/>
              </a:rPr>
              <a:t>例：</a:t>
            </a:r>
            <a:r>
              <a:rPr lang="zh-CN" altLang="en-US" sz="2400" dirty="0"/>
              <a:t>中国举办的国际足球邀请赛，参赛队名单可表示如下： </a:t>
            </a:r>
          </a:p>
          <a:p>
            <a:pPr>
              <a:lnSpc>
                <a:spcPct val="140000"/>
              </a:lnSpc>
            </a:pPr>
            <a:r>
              <a:rPr lang="zh-CN" altLang="en-US" sz="2400" dirty="0"/>
              <a:t>        </a:t>
            </a:r>
            <a:r>
              <a:rPr lang="zh-CN" altLang="en-US" sz="2400" dirty="0">
                <a:ea typeface="华文中宋" pitchFamily="2" charset="-122"/>
              </a:rPr>
              <a:t>（</a:t>
            </a:r>
            <a:r>
              <a:rPr lang="zh-CN" altLang="en-US" sz="2400" dirty="0">
                <a:ea typeface="华文新魏" pitchFamily="2" charset="-122"/>
              </a:rPr>
              <a:t>阿根廷，巴西，德国，法国，</a:t>
            </a:r>
            <a:r>
              <a:rPr lang="zh-CN" altLang="en-US" sz="2400" dirty="0">
                <a:ea typeface="华文中宋" pitchFamily="2" charset="-122"/>
              </a:rPr>
              <a:t>（ ）</a:t>
            </a:r>
            <a:r>
              <a:rPr lang="zh-CN" altLang="en-US" sz="2400" dirty="0">
                <a:ea typeface="华文新魏" pitchFamily="2" charset="-122"/>
              </a:rPr>
              <a:t>，西班牙， </a:t>
            </a:r>
          </a:p>
          <a:p>
            <a:pPr>
              <a:lnSpc>
                <a:spcPct val="140000"/>
              </a:lnSpc>
            </a:pPr>
            <a:r>
              <a:rPr lang="zh-CN" altLang="en-US" sz="2400" dirty="0">
                <a:ea typeface="华文新魏" pitchFamily="2" charset="-122"/>
              </a:rPr>
              <a:t>            意大利，英国，</a:t>
            </a:r>
            <a:r>
              <a:rPr lang="zh-CN" altLang="en-US" sz="2400" dirty="0">
                <a:ea typeface="华文中宋" pitchFamily="2" charset="-122"/>
              </a:rPr>
              <a:t>（</a:t>
            </a:r>
            <a:r>
              <a:rPr lang="zh-CN" altLang="en-US" sz="2400" dirty="0">
                <a:ea typeface="华文新魏" pitchFamily="2" charset="-122"/>
              </a:rPr>
              <a:t>国家队，建业，实德</a:t>
            </a:r>
            <a:r>
              <a:rPr lang="zh-CN" altLang="en-US" sz="2400" dirty="0">
                <a:ea typeface="华文中宋" pitchFamily="2" charset="-122"/>
              </a:rPr>
              <a:t>））</a:t>
            </a:r>
            <a:r>
              <a:rPr lang="zh-CN" altLang="en-US" sz="2400" dirty="0">
                <a:ea typeface="华文新魏" pitchFamily="2" charset="-122"/>
              </a:rPr>
              <a:t> </a:t>
            </a:r>
          </a:p>
        </p:txBody>
      </p:sp>
      <p:sp>
        <p:nvSpPr>
          <p:cNvPr id="111630" name="Text Box 14"/>
          <p:cNvSpPr txBox="1">
            <a:spLocks noChangeArrowheads="1"/>
          </p:cNvSpPr>
          <p:nvPr/>
        </p:nvSpPr>
        <p:spPr bwMode="auto">
          <a:xfrm>
            <a:off x="2027239" y="4076701"/>
            <a:ext cx="8305479" cy="2012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/>
              <a:t>        </a:t>
            </a:r>
            <a:r>
              <a:rPr lang="zh-CN" altLang="en-US" sz="2400" dirty="0"/>
              <a:t>在这个表中，韩国队应排在法国队后面，但由于其水平 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低未敢参加，成为空表。国家队、建业队、实德队均作为东 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道主的参赛队参加，构成一个小的线性表，成为原线性表的 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一个数据元素。这种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拓宽了的线性表就是广义表</a:t>
            </a:r>
            <a:r>
              <a:rPr lang="zh-CN" altLang="en-US" sz="2400" dirty="0"/>
              <a:t>。 </a:t>
            </a:r>
          </a:p>
        </p:txBody>
      </p:sp>
      <p:sp>
        <p:nvSpPr>
          <p:cNvPr id="111631" name="AutoShape 15"/>
          <p:cNvSpPr>
            <a:spLocks noChangeArrowheads="1"/>
          </p:cNvSpPr>
          <p:nvPr/>
        </p:nvSpPr>
        <p:spPr bwMode="auto">
          <a:xfrm>
            <a:off x="7283451" y="2565400"/>
            <a:ext cx="936625" cy="935038"/>
          </a:xfrm>
          <a:prstGeom prst="wedgeRoundRectCallout">
            <a:avLst>
              <a:gd name="adj1" fmla="val -42880"/>
              <a:gd name="adj2" fmla="val -9737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400"/>
              <a:t>单个元素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16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 animBg="1"/>
      <p:bldP spid="111629" grpId="0"/>
      <p:bldP spid="111630" grpId="0"/>
      <p:bldP spid="1116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2279650" y="595313"/>
            <a:ext cx="2698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广义表</a:t>
            </a:r>
            <a:r>
              <a:rPr lang="zh-CN" altLang="en-US" sz="2400">
                <a:ea typeface="华文中宋" pitchFamily="2" charset="-122"/>
              </a:rPr>
              <a:t>通常记作： </a:t>
            </a:r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auto">
          <a:xfrm>
            <a:off x="5159375" y="549276"/>
            <a:ext cx="3644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i="1"/>
              <a:t>LS</a:t>
            </a:r>
            <a:r>
              <a:rPr lang="en-US" altLang="zh-CN" sz="2800"/>
              <a:t> = (</a:t>
            </a:r>
            <a:r>
              <a:rPr lang="en-US" altLang="zh-CN" sz="2800" i="1"/>
              <a:t>a</a:t>
            </a:r>
            <a:r>
              <a:rPr lang="en-US" altLang="zh-CN" sz="2800" baseline="-25000"/>
              <a:t>1</a:t>
            </a:r>
            <a:r>
              <a:rPr lang="zh-CN" altLang="en-US" sz="2800"/>
              <a:t>，</a:t>
            </a:r>
            <a:r>
              <a:rPr lang="en-US" altLang="zh-CN" sz="2800" i="1"/>
              <a:t>a</a:t>
            </a:r>
            <a:r>
              <a:rPr lang="en-US" altLang="zh-CN" sz="2800" baseline="-25000"/>
              <a:t>2</a:t>
            </a:r>
            <a:r>
              <a:rPr lang="zh-CN" altLang="en-US" sz="2800"/>
              <a:t>，</a:t>
            </a:r>
            <a:r>
              <a:rPr lang="en-US" altLang="zh-CN" sz="2800"/>
              <a:t>…</a:t>
            </a:r>
            <a:r>
              <a:rPr lang="zh-CN" altLang="en-US" sz="2800"/>
              <a:t>，</a:t>
            </a:r>
            <a:r>
              <a:rPr lang="en-US" altLang="zh-CN" sz="2800" i="1"/>
              <a:t>a</a:t>
            </a:r>
            <a:r>
              <a:rPr lang="en-US" altLang="zh-CN" sz="2800" i="1" baseline="-25000"/>
              <a:t>n</a:t>
            </a:r>
            <a:r>
              <a:rPr lang="en-US" altLang="zh-CN" sz="2800"/>
              <a:t>) 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1631951" y="1298576"/>
            <a:ext cx="8929047" cy="52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>
                <a:ea typeface="华文中宋" pitchFamily="2" charset="-122"/>
              </a:rPr>
              <a:t>        </a:t>
            </a:r>
            <a:r>
              <a:rPr lang="zh-CN" altLang="en-US" sz="2400">
                <a:ea typeface="华文中宋" pitchFamily="2" charset="-122"/>
              </a:rPr>
              <a:t>其中： </a:t>
            </a:r>
            <a:r>
              <a:rPr lang="en-US" altLang="zh-CN" sz="2400" i="1"/>
              <a:t>LS </a:t>
            </a:r>
            <a:r>
              <a:rPr lang="zh-CN" altLang="en-US" sz="2400"/>
              <a:t>为表名， </a:t>
            </a:r>
            <a:r>
              <a:rPr lang="en-US" altLang="zh-CN" sz="2400" i="1"/>
              <a:t>n </a:t>
            </a:r>
            <a:r>
              <a:rPr lang="zh-CN" altLang="en-US" sz="2400"/>
              <a:t>为表的长度， 每一个 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i</a:t>
            </a:r>
            <a:r>
              <a:rPr lang="en-US" altLang="zh-CN" sz="2400"/>
              <a:t> </a:t>
            </a:r>
            <a:r>
              <a:rPr lang="zh-CN" altLang="en-US" sz="2400"/>
              <a:t>为表的元素。 </a:t>
            </a:r>
          </a:p>
        </p:txBody>
      </p:sp>
      <p:sp>
        <p:nvSpPr>
          <p:cNvPr id="112648" name="Rectangle 8"/>
          <p:cNvSpPr>
            <a:spLocks noChangeArrowheads="1"/>
          </p:cNvSpPr>
          <p:nvPr/>
        </p:nvSpPr>
        <p:spPr bwMode="auto">
          <a:xfrm>
            <a:off x="1631951" y="2133600"/>
            <a:ext cx="8836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        </a:t>
            </a:r>
            <a:r>
              <a:rPr lang="zh-CN" altLang="en-US" sz="2400"/>
              <a:t>习惯上，一般用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大写字母</a:t>
            </a:r>
            <a:r>
              <a:rPr lang="zh-CN" altLang="en-US" sz="2400"/>
              <a:t>表示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广义表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小写字母</a:t>
            </a:r>
            <a:r>
              <a:rPr lang="zh-CN" altLang="en-US" sz="2400"/>
              <a:t>表示</a:t>
            </a:r>
            <a:r>
              <a:rPr lang="zh-CN" altLang="en-US" sz="2400">
                <a:solidFill>
                  <a:srgbClr val="0000FF"/>
                </a:solidFill>
              </a:rPr>
              <a:t>原子</a:t>
            </a:r>
            <a:r>
              <a:rPr lang="zh-CN" altLang="en-US" sz="2400"/>
              <a:t>。 </a:t>
            </a:r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1631951" y="2709863"/>
            <a:ext cx="8501045" cy="132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</a:pPr>
            <a:r>
              <a:rPr lang="en-US" altLang="zh-CN" sz="2400"/>
              <a:t>        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表头</a:t>
            </a:r>
            <a:r>
              <a:rPr lang="zh-CN" altLang="en-US" sz="2400">
                <a:ea typeface="华文中宋" pitchFamily="2" charset="-122"/>
              </a:rPr>
              <a:t>：</a:t>
            </a:r>
            <a:r>
              <a:rPr lang="zh-CN" altLang="en-US" sz="2400">
                <a:solidFill>
                  <a:srgbClr val="333333"/>
                </a:solidFill>
              </a:rPr>
              <a:t>若 </a:t>
            </a:r>
            <a:r>
              <a:rPr lang="en-US" altLang="zh-CN" sz="2400" i="1">
                <a:solidFill>
                  <a:srgbClr val="333333"/>
                </a:solidFill>
              </a:rPr>
              <a:t>LS</a:t>
            </a:r>
            <a:r>
              <a:rPr lang="en-US" altLang="zh-CN" sz="2400">
                <a:solidFill>
                  <a:srgbClr val="333333"/>
                </a:solidFill>
              </a:rPr>
              <a:t> </a:t>
            </a:r>
            <a:r>
              <a:rPr lang="zh-CN" altLang="en-US" sz="2400">
                <a:solidFill>
                  <a:srgbClr val="333333"/>
                </a:solidFill>
              </a:rPr>
              <a:t>非空 </a:t>
            </a:r>
            <a:r>
              <a:rPr lang="en-US" altLang="zh-CN" sz="2400">
                <a:solidFill>
                  <a:srgbClr val="333333"/>
                </a:solidFill>
              </a:rPr>
              <a:t>(</a:t>
            </a:r>
            <a:r>
              <a:rPr lang="en-US" altLang="zh-CN" sz="2400" i="1">
                <a:solidFill>
                  <a:srgbClr val="333333"/>
                </a:solidFill>
              </a:rPr>
              <a:t>n</a:t>
            </a:r>
            <a:r>
              <a:rPr lang="en-US" altLang="zh-CN" sz="2400">
                <a:solidFill>
                  <a:srgbClr val="333333"/>
                </a:solidFill>
              </a:rPr>
              <a:t>≥1 )</a:t>
            </a:r>
            <a:r>
              <a:rPr lang="zh-CN" altLang="en-US" sz="2400">
                <a:solidFill>
                  <a:srgbClr val="333333"/>
                </a:solidFill>
              </a:rPr>
              <a:t>，则其</a:t>
            </a:r>
            <a:r>
              <a:rPr lang="zh-CN" altLang="en-US" sz="2400">
                <a:solidFill>
                  <a:srgbClr val="0000FF"/>
                </a:solidFill>
              </a:rPr>
              <a:t>第一个</a:t>
            </a:r>
            <a:r>
              <a:rPr lang="zh-CN" altLang="en-US" sz="2400">
                <a:solidFill>
                  <a:srgbClr val="333333"/>
                </a:solidFill>
              </a:rPr>
              <a:t>元素 </a:t>
            </a:r>
            <a:r>
              <a:rPr lang="en-US" altLang="zh-CN" sz="2400" i="1"/>
              <a:t>a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zh-CN" altLang="en-US" sz="2400">
                <a:solidFill>
                  <a:srgbClr val="333333"/>
                </a:solidFill>
              </a:rPr>
              <a:t>就是表头。 </a:t>
            </a:r>
          </a:p>
          <a:p>
            <a:pPr>
              <a:lnSpc>
                <a:spcPct val="180000"/>
              </a:lnSpc>
            </a:pPr>
            <a:r>
              <a:rPr lang="zh-CN" altLang="en-US" sz="2400"/>
              <a:t>        记作  </a:t>
            </a:r>
            <a:r>
              <a:rPr lang="en-US" altLang="zh-CN" sz="2400"/>
              <a:t>head(</a:t>
            </a:r>
            <a:r>
              <a:rPr lang="en-US" altLang="zh-CN" sz="2400" i="1"/>
              <a:t>LS</a:t>
            </a:r>
            <a:r>
              <a:rPr lang="en-US" altLang="zh-CN" sz="2400"/>
              <a:t>) =</a:t>
            </a:r>
            <a:r>
              <a:rPr lang="en-US" altLang="zh-CN" sz="2400" i="1"/>
              <a:t> a</a:t>
            </a:r>
            <a:r>
              <a:rPr lang="en-US" altLang="zh-CN" sz="2400" baseline="-25000"/>
              <a:t>1</a:t>
            </a:r>
            <a:r>
              <a:rPr lang="zh-CN" altLang="en-US" sz="2400"/>
              <a:t>。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注：</a:t>
            </a:r>
            <a:r>
              <a:rPr lang="zh-CN" altLang="en-US" sz="2400">
                <a:solidFill>
                  <a:srgbClr val="333333"/>
                </a:solidFill>
              </a:rPr>
              <a:t>表头可是原子，也可是子表。 </a:t>
            </a:r>
          </a:p>
        </p:txBody>
      </p:sp>
      <p:sp>
        <p:nvSpPr>
          <p:cNvPr id="112650" name="Rectangle 10"/>
          <p:cNvSpPr>
            <a:spLocks noChangeArrowheads="1"/>
          </p:cNvSpPr>
          <p:nvPr/>
        </p:nvSpPr>
        <p:spPr bwMode="auto">
          <a:xfrm>
            <a:off x="1631951" y="4176714"/>
            <a:ext cx="7375525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sz="2400"/>
              <a:t>        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表尾</a:t>
            </a:r>
            <a:r>
              <a:rPr lang="zh-CN" altLang="en-US" sz="2400">
                <a:ea typeface="华文中宋" pitchFamily="2" charset="-122"/>
              </a:rPr>
              <a:t>：</a:t>
            </a:r>
            <a:r>
              <a:rPr lang="zh-CN" altLang="en-US" sz="2400"/>
              <a:t>除表头之外的</a:t>
            </a:r>
            <a:r>
              <a:rPr lang="zh-CN" altLang="en-US" sz="2400">
                <a:solidFill>
                  <a:srgbClr val="0000FF"/>
                </a:solidFill>
              </a:rPr>
              <a:t>其它元素</a:t>
            </a:r>
            <a:r>
              <a:rPr lang="zh-CN" altLang="en-US" sz="2400">
                <a:solidFill>
                  <a:srgbClr val="333333"/>
                </a:solidFill>
              </a:rPr>
              <a:t>组成的</a:t>
            </a:r>
            <a:r>
              <a:rPr lang="zh-CN" altLang="en-US" sz="2400">
                <a:solidFill>
                  <a:srgbClr val="0000FF"/>
                </a:solidFill>
              </a:rPr>
              <a:t>表</a:t>
            </a:r>
            <a:r>
              <a:rPr lang="zh-CN" altLang="en-US" sz="2400">
                <a:solidFill>
                  <a:srgbClr val="333333"/>
                </a:solidFill>
              </a:rPr>
              <a:t>。 </a:t>
            </a:r>
          </a:p>
          <a:p>
            <a:pPr>
              <a:lnSpc>
                <a:spcPct val="160000"/>
              </a:lnSpc>
            </a:pPr>
            <a:r>
              <a:rPr lang="zh-CN" altLang="en-US" sz="2400">
                <a:solidFill>
                  <a:srgbClr val="333333"/>
                </a:solidFill>
              </a:rPr>
              <a:t>                    记作 </a:t>
            </a:r>
            <a:r>
              <a:rPr lang="zh-CN" altLang="en-US" sz="2400"/>
              <a:t> </a:t>
            </a:r>
            <a:r>
              <a:rPr lang="en-US" altLang="zh-CN" sz="2400"/>
              <a:t>tail(</a:t>
            </a:r>
            <a:r>
              <a:rPr lang="en-US" altLang="zh-CN" sz="2400" i="1"/>
              <a:t>LS</a:t>
            </a:r>
            <a:r>
              <a:rPr lang="en-US" altLang="zh-CN" sz="2400"/>
              <a:t>) = (</a:t>
            </a:r>
            <a:r>
              <a:rPr lang="en-US" altLang="zh-CN" sz="2400" i="1"/>
              <a:t>a</a:t>
            </a:r>
            <a:r>
              <a:rPr lang="en-US" altLang="zh-CN" sz="2400" baseline="-25000"/>
              <a:t>2</a:t>
            </a:r>
            <a:r>
              <a:rPr lang="en-US" altLang="zh-CN" sz="2400"/>
              <a:t>, ..., 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n</a:t>
            </a:r>
            <a:r>
              <a:rPr lang="en-US" altLang="zh-CN" sz="2400"/>
              <a:t>)</a:t>
            </a:r>
            <a:r>
              <a:rPr lang="zh-CN" altLang="en-US" sz="2400"/>
              <a:t>。</a:t>
            </a:r>
            <a:r>
              <a:rPr lang="zh-CN" altLang="en-US" sz="2400">
                <a:solidFill>
                  <a:srgbClr val="333333"/>
                </a:solidFill>
              </a:rPr>
              <a:t> </a:t>
            </a:r>
          </a:p>
          <a:p>
            <a:pPr>
              <a:lnSpc>
                <a:spcPct val="160000"/>
              </a:lnSpc>
            </a:pPr>
            <a:r>
              <a:rPr lang="zh-CN" altLang="en-US" sz="2400">
                <a:solidFill>
                  <a:srgbClr val="333333"/>
                </a:solidFill>
              </a:rPr>
              <a:t>            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注：</a:t>
            </a:r>
            <a:r>
              <a:rPr lang="zh-CN" altLang="en-US" sz="2400">
                <a:solidFill>
                  <a:srgbClr val="333333"/>
                </a:solidFill>
              </a:rPr>
              <a:t>表尾不是最后一个元素，而是一个子表。 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46" grpId="0"/>
      <p:bldP spid="112647" grpId="0"/>
      <p:bldP spid="112648" grpId="0"/>
      <p:bldP spid="112649" grpId="0"/>
      <p:bldP spid="11265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2782888" y="476251"/>
            <a:ext cx="1511300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/>
              <a:t>(1)  </a:t>
            </a:r>
            <a:r>
              <a:rPr lang="en-US" altLang="zh-CN" sz="2400" i="1"/>
              <a:t>A</a:t>
            </a:r>
            <a:r>
              <a:rPr lang="en-US" altLang="zh-CN" sz="2400"/>
              <a:t>=( ) </a:t>
            </a:r>
          </a:p>
        </p:txBody>
      </p:sp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2135189" y="476250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例： </a:t>
            </a:r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4583113" y="476251"/>
            <a:ext cx="2646878" cy="47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/>
              <a:t>空表，长度为 </a:t>
            </a:r>
            <a:r>
              <a:rPr lang="en-US" altLang="zh-CN" sz="2400"/>
              <a:t>0</a:t>
            </a:r>
            <a:r>
              <a:rPr lang="zh-CN" altLang="en-US" sz="2400"/>
              <a:t>。 </a:t>
            </a:r>
          </a:p>
        </p:txBody>
      </p:sp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2135188" y="1052514"/>
            <a:ext cx="1727200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/>
              <a:t>(2)  </a:t>
            </a:r>
            <a:r>
              <a:rPr lang="en-US" altLang="zh-CN" sz="2400" i="1"/>
              <a:t>B</a:t>
            </a:r>
            <a:r>
              <a:rPr lang="en-US" altLang="zh-CN" sz="2400"/>
              <a:t>=(( )) </a:t>
            </a:r>
          </a:p>
        </p:txBody>
      </p:sp>
      <p:sp>
        <p:nvSpPr>
          <p:cNvPr id="81929" name="Text Box 9"/>
          <p:cNvSpPr txBox="1">
            <a:spLocks noChangeArrowheads="1"/>
          </p:cNvSpPr>
          <p:nvPr/>
        </p:nvSpPr>
        <p:spPr bwMode="auto">
          <a:xfrm>
            <a:off x="2135189" y="1628776"/>
            <a:ext cx="2376487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/>
              <a:t>(3)  </a:t>
            </a:r>
            <a:r>
              <a:rPr lang="en-US" altLang="zh-CN" sz="2400" i="1"/>
              <a:t>C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)) </a:t>
            </a:r>
          </a:p>
        </p:txBody>
      </p:sp>
      <p:sp>
        <p:nvSpPr>
          <p:cNvPr id="81930" name="Text Box 10"/>
          <p:cNvSpPr txBox="1">
            <a:spLocks noChangeArrowheads="1"/>
          </p:cNvSpPr>
          <p:nvPr/>
        </p:nvSpPr>
        <p:spPr bwMode="auto">
          <a:xfrm>
            <a:off x="4583113" y="1052514"/>
            <a:ext cx="5111750" cy="47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/>
              <a:t>长度为 </a:t>
            </a:r>
            <a:r>
              <a:rPr lang="en-US" altLang="zh-CN" sz="2400"/>
              <a:t>1</a:t>
            </a:r>
            <a:r>
              <a:rPr lang="zh-CN" altLang="en-US" sz="2400"/>
              <a:t>，表头、表尾均为 </a:t>
            </a:r>
            <a:r>
              <a:rPr lang="en-US" altLang="zh-CN" sz="2400"/>
              <a:t>( )</a:t>
            </a:r>
            <a:r>
              <a:rPr lang="zh-CN" altLang="en-US" sz="2400"/>
              <a:t>。 </a:t>
            </a:r>
          </a:p>
        </p:txBody>
      </p:sp>
      <p:sp>
        <p:nvSpPr>
          <p:cNvPr id="81931" name="Text Box 11"/>
          <p:cNvSpPr txBox="1">
            <a:spLocks noChangeArrowheads="1"/>
          </p:cNvSpPr>
          <p:nvPr/>
        </p:nvSpPr>
        <p:spPr bwMode="auto">
          <a:xfrm>
            <a:off x="4583114" y="1700214"/>
            <a:ext cx="5616575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/>
              <a:t>长度为 </a:t>
            </a:r>
            <a:r>
              <a:rPr lang="en-US" altLang="zh-CN" sz="2400"/>
              <a:t>2</a:t>
            </a:r>
            <a:r>
              <a:rPr lang="zh-CN" altLang="en-US" sz="2400"/>
              <a:t>，由原子 </a:t>
            </a:r>
            <a:r>
              <a:rPr lang="en-US" altLang="zh-CN" sz="2400" i="1"/>
              <a:t>a </a:t>
            </a:r>
            <a:r>
              <a:rPr lang="zh-CN" altLang="en-US" sz="2400"/>
              <a:t>和子表 </a:t>
            </a:r>
            <a:r>
              <a:rPr lang="en-US" altLang="zh-CN" sz="2400"/>
              <a:t>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) </a:t>
            </a:r>
            <a:r>
              <a:rPr lang="zh-CN" altLang="en-US" sz="2400"/>
              <a:t>构成。 </a:t>
            </a:r>
          </a:p>
        </p:txBody>
      </p:sp>
      <p:sp>
        <p:nvSpPr>
          <p:cNvPr id="81932" name="Text Box 12"/>
          <p:cNvSpPr txBox="1">
            <a:spLocks noChangeArrowheads="1"/>
          </p:cNvSpPr>
          <p:nvPr/>
        </p:nvSpPr>
        <p:spPr bwMode="auto">
          <a:xfrm>
            <a:off x="2135189" y="2708276"/>
            <a:ext cx="2232025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/>
              <a:t>(4)  </a:t>
            </a:r>
            <a:r>
              <a:rPr lang="en-US" altLang="zh-CN" sz="2400" i="1"/>
              <a:t>D</a:t>
            </a:r>
            <a:r>
              <a:rPr lang="en-US" altLang="zh-CN" sz="2400"/>
              <a:t>=(</a:t>
            </a:r>
            <a:r>
              <a:rPr lang="en-US" altLang="zh-CN" sz="2400" i="1"/>
              <a:t>x</a:t>
            </a:r>
            <a:r>
              <a:rPr lang="en-US" altLang="zh-CN" sz="2400"/>
              <a:t>, </a:t>
            </a:r>
            <a:r>
              <a:rPr lang="en-US" altLang="zh-CN" sz="2400" i="1"/>
              <a:t>y</a:t>
            </a:r>
            <a:r>
              <a:rPr lang="en-US" altLang="zh-CN" sz="2400"/>
              <a:t>, </a:t>
            </a:r>
            <a:r>
              <a:rPr lang="en-US" altLang="zh-CN" sz="2400" i="1"/>
              <a:t>z</a:t>
            </a:r>
            <a:r>
              <a:rPr lang="en-US" altLang="zh-CN" sz="2400"/>
              <a:t>) </a:t>
            </a:r>
          </a:p>
        </p:txBody>
      </p:sp>
      <p:sp>
        <p:nvSpPr>
          <p:cNvPr id="81933" name="Text Box 13"/>
          <p:cNvSpPr txBox="1">
            <a:spLocks noChangeArrowheads="1"/>
          </p:cNvSpPr>
          <p:nvPr/>
        </p:nvSpPr>
        <p:spPr bwMode="auto">
          <a:xfrm>
            <a:off x="4583113" y="2216150"/>
            <a:ext cx="4032250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/>
              <a:t>表头为 </a:t>
            </a:r>
            <a:r>
              <a:rPr lang="en-US" altLang="zh-CN" sz="2400" i="1"/>
              <a:t>a </a:t>
            </a:r>
            <a:r>
              <a:rPr lang="zh-CN" altLang="en-US" sz="2400"/>
              <a:t>；表尾为 </a:t>
            </a:r>
            <a:r>
              <a:rPr lang="en-US" altLang="zh-CN" sz="2400"/>
              <a:t>((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))</a:t>
            </a:r>
            <a:r>
              <a:rPr lang="zh-CN" altLang="en-US" sz="2400"/>
              <a:t>。  </a:t>
            </a:r>
          </a:p>
        </p:txBody>
      </p:sp>
      <p:sp>
        <p:nvSpPr>
          <p:cNvPr id="81934" name="Text Box 14"/>
          <p:cNvSpPr txBox="1">
            <a:spLocks noChangeArrowheads="1"/>
          </p:cNvSpPr>
          <p:nvPr/>
        </p:nvSpPr>
        <p:spPr bwMode="auto">
          <a:xfrm>
            <a:off x="4583113" y="2719389"/>
            <a:ext cx="4176712" cy="47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/>
              <a:t>长度为 </a:t>
            </a:r>
            <a:r>
              <a:rPr lang="en-US" altLang="zh-CN" sz="2400"/>
              <a:t>3</a:t>
            </a:r>
            <a:r>
              <a:rPr lang="zh-CN" altLang="en-US" sz="2400"/>
              <a:t>，每一项都是原子。 </a:t>
            </a:r>
          </a:p>
        </p:txBody>
      </p:sp>
      <p:sp>
        <p:nvSpPr>
          <p:cNvPr id="81935" name="Text Box 15"/>
          <p:cNvSpPr txBox="1">
            <a:spLocks noChangeArrowheads="1"/>
          </p:cNvSpPr>
          <p:nvPr/>
        </p:nvSpPr>
        <p:spPr bwMode="auto">
          <a:xfrm>
            <a:off x="2135189" y="3789364"/>
            <a:ext cx="2016125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ct val="50000"/>
              </a:spcBef>
            </a:pPr>
            <a:r>
              <a:rPr kumimoji="0" lang="en-US" altLang="zh-CN" sz="2400"/>
              <a:t>(5)  </a:t>
            </a:r>
            <a:r>
              <a:rPr lang="en-US" altLang="zh-CN" sz="2400" i="1"/>
              <a:t>E</a:t>
            </a:r>
            <a:r>
              <a:rPr lang="en-US" altLang="zh-CN" sz="2400"/>
              <a:t>=(</a:t>
            </a:r>
            <a:r>
              <a:rPr lang="en-US" altLang="zh-CN" sz="2400" i="1"/>
              <a:t>C</a:t>
            </a:r>
            <a:r>
              <a:rPr lang="en-US" altLang="zh-CN" sz="2400"/>
              <a:t>, </a:t>
            </a:r>
            <a:r>
              <a:rPr lang="en-US" altLang="zh-CN" sz="2400" i="1"/>
              <a:t>D</a:t>
            </a:r>
            <a:r>
              <a:rPr lang="en-US" altLang="zh-CN" sz="2400"/>
              <a:t>) </a:t>
            </a:r>
          </a:p>
        </p:txBody>
      </p:sp>
      <p:sp>
        <p:nvSpPr>
          <p:cNvPr id="81936" name="Text Box 16"/>
          <p:cNvSpPr txBox="1">
            <a:spLocks noChangeArrowheads="1"/>
          </p:cNvSpPr>
          <p:nvPr/>
        </p:nvSpPr>
        <p:spPr bwMode="auto">
          <a:xfrm>
            <a:off x="4583113" y="3284539"/>
            <a:ext cx="403225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/>
              <a:t>表头为 </a:t>
            </a:r>
            <a:r>
              <a:rPr lang="en-US" altLang="zh-CN" sz="2400" i="1"/>
              <a:t>x </a:t>
            </a:r>
            <a:r>
              <a:rPr lang="zh-CN" altLang="en-US" sz="2400"/>
              <a:t>；表尾为 </a:t>
            </a:r>
            <a:r>
              <a:rPr lang="en-US" altLang="zh-CN" sz="2400"/>
              <a:t>(</a:t>
            </a:r>
            <a:r>
              <a:rPr lang="en-US" altLang="zh-CN" sz="2400" i="1"/>
              <a:t>y</a:t>
            </a:r>
            <a:r>
              <a:rPr lang="en-US" altLang="zh-CN" sz="2400"/>
              <a:t>, </a:t>
            </a:r>
            <a:r>
              <a:rPr lang="en-US" altLang="zh-CN" sz="2400" i="1"/>
              <a:t>z</a:t>
            </a:r>
            <a:r>
              <a:rPr lang="en-US" altLang="zh-CN" sz="2400"/>
              <a:t>)</a:t>
            </a:r>
            <a:r>
              <a:rPr lang="zh-CN" altLang="en-US" sz="2400"/>
              <a:t>。  </a:t>
            </a:r>
          </a:p>
        </p:txBody>
      </p:sp>
      <p:sp>
        <p:nvSpPr>
          <p:cNvPr id="81937" name="Text Box 17"/>
          <p:cNvSpPr txBox="1">
            <a:spLocks noChangeArrowheads="1"/>
          </p:cNvSpPr>
          <p:nvPr/>
        </p:nvSpPr>
        <p:spPr bwMode="auto">
          <a:xfrm>
            <a:off x="2135188" y="4872039"/>
            <a:ext cx="1943100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/>
              <a:t>(6)  </a:t>
            </a:r>
            <a:r>
              <a:rPr lang="en-US" altLang="zh-CN" sz="2400" i="1"/>
              <a:t>F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</a:t>
            </a:r>
            <a:r>
              <a:rPr lang="en-US" altLang="zh-CN" sz="2400" i="1"/>
              <a:t>F</a:t>
            </a:r>
            <a:r>
              <a:rPr lang="en-US" altLang="zh-CN" sz="2400"/>
              <a:t>) </a:t>
            </a:r>
          </a:p>
        </p:txBody>
      </p:sp>
      <p:sp>
        <p:nvSpPr>
          <p:cNvPr id="81938" name="Rectangle 18"/>
          <p:cNvSpPr>
            <a:spLocks noChangeArrowheads="1"/>
          </p:cNvSpPr>
          <p:nvPr/>
        </p:nvSpPr>
        <p:spPr bwMode="auto">
          <a:xfrm>
            <a:off x="4578351" y="3789364"/>
            <a:ext cx="4185761" cy="47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/>
              <a:t>长度为 </a:t>
            </a:r>
            <a:r>
              <a:rPr lang="en-US" altLang="zh-CN" sz="2400"/>
              <a:t>2</a:t>
            </a:r>
            <a:r>
              <a:rPr lang="zh-CN" altLang="en-US" sz="2400"/>
              <a:t>，每一项都是子表。 </a:t>
            </a:r>
          </a:p>
        </p:txBody>
      </p:sp>
      <p:sp>
        <p:nvSpPr>
          <p:cNvPr id="81939" name="Text Box 19"/>
          <p:cNvSpPr txBox="1">
            <a:spLocks noChangeArrowheads="1"/>
          </p:cNvSpPr>
          <p:nvPr/>
        </p:nvSpPr>
        <p:spPr bwMode="auto">
          <a:xfrm>
            <a:off x="4583113" y="4365625"/>
            <a:ext cx="4032250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/>
              <a:t>表头为 </a:t>
            </a:r>
            <a:r>
              <a:rPr lang="en-US" altLang="zh-CN" sz="2400" i="1"/>
              <a:t>C </a:t>
            </a:r>
            <a:r>
              <a:rPr lang="zh-CN" altLang="en-US" sz="2400"/>
              <a:t>；表尾为 </a:t>
            </a:r>
            <a:r>
              <a:rPr lang="en-US" altLang="zh-CN" sz="2400"/>
              <a:t>(</a:t>
            </a:r>
            <a:r>
              <a:rPr lang="en-US" altLang="zh-CN" sz="2400" i="1"/>
              <a:t>D</a:t>
            </a:r>
            <a:r>
              <a:rPr lang="en-US" altLang="zh-CN" sz="2400"/>
              <a:t>)</a:t>
            </a:r>
            <a:r>
              <a:rPr lang="zh-CN" altLang="en-US" sz="2400"/>
              <a:t>。 </a:t>
            </a:r>
          </a:p>
        </p:txBody>
      </p:sp>
      <p:sp>
        <p:nvSpPr>
          <p:cNvPr id="81940" name="Rectangle 20"/>
          <p:cNvSpPr>
            <a:spLocks noChangeArrowheads="1"/>
          </p:cNvSpPr>
          <p:nvPr/>
        </p:nvSpPr>
        <p:spPr bwMode="auto">
          <a:xfrm>
            <a:off x="4583114" y="4900613"/>
            <a:ext cx="5976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/>
              <a:t>长度为 </a:t>
            </a:r>
            <a:r>
              <a:rPr lang="en-US" altLang="zh-CN" sz="2400"/>
              <a:t>2</a:t>
            </a:r>
            <a:r>
              <a:rPr lang="zh-CN" altLang="en-US" sz="2400"/>
              <a:t>，第一项为原子第二项为它本身。 </a:t>
            </a:r>
          </a:p>
        </p:txBody>
      </p:sp>
      <p:sp>
        <p:nvSpPr>
          <p:cNvPr id="81941" name="Rectangle 21"/>
          <p:cNvSpPr>
            <a:spLocks noChangeArrowheads="1"/>
          </p:cNvSpPr>
          <p:nvPr/>
        </p:nvSpPr>
        <p:spPr bwMode="auto">
          <a:xfrm>
            <a:off x="4654550" y="5924550"/>
            <a:ext cx="2465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F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(</a:t>
            </a:r>
            <a:r>
              <a:rPr lang="en-US" altLang="zh-CN" sz="2400" i="1"/>
              <a:t>a</a:t>
            </a:r>
            <a:r>
              <a:rPr lang="en-US" altLang="zh-CN" sz="2400"/>
              <a:t>, (</a:t>
            </a:r>
            <a:r>
              <a:rPr lang="en-US" altLang="zh-CN" sz="2400" i="1"/>
              <a:t>a</a:t>
            </a:r>
            <a:r>
              <a:rPr lang="en-US" altLang="zh-CN" sz="2400"/>
              <a:t>, …))) </a:t>
            </a:r>
          </a:p>
        </p:txBody>
      </p:sp>
      <p:sp>
        <p:nvSpPr>
          <p:cNvPr id="81942" name="Text Box 22"/>
          <p:cNvSpPr txBox="1">
            <a:spLocks noChangeArrowheads="1"/>
          </p:cNvSpPr>
          <p:nvPr/>
        </p:nvSpPr>
        <p:spPr bwMode="auto">
          <a:xfrm>
            <a:off x="4583113" y="5456239"/>
            <a:ext cx="403225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just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/>
              <a:t>表头为 </a:t>
            </a:r>
            <a:r>
              <a:rPr lang="en-US" altLang="zh-CN" sz="2400" i="1"/>
              <a:t>a </a:t>
            </a:r>
            <a:r>
              <a:rPr lang="zh-CN" altLang="en-US" sz="2400"/>
              <a:t>；表尾为 </a:t>
            </a:r>
            <a:r>
              <a:rPr lang="en-US" altLang="zh-CN" sz="2400"/>
              <a:t>(</a:t>
            </a:r>
            <a:r>
              <a:rPr lang="en-US" altLang="zh-CN" sz="2400" i="1"/>
              <a:t>F</a:t>
            </a:r>
            <a:r>
              <a:rPr lang="en-US" altLang="zh-CN" sz="2400"/>
              <a:t>)</a:t>
            </a:r>
            <a:r>
              <a:rPr lang="zh-CN" altLang="en-US" sz="2400"/>
              <a:t>。 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uiExpand="1" autoUpdateAnimBg="0"/>
      <p:bldP spid="81926" grpId="0"/>
      <p:bldP spid="81927" grpId="0" autoUpdateAnimBg="0"/>
      <p:bldP spid="81929" grpId="0" autoUpdateAnimBg="0"/>
      <p:bldP spid="81930" grpId="0" autoUpdateAnimBg="0"/>
      <p:bldP spid="81931" grpId="0" autoUpdateAnimBg="0"/>
      <p:bldP spid="81932" grpId="0" autoUpdateAnimBg="0"/>
      <p:bldP spid="81933" grpId="0" autoUpdateAnimBg="0"/>
      <p:bldP spid="81934" grpId="0" autoUpdateAnimBg="0"/>
      <p:bldP spid="81935" grpId="0" autoUpdateAnimBg="0"/>
      <p:bldP spid="81936" grpId="0" autoUpdateAnimBg="0"/>
      <p:bldP spid="81937" grpId="0" autoUpdateAnimBg="0"/>
      <p:bldP spid="81938" grpId="0"/>
      <p:bldP spid="81939" grpId="0" autoUpdateAnimBg="0"/>
      <p:bldP spid="81940" grpId="0"/>
      <p:bldP spid="81941" grpId="0"/>
      <p:bldP spid="81942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2270126" y="549276"/>
            <a:ext cx="2303463" cy="45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400">
                <a:ea typeface="华文中宋" pitchFamily="2" charset="-122"/>
              </a:rPr>
              <a:t>广义表的性质 </a:t>
            </a:r>
          </a:p>
        </p:txBody>
      </p:sp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2270126" y="1090613"/>
            <a:ext cx="53641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(1)  </a:t>
            </a:r>
            <a:r>
              <a:rPr lang="zh-CN" altLang="en-US" sz="2400"/>
              <a:t>广义表中的数据元素有相对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次序</a:t>
            </a:r>
            <a:r>
              <a:rPr lang="zh-CN" altLang="en-US" sz="2400"/>
              <a:t>； </a:t>
            </a: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2270126" y="1484314"/>
            <a:ext cx="755967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lnSpc>
                <a:spcPct val="120000"/>
              </a:lnSpc>
              <a:buFontTx/>
              <a:buAutoNum type="arabicParenBoth" startAt="2"/>
            </a:pPr>
            <a:r>
              <a:rPr lang="zh-CN" altLang="en-US" sz="2400"/>
              <a:t>广义表的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长度</a:t>
            </a:r>
            <a:r>
              <a:rPr lang="zh-CN" altLang="en-US" sz="2400"/>
              <a:t>定义为最外层所包含元素的个数； </a:t>
            </a:r>
          </a:p>
          <a:p>
            <a:pPr marL="457200" indent="-457200">
              <a:lnSpc>
                <a:spcPct val="120000"/>
              </a:lnSpc>
            </a:pPr>
            <a:r>
              <a:rPr lang="zh-CN" altLang="en-US" sz="2400" i="1"/>
              <a:t>      </a:t>
            </a:r>
            <a:r>
              <a:rPr lang="zh-CN" altLang="en-US" sz="2400"/>
              <a:t>如：</a:t>
            </a:r>
            <a:r>
              <a:rPr lang="zh-CN" altLang="en-US" sz="2400" i="1"/>
              <a:t>  </a:t>
            </a:r>
            <a:r>
              <a:rPr lang="en-US" altLang="zh-CN" sz="2400" i="1"/>
              <a:t>C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)) </a:t>
            </a:r>
            <a:r>
              <a:rPr lang="zh-CN" altLang="en-US" sz="2400"/>
              <a:t>是长度为 </a:t>
            </a:r>
            <a:r>
              <a:rPr lang="en-US" altLang="zh-CN" sz="2400"/>
              <a:t>2 </a:t>
            </a:r>
            <a:r>
              <a:rPr lang="zh-CN" altLang="en-US" sz="2400"/>
              <a:t>的广义表。 </a:t>
            </a:r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2270126" y="2411414"/>
            <a:ext cx="8208963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/>
              <a:t>(3)  </a:t>
            </a:r>
            <a:r>
              <a:rPr lang="zh-CN" altLang="en-US" sz="2400"/>
              <a:t>广义表的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深度</a:t>
            </a:r>
            <a:r>
              <a:rPr lang="zh-CN" altLang="en-US" sz="2400"/>
              <a:t>定义为该广义表</a:t>
            </a:r>
            <a:r>
              <a:rPr lang="zh-CN" altLang="en-US" sz="2400">
                <a:solidFill>
                  <a:srgbClr val="3333FF"/>
                </a:solidFill>
              </a:rPr>
              <a:t>展开后</a:t>
            </a:r>
            <a:r>
              <a:rPr lang="zh-CN" altLang="en-US" sz="2400"/>
              <a:t>所含</a:t>
            </a:r>
            <a:r>
              <a:rPr lang="zh-CN" altLang="en-US" sz="2400">
                <a:solidFill>
                  <a:srgbClr val="0000FF"/>
                </a:solidFill>
              </a:rPr>
              <a:t>括号的重数</a:t>
            </a:r>
            <a:r>
              <a:rPr lang="zh-CN" altLang="en-US" sz="2400"/>
              <a:t>；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        </a:t>
            </a:r>
            <a:r>
              <a:rPr lang="en-US" altLang="zh-CN" sz="2400" i="1"/>
              <a:t>A </a:t>
            </a:r>
            <a:r>
              <a:rPr lang="en-US" altLang="zh-CN" sz="2400"/>
              <a:t>= 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) </a:t>
            </a:r>
            <a:r>
              <a:rPr lang="zh-CN" altLang="en-US" sz="2400"/>
              <a:t>的深度为 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  <a:r>
              <a:rPr lang="en-US" altLang="zh-CN" sz="2400" i="1"/>
              <a:t>B </a:t>
            </a:r>
            <a:r>
              <a:rPr lang="en-US" altLang="zh-CN" sz="2400"/>
              <a:t>= (</a:t>
            </a:r>
            <a:r>
              <a:rPr lang="en-US" altLang="zh-CN" sz="2400" i="1"/>
              <a:t>A</a:t>
            </a:r>
            <a:r>
              <a:rPr lang="en-US" altLang="zh-CN" sz="2400"/>
              <a:t>, </a:t>
            </a:r>
            <a:r>
              <a:rPr lang="en-US" altLang="zh-CN" sz="2400" i="1"/>
              <a:t>d</a:t>
            </a:r>
            <a:r>
              <a:rPr lang="en-US" altLang="zh-CN" sz="2400"/>
              <a:t>) </a:t>
            </a:r>
            <a:r>
              <a:rPr lang="zh-CN" altLang="en-US" sz="2400"/>
              <a:t>的深度为 </a:t>
            </a:r>
            <a:r>
              <a:rPr lang="en-US" altLang="zh-CN" sz="2400"/>
              <a:t>2</a:t>
            </a:r>
            <a:r>
              <a:rPr lang="zh-CN" altLang="en-US" sz="2400"/>
              <a:t>，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        </a:t>
            </a:r>
            <a:r>
              <a:rPr lang="en-US" altLang="zh-CN" sz="2400" i="1"/>
              <a:t>C </a:t>
            </a:r>
            <a:r>
              <a:rPr lang="en-US" altLang="zh-CN" sz="2400"/>
              <a:t>= (</a:t>
            </a:r>
            <a:r>
              <a:rPr lang="en-US" altLang="zh-CN" sz="2400" i="1"/>
              <a:t>f</a:t>
            </a:r>
            <a:r>
              <a:rPr lang="en-US" altLang="zh-CN" sz="2400"/>
              <a:t>, 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h</a:t>
            </a:r>
            <a:r>
              <a:rPr lang="en-US" altLang="zh-CN" sz="2400"/>
              <a:t>) </a:t>
            </a:r>
            <a:r>
              <a:rPr lang="zh-CN" altLang="en-US" sz="2400"/>
              <a:t>的深度为 </a:t>
            </a:r>
            <a:r>
              <a:rPr lang="en-US" altLang="zh-CN" sz="2400"/>
              <a:t>3</a:t>
            </a:r>
            <a:r>
              <a:rPr lang="zh-CN" altLang="en-US" sz="2400"/>
              <a:t>。 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       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注意：</a:t>
            </a:r>
            <a:r>
              <a:rPr lang="zh-CN" altLang="en-US" sz="2400"/>
              <a:t>“原子”的深度为 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 </a:t>
            </a:r>
            <a:r>
              <a:rPr lang="en-US" altLang="zh-CN" sz="2400"/>
              <a:t>;</a:t>
            </a:r>
            <a:r>
              <a:rPr lang="en-US" altLang="zh-CN" sz="2400">
                <a:solidFill>
                  <a:srgbClr val="9933FF"/>
                </a:solidFill>
              </a:rPr>
              <a:t> </a:t>
            </a:r>
            <a:r>
              <a:rPr lang="en-US" altLang="zh-CN" sz="2400"/>
              <a:t> “</a:t>
            </a:r>
            <a:r>
              <a:rPr lang="zh-CN" altLang="en-US" sz="2400"/>
              <a:t>空表”的深度为 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 </a:t>
            </a:r>
            <a:r>
              <a:rPr lang="zh-CN" altLang="en-US" sz="2400"/>
              <a:t>。</a:t>
            </a:r>
            <a:r>
              <a:rPr lang="zh-CN" altLang="en-US" sz="2400">
                <a:solidFill>
                  <a:srgbClr val="9933FF"/>
                </a:solidFill>
              </a:rPr>
              <a:t> </a:t>
            </a:r>
          </a:p>
        </p:txBody>
      </p:sp>
      <p:sp>
        <p:nvSpPr>
          <p:cNvPr id="82952" name="Text Box 8"/>
          <p:cNvSpPr txBox="1">
            <a:spLocks noChangeArrowheads="1"/>
          </p:cNvSpPr>
          <p:nvPr/>
        </p:nvSpPr>
        <p:spPr bwMode="auto">
          <a:xfrm>
            <a:off x="2270125" y="4211639"/>
            <a:ext cx="8218488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buFontTx/>
              <a:buAutoNum type="arabicParenBoth" startAt="4"/>
            </a:pPr>
            <a:r>
              <a:rPr kumimoji="0" lang="zh-CN" altLang="en-US" sz="2400"/>
              <a:t>广</a:t>
            </a:r>
            <a:r>
              <a:rPr lang="zh-CN" altLang="en-US" sz="2400"/>
              <a:t>义表可以为其他广义表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共享</a:t>
            </a:r>
            <a:r>
              <a:rPr lang="zh-CN" altLang="en-US" sz="2400"/>
              <a:t>；如：广义表 </a:t>
            </a:r>
            <a:r>
              <a:rPr lang="en-US" altLang="zh-CN" sz="2400" i="1"/>
              <a:t>B</a:t>
            </a:r>
            <a:r>
              <a:rPr lang="en-US" altLang="zh-CN" sz="2400"/>
              <a:t> </a:t>
            </a:r>
            <a:r>
              <a:rPr lang="zh-CN" altLang="en-US" sz="2400"/>
              <a:t>就共享 </a:t>
            </a:r>
          </a:p>
          <a:p>
            <a:pPr marL="457200" indent="-457200">
              <a:lnSpc>
                <a:spcPct val="120000"/>
              </a:lnSpc>
            </a:pPr>
            <a:r>
              <a:rPr lang="zh-CN" altLang="en-US" sz="2400"/>
              <a:t>      表 </a:t>
            </a:r>
            <a:r>
              <a:rPr lang="en-US" altLang="zh-CN" sz="2400" i="1"/>
              <a:t>A</a:t>
            </a:r>
            <a:r>
              <a:rPr lang="zh-CN" altLang="en-US" sz="2400"/>
              <a:t>。在 </a:t>
            </a:r>
            <a:r>
              <a:rPr lang="en-US" altLang="zh-CN" sz="2400" i="1"/>
              <a:t>B</a:t>
            </a:r>
            <a:r>
              <a:rPr lang="en-US" altLang="zh-CN" sz="2400"/>
              <a:t> </a:t>
            </a:r>
            <a:r>
              <a:rPr lang="zh-CN" altLang="en-US" sz="2400"/>
              <a:t>中不必列出 </a:t>
            </a:r>
            <a:r>
              <a:rPr lang="en-US" altLang="zh-CN" sz="2400" i="1"/>
              <a:t>A</a:t>
            </a:r>
            <a:r>
              <a:rPr lang="en-US" altLang="zh-CN" sz="2400"/>
              <a:t> </a:t>
            </a:r>
            <a:r>
              <a:rPr lang="zh-CN" altLang="en-US" sz="2400"/>
              <a:t>的值，而是通过名称来引用。  </a:t>
            </a:r>
          </a:p>
        </p:txBody>
      </p:sp>
      <p:sp>
        <p:nvSpPr>
          <p:cNvPr id="82953" name="Text Box 9"/>
          <p:cNvSpPr txBox="1">
            <a:spLocks noChangeArrowheads="1"/>
          </p:cNvSpPr>
          <p:nvPr/>
        </p:nvSpPr>
        <p:spPr bwMode="auto">
          <a:xfrm>
            <a:off x="2270125" y="5151439"/>
            <a:ext cx="806450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/>
              <a:t>(5)  </a:t>
            </a:r>
            <a:r>
              <a:rPr lang="zh-CN" altLang="en-US" sz="2400"/>
              <a:t>广义表可以是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递归</a:t>
            </a:r>
            <a:r>
              <a:rPr lang="zh-CN" altLang="en-US" sz="2400"/>
              <a:t>的表。如：</a:t>
            </a:r>
            <a:r>
              <a:rPr lang="en-US" altLang="zh-CN" sz="2400" i="1"/>
              <a:t>F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</a:t>
            </a:r>
            <a:r>
              <a:rPr lang="en-US" altLang="zh-CN" sz="2400" i="1"/>
              <a:t>F</a:t>
            </a:r>
            <a:r>
              <a:rPr lang="en-US" altLang="zh-CN" sz="2400"/>
              <a:t>)=(</a:t>
            </a:r>
            <a:r>
              <a:rPr lang="en-US" altLang="zh-CN" sz="2400" i="1"/>
              <a:t>a</a:t>
            </a:r>
            <a:r>
              <a:rPr lang="en-US" altLang="zh-CN" sz="2400"/>
              <a:t>, (</a:t>
            </a:r>
            <a:r>
              <a:rPr lang="en-US" altLang="zh-CN" sz="2400" i="1"/>
              <a:t>a</a:t>
            </a:r>
            <a:r>
              <a:rPr lang="en-US" altLang="zh-CN" sz="2400"/>
              <a:t>, (</a:t>
            </a:r>
            <a:r>
              <a:rPr lang="en-US" altLang="zh-CN" sz="2400" i="1"/>
              <a:t>a</a:t>
            </a:r>
            <a:r>
              <a:rPr lang="en-US" altLang="zh-CN" sz="2400"/>
              <a:t>, …)))  </a:t>
            </a:r>
          </a:p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    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注意：</a:t>
            </a:r>
            <a:r>
              <a:rPr lang="zh-CN" altLang="en-US" sz="2400">
                <a:solidFill>
                  <a:srgbClr val="0000FF"/>
                </a:solidFill>
              </a:rPr>
              <a:t>递归表的深度是无穷值，长度是有限值</a:t>
            </a:r>
            <a:r>
              <a:rPr lang="zh-CN" altLang="en-US" sz="2400"/>
              <a:t>。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 autoUpdateAnimBg="0"/>
      <p:bldP spid="82949" grpId="0" autoUpdateAnimBg="0"/>
      <p:bldP spid="82950" grpId="0" autoUpdateAnimBg="0"/>
      <p:bldP spid="82951" grpId="0" autoUpdateAnimBg="0"/>
      <p:bldP spid="82952" grpId="0" autoUpdateAnimBg="0"/>
      <p:bldP spid="82953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2208213" y="476251"/>
            <a:ext cx="7764462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buFontTx/>
              <a:buAutoNum type="arabicParenBoth" startAt="6"/>
            </a:pPr>
            <a:r>
              <a:rPr lang="zh-CN" altLang="en-US" sz="2400"/>
              <a:t>广义表是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多层次</a:t>
            </a:r>
            <a:r>
              <a:rPr lang="zh-CN" altLang="en-US" sz="2400"/>
              <a:t>结构，广义表的元素可以是单元素， </a:t>
            </a:r>
          </a:p>
          <a:p>
            <a:pPr marL="457200" indent="-457200">
              <a:lnSpc>
                <a:spcPct val="120000"/>
              </a:lnSpc>
            </a:pPr>
            <a:r>
              <a:rPr lang="zh-CN" altLang="en-US" sz="2400"/>
              <a:t>      也可以是子表，而子表的元素还可以是子表，</a:t>
            </a:r>
            <a:r>
              <a:rPr lang="en-US" altLang="zh-CN" sz="2400"/>
              <a:t>…</a:t>
            </a:r>
            <a:r>
              <a:rPr lang="zh-CN" altLang="en-US" sz="2400"/>
              <a:t>。 </a:t>
            </a:r>
          </a:p>
          <a:p>
            <a:pPr marL="457200" indent="-457200">
              <a:lnSpc>
                <a:spcPct val="120000"/>
              </a:lnSpc>
            </a:pPr>
            <a:r>
              <a:rPr lang="zh-CN" altLang="en-US" sz="2400"/>
              <a:t>      可以用图形象地表示。</a:t>
            </a:r>
            <a:r>
              <a:rPr lang="zh-CN" altLang="en-US" sz="24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3973" name="Text Box 5"/>
          <p:cNvSpPr txBox="1">
            <a:spLocks noChangeArrowheads="1"/>
          </p:cNvSpPr>
          <p:nvPr/>
        </p:nvSpPr>
        <p:spPr bwMode="auto">
          <a:xfrm>
            <a:off x="2208214" y="1963738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例： </a:t>
            </a:r>
          </a:p>
        </p:txBody>
      </p:sp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2927350" y="1943100"/>
            <a:ext cx="1416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ea typeface="宋体" pitchFamily="2" charset="-122"/>
              </a:rPr>
              <a:t>D</a:t>
            </a:r>
            <a:r>
              <a:rPr lang="en-US" altLang="zh-CN" sz="2400">
                <a:ea typeface="宋体" pitchFamily="2" charset="-122"/>
              </a:rPr>
              <a:t>=(</a:t>
            </a:r>
            <a:r>
              <a:rPr lang="en-US" altLang="zh-CN" sz="2400" i="1">
                <a:ea typeface="宋体" pitchFamily="2" charset="-122"/>
              </a:rPr>
              <a:t>E</a:t>
            </a:r>
            <a:r>
              <a:rPr lang="en-US" altLang="zh-CN" sz="2400">
                <a:ea typeface="宋体" pitchFamily="2" charset="-122"/>
              </a:rPr>
              <a:t>, </a:t>
            </a:r>
            <a:r>
              <a:rPr lang="en-US" altLang="zh-CN" sz="2400" i="1">
                <a:ea typeface="宋体" pitchFamily="2" charset="-122"/>
              </a:rPr>
              <a:t>F</a:t>
            </a:r>
            <a:r>
              <a:rPr lang="en-US" altLang="zh-CN" sz="2400">
                <a:ea typeface="宋体" pitchFamily="2" charset="-122"/>
              </a:rPr>
              <a:t>) </a:t>
            </a:r>
          </a:p>
        </p:txBody>
      </p:sp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4511676" y="1927226"/>
            <a:ext cx="4968875" cy="47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zh-CN" sz="2400">
                <a:latin typeface="楷体_GB2312" pitchFamily="49" charset="-122"/>
              </a:rPr>
              <a:t>其中</a:t>
            </a:r>
            <a:r>
              <a:rPr lang="zh-CN" altLang="en-US" sz="2400">
                <a:latin typeface="楷体_GB2312" pitchFamily="49" charset="-122"/>
              </a:rPr>
              <a:t>：</a:t>
            </a:r>
            <a:r>
              <a:rPr lang="zh-CN" altLang="zh-CN" sz="2400">
                <a:latin typeface="楷体_GB2312" pitchFamily="49" charset="-122"/>
              </a:rPr>
              <a:t> </a:t>
            </a:r>
            <a:r>
              <a:rPr lang="en-US" altLang="zh-CN" sz="2400" i="1">
                <a:ea typeface="宋体" pitchFamily="2" charset="-122"/>
              </a:rPr>
              <a:t>E</a:t>
            </a:r>
            <a:r>
              <a:rPr lang="en-US" altLang="zh-CN" sz="2400">
                <a:ea typeface="宋体" pitchFamily="2" charset="-122"/>
              </a:rPr>
              <a:t>=(</a:t>
            </a:r>
            <a:r>
              <a:rPr lang="en-US" altLang="zh-CN" sz="2400" i="1">
                <a:ea typeface="宋体" pitchFamily="2" charset="-122"/>
              </a:rPr>
              <a:t>a</a:t>
            </a:r>
            <a:r>
              <a:rPr lang="en-US" altLang="zh-CN" sz="2400">
                <a:ea typeface="宋体" pitchFamily="2" charset="-122"/>
              </a:rPr>
              <a:t>, (</a:t>
            </a:r>
            <a:r>
              <a:rPr lang="en-US" altLang="zh-CN" sz="2400" i="1">
                <a:ea typeface="宋体" pitchFamily="2" charset="-122"/>
              </a:rPr>
              <a:t>b</a:t>
            </a:r>
            <a:r>
              <a:rPr lang="en-US" altLang="zh-CN" sz="2400">
                <a:ea typeface="宋体" pitchFamily="2" charset="-122"/>
              </a:rPr>
              <a:t>, </a:t>
            </a:r>
            <a:r>
              <a:rPr lang="en-US" altLang="zh-CN" sz="2400" i="1">
                <a:ea typeface="宋体" pitchFamily="2" charset="-122"/>
              </a:rPr>
              <a:t>c</a:t>
            </a:r>
            <a:r>
              <a:rPr lang="en-US" altLang="zh-CN" sz="2400">
                <a:ea typeface="宋体" pitchFamily="2" charset="-122"/>
              </a:rPr>
              <a:t>))         </a:t>
            </a:r>
            <a:r>
              <a:rPr lang="en-US" altLang="zh-CN" sz="2400" i="1">
                <a:ea typeface="宋体" pitchFamily="2" charset="-122"/>
              </a:rPr>
              <a:t>F</a:t>
            </a:r>
            <a:r>
              <a:rPr lang="en-US" altLang="zh-CN" sz="2400">
                <a:ea typeface="宋体" pitchFamily="2" charset="-122"/>
              </a:rPr>
              <a:t>=(</a:t>
            </a:r>
            <a:r>
              <a:rPr lang="en-US" altLang="zh-CN" sz="2400" i="1">
                <a:ea typeface="宋体" pitchFamily="2" charset="-122"/>
              </a:rPr>
              <a:t>d</a:t>
            </a:r>
            <a:r>
              <a:rPr lang="en-US" altLang="zh-CN" sz="2400">
                <a:ea typeface="宋体" pitchFamily="2" charset="-122"/>
              </a:rPr>
              <a:t>, (</a:t>
            </a:r>
            <a:r>
              <a:rPr lang="en-US" altLang="zh-CN" sz="2400" i="1">
                <a:ea typeface="宋体" pitchFamily="2" charset="-122"/>
              </a:rPr>
              <a:t>e</a:t>
            </a:r>
            <a:r>
              <a:rPr lang="en-US" altLang="zh-CN" sz="2400">
                <a:ea typeface="宋体" pitchFamily="2" charset="-122"/>
              </a:rPr>
              <a:t>)) </a:t>
            </a:r>
          </a:p>
        </p:txBody>
      </p:sp>
      <p:sp>
        <p:nvSpPr>
          <p:cNvPr id="83995" name="Oval 27"/>
          <p:cNvSpPr>
            <a:spLocks noChangeArrowheads="1"/>
          </p:cNvSpPr>
          <p:nvPr/>
        </p:nvSpPr>
        <p:spPr bwMode="auto">
          <a:xfrm>
            <a:off x="5591175" y="2565400"/>
            <a:ext cx="719138" cy="719138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 i="1"/>
              <a:t>D</a:t>
            </a:r>
          </a:p>
        </p:txBody>
      </p:sp>
      <p:sp>
        <p:nvSpPr>
          <p:cNvPr id="83979" name="Text Box 11"/>
          <p:cNvSpPr txBox="1">
            <a:spLocks noChangeArrowheads="1"/>
          </p:cNvSpPr>
          <p:nvPr/>
        </p:nvSpPr>
        <p:spPr bwMode="auto">
          <a:xfrm>
            <a:off x="3287714" y="4618039"/>
            <a:ext cx="346075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ea typeface="宋体" pitchFamily="2" charset="-122"/>
              </a:rPr>
              <a:t>a</a:t>
            </a:r>
          </a:p>
        </p:txBody>
      </p:sp>
      <p:sp>
        <p:nvSpPr>
          <p:cNvPr id="83981" name="Text Box 13"/>
          <p:cNvSpPr txBox="1">
            <a:spLocks noChangeArrowheads="1"/>
          </p:cNvSpPr>
          <p:nvPr/>
        </p:nvSpPr>
        <p:spPr bwMode="auto">
          <a:xfrm>
            <a:off x="6543676" y="4581526"/>
            <a:ext cx="346075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ea typeface="宋体" pitchFamily="2" charset="-122"/>
              </a:rPr>
              <a:t>d</a:t>
            </a:r>
          </a:p>
        </p:txBody>
      </p:sp>
      <p:sp>
        <p:nvSpPr>
          <p:cNvPr id="83983" name="Text Box 15"/>
          <p:cNvSpPr txBox="1">
            <a:spLocks noChangeArrowheads="1"/>
          </p:cNvSpPr>
          <p:nvPr/>
        </p:nvSpPr>
        <p:spPr bwMode="auto">
          <a:xfrm>
            <a:off x="4381501" y="5699126"/>
            <a:ext cx="346075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ea typeface="宋体" pitchFamily="2" charset="-122"/>
              </a:rPr>
              <a:t>b</a:t>
            </a:r>
          </a:p>
        </p:txBody>
      </p:sp>
      <p:sp>
        <p:nvSpPr>
          <p:cNvPr id="83984" name="Text Box 16"/>
          <p:cNvSpPr txBox="1">
            <a:spLocks noChangeArrowheads="1"/>
          </p:cNvSpPr>
          <p:nvPr/>
        </p:nvSpPr>
        <p:spPr bwMode="auto">
          <a:xfrm>
            <a:off x="5592763" y="5699126"/>
            <a:ext cx="328612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ea typeface="宋体" pitchFamily="2" charset="-122"/>
              </a:rPr>
              <a:t>c</a:t>
            </a:r>
          </a:p>
        </p:txBody>
      </p:sp>
      <p:sp>
        <p:nvSpPr>
          <p:cNvPr id="83985" name="Text Box 17"/>
          <p:cNvSpPr txBox="1">
            <a:spLocks noChangeArrowheads="1"/>
          </p:cNvSpPr>
          <p:nvPr/>
        </p:nvSpPr>
        <p:spPr bwMode="auto">
          <a:xfrm>
            <a:off x="8143876" y="5626101"/>
            <a:ext cx="328613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>
                <a:ea typeface="宋体" pitchFamily="2" charset="-122"/>
              </a:rPr>
              <a:t>e</a:t>
            </a:r>
          </a:p>
        </p:txBody>
      </p:sp>
      <p:sp>
        <p:nvSpPr>
          <p:cNvPr id="83996" name="Oval 28"/>
          <p:cNvSpPr>
            <a:spLocks noChangeArrowheads="1"/>
          </p:cNvSpPr>
          <p:nvPr/>
        </p:nvSpPr>
        <p:spPr bwMode="auto">
          <a:xfrm>
            <a:off x="4008439" y="3500439"/>
            <a:ext cx="719137" cy="719137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 i="1"/>
              <a:t>E</a:t>
            </a:r>
          </a:p>
        </p:txBody>
      </p:sp>
      <p:sp>
        <p:nvSpPr>
          <p:cNvPr id="83997" name="Oval 29"/>
          <p:cNvSpPr>
            <a:spLocks noChangeArrowheads="1"/>
          </p:cNvSpPr>
          <p:nvPr/>
        </p:nvSpPr>
        <p:spPr bwMode="auto">
          <a:xfrm>
            <a:off x="7177089" y="3500439"/>
            <a:ext cx="719137" cy="719137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 i="1"/>
              <a:t>F</a:t>
            </a:r>
          </a:p>
        </p:txBody>
      </p:sp>
      <p:sp>
        <p:nvSpPr>
          <p:cNvPr id="83998" name="Oval 30"/>
          <p:cNvSpPr>
            <a:spLocks noChangeArrowheads="1"/>
          </p:cNvSpPr>
          <p:nvPr/>
        </p:nvSpPr>
        <p:spPr bwMode="auto">
          <a:xfrm>
            <a:off x="4800600" y="4500564"/>
            <a:ext cx="719138" cy="719137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i="1"/>
          </a:p>
        </p:txBody>
      </p:sp>
      <p:sp>
        <p:nvSpPr>
          <p:cNvPr id="83999" name="Oval 31"/>
          <p:cNvSpPr>
            <a:spLocks noChangeArrowheads="1"/>
          </p:cNvSpPr>
          <p:nvPr/>
        </p:nvSpPr>
        <p:spPr bwMode="auto">
          <a:xfrm>
            <a:off x="7967664" y="4503739"/>
            <a:ext cx="719137" cy="719137"/>
          </a:xfrm>
          <a:prstGeom prst="ellipse">
            <a:avLst/>
          </a:prstGeom>
          <a:gradFill rotWithShape="1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2400" i="1"/>
          </a:p>
        </p:txBody>
      </p:sp>
      <p:cxnSp>
        <p:nvCxnSpPr>
          <p:cNvPr id="84000" name="AutoShape 32"/>
          <p:cNvCxnSpPr>
            <a:cxnSpLocks noChangeShapeType="1"/>
            <a:stCxn id="83995" idx="3"/>
            <a:endCxn id="83996" idx="0"/>
          </p:cNvCxnSpPr>
          <p:nvPr/>
        </p:nvCxnSpPr>
        <p:spPr bwMode="auto">
          <a:xfrm flipH="1">
            <a:off x="4368800" y="3179764"/>
            <a:ext cx="1327150" cy="320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4001" name="AutoShape 33"/>
          <p:cNvCxnSpPr>
            <a:cxnSpLocks noChangeShapeType="1"/>
            <a:stCxn id="83995" idx="5"/>
            <a:endCxn id="83997" idx="0"/>
          </p:cNvCxnSpPr>
          <p:nvPr/>
        </p:nvCxnSpPr>
        <p:spPr bwMode="auto">
          <a:xfrm>
            <a:off x="6205538" y="3179764"/>
            <a:ext cx="1331912" cy="320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4002" name="AutoShape 34"/>
          <p:cNvCxnSpPr>
            <a:cxnSpLocks noChangeShapeType="1"/>
            <a:stCxn id="83998" idx="3"/>
            <a:endCxn id="83983" idx="0"/>
          </p:cNvCxnSpPr>
          <p:nvPr/>
        </p:nvCxnSpPr>
        <p:spPr bwMode="auto">
          <a:xfrm flipH="1">
            <a:off x="4554539" y="5114925"/>
            <a:ext cx="350837" cy="584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4003" name="AutoShape 35"/>
          <p:cNvCxnSpPr>
            <a:cxnSpLocks noChangeShapeType="1"/>
            <a:stCxn id="83998" idx="5"/>
            <a:endCxn id="83984" idx="0"/>
          </p:cNvCxnSpPr>
          <p:nvPr/>
        </p:nvCxnSpPr>
        <p:spPr bwMode="auto">
          <a:xfrm>
            <a:off x="5414963" y="5114925"/>
            <a:ext cx="342900" cy="584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4004" name="AutoShape 36"/>
          <p:cNvCxnSpPr>
            <a:cxnSpLocks noChangeShapeType="1"/>
            <a:stCxn id="83999" idx="4"/>
            <a:endCxn id="83985" idx="0"/>
          </p:cNvCxnSpPr>
          <p:nvPr/>
        </p:nvCxnSpPr>
        <p:spPr bwMode="auto">
          <a:xfrm flipH="1">
            <a:off x="8308975" y="5222876"/>
            <a:ext cx="19050" cy="403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4005" name="AutoShape 37"/>
          <p:cNvCxnSpPr>
            <a:cxnSpLocks noChangeShapeType="1"/>
            <a:stCxn id="83997" idx="5"/>
            <a:endCxn id="83999" idx="0"/>
          </p:cNvCxnSpPr>
          <p:nvPr/>
        </p:nvCxnSpPr>
        <p:spPr bwMode="auto">
          <a:xfrm>
            <a:off x="7791451" y="4114800"/>
            <a:ext cx="536575" cy="388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4006" name="AutoShape 38"/>
          <p:cNvCxnSpPr>
            <a:cxnSpLocks noChangeShapeType="1"/>
            <a:stCxn id="83996" idx="5"/>
            <a:endCxn id="83998" idx="0"/>
          </p:cNvCxnSpPr>
          <p:nvPr/>
        </p:nvCxnSpPr>
        <p:spPr bwMode="auto">
          <a:xfrm>
            <a:off x="4622801" y="4114801"/>
            <a:ext cx="538163" cy="385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4007" name="AutoShape 39"/>
          <p:cNvCxnSpPr>
            <a:cxnSpLocks noChangeShapeType="1"/>
            <a:stCxn id="83996" idx="3"/>
            <a:endCxn id="83979" idx="0"/>
          </p:cNvCxnSpPr>
          <p:nvPr/>
        </p:nvCxnSpPr>
        <p:spPr bwMode="auto">
          <a:xfrm flipH="1">
            <a:off x="3460751" y="4114800"/>
            <a:ext cx="652463" cy="503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4008" name="AutoShape 40"/>
          <p:cNvCxnSpPr>
            <a:cxnSpLocks noChangeShapeType="1"/>
            <a:stCxn id="83997" idx="3"/>
            <a:endCxn id="83981" idx="0"/>
          </p:cNvCxnSpPr>
          <p:nvPr/>
        </p:nvCxnSpPr>
        <p:spPr bwMode="auto">
          <a:xfrm flipH="1">
            <a:off x="6716713" y="4114801"/>
            <a:ext cx="565150" cy="466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3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3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3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3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4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3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3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3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8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8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83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8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autoUpdateAnimBg="0"/>
      <p:bldP spid="83973" grpId="0" autoUpdateAnimBg="0"/>
      <p:bldP spid="83974" grpId="0" autoUpdateAnimBg="0"/>
      <p:bldP spid="83975" grpId="0" autoUpdateAnimBg="0"/>
      <p:bldP spid="83995" grpId="0" animBg="1"/>
      <p:bldP spid="83979" grpId="0" animBg="1"/>
      <p:bldP spid="83981" grpId="0" animBg="1"/>
      <p:bldP spid="83983" grpId="0" animBg="1"/>
      <p:bldP spid="83984" grpId="0" animBg="1"/>
      <p:bldP spid="83985" grpId="0" animBg="1"/>
      <p:bldP spid="83996" grpId="0" animBg="1"/>
      <p:bldP spid="83997" grpId="0" animBg="1"/>
      <p:bldP spid="83998" grpId="0" animBg="1"/>
      <p:bldP spid="8399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Rectangle 4"/>
          <p:cNvSpPr>
            <a:spLocks noChangeArrowheads="1"/>
          </p:cNvSpPr>
          <p:nvPr/>
        </p:nvSpPr>
        <p:spPr bwMode="auto">
          <a:xfrm>
            <a:off x="2030414" y="671514"/>
            <a:ext cx="8529637" cy="534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        </a:t>
            </a:r>
            <a:r>
              <a:rPr lang="zh-CN" altLang="en-US" sz="2400">
                <a:solidFill>
                  <a:srgbClr val="0000FF"/>
                </a:solidFill>
              </a:rPr>
              <a:t>广义表</a:t>
            </a:r>
            <a:r>
              <a:rPr lang="zh-CN" altLang="en-US" sz="2400"/>
              <a:t>可看成</a:t>
            </a:r>
            <a:r>
              <a:rPr lang="zh-CN" altLang="en-US" sz="2400">
                <a:solidFill>
                  <a:srgbClr val="0000FF"/>
                </a:solidFill>
              </a:rPr>
              <a:t>是线性表的推广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线性表是广义表的特例</a:t>
            </a:r>
            <a:r>
              <a:rPr lang="zh-CN" altLang="en-US" sz="2400"/>
              <a:t>。 </a:t>
            </a:r>
          </a:p>
          <a:p>
            <a:pPr>
              <a:lnSpc>
                <a:spcPct val="160000"/>
              </a:lnSpc>
            </a:pPr>
            <a:r>
              <a:rPr lang="zh-CN" altLang="en-US" sz="2400"/>
              <a:t>        广义表的结构相当灵活，在某种前提下，它可以兼容线 </a:t>
            </a:r>
          </a:p>
          <a:p>
            <a:pPr>
              <a:lnSpc>
                <a:spcPct val="160000"/>
              </a:lnSpc>
            </a:pPr>
            <a:r>
              <a:rPr lang="zh-CN" altLang="en-US" sz="2400"/>
              <a:t>性表、数组、树和有向图等各种常用的数据结构。 </a:t>
            </a:r>
          </a:p>
          <a:p>
            <a:pPr>
              <a:lnSpc>
                <a:spcPct val="160000"/>
              </a:lnSpc>
            </a:pPr>
            <a:r>
              <a:rPr lang="zh-CN" altLang="en-US" sz="2400"/>
              <a:t>        当</a:t>
            </a:r>
            <a:r>
              <a:rPr lang="zh-CN" altLang="en-US" sz="2400">
                <a:solidFill>
                  <a:srgbClr val="0000FF"/>
                </a:solidFill>
              </a:rPr>
              <a:t>二维数组的每行（或每列）作为子表处理时，二维数 </a:t>
            </a:r>
          </a:p>
          <a:p>
            <a:pPr>
              <a:lnSpc>
                <a:spcPct val="16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组即为一个广义表。 </a:t>
            </a:r>
          </a:p>
          <a:p>
            <a:pPr>
              <a:lnSpc>
                <a:spcPct val="160000"/>
              </a:lnSpc>
            </a:pPr>
            <a:r>
              <a:rPr lang="zh-CN" altLang="en-US" sz="2400"/>
              <a:t>        另外，树和有向图也可以用广义表来表示。 </a:t>
            </a:r>
          </a:p>
          <a:p>
            <a:pPr>
              <a:lnSpc>
                <a:spcPct val="160000"/>
              </a:lnSpc>
            </a:pPr>
            <a:r>
              <a:rPr lang="zh-CN" altLang="en-US" sz="2400"/>
              <a:t>        由于广义表不仅集中了线性表、数组、树和有向图等常 </a:t>
            </a:r>
          </a:p>
          <a:p>
            <a:pPr>
              <a:lnSpc>
                <a:spcPct val="160000"/>
              </a:lnSpc>
            </a:pPr>
            <a:r>
              <a:rPr lang="zh-CN" altLang="en-US" sz="2400"/>
              <a:t>见数据结构的特点，而且可有效地利用存储空间，因此在计 </a:t>
            </a:r>
          </a:p>
          <a:p>
            <a:pPr>
              <a:lnSpc>
                <a:spcPct val="160000"/>
              </a:lnSpc>
            </a:pPr>
            <a:r>
              <a:rPr lang="zh-CN" altLang="en-US" sz="2400"/>
              <a:t>算机的许多应用领域都有成功使用广义表的实例。 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4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4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4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4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4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46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46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2136776" y="1027113"/>
            <a:ext cx="6335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ea typeface="华文中宋" pitchFamily="2" charset="-122"/>
              </a:rPr>
              <a:t>取表头运算 </a:t>
            </a:r>
            <a:r>
              <a:rPr lang="en-US" altLang="zh-CN" sz="2400">
                <a:ea typeface="华文中宋" pitchFamily="2" charset="-122"/>
              </a:rPr>
              <a:t>GetHead  </a:t>
            </a:r>
            <a:r>
              <a:rPr lang="zh-CN" altLang="en-US" sz="2400">
                <a:ea typeface="华文中宋" pitchFamily="2" charset="-122"/>
              </a:rPr>
              <a:t>和取表尾运算 </a:t>
            </a:r>
            <a:r>
              <a:rPr lang="en-US" altLang="zh-CN" sz="2400">
                <a:ea typeface="华文中宋" pitchFamily="2" charset="-122"/>
              </a:rPr>
              <a:t>GetTail 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2136775" y="1622426"/>
            <a:ext cx="8280400" cy="1828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/>
              <a:t>若广义表 </a:t>
            </a:r>
            <a:r>
              <a:rPr lang="en-US" altLang="zh-CN" sz="2400" i="1"/>
              <a:t>LS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 baseline="-30000"/>
              <a:t>1</a:t>
            </a:r>
            <a:r>
              <a:rPr lang="en-US" altLang="zh-CN" sz="2400"/>
              <a:t>, </a:t>
            </a:r>
            <a:r>
              <a:rPr lang="en-US" altLang="zh-CN" sz="2400" i="1"/>
              <a:t>a</a:t>
            </a:r>
            <a:r>
              <a:rPr lang="en-US" altLang="zh-CN" sz="2400" baseline="-30000"/>
              <a:t>2</a:t>
            </a:r>
            <a:r>
              <a:rPr lang="en-US" altLang="zh-CN" sz="2400"/>
              <a:t>, …, </a:t>
            </a:r>
            <a:r>
              <a:rPr lang="en-US" altLang="zh-CN" sz="2400" i="1"/>
              <a:t>a</a:t>
            </a:r>
            <a:r>
              <a:rPr lang="en-US" altLang="zh-CN" sz="2400" i="1" baseline="-30000"/>
              <a:t>n</a:t>
            </a:r>
            <a:r>
              <a:rPr lang="en-US" altLang="zh-CN" sz="2400"/>
              <a:t>)</a:t>
            </a:r>
            <a:r>
              <a:rPr lang="zh-CN" altLang="en-US" sz="2400"/>
              <a:t>，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/>
              <a:t>则  </a:t>
            </a:r>
            <a:r>
              <a:rPr lang="en-US" altLang="zh-CN" sz="2400"/>
              <a:t>GetHead(</a:t>
            </a:r>
            <a:r>
              <a:rPr lang="en-US" altLang="zh-CN" sz="2400" i="1"/>
              <a:t>LS</a:t>
            </a:r>
            <a:r>
              <a:rPr lang="en-US" altLang="zh-CN" sz="2400"/>
              <a:t>) = </a:t>
            </a:r>
            <a:r>
              <a:rPr lang="en-US" altLang="zh-CN" sz="2400" i="1"/>
              <a:t>a</a:t>
            </a:r>
            <a:r>
              <a:rPr lang="en-US" altLang="zh-CN" sz="2400" baseline="-30000"/>
              <a:t>1 </a:t>
            </a:r>
            <a:r>
              <a:rPr lang="en-US" altLang="zh-CN" sz="2400"/>
              <a:t>       GetTail(</a:t>
            </a:r>
            <a:r>
              <a:rPr lang="en-US" altLang="zh-CN" sz="2400" i="1"/>
              <a:t>LS</a:t>
            </a:r>
            <a:r>
              <a:rPr lang="en-US" altLang="zh-CN" sz="2400"/>
              <a:t>) = (</a:t>
            </a:r>
            <a:r>
              <a:rPr lang="en-US" altLang="zh-CN" sz="2400" i="1"/>
              <a:t>a</a:t>
            </a:r>
            <a:r>
              <a:rPr lang="en-US" altLang="zh-CN" sz="2400" baseline="-25000"/>
              <a:t>2</a:t>
            </a:r>
            <a:r>
              <a:rPr lang="en-US" altLang="zh-CN" sz="2400"/>
              <a:t>, …, </a:t>
            </a:r>
            <a:r>
              <a:rPr lang="en-US" altLang="zh-CN" sz="2400" i="1"/>
              <a:t>a</a:t>
            </a:r>
            <a:r>
              <a:rPr lang="en-US" altLang="zh-CN" sz="2400" i="1" baseline="-25000"/>
              <a:t>n</a:t>
            </a:r>
            <a:r>
              <a:rPr lang="en-US" altLang="zh-CN" sz="2400"/>
              <a:t>)</a:t>
            </a:r>
            <a:r>
              <a:rPr lang="zh-CN" altLang="en-US" sz="2400"/>
              <a:t>。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注意：</a:t>
            </a:r>
            <a:r>
              <a:rPr lang="zh-CN" altLang="en-US" sz="2400"/>
              <a:t>取表头得到的结果可以是原子，也可以是一个子表。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/>
              <a:t>            取表尾得到的结果一定是一个子表。 </a:t>
            </a:r>
          </a:p>
        </p:txBody>
      </p:sp>
      <p:sp>
        <p:nvSpPr>
          <p:cNvPr id="84998" name="Text Box 6"/>
          <p:cNvSpPr txBox="1">
            <a:spLocks noChangeArrowheads="1"/>
          </p:cNvSpPr>
          <p:nvPr/>
        </p:nvSpPr>
        <p:spPr bwMode="auto">
          <a:xfrm>
            <a:off x="2136775" y="3570288"/>
            <a:ext cx="5075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例</a:t>
            </a:r>
            <a:r>
              <a:rPr lang="en-US" altLang="zh-CN" sz="2400">
                <a:latin typeface="华文中宋" pitchFamily="2" charset="-122"/>
                <a:ea typeface="华文中宋" pitchFamily="2" charset="-122"/>
              </a:rPr>
              <a:t>:</a:t>
            </a:r>
            <a:r>
              <a:rPr lang="en-US" altLang="zh-CN" sz="2400"/>
              <a:t>       </a:t>
            </a:r>
            <a:r>
              <a:rPr lang="en-US" altLang="zh-CN" sz="2400" i="1"/>
              <a:t>D</a:t>
            </a:r>
            <a:r>
              <a:rPr lang="en-US" altLang="zh-CN" sz="2400"/>
              <a:t> = ( </a:t>
            </a:r>
            <a:r>
              <a:rPr lang="en-US" altLang="zh-CN" sz="2400" i="1"/>
              <a:t>E</a:t>
            </a:r>
            <a:r>
              <a:rPr lang="en-US" altLang="zh-CN" sz="2400"/>
              <a:t>, </a:t>
            </a:r>
            <a:r>
              <a:rPr lang="en-US" altLang="zh-CN" sz="2400" i="1"/>
              <a:t>F</a:t>
            </a:r>
            <a:r>
              <a:rPr lang="en-US" altLang="zh-CN" sz="2400"/>
              <a:t> ) =  ((</a:t>
            </a:r>
            <a:r>
              <a:rPr lang="en-US" altLang="zh-CN" sz="2400" i="1"/>
              <a:t>a</a:t>
            </a:r>
            <a:r>
              <a:rPr lang="en-US" altLang="zh-CN" sz="2400"/>
              <a:t>, 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))</a:t>
            </a:r>
            <a:r>
              <a:rPr lang="zh-CN" altLang="en-US" sz="2400"/>
              <a:t>，</a:t>
            </a:r>
            <a:r>
              <a:rPr lang="en-US" altLang="zh-CN" sz="2400" i="1"/>
              <a:t>F</a:t>
            </a:r>
            <a:r>
              <a:rPr lang="en-US" altLang="zh-CN" sz="2400"/>
              <a:t> )  </a:t>
            </a:r>
          </a:p>
        </p:txBody>
      </p:sp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3071813" y="4002088"/>
            <a:ext cx="65135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GetHead( </a:t>
            </a:r>
            <a:r>
              <a:rPr lang="en-US" altLang="zh-CN" sz="2400" i="1">
                <a:solidFill>
                  <a:srgbClr val="0000FF"/>
                </a:solidFill>
              </a:rPr>
              <a:t>D</a:t>
            </a:r>
            <a:r>
              <a:rPr lang="en-US" altLang="zh-CN" sz="2400"/>
              <a:t> ) = </a:t>
            </a:r>
            <a:r>
              <a:rPr lang="en-US" altLang="zh-CN" sz="2400" i="1"/>
              <a:t>E</a:t>
            </a:r>
            <a:r>
              <a:rPr lang="en-US" altLang="zh-CN" sz="2400"/>
              <a:t>                    GetTail( </a:t>
            </a:r>
            <a:r>
              <a:rPr lang="en-US" altLang="zh-CN" sz="2400" i="1">
                <a:solidFill>
                  <a:srgbClr val="0000FF"/>
                </a:solidFill>
              </a:rPr>
              <a:t>D</a:t>
            </a:r>
            <a:r>
              <a:rPr lang="en-US" altLang="zh-CN" sz="2400"/>
              <a:t> ) = ( </a:t>
            </a:r>
            <a:r>
              <a:rPr lang="en-US" altLang="zh-CN" sz="2400" i="1"/>
              <a:t>F</a:t>
            </a:r>
            <a:r>
              <a:rPr lang="en-US" altLang="zh-CN" sz="2400"/>
              <a:t> ) </a:t>
            </a:r>
          </a:p>
        </p:txBody>
      </p:sp>
      <p:sp>
        <p:nvSpPr>
          <p:cNvPr id="85000" name="Text Box 8"/>
          <p:cNvSpPr txBox="1">
            <a:spLocks noChangeArrowheads="1"/>
          </p:cNvSpPr>
          <p:nvPr/>
        </p:nvSpPr>
        <p:spPr bwMode="auto">
          <a:xfrm>
            <a:off x="3071814" y="4459288"/>
            <a:ext cx="6791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GetHead( </a:t>
            </a:r>
            <a:r>
              <a:rPr lang="en-US" altLang="zh-CN" sz="2400" i="1">
                <a:solidFill>
                  <a:srgbClr val="0000FF"/>
                </a:solidFill>
              </a:rPr>
              <a:t>E</a:t>
            </a:r>
            <a:r>
              <a:rPr lang="en-US" altLang="zh-CN" sz="2400"/>
              <a:t> ) = </a:t>
            </a:r>
            <a:r>
              <a:rPr lang="en-US" altLang="zh-CN" sz="2400" i="1"/>
              <a:t>a</a:t>
            </a:r>
            <a:r>
              <a:rPr lang="en-US" altLang="zh-CN" sz="2400"/>
              <a:t>                     GetTail( </a:t>
            </a:r>
            <a:r>
              <a:rPr lang="en-US" altLang="zh-CN" sz="2400" i="1">
                <a:solidFill>
                  <a:srgbClr val="0000FF"/>
                </a:solidFill>
              </a:rPr>
              <a:t>E</a:t>
            </a:r>
            <a:r>
              <a:rPr lang="en-US" altLang="zh-CN" sz="2400"/>
              <a:t> ) = ((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)) </a:t>
            </a:r>
            <a:endParaRPr lang="en-US" altLang="zh-CN" sz="2400">
              <a:ea typeface="宋体" pitchFamily="2" charset="-122"/>
            </a:endParaRPr>
          </a:p>
        </p:txBody>
      </p:sp>
      <p:sp>
        <p:nvSpPr>
          <p:cNvPr id="85001" name="Text Box 9"/>
          <p:cNvSpPr txBox="1">
            <a:spLocks noChangeArrowheads="1"/>
          </p:cNvSpPr>
          <p:nvPr/>
        </p:nvSpPr>
        <p:spPr bwMode="auto">
          <a:xfrm>
            <a:off x="3071813" y="4891088"/>
            <a:ext cx="670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GetHead(</a:t>
            </a:r>
            <a:r>
              <a:rPr lang="en-US" altLang="zh-CN" sz="2400">
                <a:solidFill>
                  <a:srgbClr val="0000FF"/>
                </a:solidFill>
              </a:rPr>
              <a:t>((</a:t>
            </a:r>
            <a:r>
              <a:rPr lang="en-US" altLang="zh-CN" sz="2400" i="1">
                <a:solidFill>
                  <a:srgbClr val="0000FF"/>
                </a:solidFill>
              </a:rPr>
              <a:t>b</a:t>
            </a:r>
            <a:r>
              <a:rPr lang="en-US" altLang="zh-CN" sz="2400">
                <a:solidFill>
                  <a:srgbClr val="0000FF"/>
                </a:solidFill>
              </a:rPr>
              <a:t>, </a:t>
            </a:r>
            <a:r>
              <a:rPr lang="en-US" altLang="zh-CN" sz="2400" i="1">
                <a:solidFill>
                  <a:srgbClr val="0000FF"/>
                </a:solidFill>
              </a:rPr>
              <a:t>c</a:t>
            </a:r>
            <a:r>
              <a:rPr lang="en-US" altLang="zh-CN" sz="2400">
                <a:solidFill>
                  <a:srgbClr val="0000FF"/>
                </a:solidFill>
              </a:rPr>
              <a:t>))</a:t>
            </a:r>
            <a:r>
              <a:rPr lang="en-US" altLang="zh-CN" sz="2400"/>
              <a:t>) = 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)        GetTail(</a:t>
            </a:r>
            <a:r>
              <a:rPr lang="en-US" altLang="zh-CN" sz="2400">
                <a:solidFill>
                  <a:srgbClr val="0000FF"/>
                </a:solidFill>
              </a:rPr>
              <a:t>((</a:t>
            </a:r>
            <a:r>
              <a:rPr lang="en-US" altLang="zh-CN" sz="2400" i="1">
                <a:solidFill>
                  <a:srgbClr val="0000FF"/>
                </a:solidFill>
              </a:rPr>
              <a:t>b</a:t>
            </a:r>
            <a:r>
              <a:rPr lang="en-US" altLang="zh-CN" sz="2400">
                <a:solidFill>
                  <a:srgbClr val="0000FF"/>
                </a:solidFill>
              </a:rPr>
              <a:t>, </a:t>
            </a:r>
            <a:r>
              <a:rPr lang="en-US" altLang="zh-CN" sz="2400" i="1">
                <a:solidFill>
                  <a:srgbClr val="0000FF"/>
                </a:solidFill>
              </a:rPr>
              <a:t>c</a:t>
            </a:r>
            <a:r>
              <a:rPr lang="en-US" altLang="zh-CN" sz="2400">
                <a:solidFill>
                  <a:srgbClr val="0000FF"/>
                </a:solidFill>
              </a:rPr>
              <a:t>))</a:t>
            </a:r>
            <a:r>
              <a:rPr lang="en-US" altLang="zh-CN" sz="2400"/>
              <a:t>) = ( ) </a:t>
            </a:r>
          </a:p>
        </p:txBody>
      </p:sp>
      <p:sp>
        <p:nvSpPr>
          <p:cNvPr id="85002" name="Text Box 10"/>
          <p:cNvSpPr txBox="1">
            <a:spLocks noChangeArrowheads="1"/>
          </p:cNvSpPr>
          <p:nvPr/>
        </p:nvSpPr>
        <p:spPr bwMode="auto">
          <a:xfrm>
            <a:off x="3071813" y="5322888"/>
            <a:ext cx="655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GetHead(</a:t>
            </a:r>
            <a:r>
              <a:rPr lang="en-US" altLang="zh-CN" sz="2400">
                <a:solidFill>
                  <a:srgbClr val="0000FF"/>
                </a:solidFill>
              </a:rPr>
              <a:t>(</a:t>
            </a:r>
            <a:r>
              <a:rPr lang="en-US" altLang="zh-CN" sz="2400" i="1">
                <a:solidFill>
                  <a:srgbClr val="0000FF"/>
                </a:solidFill>
              </a:rPr>
              <a:t>b</a:t>
            </a:r>
            <a:r>
              <a:rPr lang="en-US" altLang="zh-CN" sz="2400">
                <a:solidFill>
                  <a:srgbClr val="0000FF"/>
                </a:solidFill>
              </a:rPr>
              <a:t>, </a:t>
            </a:r>
            <a:r>
              <a:rPr lang="en-US" altLang="zh-CN" sz="2400" i="1">
                <a:solidFill>
                  <a:srgbClr val="0000FF"/>
                </a:solidFill>
              </a:rPr>
              <a:t>c</a:t>
            </a:r>
            <a:r>
              <a:rPr lang="en-US" altLang="zh-CN" sz="2400">
                <a:solidFill>
                  <a:srgbClr val="0000FF"/>
                </a:solidFill>
              </a:rPr>
              <a:t>)</a:t>
            </a:r>
            <a:r>
              <a:rPr lang="en-US" altLang="zh-CN" sz="2400"/>
              <a:t>) = </a:t>
            </a:r>
            <a:r>
              <a:rPr lang="en-US" altLang="zh-CN" sz="2400" i="1"/>
              <a:t>b</a:t>
            </a:r>
            <a:r>
              <a:rPr lang="en-US" altLang="zh-CN" sz="2400"/>
              <a:t>                 GetTail(</a:t>
            </a:r>
            <a:r>
              <a:rPr lang="en-US" altLang="zh-CN" sz="2400">
                <a:solidFill>
                  <a:srgbClr val="0000FF"/>
                </a:solidFill>
              </a:rPr>
              <a:t>(</a:t>
            </a:r>
            <a:r>
              <a:rPr lang="en-US" altLang="zh-CN" sz="2400" i="1">
                <a:solidFill>
                  <a:srgbClr val="0000FF"/>
                </a:solidFill>
              </a:rPr>
              <a:t>b</a:t>
            </a:r>
            <a:r>
              <a:rPr lang="en-US" altLang="zh-CN" sz="2400">
                <a:solidFill>
                  <a:srgbClr val="0000FF"/>
                </a:solidFill>
              </a:rPr>
              <a:t>, </a:t>
            </a:r>
            <a:r>
              <a:rPr lang="en-US" altLang="zh-CN" sz="2400" i="1">
                <a:solidFill>
                  <a:srgbClr val="0000FF"/>
                </a:solidFill>
              </a:rPr>
              <a:t>c</a:t>
            </a:r>
            <a:r>
              <a:rPr lang="en-US" altLang="zh-CN" sz="2400">
                <a:solidFill>
                  <a:srgbClr val="0000FF"/>
                </a:solidFill>
              </a:rPr>
              <a:t>)</a:t>
            </a:r>
            <a:r>
              <a:rPr lang="en-US" altLang="zh-CN" sz="2400"/>
              <a:t>) = (</a:t>
            </a:r>
            <a:r>
              <a:rPr lang="en-US" altLang="zh-CN" sz="2400" i="1"/>
              <a:t>c</a:t>
            </a:r>
            <a:r>
              <a:rPr lang="en-US" altLang="zh-CN" sz="2400"/>
              <a:t>) </a:t>
            </a:r>
            <a:endParaRPr lang="en-US" altLang="zh-CN" sz="2400">
              <a:ea typeface="宋体" pitchFamily="2" charset="-122"/>
            </a:endParaRPr>
          </a:p>
        </p:txBody>
      </p:sp>
      <p:sp>
        <p:nvSpPr>
          <p:cNvPr id="85003" name="Text Box 11"/>
          <p:cNvSpPr txBox="1">
            <a:spLocks noChangeArrowheads="1"/>
          </p:cNvSpPr>
          <p:nvPr/>
        </p:nvSpPr>
        <p:spPr bwMode="auto">
          <a:xfrm>
            <a:off x="3071813" y="5780088"/>
            <a:ext cx="617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GetHead(</a:t>
            </a:r>
            <a:r>
              <a:rPr lang="en-US" altLang="zh-CN" sz="2400">
                <a:solidFill>
                  <a:srgbClr val="0000FF"/>
                </a:solidFill>
              </a:rPr>
              <a:t>(</a:t>
            </a:r>
            <a:r>
              <a:rPr lang="en-US" altLang="zh-CN" sz="2400" i="1">
                <a:solidFill>
                  <a:srgbClr val="0000FF"/>
                </a:solidFill>
              </a:rPr>
              <a:t>c</a:t>
            </a:r>
            <a:r>
              <a:rPr lang="en-US" altLang="zh-CN" sz="2400">
                <a:solidFill>
                  <a:srgbClr val="0000FF"/>
                </a:solidFill>
              </a:rPr>
              <a:t>)</a:t>
            </a:r>
            <a:r>
              <a:rPr lang="en-US" altLang="zh-CN" sz="2400"/>
              <a:t>) = </a:t>
            </a:r>
            <a:r>
              <a:rPr lang="en-US" altLang="zh-CN" sz="2400" i="1"/>
              <a:t>c</a:t>
            </a:r>
            <a:r>
              <a:rPr lang="en-US" altLang="zh-CN" sz="2400"/>
              <a:t>                     GetTail(</a:t>
            </a:r>
            <a:r>
              <a:rPr lang="en-US" altLang="zh-CN" sz="2400">
                <a:solidFill>
                  <a:srgbClr val="0000FF"/>
                </a:solidFill>
              </a:rPr>
              <a:t>(</a:t>
            </a:r>
            <a:r>
              <a:rPr lang="en-US" altLang="zh-CN" sz="2400" i="1">
                <a:solidFill>
                  <a:srgbClr val="0000FF"/>
                </a:solidFill>
              </a:rPr>
              <a:t>c</a:t>
            </a:r>
            <a:r>
              <a:rPr lang="en-US" altLang="zh-CN" sz="2400">
                <a:solidFill>
                  <a:srgbClr val="0000FF"/>
                </a:solidFill>
              </a:rPr>
              <a:t>)</a:t>
            </a:r>
            <a:r>
              <a:rPr lang="en-US" altLang="zh-CN" sz="2400"/>
              <a:t>) = ( ) </a:t>
            </a:r>
          </a:p>
        </p:txBody>
      </p:sp>
      <p:sp>
        <p:nvSpPr>
          <p:cNvPr id="85004" name="Rectangle 12"/>
          <p:cNvSpPr>
            <a:spLocks noChangeArrowheads="1"/>
          </p:cNvSpPr>
          <p:nvPr/>
        </p:nvSpPr>
        <p:spPr bwMode="auto">
          <a:xfrm>
            <a:off x="2136775" y="547688"/>
            <a:ext cx="251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广义表基本运算 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4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4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utoUpdateAnimBg="0"/>
      <p:bldP spid="84997" grpId="0" autoUpdateAnimBg="0"/>
      <p:bldP spid="84998" grpId="0" autoUpdateAnimBg="0"/>
      <p:bldP spid="84999" grpId="0" autoUpdateAnimBg="0"/>
      <p:bldP spid="85000" grpId="0" autoUpdateAnimBg="0"/>
      <p:bldP spid="85001" grpId="0" autoUpdateAnimBg="0"/>
      <p:bldP spid="85002" grpId="0" autoUpdateAnimBg="0"/>
      <p:bldP spid="85003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7968208" y="501317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400008" y="501317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8831808" y="501317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自选图形 3">
            <a:extLst>
              <a:ext uri="{FF2B5EF4-FFF2-40B4-BE49-F238E27FC236}">
                <a16:creationId xmlns:a16="http://schemas.microsoft.com/office/drawing/2014/main" id="{AD5F2B3A-02A3-419F-ACEC-243187887877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1" name="自选图形 4">
            <a:extLst>
              <a:ext uri="{FF2B5EF4-FFF2-40B4-BE49-F238E27FC236}">
                <a16:creationId xmlns:a16="http://schemas.microsoft.com/office/drawing/2014/main" id="{97BAD1BD-72C4-4E19-A0F4-49EC88E99C10}"/>
              </a:ext>
            </a:extLst>
          </p:cNvPr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5">
            <a:extLst>
              <a:ext uri="{FF2B5EF4-FFF2-40B4-BE49-F238E27FC236}">
                <a16:creationId xmlns:a16="http://schemas.microsoft.com/office/drawing/2014/main" id="{D273F287-3D7D-4B7F-BC5B-E151C16503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广义表的存储结构、相关递归算法</a:t>
            </a:r>
          </a:p>
        </p:txBody>
      </p:sp>
      <p:sp>
        <p:nvSpPr>
          <p:cNvPr id="53" name="自选图形 6">
            <a:extLst>
              <a:ext uri="{FF2B5EF4-FFF2-40B4-BE49-F238E27FC236}">
                <a16:creationId xmlns:a16="http://schemas.microsoft.com/office/drawing/2014/main" id="{2CC405B8-068A-47AE-BE91-E8232E48F8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广义表的概念、性质</a:t>
            </a:r>
          </a:p>
        </p:txBody>
      </p:sp>
      <p:sp>
        <p:nvSpPr>
          <p:cNvPr id="54" name="自选图形 7">
            <a:extLst>
              <a:ext uri="{FF2B5EF4-FFF2-40B4-BE49-F238E27FC236}">
                <a16:creationId xmlns:a16="http://schemas.microsoft.com/office/drawing/2014/main" id="{4E081C44-85B4-453B-B93D-B0EE04CACF6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矩阵的压缩存储</a:t>
            </a:r>
          </a:p>
        </p:txBody>
      </p:sp>
      <p:sp>
        <p:nvSpPr>
          <p:cNvPr id="55" name="自选图形 8">
            <a:extLst>
              <a:ext uri="{FF2B5EF4-FFF2-40B4-BE49-F238E27FC236}">
                <a16:creationId xmlns:a16="http://schemas.microsoft.com/office/drawing/2014/main" id="{6E82D675-0828-4029-AD4C-17D6FDA11F2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数组的顺序表示和实现</a:t>
            </a:r>
          </a:p>
        </p:txBody>
      </p:sp>
      <p:sp>
        <p:nvSpPr>
          <p:cNvPr id="56" name="自选图形 9">
            <a:extLst>
              <a:ext uri="{FF2B5EF4-FFF2-40B4-BE49-F238E27FC236}">
                <a16:creationId xmlns:a16="http://schemas.microsoft.com/office/drawing/2014/main" id="{0C959248-DE83-4C66-BE9A-3290FBD785E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sz="1800" dirty="0">
                <a:latin typeface="+mn-lt"/>
                <a:ea typeface="+mn-ea"/>
              </a:rPr>
              <a:t>数组的定义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3BA9862D-126E-48C2-BA8F-16BBC84E19B8}"/>
              </a:ext>
            </a:extLst>
          </p:cNvPr>
          <p:cNvGrpSpPr>
            <a:grpSpLocks/>
          </p:cNvGrpSpPr>
          <p:nvPr/>
        </p:nvGrpSpPr>
        <p:grpSpPr bwMode="auto">
          <a:xfrm>
            <a:off x="2917252" y="1777453"/>
            <a:ext cx="381000" cy="381000"/>
            <a:chOff x="2078" y="1680"/>
            <a:chExt cx="1615" cy="1615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5AC0D989-3D24-4A39-8041-36AE7774870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E754EE53-FB5A-4824-A811-C4DF4CC090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6BB395A8-89FC-4A81-9A5B-000B342637A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4EEA47E6-215C-4976-AFE4-51CD05CBDB3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65A59B6C-A4C2-4240-9FED-C253A94EB14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BC4A836A-F7DE-4995-9FD4-C4C562A0775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314A1BA6-BB40-42D9-B2BB-7EF779F43D6F}"/>
              </a:ext>
            </a:extLst>
          </p:cNvPr>
          <p:cNvGrpSpPr>
            <a:grpSpLocks/>
          </p:cNvGrpSpPr>
          <p:nvPr/>
        </p:nvGrpSpPr>
        <p:grpSpPr bwMode="auto">
          <a:xfrm>
            <a:off x="3432973" y="2536918"/>
            <a:ext cx="381000" cy="381000"/>
            <a:chOff x="2078" y="1680"/>
            <a:chExt cx="1615" cy="1615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7371B438-F729-478A-95C9-D769D3133ED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67D1AA97-EE76-4710-B687-A60E4942166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75EF6BDD-DE50-42EE-A241-975EB38C1CD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82AC1286-F3AF-4C5C-84F2-7EE5C81F273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EF35A551-E2D2-48CD-8421-441ECD9653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5520C63-C4B2-4A96-8803-54E386559A2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179A5D3D-A754-4875-A6B8-F1BCB752719E}"/>
              </a:ext>
            </a:extLst>
          </p:cNvPr>
          <p:cNvGrpSpPr>
            <a:grpSpLocks/>
          </p:cNvGrpSpPr>
          <p:nvPr/>
        </p:nvGrpSpPr>
        <p:grpSpPr bwMode="auto">
          <a:xfrm>
            <a:off x="3601533" y="3421310"/>
            <a:ext cx="381000" cy="381000"/>
            <a:chOff x="2078" y="1680"/>
            <a:chExt cx="1615" cy="1615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AD01685C-12AB-48EC-8FD9-4DEFE179AC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ACD50D29-AC12-47EC-A87D-AC94ABBDD57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CBFDB990-96D9-4B26-82EF-F965A9920CD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34AB6884-5B21-4302-A1E4-1CB6E264E6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2563039F-AE8C-4054-B103-8FF04AC5F7E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DBD3CE19-6EA4-4C09-B363-027B94938EC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0439F9E-5BD7-4E74-8A22-EE4BFC91E363}"/>
              </a:ext>
            </a:extLst>
          </p:cNvPr>
          <p:cNvGrpSpPr>
            <a:grpSpLocks/>
          </p:cNvGrpSpPr>
          <p:nvPr/>
        </p:nvGrpSpPr>
        <p:grpSpPr bwMode="auto">
          <a:xfrm>
            <a:off x="3487739" y="4213473"/>
            <a:ext cx="381000" cy="381000"/>
            <a:chOff x="2078" y="1680"/>
            <a:chExt cx="1615" cy="161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37F089DE-B968-4ACC-AF25-C9A07DAC110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59EDDC8F-59EF-4D19-A1CC-AC6AB66A07F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EE7A8FCE-3389-43E1-ACF2-1227F5A107D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434D09F6-320C-4DB0-87B7-F1D4F139DEA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8B34BBF4-C5B9-497A-A6F0-79F76C6A5D4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4" y="193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0AEE0658-54C9-4493-B514-11D9DB6210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22E40EAE-7125-4D66-BBE4-D7C0A6639300}"/>
              </a:ext>
            </a:extLst>
          </p:cNvPr>
          <p:cNvGrpSpPr>
            <a:grpSpLocks/>
          </p:cNvGrpSpPr>
          <p:nvPr/>
        </p:nvGrpSpPr>
        <p:grpSpPr bwMode="auto">
          <a:xfrm>
            <a:off x="3016268" y="5055640"/>
            <a:ext cx="355600" cy="381000"/>
            <a:chOff x="2078" y="1680"/>
            <a:chExt cx="1615" cy="161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E8596DA4-8D3C-4022-AAB0-08EC8873226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189FAD81-4B6A-45F7-87FE-E2498BE6D5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5A0B7D7B-E018-4AC1-B90B-3FB1A432245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1" y="185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95B75A35-8E4E-478C-9490-03F7A606ABB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AE43F7BA-3907-45F4-9988-5894C92EBC8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8" y="193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E929C8F6-7A3B-48D0-A6A7-AD001467638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2413001" y="712788"/>
            <a:ext cx="3743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>
                <a:ea typeface="华文中宋" pitchFamily="2" charset="-122"/>
              </a:rPr>
              <a:t>5.5  </a:t>
            </a:r>
            <a:r>
              <a:rPr lang="en-US" altLang="zh-CN" sz="2400">
                <a:ea typeface="华文中宋" pitchFamily="2" charset="-122"/>
                <a:cs typeface="Arial" pitchFamily="34" charset="0"/>
              </a:rPr>
              <a:t> </a:t>
            </a:r>
            <a:r>
              <a:rPr lang="zh-CN" altLang="en-US" sz="2400">
                <a:ea typeface="华文中宋" pitchFamily="2" charset="-122"/>
              </a:rPr>
              <a:t>广义表的存储结构  </a:t>
            </a:r>
            <a:endParaRPr lang="zh-CN" altLang="en-US" sz="2400" b="0">
              <a:ea typeface="华文中宋" pitchFamily="2" charset="-122"/>
            </a:endParaRP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2413000" y="1295401"/>
            <a:ext cx="389890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/>
              <a:t>由于广义表是递归定义的 </a:t>
            </a:r>
          </a:p>
          <a:p>
            <a:pPr>
              <a:lnSpc>
                <a:spcPct val="200000"/>
              </a:lnSpc>
            </a:pPr>
            <a:r>
              <a:rPr lang="zh-CN" altLang="en-US" sz="2400"/>
              <a:t>其元素可具有不同的结构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        （原子或列表） </a:t>
            </a:r>
          </a:p>
        </p:txBody>
      </p:sp>
      <p:sp>
        <p:nvSpPr>
          <p:cNvPr id="86084" name="Rectangle 68"/>
          <p:cNvSpPr>
            <a:spLocks noChangeArrowheads="1"/>
          </p:cNvSpPr>
          <p:nvPr/>
        </p:nvSpPr>
        <p:spPr bwMode="auto">
          <a:xfrm>
            <a:off x="2413000" y="3438525"/>
            <a:ext cx="193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、首尾链表 </a:t>
            </a:r>
          </a:p>
        </p:txBody>
      </p:sp>
      <p:sp>
        <p:nvSpPr>
          <p:cNvPr id="86085" name="Text Box 69"/>
          <p:cNvSpPr txBox="1">
            <a:spLocks noChangeArrowheads="1"/>
          </p:cNvSpPr>
          <p:nvPr/>
        </p:nvSpPr>
        <p:spPr bwMode="auto">
          <a:xfrm>
            <a:off x="4006850" y="4095751"/>
            <a:ext cx="2416046" cy="58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广义表（不空） </a:t>
            </a:r>
          </a:p>
        </p:txBody>
      </p:sp>
      <p:sp>
        <p:nvSpPr>
          <p:cNvPr id="86088" name="Text Box 72"/>
          <p:cNvSpPr txBox="1">
            <a:spLocks noChangeArrowheads="1"/>
          </p:cNvSpPr>
          <p:nvPr/>
        </p:nvSpPr>
        <p:spPr bwMode="auto">
          <a:xfrm>
            <a:off x="6888163" y="1312864"/>
            <a:ext cx="3168650" cy="608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/>
              <a:t>用顺序存储结构表示 </a:t>
            </a:r>
          </a:p>
        </p:txBody>
      </p:sp>
      <p:sp>
        <p:nvSpPr>
          <p:cNvPr id="86089" name="AutoShape 73"/>
          <p:cNvSpPr>
            <a:spLocks/>
          </p:cNvSpPr>
          <p:nvPr/>
        </p:nvSpPr>
        <p:spPr bwMode="auto">
          <a:xfrm>
            <a:off x="5951538" y="1628775"/>
            <a:ext cx="144462" cy="863600"/>
          </a:xfrm>
          <a:prstGeom prst="rightBrace">
            <a:avLst>
              <a:gd name="adj1" fmla="val 498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90" name="AutoShape 74"/>
          <p:cNvSpPr>
            <a:spLocks noChangeArrowheads="1"/>
          </p:cNvSpPr>
          <p:nvPr/>
        </p:nvSpPr>
        <p:spPr bwMode="auto">
          <a:xfrm>
            <a:off x="6240464" y="1600200"/>
            <a:ext cx="719137" cy="215900"/>
          </a:xfrm>
          <a:prstGeom prst="notchedRigh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80000"/>
              </a:lnSpc>
            </a:pPr>
            <a:endParaRPr lang="zh-CN" altLang="zh-CN" sz="1800"/>
          </a:p>
        </p:txBody>
      </p:sp>
      <p:sp>
        <p:nvSpPr>
          <p:cNvPr id="86092" name="AutoShape 76"/>
          <p:cNvSpPr>
            <a:spLocks noChangeArrowheads="1"/>
          </p:cNvSpPr>
          <p:nvPr/>
        </p:nvSpPr>
        <p:spPr bwMode="auto">
          <a:xfrm>
            <a:off x="6240464" y="2314575"/>
            <a:ext cx="719137" cy="215900"/>
          </a:xfrm>
          <a:prstGeom prst="notchedRigh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80000"/>
              </a:lnSpc>
            </a:pPr>
            <a:endParaRPr lang="zh-CN" altLang="zh-CN" sz="1800"/>
          </a:p>
        </p:txBody>
      </p:sp>
      <p:sp>
        <p:nvSpPr>
          <p:cNvPr id="86093" name="Text Box 77"/>
          <p:cNvSpPr txBox="1">
            <a:spLocks noChangeArrowheads="1"/>
          </p:cNvSpPr>
          <p:nvPr/>
        </p:nvSpPr>
        <p:spPr bwMode="auto">
          <a:xfrm>
            <a:off x="6888164" y="2027239"/>
            <a:ext cx="287972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/>
              <a:t>采用链式存储结构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    （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广义链表</a:t>
            </a:r>
            <a:r>
              <a:rPr lang="zh-CN" altLang="en-US" sz="2400"/>
              <a:t>） </a:t>
            </a:r>
          </a:p>
        </p:txBody>
      </p:sp>
      <p:sp>
        <p:nvSpPr>
          <p:cNvPr id="86094" name="Text Box 78"/>
          <p:cNvSpPr txBox="1">
            <a:spLocks noChangeArrowheads="1"/>
          </p:cNvSpPr>
          <p:nvPr/>
        </p:nvSpPr>
        <p:spPr bwMode="auto">
          <a:xfrm>
            <a:off x="2424114" y="5310189"/>
            <a:ext cx="7417415" cy="58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首尾表示法就是根据这一性质设计的一种存储方法。  </a:t>
            </a:r>
          </a:p>
        </p:txBody>
      </p:sp>
      <p:sp>
        <p:nvSpPr>
          <p:cNvPr id="86095" name="AutoShape 79"/>
          <p:cNvSpPr>
            <a:spLocks noChangeArrowheads="1"/>
          </p:cNvSpPr>
          <p:nvPr/>
        </p:nvSpPr>
        <p:spPr bwMode="auto">
          <a:xfrm>
            <a:off x="5519738" y="3654426"/>
            <a:ext cx="2520950" cy="517525"/>
          </a:xfrm>
          <a:prstGeom prst="curvedDownArrow">
            <a:avLst>
              <a:gd name="adj1" fmla="val 97423"/>
              <a:gd name="adj2" fmla="val 19484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96" name="Text Box 80"/>
          <p:cNvSpPr txBox="1">
            <a:spLocks noChangeArrowheads="1"/>
          </p:cNvSpPr>
          <p:nvPr/>
        </p:nvSpPr>
        <p:spPr bwMode="auto">
          <a:xfrm>
            <a:off x="7112000" y="4086226"/>
            <a:ext cx="1821332" cy="58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表头 </a:t>
            </a:r>
            <a:r>
              <a:rPr lang="en-US" altLang="zh-CN" sz="2400"/>
              <a:t>+ </a:t>
            </a:r>
            <a:r>
              <a:rPr lang="zh-CN" altLang="en-US" sz="2400"/>
              <a:t>表尾 </a:t>
            </a:r>
          </a:p>
        </p:txBody>
      </p:sp>
      <p:sp>
        <p:nvSpPr>
          <p:cNvPr id="86097" name="Rectangle 81"/>
          <p:cNvSpPr>
            <a:spLocks noChangeArrowheads="1"/>
          </p:cNvSpPr>
          <p:nvPr/>
        </p:nvSpPr>
        <p:spPr bwMode="auto">
          <a:xfrm>
            <a:off x="6230938" y="3654425"/>
            <a:ext cx="868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分解 </a:t>
            </a:r>
          </a:p>
        </p:txBody>
      </p:sp>
      <p:sp>
        <p:nvSpPr>
          <p:cNvPr id="86098" name="AutoShape 82"/>
          <p:cNvSpPr>
            <a:spLocks noChangeArrowheads="1"/>
          </p:cNvSpPr>
          <p:nvPr/>
        </p:nvSpPr>
        <p:spPr bwMode="auto">
          <a:xfrm flipH="1">
            <a:off x="5303838" y="4733926"/>
            <a:ext cx="2520950" cy="360363"/>
          </a:xfrm>
          <a:prstGeom prst="curvedUpArrow">
            <a:avLst>
              <a:gd name="adj1" fmla="val 139912"/>
              <a:gd name="adj2" fmla="val 279823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99" name="Rectangle 83"/>
          <p:cNvSpPr>
            <a:spLocks noChangeArrowheads="1"/>
          </p:cNvSpPr>
          <p:nvPr/>
        </p:nvSpPr>
        <p:spPr bwMode="auto">
          <a:xfrm>
            <a:off x="6307138" y="4591050"/>
            <a:ext cx="868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3333FF"/>
                </a:solidFill>
                <a:latin typeface="华文新魏" pitchFamily="2" charset="-122"/>
                <a:ea typeface="华文新魏" pitchFamily="2" charset="-122"/>
              </a:rPr>
              <a:t>确定 </a:t>
            </a:r>
          </a:p>
        </p:txBody>
      </p:sp>
      <p:sp>
        <p:nvSpPr>
          <p:cNvPr id="86100" name="Text Box 84"/>
          <p:cNvSpPr txBox="1">
            <a:spLocks noChangeArrowheads="1"/>
          </p:cNvSpPr>
          <p:nvPr/>
        </p:nvSpPr>
        <p:spPr bwMode="auto">
          <a:xfrm>
            <a:off x="6148388" y="1196975"/>
            <a:ext cx="7120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5400">
                <a:solidFill>
                  <a:srgbClr val="FF3300"/>
                </a:solidFill>
              </a:rPr>
              <a:t>×</a:t>
            </a: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8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6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6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8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6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8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8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86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1" grpId="0" autoUpdateAnimBg="0"/>
      <p:bldP spid="86084" grpId="0"/>
      <p:bldP spid="86085" grpId="0" uiExpand="1" build="p"/>
      <p:bldP spid="86088" grpId="0" autoUpdateAnimBg="0"/>
      <p:bldP spid="86089" grpId="0" animBg="1"/>
      <p:bldP spid="86090" grpId="0" animBg="1"/>
      <p:bldP spid="86092" grpId="0" animBg="1"/>
      <p:bldP spid="86093" grpId="0" autoUpdateAnimBg="0"/>
      <p:bldP spid="86094" grpId="0" build="p"/>
      <p:bldP spid="86095" grpId="0" animBg="1"/>
      <p:bldP spid="86096" grpId="0" build="p"/>
      <p:bldP spid="86097" grpId="0"/>
      <p:bldP spid="86098" grpId="0" animBg="1"/>
      <p:bldP spid="86099" grpId="0"/>
      <p:bldP spid="8610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2424114" y="739775"/>
            <a:ext cx="309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 sz="2400"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结点的结构形式 </a:t>
            </a: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5942014" y="1341438"/>
            <a:ext cx="3394075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/>
              <a:t>标志域 </a:t>
            </a:r>
            <a:r>
              <a:rPr lang="en-US" altLang="zh-CN" sz="2400" i="1"/>
              <a:t>tag</a:t>
            </a:r>
            <a:r>
              <a:rPr lang="en-US" altLang="zh-CN" sz="2400"/>
              <a:t> = 1</a:t>
            </a:r>
          </a:p>
          <a:p>
            <a:pPr>
              <a:lnSpc>
                <a:spcPct val="140000"/>
              </a:lnSpc>
            </a:pPr>
            <a:r>
              <a:rPr lang="zh-CN" altLang="en-US" sz="2400"/>
              <a:t>指示表头的指针域 </a:t>
            </a:r>
            <a:r>
              <a:rPr lang="en-US" altLang="zh-CN" sz="2400" i="1"/>
              <a:t>hp</a:t>
            </a:r>
            <a:r>
              <a:rPr lang="en-US" altLang="zh-CN" sz="2400"/>
              <a:t> </a:t>
            </a:r>
          </a:p>
          <a:p>
            <a:pPr>
              <a:lnSpc>
                <a:spcPct val="140000"/>
              </a:lnSpc>
            </a:pPr>
            <a:r>
              <a:rPr lang="zh-CN" altLang="en-US" sz="2400"/>
              <a:t>指示表尾的指针域 </a:t>
            </a:r>
            <a:r>
              <a:rPr lang="en-US" altLang="zh-CN" sz="2400" i="1"/>
              <a:t>tp</a:t>
            </a:r>
            <a:r>
              <a:rPr lang="en-US" altLang="zh-CN" sz="2400"/>
              <a:t> </a:t>
            </a:r>
          </a:p>
        </p:txBody>
      </p:sp>
      <p:sp>
        <p:nvSpPr>
          <p:cNvPr id="115718" name="Rectangle 6"/>
          <p:cNvSpPr>
            <a:spLocks noChangeArrowheads="1"/>
          </p:cNvSpPr>
          <p:nvPr/>
        </p:nvSpPr>
        <p:spPr bwMode="auto">
          <a:xfrm>
            <a:off x="2855914" y="1984375"/>
            <a:ext cx="3017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/>
              <a:t>表结点由三个域组成 </a:t>
            </a:r>
          </a:p>
        </p:txBody>
      </p:sp>
      <p:sp>
        <p:nvSpPr>
          <p:cNvPr id="115719" name="AutoShape 7"/>
          <p:cNvSpPr>
            <a:spLocks/>
          </p:cNvSpPr>
          <p:nvPr/>
        </p:nvSpPr>
        <p:spPr bwMode="auto">
          <a:xfrm>
            <a:off x="5797551" y="1701801"/>
            <a:ext cx="142875" cy="1008063"/>
          </a:xfrm>
          <a:prstGeom prst="leftBrace">
            <a:avLst>
              <a:gd name="adj1" fmla="val 5879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5720" name="Group 8"/>
          <p:cNvGraphicFramePr>
            <a:graphicFrameLocks noGrp="1"/>
          </p:cNvGraphicFramePr>
          <p:nvPr/>
        </p:nvGraphicFramePr>
        <p:xfrm>
          <a:off x="6096000" y="3286125"/>
          <a:ext cx="2687638" cy="457200"/>
        </p:xfrm>
        <a:graphic>
          <a:graphicData uri="http://schemas.openxmlformats.org/drawingml/2006/table">
            <a:tbl>
              <a:tblPr/>
              <a:tblGrid>
                <a:gridCol w="110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tag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3300"/>
                        </a:gs>
                        <a:gs pos="50000">
                          <a:schemeClr val="bg1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3300"/>
                        </a:gs>
                        <a:gs pos="50000">
                          <a:schemeClr val="bg1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3300"/>
                        </a:gs>
                        <a:gs pos="50000">
                          <a:schemeClr val="bg1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5730" name="Rectangle 18"/>
          <p:cNvSpPr>
            <a:spLocks noChangeArrowheads="1"/>
          </p:cNvSpPr>
          <p:nvPr/>
        </p:nvSpPr>
        <p:spPr bwMode="auto">
          <a:xfrm>
            <a:off x="2568576" y="4516438"/>
            <a:ext cx="3400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/>
              <a:t>原子结点由两个域组成  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115731" name="Rectangle 19"/>
          <p:cNvSpPr>
            <a:spLocks noChangeArrowheads="1"/>
          </p:cNvSpPr>
          <p:nvPr/>
        </p:nvSpPr>
        <p:spPr bwMode="auto">
          <a:xfrm>
            <a:off x="5997575" y="4125913"/>
            <a:ext cx="2137124" cy="113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标志域 </a:t>
            </a:r>
            <a:r>
              <a:rPr lang="en-US" altLang="zh-CN" sz="2400" i="1"/>
              <a:t>tag</a:t>
            </a:r>
            <a:r>
              <a:rPr lang="en-US" altLang="zh-CN" sz="2400"/>
              <a:t> = 0 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值域 </a:t>
            </a:r>
            <a:r>
              <a:rPr kumimoji="0" lang="en-US" altLang="zh-CN" sz="2400" i="1"/>
              <a:t>at</a:t>
            </a:r>
            <a:r>
              <a:rPr lang="en-US" altLang="zh-CN" sz="2400" i="1"/>
              <a:t>om </a:t>
            </a:r>
          </a:p>
        </p:txBody>
      </p:sp>
      <p:sp>
        <p:nvSpPr>
          <p:cNvPr id="115732" name="AutoShape 20"/>
          <p:cNvSpPr>
            <a:spLocks/>
          </p:cNvSpPr>
          <p:nvPr/>
        </p:nvSpPr>
        <p:spPr bwMode="auto">
          <a:xfrm>
            <a:off x="5808664" y="4448175"/>
            <a:ext cx="142875" cy="649288"/>
          </a:xfrm>
          <a:prstGeom prst="leftBrace">
            <a:avLst>
              <a:gd name="adj1" fmla="val 3787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5743" name="Group 31"/>
          <p:cNvGraphicFramePr>
            <a:graphicFrameLocks noGrp="1"/>
          </p:cNvGraphicFramePr>
          <p:nvPr/>
        </p:nvGraphicFramePr>
        <p:xfrm>
          <a:off x="6096001" y="5565775"/>
          <a:ext cx="2663825" cy="4572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tag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00FF"/>
                        </a:gs>
                        <a:gs pos="50000">
                          <a:schemeClr val="bg1"/>
                        </a:gs>
                        <a:gs pos="100000">
                          <a:srgbClr val="FF00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at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om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00FF"/>
                        </a:gs>
                        <a:gs pos="50000">
                          <a:schemeClr val="bg1"/>
                        </a:gs>
                        <a:gs pos="100000">
                          <a:srgbClr val="FF00F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11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5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5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 autoUpdateAnimBg="0"/>
      <p:bldP spid="115717" grpId="0" autoUpdateAnimBg="0"/>
      <p:bldP spid="115718" grpId="0" autoUpdateAnimBg="0"/>
      <p:bldP spid="115719" grpId="0" animBg="1"/>
      <p:bldP spid="115730" grpId="0" autoUpdateAnimBg="0"/>
      <p:bldP spid="115731" grpId="0" autoUpdateAnimBg="0"/>
      <p:bldP spid="11573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2263775" y="549276"/>
            <a:ext cx="7683500" cy="578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/>
              <a:t>typedef  enum {ATOM, LIST} ElemTag;   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               // ATOM=0</a:t>
            </a:r>
            <a:r>
              <a:rPr lang="zh-CN" altLang="en-US" sz="2400"/>
              <a:t>：单元素；</a:t>
            </a:r>
            <a:r>
              <a:rPr lang="en-US" altLang="zh-CN" sz="2400"/>
              <a:t>LIST=1</a:t>
            </a:r>
            <a:r>
              <a:rPr lang="zh-CN" altLang="en-US" sz="2400"/>
              <a:t>：子表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typedef  struct  GLNode {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Elemtag  tag;   // </a:t>
            </a:r>
            <a:r>
              <a:rPr lang="zh-CN" altLang="en-US" sz="2400"/>
              <a:t>标志域，用于区分元素结点和表结点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  </a:t>
            </a:r>
            <a:r>
              <a:rPr lang="en-US" altLang="zh-CN" sz="2400"/>
              <a:t>Atomtype  atom;      // atom </a:t>
            </a:r>
            <a:r>
              <a:rPr lang="zh-CN" altLang="en-US" sz="2400"/>
              <a:t>是原子结点的值域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</a:t>
            </a:r>
            <a:r>
              <a:rPr lang="en-US" altLang="zh-CN" sz="2400"/>
              <a:t>}*GList;                           // </a:t>
            </a:r>
            <a:r>
              <a:rPr lang="zh-CN" altLang="en-US" sz="2400"/>
              <a:t>广义表类型</a:t>
            </a:r>
          </a:p>
        </p:txBody>
      </p:sp>
      <p:sp>
        <p:nvSpPr>
          <p:cNvPr id="116741" name="Rectangle 5"/>
          <p:cNvSpPr>
            <a:spLocks noChangeArrowheads="1"/>
          </p:cNvSpPr>
          <p:nvPr/>
        </p:nvSpPr>
        <p:spPr bwMode="auto">
          <a:xfrm>
            <a:off x="2263776" y="549276"/>
            <a:ext cx="7935913" cy="578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 </a:t>
            </a:r>
          </a:p>
          <a:p>
            <a:pPr>
              <a:lnSpc>
                <a:spcPct val="130000"/>
              </a:lnSpc>
            </a:pPr>
            <a:endParaRPr lang="en-US" altLang="zh-CN" sz="2400">
              <a:solidFill>
                <a:srgbClr val="0000FF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400"/>
              <a:t>typedef  struct  GLNode {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Elemtag  tag;   // </a:t>
            </a:r>
            <a:r>
              <a:rPr lang="zh-CN" altLang="en-US" sz="2400"/>
              <a:t>标志域，用于区分元素结点和表结点</a:t>
            </a:r>
            <a:r>
              <a:rPr lang="zh-CN" altLang="en-US" sz="2400">
                <a:solidFill>
                  <a:srgbClr val="0000FF"/>
                </a:solidFill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    </a:t>
            </a: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     </a:t>
            </a:r>
            <a:r>
              <a:rPr lang="en-US" altLang="zh-CN" sz="2400">
                <a:solidFill>
                  <a:schemeClr val="folHlink"/>
                </a:solidFill>
              </a:rPr>
              <a:t>Atomtype  atom;      // atom </a:t>
            </a:r>
            <a:r>
              <a:rPr lang="zh-CN" altLang="en-US" sz="2400">
                <a:solidFill>
                  <a:schemeClr val="folHlink"/>
                </a:solidFill>
              </a:rPr>
              <a:t>是原子结点的值域</a:t>
            </a:r>
            <a:r>
              <a:rPr lang="zh-CN" altLang="en-US" sz="2400"/>
              <a:t> </a:t>
            </a:r>
            <a:endParaRPr lang="zh-CN" altLang="en-US" sz="2400">
              <a:solidFill>
                <a:srgbClr val="0000FF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     </a:t>
            </a:r>
            <a:r>
              <a:rPr lang="en-US" altLang="zh-CN" sz="2400">
                <a:solidFill>
                  <a:srgbClr val="0000FF"/>
                </a:solidFill>
              </a:rPr>
              <a:t>struct </a:t>
            </a:r>
          </a:p>
          <a:p>
            <a:pPr>
              <a:lnSpc>
                <a:spcPct val="13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           {struct GLNode  *hp,  *tp; </a:t>
            </a:r>
          </a:p>
          <a:p>
            <a:pPr>
              <a:lnSpc>
                <a:spcPct val="13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           }ptr;  // ptr</a:t>
            </a:r>
            <a:r>
              <a:rPr lang="zh-CN" altLang="en-US" sz="2400">
                <a:solidFill>
                  <a:srgbClr val="0000FF"/>
                </a:solidFill>
              </a:rPr>
              <a:t>是表结点的指针域，</a:t>
            </a:r>
            <a:r>
              <a:rPr lang="en-US" altLang="zh-CN" sz="2400">
                <a:solidFill>
                  <a:srgbClr val="0000FF"/>
                </a:solidFill>
              </a:rPr>
              <a:t>ptr.hp </a:t>
            </a:r>
            <a:r>
              <a:rPr lang="zh-CN" altLang="en-US" sz="2400">
                <a:solidFill>
                  <a:srgbClr val="0000FF"/>
                </a:solidFill>
              </a:rPr>
              <a:t>和 </a:t>
            </a:r>
            <a:r>
              <a:rPr lang="en-US" altLang="zh-CN" sz="2400">
                <a:solidFill>
                  <a:srgbClr val="0000FF"/>
                </a:solidFill>
              </a:rPr>
              <a:t>ptr.tp</a:t>
            </a:r>
            <a:r>
              <a:rPr lang="zh-CN" altLang="en-US" sz="2400">
                <a:solidFill>
                  <a:srgbClr val="0000FF"/>
                </a:solidFill>
              </a:rPr>
              <a:t>分别 </a:t>
            </a: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                    </a:t>
            </a:r>
            <a:r>
              <a:rPr lang="en-US" altLang="zh-CN" sz="2400">
                <a:solidFill>
                  <a:srgbClr val="0000FF"/>
                </a:solidFill>
              </a:rPr>
              <a:t>// </a:t>
            </a:r>
            <a:r>
              <a:rPr lang="zh-CN" altLang="en-US" sz="2400">
                <a:solidFill>
                  <a:srgbClr val="0000FF"/>
                </a:solidFill>
              </a:rPr>
              <a:t>指向表头和表尾 </a:t>
            </a: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  </a:t>
            </a: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 </a:t>
            </a:r>
            <a:r>
              <a:rPr lang="en-US" altLang="zh-CN" sz="2400"/>
              <a:t>}*GList;                           // </a:t>
            </a:r>
            <a:r>
              <a:rPr lang="zh-CN" altLang="en-US" sz="2400"/>
              <a:t>广义表类型</a:t>
            </a:r>
          </a:p>
        </p:txBody>
      </p:sp>
      <p:sp>
        <p:nvSpPr>
          <p:cNvPr id="116743" name="Rectangle 7"/>
          <p:cNvSpPr>
            <a:spLocks noChangeArrowheads="1"/>
          </p:cNvSpPr>
          <p:nvPr/>
        </p:nvSpPr>
        <p:spPr bwMode="auto">
          <a:xfrm>
            <a:off x="2263776" y="549276"/>
            <a:ext cx="7935913" cy="578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/>
              <a:t>typedef  enum {ATOM, LIST} ElemTag;    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                    // ATOM=0</a:t>
            </a:r>
            <a:r>
              <a:rPr lang="zh-CN" altLang="en-US" sz="2400"/>
              <a:t>：单元素；</a:t>
            </a:r>
            <a:r>
              <a:rPr lang="en-US" altLang="zh-CN" sz="2400"/>
              <a:t>LIST=1</a:t>
            </a:r>
            <a:r>
              <a:rPr lang="zh-CN" altLang="en-US" sz="2400"/>
              <a:t>：子表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typedef  struct  GLNode {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  Elemtag  tag;   // </a:t>
            </a:r>
            <a:r>
              <a:rPr lang="zh-CN" altLang="en-US" sz="2400"/>
              <a:t>标志域，用于区分元素结点和表结点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union {             // 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元素结点和表结点的联合部分</a:t>
            </a:r>
            <a:r>
              <a:rPr lang="zh-CN" altLang="en-US" sz="2400"/>
              <a:t>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  </a:t>
            </a:r>
            <a:r>
              <a:rPr lang="en-US" altLang="zh-CN" sz="2400"/>
              <a:t>Atomtype  atom;      // atom </a:t>
            </a:r>
            <a:r>
              <a:rPr lang="zh-CN" altLang="en-US" sz="2400"/>
              <a:t>是原子结点的值域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   </a:t>
            </a:r>
            <a:r>
              <a:rPr lang="en-US" altLang="zh-CN" sz="2400">
                <a:solidFill>
                  <a:srgbClr val="0000FF"/>
                </a:solidFill>
              </a:rPr>
              <a:t>struct </a:t>
            </a:r>
          </a:p>
          <a:p>
            <a:pPr>
              <a:lnSpc>
                <a:spcPct val="13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           {struct GLNode  *hp,  *tp; </a:t>
            </a:r>
          </a:p>
          <a:p>
            <a:pPr>
              <a:lnSpc>
                <a:spcPct val="13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           }ptr;  // ptr</a:t>
            </a:r>
            <a:r>
              <a:rPr lang="zh-CN" altLang="en-US" sz="2400">
                <a:solidFill>
                  <a:srgbClr val="0000FF"/>
                </a:solidFill>
              </a:rPr>
              <a:t>是表结点的指针域，</a:t>
            </a:r>
            <a:r>
              <a:rPr lang="en-US" altLang="zh-CN" sz="2400">
                <a:solidFill>
                  <a:srgbClr val="0000FF"/>
                </a:solidFill>
              </a:rPr>
              <a:t>ptr.hp </a:t>
            </a:r>
            <a:r>
              <a:rPr lang="zh-CN" altLang="en-US" sz="2400">
                <a:solidFill>
                  <a:srgbClr val="0000FF"/>
                </a:solidFill>
              </a:rPr>
              <a:t>和 </a:t>
            </a:r>
            <a:r>
              <a:rPr lang="en-US" altLang="zh-CN" sz="2400">
                <a:solidFill>
                  <a:srgbClr val="0000FF"/>
                </a:solidFill>
              </a:rPr>
              <a:t>ptr.tp</a:t>
            </a:r>
            <a:r>
              <a:rPr lang="zh-CN" altLang="en-US" sz="2400">
                <a:solidFill>
                  <a:srgbClr val="0000FF"/>
                </a:solidFill>
              </a:rPr>
              <a:t>分别 </a:t>
            </a:r>
          </a:p>
          <a:p>
            <a:pPr>
              <a:lnSpc>
                <a:spcPct val="13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                    </a:t>
            </a:r>
            <a:r>
              <a:rPr lang="en-US" altLang="zh-CN" sz="2400">
                <a:solidFill>
                  <a:srgbClr val="0000FF"/>
                </a:solidFill>
              </a:rPr>
              <a:t>// </a:t>
            </a:r>
            <a:r>
              <a:rPr lang="zh-CN" altLang="en-US" sz="2400">
                <a:solidFill>
                  <a:srgbClr val="0000FF"/>
                </a:solidFill>
              </a:rPr>
              <a:t>指向表头和表尾</a:t>
            </a:r>
            <a:r>
              <a:rPr lang="zh-CN" altLang="en-US" sz="2400"/>
              <a:t> </a:t>
            </a:r>
          </a:p>
          <a:p>
            <a:pPr>
              <a:lnSpc>
                <a:spcPct val="130000"/>
              </a:lnSpc>
            </a:pPr>
            <a:r>
              <a:rPr lang="zh-CN" altLang="en-US" sz="2400"/>
              <a:t>   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};</a:t>
            </a:r>
          </a:p>
          <a:p>
            <a:pPr>
              <a:lnSpc>
                <a:spcPct val="130000"/>
              </a:lnSpc>
            </a:pPr>
            <a:r>
              <a:rPr lang="en-US" altLang="zh-CN" sz="2400"/>
              <a:t>  }*GList;                           // </a:t>
            </a:r>
            <a:r>
              <a:rPr lang="zh-CN" altLang="en-US" sz="2400"/>
              <a:t>广义表类型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0" grpId="0"/>
      <p:bldP spid="116741" grpId="0"/>
      <p:bldP spid="11674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2351089" y="476250"/>
            <a:ext cx="2416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4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 sz="24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结点的链接  </a:t>
            </a:r>
          </a:p>
        </p:txBody>
      </p:sp>
      <p:sp>
        <p:nvSpPr>
          <p:cNvPr id="87046" name="Text Box 6"/>
          <p:cNvSpPr txBox="1">
            <a:spLocks noChangeArrowheads="1"/>
          </p:cNvSpPr>
          <p:nvPr/>
        </p:nvSpPr>
        <p:spPr bwMode="auto">
          <a:xfrm>
            <a:off x="5080000" y="476250"/>
            <a:ext cx="915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A</a:t>
            </a:r>
            <a:r>
              <a:rPr lang="en-US" altLang="zh-CN" sz="2400"/>
              <a:t>=( ) </a:t>
            </a:r>
          </a:p>
        </p:txBody>
      </p:sp>
      <p:sp>
        <p:nvSpPr>
          <p:cNvPr id="87047" name="Text Box 7"/>
          <p:cNvSpPr txBox="1">
            <a:spLocks noChangeArrowheads="1"/>
          </p:cNvSpPr>
          <p:nvPr/>
        </p:nvSpPr>
        <p:spPr bwMode="auto">
          <a:xfrm>
            <a:off x="6094413" y="476250"/>
            <a:ext cx="1484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A</a:t>
            </a:r>
            <a:r>
              <a:rPr lang="en-US" altLang="zh-CN" sz="2400"/>
              <a:t>=NULL </a:t>
            </a:r>
          </a:p>
        </p:txBody>
      </p:sp>
      <p:sp>
        <p:nvSpPr>
          <p:cNvPr id="87048" name="Text Box 8"/>
          <p:cNvSpPr txBox="1">
            <a:spLocks noChangeArrowheads="1"/>
          </p:cNvSpPr>
          <p:nvPr/>
        </p:nvSpPr>
        <p:spPr bwMode="auto">
          <a:xfrm>
            <a:off x="2384426" y="1123950"/>
            <a:ext cx="974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B</a:t>
            </a:r>
            <a:r>
              <a:rPr lang="en-US" altLang="zh-CN" sz="2400"/>
              <a:t>=(</a:t>
            </a:r>
            <a:r>
              <a:rPr lang="en-US" altLang="zh-CN" sz="2400" i="1"/>
              <a:t>e</a:t>
            </a:r>
            <a:r>
              <a:rPr lang="en-US" altLang="zh-CN" sz="2400"/>
              <a:t>) </a:t>
            </a:r>
          </a:p>
        </p:txBody>
      </p:sp>
      <p:sp>
        <p:nvSpPr>
          <p:cNvPr id="87049" name="Text Box 9"/>
          <p:cNvSpPr txBox="1">
            <a:spLocks noChangeArrowheads="1"/>
          </p:cNvSpPr>
          <p:nvPr/>
        </p:nvSpPr>
        <p:spPr bwMode="auto">
          <a:xfrm>
            <a:off x="2371725" y="1674813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B</a:t>
            </a:r>
            <a:r>
              <a:rPr lang="en-US" altLang="zh-CN" sz="2400"/>
              <a:t> </a:t>
            </a:r>
          </a:p>
        </p:txBody>
      </p:sp>
      <p:graphicFrame>
        <p:nvGraphicFramePr>
          <p:cNvPr id="87068" name="Group 28"/>
          <p:cNvGraphicFramePr>
            <a:graphicFrameLocks noGrp="1"/>
          </p:cNvGraphicFramePr>
          <p:nvPr/>
        </p:nvGraphicFramePr>
        <p:xfrm>
          <a:off x="3108326" y="1676400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7069" name="AutoShape 29"/>
          <p:cNvCxnSpPr>
            <a:cxnSpLocks noChangeShapeType="1"/>
            <a:stCxn id="87049" idx="3"/>
            <a:endCxn id="0" idx="1"/>
          </p:cNvCxnSpPr>
          <p:nvPr/>
        </p:nvCxnSpPr>
        <p:spPr bwMode="auto">
          <a:xfrm>
            <a:off x="2835275" y="1903414"/>
            <a:ext cx="27305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aphicFrame>
        <p:nvGraphicFramePr>
          <p:cNvPr id="87091" name="Group 51"/>
          <p:cNvGraphicFramePr>
            <a:graphicFrameLocks noGrp="1"/>
          </p:cNvGraphicFramePr>
          <p:nvPr/>
        </p:nvGraphicFramePr>
        <p:xfrm>
          <a:off x="3275013" y="2395538"/>
          <a:ext cx="742950" cy="457200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093" name="Line 53"/>
          <p:cNvSpPr>
            <a:spLocks noChangeShapeType="1"/>
          </p:cNvSpPr>
          <p:nvPr/>
        </p:nvSpPr>
        <p:spPr bwMode="auto">
          <a:xfrm>
            <a:off x="3657600" y="1916114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094" name="Text Box 54"/>
          <p:cNvSpPr txBox="1">
            <a:spLocks noChangeArrowheads="1"/>
          </p:cNvSpPr>
          <p:nvPr/>
        </p:nvSpPr>
        <p:spPr bwMode="auto">
          <a:xfrm>
            <a:off x="4440239" y="1123950"/>
            <a:ext cx="2092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C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, </a:t>
            </a:r>
            <a:r>
              <a:rPr lang="en-US" altLang="zh-CN" sz="2400" i="1"/>
              <a:t>d</a:t>
            </a:r>
            <a:r>
              <a:rPr lang="en-US" altLang="zh-CN" sz="2400"/>
              <a:t>)) </a:t>
            </a:r>
          </a:p>
        </p:txBody>
      </p:sp>
      <p:sp>
        <p:nvSpPr>
          <p:cNvPr id="87095" name="Text Box 55"/>
          <p:cNvSpPr txBox="1">
            <a:spLocks noChangeArrowheads="1"/>
          </p:cNvSpPr>
          <p:nvPr/>
        </p:nvSpPr>
        <p:spPr bwMode="auto">
          <a:xfrm>
            <a:off x="4473575" y="1674813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C</a:t>
            </a:r>
            <a:r>
              <a:rPr lang="en-US" altLang="zh-CN" sz="2400"/>
              <a:t> </a:t>
            </a:r>
          </a:p>
        </p:txBody>
      </p:sp>
      <p:graphicFrame>
        <p:nvGraphicFramePr>
          <p:cNvPr id="87096" name="Group 56"/>
          <p:cNvGraphicFramePr>
            <a:graphicFrameLocks noGrp="1"/>
          </p:cNvGraphicFramePr>
          <p:nvPr/>
        </p:nvGraphicFramePr>
        <p:xfrm>
          <a:off x="5210176" y="1676400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7106" name="AutoShape 66"/>
          <p:cNvCxnSpPr>
            <a:cxnSpLocks noChangeShapeType="1"/>
            <a:stCxn id="87095" idx="3"/>
            <a:endCxn id="0" idx="1"/>
          </p:cNvCxnSpPr>
          <p:nvPr/>
        </p:nvCxnSpPr>
        <p:spPr bwMode="auto">
          <a:xfrm>
            <a:off x="4937125" y="1903414"/>
            <a:ext cx="27305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aphicFrame>
        <p:nvGraphicFramePr>
          <p:cNvPr id="87107" name="Group 67"/>
          <p:cNvGraphicFramePr>
            <a:graphicFrameLocks noGrp="1"/>
          </p:cNvGraphicFramePr>
          <p:nvPr/>
        </p:nvGraphicFramePr>
        <p:xfrm>
          <a:off x="5376863" y="2395538"/>
          <a:ext cx="742950" cy="457200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115" name="Line 75"/>
          <p:cNvSpPr>
            <a:spLocks noChangeShapeType="1"/>
          </p:cNvSpPr>
          <p:nvPr/>
        </p:nvSpPr>
        <p:spPr bwMode="auto">
          <a:xfrm>
            <a:off x="5759450" y="1916114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7116" name="Group 76"/>
          <p:cNvGraphicFramePr>
            <a:graphicFrameLocks noGrp="1"/>
          </p:cNvGraphicFramePr>
          <p:nvPr/>
        </p:nvGraphicFramePr>
        <p:xfrm>
          <a:off x="6505576" y="1676400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127" name="Text Box 87"/>
          <p:cNvSpPr txBox="1">
            <a:spLocks noChangeArrowheads="1"/>
          </p:cNvSpPr>
          <p:nvPr/>
        </p:nvSpPr>
        <p:spPr bwMode="auto">
          <a:xfrm>
            <a:off x="6413500" y="1123950"/>
            <a:ext cx="1411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((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, </a:t>
            </a:r>
            <a:r>
              <a:rPr lang="en-US" altLang="zh-CN" sz="2400" i="1"/>
              <a:t>d</a:t>
            </a:r>
            <a:r>
              <a:rPr lang="en-US" altLang="zh-CN" sz="2400"/>
              <a:t>)) </a:t>
            </a:r>
          </a:p>
        </p:txBody>
      </p:sp>
      <p:sp>
        <p:nvSpPr>
          <p:cNvPr id="87128" name="Line 88"/>
          <p:cNvSpPr>
            <a:spLocks noChangeShapeType="1"/>
          </p:cNvSpPr>
          <p:nvPr/>
        </p:nvSpPr>
        <p:spPr bwMode="auto">
          <a:xfrm>
            <a:off x="7032625" y="1916114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7129" name="Group 89"/>
          <p:cNvGraphicFramePr>
            <a:graphicFrameLocks noGrp="1"/>
          </p:cNvGraphicFramePr>
          <p:nvPr/>
        </p:nvGraphicFramePr>
        <p:xfrm>
          <a:off x="6505576" y="2395538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139" name="Line 99"/>
          <p:cNvSpPr>
            <a:spLocks noChangeShapeType="1"/>
          </p:cNvSpPr>
          <p:nvPr/>
        </p:nvSpPr>
        <p:spPr bwMode="auto">
          <a:xfrm>
            <a:off x="7032625" y="2636839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7140" name="Group 100"/>
          <p:cNvGraphicFramePr>
            <a:graphicFrameLocks noGrp="1"/>
          </p:cNvGraphicFramePr>
          <p:nvPr/>
        </p:nvGraphicFramePr>
        <p:xfrm>
          <a:off x="6650038" y="3116263"/>
          <a:ext cx="742950" cy="457200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148" name="Group 108"/>
          <p:cNvGraphicFramePr>
            <a:graphicFrameLocks noGrp="1"/>
          </p:cNvGraphicFramePr>
          <p:nvPr/>
        </p:nvGraphicFramePr>
        <p:xfrm>
          <a:off x="7778751" y="2419350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159" name="Text Box 119"/>
          <p:cNvSpPr txBox="1">
            <a:spLocks noChangeArrowheads="1"/>
          </p:cNvSpPr>
          <p:nvPr/>
        </p:nvSpPr>
        <p:spPr bwMode="auto">
          <a:xfrm>
            <a:off x="7905750" y="1890713"/>
            <a:ext cx="903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(</a:t>
            </a:r>
            <a:r>
              <a:rPr lang="en-US" altLang="zh-CN" sz="2400" i="1"/>
              <a:t>c</a:t>
            </a:r>
            <a:r>
              <a:rPr lang="en-US" altLang="zh-CN" sz="2400"/>
              <a:t>, </a:t>
            </a:r>
            <a:r>
              <a:rPr lang="en-US" altLang="zh-CN" sz="2400" i="1"/>
              <a:t>d</a:t>
            </a:r>
            <a:r>
              <a:rPr lang="en-US" altLang="zh-CN" sz="2400"/>
              <a:t>) </a:t>
            </a:r>
          </a:p>
        </p:txBody>
      </p:sp>
      <p:sp>
        <p:nvSpPr>
          <p:cNvPr id="87160" name="Text Box 120"/>
          <p:cNvSpPr txBox="1">
            <a:spLocks noChangeArrowheads="1"/>
          </p:cNvSpPr>
          <p:nvPr/>
        </p:nvSpPr>
        <p:spPr bwMode="auto">
          <a:xfrm>
            <a:off x="7840664" y="1123950"/>
            <a:ext cx="1208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, </a:t>
            </a:r>
            <a:r>
              <a:rPr lang="en-US" altLang="zh-CN" sz="2400" i="1"/>
              <a:t>d</a:t>
            </a:r>
            <a:r>
              <a:rPr lang="en-US" altLang="zh-CN" sz="2400"/>
              <a:t>) </a:t>
            </a:r>
          </a:p>
        </p:txBody>
      </p:sp>
      <p:sp>
        <p:nvSpPr>
          <p:cNvPr id="87161" name="Line 121"/>
          <p:cNvSpPr>
            <a:spLocks noChangeShapeType="1"/>
          </p:cNvSpPr>
          <p:nvPr/>
        </p:nvSpPr>
        <p:spPr bwMode="auto">
          <a:xfrm rot="10530646" flipV="1">
            <a:off x="7464425" y="1555750"/>
            <a:ext cx="647700" cy="86360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162" name="Line 122"/>
          <p:cNvSpPr>
            <a:spLocks noChangeShapeType="1"/>
          </p:cNvSpPr>
          <p:nvPr/>
        </p:nvSpPr>
        <p:spPr bwMode="auto">
          <a:xfrm>
            <a:off x="8328025" y="2635250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7163" name="Group 123"/>
          <p:cNvGraphicFramePr>
            <a:graphicFrameLocks noGrp="1"/>
          </p:cNvGraphicFramePr>
          <p:nvPr/>
        </p:nvGraphicFramePr>
        <p:xfrm>
          <a:off x="7945438" y="3114675"/>
          <a:ext cx="742950" cy="457200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171" name="Group 131"/>
          <p:cNvGraphicFramePr>
            <a:graphicFrameLocks noGrp="1"/>
          </p:cNvGraphicFramePr>
          <p:nvPr/>
        </p:nvGraphicFramePr>
        <p:xfrm>
          <a:off x="9096376" y="2420938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182" name="Text Box 142"/>
          <p:cNvSpPr txBox="1">
            <a:spLocks noChangeArrowheads="1"/>
          </p:cNvSpPr>
          <p:nvPr/>
        </p:nvSpPr>
        <p:spPr bwMode="auto">
          <a:xfrm>
            <a:off x="9369425" y="1892300"/>
            <a:ext cx="615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(</a:t>
            </a:r>
            <a:r>
              <a:rPr lang="en-US" altLang="zh-CN" sz="2400" i="1"/>
              <a:t>d</a:t>
            </a:r>
            <a:r>
              <a:rPr lang="en-US" altLang="zh-CN" sz="2400"/>
              <a:t>) </a:t>
            </a:r>
          </a:p>
        </p:txBody>
      </p:sp>
      <p:sp>
        <p:nvSpPr>
          <p:cNvPr id="87183" name="Line 143"/>
          <p:cNvSpPr>
            <a:spLocks noChangeShapeType="1"/>
          </p:cNvSpPr>
          <p:nvPr/>
        </p:nvSpPr>
        <p:spPr bwMode="auto">
          <a:xfrm>
            <a:off x="9645650" y="2636839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7184" name="Group 144"/>
          <p:cNvGraphicFramePr>
            <a:graphicFrameLocks noGrp="1"/>
          </p:cNvGraphicFramePr>
          <p:nvPr/>
        </p:nvGraphicFramePr>
        <p:xfrm>
          <a:off x="9263063" y="3116263"/>
          <a:ext cx="742950" cy="457200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192" name="Line 152"/>
          <p:cNvSpPr>
            <a:spLocks noChangeShapeType="1"/>
          </p:cNvSpPr>
          <p:nvPr/>
        </p:nvSpPr>
        <p:spPr bwMode="auto">
          <a:xfrm>
            <a:off x="8736013" y="263525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193" name="Line 153"/>
          <p:cNvSpPr>
            <a:spLocks noChangeShapeType="1"/>
          </p:cNvSpPr>
          <p:nvPr/>
        </p:nvSpPr>
        <p:spPr bwMode="auto">
          <a:xfrm>
            <a:off x="7440613" y="263525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194" name="Line 154"/>
          <p:cNvSpPr>
            <a:spLocks noChangeShapeType="1"/>
          </p:cNvSpPr>
          <p:nvPr/>
        </p:nvSpPr>
        <p:spPr bwMode="auto">
          <a:xfrm>
            <a:off x="6167438" y="1916113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195" name="Text Box 155"/>
          <p:cNvSpPr txBox="1">
            <a:spLocks noChangeArrowheads="1"/>
          </p:cNvSpPr>
          <p:nvPr/>
        </p:nvSpPr>
        <p:spPr bwMode="auto">
          <a:xfrm>
            <a:off x="2351088" y="3835400"/>
            <a:ext cx="481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D</a:t>
            </a:r>
            <a:r>
              <a:rPr lang="en-US" altLang="zh-CN" sz="2400"/>
              <a:t> </a:t>
            </a:r>
          </a:p>
        </p:txBody>
      </p:sp>
      <p:graphicFrame>
        <p:nvGraphicFramePr>
          <p:cNvPr id="87196" name="Group 156"/>
          <p:cNvGraphicFramePr>
            <a:graphicFrameLocks noGrp="1"/>
          </p:cNvGraphicFramePr>
          <p:nvPr/>
        </p:nvGraphicFramePr>
        <p:xfrm>
          <a:off x="3087688" y="3836988"/>
          <a:ext cx="1103312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7206" name="AutoShape 166"/>
          <p:cNvCxnSpPr>
            <a:cxnSpLocks noChangeShapeType="1"/>
            <a:stCxn id="87195" idx="3"/>
            <a:endCxn id="0" idx="1"/>
          </p:cNvCxnSpPr>
          <p:nvPr/>
        </p:nvCxnSpPr>
        <p:spPr bwMode="auto">
          <a:xfrm>
            <a:off x="2832100" y="4064000"/>
            <a:ext cx="2555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aphicFrame>
        <p:nvGraphicFramePr>
          <p:cNvPr id="87289" name="Group 249"/>
          <p:cNvGraphicFramePr>
            <a:graphicFrameLocks noGrp="1"/>
          </p:cNvGraphicFramePr>
          <p:nvPr/>
        </p:nvGraphicFramePr>
        <p:xfrm>
          <a:off x="4383088" y="3836988"/>
          <a:ext cx="1103312" cy="457200"/>
        </p:xfrm>
        <a:graphic>
          <a:graphicData uri="http://schemas.openxmlformats.org/drawingml/2006/table">
            <a:tbl>
              <a:tblPr/>
              <a:tblGrid>
                <a:gridCol w="344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217" name="Line 177"/>
          <p:cNvSpPr>
            <a:spLocks noChangeShapeType="1"/>
          </p:cNvSpPr>
          <p:nvPr/>
        </p:nvSpPr>
        <p:spPr bwMode="auto">
          <a:xfrm>
            <a:off x="4044951" y="40767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18" name="Text Box 178"/>
          <p:cNvSpPr txBox="1">
            <a:spLocks noChangeArrowheads="1"/>
          </p:cNvSpPr>
          <p:nvPr/>
        </p:nvSpPr>
        <p:spPr bwMode="auto">
          <a:xfrm>
            <a:off x="2379663" y="3284538"/>
            <a:ext cx="1771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D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) </a:t>
            </a:r>
          </a:p>
        </p:txBody>
      </p:sp>
      <p:sp>
        <p:nvSpPr>
          <p:cNvPr id="87219" name="Text Box 179"/>
          <p:cNvSpPr txBox="1">
            <a:spLocks noChangeArrowheads="1"/>
          </p:cNvSpPr>
          <p:nvPr/>
        </p:nvSpPr>
        <p:spPr bwMode="auto">
          <a:xfrm>
            <a:off x="4468813" y="4338638"/>
            <a:ext cx="102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(</a:t>
            </a:r>
            <a:r>
              <a:rPr lang="en-US" altLang="zh-CN" sz="2400" i="1"/>
              <a:t>B, C</a:t>
            </a:r>
            <a:r>
              <a:rPr lang="en-US" altLang="zh-CN" sz="2400"/>
              <a:t>) </a:t>
            </a:r>
          </a:p>
        </p:txBody>
      </p:sp>
      <p:sp>
        <p:nvSpPr>
          <p:cNvPr id="87220" name="Line 180"/>
          <p:cNvSpPr>
            <a:spLocks noChangeShapeType="1"/>
          </p:cNvSpPr>
          <p:nvPr/>
        </p:nvSpPr>
        <p:spPr bwMode="auto">
          <a:xfrm flipV="1">
            <a:off x="4943475" y="3211514"/>
            <a:ext cx="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22" name="Line 182"/>
          <p:cNvSpPr>
            <a:spLocks noChangeShapeType="1"/>
          </p:cNvSpPr>
          <p:nvPr/>
        </p:nvSpPr>
        <p:spPr bwMode="auto">
          <a:xfrm flipH="1">
            <a:off x="2927351" y="3211513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23" name="Line 183"/>
          <p:cNvSpPr>
            <a:spLocks noChangeShapeType="1"/>
          </p:cNvSpPr>
          <p:nvPr/>
        </p:nvSpPr>
        <p:spPr bwMode="auto">
          <a:xfrm flipV="1">
            <a:off x="2927350" y="1916113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24" name="Line 184"/>
          <p:cNvSpPr>
            <a:spLocks noChangeShapeType="1"/>
          </p:cNvSpPr>
          <p:nvPr/>
        </p:nvSpPr>
        <p:spPr bwMode="auto">
          <a:xfrm>
            <a:off x="5303838" y="407670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7225" name="Group 185"/>
          <p:cNvGraphicFramePr>
            <a:graphicFrameLocks noGrp="1"/>
          </p:cNvGraphicFramePr>
          <p:nvPr/>
        </p:nvGraphicFramePr>
        <p:xfrm>
          <a:off x="5664201" y="3836988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235" name="Text Box 195"/>
          <p:cNvSpPr txBox="1">
            <a:spLocks noChangeArrowheads="1"/>
          </p:cNvSpPr>
          <p:nvPr/>
        </p:nvSpPr>
        <p:spPr bwMode="auto">
          <a:xfrm>
            <a:off x="5934075" y="4338638"/>
            <a:ext cx="66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(</a:t>
            </a:r>
            <a:r>
              <a:rPr lang="en-US" altLang="zh-CN" sz="2400" i="1"/>
              <a:t>C</a:t>
            </a:r>
            <a:r>
              <a:rPr lang="en-US" altLang="zh-CN" sz="2400"/>
              <a:t>) </a:t>
            </a:r>
          </a:p>
        </p:txBody>
      </p:sp>
      <p:sp>
        <p:nvSpPr>
          <p:cNvPr id="87236" name="Line 196"/>
          <p:cNvSpPr>
            <a:spLocks noChangeShapeType="1"/>
          </p:cNvSpPr>
          <p:nvPr/>
        </p:nvSpPr>
        <p:spPr bwMode="auto">
          <a:xfrm flipV="1">
            <a:off x="6240463" y="3211514"/>
            <a:ext cx="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37" name="Line 197"/>
          <p:cNvSpPr>
            <a:spLocks noChangeShapeType="1"/>
          </p:cNvSpPr>
          <p:nvPr/>
        </p:nvSpPr>
        <p:spPr bwMode="auto">
          <a:xfrm flipH="1">
            <a:off x="5087939" y="321151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38" name="Line 198"/>
          <p:cNvSpPr>
            <a:spLocks noChangeShapeType="1"/>
          </p:cNvSpPr>
          <p:nvPr/>
        </p:nvSpPr>
        <p:spPr bwMode="auto">
          <a:xfrm flipV="1">
            <a:off x="5087938" y="1916113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39" name="Text Box 199"/>
          <p:cNvSpPr txBox="1">
            <a:spLocks noChangeArrowheads="1"/>
          </p:cNvSpPr>
          <p:nvPr/>
        </p:nvSpPr>
        <p:spPr bwMode="auto">
          <a:xfrm>
            <a:off x="2351089" y="4579938"/>
            <a:ext cx="1347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E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</a:t>
            </a:r>
            <a:r>
              <a:rPr lang="en-US" altLang="zh-CN" sz="2400" i="1"/>
              <a:t>E</a:t>
            </a:r>
            <a:r>
              <a:rPr lang="en-US" altLang="zh-CN" sz="2400"/>
              <a:t>) </a:t>
            </a:r>
          </a:p>
        </p:txBody>
      </p:sp>
      <p:sp>
        <p:nvSpPr>
          <p:cNvPr id="87240" name="Text Box 200"/>
          <p:cNvSpPr txBox="1">
            <a:spLocks noChangeArrowheads="1"/>
          </p:cNvSpPr>
          <p:nvPr/>
        </p:nvSpPr>
        <p:spPr bwMode="auto">
          <a:xfrm>
            <a:off x="3105150" y="5108575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E</a:t>
            </a:r>
            <a:r>
              <a:rPr lang="en-US" altLang="zh-CN" sz="2400"/>
              <a:t> </a:t>
            </a:r>
          </a:p>
        </p:txBody>
      </p:sp>
      <p:graphicFrame>
        <p:nvGraphicFramePr>
          <p:cNvPr id="87241" name="Group 201"/>
          <p:cNvGraphicFramePr>
            <a:graphicFrameLocks noGrp="1"/>
          </p:cNvGraphicFramePr>
          <p:nvPr/>
        </p:nvGraphicFramePr>
        <p:xfrm>
          <a:off x="3841751" y="5110163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7251" name="AutoShape 211"/>
          <p:cNvCxnSpPr>
            <a:cxnSpLocks noChangeShapeType="1"/>
            <a:stCxn id="87240" idx="3"/>
            <a:endCxn id="0" idx="1"/>
          </p:cNvCxnSpPr>
          <p:nvPr/>
        </p:nvCxnSpPr>
        <p:spPr bwMode="auto">
          <a:xfrm>
            <a:off x="3568700" y="5337175"/>
            <a:ext cx="27305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aphicFrame>
        <p:nvGraphicFramePr>
          <p:cNvPr id="87252" name="Group 212"/>
          <p:cNvGraphicFramePr>
            <a:graphicFrameLocks noGrp="1"/>
          </p:cNvGraphicFramePr>
          <p:nvPr/>
        </p:nvGraphicFramePr>
        <p:xfrm>
          <a:off x="5137151" y="5110163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262" name="Line 222"/>
          <p:cNvSpPr>
            <a:spLocks noChangeShapeType="1"/>
          </p:cNvSpPr>
          <p:nvPr/>
        </p:nvSpPr>
        <p:spPr bwMode="auto">
          <a:xfrm>
            <a:off x="4799013" y="5349875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74" name="Line 234"/>
          <p:cNvSpPr>
            <a:spLocks noChangeShapeType="1"/>
          </p:cNvSpPr>
          <p:nvPr/>
        </p:nvSpPr>
        <p:spPr bwMode="auto">
          <a:xfrm flipV="1">
            <a:off x="5721350" y="4892675"/>
            <a:ext cx="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75" name="Line 235"/>
          <p:cNvSpPr>
            <a:spLocks noChangeShapeType="1"/>
          </p:cNvSpPr>
          <p:nvPr/>
        </p:nvSpPr>
        <p:spPr bwMode="auto">
          <a:xfrm flipH="1">
            <a:off x="3705226" y="4892675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76" name="Line 236"/>
          <p:cNvSpPr>
            <a:spLocks noChangeShapeType="1"/>
          </p:cNvSpPr>
          <p:nvPr/>
        </p:nvSpPr>
        <p:spPr bwMode="auto">
          <a:xfrm>
            <a:off x="3705225" y="489267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7277" name="Group 237"/>
          <p:cNvGraphicFramePr>
            <a:graphicFrameLocks noGrp="1"/>
          </p:cNvGraphicFramePr>
          <p:nvPr/>
        </p:nvGraphicFramePr>
        <p:xfrm>
          <a:off x="3992563" y="5803900"/>
          <a:ext cx="742950" cy="457200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285" name="Line 245"/>
          <p:cNvSpPr>
            <a:spLocks noChangeShapeType="1"/>
          </p:cNvSpPr>
          <p:nvPr/>
        </p:nvSpPr>
        <p:spPr bwMode="auto">
          <a:xfrm>
            <a:off x="4375150" y="5324475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7286" name="Text Box 246"/>
          <p:cNvSpPr txBox="1">
            <a:spLocks noChangeArrowheads="1"/>
          </p:cNvSpPr>
          <p:nvPr/>
        </p:nvSpPr>
        <p:spPr bwMode="auto">
          <a:xfrm>
            <a:off x="5432425" y="5659438"/>
            <a:ext cx="66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/>
              <a:t>(</a:t>
            </a:r>
            <a:r>
              <a:rPr lang="en-US" altLang="zh-CN" sz="2400" i="1"/>
              <a:t>E</a:t>
            </a:r>
            <a:r>
              <a:rPr lang="en-US" altLang="zh-CN" sz="2400"/>
              <a:t>) </a:t>
            </a:r>
          </a:p>
        </p:txBody>
      </p:sp>
      <p:sp>
        <p:nvSpPr>
          <p:cNvPr id="87287" name="Text Box 247"/>
          <p:cNvSpPr txBox="1">
            <a:spLocks noChangeArrowheads="1"/>
          </p:cNvSpPr>
          <p:nvPr/>
        </p:nvSpPr>
        <p:spPr bwMode="auto">
          <a:xfrm>
            <a:off x="7340601" y="3859213"/>
            <a:ext cx="2797175" cy="1306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/>
              <a:t>采用首尾表示法容 </a:t>
            </a:r>
          </a:p>
          <a:p>
            <a:pPr>
              <a:lnSpc>
                <a:spcPct val="110000"/>
              </a:lnSpc>
            </a:pPr>
            <a:r>
              <a:rPr lang="zh-CN" altLang="en-US" sz="2400"/>
              <a:t>易分清列表中原子 </a:t>
            </a:r>
          </a:p>
          <a:p>
            <a:pPr>
              <a:lnSpc>
                <a:spcPct val="110000"/>
              </a:lnSpc>
            </a:pPr>
            <a:r>
              <a:rPr lang="zh-CN" altLang="en-US" sz="2400"/>
              <a:t>或子表所在的层次  </a:t>
            </a:r>
          </a:p>
        </p:txBody>
      </p:sp>
      <p:sp>
        <p:nvSpPr>
          <p:cNvPr id="87288" name="Rectangle 248"/>
          <p:cNvSpPr>
            <a:spLocks noChangeArrowheads="1"/>
          </p:cNvSpPr>
          <p:nvPr/>
        </p:nvSpPr>
        <p:spPr bwMode="auto">
          <a:xfrm>
            <a:off x="7104063" y="5295901"/>
            <a:ext cx="3027362" cy="904875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/>
              <a:t>最高层的表结点的个 </a:t>
            </a:r>
          </a:p>
          <a:p>
            <a:pPr>
              <a:lnSpc>
                <a:spcPct val="110000"/>
              </a:lnSpc>
            </a:pPr>
            <a:r>
              <a:rPr lang="zh-CN" altLang="en-US" sz="2400"/>
              <a:t>数即为广义表的长度 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7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7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7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8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7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7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8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7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87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8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8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87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87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7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7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8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8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87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87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87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87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8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87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87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8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8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8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8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8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8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8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00"/>
                            </p:stCondLst>
                            <p:childTnLst>
                              <p:par>
                                <p:cTn id="20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3" dur="500"/>
                                        <p:tgtEl>
                                          <p:spTgt spid="8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8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87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87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8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8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8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1" dur="500"/>
                                        <p:tgtEl>
                                          <p:spTgt spid="8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8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8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8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500"/>
                            </p:stCondLst>
                            <p:childTnLst>
                              <p:par>
                                <p:cTn id="2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8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000"/>
                            </p:stCondLst>
                            <p:childTnLst>
                              <p:par>
                                <p:cTn id="2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8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8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500"/>
                            </p:stCondLst>
                            <p:childTnLst>
                              <p:par>
                                <p:cTn id="26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87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87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87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87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87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00"/>
                            </p:stCondLst>
                            <p:childTnLst>
                              <p:par>
                                <p:cTn id="2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8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87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500"/>
                            </p:stCondLst>
                            <p:childTnLst>
                              <p:par>
                                <p:cTn id="2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7" dur="500"/>
                                        <p:tgtEl>
                                          <p:spTgt spid="87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1000"/>
                            </p:stCondLst>
                            <p:childTnLst>
                              <p:par>
                                <p:cTn id="2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1" dur="500"/>
                                        <p:tgtEl>
                                          <p:spTgt spid="87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87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87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2" dur="1000"/>
                                        <p:tgtEl>
                                          <p:spTgt spid="8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6" grpId="0" autoUpdateAnimBg="0"/>
      <p:bldP spid="87047" grpId="0" autoUpdateAnimBg="0"/>
      <p:bldP spid="87048" grpId="0" autoUpdateAnimBg="0"/>
      <p:bldP spid="87049" grpId="0" autoUpdateAnimBg="0"/>
      <p:bldP spid="87093" grpId="0" animBg="1"/>
      <p:bldP spid="87094" grpId="0" autoUpdateAnimBg="0"/>
      <p:bldP spid="87095" grpId="0" autoUpdateAnimBg="0"/>
      <p:bldP spid="87115" grpId="0" animBg="1"/>
      <p:bldP spid="87127" grpId="0" autoUpdateAnimBg="0"/>
      <p:bldP spid="87128" grpId="0" animBg="1"/>
      <p:bldP spid="87139" grpId="0" animBg="1"/>
      <p:bldP spid="87159" grpId="0" autoUpdateAnimBg="0"/>
      <p:bldP spid="87160" grpId="0" autoUpdateAnimBg="0"/>
      <p:bldP spid="87161" grpId="0" animBg="1"/>
      <p:bldP spid="87162" grpId="0" animBg="1"/>
      <p:bldP spid="87182" grpId="0" autoUpdateAnimBg="0"/>
      <p:bldP spid="87183" grpId="0" animBg="1"/>
      <p:bldP spid="87192" grpId="0" animBg="1"/>
      <p:bldP spid="87193" grpId="0" animBg="1"/>
      <p:bldP spid="87194" grpId="0" animBg="1"/>
      <p:bldP spid="87195" grpId="0" autoUpdateAnimBg="0"/>
      <p:bldP spid="87217" grpId="0" animBg="1"/>
      <p:bldP spid="87218" grpId="0" autoUpdateAnimBg="0"/>
      <p:bldP spid="87219" grpId="0" autoUpdateAnimBg="0"/>
      <p:bldP spid="87220" grpId="0" animBg="1"/>
      <p:bldP spid="87222" grpId="0" animBg="1"/>
      <p:bldP spid="87223" grpId="0" animBg="1"/>
      <p:bldP spid="87224" grpId="0" animBg="1"/>
      <p:bldP spid="87235" grpId="0" autoUpdateAnimBg="0"/>
      <p:bldP spid="87236" grpId="0" animBg="1"/>
      <p:bldP spid="87237" grpId="0" animBg="1"/>
      <p:bldP spid="87238" grpId="0" animBg="1"/>
      <p:bldP spid="87239" grpId="0" autoUpdateAnimBg="0"/>
      <p:bldP spid="87240" grpId="0" autoUpdateAnimBg="0"/>
      <p:bldP spid="87262" grpId="0" animBg="1"/>
      <p:bldP spid="87274" grpId="0" animBg="1"/>
      <p:bldP spid="87275" grpId="0" animBg="1"/>
      <p:bldP spid="87276" grpId="0" animBg="1"/>
      <p:bldP spid="87285" grpId="0" animBg="1"/>
      <p:bldP spid="87286" grpId="0" autoUpdateAnimBg="0"/>
      <p:bldP spid="87287" grpId="0" animBg="1" autoUpdateAnimBg="0"/>
      <p:bldP spid="87288" grpId="0" animBg="1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Text Box 5"/>
          <p:cNvSpPr txBox="1">
            <a:spLocks noChangeArrowheads="1"/>
          </p:cNvSpPr>
          <p:nvPr/>
        </p:nvSpPr>
        <p:spPr bwMode="auto">
          <a:xfrm>
            <a:off x="2279650" y="476250"/>
            <a:ext cx="5327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zh-CN" altLang="en-US" sz="2400">
                <a:solidFill>
                  <a:srgbClr val="0000FF"/>
                </a:solidFill>
                <a:ea typeface="华文中宋" pitchFamily="2" charset="-122"/>
              </a:rPr>
              <a:t>、扩展线性</a:t>
            </a:r>
            <a:r>
              <a:rPr lang="zh-CN" altLang="en-US" sz="24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链表（</a:t>
            </a:r>
            <a:r>
              <a:rPr lang="zh-CN" altLang="en-US" sz="2400">
                <a:solidFill>
                  <a:srgbClr val="0000FF"/>
                </a:solidFill>
              </a:rPr>
              <a:t>孩子兄弟链表</a:t>
            </a:r>
            <a:r>
              <a:rPr lang="zh-CN" altLang="en-US" sz="24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） </a:t>
            </a:r>
          </a:p>
        </p:txBody>
      </p:sp>
      <p:sp>
        <p:nvSpPr>
          <p:cNvPr id="117766" name="Rectangle 6"/>
          <p:cNvSpPr>
            <a:spLocks noChangeArrowheads="1"/>
          </p:cNvSpPr>
          <p:nvPr/>
        </p:nvSpPr>
        <p:spPr bwMode="auto">
          <a:xfrm>
            <a:off x="1635126" y="1412876"/>
            <a:ext cx="736917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/>
              <a:t>        </a:t>
            </a:r>
            <a:r>
              <a:rPr lang="zh-CN" altLang="en-US" sz="2400"/>
              <a:t>两种结点形式：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有孩子结点</a:t>
            </a:r>
            <a:r>
              <a:rPr lang="zh-CN" altLang="en-US" sz="2400"/>
              <a:t>，用以表示</a:t>
            </a:r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列表</a:t>
            </a:r>
            <a:r>
              <a:rPr lang="zh-CN" altLang="en-US" sz="2400"/>
              <a:t>；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                                    </a:t>
            </a:r>
            <a:r>
              <a:rPr lang="zh-CN" altLang="en-US" sz="2400">
                <a:solidFill>
                  <a:srgbClr val="0000FF"/>
                </a:solidFill>
              </a:rPr>
              <a:t>无孩子结点</a:t>
            </a:r>
            <a:r>
              <a:rPr lang="zh-CN" altLang="en-US" sz="2400"/>
              <a:t>，用以表示</a:t>
            </a:r>
            <a:r>
              <a:rPr lang="zh-CN" altLang="en-US" sz="2400">
                <a:solidFill>
                  <a:srgbClr val="0000FF"/>
                </a:solidFill>
              </a:rPr>
              <a:t>单元素</a:t>
            </a:r>
            <a:r>
              <a:rPr lang="zh-CN" altLang="en-US" sz="2400"/>
              <a:t>。  </a:t>
            </a:r>
          </a:p>
        </p:txBody>
      </p:sp>
      <p:sp>
        <p:nvSpPr>
          <p:cNvPr id="117767" name="Text Box 7"/>
          <p:cNvSpPr txBox="1">
            <a:spLocks noChangeArrowheads="1"/>
          </p:cNvSpPr>
          <p:nvPr/>
        </p:nvSpPr>
        <p:spPr bwMode="auto">
          <a:xfrm>
            <a:off x="2279650" y="955675"/>
            <a:ext cx="3168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 sz="2400">
                <a:ea typeface="华文中宋" pitchFamily="2" charset="-122"/>
              </a:rPr>
              <a:t>   </a:t>
            </a:r>
            <a:r>
              <a:rPr lang="zh-CN" altLang="en-US" sz="2400">
                <a:latin typeface="华文中宋" pitchFamily="2" charset="-122"/>
                <a:ea typeface="华文中宋" pitchFamily="2" charset="-122"/>
              </a:rPr>
              <a:t>结点的结构形式 </a:t>
            </a:r>
          </a:p>
        </p:txBody>
      </p:sp>
      <p:graphicFrame>
        <p:nvGraphicFramePr>
          <p:cNvPr id="117768" name="Group 8"/>
          <p:cNvGraphicFramePr>
            <a:graphicFrameLocks noGrp="1"/>
          </p:cNvGraphicFramePr>
          <p:nvPr/>
        </p:nvGraphicFramePr>
        <p:xfrm>
          <a:off x="2679700" y="3405188"/>
          <a:ext cx="2687638" cy="457200"/>
        </p:xfrm>
        <a:graphic>
          <a:graphicData uri="http://schemas.openxmlformats.org/drawingml/2006/table">
            <a:tbl>
              <a:tblPr/>
              <a:tblGrid>
                <a:gridCol w="110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tag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3300"/>
                        </a:gs>
                        <a:gs pos="50000">
                          <a:schemeClr val="bg1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3300"/>
                        </a:gs>
                        <a:gs pos="50000">
                          <a:schemeClr val="bg1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3300"/>
                        </a:gs>
                        <a:gs pos="50000">
                          <a:schemeClr val="bg1"/>
                        </a:gs>
                        <a:gs pos="100000">
                          <a:srgbClr val="FF330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778" name="Group 18"/>
          <p:cNvGraphicFramePr>
            <a:graphicFrameLocks noGrp="1"/>
          </p:cNvGraphicFramePr>
          <p:nvPr/>
        </p:nvGraphicFramePr>
        <p:xfrm>
          <a:off x="5808664" y="3405188"/>
          <a:ext cx="2687637" cy="457200"/>
        </p:xfrm>
        <a:graphic>
          <a:graphicData uri="http://schemas.openxmlformats.org/drawingml/2006/table">
            <a:tbl>
              <a:tblPr/>
              <a:tblGrid>
                <a:gridCol w="110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tag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00FF"/>
                        </a:gs>
                        <a:gs pos="50000">
                          <a:schemeClr val="bg1"/>
                        </a:gs>
                        <a:gs pos="100000">
                          <a:srgbClr val="FF00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atom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00FF"/>
                        </a:gs>
                        <a:gs pos="50000">
                          <a:schemeClr val="bg1"/>
                        </a:gs>
                        <a:gs pos="100000">
                          <a:srgbClr val="FF00F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00FF"/>
                        </a:gs>
                        <a:gs pos="50000">
                          <a:schemeClr val="bg1"/>
                        </a:gs>
                        <a:gs pos="100000">
                          <a:srgbClr val="FF00F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788" name="Text Box 28"/>
          <p:cNvSpPr txBox="1">
            <a:spLocks noChangeArrowheads="1"/>
          </p:cNvSpPr>
          <p:nvPr/>
        </p:nvSpPr>
        <p:spPr bwMode="auto">
          <a:xfrm>
            <a:off x="3443288" y="3908425"/>
            <a:ext cx="11795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表结点 </a:t>
            </a:r>
          </a:p>
        </p:txBody>
      </p:sp>
      <p:sp>
        <p:nvSpPr>
          <p:cNvPr id="117789" name="Text Box 29"/>
          <p:cNvSpPr txBox="1">
            <a:spLocks noChangeArrowheads="1"/>
          </p:cNvSpPr>
          <p:nvPr/>
        </p:nvSpPr>
        <p:spPr bwMode="auto">
          <a:xfrm>
            <a:off x="6600825" y="3908425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原子结点 </a:t>
            </a:r>
          </a:p>
        </p:txBody>
      </p:sp>
      <p:sp>
        <p:nvSpPr>
          <p:cNvPr id="117790" name="Rectangle 30"/>
          <p:cNvSpPr>
            <a:spLocks noChangeArrowheads="1"/>
          </p:cNvSpPr>
          <p:nvPr/>
        </p:nvSpPr>
        <p:spPr bwMode="auto">
          <a:xfrm>
            <a:off x="2200276" y="2492375"/>
            <a:ext cx="248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指向第一个孩子  </a:t>
            </a:r>
          </a:p>
        </p:txBody>
      </p:sp>
      <p:sp>
        <p:nvSpPr>
          <p:cNvPr id="117791" name="AutoShape 31"/>
          <p:cNvSpPr>
            <a:spLocks noChangeArrowheads="1"/>
          </p:cNvSpPr>
          <p:nvPr/>
        </p:nvSpPr>
        <p:spPr bwMode="auto">
          <a:xfrm rot="-5400000">
            <a:off x="4009232" y="3061495"/>
            <a:ext cx="431800" cy="160337"/>
          </a:xfrm>
          <a:prstGeom prst="notchedRightArrow">
            <a:avLst>
              <a:gd name="adj1" fmla="val 50000"/>
              <a:gd name="adj2" fmla="val 6732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92" name="AutoShape 32"/>
          <p:cNvSpPr>
            <a:spLocks noChangeArrowheads="1"/>
          </p:cNvSpPr>
          <p:nvPr/>
        </p:nvSpPr>
        <p:spPr bwMode="auto">
          <a:xfrm rot="-5400000">
            <a:off x="4758532" y="3061495"/>
            <a:ext cx="431800" cy="160337"/>
          </a:xfrm>
          <a:prstGeom prst="notchedRightArrow">
            <a:avLst>
              <a:gd name="adj1" fmla="val 50000"/>
              <a:gd name="adj2" fmla="val 6732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93" name="Rectangle 33"/>
          <p:cNvSpPr>
            <a:spLocks noChangeArrowheads="1"/>
          </p:cNvSpPr>
          <p:nvPr/>
        </p:nvSpPr>
        <p:spPr bwMode="auto">
          <a:xfrm>
            <a:off x="4681538" y="2492375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指向兄弟 </a:t>
            </a:r>
          </a:p>
        </p:txBody>
      </p:sp>
      <p:sp>
        <p:nvSpPr>
          <p:cNvPr id="117794" name="Rectangle 34"/>
          <p:cNvSpPr>
            <a:spLocks noChangeArrowheads="1"/>
          </p:cNvSpPr>
          <p:nvPr/>
        </p:nvSpPr>
        <p:spPr bwMode="auto">
          <a:xfrm>
            <a:off x="6442076" y="2492375"/>
            <a:ext cx="1179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元素值 </a:t>
            </a:r>
          </a:p>
        </p:txBody>
      </p:sp>
      <p:sp>
        <p:nvSpPr>
          <p:cNvPr id="117795" name="AutoShape 35"/>
          <p:cNvSpPr>
            <a:spLocks noChangeArrowheads="1"/>
          </p:cNvSpPr>
          <p:nvPr/>
        </p:nvSpPr>
        <p:spPr bwMode="auto">
          <a:xfrm rot="-5400000">
            <a:off x="7912894" y="3061494"/>
            <a:ext cx="431800" cy="160338"/>
          </a:xfrm>
          <a:prstGeom prst="notchedRightArrow">
            <a:avLst>
              <a:gd name="adj1" fmla="val 50000"/>
              <a:gd name="adj2" fmla="val 6732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96" name="Rectangle 36"/>
          <p:cNvSpPr>
            <a:spLocks noChangeArrowheads="1"/>
          </p:cNvSpPr>
          <p:nvPr/>
        </p:nvSpPr>
        <p:spPr bwMode="auto">
          <a:xfrm>
            <a:off x="7835900" y="2492375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400"/>
              <a:t>指向兄弟 </a:t>
            </a:r>
          </a:p>
        </p:txBody>
      </p:sp>
      <p:sp>
        <p:nvSpPr>
          <p:cNvPr id="117797" name="AutoShape 37"/>
          <p:cNvSpPr>
            <a:spLocks noChangeArrowheads="1"/>
          </p:cNvSpPr>
          <p:nvPr/>
        </p:nvSpPr>
        <p:spPr bwMode="auto">
          <a:xfrm rot="-5400000">
            <a:off x="7095332" y="3061495"/>
            <a:ext cx="431800" cy="160337"/>
          </a:xfrm>
          <a:prstGeom prst="notchedRightArrow">
            <a:avLst>
              <a:gd name="adj1" fmla="val 50000"/>
              <a:gd name="adj2" fmla="val 6732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98" name="Text Box 38"/>
          <p:cNvSpPr txBox="1">
            <a:spLocks noChangeArrowheads="1"/>
          </p:cNvSpPr>
          <p:nvPr/>
        </p:nvSpPr>
        <p:spPr bwMode="auto">
          <a:xfrm>
            <a:off x="4329113" y="4486275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C</a:t>
            </a:r>
            <a:r>
              <a:rPr lang="en-US" altLang="zh-CN" sz="2400"/>
              <a:t> </a:t>
            </a:r>
          </a:p>
        </p:txBody>
      </p:sp>
      <p:graphicFrame>
        <p:nvGraphicFramePr>
          <p:cNvPr id="117799" name="Group 39"/>
          <p:cNvGraphicFramePr>
            <a:graphicFrameLocks noGrp="1"/>
          </p:cNvGraphicFramePr>
          <p:nvPr/>
        </p:nvGraphicFramePr>
        <p:xfrm>
          <a:off x="5065713" y="4487863"/>
          <a:ext cx="1103312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7809" name="AutoShape 49"/>
          <p:cNvCxnSpPr>
            <a:cxnSpLocks noChangeShapeType="1"/>
            <a:stCxn id="117798" idx="3"/>
            <a:endCxn id="0" idx="1"/>
          </p:cNvCxnSpPr>
          <p:nvPr/>
        </p:nvCxnSpPr>
        <p:spPr bwMode="auto">
          <a:xfrm>
            <a:off x="4792663" y="4714875"/>
            <a:ext cx="27305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17810" name="Line 50"/>
          <p:cNvSpPr>
            <a:spLocks noChangeShapeType="1"/>
          </p:cNvSpPr>
          <p:nvPr/>
        </p:nvSpPr>
        <p:spPr bwMode="auto">
          <a:xfrm>
            <a:off x="5614988" y="4727575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7811" name="Group 51"/>
          <p:cNvGraphicFramePr>
            <a:graphicFrameLocks noGrp="1"/>
          </p:cNvGraphicFramePr>
          <p:nvPr/>
        </p:nvGraphicFramePr>
        <p:xfrm>
          <a:off x="6361113" y="5207000"/>
          <a:ext cx="1103312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821" name="Line 61"/>
          <p:cNvSpPr>
            <a:spLocks noChangeShapeType="1"/>
          </p:cNvSpPr>
          <p:nvPr/>
        </p:nvSpPr>
        <p:spPr bwMode="auto">
          <a:xfrm>
            <a:off x="6888163" y="5448300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7822" name="Group 62"/>
          <p:cNvGraphicFramePr>
            <a:graphicFrameLocks noGrp="1"/>
          </p:cNvGraphicFramePr>
          <p:nvPr/>
        </p:nvGraphicFramePr>
        <p:xfrm>
          <a:off x="5064126" y="5207000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832" name="Group 72"/>
          <p:cNvGraphicFramePr>
            <a:graphicFrameLocks noGrp="1"/>
          </p:cNvGraphicFramePr>
          <p:nvPr/>
        </p:nvGraphicFramePr>
        <p:xfrm>
          <a:off x="6311901" y="5926138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842" name="Group 82"/>
          <p:cNvGraphicFramePr>
            <a:graphicFrameLocks noGrp="1"/>
          </p:cNvGraphicFramePr>
          <p:nvPr/>
        </p:nvGraphicFramePr>
        <p:xfrm>
          <a:off x="7607301" y="5926138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852" name="Group 92"/>
          <p:cNvGraphicFramePr>
            <a:graphicFrameLocks noGrp="1"/>
          </p:cNvGraphicFramePr>
          <p:nvPr/>
        </p:nvGraphicFramePr>
        <p:xfrm>
          <a:off x="8904288" y="5926138"/>
          <a:ext cx="1103312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862" name="Line 102"/>
          <p:cNvSpPr>
            <a:spLocks noChangeShapeType="1"/>
          </p:cNvSpPr>
          <p:nvPr/>
        </p:nvSpPr>
        <p:spPr bwMode="auto">
          <a:xfrm>
            <a:off x="6022976" y="54229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7863" name="Line 103"/>
          <p:cNvSpPr>
            <a:spLocks noChangeShapeType="1"/>
          </p:cNvSpPr>
          <p:nvPr/>
        </p:nvSpPr>
        <p:spPr bwMode="auto">
          <a:xfrm>
            <a:off x="7246938" y="6143625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7864" name="Line 104"/>
          <p:cNvSpPr>
            <a:spLocks noChangeShapeType="1"/>
          </p:cNvSpPr>
          <p:nvPr/>
        </p:nvSpPr>
        <p:spPr bwMode="auto">
          <a:xfrm>
            <a:off x="8545513" y="6143625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7865" name="Text Box 105"/>
          <p:cNvSpPr txBox="1">
            <a:spLocks noChangeArrowheads="1"/>
          </p:cNvSpPr>
          <p:nvPr/>
        </p:nvSpPr>
        <p:spPr bwMode="auto">
          <a:xfrm>
            <a:off x="2279651" y="4437063"/>
            <a:ext cx="2092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C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, </a:t>
            </a:r>
            <a:r>
              <a:rPr lang="en-US" altLang="zh-CN" sz="2400" i="1"/>
              <a:t>d</a:t>
            </a:r>
            <a:r>
              <a:rPr lang="en-US" altLang="zh-CN" sz="2400"/>
              <a:t>)) 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7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7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1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7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1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7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7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7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17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7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1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17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17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1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17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17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1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17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17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6" grpId="0"/>
      <p:bldP spid="117788" grpId="0"/>
      <p:bldP spid="117789" grpId="0"/>
      <p:bldP spid="117790" grpId="0"/>
      <p:bldP spid="117791" grpId="0" animBg="1"/>
      <p:bldP spid="117792" grpId="0" animBg="1"/>
      <p:bldP spid="117793" grpId="0"/>
      <p:bldP spid="117794" grpId="0"/>
      <p:bldP spid="117795" grpId="0" animBg="1"/>
      <p:bldP spid="117796" grpId="0"/>
      <p:bldP spid="117797" grpId="0" animBg="1"/>
      <p:bldP spid="117798" grpId="0"/>
      <p:bldP spid="117810" grpId="0" animBg="1"/>
      <p:bldP spid="117821" grpId="0" animBg="1"/>
      <p:bldP spid="117862" grpId="0" animBg="1"/>
      <p:bldP spid="117863" grpId="0" animBg="1"/>
      <p:bldP spid="117864" grpId="0" animBg="1"/>
      <p:bldP spid="11786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2351088" y="549275"/>
            <a:ext cx="7912100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/>
              <a:t>typedef  enum {ATOM, LIST} Elemtag;    </a:t>
            </a:r>
          </a:p>
          <a:p>
            <a:pPr>
              <a:lnSpc>
                <a:spcPct val="150000"/>
              </a:lnSpc>
            </a:pPr>
            <a:r>
              <a:rPr lang="en-US" altLang="zh-CN" sz="2400"/>
              <a:t>                        // ATOM=0</a:t>
            </a:r>
            <a:r>
              <a:rPr lang="zh-CN" altLang="en-US" sz="2400"/>
              <a:t>：单元素；</a:t>
            </a:r>
            <a:r>
              <a:rPr lang="en-US" altLang="zh-CN" sz="2400"/>
              <a:t>LIST=1</a:t>
            </a:r>
            <a:r>
              <a:rPr lang="zh-CN" altLang="en-US" sz="2400"/>
              <a:t>：子表 </a:t>
            </a:r>
          </a:p>
          <a:p>
            <a:pPr>
              <a:lnSpc>
                <a:spcPct val="150000"/>
              </a:lnSpc>
            </a:pPr>
            <a:r>
              <a:rPr lang="en-US" altLang="zh-CN" sz="2400"/>
              <a:t>typedef  struct  GLNode { </a:t>
            </a:r>
          </a:p>
          <a:p>
            <a:pPr>
              <a:lnSpc>
                <a:spcPct val="150000"/>
              </a:lnSpc>
            </a:pPr>
            <a:r>
              <a:rPr lang="en-US" altLang="zh-CN" sz="2400"/>
              <a:t>    Elemtag  tag;     // </a:t>
            </a:r>
            <a:r>
              <a:rPr lang="zh-CN" altLang="en-US" sz="2400"/>
              <a:t>标志域，用于区分元素结点和表结点  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    </a:t>
            </a:r>
            <a:r>
              <a:rPr lang="en-US" altLang="zh-CN" sz="2400"/>
              <a:t>union {                           // </a:t>
            </a:r>
            <a:r>
              <a:rPr lang="zh-CN" altLang="en-US" sz="2400"/>
              <a:t>元素结点和表结点的联合部分 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           </a:t>
            </a:r>
            <a:r>
              <a:rPr lang="en-US" altLang="zh-CN" sz="2400"/>
              <a:t>Atomtype  atom;      // atom </a:t>
            </a:r>
            <a:r>
              <a:rPr lang="zh-CN" altLang="en-US" sz="2400"/>
              <a:t>是原子结点的值域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           </a:t>
            </a:r>
            <a:r>
              <a:rPr lang="en-US" altLang="zh-CN" sz="2400"/>
              <a:t>struct GLNode  *hp;           // </a:t>
            </a:r>
            <a:r>
              <a:rPr lang="zh-CN" altLang="en-US" sz="2400"/>
              <a:t>表结点的表头指针 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    </a:t>
            </a:r>
            <a:r>
              <a:rPr lang="en-US" altLang="zh-CN" sz="2400"/>
              <a:t>}; </a:t>
            </a:r>
          </a:p>
          <a:p>
            <a:pPr>
              <a:lnSpc>
                <a:spcPct val="150000"/>
              </a:lnSpc>
            </a:pPr>
            <a:r>
              <a:rPr lang="en-US" altLang="zh-CN" sz="2400"/>
              <a:t>    struct GLNode  *tp;              // </a:t>
            </a:r>
            <a:r>
              <a:rPr lang="zh-CN" altLang="en-US" sz="2400"/>
              <a:t>指向下一个结点  </a:t>
            </a:r>
          </a:p>
          <a:p>
            <a:pPr>
              <a:lnSpc>
                <a:spcPct val="150000"/>
              </a:lnSpc>
            </a:pPr>
            <a:r>
              <a:rPr lang="en-US" altLang="zh-CN" sz="2400"/>
              <a:t>}*GList;                          // </a:t>
            </a:r>
            <a:r>
              <a:rPr lang="zh-CN" altLang="en-US" sz="2400"/>
              <a:t>广义表类型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27" name="Text Box 63"/>
          <p:cNvSpPr txBox="1">
            <a:spLocks noChangeArrowheads="1"/>
          </p:cNvSpPr>
          <p:nvPr/>
        </p:nvSpPr>
        <p:spPr bwMode="auto">
          <a:xfrm>
            <a:off x="5029200" y="549275"/>
            <a:ext cx="915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A</a:t>
            </a:r>
            <a:r>
              <a:rPr lang="en-US" altLang="zh-CN" sz="2400"/>
              <a:t>=( ) </a:t>
            </a:r>
          </a:p>
        </p:txBody>
      </p:sp>
      <p:sp>
        <p:nvSpPr>
          <p:cNvPr id="88128" name="Text Box 64"/>
          <p:cNvSpPr txBox="1">
            <a:spLocks noChangeArrowheads="1"/>
          </p:cNvSpPr>
          <p:nvPr/>
        </p:nvSpPr>
        <p:spPr bwMode="auto">
          <a:xfrm>
            <a:off x="5984875" y="574675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A</a:t>
            </a:r>
            <a:r>
              <a:rPr lang="en-US" altLang="zh-CN" sz="2400"/>
              <a:t> </a:t>
            </a:r>
          </a:p>
        </p:txBody>
      </p:sp>
      <p:graphicFrame>
        <p:nvGraphicFramePr>
          <p:cNvPr id="88129" name="Group 65"/>
          <p:cNvGraphicFramePr>
            <a:graphicFrameLocks noGrp="1"/>
          </p:cNvGraphicFramePr>
          <p:nvPr/>
        </p:nvGraphicFramePr>
        <p:xfrm>
          <a:off x="6721476" y="576263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8139" name="AutoShape 75"/>
          <p:cNvCxnSpPr>
            <a:cxnSpLocks noChangeShapeType="1"/>
            <a:stCxn id="88128" idx="3"/>
            <a:endCxn id="0" idx="1"/>
          </p:cNvCxnSpPr>
          <p:nvPr/>
        </p:nvCxnSpPr>
        <p:spPr bwMode="auto">
          <a:xfrm>
            <a:off x="6448425" y="803275"/>
            <a:ext cx="27305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88140" name="Text Box 76"/>
          <p:cNvSpPr txBox="1">
            <a:spLocks noChangeArrowheads="1"/>
          </p:cNvSpPr>
          <p:nvPr/>
        </p:nvSpPr>
        <p:spPr bwMode="auto">
          <a:xfrm>
            <a:off x="2352676" y="1243013"/>
            <a:ext cx="974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B</a:t>
            </a:r>
            <a:r>
              <a:rPr lang="en-US" altLang="zh-CN" sz="2400"/>
              <a:t>=(</a:t>
            </a:r>
            <a:r>
              <a:rPr lang="en-US" altLang="zh-CN" sz="2400" i="1"/>
              <a:t>e</a:t>
            </a:r>
            <a:r>
              <a:rPr lang="en-US" altLang="zh-CN" sz="2400"/>
              <a:t>) </a:t>
            </a:r>
          </a:p>
        </p:txBody>
      </p:sp>
      <p:sp>
        <p:nvSpPr>
          <p:cNvPr id="88141" name="Text Box 77"/>
          <p:cNvSpPr txBox="1">
            <a:spLocks noChangeArrowheads="1"/>
          </p:cNvSpPr>
          <p:nvPr/>
        </p:nvSpPr>
        <p:spPr bwMode="auto">
          <a:xfrm>
            <a:off x="2371725" y="1868488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B</a:t>
            </a:r>
            <a:r>
              <a:rPr lang="en-US" altLang="zh-CN" sz="2400"/>
              <a:t> </a:t>
            </a:r>
          </a:p>
        </p:txBody>
      </p:sp>
      <p:graphicFrame>
        <p:nvGraphicFramePr>
          <p:cNvPr id="88142" name="Group 78"/>
          <p:cNvGraphicFramePr>
            <a:graphicFrameLocks noGrp="1"/>
          </p:cNvGraphicFramePr>
          <p:nvPr/>
        </p:nvGraphicFramePr>
        <p:xfrm>
          <a:off x="3108326" y="1870075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8152" name="AutoShape 88"/>
          <p:cNvCxnSpPr>
            <a:cxnSpLocks noChangeShapeType="1"/>
            <a:stCxn id="88141" idx="3"/>
            <a:endCxn id="0" idx="1"/>
          </p:cNvCxnSpPr>
          <p:nvPr/>
        </p:nvCxnSpPr>
        <p:spPr bwMode="auto">
          <a:xfrm>
            <a:off x="2835275" y="2097089"/>
            <a:ext cx="27305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88161" name="Line 97"/>
          <p:cNvSpPr>
            <a:spLocks noChangeShapeType="1"/>
          </p:cNvSpPr>
          <p:nvPr/>
        </p:nvSpPr>
        <p:spPr bwMode="auto">
          <a:xfrm>
            <a:off x="3657600" y="2109789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8299" name="Group 235"/>
          <p:cNvGraphicFramePr>
            <a:graphicFrameLocks noGrp="1"/>
          </p:cNvGraphicFramePr>
          <p:nvPr/>
        </p:nvGraphicFramePr>
        <p:xfrm>
          <a:off x="3121026" y="2589213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427" name="Text Box 363"/>
          <p:cNvSpPr txBox="1">
            <a:spLocks noChangeArrowheads="1"/>
          </p:cNvSpPr>
          <p:nvPr/>
        </p:nvSpPr>
        <p:spPr bwMode="auto">
          <a:xfrm>
            <a:off x="2352676" y="549275"/>
            <a:ext cx="2416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4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 sz="24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结点的链接  </a:t>
            </a:r>
          </a:p>
        </p:txBody>
      </p:sp>
      <p:sp>
        <p:nvSpPr>
          <p:cNvPr id="88534" name="Text Box 470"/>
          <p:cNvSpPr txBox="1">
            <a:spLocks noChangeArrowheads="1"/>
          </p:cNvSpPr>
          <p:nvPr/>
        </p:nvSpPr>
        <p:spPr bwMode="auto">
          <a:xfrm>
            <a:off x="4473575" y="1844675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C</a:t>
            </a:r>
            <a:r>
              <a:rPr lang="en-US" altLang="zh-CN" sz="2400"/>
              <a:t> </a:t>
            </a:r>
          </a:p>
        </p:txBody>
      </p:sp>
      <p:graphicFrame>
        <p:nvGraphicFramePr>
          <p:cNvPr id="88535" name="Group 471"/>
          <p:cNvGraphicFramePr>
            <a:graphicFrameLocks noGrp="1"/>
          </p:cNvGraphicFramePr>
          <p:nvPr/>
        </p:nvGraphicFramePr>
        <p:xfrm>
          <a:off x="5210176" y="1846263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8545" name="AutoShape 481"/>
          <p:cNvCxnSpPr>
            <a:cxnSpLocks noChangeShapeType="1"/>
            <a:stCxn id="88534" idx="3"/>
            <a:endCxn id="0" idx="1"/>
          </p:cNvCxnSpPr>
          <p:nvPr/>
        </p:nvCxnSpPr>
        <p:spPr bwMode="auto">
          <a:xfrm>
            <a:off x="4937125" y="2073275"/>
            <a:ext cx="27305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88546" name="Line 482"/>
          <p:cNvSpPr>
            <a:spLocks noChangeShapeType="1"/>
          </p:cNvSpPr>
          <p:nvPr/>
        </p:nvSpPr>
        <p:spPr bwMode="auto">
          <a:xfrm>
            <a:off x="5759450" y="2060575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8547" name="Group 483"/>
          <p:cNvGraphicFramePr>
            <a:graphicFrameLocks noGrp="1"/>
          </p:cNvGraphicFramePr>
          <p:nvPr/>
        </p:nvGraphicFramePr>
        <p:xfrm>
          <a:off x="6505576" y="2590800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557" name="Line 493"/>
          <p:cNvSpPr>
            <a:spLocks noChangeShapeType="1"/>
          </p:cNvSpPr>
          <p:nvPr/>
        </p:nvSpPr>
        <p:spPr bwMode="auto">
          <a:xfrm>
            <a:off x="7032625" y="2832100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8558" name="Group 494"/>
          <p:cNvGraphicFramePr>
            <a:graphicFrameLocks noGrp="1"/>
          </p:cNvGraphicFramePr>
          <p:nvPr/>
        </p:nvGraphicFramePr>
        <p:xfrm>
          <a:off x="5208588" y="2590800"/>
          <a:ext cx="1103312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568" name="Group 504"/>
          <p:cNvGraphicFramePr>
            <a:graphicFrameLocks noGrp="1"/>
          </p:cNvGraphicFramePr>
          <p:nvPr/>
        </p:nvGraphicFramePr>
        <p:xfrm>
          <a:off x="6456363" y="3309938"/>
          <a:ext cx="1103312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578" name="Group 514"/>
          <p:cNvGraphicFramePr>
            <a:graphicFrameLocks noGrp="1"/>
          </p:cNvGraphicFramePr>
          <p:nvPr/>
        </p:nvGraphicFramePr>
        <p:xfrm>
          <a:off x="7751763" y="3309938"/>
          <a:ext cx="1103312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713" name="Group 649"/>
          <p:cNvGraphicFramePr>
            <a:graphicFrameLocks noGrp="1"/>
          </p:cNvGraphicFramePr>
          <p:nvPr/>
        </p:nvGraphicFramePr>
        <p:xfrm>
          <a:off x="9048751" y="3284539"/>
          <a:ext cx="1103313" cy="479425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598" name="Line 534"/>
          <p:cNvSpPr>
            <a:spLocks noChangeShapeType="1"/>
          </p:cNvSpPr>
          <p:nvPr/>
        </p:nvSpPr>
        <p:spPr bwMode="auto">
          <a:xfrm>
            <a:off x="6167438" y="280670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599" name="Line 535"/>
          <p:cNvSpPr>
            <a:spLocks noChangeShapeType="1"/>
          </p:cNvSpPr>
          <p:nvPr/>
        </p:nvSpPr>
        <p:spPr bwMode="auto">
          <a:xfrm>
            <a:off x="7391401" y="352742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00" name="Line 536"/>
          <p:cNvSpPr>
            <a:spLocks noChangeShapeType="1"/>
          </p:cNvSpPr>
          <p:nvPr/>
        </p:nvSpPr>
        <p:spPr bwMode="auto">
          <a:xfrm>
            <a:off x="8688388" y="3527425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01" name="Text Box 537"/>
          <p:cNvSpPr txBox="1">
            <a:spLocks noChangeArrowheads="1"/>
          </p:cNvSpPr>
          <p:nvPr/>
        </p:nvSpPr>
        <p:spPr bwMode="auto">
          <a:xfrm>
            <a:off x="4508501" y="1219200"/>
            <a:ext cx="2092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C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(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, </a:t>
            </a:r>
            <a:r>
              <a:rPr lang="en-US" altLang="zh-CN" sz="2400" i="1"/>
              <a:t>d</a:t>
            </a:r>
            <a:r>
              <a:rPr lang="en-US" altLang="zh-CN" sz="2400"/>
              <a:t>)) </a:t>
            </a:r>
          </a:p>
        </p:txBody>
      </p:sp>
      <p:sp>
        <p:nvSpPr>
          <p:cNvPr id="88602" name="Text Box 538"/>
          <p:cNvSpPr txBox="1">
            <a:spLocks noChangeArrowheads="1"/>
          </p:cNvSpPr>
          <p:nvPr/>
        </p:nvSpPr>
        <p:spPr bwMode="auto">
          <a:xfrm>
            <a:off x="2279651" y="4100513"/>
            <a:ext cx="481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D</a:t>
            </a:r>
            <a:r>
              <a:rPr lang="en-US" altLang="zh-CN" sz="2400"/>
              <a:t> </a:t>
            </a:r>
          </a:p>
        </p:txBody>
      </p:sp>
      <p:graphicFrame>
        <p:nvGraphicFramePr>
          <p:cNvPr id="88603" name="Group 539"/>
          <p:cNvGraphicFramePr>
            <a:graphicFrameLocks noGrp="1"/>
          </p:cNvGraphicFramePr>
          <p:nvPr/>
        </p:nvGraphicFramePr>
        <p:xfrm>
          <a:off x="3016251" y="4102100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8613" name="AutoShape 549"/>
          <p:cNvCxnSpPr>
            <a:cxnSpLocks noChangeShapeType="1"/>
            <a:stCxn id="88602" idx="3"/>
            <a:endCxn id="0" idx="1"/>
          </p:cNvCxnSpPr>
          <p:nvPr/>
        </p:nvCxnSpPr>
        <p:spPr bwMode="auto">
          <a:xfrm>
            <a:off x="2760664" y="4329114"/>
            <a:ext cx="255587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aphicFrame>
        <p:nvGraphicFramePr>
          <p:cNvPr id="88614" name="Group 550"/>
          <p:cNvGraphicFramePr>
            <a:graphicFrameLocks noGrp="1"/>
          </p:cNvGraphicFramePr>
          <p:nvPr/>
        </p:nvGraphicFramePr>
        <p:xfrm>
          <a:off x="4311651" y="4845050"/>
          <a:ext cx="1103313" cy="457200"/>
        </p:xfrm>
        <a:graphic>
          <a:graphicData uri="http://schemas.openxmlformats.org/drawingml/2006/table">
            <a:tbl>
              <a:tblPr/>
              <a:tblGrid>
                <a:gridCol w="344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624" name="Line 560"/>
          <p:cNvSpPr>
            <a:spLocks noChangeShapeType="1"/>
          </p:cNvSpPr>
          <p:nvPr/>
        </p:nvSpPr>
        <p:spPr bwMode="auto">
          <a:xfrm>
            <a:off x="3973513" y="5084763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25" name="Text Box 561"/>
          <p:cNvSpPr txBox="1">
            <a:spLocks noChangeArrowheads="1"/>
          </p:cNvSpPr>
          <p:nvPr/>
        </p:nvSpPr>
        <p:spPr bwMode="auto">
          <a:xfrm>
            <a:off x="2308225" y="3524250"/>
            <a:ext cx="1771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D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</a:t>
            </a:r>
            <a:r>
              <a:rPr lang="en-US" altLang="zh-CN" sz="2400" i="1"/>
              <a:t>B</a:t>
            </a:r>
            <a:r>
              <a:rPr lang="en-US" altLang="zh-CN" sz="2400"/>
              <a:t>, </a:t>
            </a:r>
            <a:r>
              <a:rPr lang="en-US" altLang="zh-CN" sz="2400" i="1"/>
              <a:t>C</a:t>
            </a:r>
            <a:r>
              <a:rPr lang="en-US" altLang="zh-CN" sz="2400"/>
              <a:t>) </a:t>
            </a:r>
          </a:p>
        </p:txBody>
      </p:sp>
      <p:sp>
        <p:nvSpPr>
          <p:cNvPr id="88626" name="Line 562"/>
          <p:cNvSpPr>
            <a:spLocks noChangeShapeType="1"/>
          </p:cNvSpPr>
          <p:nvPr/>
        </p:nvSpPr>
        <p:spPr bwMode="auto">
          <a:xfrm flipV="1">
            <a:off x="4872038" y="3476626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27" name="Line 563"/>
          <p:cNvSpPr>
            <a:spLocks noChangeShapeType="1"/>
          </p:cNvSpPr>
          <p:nvPr/>
        </p:nvSpPr>
        <p:spPr bwMode="auto">
          <a:xfrm flipH="1">
            <a:off x="2855914" y="3476625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29" name="Line 565"/>
          <p:cNvSpPr>
            <a:spLocks noChangeShapeType="1"/>
          </p:cNvSpPr>
          <p:nvPr/>
        </p:nvSpPr>
        <p:spPr bwMode="auto">
          <a:xfrm>
            <a:off x="5232401" y="5084763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8630" name="Group 566"/>
          <p:cNvGraphicFramePr>
            <a:graphicFrameLocks noGrp="1"/>
          </p:cNvGraphicFramePr>
          <p:nvPr/>
        </p:nvGraphicFramePr>
        <p:xfrm>
          <a:off x="5592763" y="4845050"/>
          <a:ext cx="1103312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640" name="Line 576"/>
          <p:cNvSpPr>
            <a:spLocks noChangeShapeType="1"/>
          </p:cNvSpPr>
          <p:nvPr/>
        </p:nvSpPr>
        <p:spPr bwMode="auto">
          <a:xfrm flipV="1">
            <a:off x="6169025" y="3476626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41" name="Line 577"/>
          <p:cNvSpPr>
            <a:spLocks noChangeShapeType="1"/>
          </p:cNvSpPr>
          <p:nvPr/>
        </p:nvSpPr>
        <p:spPr bwMode="auto">
          <a:xfrm flipH="1">
            <a:off x="5087939" y="3476625"/>
            <a:ext cx="1081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8643" name="Group 579"/>
          <p:cNvGraphicFramePr>
            <a:graphicFrameLocks noGrp="1"/>
          </p:cNvGraphicFramePr>
          <p:nvPr/>
        </p:nvGraphicFramePr>
        <p:xfrm>
          <a:off x="3014663" y="4845050"/>
          <a:ext cx="1103312" cy="457200"/>
        </p:xfrm>
        <a:graphic>
          <a:graphicData uri="http://schemas.openxmlformats.org/drawingml/2006/table">
            <a:tbl>
              <a:tblPr/>
              <a:tblGrid>
                <a:gridCol w="344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654" name="Line 590"/>
          <p:cNvSpPr>
            <a:spLocks noChangeShapeType="1"/>
          </p:cNvSpPr>
          <p:nvPr/>
        </p:nvSpPr>
        <p:spPr bwMode="auto">
          <a:xfrm>
            <a:off x="3576638" y="4341814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55" name="Line 591"/>
          <p:cNvSpPr>
            <a:spLocks noChangeShapeType="1"/>
          </p:cNvSpPr>
          <p:nvPr/>
        </p:nvSpPr>
        <p:spPr bwMode="auto">
          <a:xfrm flipV="1">
            <a:off x="2855913" y="24685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57" name="Line 593"/>
          <p:cNvSpPr>
            <a:spLocks noChangeShapeType="1"/>
          </p:cNvSpPr>
          <p:nvPr/>
        </p:nvSpPr>
        <p:spPr bwMode="auto">
          <a:xfrm>
            <a:off x="2855913" y="2468563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58" name="Line 594"/>
          <p:cNvSpPr>
            <a:spLocks noChangeShapeType="1"/>
          </p:cNvSpPr>
          <p:nvPr/>
        </p:nvSpPr>
        <p:spPr bwMode="auto">
          <a:xfrm flipV="1">
            <a:off x="5087938" y="246856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59" name="Line 595"/>
          <p:cNvSpPr>
            <a:spLocks noChangeShapeType="1"/>
          </p:cNvSpPr>
          <p:nvPr/>
        </p:nvSpPr>
        <p:spPr bwMode="auto">
          <a:xfrm>
            <a:off x="5087939" y="2468563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60" name="Text Box 596"/>
          <p:cNvSpPr txBox="1">
            <a:spLocks noChangeArrowheads="1"/>
          </p:cNvSpPr>
          <p:nvPr/>
        </p:nvSpPr>
        <p:spPr bwMode="auto">
          <a:xfrm>
            <a:off x="7032625" y="4267200"/>
            <a:ext cx="1347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E</a:t>
            </a:r>
            <a:r>
              <a:rPr lang="en-US" altLang="zh-CN" sz="2400"/>
              <a:t>=(</a:t>
            </a:r>
            <a:r>
              <a:rPr lang="en-US" altLang="zh-CN" sz="2400" i="1"/>
              <a:t>a</a:t>
            </a:r>
            <a:r>
              <a:rPr lang="en-US" altLang="zh-CN" sz="2400"/>
              <a:t>, </a:t>
            </a:r>
            <a:r>
              <a:rPr lang="en-US" altLang="zh-CN" sz="2400" i="1"/>
              <a:t>E</a:t>
            </a:r>
            <a:r>
              <a:rPr lang="en-US" altLang="zh-CN" sz="2400"/>
              <a:t>) </a:t>
            </a:r>
          </a:p>
        </p:txBody>
      </p:sp>
      <p:sp>
        <p:nvSpPr>
          <p:cNvPr id="88661" name="Text Box 597"/>
          <p:cNvSpPr txBox="1">
            <a:spLocks noChangeArrowheads="1"/>
          </p:cNvSpPr>
          <p:nvPr/>
        </p:nvSpPr>
        <p:spPr bwMode="auto">
          <a:xfrm>
            <a:off x="6994525" y="4868863"/>
            <a:ext cx="46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i="1"/>
              <a:t>E</a:t>
            </a:r>
            <a:r>
              <a:rPr lang="en-US" altLang="zh-CN" sz="2400"/>
              <a:t> </a:t>
            </a:r>
          </a:p>
        </p:txBody>
      </p:sp>
      <p:graphicFrame>
        <p:nvGraphicFramePr>
          <p:cNvPr id="88714" name="Group 650"/>
          <p:cNvGraphicFramePr>
            <a:graphicFrameLocks noGrp="1"/>
          </p:cNvGraphicFramePr>
          <p:nvPr/>
        </p:nvGraphicFramePr>
        <p:xfrm>
          <a:off x="7731126" y="4868863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8672" name="AutoShape 608"/>
          <p:cNvCxnSpPr>
            <a:cxnSpLocks noChangeShapeType="1"/>
            <a:stCxn id="88661" idx="3"/>
            <a:endCxn id="0" idx="1"/>
          </p:cNvCxnSpPr>
          <p:nvPr/>
        </p:nvCxnSpPr>
        <p:spPr bwMode="auto">
          <a:xfrm>
            <a:off x="7458075" y="5097463"/>
            <a:ext cx="2730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aphicFrame>
        <p:nvGraphicFramePr>
          <p:cNvPr id="88673" name="Group 609"/>
          <p:cNvGraphicFramePr>
            <a:graphicFrameLocks noGrp="1"/>
          </p:cNvGraphicFramePr>
          <p:nvPr/>
        </p:nvGraphicFramePr>
        <p:xfrm>
          <a:off x="9026526" y="5565775"/>
          <a:ext cx="1103313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683" name="Line 619"/>
          <p:cNvSpPr>
            <a:spLocks noChangeShapeType="1"/>
          </p:cNvSpPr>
          <p:nvPr/>
        </p:nvSpPr>
        <p:spPr bwMode="auto">
          <a:xfrm>
            <a:off x="8688388" y="580548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84" name="Line 620"/>
          <p:cNvSpPr>
            <a:spLocks noChangeShapeType="1"/>
          </p:cNvSpPr>
          <p:nvPr/>
        </p:nvSpPr>
        <p:spPr bwMode="auto">
          <a:xfrm flipV="1">
            <a:off x="9625013" y="5875339"/>
            <a:ext cx="0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85" name="Line 621"/>
          <p:cNvSpPr>
            <a:spLocks noChangeShapeType="1"/>
          </p:cNvSpPr>
          <p:nvPr/>
        </p:nvSpPr>
        <p:spPr bwMode="auto">
          <a:xfrm flipH="1">
            <a:off x="7608889" y="6308725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695" name="Line 631"/>
          <p:cNvSpPr>
            <a:spLocks noChangeShapeType="1"/>
          </p:cNvSpPr>
          <p:nvPr/>
        </p:nvSpPr>
        <p:spPr bwMode="auto">
          <a:xfrm>
            <a:off x="8264525" y="5084764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8697" name="Group 633"/>
          <p:cNvGraphicFramePr>
            <a:graphicFrameLocks noGrp="1"/>
          </p:cNvGraphicFramePr>
          <p:nvPr/>
        </p:nvGraphicFramePr>
        <p:xfrm>
          <a:off x="7729538" y="5589588"/>
          <a:ext cx="1103312" cy="457200"/>
        </p:xfrm>
        <a:graphic>
          <a:graphicData uri="http://schemas.openxmlformats.org/drawingml/2006/table">
            <a:tbl>
              <a:tblPr/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707" name="Line 643"/>
          <p:cNvSpPr>
            <a:spLocks noChangeShapeType="1"/>
          </p:cNvSpPr>
          <p:nvPr/>
        </p:nvSpPr>
        <p:spPr bwMode="auto">
          <a:xfrm flipV="1">
            <a:off x="7608888" y="5445125"/>
            <a:ext cx="0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708" name="Line 644"/>
          <p:cNvSpPr>
            <a:spLocks noChangeShapeType="1"/>
          </p:cNvSpPr>
          <p:nvPr/>
        </p:nvSpPr>
        <p:spPr bwMode="auto">
          <a:xfrm>
            <a:off x="7607300" y="5445125"/>
            <a:ext cx="649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8709" name="Rectangle 645"/>
          <p:cNvSpPr>
            <a:spLocks noChangeArrowheads="1"/>
          </p:cNvSpPr>
          <p:nvPr/>
        </p:nvSpPr>
        <p:spPr bwMode="auto">
          <a:xfrm>
            <a:off x="2352675" y="5532422"/>
            <a:ext cx="4493538" cy="87633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/>
              <a:t>表达式中的左括号 “（”  对应 </a:t>
            </a:r>
          </a:p>
          <a:p>
            <a:pPr>
              <a:lnSpc>
                <a:spcPct val="110000"/>
              </a:lnSpc>
            </a:pPr>
            <a:r>
              <a:rPr lang="zh-CN" altLang="en-US" sz="2400"/>
              <a:t>存储表示中的 </a:t>
            </a:r>
            <a:r>
              <a:rPr lang="en-US" altLang="zh-CN" sz="2400"/>
              <a:t>tag = 1  </a:t>
            </a:r>
            <a:r>
              <a:rPr lang="zh-CN" altLang="en-US" sz="2400"/>
              <a:t>的结点 </a:t>
            </a:r>
          </a:p>
        </p:txBody>
      </p:sp>
      <p:sp>
        <p:nvSpPr>
          <p:cNvPr id="88710" name="Rectangle 646"/>
          <p:cNvSpPr>
            <a:spLocks noChangeArrowheads="1"/>
          </p:cNvSpPr>
          <p:nvPr/>
        </p:nvSpPr>
        <p:spPr bwMode="auto">
          <a:xfrm>
            <a:off x="7845426" y="1303338"/>
            <a:ext cx="2149475" cy="977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/>
              <a:t>最高层结点 </a:t>
            </a:r>
            <a:r>
              <a:rPr lang="en-US" altLang="zh-CN" sz="2400"/>
              <a:t>tp </a:t>
            </a:r>
          </a:p>
          <a:p>
            <a:pPr>
              <a:lnSpc>
                <a:spcPct val="120000"/>
              </a:lnSpc>
            </a:pPr>
            <a:r>
              <a:rPr lang="zh-CN" altLang="en-US" sz="2400"/>
              <a:t>域必为 </a:t>
            </a:r>
            <a:r>
              <a:rPr lang="en-US" altLang="zh-CN" sz="2400"/>
              <a:t>NULL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8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8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8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8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8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8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8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8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8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8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8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88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88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8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8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8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8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8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8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500"/>
                                        <p:tgtEl>
                                          <p:spTgt spid="8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8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50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8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8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8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7" dur="500"/>
                                        <p:tgtEl>
                                          <p:spTgt spid="8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8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500"/>
                            </p:stCondLst>
                            <p:childTnLst>
                              <p:par>
                                <p:cTn id="1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8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8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8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88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8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8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88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88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8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8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8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1" dur="500"/>
                                        <p:tgtEl>
                                          <p:spTgt spid="8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000"/>
                            </p:stCondLst>
                            <p:childTnLst>
                              <p:par>
                                <p:cTn id="2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8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1500"/>
                            </p:stCondLst>
                            <p:childTnLst>
                              <p:par>
                                <p:cTn id="2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8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4" dur="1000"/>
                                        <p:tgtEl>
                                          <p:spTgt spid="8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9" dur="1000"/>
                                        <p:tgtEl>
                                          <p:spTgt spid="8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27" grpId="0" autoUpdateAnimBg="0"/>
      <p:bldP spid="88128" grpId="0" autoUpdateAnimBg="0"/>
      <p:bldP spid="88140" grpId="0" autoUpdateAnimBg="0"/>
      <p:bldP spid="88141" grpId="0" autoUpdateAnimBg="0"/>
      <p:bldP spid="88161" grpId="0" animBg="1"/>
      <p:bldP spid="88534" grpId="0" autoUpdateAnimBg="0"/>
      <p:bldP spid="88546" grpId="0" animBg="1"/>
      <p:bldP spid="88557" grpId="0" animBg="1"/>
      <p:bldP spid="88598" grpId="0" animBg="1"/>
      <p:bldP spid="88599" grpId="0" animBg="1"/>
      <p:bldP spid="88600" grpId="0" animBg="1"/>
      <p:bldP spid="88601" grpId="0" autoUpdateAnimBg="0"/>
      <p:bldP spid="88602" grpId="0" autoUpdateAnimBg="0"/>
      <p:bldP spid="88624" grpId="0" animBg="1"/>
      <p:bldP spid="88625" grpId="0" autoUpdateAnimBg="0"/>
      <p:bldP spid="88626" grpId="0" animBg="1"/>
      <p:bldP spid="88627" grpId="0" animBg="1"/>
      <p:bldP spid="88629" grpId="0" animBg="1"/>
      <p:bldP spid="88640" grpId="0" animBg="1"/>
      <p:bldP spid="88641" grpId="0" animBg="1"/>
      <p:bldP spid="88654" grpId="0" animBg="1"/>
      <p:bldP spid="88655" grpId="0" animBg="1"/>
      <p:bldP spid="88657" grpId="0" animBg="1"/>
      <p:bldP spid="88658" grpId="0" animBg="1"/>
      <p:bldP spid="88659" grpId="0" animBg="1"/>
      <p:bldP spid="88660" grpId="0" autoUpdateAnimBg="0"/>
      <p:bldP spid="88661" grpId="0" autoUpdateAnimBg="0"/>
      <p:bldP spid="88683" grpId="0" animBg="1"/>
      <p:bldP spid="88684" grpId="0" animBg="1"/>
      <p:bldP spid="88685" grpId="0" animBg="1"/>
      <p:bldP spid="88695" grpId="0" animBg="1"/>
      <p:bldP spid="88707" grpId="0" animBg="1"/>
      <p:bldP spid="88708" grpId="0" animBg="1"/>
      <p:bldP spid="88709" grpId="0" animBg="1" autoUpdateAnimBg="0"/>
      <p:bldP spid="88710" grpId="0" animBg="1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/>
              <a:t>广义表的递归算法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600200"/>
            <a:ext cx="8229600" cy="19002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/>
              <a:t>求广义表的深度 </a:t>
            </a:r>
          </a:p>
          <a:p>
            <a:pPr eaLnBrk="1" hangingPunct="1"/>
            <a:r>
              <a:rPr lang="zh-CN" altLang="en-US" dirty="0"/>
              <a:t>复制广义表</a:t>
            </a:r>
          </a:p>
          <a:p>
            <a:pPr eaLnBrk="1" hangingPunct="1"/>
            <a:r>
              <a:rPr lang="zh-CN" altLang="en-US" dirty="0"/>
              <a:t>创建广义表存储结构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952626" y="3660776"/>
            <a:ext cx="8054975" cy="2697163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3200" kern="0" dirty="0">
                <a:solidFill>
                  <a:srgbClr val="990033"/>
                </a:solidFill>
                <a:latin typeface="+mn-lt"/>
                <a:ea typeface="+mn-ea"/>
              </a:rPr>
              <a:t>求深度算法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zh-CN" altLang="en-US" sz="3200" kern="0" dirty="0">
                <a:solidFill>
                  <a:srgbClr val="990033"/>
                </a:solidFill>
                <a:latin typeface="+mn-lt"/>
                <a:ea typeface="+mn-ea"/>
              </a:rPr>
              <a:t>  </a:t>
            </a:r>
            <a:r>
              <a:rPr lang="en-US" altLang="zh-CN" sz="2800" kern="0" dirty="0">
                <a:latin typeface="+mn-lt"/>
                <a:ea typeface="+mn-ea"/>
              </a:rPr>
              <a:t>1</a:t>
            </a:r>
            <a:r>
              <a:rPr lang="zh-CN" altLang="en-US" sz="2800" kern="0" dirty="0">
                <a:latin typeface="+mn-lt"/>
                <a:ea typeface="+mn-ea"/>
              </a:rPr>
              <a:t>、广义表的深度</a:t>
            </a:r>
            <a:r>
              <a:rPr lang="en-US" altLang="zh-CN" sz="2800" kern="0" dirty="0">
                <a:latin typeface="+mn-lt"/>
                <a:ea typeface="+mn-ea"/>
              </a:rPr>
              <a:t>=Max {</a:t>
            </a:r>
            <a:r>
              <a:rPr lang="zh-CN" altLang="en-US" sz="2800" kern="0" dirty="0">
                <a:latin typeface="+mn-lt"/>
                <a:ea typeface="+mn-ea"/>
              </a:rPr>
              <a:t>子表的深度</a:t>
            </a:r>
            <a:r>
              <a:rPr lang="en-US" altLang="zh-CN" sz="2800" kern="0" dirty="0">
                <a:latin typeface="+mn-lt"/>
                <a:ea typeface="+mn-ea"/>
              </a:rPr>
              <a:t>} +1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kern="0" dirty="0">
                <a:latin typeface="+mn-lt"/>
                <a:ea typeface="+mn-ea"/>
              </a:rPr>
              <a:t>  2</a:t>
            </a:r>
            <a:r>
              <a:rPr lang="zh-CN" altLang="en-US" sz="2800" kern="0" dirty="0">
                <a:latin typeface="+mn-lt"/>
                <a:ea typeface="+mn-ea"/>
              </a:rPr>
              <a:t>、</a:t>
            </a:r>
            <a:r>
              <a:rPr lang="zh-CN" altLang="en-US" sz="3200" b="0" kern="0" dirty="0">
                <a:latin typeface="+mn-lt"/>
                <a:ea typeface="+mn-ea"/>
              </a:rPr>
              <a:t>可以直接求解的两种简单情况为</a:t>
            </a:r>
            <a:r>
              <a:rPr lang="en-US" altLang="zh-CN" sz="3200" b="0" kern="0" dirty="0">
                <a:latin typeface="+mn-lt"/>
                <a:ea typeface="+mn-ea"/>
              </a:rPr>
              <a:t>:</a:t>
            </a:r>
          </a:p>
          <a:p>
            <a:pPr marL="1143000" lvl="2" indent="-228600">
              <a:spcBef>
                <a:spcPct val="20000"/>
              </a:spcBef>
              <a:defRPr/>
            </a:pPr>
            <a:r>
              <a:rPr lang="en-US" altLang="zh-CN" sz="2400" b="0" kern="0" dirty="0">
                <a:solidFill>
                  <a:srgbClr val="6600CC"/>
                </a:solidFill>
                <a:latin typeface="+mn-lt"/>
                <a:ea typeface="+mn-ea"/>
              </a:rPr>
              <a:t>    </a:t>
            </a:r>
            <a:r>
              <a:rPr lang="zh-CN" altLang="en-US" sz="2400" kern="0" dirty="0">
                <a:solidFill>
                  <a:srgbClr val="990033"/>
                </a:solidFill>
                <a:latin typeface="+mn-lt"/>
                <a:ea typeface="+mn-ea"/>
              </a:rPr>
              <a:t>空表的深度 </a:t>
            </a:r>
            <a:r>
              <a:rPr lang="en-US" altLang="zh-CN" sz="2400" kern="0" dirty="0">
                <a:solidFill>
                  <a:srgbClr val="990033"/>
                </a:solidFill>
                <a:latin typeface="+mn-lt"/>
                <a:ea typeface="+mn-ea"/>
              </a:rPr>
              <a:t>= 1</a:t>
            </a:r>
          </a:p>
          <a:p>
            <a:pPr marL="1143000" lvl="2" indent="-228600">
              <a:spcBef>
                <a:spcPct val="20000"/>
              </a:spcBef>
              <a:defRPr/>
            </a:pPr>
            <a:r>
              <a:rPr lang="en-US" altLang="zh-CN" sz="2400" kern="0" dirty="0">
                <a:solidFill>
                  <a:srgbClr val="990033"/>
                </a:solidFill>
                <a:latin typeface="+mn-lt"/>
                <a:ea typeface="+mn-ea"/>
              </a:rPr>
              <a:t>    </a:t>
            </a:r>
            <a:r>
              <a:rPr lang="zh-CN" altLang="en-US" sz="2400" kern="0" dirty="0">
                <a:solidFill>
                  <a:srgbClr val="990033"/>
                </a:solidFill>
                <a:latin typeface="+mn-lt"/>
                <a:ea typeface="+mn-ea"/>
              </a:rPr>
              <a:t>原子的深度 </a:t>
            </a:r>
            <a:r>
              <a:rPr lang="en-US" altLang="zh-CN" sz="2400" kern="0" dirty="0">
                <a:solidFill>
                  <a:srgbClr val="990033"/>
                </a:solidFill>
                <a:latin typeface="+mn-lt"/>
                <a:ea typeface="+mn-ea"/>
              </a:rPr>
              <a:t>= 0</a:t>
            </a:r>
            <a:endParaRPr lang="en-US" altLang="zh-CN" sz="2400" b="0" kern="0" dirty="0">
              <a:solidFill>
                <a:srgbClr val="990033"/>
              </a:solidFill>
              <a:latin typeface="+mn-lt"/>
              <a:ea typeface="+mn-ea"/>
            </a:endParaRPr>
          </a:p>
          <a:p>
            <a:pPr marL="342900" indent="-342900">
              <a:lnSpc>
                <a:spcPct val="135000"/>
              </a:lnSpc>
              <a:defRPr/>
            </a:pPr>
            <a:endParaRPr lang="en-US" altLang="zh-CN" sz="2800" kern="0" dirty="0">
              <a:solidFill>
                <a:srgbClr val="990033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Text Box 2"/>
          <p:cNvSpPr txBox="1">
            <a:spLocks noChangeArrowheads="1"/>
          </p:cNvSpPr>
          <p:nvPr/>
        </p:nvSpPr>
        <p:spPr bwMode="auto">
          <a:xfrm>
            <a:off x="1858964" y="157164"/>
            <a:ext cx="8428037" cy="654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4400"/>
              <a:t>  </a:t>
            </a:r>
            <a:r>
              <a:rPr lang="en-US" altLang="zh-CN" sz="3600"/>
              <a:t>int </a:t>
            </a:r>
            <a:r>
              <a:rPr lang="en-US" altLang="zh-CN" sz="3600">
                <a:solidFill>
                  <a:schemeClr val="accent2"/>
                </a:solidFill>
              </a:rPr>
              <a:t>GlistDepth</a:t>
            </a:r>
            <a:r>
              <a:rPr lang="en-US" altLang="zh-CN" sz="3600"/>
              <a:t>(</a:t>
            </a:r>
            <a:r>
              <a:rPr lang="en-US" altLang="zh-CN" sz="3600">
                <a:solidFill>
                  <a:srgbClr val="FF0000"/>
                </a:solidFill>
              </a:rPr>
              <a:t>Glist L</a:t>
            </a:r>
            <a:r>
              <a:rPr lang="en-US" altLang="zh-CN" sz="3600"/>
              <a:t>) {</a:t>
            </a:r>
          </a:p>
          <a:p>
            <a:pPr>
              <a:lnSpc>
                <a:spcPct val="115000"/>
              </a:lnSpc>
            </a:pPr>
            <a:r>
              <a:rPr lang="en-US" altLang="zh-CN" sz="3600"/>
              <a:t>      </a:t>
            </a:r>
            <a:r>
              <a:rPr lang="en-US" altLang="zh-CN" sz="3600">
                <a:solidFill>
                  <a:srgbClr val="990033"/>
                </a:solidFill>
              </a:rPr>
              <a:t> // </a:t>
            </a:r>
            <a:r>
              <a:rPr lang="zh-CN" altLang="en-US" sz="3600">
                <a:solidFill>
                  <a:srgbClr val="990033"/>
                </a:solidFill>
              </a:rPr>
              <a:t>返回指针</a:t>
            </a:r>
            <a:r>
              <a:rPr lang="en-US" altLang="zh-CN" sz="3600">
                <a:solidFill>
                  <a:srgbClr val="990033"/>
                </a:solidFill>
              </a:rPr>
              <a:t>L</a:t>
            </a:r>
            <a:r>
              <a:rPr lang="zh-CN" altLang="en-US" sz="3600">
                <a:solidFill>
                  <a:srgbClr val="990033"/>
                </a:solidFill>
              </a:rPr>
              <a:t>所指的广义表的深度</a:t>
            </a:r>
            <a:endParaRPr lang="zh-CN" altLang="en-US" sz="3600"/>
          </a:p>
          <a:p>
            <a:pPr>
              <a:lnSpc>
                <a:spcPct val="115000"/>
              </a:lnSpc>
            </a:pPr>
            <a:endParaRPr lang="zh-CN" altLang="en-US" sz="3600"/>
          </a:p>
          <a:p>
            <a:pPr>
              <a:lnSpc>
                <a:spcPct val="115000"/>
              </a:lnSpc>
            </a:pPr>
            <a:endParaRPr lang="zh-CN" altLang="en-US" sz="3600"/>
          </a:p>
          <a:p>
            <a:pPr>
              <a:lnSpc>
                <a:spcPct val="115000"/>
              </a:lnSpc>
            </a:pPr>
            <a:r>
              <a:rPr lang="zh-CN" altLang="en-US" sz="3600"/>
              <a:t>     </a:t>
            </a:r>
            <a:r>
              <a:rPr lang="en-US" altLang="zh-CN" sz="3600"/>
              <a:t>for (max=0,</a:t>
            </a:r>
            <a:r>
              <a:rPr lang="en-US" altLang="zh-CN" sz="3600">
                <a:solidFill>
                  <a:srgbClr val="008000"/>
                </a:solidFill>
              </a:rPr>
              <a:t> </a:t>
            </a:r>
            <a:r>
              <a:rPr lang="en-US" altLang="zh-CN" sz="3600">
                <a:solidFill>
                  <a:srgbClr val="9900FF"/>
                </a:solidFill>
              </a:rPr>
              <a:t>pp=L;</a:t>
            </a:r>
            <a:r>
              <a:rPr lang="en-US" altLang="zh-CN" sz="3600"/>
              <a:t> pp; </a:t>
            </a:r>
            <a:r>
              <a:rPr lang="en-US" altLang="zh-CN" sz="3600">
                <a:solidFill>
                  <a:srgbClr val="008080"/>
                </a:solidFill>
              </a:rPr>
              <a:t>pp=pp-&gt;ptr.tp</a:t>
            </a:r>
            <a:r>
              <a:rPr lang="en-US" altLang="zh-CN" sz="3600"/>
              <a:t>){</a:t>
            </a:r>
          </a:p>
          <a:p>
            <a:pPr>
              <a:lnSpc>
                <a:spcPct val="115000"/>
              </a:lnSpc>
            </a:pPr>
            <a:r>
              <a:rPr lang="en-US" altLang="zh-CN" sz="3600"/>
              <a:t>        dep = </a:t>
            </a:r>
            <a:r>
              <a:rPr lang="en-US" altLang="zh-CN" sz="3600">
                <a:solidFill>
                  <a:srgbClr val="0000FF"/>
                </a:solidFill>
              </a:rPr>
              <a:t>GlistDepth</a:t>
            </a:r>
            <a:r>
              <a:rPr lang="en-US" altLang="zh-CN" sz="3600"/>
              <a:t>(</a:t>
            </a:r>
            <a:r>
              <a:rPr lang="en-US" altLang="zh-CN" sz="3600">
                <a:solidFill>
                  <a:srgbClr val="FF0000"/>
                </a:solidFill>
              </a:rPr>
              <a:t>pp-&gt;ptr.hp</a:t>
            </a:r>
            <a:r>
              <a:rPr lang="en-US" altLang="zh-CN" sz="3600"/>
              <a:t>);</a:t>
            </a:r>
          </a:p>
          <a:p>
            <a:pPr>
              <a:lnSpc>
                <a:spcPct val="115000"/>
              </a:lnSpc>
            </a:pPr>
            <a:r>
              <a:rPr lang="en-US" altLang="zh-CN" sz="3600">
                <a:solidFill>
                  <a:srgbClr val="FF0000"/>
                </a:solidFill>
              </a:rPr>
              <a:t>        if (dep &gt; max) max = dep</a:t>
            </a:r>
            <a:r>
              <a:rPr lang="en-US" altLang="zh-CN" sz="3600"/>
              <a:t>;</a:t>
            </a:r>
          </a:p>
          <a:p>
            <a:pPr>
              <a:lnSpc>
                <a:spcPct val="115000"/>
              </a:lnSpc>
            </a:pPr>
            <a:r>
              <a:rPr lang="en-US" altLang="zh-CN" sz="3600"/>
              <a:t>     }</a:t>
            </a:r>
          </a:p>
          <a:p>
            <a:pPr>
              <a:lnSpc>
                <a:spcPct val="115000"/>
              </a:lnSpc>
            </a:pPr>
            <a:r>
              <a:rPr lang="en-US" altLang="zh-CN" sz="3600"/>
              <a:t>     </a:t>
            </a:r>
            <a:r>
              <a:rPr lang="en-US" altLang="zh-CN" sz="3600">
                <a:solidFill>
                  <a:srgbClr val="D60093"/>
                </a:solidFill>
              </a:rPr>
              <a:t>return max + 1</a:t>
            </a:r>
            <a:r>
              <a:rPr lang="en-US" altLang="zh-CN" sz="3600"/>
              <a:t>;</a:t>
            </a:r>
          </a:p>
          <a:p>
            <a:pPr>
              <a:lnSpc>
                <a:spcPct val="115000"/>
              </a:lnSpc>
            </a:pPr>
            <a:r>
              <a:rPr lang="en-US" altLang="zh-CN" sz="3600"/>
              <a:t>  } // GlistDepth</a:t>
            </a:r>
          </a:p>
        </p:txBody>
      </p:sp>
      <p:sp>
        <p:nvSpPr>
          <p:cNvPr id="259076" name="Rectangle 4"/>
          <p:cNvSpPr>
            <a:spLocks noChangeArrowheads="1"/>
          </p:cNvSpPr>
          <p:nvPr/>
        </p:nvSpPr>
        <p:spPr bwMode="auto">
          <a:xfrm>
            <a:off x="2438401" y="1504950"/>
            <a:ext cx="6360011" cy="141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600">
                <a:solidFill>
                  <a:srgbClr val="CC3399"/>
                </a:solidFill>
              </a:rPr>
              <a:t>if (!L) return 1</a:t>
            </a:r>
            <a:r>
              <a:rPr lang="en-US" altLang="zh-CN" sz="3600"/>
              <a:t>; </a:t>
            </a:r>
          </a:p>
          <a:p>
            <a:pPr>
              <a:lnSpc>
                <a:spcPct val="125000"/>
              </a:lnSpc>
            </a:pPr>
            <a:r>
              <a:rPr lang="en-US" altLang="zh-CN" sz="3600">
                <a:solidFill>
                  <a:srgbClr val="CC3399"/>
                </a:solidFill>
              </a:rPr>
              <a:t>if (L-&gt;tag == ATOM) return 0</a:t>
            </a:r>
            <a:r>
              <a:rPr lang="en-US" altLang="zh-CN" sz="3600"/>
              <a:t>;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4" grpId="0" autoUpdateAnimBg="0"/>
      <p:bldP spid="259076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Text Box 2"/>
          <p:cNvSpPr txBox="1">
            <a:spLocks noChangeArrowheads="1"/>
          </p:cNvSpPr>
          <p:nvPr/>
        </p:nvSpPr>
        <p:spPr bwMode="auto">
          <a:xfrm>
            <a:off x="2208213" y="3429001"/>
            <a:ext cx="7194550" cy="264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rgbClr val="008080"/>
                </a:solidFill>
              </a:rPr>
              <a:t>若 </a:t>
            </a:r>
            <a:r>
              <a:rPr lang="en-US" altLang="zh-CN" sz="2000">
                <a:solidFill>
                  <a:srgbClr val="008080"/>
                </a:solidFill>
              </a:rPr>
              <a:t>ls= NIL  </a:t>
            </a:r>
            <a:r>
              <a:rPr lang="zh-CN" altLang="en-US" sz="2000">
                <a:solidFill>
                  <a:srgbClr val="008080"/>
                </a:solidFill>
              </a:rPr>
              <a:t>则 </a:t>
            </a:r>
            <a:r>
              <a:rPr lang="en-US" altLang="zh-CN" sz="2000">
                <a:solidFill>
                  <a:srgbClr val="008080"/>
                </a:solidFill>
              </a:rPr>
              <a:t>newls = NIL</a:t>
            </a:r>
          </a:p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否则</a:t>
            </a:r>
          </a:p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    构造结点 </a:t>
            </a:r>
            <a:r>
              <a:rPr lang="en-US" altLang="zh-CN" sz="2000">
                <a:solidFill>
                  <a:srgbClr val="FF0000"/>
                </a:solidFill>
              </a:rPr>
              <a:t>newls, </a:t>
            </a: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6600CC"/>
                </a:solidFill>
              </a:rPr>
              <a:t>    </a:t>
            </a:r>
            <a:r>
              <a:rPr lang="zh-CN" altLang="en-US" sz="2000">
                <a:solidFill>
                  <a:srgbClr val="6600CC"/>
                </a:solidFill>
              </a:rPr>
              <a:t>由 表头</a:t>
            </a:r>
            <a:r>
              <a:rPr lang="en-US" altLang="zh-CN" sz="2000">
                <a:solidFill>
                  <a:srgbClr val="6600CC"/>
                </a:solidFill>
              </a:rPr>
              <a:t>ls-&gt;ptr.hp </a:t>
            </a:r>
            <a:r>
              <a:rPr lang="zh-CN" altLang="en-US" sz="2000">
                <a:solidFill>
                  <a:srgbClr val="6600CC"/>
                </a:solidFill>
              </a:rPr>
              <a:t>复制得 </a:t>
            </a:r>
            <a:r>
              <a:rPr lang="en-US" altLang="zh-CN" sz="2000">
                <a:solidFill>
                  <a:srgbClr val="6600CC"/>
                </a:solidFill>
              </a:rPr>
              <a:t>newhp</a:t>
            </a: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6600CC"/>
                </a:solidFill>
              </a:rPr>
              <a:t>    </a:t>
            </a:r>
            <a:r>
              <a:rPr lang="zh-CN" altLang="en-US" sz="2000">
                <a:solidFill>
                  <a:srgbClr val="6600CC"/>
                </a:solidFill>
              </a:rPr>
              <a:t>由 表尾 </a:t>
            </a:r>
            <a:r>
              <a:rPr lang="en-US" altLang="zh-CN" sz="2000">
                <a:solidFill>
                  <a:srgbClr val="6600CC"/>
                </a:solidFill>
              </a:rPr>
              <a:t>ls-&gt;ptr.tp </a:t>
            </a:r>
            <a:r>
              <a:rPr lang="zh-CN" altLang="en-US" sz="2000">
                <a:solidFill>
                  <a:srgbClr val="6600CC"/>
                </a:solidFill>
              </a:rPr>
              <a:t>复制得 </a:t>
            </a:r>
            <a:r>
              <a:rPr lang="en-US" altLang="zh-CN" sz="2000">
                <a:solidFill>
                  <a:srgbClr val="6600CC"/>
                </a:solidFill>
              </a:rPr>
              <a:t>newtp</a:t>
            </a:r>
            <a:endParaRPr lang="en-US" altLang="zh-CN" sz="200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FF0000"/>
                </a:solidFill>
              </a:rPr>
              <a:t>    </a:t>
            </a:r>
            <a:r>
              <a:rPr lang="zh-CN" altLang="en-US" sz="2000">
                <a:solidFill>
                  <a:srgbClr val="FF0000"/>
                </a:solidFill>
              </a:rPr>
              <a:t>并使 </a:t>
            </a:r>
            <a:r>
              <a:rPr lang="en-US" altLang="zh-CN" sz="2000">
                <a:solidFill>
                  <a:srgbClr val="FF0000"/>
                </a:solidFill>
              </a:rPr>
              <a:t>newls-&gt;ptr.hp = newhp,</a:t>
            </a: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FF0000"/>
                </a:solidFill>
              </a:rPr>
              <a:t>             newls-&gt;ptr.tp = newtp</a:t>
            </a:r>
          </a:p>
        </p:txBody>
      </p:sp>
      <p:sp>
        <p:nvSpPr>
          <p:cNvPr id="261123" name="Text Box 3"/>
          <p:cNvSpPr txBox="1">
            <a:spLocks noChangeArrowheads="1"/>
          </p:cNvSpPr>
          <p:nvPr/>
        </p:nvSpPr>
        <p:spPr bwMode="auto">
          <a:xfrm>
            <a:off x="2279651" y="2924176"/>
            <a:ext cx="3590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990033"/>
                </a:solidFill>
              </a:rPr>
              <a:t>复制求广义表的算法描述如下</a:t>
            </a:r>
            <a:r>
              <a:rPr lang="en-US" altLang="zh-CN" sz="2000">
                <a:solidFill>
                  <a:srgbClr val="990033"/>
                </a:solidFill>
              </a:rPr>
              <a:t>:</a:t>
            </a:r>
            <a:endParaRPr lang="en-US" altLang="zh-CN" sz="2000"/>
          </a:p>
        </p:txBody>
      </p:sp>
      <p:sp>
        <p:nvSpPr>
          <p:cNvPr id="261124" name="Text Box 4"/>
          <p:cNvSpPr txBox="1">
            <a:spLocks noChangeArrowheads="1"/>
          </p:cNvSpPr>
          <p:nvPr/>
        </p:nvSpPr>
        <p:spPr bwMode="auto">
          <a:xfrm>
            <a:off x="2030413" y="549276"/>
            <a:ext cx="8458200" cy="1312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600"/>
              <a:t>      </a:t>
            </a:r>
            <a:r>
              <a:rPr lang="zh-CN" altLang="en-US" sz="2800">
                <a:solidFill>
                  <a:srgbClr val="0000CC"/>
                </a:solidFill>
              </a:rPr>
              <a:t>将广义表分解成表头和表尾两部分，分别</a:t>
            </a:r>
            <a:r>
              <a:rPr lang="en-US" altLang="zh-CN" sz="2800">
                <a:solidFill>
                  <a:srgbClr val="0000CC"/>
                </a:solidFill>
              </a:rPr>
              <a:t>(</a:t>
            </a:r>
            <a:r>
              <a:rPr lang="zh-CN" altLang="en-US" sz="2800">
                <a:solidFill>
                  <a:srgbClr val="0000CC"/>
                </a:solidFill>
              </a:rPr>
              <a:t>递归</a:t>
            </a:r>
            <a:r>
              <a:rPr lang="en-US" altLang="zh-CN" sz="2800">
                <a:solidFill>
                  <a:srgbClr val="0000CC"/>
                </a:solidFill>
              </a:rPr>
              <a:t>)</a:t>
            </a:r>
            <a:r>
              <a:rPr lang="zh-CN" altLang="en-US" sz="2800">
                <a:solidFill>
                  <a:srgbClr val="0000CC"/>
                </a:solidFill>
              </a:rPr>
              <a:t>复制求得新的表头和表尾，</a:t>
            </a:r>
          </a:p>
        </p:txBody>
      </p:sp>
      <p:sp>
        <p:nvSpPr>
          <p:cNvPr id="261125" name="Text Box 5"/>
          <p:cNvSpPr txBox="1">
            <a:spLocks noChangeArrowheads="1"/>
          </p:cNvSpPr>
          <p:nvPr/>
        </p:nvSpPr>
        <p:spPr bwMode="auto">
          <a:xfrm>
            <a:off x="2063751" y="1844675"/>
            <a:ext cx="777716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000">
                <a:solidFill>
                  <a:srgbClr val="0000CC"/>
                </a:solidFill>
              </a:rPr>
              <a:t>可以直接求解的两种简单情况为</a:t>
            </a:r>
            <a:r>
              <a:rPr lang="en-US" altLang="zh-CN" sz="2000">
                <a:solidFill>
                  <a:srgbClr val="0000CC"/>
                </a:solidFill>
              </a:rPr>
              <a:t>:</a:t>
            </a:r>
          </a:p>
          <a:p>
            <a:pPr>
              <a:lnSpc>
                <a:spcPct val="135000"/>
              </a:lnSpc>
            </a:pPr>
            <a:r>
              <a:rPr lang="en-US" altLang="zh-CN" sz="2000">
                <a:solidFill>
                  <a:srgbClr val="6600CC"/>
                </a:solidFill>
              </a:rPr>
              <a:t>    </a:t>
            </a:r>
            <a:r>
              <a:rPr lang="zh-CN" altLang="en-US" sz="2000">
                <a:solidFill>
                  <a:srgbClr val="990033"/>
                </a:solidFill>
              </a:rPr>
              <a:t>空表复制求得的新表自然也是空表</a:t>
            </a:r>
            <a:r>
              <a:rPr lang="en-US" altLang="zh-CN" sz="2000">
                <a:solidFill>
                  <a:srgbClr val="990033"/>
                </a:solidFill>
              </a:rPr>
              <a:t>; </a:t>
            </a:r>
            <a:r>
              <a:rPr lang="zh-CN" altLang="en-US" sz="2000">
                <a:solidFill>
                  <a:srgbClr val="990033"/>
                </a:solidFill>
              </a:rPr>
              <a:t>原子结点可以直接复制求得。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26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2" grpId="0" autoUpdateAnimBg="0"/>
      <p:bldP spid="261123" grpId="0" autoUpdateAnimBg="0"/>
      <p:bldP spid="261124" grpId="0" autoUpdateAnimBg="0"/>
      <p:bldP spid="261125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1828800" y="282576"/>
            <a:ext cx="8839200" cy="653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/>
              <a:t>Status </a:t>
            </a:r>
            <a:r>
              <a:rPr lang="en-US" altLang="zh-CN" sz="3200">
                <a:solidFill>
                  <a:srgbClr val="CC3399"/>
                </a:solidFill>
              </a:rPr>
              <a:t>CopyGList(</a:t>
            </a:r>
            <a:r>
              <a:rPr lang="en-US" altLang="zh-CN" sz="3200">
                <a:solidFill>
                  <a:srgbClr val="FF0000"/>
                </a:solidFill>
              </a:rPr>
              <a:t>Glist &amp;T</a:t>
            </a:r>
            <a:r>
              <a:rPr lang="en-US" altLang="zh-CN" sz="3200">
                <a:solidFill>
                  <a:srgbClr val="CC3399"/>
                </a:solidFill>
              </a:rPr>
              <a:t>, </a:t>
            </a:r>
            <a:r>
              <a:rPr lang="en-US" altLang="zh-CN" sz="3200">
                <a:solidFill>
                  <a:srgbClr val="0000FF"/>
                </a:solidFill>
              </a:rPr>
              <a:t>Glist L</a:t>
            </a:r>
            <a:r>
              <a:rPr lang="en-US" altLang="zh-CN" sz="3200">
                <a:solidFill>
                  <a:srgbClr val="CC3399"/>
                </a:solidFill>
              </a:rPr>
              <a:t>) {</a:t>
            </a:r>
            <a:endParaRPr lang="en-US" altLang="zh-CN" sz="3200"/>
          </a:p>
          <a:p>
            <a:pPr>
              <a:lnSpc>
                <a:spcPct val="110000"/>
              </a:lnSpc>
            </a:pPr>
            <a:r>
              <a:rPr lang="en-US" altLang="zh-CN" sz="3200">
                <a:solidFill>
                  <a:srgbClr val="008080"/>
                </a:solidFill>
              </a:rPr>
              <a:t>    if (!</a:t>
            </a:r>
            <a:r>
              <a:rPr lang="en-US" altLang="zh-CN" sz="3200">
                <a:solidFill>
                  <a:srgbClr val="0000FF"/>
                </a:solidFill>
              </a:rPr>
              <a:t>L</a:t>
            </a:r>
            <a:r>
              <a:rPr lang="en-US" altLang="zh-CN" sz="3200">
                <a:solidFill>
                  <a:srgbClr val="008080"/>
                </a:solidFill>
              </a:rPr>
              <a:t>) T = NULL</a:t>
            </a:r>
            <a:r>
              <a:rPr lang="en-US" altLang="zh-CN" sz="3200"/>
              <a:t>;  // </a:t>
            </a:r>
            <a:r>
              <a:rPr lang="zh-CN" altLang="en-US" sz="3200"/>
              <a:t>复制空表</a:t>
            </a:r>
          </a:p>
          <a:p>
            <a:pPr>
              <a:lnSpc>
                <a:spcPct val="110000"/>
              </a:lnSpc>
            </a:pPr>
            <a:r>
              <a:rPr lang="zh-CN" altLang="en-US" sz="3200"/>
              <a:t>    </a:t>
            </a:r>
            <a:r>
              <a:rPr lang="en-US" altLang="zh-CN" sz="3200"/>
              <a:t>else {</a:t>
            </a:r>
          </a:p>
          <a:p>
            <a:pPr>
              <a:lnSpc>
                <a:spcPct val="110000"/>
              </a:lnSpc>
            </a:pPr>
            <a:r>
              <a:rPr lang="en-US" altLang="zh-CN" sz="3200"/>
              <a:t>       if ( </a:t>
            </a:r>
            <a:r>
              <a:rPr lang="en-US" altLang="zh-CN" sz="3200">
                <a:solidFill>
                  <a:srgbClr val="9900FF"/>
                </a:solidFill>
              </a:rPr>
              <a:t>!(</a:t>
            </a:r>
            <a:r>
              <a:rPr lang="en-US" altLang="zh-CN" sz="3200">
                <a:solidFill>
                  <a:srgbClr val="FF0000"/>
                </a:solidFill>
              </a:rPr>
              <a:t>T = new GLNode</a:t>
            </a:r>
            <a:r>
              <a:rPr lang="en-US" altLang="zh-CN" sz="3200">
                <a:solidFill>
                  <a:srgbClr val="9900FF"/>
                </a:solidFill>
              </a:rPr>
              <a:t>) </a:t>
            </a:r>
            <a:r>
              <a:rPr lang="en-US" altLang="zh-CN" sz="3200"/>
              <a:t>) </a:t>
            </a:r>
          </a:p>
          <a:p>
            <a:pPr>
              <a:lnSpc>
                <a:spcPct val="110000"/>
              </a:lnSpc>
            </a:pPr>
            <a:r>
              <a:rPr lang="en-US" altLang="zh-CN" sz="3200"/>
              <a:t>           </a:t>
            </a:r>
            <a:r>
              <a:rPr lang="en-US" altLang="zh-CN" sz="3200">
                <a:solidFill>
                  <a:srgbClr val="9900FF"/>
                </a:solidFill>
              </a:rPr>
              <a:t>exit(OVERFLOW);</a:t>
            </a:r>
            <a:r>
              <a:rPr lang="en-US" altLang="zh-CN" sz="3200"/>
              <a:t>  // </a:t>
            </a:r>
            <a:r>
              <a:rPr lang="zh-CN" altLang="en-US" sz="3200"/>
              <a:t>建表结点</a:t>
            </a:r>
          </a:p>
          <a:p>
            <a:pPr>
              <a:lnSpc>
                <a:spcPct val="110000"/>
              </a:lnSpc>
            </a:pPr>
            <a:r>
              <a:rPr lang="zh-CN" altLang="en-US" sz="3200">
                <a:solidFill>
                  <a:srgbClr val="FF0000"/>
                </a:solidFill>
              </a:rPr>
              <a:t>       </a:t>
            </a:r>
            <a:r>
              <a:rPr lang="en-US" altLang="zh-CN" sz="3200">
                <a:solidFill>
                  <a:srgbClr val="FF0000"/>
                </a:solidFill>
              </a:rPr>
              <a:t>T-&gt;tag</a:t>
            </a:r>
            <a:r>
              <a:rPr lang="en-US" altLang="zh-CN" sz="3200"/>
              <a:t> =</a:t>
            </a:r>
            <a:r>
              <a:rPr lang="en-US" altLang="zh-CN" sz="3200">
                <a:solidFill>
                  <a:srgbClr val="0000FF"/>
                </a:solidFill>
              </a:rPr>
              <a:t> L-&gt;tag</a:t>
            </a:r>
            <a:r>
              <a:rPr lang="en-US" altLang="zh-CN" sz="3200"/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3200"/>
              <a:t>       if (L-&gt;tag == ATOM) </a:t>
            </a:r>
          </a:p>
          <a:p>
            <a:pPr>
              <a:lnSpc>
                <a:spcPct val="110000"/>
              </a:lnSpc>
            </a:pPr>
            <a:r>
              <a:rPr lang="en-US" altLang="zh-CN" sz="3200"/>
              <a:t>           </a:t>
            </a:r>
            <a:r>
              <a:rPr lang="en-US" altLang="zh-CN" sz="3200">
                <a:solidFill>
                  <a:srgbClr val="FF0000"/>
                </a:solidFill>
              </a:rPr>
              <a:t>T-&gt;atom</a:t>
            </a:r>
            <a:r>
              <a:rPr lang="en-US" altLang="zh-CN" sz="3200"/>
              <a:t> = </a:t>
            </a:r>
            <a:r>
              <a:rPr lang="en-US" altLang="zh-CN" sz="3200">
                <a:solidFill>
                  <a:srgbClr val="0000FF"/>
                </a:solidFill>
              </a:rPr>
              <a:t>L-&gt;atom</a:t>
            </a:r>
            <a:r>
              <a:rPr lang="en-US" altLang="zh-CN" sz="3200"/>
              <a:t>;  // </a:t>
            </a:r>
            <a:r>
              <a:rPr lang="zh-CN" altLang="en-US" sz="3200"/>
              <a:t>复制单原子结点</a:t>
            </a:r>
          </a:p>
          <a:p>
            <a:pPr>
              <a:lnSpc>
                <a:spcPct val="110000"/>
              </a:lnSpc>
            </a:pPr>
            <a:r>
              <a:rPr lang="zh-CN" altLang="en-US" sz="3200"/>
              <a:t>       </a:t>
            </a:r>
            <a:r>
              <a:rPr lang="en-US" altLang="zh-CN" sz="3200"/>
              <a:t>else {                                         }</a:t>
            </a:r>
          </a:p>
          <a:p>
            <a:pPr>
              <a:lnSpc>
                <a:spcPct val="110000"/>
              </a:lnSpc>
            </a:pPr>
            <a:r>
              <a:rPr lang="en-US" altLang="zh-CN" sz="3200"/>
              <a:t>    } // else</a:t>
            </a:r>
          </a:p>
          <a:p>
            <a:pPr>
              <a:lnSpc>
                <a:spcPct val="110000"/>
              </a:lnSpc>
            </a:pPr>
            <a:r>
              <a:rPr lang="en-US" altLang="zh-CN" sz="3200"/>
              <a:t>    return OK;</a:t>
            </a:r>
          </a:p>
          <a:p>
            <a:pPr>
              <a:lnSpc>
                <a:spcPct val="110000"/>
              </a:lnSpc>
            </a:pPr>
            <a:r>
              <a:rPr lang="en-US" altLang="zh-CN" sz="3200"/>
              <a:t>} // CopyGList</a:t>
            </a:r>
          </a:p>
        </p:txBody>
      </p:sp>
      <p:sp>
        <p:nvSpPr>
          <p:cNvPr id="39939" name="Text Box 4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3657601" y="4471989"/>
            <a:ext cx="38703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D60093"/>
                </a:solidFill>
              </a:rPr>
              <a:t>分别复制表头和表尾</a:t>
            </a: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ChangeArrowheads="1"/>
          </p:cNvSpPr>
          <p:nvPr/>
        </p:nvSpPr>
        <p:spPr bwMode="auto">
          <a:xfrm>
            <a:off x="1676400" y="1125539"/>
            <a:ext cx="8991600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>
                <a:solidFill>
                  <a:srgbClr val="0000CC"/>
                </a:solidFill>
              </a:rPr>
              <a:t>        </a:t>
            </a:r>
            <a:r>
              <a:rPr lang="zh-CN" altLang="en-US" sz="3200">
                <a:solidFill>
                  <a:srgbClr val="0000CC"/>
                </a:solidFill>
              </a:rPr>
              <a:t>假设以字符串 </a:t>
            </a:r>
            <a:r>
              <a:rPr lang="en-US" altLang="zh-CN" sz="3200">
                <a:solidFill>
                  <a:srgbClr val="0000CC"/>
                </a:solidFill>
              </a:rPr>
              <a:t>S = </a:t>
            </a:r>
            <a:r>
              <a:rPr lang="en-US" altLang="zh-CN" sz="3200">
                <a:solidFill>
                  <a:srgbClr val="0000CC"/>
                </a:solidFill>
                <a:sym typeface="Symbol" pitchFamily="18" charset="2"/>
              </a:rPr>
              <a:t></a:t>
            </a:r>
            <a:r>
              <a:rPr lang="en-US" altLang="zh-CN" sz="3200">
                <a:solidFill>
                  <a:srgbClr val="0000CC"/>
                </a:solidFill>
              </a:rPr>
              <a:t>(</a:t>
            </a:r>
            <a:r>
              <a:rPr lang="en-US" altLang="zh-CN" sz="3200">
                <a:solidFill>
                  <a:srgbClr val="0000CC"/>
                </a:solidFill>
                <a:sym typeface="Symbol" pitchFamily="18" charset="2"/>
              </a:rPr>
              <a:t></a:t>
            </a:r>
            <a:r>
              <a:rPr lang="en-US" altLang="zh-CN" sz="3200" baseline="-25000">
                <a:solidFill>
                  <a:srgbClr val="0000CC"/>
                </a:solidFill>
              </a:rPr>
              <a:t>1</a:t>
            </a:r>
            <a:r>
              <a:rPr lang="en-US" altLang="zh-CN" sz="3200">
                <a:solidFill>
                  <a:srgbClr val="0000CC"/>
                </a:solidFill>
              </a:rPr>
              <a:t>, </a:t>
            </a:r>
            <a:r>
              <a:rPr lang="en-US" altLang="zh-CN" sz="3200">
                <a:solidFill>
                  <a:srgbClr val="0000CC"/>
                </a:solidFill>
                <a:sym typeface="Symbol" pitchFamily="18" charset="2"/>
              </a:rPr>
              <a:t></a:t>
            </a:r>
            <a:r>
              <a:rPr lang="en-US" altLang="zh-CN" sz="3200" baseline="-25000">
                <a:solidFill>
                  <a:srgbClr val="0000CC"/>
                </a:solidFill>
              </a:rPr>
              <a:t>2</a:t>
            </a:r>
            <a:r>
              <a:rPr lang="en-US" altLang="zh-CN" sz="3200">
                <a:solidFill>
                  <a:srgbClr val="0000CC"/>
                </a:solidFill>
              </a:rPr>
              <a:t>, </a:t>
            </a:r>
            <a:r>
              <a:rPr lang="en-US" altLang="zh-CN" sz="3200">
                <a:solidFill>
                  <a:srgbClr val="0000CC"/>
                </a:solidFill>
                <a:sym typeface="Symbol" pitchFamily="18" charset="2"/>
              </a:rPr>
              <a:t></a:t>
            </a:r>
            <a:r>
              <a:rPr lang="en-US" altLang="zh-CN" sz="3200">
                <a:solidFill>
                  <a:srgbClr val="0000CC"/>
                </a:solidFill>
              </a:rPr>
              <a:t>, </a:t>
            </a:r>
            <a:r>
              <a:rPr lang="en-US" altLang="zh-CN" sz="3200">
                <a:solidFill>
                  <a:srgbClr val="0000CC"/>
                </a:solidFill>
                <a:sym typeface="Symbol" pitchFamily="18" charset="2"/>
              </a:rPr>
              <a:t></a:t>
            </a:r>
            <a:r>
              <a:rPr lang="en-US" altLang="zh-CN" sz="3200" baseline="-25000">
                <a:solidFill>
                  <a:srgbClr val="0000CC"/>
                </a:solidFill>
              </a:rPr>
              <a:t>n </a:t>
            </a:r>
            <a:r>
              <a:rPr lang="en-US" altLang="zh-CN" sz="3200">
                <a:solidFill>
                  <a:srgbClr val="0000CC"/>
                </a:solidFill>
              </a:rPr>
              <a:t>)</a:t>
            </a:r>
            <a:r>
              <a:rPr lang="en-US" altLang="zh-CN" sz="3200">
                <a:solidFill>
                  <a:srgbClr val="0000CC"/>
                </a:solidFill>
                <a:sym typeface="Symbol" pitchFamily="18" charset="2"/>
              </a:rPr>
              <a:t></a:t>
            </a:r>
            <a:r>
              <a:rPr lang="en-US" altLang="zh-CN" sz="3200">
                <a:solidFill>
                  <a:srgbClr val="0000CC"/>
                </a:solidFill>
              </a:rPr>
              <a:t>  </a:t>
            </a:r>
            <a:r>
              <a:rPr lang="zh-CN" altLang="en-US" sz="3200">
                <a:solidFill>
                  <a:srgbClr val="0000CC"/>
                </a:solidFill>
              </a:rPr>
              <a:t>的形式定义广义表 </a:t>
            </a:r>
            <a:r>
              <a:rPr lang="en-US" altLang="zh-CN" sz="3200" i="1">
                <a:solidFill>
                  <a:srgbClr val="0000CC"/>
                </a:solidFill>
              </a:rPr>
              <a:t>L</a:t>
            </a:r>
            <a:r>
              <a:rPr lang="zh-CN" altLang="en-US" sz="3200">
                <a:solidFill>
                  <a:srgbClr val="0000CC"/>
                </a:solidFill>
              </a:rPr>
              <a:t>，建立相应的存储结构</a:t>
            </a:r>
            <a:r>
              <a:rPr lang="zh-CN" altLang="en-US" sz="3200" i="1">
                <a:solidFill>
                  <a:srgbClr val="0000CC"/>
                </a:solidFill>
              </a:rPr>
              <a:t>。</a:t>
            </a:r>
          </a:p>
        </p:txBody>
      </p:sp>
      <p:sp>
        <p:nvSpPr>
          <p:cNvPr id="264195" name="Text Box 3"/>
          <p:cNvSpPr txBox="1">
            <a:spLocks noChangeArrowheads="1"/>
          </p:cNvSpPr>
          <p:nvPr/>
        </p:nvSpPr>
        <p:spPr bwMode="auto">
          <a:xfrm>
            <a:off x="1676400" y="2300289"/>
            <a:ext cx="88392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>
                <a:solidFill>
                  <a:srgbClr val="990033"/>
                </a:solidFill>
              </a:rPr>
              <a:t>    </a:t>
            </a:r>
            <a:r>
              <a:rPr lang="zh-CN" altLang="en-US" sz="3200">
                <a:solidFill>
                  <a:srgbClr val="990033"/>
                </a:solidFill>
              </a:rPr>
              <a:t>由于</a:t>
            </a:r>
            <a:r>
              <a:rPr lang="en-US" altLang="zh-CN" sz="3200">
                <a:solidFill>
                  <a:srgbClr val="990033"/>
                </a:solidFill>
              </a:rPr>
              <a:t>S</a:t>
            </a:r>
            <a:r>
              <a:rPr lang="zh-CN" altLang="en-US" sz="3200">
                <a:solidFill>
                  <a:srgbClr val="990033"/>
                </a:solidFill>
              </a:rPr>
              <a:t>中的每个子串</a:t>
            </a:r>
            <a:r>
              <a:rPr lang="zh-CN" altLang="en-US" sz="320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altLang="zh-CN" sz="3200" baseline="-25000">
                <a:solidFill>
                  <a:srgbClr val="FF0000"/>
                </a:solidFill>
              </a:rPr>
              <a:t>i</a:t>
            </a:r>
            <a:r>
              <a:rPr lang="zh-CN" altLang="en-US" sz="3200">
                <a:solidFill>
                  <a:srgbClr val="990033"/>
                </a:solidFill>
              </a:rPr>
              <a:t>定义 </a:t>
            </a:r>
            <a:r>
              <a:rPr lang="en-US" altLang="zh-CN" sz="3200" i="1">
                <a:solidFill>
                  <a:srgbClr val="990033"/>
                </a:solidFill>
              </a:rPr>
              <a:t>L </a:t>
            </a:r>
            <a:r>
              <a:rPr lang="zh-CN" altLang="en-US" sz="3200">
                <a:solidFill>
                  <a:srgbClr val="990033"/>
                </a:solidFill>
              </a:rPr>
              <a:t>的一个</a:t>
            </a:r>
            <a:r>
              <a:rPr lang="zh-CN" altLang="en-US" sz="3200">
                <a:solidFill>
                  <a:srgbClr val="FF0000"/>
                </a:solidFill>
              </a:rPr>
              <a:t>子表</a:t>
            </a:r>
            <a:r>
              <a:rPr lang="zh-CN" altLang="en-US" sz="3200">
                <a:solidFill>
                  <a:srgbClr val="990033"/>
                </a:solidFill>
              </a:rPr>
              <a:t>，从而产生 </a:t>
            </a:r>
            <a:r>
              <a:rPr lang="en-US" altLang="zh-CN" sz="3200" i="1">
                <a:solidFill>
                  <a:srgbClr val="990033"/>
                </a:solidFill>
              </a:rPr>
              <a:t>n </a:t>
            </a:r>
            <a:r>
              <a:rPr lang="zh-CN" altLang="en-US" sz="3200">
                <a:solidFill>
                  <a:srgbClr val="990033"/>
                </a:solidFill>
              </a:rPr>
              <a:t>个子问题，即分别由这 </a:t>
            </a:r>
            <a:r>
              <a:rPr lang="en-US" altLang="zh-CN" sz="3200" i="1">
                <a:solidFill>
                  <a:srgbClr val="990033"/>
                </a:solidFill>
              </a:rPr>
              <a:t>n</a:t>
            </a:r>
            <a:r>
              <a:rPr lang="zh-CN" altLang="en-US" sz="3200">
                <a:solidFill>
                  <a:srgbClr val="990033"/>
                </a:solidFill>
              </a:rPr>
              <a:t>个子串 </a:t>
            </a:r>
            <a:r>
              <a:rPr lang="en-US" altLang="zh-CN" sz="3200">
                <a:solidFill>
                  <a:srgbClr val="990033"/>
                </a:solidFill>
              </a:rPr>
              <a:t>(</a:t>
            </a:r>
            <a:r>
              <a:rPr lang="zh-CN" altLang="en-US" sz="3200">
                <a:solidFill>
                  <a:srgbClr val="990033"/>
                </a:solidFill>
              </a:rPr>
              <a:t>递归</a:t>
            </a:r>
            <a:r>
              <a:rPr lang="en-US" altLang="zh-CN" sz="3200">
                <a:solidFill>
                  <a:srgbClr val="990033"/>
                </a:solidFill>
              </a:rPr>
              <a:t>)</a:t>
            </a:r>
            <a:r>
              <a:rPr lang="zh-CN" altLang="en-US" sz="3200">
                <a:solidFill>
                  <a:srgbClr val="990033"/>
                </a:solidFill>
              </a:rPr>
              <a:t>建立 </a:t>
            </a:r>
            <a:r>
              <a:rPr lang="en-US" altLang="zh-CN" sz="3200" i="1">
                <a:solidFill>
                  <a:srgbClr val="990033"/>
                </a:solidFill>
              </a:rPr>
              <a:t>n </a:t>
            </a:r>
            <a:r>
              <a:rPr lang="zh-CN" altLang="en-US" sz="3200">
                <a:solidFill>
                  <a:srgbClr val="990033"/>
                </a:solidFill>
              </a:rPr>
              <a:t>个子表，再</a:t>
            </a:r>
            <a:r>
              <a:rPr lang="zh-CN" altLang="en-US" sz="3200">
                <a:solidFill>
                  <a:srgbClr val="FF0000"/>
                </a:solidFill>
              </a:rPr>
              <a:t>组合</a:t>
            </a:r>
            <a:r>
              <a:rPr lang="zh-CN" altLang="en-US" sz="3200">
                <a:solidFill>
                  <a:srgbClr val="990033"/>
                </a:solidFill>
              </a:rPr>
              <a:t>成一个广义表。</a:t>
            </a:r>
            <a:endParaRPr lang="zh-CN" altLang="en-US" sz="3200" baseline="-25000">
              <a:solidFill>
                <a:srgbClr val="0000CC"/>
              </a:solidFill>
            </a:endParaRPr>
          </a:p>
        </p:txBody>
      </p:sp>
      <p:sp>
        <p:nvSpPr>
          <p:cNvPr id="264196" name="Text Box 4"/>
          <p:cNvSpPr txBox="1">
            <a:spLocks noChangeArrowheads="1"/>
          </p:cNvSpPr>
          <p:nvPr/>
        </p:nvSpPr>
        <p:spPr bwMode="auto">
          <a:xfrm>
            <a:off x="1828800" y="4102100"/>
            <a:ext cx="8458200" cy="206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3200">
                <a:solidFill>
                  <a:srgbClr val="0000CC"/>
                </a:solidFill>
              </a:rPr>
              <a:t>    </a:t>
            </a:r>
            <a:r>
              <a:rPr lang="zh-CN" altLang="en-US" sz="3200">
                <a:solidFill>
                  <a:srgbClr val="0000CC"/>
                </a:solidFill>
              </a:rPr>
              <a:t>可以直接求解的两种简单情况为</a:t>
            </a:r>
            <a:r>
              <a:rPr lang="en-US" altLang="zh-CN" sz="3200">
                <a:solidFill>
                  <a:srgbClr val="0000CC"/>
                </a:solidFill>
              </a:rPr>
              <a:t>:</a:t>
            </a:r>
          </a:p>
          <a:p>
            <a:pPr>
              <a:lnSpc>
                <a:spcPct val="135000"/>
              </a:lnSpc>
            </a:pPr>
            <a:r>
              <a:rPr lang="zh-CN" altLang="en-US" sz="3200">
                <a:solidFill>
                  <a:srgbClr val="990033"/>
                </a:solidFill>
              </a:rPr>
              <a:t>由串</a:t>
            </a:r>
            <a:r>
              <a:rPr lang="zh-CN" altLang="en-US" sz="3200">
                <a:solidFill>
                  <a:srgbClr val="800000"/>
                </a:solidFill>
                <a:sym typeface="Symbol" pitchFamily="18" charset="2"/>
              </a:rPr>
              <a:t></a:t>
            </a:r>
            <a:r>
              <a:rPr lang="en-US" altLang="zh-CN" sz="3200">
                <a:solidFill>
                  <a:srgbClr val="800000"/>
                </a:solidFill>
              </a:rPr>
              <a:t>(</a:t>
            </a:r>
            <a:r>
              <a:rPr lang="en-US" altLang="zh-CN" sz="3200">
                <a:solidFill>
                  <a:srgbClr val="800000"/>
                </a:solidFill>
                <a:sym typeface="Symbol" pitchFamily="18" charset="2"/>
              </a:rPr>
              <a:t>  </a:t>
            </a:r>
            <a:r>
              <a:rPr lang="en-US" altLang="zh-CN" sz="3200">
                <a:solidFill>
                  <a:srgbClr val="800000"/>
                </a:solidFill>
              </a:rPr>
              <a:t>)</a:t>
            </a:r>
            <a:r>
              <a:rPr lang="en-US" altLang="zh-CN" sz="3200">
                <a:solidFill>
                  <a:srgbClr val="800000"/>
                </a:solidFill>
                <a:sym typeface="Symbol" pitchFamily="18" charset="2"/>
              </a:rPr>
              <a:t></a:t>
            </a:r>
            <a:r>
              <a:rPr lang="zh-CN" altLang="en-US" sz="3200">
                <a:solidFill>
                  <a:srgbClr val="800000"/>
                </a:solidFill>
                <a:sym typeface="Symbol" pitchFamily="18" charset="2"/>
              </a:rPr>
              <a:t>建立的广义表是</a:t>
            </a:r>
            <a:r>
              <a:rPr lang="zh-CN" altLang="en-US" sz="3200">
                <a:solidFill>
                  <a:srgbClr val="990033"/>
                </a:solidFill>
              </a:rPr>
              <a:t>空表</a:t>
            </a:r>
            <a:r>
              <a:rPr lang="en-US" altLang="zh-CN" sz="3200">
                <a:solidFill>
                  <a:srgbClr val="990033"/>
                </a:solidFill>
              </a:rPr>
              <a:t>;</a:t>
            </a:r>
          </a:p>
          <a:p>
            <a:pPr>
              <a:lnSpc>
                <a:spcPct val="135000"/>
              </a:lnSpc>
            </a:pPr>
            <a:r>
              <a:rPr lang="zh-CN" altLang="en-US" sz="3200">
                <a:solidFill>
                  <a:srgbClr val="990033"/>
                </a:solidFill>
              </a:rPr>
              <a:t>由单字符建立的子表只是一个原子结点。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3215680" y="356098"/>
            <a:ext cx="526297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chemeClr val="bg2">
                    <a:lumMod val="75000"/>
                  </a:schemeClr>
                </a:solidFill>
              </a:rPr>
              <a:t>创建广义表存储结构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6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6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4" grpId="0" autoUpdateAnimBg="0"/>
      <p:bldP spid="264195" grpId="0" autoUpdateAnimBg="0"/>
      <p:bldP spid="264196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5027614" y="544514"/>
            <a:ext cx="19399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>
                <a:latin typeface="华文中宋" pitchFamily="2" charset="-122"/>
                <a:ea typeface="华文中宋" pitchFamily="2" charset="-122"/>
              </a:rPr>
              <a:t>教学要求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952750" y="1557338"/>
            <a:ext cx="7715250" cy="338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12800" indent="-8128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endParaRPr lang="en-US" altLang="zh-CN" sz="2800" dirty="0"/>
          </a:p>
          <a:p>
            <a:pPr marL="812800" indent="-8128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romanUcPeriod"/>
            </a:pPr>
            <a:r>
              <a:rPr lang="zh-CN" altLang="en-US" sz="3200" dirty="0"/>
              <a:t>数组与线性表的关系及其</a:t>
            </a:r>
            <a:r>
              <a:rPr lang="en-US" altLang="zh-CN" sz="3200" dirty="0"/>
              <a:t>ADT</a:t>
            </a:r>
            <a:r>
              <a:rPr lang="zh-CN" altLang="en-US" sz="3200" dirty="0"/>
              <a:t>定义</a:t>
            </a:r>
          </a:p>
          <a:p>
            <a:pPr marL="812800" indent="-8128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romanUcPeriod"/>
            </a:pPr>
            <a:r>
              <a:rPr lang="zh-CN" altLang="en-US" sz="3200" dirty="0"/>
              <a:t>数组的顺序表示和实现</a:t>
            </a:r>
          </a:p>
          <a:p>
            <a:pPr marL="812800" indent="-8128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romanUcPeriod"/>
            </a:pPr>
            <a:r>
              <a:rPr lang="zh-CN" altLang="en-US" sz="3200" dirty="0"/>
              <a:t>两种特殊矩阵及其压缩存储</a:t>
            </a:r>
            <a:r>
              <a:rPr lang="en-US" altLang="zh-CN" sz="3200" dirty="0"/>
              <a:t>(</a:t>
            </a:r>
            <a:r>
              <a:rPr lang="zh-CN" altLang="en-US" sz="3200" dirty="0"/>
              <a:t>操作</a:t>
            </a:r>
            <a:r>
              <a:rPr lang="en-US" altLang="zh-CN" sz="3200" dirty="0"/>
              <a:t>)</a:t>
            </a:r>
          </a:p>
          <a:p>
            <a:pPr marL="812800" indent="-8128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romanUcPeriod"/>
            </a:pPr>
            <a:r>
              <a:rPr lang="zh-CN" altLang="en-US" sz="3200" dirty="0"/>
              <a:t>广义表的两个重要概念</a:t>
            </a:r>
          </a:p>
          <a:p>
            <a:pPr marL="812800" indent="-8128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romanUcPeriod"/>
            </a:pPr>
            <a:r>
              <a:rPr lang="zh-CN" altLang="en-US" sz="3200" dirty="0"/>
              <a:t>广义表</a:t>
            </a:r>
            <a:r>
              <a:rPr lang="en-US" altLang="zh-CN" sz="3200" dirty="0"/>
              <a:t>ADT</a:t>
            </a:r>
            <a:r>
              <a:rPr lang="zh-CN" altLang="en-US" sz="3200" dirty="0"/>
              <a:t>定义、表示和实现</a:t>
            </a:r>
          </a:p>
          <a:p>
            <a:pPr marL="812800" indent="-8128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romanUcPeriod"/>
            </a:pPr>
            <a:r>
              <a:rPr lang="zh-CN" altLang="en-US" sz="3200" dirty="0"/>
              <a:t>广义表的递归算法</a:t>
            </a:r>
          </a:p>
        </p:txBody>
      </p:sp>
    </p:spTree>
  </p:cSld>
  <p:clrMapOvr>
    <a:masterClrMapping/>
  </p:clrMapOvr>
  <p:transition spd="slow">
    <p:zoom dir="in"/>
  </p:transition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6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6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16343</TotalTime>
  <Words>10410</Words>
  <Application>Microsoft Office PowerPoint</Application>
  <PresentationFormat>宽屏</PresentationFormat>
  <Paragraphs>1668</Paragraphs>
  <Slides>78</Slides>
  <Notes>64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87" baseType="lpstr">
      <vt:lpstr>华文新魏</vt:lpstr>
      <vt:lpstr>华文中宋</vt:lpstr>
      <vt:lpstr>楷体_GB2312</vt:lpstr>
      <vt:lpstr>隶书</vt:lpstr>
      <vt:lpstr>Arial</vt:lpstr>
      <vt:lpstr>Times New Roman</vt:lpstr>
      <vt:lpstr>默认设计模板</vt:lpstr>
      <vt:lpstr>公式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广义表的递归算法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润资 陈</cp:lastModifiedBy>
  <cp:revision>836</cp:revision>
  <dcterms:created xsi:type="dcterms:W3CDTF">2004-01-29T07:02:12Z</dcterms:created>
  <dcterms:modified xsi:type="dcterms:W3CDTF">2023-10-17T08:28:29Z</dcterms:modified>
</cp:coreProperties>
</file>