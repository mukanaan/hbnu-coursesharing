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68" r:id="rId2"/>
    <p:sldId id="269" r:id="rId3"/>
    <p:sldId id="274" r:id="rId4"/>
    <p:sldId id="273" r:id="rId5"/>
    <p:sldId id="275" r:id="rId6"/>
    <p:sldId id="306" r:id="rId7"/>
    <p:sldId id="276" r:id="rId8"/>
    <p:sldId id="307" r:id="rId9"/>
    <p:sldId id="308" r:id="rId10"/>
    <p:sldId id="277" r:id="rId11"/>
    <p:sldId id="279" r:id="rId12"/>
    <p:sldId id="280" r:id="rId13"/>
    <p:sldId id="289" r:id="rId14"/>
    <p:sldId id="281" r:id="rId15"/>
    <p:sldId id="282" r:id="rId16"/>
    <p:sldId id="284" r:id="rId17"/>
    <p:sldId id="309" r:id="rId18"/>
    <p:sldId id="286" r:id="rId19"/>
    <p:sldId id="290" r:id="rId20"/>
    <p:sldId id="315" r:id="rId21"/>
    <p:sldId id="291" r:id="rId22"/>
    <p:sldId id="292" r:id="rId23"/>
    <p:sldId id="293" r:id="rId24"/>
    <p:sldId id="285" r:id="rId25"/>
    <p:sldId id="294" r:id="rId26"/>
    <p:sldId id="311" r:id="rId27"/>
    <p:sldId id="316" r:id="rId28"/>
    <p:sldId id="317" r:id="rId29"/>
    <p:sldId id="318" r:id="rId30"/>
    <p:sldId id="298" r:id="rId31"/>
    <p:sldId id="295" r:id="rId32"/>
    <p:sldId id="296" r:id="rId33"/>
    <p:sldId id="319" r:id="rId34"/>
    <p:sldId id="305" r:id="rId35"/>
    <p:sldId id="297" r:id="rId36"/>
    <p:sldId id="320" r:id="rId37"/>
    <p:sldId id="321" r:id="rId38"/>
    <p:sldId id="323" r:id="rId39"/>
    <p:sldId id="322" r:id="rId40"/>
    <p:sldId id="301" r:id="rId41"/>
    <p:sldId id="302" r:id="rId42"/>
    <p:sldId id="312" r:id="rId43"/>
    <p:sldId id="313" r:id="rId44"/>
    <p:sldId id="314" r:id="rId45"/>
    <p:sldId id="310" r:id="rId46"/>
    <p:sldId id="303" r:id="rId47"/>
    <p:sldId id="304"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90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584" autoAdjust="0"/>
  </p:normalViewPr>
  <p:slideViewPr>
    <p:cSldViewPr>
      <p:cViewPr varScale="1">
        <p:scale>
          <a:sx n="76" d="100"/>
          <a:sy n="76" d="100"/>
        </p:scale>
        <p:origin x="917" y="43"/>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1472F5-E874-45EB-9D70-82D26FE8604A}" type="datetimeFigureOut">
              <a:rPr lang="zh-CN" altLang="en-US" smtClean="0"/>
              <a:pPr/>
              <a:t>2023/9/12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B09046-10C3-4233-A7CC-3200DAB24B04}" type="slidenum">
              <a:rPr lang="zh-CN" altLang="en-US" smtClean="0"/>
              <a:pPr/>
              <a:t>‹#›</a:t>
            </a:fld>
            <a:endParaRPr lang="zh-CN" altLang="en-US"/>
          </a:p>
        </p:txBody>
      </p:sp>
    </p:spTree>
    <p:extLst>
      <p:ext uri="{BB962C8B-B14F-4D97-AF65-F5344CB8AC3E}">
        <p14:creationId xmlns:p14="http://schemas.microsoft.com/office/powerpoint/2010/main" val="1689448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4</a:t>
            </a:fld>
            <a:endParaRPr lang="zh-CN" altLang="en-US"/>
          </a:p>
        </p:txBody>
      </p:sp>
    </p:spTree>
    <p:extLst>
      <p:ext uri="{BB962C8B-B14F-4D97-AF65-F5344CB8AC3E}">
        <p14:creationId xmlns:p14="http://schemas.microsoft.com/office/powerpoint/2010/main" val="186524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意义：数据结构是计算机科学与技术专业、计算机信息管理与应用专业，电子商务等专业的基础课，是十分重要的核心课程。所有的计算机系统软件和应用软件都要用到各种类型的数据结构。因此，要想更好地运用计算机来解决实际问题，仅掌握几种计算机程序设计语言是难以应付当前众多复杂的课题。要想有效地使用计算机、充分发挥计算机的性能，还必须学习和掌握好数据结构的有关知识。打好“数据结构”这门课程的扎实基础，对于学习计算机专业的其他课程，如操作系统、数据库管理系统、软件工程、编译原理、人工智能、图视学等都是十分有益的。</a:t>
            </a:r>
            <a:endParaRPr lang="en-US" altLang="zh-CN"/>
          </a:p>
          <a:p>
            <a:r>
              <a:rPr lang="zh-CN" altLang="en-US" dirty="0"/>
              <a:t>条件：有一门高级语言的基础、离散数学的相关知识、概率统计的相关知识</a:t>
            </a:r>
            <a:endParaRPr lang="en-US" altLang="zh-CN" dirty="0"/>
          </a:p>
          <a:p>
            <a:r>
              <a:rPr lang="zh-CN" altLang="en-US" dirty="0"/>
              <a:t>要求：必须要看</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5</a:t>
            </a:fld>
            <a:endParaRPr lang="zh-CN" altLang="en-US"/>
          </a:p>
        </p:txBody>
      </p:sp>
    </p:spTree>
    <p:extLst>
      <p:ext uri="{BB962C8B-B14F-4D97-AF65-F5344CB8AC3E}">
        <p14:creationId xmlns:p14="http://schemas.microsoft.com/office/powerpoint/2010/main" val="2705039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7352A7-0890-4329-945C-EF3FA014997C}" type="slidenum">
              <a:rPr lang="en-US" altLang="zh-CN"/>
              <a:pPr/>
              <a:t>8</a:t>
            </a:fld>
            <a:endParaRPr lang="en-US" altLang="zh-CN"/>
          </a:p>
        </p:txBody>
      </p:sp>
      <p:sp>
        <p:nvSpPr>
          <p:cNvPr id="103426" name="Rectangle 2"/>
          <p:cNvSpPr>
            <a:spLocks noGrp="1" noRot="1" noChangeAspect="1" noChangeArrowheads="1" noTextEdit="1"/>
          </p:cNvSpPr>
          <p:nvPr>
            <p:ph type="sldImg"/>
          </p:nvPr>
        </p:nvSpPr>
        <p:spPr>
          <a:xfrm>
            <a:off x="381000" y="685800"/>
            <a:ext cx="6096000" cy="3429000"/>
          </a:xfrm>
          <a:ln/>
        </p:spPr>
      </p:sp>
      <p:sp>
        <p:nvSpPr>
          <p:cNvPr id="103427" name="Rectangle 3"/>
          <p:cNvSpPr>
            <a:spLocks noGrp="1" noChangeArrowheads="1"/>
          </p:cNvSpPr>
          <p:nvPr>
            <p:ph type="body" idx="1"/>
          </p:nvPr>
        </p:nvSpPr>
        <p:spPr/>
        <p:txBody>
          <a:bodyPr/>
          <a:lstStyle/>
          <a:p>
            <a:r>
              <a:rPr lang="zh-CN" altLang="en-US" dirty="0"/>
              <a:t>数值计算的程序设计问题：利用计算机来进行全球天气预报</a:t>
            </a:r>
            <a:r>
              <a:rPr lang="en-US" altLang="zh-CN" dirty="0"/>
              <a:t>-----</a:t>
            </a:r>
            <a:r>
              <a:rPr lang="zh-CN" altLang="en-US" dirty="0"/>
              <a:t>环流模式方程</a:t>
            </a:r>
            <a:r>
              <a:rPr lang="en-US" altLang="zh-CN" dirty="0"/>
              <a:t>-----</a:t>
            </a:r>
            <a:r>
              <a:rPr lang="zh-CN" altLang="en-US" dirty="0"/>
              <a:t>数学模型</a:t>
            </a:r>
            <a:endParaRPr lang="en-US" altLang="zh-CN" dirty="0"/>
          </a:p>
          <a:p>
            <a:r>
              <a:rPr lang="zh-CN" altLang="en-US" dirty="0"/>
              <a:t>非数值计算的问题：求一组整数中 的最大值（算法：基本操作是两两比较；题目中没有说明整数的最大值，但是计算机所能表示的整数是有限的，整数怎么表示呢？）</a:t>
            </a:r>
            <a:endParaRPr lang="en-US" altLang="zh-CN" dirty="0"/>
          </a:p>
          <a:p>
            <a:r>
              <a:rPr lang="en-US" altLang="zh-CN" dirty="0"/>
              <a:t>                               </a:t>
            </a:r>
            <a:r>
              <a:rPr lang="zh-CN" altLang="en-US" dirty="0"/>
              <a:t>计算机对弈（算法：下棋的规则和策略；模型：棋盘旗子怎么表示？）</a:t>
            </a:r>
            <a:endParaRPr lang="en-US" altLang="zh-CN" dirty="0"/>
          </a:p>
          <a:p>
            <a:r>
              <a:rPr lang="zh-CN" altLang="en-US" dirty="0"/>
              <a:t>数据结构描述现实世界实体的数学模型（非数值计算）及其上的操作在计算机中的表示和实现。</a:t>
            </a:r>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B68986-F465-4F89-8CC8-F65136B948E6}" type="slidenum">
              <a:rPr lang="en-US" altLang="zh-CN"/>
              <a:pPr/>
              <a:t>9</a:t>
            </a:fld>
            <a:endParaRPr lang="en-US" altLang="zh-CN"/>
          </a:p>
        </p:txBody>
      </p:sp>
      <p:sp>
        <p:nvSpPr>
          <p:cNvPr id="104450" name="Rectangle 2"/>
          <p:cNvSpPr>
            <a:spLocks noGrp="1" noRot="1" noChangeAspect="1" noChangeArrowheads="1" noTextEdit="1"/>
          </p:cNvSpPr>
          <p:nvPr>
            <p:ph type="sldImg"/>
          </p:nvPr>
        </p:nvSpPr>
        <p:spPr>
          <a:xfrm>
            <a:off x="381000" y="685800"/>
            <a:ext cx="6096000" cy="3429000"/>
          </a:xfrm>
          <a:ln/>
        </p:spPr>
      </p:sp>
      <p:sp>
        <p:nvSpPr>
          <p:cNvPr id="1044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数据：是计算机处理的信息的某种特定的符号的表示形式。</a:t>
            </a:r>
            <a:endParaRPr lang="en-US" altLang="zh-CN" dirty="0"/>
          </a:p>
          <a:p>
            <a:r>
              <a:rPr lang="zh-CN" altLang="en-US" dirty="0"/>
              <a:t>数据元素：是基本元素，但不是最小单位，因为最小单位是数据项，一个数据元素可以由多个数据项组成。</a:t>
            </a:r>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12</a:t>
            </a:fld>
            <a:endParaRPr lang="zh-CN" altLang="en-US"/>
          </a:p>
        </p:txBody>
      </p:sp>
    </p:spTree>
    <p:extLst>
      <p:ext uri="{BB962C8B-B14F-4D97-AF65-F5344CB8AC3E}">
        <p14:creationId xmlns:p14="http://schemas.microsoft.com/office/powerpoint/2010/main" val="3811188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比方说，一个含</a:t>
            </a:r>
            <a:r>
              <a:rPr lang="en-US" altLang="zh-CN" dirty="0"/>
              <a:t>12</a:t>
            </a:r>
            <a:r>
              <a:rPr lang="zh-CN" altLang="en-US" dirty="0"/>
              <a:t>位数的十进制数可以用三个四位的十进制数表示：</a:t>
            </a:r>
            <a:r>
              <a:rPr lang="en-US" altLang="zh-CN" dirty="0"/>
              <a:t>3214,6578,9345-------a1(3214),a2(6578),a3(9345)</a:t>
            </a:r>
            <a:r>
              <a:rPr lang="zh-CN" altLang="en-US" dirty="0"/>
              <a:t>这三个数的位置不能颠倒，否则表时的就不是同一个十进制数，因为</a:t>
            </a:r>
            <a:r>
              <a:rPr lang="en-US" altLang="zh-CN" dirty="0"/>
              <a:t>a1</a:t>
            </a:r>
            <a:r>
              <a:rPr lang="zh-CN" altLang="en-US" dirty="0"/>
              <a:t>，</a:t>
            </a:r>
            <a:r>
              <a:rPr lang="en-US" altLang="zh-CN" dirty="0"/>
              <a:t>a2</a:t>
            </a:r>
            <a:r>
              <a:rPr lang="zh-CN" altLang="en-US" dirty="0"/>
              <a:t>，</a:t>
            </a:r>
            <a:r>
              <a:rPr lang="en-US" altLang="zh-CN" dirty="0"/>
              <a:t>a3</a:t>
            </a:r>
            <a:r>
              <a:rPr lang="zh-CN" altLang="en-US" dirty="0"/>
              <a:t>之间存在一个次序关系，这个关系不能改变，他们之间的这个关系我们称之为结构。</a:t>
            </a:r>
            <a:endParaRPr lang="en-US" altLang="zh-CN" dirty="0"/>
          </a:p>
          <a:p>
            <a:r>
              <a:rPr lang="zh-CN" altLang="en-US" dirty="0"/>
              <a:t>再比如说，</a:t>
            </a:r>
            <a:r>
              <a:rPr lang="en-US" altLang="zh-CN" dirty="0"/>
              <a:t>2</a:t>
            </a:r>
            <a:r>
              <a:rPr lang="zh-CN" altLang="en-US" dirty="0"/>
              <a:t>行</a:t>
            </a:r>
            <a:r>
              <a:rPr lang="en-US" altLang="zh-CN" dirty="0"/>
              <a:t>3</a:t>
            </a:r>
            <a:r>
              <a:rPr lang="zh-CN" altLang="en-US" dirty="0"/>
              <a:t>列的二维数组</a:t>
            </a:r>
            <a:r>
              <a:rPr lang="en-US" altLang="zh-CN" dirty="0"/>
              <a:t>{a1,a2,a3,a4,a5,a6}</a:t>
            </a:r>
          </a:p>
          <a:p>
            <a:r>
              <a:rPr lang="en-US" altLang="zh-CN" dirty="0"/>
              <a:t>                 </a:t>
            </a:r>
            <a:r>
              <a:rPr lang="zh-CN" altLang="en-US" dirty="0"/>
              <a:t>行的次序关系：</a:t>
            </a:r>
            <a:r>
              <a:rPr lang="en-US" altLang="zh-CN" dirty="0"/>
              <a:t>row={&lt;a1,a2&gt;,&lt;a2,a3&gt;,&lt;a4,a5&gt;,&lt;a5,a6&gt;}</a:t>
            </a:r>
          </a:p>
          <a:p>
            <a:r>
              <a:rPr lang="en-US" altLang="zh-CN" dirty="0"/>
              <a:t>                 </a:t>
            </a:r>
            <a:r>
              <a:rPr lang="zh-CN" altLang="en-US" dirty="0"/>
              <a:t>列的次序关系：</a:t>
            </a:r>
            <a:r>
              <a:rPr lang="en-US" altLang="zh-CN" dirty="0"/>
              <a:t>col={&lt;a1,a4&gt;,&lt;a2,a5&gt;,&lt;a3,a6&gt;}</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a:t>
            </a:r>
            <a:r>
              <a:rPr lang="zh-CN" altLang="en-US" dirty="0"/>
              <a:t>一维数组：同样的六个元素</a:t>
            </a:r>
            <a:r>
              <a:rPr lang="en-US" altLang="zh-CN" dirty="0"/>
              <a:t>{a1,a2,a3,a4,a5,a6}</a:t>
            </a:r>
          </a:p>
          <a:p>
            <a:r>
              <a:rPr lang="en-US" altLang="zh-CN" dirty="0"/>
              <a:t>                 </a:t>
            </a:r>
            <a:r>
              <a:rPr lang="zh-CN" altLang="en-US" dirty="0"/>
              <a:t>关系：</a:t>
            </a:r>
            <a:r>
              <a:rPr lang="en-US" altLang="zh-CN" dirty="0"/>
              <a:t>{&lt;ai,ai+1&gt;|</a:t>
            </a:r>
            <a:r>
              <a:rPr lang="en-US" altLang="zh-CN" dirty="0" err="1"/>
              <a:t>i</a:t>
            </a:r>
            <a:r>
              <a:rPr lang="en-US" altLang="zh-CN" dirty="0"/>
              <a:t>=1,2,3,4,5}</a:t>
            </a:r>
            <a:r>
              <a:rPr lang="zh-CN" altLang="en-US" dirty="0"/>
              <a:t>这种线性关系</a:t>
            </a:r>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13</a:t>
            </a:fld>
            <a:endParaRPr lang="zh-CN" altLang="en-US"/>
          </a:p>
        </p:txBody>
      </p:sp>
    </p:spTree>
    <p:extLst>
      <p:ext uri="{BB962C8B-B14F-4D97-AF65-F5344CB8AC3E}">
        <p14:creationId xmlns:p14="http://schemas.microsoft.com/office/powerpoint/2010/main" val="4091914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集合中元素之间不存在任何关系，但是从某种意义上来说，属于同一个集合的元素也存在关系，这个关系就是集合本身。</a:t>
            </a:r>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14</a:t>
            </a:fld>
            <a:endParaRPr lang="zh-CN" altLang="en-US"/>
          </a:p>
        </p:txBody>
      </p:sp>
    </p:spTree>
    <p:extLst>
      <p:ext uri="{BB962C8B-B14F-4D97-AF65-F5344CB8AC3E}">
        <p14:creationId xmlns:p14="http://schemas.microsoft.com/office/powerpoint/2010/main" val="2721570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D</a:t>
            </a:r>
            <a:r>
              <a:rPr lang="zh-CN" altLang="en-US" dirty="0"/>
              <a:t>：数据元素的有限集</a:t>
            </a:r>
            <a:endParaRPr lang="en-US" altLang="zh-CN" dirty="0"/>
          </a:p>
          <a:p>
            <a:r>
              <a:rPr lang="en-US" altLang="zh-CN" dirty="0"/>
              <a:t>S</a:t>
            </a:r>
            <a:r>
              <a:rPr lang="zh-CN" altLang="en-US" dirty="0"/>
              <a:t>：关系的有限集</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15</a:t>
            </a:fld>
            <a:endParaRPr lang="zh-CN" altLang="en-US"/>
          </a:p>
        </p:txBody>
      </p:sp>
    </p:spTree>
    <p:extLst>
      <p:ext uri="{BB962C8B-B14F-4D97-AF65-F5344CB8AC3E}">
        <p14:creationId xmlns:p14="http://schemas.microsoft.com/office/powerpoint/2010/main" val="1379951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数据的存储结构：逻辑结构在存储器中的映像。或者说逻辑结构在计算机中的表示。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非顺序存储映像，也叫作链式映像。</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16</a:t>
            </a:fld>
            <a:endParaRPr lang="zh-CN" altLang="en-US"/>
          </a:p>
        </p:txBody>
      </p:sp>
    </p:spTree>
    <p:extLst>
      <p:ext uri="{BB962C8B-B14F-4D97-AF65-F5344CB8AC3E}">
        <p14:creationId xmlns:p14="http://schemas.microsoft.com/office/powerpoint/2010/main" val="556440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数学模型：数据结构中讨论的就是数据结构</a:t>
            </a:r>
            <a:endParaRPr lang="en-US" altLang="zh-CN" dirty="0"/>
          </a:p>
          <a:p>
            <a:r>
              <a:rPr lang="zh-CN" altLang="en-US" dirty="0"/>
              <a:t>因此，在数据结构中讨论的抽象数据类型就是：一个数据结构和定义在这个数据结构上的一组操作，以后都会用抽象数据类型来讨论数据结构，有什么好处呢？</a:t>
            </a:r>
            <a:endParaRPr lang="en-US" altLang="zh-CN" dirty="0"/>
          </a:p>
          <a:p>
            <a:r>
              <a:rPr lang="en-US" altLang="zh-CN" dirty="0"/>
              <a:t>   1</a:t>
            </a:r>
            <a:r>
              <a:rPr lang="zh-CN" altLang="en-US" dirty="0"/>
              <a:t>、抽象数据类型有两个重要的特征，一个是数据抽象：强调的是本质特征、所能完成的功能以及他和外部用户的接口，会忽略一部分特征。</a:t>
            </a:r>
            <a:endParaRPr lang="en-US" altLang="zh-CN" dirty="0"/>
          </a:p>
          <a:p>
            <a:r>
              <a:rPr lang="en-US" altLang="zh-CN" dirty="0"/>
              <a:t>                                                           </a:t>
            </a:r>
            <a:r>
              <a:rPr lang="zh-CN" altLang="en-US" dirty="0"/>
              <a:t>一个是：</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18</a:t>
            </a:fld>
            <a:endParaRPr lang="zh-CN" altLang="en-US"/>
          </a:p>
        </p:txBody>
      </p:sp>
    </p:spTree>
    <p:extLst>
      <p:ext uri="{BB962C8B-B14F-4D97-AF65-F5344CB8AC3E}">
        <p14:creationId xmlns:p14="http://schemas.microsoft.com/office/powerpoint/2010/main" val="2836068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BEF0E0-2A83-4E34-A3D7-31B8A2E95C94}" type="slidenum">
              <a:rPr lang="en-US" altLang="zh-CN"/>
              <a:pPr/>
              <a:t>20</a:t>
            </a:fld>
            <a:endParaRPr lang="en-US" altLang="zh-CN"/>
          </a:p>
        </p:txBody>
      </p:sp>
      <p:sp>
        <p:nvSpPr>
          <p:cNvPr id="250882" name="Rectangle 2"/>
          <p:cNvSpPr>
            <a:spLocks noGrp="1" noRot="1" noChangeAspect="1" noChangeArrowheads="1" noTextEdit="1"/>
          </p:cNvSpPr>
          <p:nvPr>
            <p:ph type="sldImg"/>
          </p:nvPr>
        </p:nvSpPr>
        <p:spPr>
          <a:xfrm>
            <a:off x="381000" y="685800"/>
            <a:ext cx="6096000" cy="3429000"/>
          </a:xfrm>
          <a:ln/>
        </p:spPr>
      </p:sp>
      <p:sp>
        <p:nvSpPr>
          <p:cNvPr id="250883" name="Rectangle 3"/>
          <p:cNvSpPr>
            <a:spLocks noGrp="1" noChangeArrowheads="1"/>
          </p:cNvSpPr>
          <p:nvPr>
            <p:ph type="body" idx="1"/>
          </p:nvPr>
        </p:nvSpPr>
        <p:spPr/>
        <p:txBody>
          <a:bodyPr/>
          <a:lstStyle/>
          <a:p>
            <a:pPr marL="228600" indent="-228600"/>
            <a:endParaRPr lang="zh-CN" altLang="zh-CN" sz="10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C82F85-3314-41FC-B67B-B39C80608EBD}" type="slidenum">
              <a:rPr lang="en-US" altLang="zh-CN"/>
              <a:pPr/>
              <a:t>33</a:t>
            </a:fld>
            <a:endParaRPr lang="en-US" altLang="zh-CN"/>
          </a:p>
        </p:txBody>
      </p:sp>
      <p:sp>
        <p:nvSpPr>
          <p:cNvPr id="136194" name="Rectangle 2"/>
          <p:cNvSpPr>
            <a:spLocks noGrp="1" noRot="1" noChangeAspect="1" noChangeArrowheads="1" noTextEdit="1"/>
          </p:cNvSpPr>
          <p:nvPr>
            <p:ph type="sldImg"/>
          </p:nvPr>
        </p:nvSpPr>
        <p:spPr>
          <a:xfrm>
            <a:off x="381000" y="685800"/>
            <a:ext cx="6096000" cy="3429000"/>
          </a:xfrm>
          <a:ln/>
        </p:spPr>
      </p:sp>
      <p:sp>
        <p:nvSpPr>
          <p:cNvPr id="1361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44E6F8-1DD0-41A5-B471-97FDC20DF4C1}" type="slidenum">
              <a:rPr lang="en-US" altLang="zh-CN"/>
              <a:pPr/>
              <a:t>36</a:t>
            </a:fld>
            <a:endParaRPr lang="en-US" altLang="zh-CN"/>
          </a:p>
        </p:txBody>
      </p:sp>
      <p:sp>
        <p:nvSpPr>
          <p:cNvPr id="147458" name="Rectangle 2"/>
          <p:cNvSpPr>
            <a:spLocks noGrp="1" noRot="1" noChangeAspect="1" noChangeArrowheads="1" noTextEdit="1"/>
          </p:cNvSpPr>
          <p:nvPr>
            <p:ph type="sldImg"/>
          </p:nvPr>
        </p:nvSpPr>
        <p:spPr>
          <a:xfrm>
            <a:off x="381000" y="685800"/>
            <a:ext cx="6096000" cy="3429000"/>
          </a:xfrm>
          <a:ln/>
        </p:spPr>
      </p:sp>
      <p:sp>
        <p:nvSpPr>
          <p:cNvPr id="1474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FD9C3B-0E7A-4975-AE3A-755ABDAD12D7}" type="slidenum">
              <a:rPr lang="en-US" altLang="zh-CN"/>
              <a:pPr/>
              <a:t>37</a:t>
            </a:fld>
            <a:endParaRPr lang="en-US" altLang="zh-CN"/>
          </a:p>
        </p:txBody>
      </p:sp>
      <p:sp>
        <p:nvSpPr>
          <p:cNvPr id="148482" name="Rectangle 2"/>
          <p:cNvSpPr>
            <a:spLocks noGrp="1" noRot="1" noChangeAspect="1" noChangeArrowheads="1" noTextEdit="1"/>
          </p:cNvSpPr>
          <p:nvPr>
            <p:ph type="sldImg"/>
          </p:nvPr>
        </p:nvSpPr>
        <p:spPr>
          <a:xfrm>
            <a:off x="381000" y="685800"/>
            <a:ext cx="6096000" cy="3429000"/>
          </a:xfrm>
          <a:ln/>
        </p:spPr>
      </p:sp>
      <p:sp>
        <p:nvSpPr>
          <p:cNvPr id="1484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33A911-BEF9-4112-9F92-00E4BB9F2CD9}" type="slidenum">
              <a:rPr lang="en-US" altLang="zh-CN"/>
              <a:pPr/>
              <a:t>39</a:t>
            </a:fld>
            <a:endParaRPr lang="en-US" altLang="zh-CN"/>
          </a:p>
        </p:txBody>
      </p:sp>
      <p:sp>
        <p:nvSpPr>
          <p:cNvPr id="149506" name="Rectangle 2"/>
          <p:cNvSpPr>
            <a:spLocks noGrp="1" noRot="1" noChangeAspect="1" noChangeArrowheads="1" noTextEdit="1"/>
          </p:cNvSpPr>
          <p:nvPr>
            <p:ph type="sldImg"/>
          </p:nvPr>
        </p:nvSpPr>
        <p:spPr>
          <a:xfrm>
            <a:off x="381000" y="685800"/>
            <a:ext cx="6096000" cy="3429000"/>
          </a:xfrm>
          <a:ln/>
        </p:spPr>
      </p:sp>
      <p:sp>
        <p:nvSpPr>
          <p:cNvPr id="1495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385DF6-6F1B-4120-B908-BA59AB1334B4}" type="slidenum">
              <a:rPr lang="en-US" altLang="zh-CN"/>
              <a:pPr/>
              <a:t>42</a:t>
            </a:fld>
            <a:endParaRPr lang="en-US" altLang="zh-CN"/>
          </a:p>
        </p:txBody>
      </p:sp>
      <p:sp>
        <p:nvSpPr>
          <p:cNvPr id="151554" name="Rectangle 2"/>
          <p:cNvSpPr>
            <a:spLocks noGrp="1" noRot="1" noChangeAspect="1" noChangeArrowheads="1" noTextEdit="1"/>
          </p:cNvSpPr>
          <p:nvPr>
            <p:ph type="sldImg"/>
          </p:nvPr>
        </p:nvSpPr>
        <p:spPr>
          <a:xfrm>
            <a:off x="381000" y="685800"/>
            <a:ext cx="6096000" cy="3429000"/>
          </a:xfrm>
          <a:ln/>
        </p:spPr>
      </p:sp>
      <p:sp>
        <p:nvSpPr>
          <p:cNvPr id="1515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F89829-6F89-475B-958B-FFEDC90A076C}" type="slidenum">
              <a:rPr lang="en-US" altLang="zh-CN"/>
              <a:pPr/>
              <a:t>43</a:t>
            </a:fld>
            <a:endParaRPr lang="en-US" altLang="zh-CN"/>
          </a:p>
        </p:txBody>
      </p:sp>
      <p:sp>
        <p:nvSpPr>
          <p:cNvPr id="264194" name="Rectangle 2"/>
          <p:cNvSpPr>
            <a:spLocks noGrp="1" noRot="1" noChangeAspect="1" noChangeArrowheads="1" noTextEdit="1"/>
          </p:cNvSpPr>
          <p:nvPr>
            <p:ph type="sldImg"/>
          </p:nvPr>
        </p:nvSpPr>
        <p:spPr>
          <a:xfrm>
            <a:off x="381000" y="685800"/>
            <a:ext cx="6096000" cy="3429000"/>
          </a:xfrm>
          <a:ln/>
        </p:spPr>
      </p:sp>
      <p:sp>
        <p:nvSpPr>
          <p:cNvPr id="2641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BF0A9D-A942-4C77-A4F4-E4C5FCA6BE4F}" type="slidenum">
              <a:rPr lang="en-US" altLang="zh-CN"/>
              <a:pPr/>
              <a:t>44</a:t>
            </a:fld>
            <a:endParaRPr lang="en-US" altLang="zh-CN"/>
          </a:p>
        </p:txBody>
      </p:sp>
      <p:sp>
        <p:nvSpPr>
          <p:cNvPr id="266242" name="Rectangle 2"/>
          <p:cNvSpPr>
            <a:spLocks noGrp="1" noRot="1" noChangeAspect="1" noChangeArrowheads="1" noTextEdit="1"/>
          </p:cNvSpPr>
          <p:nvPr>
            <p:ph type="sldImg"/>
          </p:nvPr>
        </p:nvSpPr>
        <p:spPr>
          <a:xfrm>
            <a:off x="381000" y="685800"/>
            <a:ext cx="6096000" cy="3429000"/>
          </a:xfrm>
          <a:ln/>
        </p:spPr>
      </p:sp>
      <p:sp>
        <p:nvSpPr>
          <p:cNvPr id="2662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10DDB5-BF32-4E3D-9ED2-5A02B880345A}" type="slidenum">
              <a:rPr lang="en-US" altLang="zh-CN"/>
              <a:pPr/>
              <a:t>45</a:t>
            </a:fld>
            <a:endParaRPr lang="en-US" altLang="zh-CN"/>
          </a:p>
        </p:txBody>
      </p:sp>
      <p:sp>
        <p:nvSpPr>
          <p:cNvPr id="152578" name="Rectangle 2"/>
          <p:cNvSpPr>
            <a:spLocks noGrp="1" noRot="1" noChangeAspect="1" noChangeArrowheads="1" noTextEdit="1"/>
          </p:cNvSpPr>
          <p:nvPr>
            <p:ph type="sldImg"/>
          </p:nvPr>
        </p:nvSpPr>
        <p:spPr>
          <a:xfrm>
            <a:off x="381000" y="685800"/>
            <a:ext cx="6096000" cy="3429000"/>
          </a:xfrm>
          <a:ln/>
        </p:spPr>
      </p:sp>
      <p:sp>
        <p:nvSpPr>
          <p:cNvPr id="152579"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0405B-49E5-45A4-9C14-FD9DF38AD015}" type="datetimeFigureOut">
              <a:rPr lang="zh-CN" altLang="en-US" smtClean="0"/>
              <a:pPr/>
              <a:t>2023/9/12</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2195B3-C7DD-4313-958D-FF7928E4971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4" name="Text Box 8"/>
          <p:cNvSpPr txBox="1">
            <a:spLocks noChangeArrowheads="1"/>
          </p:cNvSpPr>
          <p:nvPr/>
        </p:nvSpPr>
        <p:spPr bwMode="auto">
          <a:xfrm>
            <a:off x="2927648" y="2059782"/>
            <a:ext cx="6172200" cy="1433512"/>
          </a:xfrm>
          <a:prstGeom prst="rect">
            <a:avLst/>
          </a:prstGeom>
          <a:noFill/>
          <a:ln w="9525">
            <a:noFill/>
            <a:miter lim="800000"/>
            <a:headEnd/>
            <a:tailEnd/>
          </a:ln>
        </p:spPr>
        <p:txBody>
          <a:bodyPr>
            <a:spAutoFit/>
          </a:bodyPr>
          <a:lstStyle/>
          <a:p>
            <a:pPr>
              <a:spcBef>
                <a:spcPct val="50000"/>
              </a:spcBef>
            </a:pPr>
            <a:endParaRPr lang="en-US" altLang="zh-CN" sz="2800" b="1" dirty="0">
              <a:solidFill>
                <a:srgbClr val="000000"/>
              </a:solidFill>
              <a:latin typeface="宋体" pitchFamily="2" charset="-122"/>
            </a:endParaRPr>
          </a:p>
          <a:p>
            <a:pPr algn="ctr">
              <a:spcBef>
                <a:spcPct val="50000"/>
              </a:spcBef>
            </a:pPr>
            <a:r>
              <a:rPr lang="en-US" altLang="zh-CN" sz="4000" dirty="0">
                <a:latin typeface="Arial" pitchFamily="34" charset="0"/>
                <a:ea typeface="华文仿宋" pitchFamily="2" charset="-122"/>
              </a:rPr>
              <a:t>Data Structure</a:t>
            </a:r>
          </a:p>
        </p:txBody>
      </p:sp>
      <p:sp>
        <p:nvSpPr>
          <p:cNvPr id="5" name="Text Box 5"/>
          <p:cNvSpPr txBox="1">
            <a:spLocks noChangeArrowheads="1"/>
          </p:cNvSpPr>
          <p:nvPr/>
        </p:nvSpPr>
        <p:spPr bwMode="auto">
          <a:xfrm>
            <a:off x="2855913" y="1124745"/>
            <a:ext cx="6172200" cy="1433513"/>
          </a:xfrm>
          <a:prstGeom prst="rect">
            <a:avLst/>
          </a:prstGeom>
          <a:noFill/>
          <a:ln w="9525">
            <a:noFill/>
            <a:miter lim="800000"/>
            <a:headEnd/>
            <a:tailEnd/>
          </a:ln>
        </p:spPr>
        <p:txBody>
          <a:bodyPr>
            <a:spAutoFit/>
          </a:bodyPr>
          <a:lstStyle/>
          <a:p>
            <a:pPr>
              <a:spcBef>
                <a:spcPct val="50000"/>
              </a:spcBef>
            </a:pPr>
            <a:endParaRPr lang="en-US" altLang="zh-CN" sz="2800" b="1" dirty="0">
              <a:solidFill>
                <a:srgbClr val="000000"/>
              </a:solidFill>
              <a:latin typeface="宋体" pitchFamily="2" charset="-122"/>
            </a:endParaRPr>
          </a:p>
          <a:p>
            <a:pPr algn="ctr">
              <a:spcBef>
                <a:spcPct val="50000"/>
              </a:spcBef>
            </a:pPr>
            <a:r>
              <a:rPr lang="zh-CN" altLang="en-US" sz="4000" dirty="0">
                <a:latin typeface="华文行楷" pitchFamily="2" charset="-122"/>
                <a:ea typeface="华文行楷" pitchFamily="2" charset="-122"/>
              </a:rPr>
              <a:t>数据结构 </a:t>
            </a:r>
          </a:p>
        </p:txBody>
      </p:sp>
      <p:sp>
        <p:nvSpPr>
          <p:cNvPr id="2" name="文本框 1">
            <a:extLst>
              <a:ext uri="{FF2B5EF4-FFF2-40B4-BE49-F238E27FC236}">
                <a16:creationId xmlns:a16="http://schemas.microsoft.com/office/drawing/2014/main" id="{41CD90C9-EEBF-67D9-875F-014EABA80567}"/>
              </a:ext>
            </a:extLst>
          </p:cNvPr>
          <p:cNvSpPr txBox="1"/>
          <p:nvPr/>
        </p:nvSpPr>
        <p:spPr>
          <a:xfrm>
            <a:off x="9016291" y="5733255"/>
            <a:ext cx="1261884" cy="523220"/>
          </a:xfrm>
          <a:prstGeom prst="rect">
            <a:avLst/>
          </a:prstGeom>
          <a:noFill/>
        </p:spPr>
        <p:txBody>
          <a:bodyPr wrap="none" rtlCol="0">
            <a:spAutoFit/>
          </a:bodyPr>
          <a:lstStyle/>
          <a:p>
            <a:r>
              <a:rPr lang="zh-CN" altLang="en-US" sz="2800" dirty="0"/>
              <a:t>陈润资</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6" name="自选图形 5"/>
          <p:cNvSpPr>
            <a:spLocks noChangeArrowheads="1"/>
          </p:cNvSpPr>
          <p:nvPr/>
        </p:nvSpPr>
        <p:spPr bwMode="gray">
          <a:xfrm>
            <a:off x="3346451" y="4992140"/>
            <a:ext cx="462121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ea typeface="宋体" pitchFamily="2" charset="-122"/>
              </a:rPr>
              <a:t>算法和算法分析</a:t>
            </a:r>
          </a:p>
        </p:txBody>
      </p:sp>
      <p:sp>
        <p:nvSpPr>
          <p:cNvPr id="7" name="自选图形 6"/>
          <p:cNvSpPr>
            <a:spLocks noChangeArrowheads="1"/>
          </p:cNvSpPr>
          <p:nvPr/>
        </p:nvSpPr>
        <p:spPr bwMode="gray">
          <a:xfrm>
            <a:off x="3841750" y="4165053"/>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抽象数据类型（</a:t>
            </a:r>
            <a:r>
              <a:rPr lang="en-US" altLang="zh-CN" b="1" dirty="0">
                <a:latin typeface="宋体" pitchFamily="2" charset="-122"/>
                <a:ea typeface="宋体" pitchFamily="2" charset="-122"/>
              </a:rPr>
              <a:t>ADT</a:t>
            </a:r>
            <a:r>
              <a:rPr lang="zh-CN" altLang="en-US" b="1" dirty="0">
                <a:latin typeface="宋体" pitchFamily="2" charset="-122"/>
                <a:ea typeface="宋体" pitchFamily="2" charset="-122"/>
              </a:rPr>
              <a:t>）</a:t>
            </a:r>
          </a:p>
        </p:txBody>
      </p:sp>
      <p:sp>
        <p:nvSpPr>
          <p:cNvPr id="8" name="自选图形 7"/>
          <p:cNvSpPr>
            <a:spLocks noChangeArrowheads="1"/>
          </p:cNvSpPr>
          <p:nvPr/>
        </p:nvSpPr>
        <p:spPr bwMode="gray">
          <a:xfrm>
            <a:off x="3962400" y="3352253"/>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基本概念和术语</a:t>
            </a:r>
          </a:p>
        </p:txBody>
      </p:sp>
      <p:sp>
        <p:nvSpPr>
          <p:cNvPr id="9" name="自选图形 8"/>
          <p:cNvSpPr>
            <a:spLocks noChangeArrowheads="1"/>
          </p:cNvSpPr>
          <p:nvPr/>
        </p:nvSpPr>
        <p:spPr bwMode="gray">
          <a:xfrm>
            <a:off x="3810000" y="2483890"/>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课程概览</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课程安排及要求</a:t>
            </a:r>
          </a:p>
        </p:txBody>
      </p:sp>
      <p:grpSp>
        <p:nvGrpSpPr>
          <p:cNvPr id="11"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18" name="组合 17"/>
          <p:cNvGrpSpPr>
            <a:grpSpLocks/>
          </p:cNvGrpSpPr>
          <p:nvPr/>
        </p:nvGrpSpPr>
        <p:grpSpPr bwMode="auto">
          <a:xfrm>
            <a:off x="3505200" y="2521131"/>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25" name="组合 24"/>
          <p:cNvGrpSpPr>
            <a:grpSpLocks/>
          </p:cNvGrpSpPr>
          <p:nvPr/>
        </p:nvGrpSpPr>
        <p:grpSpPr bwMode="auto">
          <a:xfrm>
            <a:off x="3657600" y="3359331"/>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32" name="组合 31"/>
          <p:cNvGrpSpPr>
            <a:grpSpLocks/>
          </p:cNvGrpSpPr>
          <p:nvPr/>
        </p:nvGrpSpPr>
        <p:grpSpPr bwMode="auto">
          <a:xfrm>
            <a:off x="3505200" y="4197531"/>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grpSp>
        <p:nvGrpSpPr>
          <p:cNvPr id="39" name="组合 38"/>
          <p:cNvGrpSpPr>
            <a:grpSpLocks/>
          </p:cNvGrpSpPr>
          <p:nvPr/>
        </p:nvGrpSpPr>
        <p:grpSpPr bwMode="auto">
          <a:xfrm>
            <a:off x="3048000" y="4972231"/>
            <a:ext cx="355600" cy="519245"/>
            <a:chOff x="2078" y="1387"/>
            <a:chExt cx="1615" cy="2201"/>
          </a:xfrm>
        </p:grpSpPr>
        <p:sp>
          <p:nvSpPr>
            <p:cNvPr id="40" name="椭圆 39"/>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1" name="椭圆 40"/>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2" name="椭圆 41"/>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43" name="椭圆 42"/>
            <p:cNvSpPr>
              <a:spLocks noChangeArrowheads="1"/>
            </p:cNvSpPr>
            <p:nvPr/>
          </p:nvSpPr>
          <p:spPr bwMode="gray">
            <a:xfrm>
              <a:off x="2254" y="1387"/>
              <a:ext cx="1180" cy="220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none" anchor="ctr">
              <a:spAutoFit/>
            </a:bodyPr>
            <a:lstStyle/>
            <a:p>
              <a:endParaRPr lang="zh-CN" altLang="en-US"/>
            </a:p>
          </p:txBody>
        </p:sp>
        <p:sp>
          <p:nvSpPr>
            <p:cNvPr id="44" name="椭圆 43"/>
            <p:cNvSpPr>
              <a:spLocks noChangeArrowheads="1"/>
            </p:cNvSpPr>
            <p:nvPr/>
          </p:nvSpPr>
          <p:spPr bwMode="gray">
            <a:xfrm>
              <a:off x="2338"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45" name="椭圆 44"/>
            <p:cNvSpPr>
              <a:spLocks noChangeArrowheads="1"/>
            </p:cNvSpPr>
            <p:nvPr/>
          </p:nvSpPr>
          <p:spPr bwMode="gray">
            <a:xfrm>
              <a:off x="2337" y="1387"/>
              <a:ext cx="1096" cy="2201"/>
            </a:xfrm>
            <a:prstGeom prst="ellipse">
              <a:avLst/>
            </a:prstGeom>
            <a:gradFill rotWithShape="1">
              <a:gsLst>
                <a:gs pos="0">
                  <a:srgbClr val="E35E23"/>
                </a:gs>
                <a:gs pos="100000">
                  <a:srgbClr val="6E2E11"/>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6" name="自选图形 5"/>
          <p:cNvSpPr>
            <a:spLocks noChangeArrowheads="1"/>
          </p:cNvSpPr>
          <p:nvPr/>
        </p:nvSpPr>
        <p:spPr bwMode="gray">
          <a:xfrm>
            <a:off x="3346451" y="4992140"/>
            <a:ext cx="462121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ea typeface="宋体" pitchFamily="2" charset="-122"/>
              </a:rPr>
              <a:t>算法和算法分析</a:t>
            </a:r>
          </a:p>
        </p:txBody>
      </p:sp>
      <p:sp>
        <p:nvSpPr>
          <p:cNvPr id="7" name="自选图形 6"/>
          <p:cNvSpPr>
            <a:spLocks noChangeArrowheads="1"/>
          </p:cNvSpPr>
          <p:nvPr/>
        </p:nvSpPr>
        <p:spPr bwMode="gray">
          <a:xfrm>
            <a:off x="3841750" y="4165053"/>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抽象数据类型（</a:t>
            </a:r>
            <a:r>
              <a:rPr lang="en-US" altLang="zh-CN" b="1" dirty="0">
                <a:latin typeface="宋体" pitchFamily="2" charset="-122"/>
                <a:ea typeface="宋体" pitchFamily="2" charset="-122"/>
              </a:rPr>
              <a:t>ADT</a:t>
            </a:r>
            <a:r>
              <a:rPr lang="zh-CN" altLang="en-US" b="1" dirty="0">
                <a:latin typeface="宋体" pitchFamily="2" charset="-122"/>
                <a:ea typeface="宋体" pitchFamily="2" charset="-122"/>
              </a:rPr>
              <a:t>）</a:t>
            </a:r>
          </a:p>
        </p:txBody>
      </p:sp>
      <p:sp>
        <p:nvSpPr>
          <p:cNvPr id="8" name="自选图形 7"/>
          <p:cNvSpPr>
            <a:spLocks noChangeArrowheads="1"/>
          </p:cNvSpPr>
          <p:nvPr/>
        </p:nvSpPr>
        <p:spPr bwMode="gray">
          <a:xfrm>
            <a:off x="3962400" y="3352253"/>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基本概念和术语</a:t>
            </a:r>
          </a:p>
        </p:txBody>
      </p:sp>
      <p:sp>
        <p:nvSpPr>
          <p:cNvPr id="9" name="自选图形 8"/>
          <p:cNvSpPr>
            <a:spLocks noChangeArrowheads="1"/>
          </p:cNvSpPr>
          <p:nvPr/>
        </p:nvSpPr>
        <p:spPr bwMode="gray">
          <a:xfrm>
            <a:off x="3810000" y="2483890"/>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课程概览</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课程安排及要求</a:t>
            </a:r>
          </a:p>
        </p:txBody>
      </p:sp>
      <p:grpSp>
        <p:nvGrpSpPr>
          <p:cNvPr id="2"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3" name="组合 17"/>
          <p:cNvGrpSpPr>
            <a:grpSpLocks/>
          </p:cNvGrpSpPr>
          <p:nvPr/>
        </p:nvGrpSpPr>
        <p:grpSpPr bwMode="auto">
          <a:xfrm>
            <a:off x="3505200" y="2521131"/>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11" name="组合 24"/>
          <p:cNvGrpSpPr>
            <a:grpSpLocks/>
          </p:cNvGrpSpPr>
          <p:nvPr/>
        </p:nvGrpSpPr>
        <p:grpSpPr bwMode="auto">
          <a:xfrm>
            <a:off x="3657600" y="3359331"/>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18" name="组合 31"/>
          <p:cNvGrpSpPr>
            <a:grpSpLocks/>
          </p:cNvGrpSpPr>
          <p:nvPr/>
        </p:nvGrpSpPr>
        <p:grpSpPr bwMode="auto">
          <a:xfrm>
            <a:off x="3505200" y="4197531"/>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grpSp>
        <p:nvGrpSpPr>
          <p:cNvPr id="25" name="组合 38"/>
          <p:cNvGrpSpPr>
            <a:grpSpLocks/>
          </p:cNvGrpSpPr>
          <p:nvPr/>
        </p:nvGrpSpPr>
        <p:grpSpPr bwMode="auto">
          <a:xfrm>
            <a:off x="3048000" y="4972231"/>
            <a:ext cx="355600" cy="519245"/>
            <a:chOff x="2078" y="1387"/>
            <a:chExt cx="1615" cy="2201"/>
          </a:xfrm>
        </p:grpSpPr>
        <p:sp>
          <p:nvSpPr>
            <p:cNvPr id="40" name="椭圆 39"/>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1" name="椭圆 40"/>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2" name="椭圆 41"/>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43" name="椭圆 42"/>
            <p:cNvSpPr>
              <a:spLocks noChangeArrowheads="1"/>
            </p:cNvSpPr>
            <p:nvPr/>
          </p:nvSpPr>
          <p:spPr bwMode="gray">
            <a:xfrm>
              <a:off x="2254" y="1387"/>
              <a:ext cx="1180" cy="220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none" anchor="ctr">
              <a:spAutoFit/>
            </a:bodyPr>
            <a:lstStyle/>
            <a:p>
              <a:endParaRPr lang="zh-CN" altLang="en-US"/>
            </a:p>
          </p:txBody>
        </p:sp>
        <p:sp>
          <p:nvSpPr>
            <p:cNvPr id="44" name="椭圆 43"/>
            <p:cNvSpPr>
              <a:spLocks noChangeArrowheads="1"/>
            </p:cNvSpPr>
            <p:nvPr/>
          </p:nvSpPr>
          <p:spPr bwMode="gray">
            <a:xfrm>
              <a:off x="2338"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45" name="椭圆 44"/>
            <p:cNvSpPr>
              <a:spLocks noChangeArrowheads="1"/>
            </p:cNvSpPr>
            <p:nvPr/>
          </p:nvSpPr>
          <p:spPr bwMode="gray">
            <a:xfrm>
              <a:off x="2337" y="1387"/>
              <a:ext cx="1096" cy="2201"/>
            </a:xfrm>
            <a:prstGeom prst="ellipse">
              <a:avLst/>
            </a:prstGeom>
            <a:gradFill rotWithShape="1">
              <a:gsLst>
                <a:gs pos="0">
                  <a:srgbClr val="E35E23"/>
                </a:gs>
                <a:gs pos="100000">
                  <a:srgbClr val="6E2E11"/>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
        <p:nvSpPr>
          <p:cNvPr id="46" name="自选图形 45"/>
          <p:cNvSpPr>
            <a:spLocks noChangeArrowheads="1"/>
          </p:cNvSpPr>
          <p:nvPr/>
        </p:nvSpPr>
        <p:spPr bwMode="gray">
          <a:xfrm>
            <a:off x="8040216" y="1755602"/>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7" name="自选图形 46"/>
          <p:cNvSpPr>
            <a:spLocks noChangeArrowheads="1"/>
          </p:cNvSpPr>
          <p:nvPr/>
        </p:nvSpPr>
        <p:spPr bwMode="gray">
          <a:xfrm>
            <a:off x="8472016" y="1755602"/>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8" name="自选图形 47"/>
          <p:cNvSpPr>
            <a:spLocks noChangeArrowheads="1"/>
          </p:cNvSpPr>
          <p:nvPr/>
        </p:nvSpPr>
        <p:spPr bwMode="gray">
          <a:xfrm>
            <a:off x="8903816" y="1755602"/>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latin typeface="宋体" pitchFamily="2" charset="-122"/>
                <a:ea typeface="宋体" pitchFamily="2" charset="-122"/>
              </a:rPr>
              <a:t>课程安排及要求</a:t>
            </a:r>
            <a:endParaRPr lang="zh-CN" altLang="en-US" dirty="0"/>
          </a:p>
        </p:txBody>
      </p:sp>
      <p:sp>
        <p:nvSpPr>
          <p:cNvPr id="4" name="内容占位符 2"/>
          <p:cNvSpPr txBox="1">
            <a:spLocks/>
          </p:cNvSpPr>
          <p:nvPr/>
        </p:nvSpPr>
        <p:spPr>
          <a:xfrm>
            <a:off x="1991544" y="1493094"/>
            <a:ext cx="8229600" cy="5248275"/>
          </a:xfrm>
          <a:prstGeom prst="rect">
            <a:avLst/>
          </a:prstGeom>
        </p:spPr>
        <p:txBody>
          <a:bodyPr vert="horz" lIns="91440" tIns="45720" rIns="91440" bIns="45720" rtlCol="0">
            <a:normAutofit/>
          </a:bodyPr>
          <a:lstStyle/>
          <a:p>
            <a:pPr marL="342900" indent="-342900">
              <a:spcBef>
                <a:spcPct val="20000"/>
              </a:spcBef>
              <a:defRPr/>
            </a:pPr>
            <a:r>
              <a:rPr lang="zh-CN" altLang="en-US" sz="3200" dirty="0"/>
              <a:t>性质    </a:t>
            </a:r>
            <a:r>
              <a:rPr lang="zh-CN" altLang="en-US" sz="3200" dirty="0">
                <a:solidFill>
                  <a:srgbClr val="FF0000"/>
                </a:solidFill>
              </a:rPr>
              <a:t>专业必修</a:t>
            </a:r>
            <a:endParaRPr lang="en-US" altLang="zh-CN" sz="3200" dirty="0">
              <a:solidFill>
                <a:srgbClr val="FF0000"/>
              </a:solidFill>
            </a:endParaRPr>
          </a:p>
          <a:p>
            <a:pPr marL="342900" indent="-342900">
              <a:spcBef>
                <a:spcPct val="20000"/>
              </a:spcBef>
              <a:defRPr/>
            </a:pPr>
            <a:r>
              <a:rPr lang="zh-CN" altLang="en-US" sz="3200" dirty="0"/>
              <a:t>学分     </a:t>
            </a:r>
            <a:r>
              <a:rPr lang="en-US" altLang="zh-CN" sz="3200" dirty="0">
                <a:solidFill>
                  <a:srgbClr val="FF0000"/>
                </a:solidFill>
              </a:rPr>
              <a:t>4</a:t>
            </a:r>
            <a:r>
              <a:rPr lang="zh-CN" altLang="en-US" sz="3200" dirty="0">
                <a:solidFill>
                  <a:srgbClr val="FF0000"/>
                </a:solidFill>
              </a:rPr>
              <a:t>学分</a:t>
            </a:r>
            <a:endParaRPr lang="en-US" altLang="zh-CN" sz="3200" dirty="0">
              <a:solidFill>
                <a:srgbClr val="FF0000"/>
              </a:solidFill>
            </a:endParaRPr>
          </a:p>
          <a:p>
            <a:pPr marL="342900" indent="-342900">
              <a:spcBef>
                <a:spcPct val="20000"/>
              </a:spcBef>
              <a:defRPr/>
            </a:pPr>
            <a:r>
              <a:rPr lang="zh-CN" altLang="en-US" sz="3200" dirty="0"/>
              <a:t>学时     </a:t>
            </a:r>
            <a:r>
              <a:rPr lang="en-US" altLang="zh-CN" sz="3200" dirty="0"/>
              <a:t>80</a:t>
            </a:r>
            <a:r>
              <a:rPr lang="zh-CN" altLang="en-US" sz="3200" dirty="0"/>
              <a:t>学时</a:t>
            </a:r>
          </a:p>
        </p:txBody>
      </p:sp>
      <p:pic>
        <p:nvPicPr>
          <p:cNvPr id="6" name="图片 5">
            <a:extLst>
              <a:ext uri="{FF2B5EF4-FFF2-40B4-BE49-F238E27FC236}">
                <a16:creationId xmlns:a16="http://schemas.microsoft.com/office/drawing/2014/main" id="{6DBC82EF-2197-4EB9-A288-8C1AD3302719}"/>
              </a:ext>
            </a:extLst>
          </p:cNvPr>
          <p:cNvPicPr>
            <a:picLocks noChangeAspect="1"/>
          </p:cNvPicPr>
          <p:nvPr/>
        </p:nvPicPr>
        <p:blipFill>
          <a:blip r:embed="rId4"/>
          <a:stretch>
            <a:fillRect/>
          </a:stretch>
        </p:blipFill>
        <p:spPr>
          <a:xfrm>
            <a:off x="2135560" y="3605853"/>
            <a:ext cx="1944216" cy="17590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66800" y="773832"/>
            <a:ext cx="8229600" cy="1143000"/>
          </a:xfrm>
        </p:spPr>
        <p:txBody>
          <a:bodyPr/>
          <a:lstStyle/>
          <a:p>
            <a:r>
              <a:rPr lang="zh-CN" altLang="en-US" b="1" dirty="0">
                <a:latin typeface="宋体" pitchFamily="2" charset="-122"/>
                <a:ea typeface="宋体" pitchFamily="2" charset="-122"/>
              </a:rPr>
              <a:t>课程安排及要求（续）</a:t>
            </a:r>
            <a:endParaRPr lang="zh-CN" altLang="en-US" dirty="0"/>
          </a:p>
        </p:txBody>
      </p:sp>
      <p:sp>
        <p:nvSpPr>
          <p:cNvPr id="23" name="Rectangle 3"/>
          <p:cNvSpPr txBox="1">
            <a:spLocks noChangeArrowheads="1"/>
          </p:cNvSpPr>
          <p:nvPr/>
        </p:nvSpPr>
        <p:spPr>
          <a:xfrm>
            <a:off x="3134816" y="2636912"/>
            <a:ext cx="6705600" cy="2233612"/>
          </a:xfrm>
          <a:prstGeom prst="rect">
            <a:avLst/>
          </a:prstGeom>
        </p:spPr>
        <p:txBody>
          <a:bodyPr vert="horz" lIns="91440" tIns="45720" rIns="91440" bIns="45720" rtlCol="0">
            <a:normAutofit lnSpcReduction="10000"/>
          </a:bodyPr>
          <a:lstStyle/>
          <a:p>
            <a:pPr marL="342900" indent="-342900">
              <a:lnSpc>
                <a:spcPct val="140000"/>
              </a:lnSpc>
              <a:spcBef>
                <a:spcPct val="20000"/>
              </a:spcBef>
              <a:defRPr/>
            </a:pPr>
            <a:r>
              <a:rPr lang="en-US" altLang="zh-CN" sz="3200" b="1" dirty="0">
                <a:solidFill>
                  <a:srgbClr val="0000CC"/>
                </a:solidFill>
                <a:latin typeface="楷体_GB2312" pitchFamily="49" charset="-122"/>
                <a:ea typeface="楷体_GB2312" pitchFamily="49" charset="-122"/>
              </a:rPr>
              <a:t>◆</a:t>
            </a:r>
            <a:r>
              <a:rPr lang="zh-CN" altLang="en-US" sz="3200" b="1" dirty="0">
                <a:latin typeface="楷体_GB2312" pitchFamily="49" charset="-122"/>
                <a:ea typeface="楷体_GB2312" pitchFamily="49" charset="-122"/>
                <a:hlinkClick r:id="rId4" action="ppaction://hlinksldjump"/>
              </a:rPr>
              <a:t>学习本课程的意义</a:t>
            </a:r>
            <a:endParaRPr lang="zh-CN" altLang="en-US" sz="3200" b="1" dirty="0">
              <a:latin typeface="楷体_GB2312" pitchFamily="49" charset="-122"/>
              <a:ea typeface="楷体_GB2312" pitchFamily="49" charset="-122"/>
            </a:endParaRPr>
          </a:p>
          <a:p>
            <a:pPr marL="342900" indent="-342900">
              <a:lnSpc>
                <a:spcPct val="140000"/>
              </a:lnSpc>
              <a:spcBef>
                <a:spcPct val="20000"/>
              </a:spcBef>
              <a:defRPr/>
            </a:pPr>
            <a:r>
              <a:rPr lang="zh-CN" altLang="en-US" sz="3200" b="1" dirty="0">
                <a:solidFill>
                  <a:srgbClr val="0000CC"/>
                </a:solidFill>
                <a:latin typeface="楷体_GB2312" pitchFamily="49" charset="-122"/>
                <a:ea typeface="楷体_GB2312" pitchFamily="49" charset="-122"/>
              </a:rPr>
              <a:t>◆</a:t>
            </a:r>
            <a:r>
              <a:rPr lang="zh-CN" altLang="en-US" sz="3200" b="1" dirty="0">
                <a:latin typeface="楷体_GB2312" pitchFamily="49" charset="-122"/>
                <a:ea typeface="楷体_GB2312" pitchFamily="49" charset="-122"/>
              </a:rPr>
              <a:t>学习本课程的条件 </a:t>
            </a:r>
          </a:p>
          <a:p>
            <a:pPr marL="342900" indent="-342900">
              <a:lnSpc>
                <a:spcPct val="140000"/>
              </a:lnSpc>
              <a:spcBef>
                <a:spcPct val="20000"/>
              </a:spcBef>
              <a:defRPr/>
            </a:pPr>
            <a:r>
              <a:rPr lang="zh-CN" altLang="en-US" sz="3200" b="1" dirty="0">
                <a:solidFill>
                  <a:srgbClr val="0000CC"/>
                </a:solidFill>
                <a:latin typeface="楷体_GB2312" pitchFamily="49" charset="-122"/>
                <a:ea typeface="楷体_GB2312" pitchFamily="49" charset="-122"/>
              </a:rPr>
              <a:t>◆</a:t>
            </a:r>
            <a:r>
              <a:rPr lang="zh-CN" altLang="en-US" sz="3200" b="1" dirty="0">
                <a:latin typeface="楷体_GB2312" pitchFamily="49" charset="-122"/>
                <a:ea typeface="楷体_GB2312" pitchFamily="49" charset="-122"/>
              </a:rPr>
              <a:t>学习本课程的要求</a:t>
            </a:r>
            <a:r>
              <a:rPr lang="zh-CN" altLang="en-US" sz="3400" dirty="0">
                <a:latin typeface="楷体_GB2312" pitchFamily="49" charset="-122"/>
                <a:ea typeface="楷体_GB2312"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 calcmode="lin" valueType="num">
                                      <p:cBhvr additive="base">
                                        <p:cTn id="7"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
                                            <p:txEl>
                                              <p:pRg st="1" end="1"/>
                                            </p:txEl>
                                          </p:spTgt>
                                        </p:tgtEl>
                                        <p:attrNameLst>
                                          <p:attrName>style.visibility</p:attrName>
                                        </p:attrNameLst>
                                      </p:cBhvr>
                                      <p:to>
                                        <p:strVal val="visible"/>
                                      </p:to>
                                    </p:set>
                                    <p:anim calcmode="lin" valueType="num">
                                      <p:cBhvr additive="base">
                                        <p:cTn id="13" dur="500" fill="hold"/>
                                        <p:tgtEl>
                                          <p:spTgt spid="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
                                            <p:txEl>
                                              <p:pRg st="2" end="2"/>
                                            </p:txEl>
                                          </p:spTgt>
                                        </p:tgtEl>
                                        <p:attrNameLst>
                                          <p:attrName>style.visibility</p:attrName>
                                        </p:attrNameLst>
                                      </p:cBhvr>
                                      <p:to>
                                        <p:strVal val="visible"/>
                                      </p:to>
                                    </p:set>
                                    <p:anim calcmode="lin" valueType="num">
                                      <p:cBhvr additive="base">
                                        <p:cTn id="19" dur="500" fill="hold"/>
                                        <p:tgtEl>
                                          <p:spTgt spid="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4" name="Rectangle 104">
            <a:hlinkClick r:id="rId2" action="ppaction://hlinksldjump"/>
          </p:cNvPr>
          <p:cNvSpPr>
            <a:spLocks noChangeArrowheads="1"/>
          </p:cNvSpPr>
          <p:nvPr/>
        </p:nvSpPr>
        <p:spPr bwMode="auto">
          <a:xfrm>
            <a:off x="9984432" y="6453337"/>
            <a:ext cx="415498" cy="252633"/>
          </a:xfrm>
          <a:prstGeom prst="rect">
            <a:avLst/>
          </a:prstGeom>
          <a:noFill/>
          <a:ln w="25400" cap="sq">
            <a:noFill/>
            <a:miter lim="800000"/>
            <a:headEnd/>
            <a:tailEnd/>
          </a:ln>
          <a:effectLst/>
        </p:spPr>
        <p:txBody>
          <a:bodyPr wrap="none">
            <a:spAutoFit/>
          </a:bodyPr>
          <a:lstStyle/>
          <a:p>
            <a:pPr>
              <a:lnSpc>
                <a:spcPct val="50000"/>
              </a:lnSpc>
            </a:pPr>
            <a:r>
              <a:rPr lang="en-US" altLang="zh-CN" dirty="0">
                <a:solidFill>
                  <a:srgbClr val="FF3300"/>
                </a:solidFill>
                <a:effectLst>
                  <a:outerShdw blurRad="38100" dist="38100" dir="2700000" algn="tl">
                    <a:srgbClr val="000000"/>
                  </a:outerShdw>
                </a:effectLst>
              </a:rPr>
              <a:t>▲</a:t>
            </a:r>
          </a:p>
        </p:txBody>
      </p:sp>
      <p:sp>
        <p:nvSpPr>
          <p:cNvPr id="6" name="标题 1"/>
          <p:cNvSpPr>
            <a:spLocks noGrp="1"/>
          </p:cNvSpPr>
          <p:nvPr>
            <p:ph type="title"/>
          </p:nvPr>
        </p:nvSpPr>
        <p:spPr>
          <a:xfrm>
            <a:off x="1866093" y="274638"/>
            <a:ext cx="8229600" cy="1143000"/>
          </a:xfrm>
        </p:spPr>
        <p:txBody>
          <a:bodyPr>
            <a:normAutofit/>
          </a:bodyPr>
          <a:lstStyle/>
          <a:p>
            <a:r>
              <a:rPr lang="zh-CN" altLang="en-US" dirty="0">
                <a:solidFill>
                  <a:srgbClr val="0000CC"/>
                </a:solidFill>
                <a:latin typeface="华文行楷" pitchFamily="2" charset="-122"/>
                <a:ea typeface="华文行楷" pitchFamily="2" charset="-122"/>
              </a:rPr>
              <a:t>软件设计与开发人员</a:t>
            </a:r>
          </a:p>
        </p:txBody>
      </p:sp>
      <p:sp>
        <p:nvSpPr>
          <p:cNvPr id="7" name="Text Box 227"/>
          <p:cNvSpPr txBox="1">
            <a:spLocks noChangeArrowheads="1"/>
          </p:cNvSpPr>
          <p:nvPr/>
        </p:nvSpPr>
        <p:spPr bwMode="auto">
          <a:xfrm>
            <a:off x="1631505" y="1268761"/>
            <a:ext cx="8957901" cy="4590487"/>
          </a:xfrm>
          <a:prstGeom prst="rect">
            <a:avLst/>
          </a:prstGeom>
          <a:noFill/>
          <a:ln w="9525">
            <a:noFill/>
            <a:miter lim="800000"/>
            <a:headEnd/>
            <a:tailEnd/>
          </a:ln>
          <a:effectLst/>
        </p:spPr>
        <p:txBody>
          <a:bodyPr wrap="square">
            <a:spAutoFit/>
          </a:bodyPr>
          <a:lstStyle/>
          <a:p>
            <a:pPr>
              <a:lnSpc>
                <a:spcPct val="185000"/>
              </a:lnSpc>
            </a:pPr>
            <a:r>
              <a:rPr lang="en-US" altLang="zh-CN" dirty="0">
                <a:ea typeface="华文中宋" pitchFamily="2" charset="-122"/>
              </a:rPr>
              <a:t>  </a:t>
            </a:r>
            <a:endParaRPr lang="zh-CN" altLang="en-US" sz="2400" dirty="0"/>
          </a:p>
          <a:p>
            <a:pPr>
              <a:lnSpc>
                <a:spcPct val="185000"/>
              </a:lnSpc>
              <a:buClr>
                <a:srgbClr val="FF3300"/>
              </a:buClr>
              <a:buFont typeface="Wingdings" pitchFamily="2" charset="2"/>
              <a:buChar char="Ø"/>
            </a:pPr>
            <a:r>
              <a:rPr lang="zh-CN" altLang="en-US" sz="2800" dirty="0">
                <a:ea typeface="华文中宋" pitchFamily="2" charset="-122"/>
              </a:rPr>
              <a:t>计算思维能力</a:t>
            </a:r>
            <a:r>
              <a:rPr lang="zh-CN" altLang="zh-CN" sz="2800" dirty="0"/>
              <a:t>。</a:t>
            </a:r>
            <a:endParaRPr lang="en-US" altLang="zh-CN" sz="2800" dirty="0"/>
          </a:p>
          <a:p>
            <a:pPr>
              <a:lnSpc>
                <a:spcPct val="185000"/>
              </a:lnSpc>
              <a:buClr>
                <a:srgbClr val="FF3300"/>
              </a:buClr>
              <a:buFont typeface="Wingdings" pitchFamily="2" charset="2"/>
              <a:buChar char="Ø"/>
            </a:pPr>
            <a:r>
              <a:rPr lang="zh-CN" altLang="en-US" sz="2800" dirty="0">
                <a:ea typeface="华文中宋" pitchFamily="2" charset="-122"/>
              </a:rPr>
              <a:t>数据结构与算法设计能力</a:t>
            </a:r>
            <a:endParaRPr lang="en-US" altLang="zh-CN" sz="2800" dirty="0">
              <a:ea typeface="华文中宋" pitchFamily="2" charset="-122"/>
            </a:endParaRPr>
          </a:p>
          <a:p>
            <a:pPr>
              <a:lnSpc>
                <a:spcPct val="185000"/>
              </a:lnSpc>
              <a:buClr>
                <a:srgbClr val="FF3300"/>
              </a:buClr>
              <a:buFont typeface="Wingdings" pitchFamily="2" charset="2"/>
              <a:buChar char="Ø"/>
            </a:pPr>
            <a:r>
              <a:rPr lang="zh-CN" altLang="en-US" sz="2800" dirty="0">
                <a:ea typeface="华文中宋" pitchFamily="2" charset="-122"/>
              </a:rPr>
              <a:t>程序设计与实现能力</a:t>
            </a:r>
          </a:p>
          <a:p>
            <a:pPr>
              <a:lnSpc>
                <a:spcPct val="185000"/>
              </a:lnSpc>
              <a:buClr>
                <a:srgbClr val="FF3300"/>
              </a:buClr>
              <a:buFont typeface="Wingdings" pitchFamily="2" charset="2"/>
              <a:buChar char="Ø"/>
            </a:pPr>
            <a:r>
              <a:rPr lang="zh-CN" altLang="en-US" sz="2800" dirty="0">
                <a:ea typeface="华文中宋" pitchFamily="2" charset="-122"/>
              </a:rPr>
              <a:t>计算机软、硬件系统的认知、分析、设计和应用能力</a:t>
            </a:r>
            <a:br>
              <a:rPr lang="en-US" altLang="zh-CN" sz="2800" dirty="0">
                <a:ea typeface="华文中宋" pitchFamily="2" charset="-122"/>
              </a:rPr>
            </a:br>
            <a:r>
              <a:rPr lang="zh-CN" altLang="en-US" sz="2800" dirty="0">
                <a:ea typeface="华文中宋" pitchFamily="2" charset="-122"/>
              </a:rPr>
              <a:t> </a:t>
            </a:r>
          </a:p>
        </p:txBody>
      </p:sp>
      <p:sp>
        <p:nvSpPr>
          <p:cNvPr id="8" name="AutoShape 83"/>
          <p:cNvSpPr>
            <a:spLocks/>
          </p:cNvSpPr>
          <p:nvPr/>
        </p:nvSpPr>
        <p:spPr bwMode="auto">
          <a:xfrm flipH="1">
            <a:off x="5936181" y="2983305"/>
            <a:ext cx="216023" cy="1080120"/>
          </a:xfrm>
          <a:prstGeom prst="leftBrace">
            <a:avLst>
              <a:gd name="adj1" fmla="val 50000"/>
              <a:gd name="adj2" fmla="val 50000"/>
            </a:avLst>
          </a:prstGeom>
          <a:noFill/>
          <a:ln w="9525">
            <a:solidFill>
              <a:schemeClr val="tx1"/>
            </a:solidFill>
            <a:round/>
            <a:headEnd/>
            <a:tailEnd/>
          </a:ln>
          <a:effectLst/>
        </p:spPr>
        <p:txBody>
          <a:bodyPr wrap="none" anchor="ctr"/>
          <a:lstStyle/>
          <a:p>
            <a:endParaRPr lang="zh-CN" altLang="en-US" sz="2400" dirty="0"/>
          </a:p>
        </p:txBody>
      </p:sp>
      <p:sp>
        <p:nvSpPr>
          <p:cNvPr id="9" name="TextBox 8"/>
          <p:cNvSpPr txBox="1"/>
          <p:nvPr/>
        </p:nvSpPr>
        <p:spPr>
          <a:xfrm>
            <a:off x="6196917" y="3252172"/>
            <a:ext cx="1872208" cy="523220"/>
          </a:xfrm>
          <a:prstGeom prst="rect">
            <a:avLst/>
          </a:prstGeom>
          <a:noFill/>
        </p:spPr>
        <p:txBody>
          <a:bodyPr wrap="square" rtlCol="0">
            <a:spAutoFit/>
          </a:bodyPr>
          <a:lstStyle/>
          <a:p>
            <a:r>
              <a:rPr lang="zh-CN" altLang="en-US" sz="2800" dirty="0">
                <a:ea typeface="华文中宋" pitchFamily="2" charset="-122"/>
              </a:rPr>
              <a:t>数据结构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wipe(left)">
                                      <p:cBhvr>
                                        <p:cTn id="16" dur="500"/>
                                        <p:tgtEl>
                                          <p:spTgt spid="7">
                                            <p:txEl>
                                              <p:pRg st="2" end="2"/>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wipe(left)">
                                      <p:cBhvr>
                                        <p:cTn id="20" dur="500"/>
                                        <p:tgtEl>
                                          <p:spTgt spid="7">
                                            <p:txEl>
                                              <p:pRg st="3" end="3"/>
                                            </p:txEl>
                                          </p:spTgt>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wipe(left)">
                                      <p:cBhvr>
                                        <p:cTn id="24" dur="500"/>
                                        <p:tgtEl>
                                          <p:spTgt spid="7">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42"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outHorizontal)">
                                      <p:cBhvr>
                                        <p:cTn id="29" dur="500"/>
                                        <p:tgtEl>
                                          <p:spTgt spid="8"/>
                                        </p:tgtEl>
                                      </p:cBhvr>
                                    </p:animEffect>
                                  </p:childTnLst>
                                </p:cTn>
                              </p:par>
                            </p:childTnLst>
                          </p:cTn>
                        </p:par>
                        <p:par>
                          <p:cTn id="30" fill="hold">
                            <p:stCondLst>
                              <p:cond delay="500"/>
                            </p:stCondLst>
                            <p:childTnLst>
                              <p:par>
                                <p:cTn id="31" presetID="2" presetClass="entr" presetSubtype="4"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8"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6" name="自选图形 5"/>
          <p:cNvSpPr>
            <a:spLocks noChangeArrowheads="1"/>
          </p:cNvSpPr>
          <p:nvPr/>
        </p:nvSpPr>
        <p:spPr bwMode="gray">
          <a:xfrm>
            <a:off x="3346451" y="4992140"/>
            <a:ext cx="462121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ea typeface="宋体" pitchFamily="2" charset="-122"/>
              </a:rPr>
              <a:t>算法和算法分析</a:t>
            </a:r>
          </a:p>
        </p:txBody>
      </p:sp>
      <p:sp>
        <p:nvSpPr>
          <p:cNvPr id="7" name="自选图形 6"/>
          <p:cNvSpPr>
            <a:spLocks noChangeArrowheads="1"/>
          </p:cNvSpPr>
          <p:nvPr/>
        </p:nvSpPr>
        <p:spPr bwMode="gray">
          <a:xfrm>
            <a:off x="3841750" y="4165053"/>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抽象数据类型（</a:t>
            </a:r>
            <a:r>
              <a:rPr lang="en-US" altLang="zh-CN" b="1" dirty="0">
                <a:latin typeface="宋体" pitchFamily="2" charset="-122"/>
                <a:ea typeface="宋体" pitchFamily="2" charset="-122"/>
              </a:rPr>
              <a:t>ADT</a:t>
            </a:r>
            <a:r>
              <a:rPr lang="zh-CN" altLang="en-US" b="1" dirty="0">
                <a:latin typeface="宋体" pitchFamily="2" charset="-122"/>
                <a:ea typeface="宋体" pitchFamily="2" charset="-122"/>
              </a:rPr>
              <a:t>）</a:t>
            </a:r>
          </a:p>
        </p:txBody>
      </p:sp>
      <p:sp>
        <p:nvSpPr>
          <p:cNvPr id="8" name="自选图形 7"/>
          <p:cNvSpPr>
            <a:spLocks noChangeArrowheads="1"/>
          </p:cNvSpPr>
          <p:nvPr/>
        </p:nvSpPr>
        <p:spPr bwMode="gray">
          <a:xfrm>
            <a:off x="3962400" y="3352253"/>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基本概念和术语</a:t>
            </a:r>
          </a:p>
        </p:txBody>
      </p:sp>
      <p:sp>
        <p:nvSpPr>
          <p:cNvPr id="9" name="自选图形 8"/>
          <p:cNvSpPr>
            <a:spLocks noChangeArrowheads="1"/>
          </p:cNvSpPr>
          <p:nvPr/>
        </p:nvSpPr>
        <p:spPr bwMode="gray">
          <a:xfrm>
            <a:off x="3810000" y="2483890"/>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课程概览</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课程安排及要求</a:t>
            </a:r>
          </a:p>
        </p:txBody>
      </p:sp>
      <p:grpSp>
        <p:nvGrpSpPr>
          <p:cNvPr id="2"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3" name="组合 17"/>
          <p:cNvGrpSpPr>
            <a:grpSpLocks/>
          </p:cNvGrpSpPr>
          <p:nvPr/>
        </p:nvGrpSpPr>
        <p:grpSpPr bwMode="auto">
          <a:xfrm>
            <a:off x="3505200" y="2521131"/>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11" name="组合 24"/>
          <p:cNvGrpSpPr>
            <a:grpSpLocks/>
          </p:cNvGrpSpPr>
          <p:nvPr/>
        </p:nvGrpSpPr>
        <p:grpSpPr bwMode="auto">
          <a:xfrm>
            <a:off x="3657600" y="3359331"/>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18" name="组合 31"/>
          <p:cNvGrpSpPr>
            <a:grpSpLocks/>
          </p:cNvGrpSpPr>
          <p:nvPr/>
        </p:nvGrpSpPr>
        <p:grpSpPr bwMode="auto">
          <a:xfrm>
            <a:off x="3505200" y="4197531"/>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grpSp>
        <p:nvGrpSpPr>
          <p:cNvPr id="25" name="组合 38"/>
          <p:cNvGrpSpPr>
            <a:grpSpLocks/>
          </p:cNvGrpSpPr>
          <p:nvPr/>
        </p:nvGrpSpPr>
        <p:grpSpPr bwMode="auto">
          <a:xfrm>
            <a:off x="3048000" y="4972231"/>
            <a:ext cx="355600" cy="519245"/>
            <a:chOff x="2078" y="1387"/>
            <a:chExt cx="1615" cy="2201"/>
          </a:xfrm>
        </p:grpSpPr>
        <p:sp>
          <p:nvSpPr>
            <p:cNvPr id="40" name="椭圆 39"/>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1" name="椭圆 40"/>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2" name="椭圆 41"/>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43" name="椭圆 42"/>
            <p:cNvSpPr>
              <a:spLocks noChangeArrowheads="1"/>
            </p:cNvSpPr>
            <p:nvPr/>
          </p:nvSpPr>
          <p:spPr bwMode="gray">
            <a:xfrm>
              <a:off x="2254" y="1387"/>
              <a:ext cx="1180" cy="220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none" anchor="ctr">
              <a:spAutoFit/>
            </a:bodyPr>
            <a:lstStyle/>
            <a:p>
              <a:endParaRPr lang="zh-CN" altLang="en-US"/>
            </a:p>
          </p:txBody>
        </p:sp>
        <p:sp>
          <p:nvSpPr>
            <p:cNvPr id="44" name="椭圆 43"/>
            <p:cNvSpPr>
              <a:spLocks noChangeArrowheads="1"/>
            </p:cNvSpPr>
            <p:nvPr/>
          </p:nvSpPr>
          <p:spPr bwMode="gray">
            <a:xfrm>
              <a:off x="2338"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45" name="椭圆 44"/>
            <p:cNvSpPr>
              <a:spLocks noChangeArrowheads="1"/>
            </p:cNvSpPr>
            <p:nvPr/>
          </p:nvSpPr>
          <p:spPr bwMode="gray">
            <a:xfrm>
              <a:off x="2337" y="1387"/>
              <a:ext cx="1096" cy="2201"/>
            </a:xfrm>
            <a:prstGeom prst="ellipse">
              <a:avLst/>
            </a:prstGeom>
            <a:gradFill rotWithShape="1">
              <a:gsLst>
                <a:gs pos="0">
                  <a:srgbClr val="E35E23"/>
                </a:gs>
                <a:gs pos="100000">
                  <a:srgbClr val="6E2E11"/>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
        <p:nvSpPr>
          <p:cNvPr id="46" name="自选图形 45"/>
          <p:cNvSpPr>
            <a:spLocks noChangeArrowheads="1"/>
          </p:cNvSpPr>
          <p:nvPr/>
        </p:nvSpPr>
        <p:spPr bwMode="gray">
          <a:xfrm>
            <a:off x="8447110" y="2533841"/>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7" name="自选图形 46"/>
          <p:cNvSpPr>
            <a:spLocks noChangeArrowheads="1"/>
          </p:cNvSpPr>
          <p:nvPr/>
        </p:nvSpPr>
        <p:spPr bwMode="gray">
          <a:xfrm>
            <a:off x="8878910" y="2533841"/>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8" name="自选图形 47"/>
          <p:cNvSpPr>
            <a:spLocks noChangeArrowheads="1"/>
          </p:cNvSpPr>
          <p:nvPr/>
        </p:nvSpPr>
        <p:spPr bwMode="gray">
          <a:xfrm>
            <a:off x="9310710" y="2533841"/>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23" name="AutoShape 47"/>
          <p:cNvSpPr>
            <a:spLocks/>
          </p:cNvSpPr>
          <p:nvPr/>
        </p:nvSpPr>
        <p:spPr bwMode="auto">
          <a:xfrm>
            <a:off x="5087938" y="1204913"/>
            <a:ext cx="169862" cy="1600200"/>
          </a:xfrm>
          <a:prstGeom prst="leftBrace">
            <a:avLst>
              <a:gd name="adj1" fmla="val 78505"/>
              <a:gd name="adj2" fmla="val 50000"/>
            </a:avLst>
          </a:prstGeom>
          <a:noFill/>
          <a:ln w="12700">
            <a:solidFill>
              <a:schemeClr val="tx1"/>
            </a:solidFill>
            <a:round/>
            <a:headEnd/>
            <a:tailEnd/>
          </a:ln>
          <a:effectLst/>
        </p:spPr>
        <p:txBody>
          <a:bodyPr wrap="none" anchor="ctr"/>
          <a:lstStyle/>
          <a:p>
            <a:endParaRPr lang="zh-CN" altLang="en-US"/>
          </a:p>
        </p:txBody>
      </p:sp>
      <p:grpSp>
        <p:nvGrpSpPr>
          <p:cNvPr id="2" name="Group 74"/>
          <p:cNvGrpSpPr>
            <a:grpSpLocks/>
          </p:cNvGrpSpPr>
          <p:nvPr/>
        </p:nvGrpSpPr>
        <p:grpSpPr bwMode="auto">
          <a:xfrm>
            <a:off x="2032001" y="976313"/>
            <a:ext cx="4640263" cy="2128838"/>
            <a:chOff x="320" y="572"/>
            <a:chExt cx="2923" cy="1341"/>
          </a:xfrm>
        </p:grpSpPr>
        <p:sp>
          <p:nvSpPr>
            <p:cNvPr id="50249" name="AutoShape 73"/>
            <p:cNvSpPr>
              <a:spLocks noChangeArrowheads="1"/>
            </p:cNvSpPr>
            <p:nvPr/>
          </p:nvSpPr>
          <p:spPr bwMode="auto">
            <a:xfrm>
              <a:off x="2336" y="572"/>
              <a:ext cx="907" cy="1270"/>
            </a:xfrm>
            <a:prstGeom prst="wedgeRoundRectCallout">
              <a:avLst>
                <a:gd name="adj1" fmla="val -84398"/>
                <a:gd name="adj2" fmla="val 26458"/>
                <a:gd name="adj3" fmla="val 16667"/>
              </a:avLst>
            </a:prstGeom>
            <a:solidFill>
              <a:srgbClr val="FFFFCC"/>
            </a:solidFill>
            <a:ln w="9525">
              <a:solidFill>
                <a:schemeClr val="tx1"/>
              </a:solidFill>
              <a:miter lim="800000"/>
              <a:headEnd/>
              <a:tailEnd/>
            </a:ln>
            <a:effectLst/>
          </p:spPr>
          <p:txBody>
            <a:bodyPr/>
            <a:lstStyle/>
            <a:p>
              <a:pPr algn="ctr"/>
              <a:endParaRPr kumimoji="1" lang="zh-CN" altLang="zh-CN" sz="3600" b="1">
                <a:latin typeface="Times New Roman" pitchFamily="18" charset="0"/>
              </a:endParaRPr>
            </a:p>
          </p:txBody>
        </p:sp>
        <p:sp>
          <p:nvSpPr>
            <p:cNvPr id="50238" name="Rectangle 62"/>
            <p:cNvSpPr>
              <a:spLocks noChangeArrowheads="1"/>
            </p:cNvSpPr>
            <p:nvPr/>
          </p:nvSpPr>
          <p:spPr bwMode="auto">
            <a:xfrm>
              <a:off x="320" y="1416"/>
              <a:ext cx="1744" cy="497"/>
            </a:xfrm>
            <a:prstGeom prst="rect">
              <a:avLst/>
            </a:prstGeom>
            <a:noFill/>
            <a:ln w="9525">
              <a:noFill/>
              <a:miter lim="800000"/>
              <a:headEnd/>
              <a:tailEnd/>
            </a:ln>
            <a:effectLst/>
          </p:spPr>
          <p:txBody>
            <a:bodyPr>
              <a:spAutoFit/>
            </a:bodyPr>
            <a:lstStyle/>
            <a:p>
              <a:pPr>
                <a:lnSpc>
                  <a:spcPct val="90000"/>
                </a:lnSpc>
                <a:spcBef>
                  <a:spcPct val="50000"/>
                </a:spcBef>
              </a:pPr>
              <a:r>
                <a:rPr kumimoji="1" lang="zh-CN" altLang="en-US" sz="2400" b="1" dirty="0">
                  <a:solidFill>
                    <a:srgbClr val="0000FF"/>
                  </a:solidFill>
                  <a:latin typeface="Times New Roman" pitchFamily="18" charset="0"/>
                  <a:ea typeface="隶书" pitchFamily="49" charset="-122"/>
                </a:rPr>
                <a:t>占据了当今计算机</a:t>
              </a:r>
            </a:p>
            <a:p>
              <a:pPr>
                <a:lnSpc>
                  <a:spcPct val="40000"/>
                </a:lnSpc>
                <a:spcBef>
                  <a:spcPct val="50000"/>
                </a:spcBef>
              </a:pPr>
              <a:r>
                <a:rPr kumimoji="1" lang="zh-CN" altLang="en-US" sz="2400" b="1" dirty="0">
                  <a:solidFill>
                    <a:srgbClr val="0000FF"/>
                  </a:solidFill>
                  <a:latin typeface="Times New Roman" pitchFamily="18" charset="0"/>
                  <a:ea typeface="隶书" pitchFamily="49" charset="-122"/>
                </a:rPr>
                <a:t>应用的绝大多数</a:t>
              </a:r>
              <a:r>
                <a:rPr kumimoji="1" lang="zh-CN" altLang="en-US" sz="2400" b="1" dirty="0">
                  <a:solidFill>
                    <a:srgbClr val="0000FF"/>
                  </a:solidFill>
                  <a:latin typeface="Times New Roman" pitchFamily="18" charset="0"/>
                  <a:ea typeface="华文中宋" pitchFamily="2" charset="-122"/>
                </a:rPr>
                <a:t>。</a:t>
              </a:r>
            </a:p>
          </p:txBody>
        </p:sp>
      </p:grpSp>
      <p:sp>
        <p:nvSpPr>
          <p:cNvPr id="50214" name="Rectangle 38"/>
          <p:cNvSpPr>
            <a:spLocks noChangeArrowheads="1"/>
          </p:cNvSpPr>
          <p:nvPr/>
        </p:nvSpPr>
        <p:spPr bwMode="auto">
          <a:xfrm>
            <a:off x="3416301" y="457201"/>
            <a:ext cx="6494085" cy="461665"/>
          </a:xfrm>
          <a:prstGeom prst="rect">
            <a:avLst/>
          </a:prstGeom>
          <a:noFill/>
          <a:ln w="9525">
            <a:noFill/>
            <a:miter lim="800000"/>
            <a:headEnd/>
            <a:tailEnd/>
          </a:ln>
          <a:effectLst/>
        </p:spPr>
        <p:txBody>
          <a:bodyPr wrap="none">
            <a:spAutoFit/>
          </a:bodyPr>
          <a:lstStyle/>
          <a:p>
            <a:r>
              <a:rPr kumimoji="1" lang="zh-CN" altLang="en-US" sz="2400" b="1" dirty="0">
                <a:latin typeface="Times New Roman" pitchFamily="18" charset="0"/>
                <a:ea typeface="华文中宋" pitchFamily="2" charset="-122"/>
              </a:rPr>
              <a:t>数值计算：加工处理的对象</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纯粹的数值。  </a:t>
            </a:r>
          </a:p>
        </p:txBody>
      </p:sp>
      <p:sp>
        <p:nvSpPr>
          <p:cNvPr id="50215" name="Rectangle 39"/>
          <p:cNvSpPr>
            <a:spLocks noChangeArrowheads="1"/>
          </p:cNvSpPr>
          <p:nvPr/>
        </p:nvSpPr>
        <p:spPr bwMode="auto">
          <a:xfrm>
            <a:off x="3421064" y="1738313"/>
            <a:ext cx="1836737" cy="457200"/>
          </a:xfrm>
          <a:prstGeom prst="rect">
            <a:avLst/>
          </a:prstGeom>
          <a:noFill/>
          <a:ln w="9525">
            <a:noFill/>
            <a:miter lim="800000"/>
            <a:headEnd/>
            <a:tailEnd/>
          </a:ln>
          <a:effectLst/>
        </p:spPr>
        <p:txBody>
          <a:bodyPr>
            <a:spAutoFit/>
          </a:bodyPr>
          <a:lstStyle/>
          <a:p>
            <a:r>
              <a:rPr kumimoji="1" lang="zh-CN" altLang="en-US" sz="2400" b="1">
                <a:latin typeface="Times New Roman" pitchFamily="18" charset="0"/>
                <a:ea typeface="华文中宋" pitchFamily="2" charset="-122"/>
              </a:rPr>
              <a:t>非数值计算 </a:t>
            </a:r>
          </a:p>
        </p:txBody>
      </p:sp>
      <p:sp>
        <p:nvSpPr>
          <p:cNvPr id="50216" name="Rectangle 40"/>
          <p:cNvSpPr>
            <a:spLocks noChangeArrowheads="1"/>
          </p:cNvSpPr>
          <p:nvPr/>
        </p:nvSpPr>
        <p:spPr bwMode="auto">
          <a:xfrm>
            <a:off x="1600200" y="1060450"/>
            <a:ext cx="2133600" cy="457200"/>
          </a:xfrm>
          <a:prstGeom prst="rect">
            <a:avLst/>
          </a:prstGeom>
          <a:noFill/>
          <a:ln w="9525">
            <a:noFill/>
            <a:miter lim="800000"/>
            <a:headEnd/>
            <a:tailEnd/>
          </a:ln>
          <a:effectLst/>
        </p:spPr>
        <p:txBody>
          <a:bodyPr>
            <a:spAutoFit/>
          </a:bodyPr>
          <a:lstStyle/>
          <a:p>
            <a:r>
              <a:rPr kumimoji="1" lang="zh-CN" altLang="en-US" sz="2400" b="1">
                <a:latin typeface="Times New Roman" pitchFamily="18" charset="0"/>
                <a:ea typeface="华文中宋" pitchFamily="2" charset="-122"/>
              </a:rPr>
              <a:t>计算机应用 </a:t>
            </a:r>
          </a:p>
        </p:txBody>
      </p:sp>
      <p:sp>
        <p:nvSpPr>
          <p:cNvPr id="50217" name="AutoShape 41"/>
          <p:cNvSpPr>
            <a:spLocks/>
          </p:cNvSpPr>
          <p:nvPr/>
        </p:nvSpPr>
        <p:spPr bwMode="auto">
          <a:xfrm>
            <a:off x="3276600" y="685800"/>
            <a:ext cx="152400" cy="1295400"/>
          </a:xfrm>
          <a:prstGeom prst="leftBrace">
            <a:avLst>
              <a:gd name="adj1" fmla="val 70833"/>
              <a:gd name="adj2" fmla="val 50000"/>
            </a:avLst>
          </a:prstGeom>
          <a:noFill/>
          <a:ln w="12700">
            <a:solidFill>
              <a:schemeClr val="tx1"/>
            </a:solidFill>
            <a:round/>
            <a:headEnd/>
            <a:tailEnd/>
          </a:ln>
          <a:effectLst/>
        </p:spPr>
        <p:txBody>
          <a:bodyPr wrap="none" anchor="ctr"/>
          <a:lstStyle/>
          <a:p>
            <a:endParaRPr lang="zh-CN" altLang="en-US"/>
          </a:p>
        </p:txBody>
      </p:sp>
      <p:sp>
        <p:nvSpPr>
          <p:cNvPr id="50218" name="Rectangle 42"/>
          <p:cNvSpPr>
            <a:spLocks noChangeArrowheads="1"/>
          </p:cNvSpPr>
          <p:nvPr/>
        </p:nvSpPr>
        <p:spPr bwMode="auto">
          <a:xfrm>
            <a:off x="5249863" y="976313"/>
            <a:ext cx="1479550" cy="457200"/>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工业检测 </a:t>
            </a:r>
          </a:p>
        </p:txBody>
      </p:sp>
      <p:sp>
        <p:nvSpPr>
          <p:cNvPr id="50219" name="Rectangle 43"/>
          <p:cNvSpPr>
            <a:spLocks noChangeArrowheads="1"/>
          </p:cNvSpPr>
          <p:nvPr/>
        </p:nvSpPr>
        <p:spPr bwMode="auto">
          <a:xfrm>
            <a:off x="5257800" y="1357313"/>
            <a:ext cx="1479550" cy="457200"/>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过程控制 </a:t>
            </a:r>
          </a:p>
        </p:txBody>
      </p:sp>
      <p:sp>
        <p:nvSpPr>
          <p:cNvPr id="50220" name="Rectangle 44"/>
          <p:cNvSpPr>
            <a:spLocks noChangeArrowheads="1"/>
          </p:cNvSpPr>
          <p:nvPr/>
        </p:nvSpPr>
        <p:spPr bwMode="auto">
          <a:xfrm>
            <a:off x="5257800" y="1738313"/>
            <a:ext cx="1479550" cy="457200"/>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管理系统 </a:t>
            </a:r>
          </a:p>
        </p:txBody>
      </p:sp>
      <p:sp>
        <p:nvSpPr>
          <p:cNvPr id="50221" name="Rectangle 45"/>
          <p:cNvSpPr>
            <a:spLocks noChangeArrowheads="1"/>
          </p:cNvSpPr>
          <p:nvPr/>
        </p:nvSpPr>
        <p:spPr bwMode="auto">
          <a:xfrm>
            <a:off x="5257800" y="2119313"/>
            <a:ext cx="1479550" cy="457200"/>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数据处理 </a:t>
            </a:r>
          </a:p>
        </p:txBody>
      </p:sp>
      <p:sp>
        <p:nvSpPr>
          <p:cNvPr id="50222" name="Rectangle 46"/>
          <p:cNvSpPr>
            <a:spLocks noChangeArrowheads="1"/>
          </p:cNvSpPr>
          <p:nvPr/>
        </p:nvSpPr>
        <p:spPr bwMode="auto">
          <a:xfrm>
            <a:off x="5257800" y="2500313"/>
            <a:ext cx="869950" cy="457200"/>
          </a:xfrm>
          <a:prstGeom prst="rect">
            <a:avLst/>
          </a:prstGeom>
          <a:noFill/>
          <a:ln w="9525">
            <a:noFill/>
            <a:miter lim="800000"/>
            <a:headEnd/>
            <a:tailEnd/>
          </a:ln>
          <a:effectLst/>
        </p:spPr>
        <p:txBody>
          <a:bodyPr wrap="none">
            <a:spAutoFit/>
          </a:bodyPr>
          <a:lstStyle/>
          <a:p>
            <a:r>
              <a:rPr kumimoji="1" lang="en-US" altLang="zh-CN" sz="2400" b="1">
                <a:latin typeface="Times New Roman" pitchFamily="18" charset="0"/>
                <a:ea typeface="华文中宋" pitchFamily="2" charset="-122"/>
              </a:rPr>
              <a:t>…… </a:t>
            </a:r>
          </a:p>
        </p:txBody>
      </p:sp>
      <p:sp>
        <p:nvSpPr>
          <p:cNvPr id="50224" name="AutoShape 48"/>
          <p:cNvSpPr>
            <a:spLocks/>
          </p:cNvSpPr>
          <p:nvPr/>
        </p:nvSpPr>
        <p:spPr bwMode="auto">
          <a:xfrm flipH="1">
            <a:off x="6629400" y="1204913"/>
            <a:ext cx="152400" cy="1600200"/>
          </a:xfrm>
          <a:prstGeom prst="leftBrace">
            <a:avLst>
              <a:gd name="adj1" fmla="val 87500"/>
              <a:gd name="adj2" fmla="val 50000"/>
            </a:avLst>
          </a:prstGeom>
          <a:noFill/>
          <a:ln w="12700">
            <a:solidFill>
              <a:schemeClr val="tx1"/>
            </a:solidFill>
            <a:round/>
            <a:headEnd/>
            <a:tailEnd/>
          </a:ln>
          <a:effectLst/>
        </p:spPr>
        <p:txBody>
          <a:bodyPr wrap="none" anchor="ctr"/>
          <a:lstStyle/>
          <a:p>
            <a:endParaRPr lang="zh-CN" altLang="en-US"/>
          </a:p>
        </p:txBody>
      </p:sp>
      <p:sp>
        <p:nvSpPr>
          <p:cNvPr id="50225" name="Rectangle 49"/>
          <p:cNvSpPr>
            <a:spLocks noChangeArrowheads="1"/>
          </p:cNvSpPr>
          <p:nvPr/>
        </p:nvSpPr>
        <p:spPr bwMode="auto">
          <a:xfrm>
            <a:off x="6705601" y="1738313"/>
            <a:ext cx="2517775" cy="457200"/>
          </a:xfrm>
          <a:prstGeom prst="rect">
            <a:avLst/>
          </a:prstGeom>
          <a:noFill/>
          <a:ln w="9525">
            <a:noFill/>
            <a:miter lim="800000"/>
            <a:headEnd/>
            <a:tailEnd/>
          </a:ln>
          <a:effectLst/>
        </p:spPr>
        <p:txBody>
          <a:bodyPr>
            <a:spAutoFit/>
          </a:bodyPr>
          <a:lstStyle/>
          <a:p>
            <a:r>
              <a:rPr kumimoji="1" lang="zh-CN" altLang="en-US" sz="2400" b="1">
                <a:latin typeface="Times New Roman" pitchFamily="18" charset="0"/>
                <a:ea typeface="华文中宋" pitchFamily="2" charset="-122"/>
              </a:rPr>
              <a:t>加工处理的对象 </a:t>
            </a:r>
          </a:p>
        </p:txBody>
      </p:sp>
      <p:sp>
        <p:nvSpPr>
          <p:cNvPr id="50226" name="AutoShape 50"/>
          <p:cNvSpPr>
            <a:spLocks/>
          </p:cNvSpPr>
          <p:nvPr/>
        </p:nvSpPr>
        <p:spPr bwMode="auto">
          <a:xfrm>
            <a:off x="8991600" y="1196975"/>
            <a:ext cx="152400" cy="1600200"/>
          </a:xfrm>
          <a:prstGeom prst="leftBrace">
            <a:avLst>
              <a:gd name="adj1" fmla="val 87500"/>
              <a:gd name="adj2" fmla="val 50000"/>
            </a:avLst>
          </a:prstGeom>
          <a:noFill/>
          <a:ln w="12700">
            <a:solidFill>
              <a:schemeClr val="tx1"/>
            </a:solidFill>
            <a:round/>
            <a:headEnd/>
            <a:tailEnd/>
          </a:ln>
          <a:effectLst/>
        </p:spPr>
        <p:txBody>
          <a:bodyPr wrap="none" anchor="ctr"/>
          <a:lstStyle/>
          <a:p>
            <a:endParaRPr lang="zh-CN" altLang="en-US"/>
          </a:p>
        </p:txBody>
      </p:sp>
      <p:grpSp>
        <p:nvGrpSpPr>
          <p:cNvPr id="3" name="Group 51"/>
          <p:cNvGrpSpPr>
            <a:grpSpLocks/>
          </p:cNvGrpSpPr>
          <p:nvPr/>
        </p:nvGrpSpPr>
        <p:grpSpPr bwMode="auto">
          <a:xfrm>
            <a:off x="9121776" y="976313"/>
            <a:ext cx="892175" cy="1981200"/>
            <a:chOff x="4786" y="1052"/>
            <a:chExt cx="562" cy="1248"/>
          </a:xfrm>
        </p:grpSpPr>
        <p:sp>
          <p:nvSpPr>
            <p:cNvPr id="50228" name="Rectangle 52"/>
            <p:cNvSpPr>
              <a:spLocks noChangeArrowheads="1"/>
            </p:cNvSpPr>
            <p:nvPr/>
          </p:nvSpPr>
          <p:spPr bwMode="auto">
            <a:xfrm>
              <a:off x="4786" y="1052"/>
              <a:ext cx="548" cy="288"/>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字符 </a:t>
              </a:r>
            </a:p>
          </p:txBody>
        </p:sp>
        <p:sp>
          <p:nvSpPr>
            <p:cNvPr id="50229" name="Rectangle 53"/>
            <p:cNvSpPr>
              <a:spLocks noChangeArrowheads="1"/>
            </p:cNvSpPr>
            <p:nvPr/>
          </p:nvSpPr>
          <p:spPr bwMode="auto">
            <a:xfrm>
              <a:off x="4800" y="1292"/>
              <a:ext cx="548" cy="288"/>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表格 </a:t>
              </a:r>
            </a:p>
          </p:txBody>
        </p:sp>
        <p:sp>
          <p:nvSpPr>
            <p:cNvPr id="50230" name="Rectangle 54"/>
            <p:cNvSpPr>
              <a:spLocks noChangeArrowheads="1"/>
            </p:cNvSpPr>
            <p:nvPr/>
          </p:nvSpPr>
          <p:spPr bwMode="auto">
            <a:xfrm>
              <a:off x="4800" y="1532"/>
              <a:ext cx="548" cy="288"/>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图象 </a:t>
              </a:r>
            </a:p>
          </p:txBody>
        </p:sp>
        <p:sp>
          <p:nvSpPr>
            <p:cNvPr id="50231" name="Rectangle 55"/>
            <p:cNvSpPr>
              <a:spLocks noChangeArrowheads="1"/>
            </p:cNvSpPr>
            <p:nvPr/>
          </p:nvSpPr>
          <p:spPr bwMode="auto">
            <a:xfrm>
              <a:off x="4800" y="1772"/>
              <a:ext cx="548" cy="288"/>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声音 </a:t>
              </a:r>
            </a:p>
          </p:txBody>
        </p:sp>
        <p:sp>
          <p:nvSpPr>
            <p:cNvPr id="50232" name="Rectangle 56"/>
            <p:cNvSpPr>
              <a:spLocks noChangeArrowheads="1"/>
            </p:cNvSpPr>
            <p:nvPr/>
          </p:nvSpPr>
          <p:spPr bwMode="auto">
            <a:xfrm>
              <a:off x="4800" y="2012"/>
              <a:ext cx="548" cy="288"/>
            </a:xfrm>
            <a:prstGeom prst="rect">
              <a:avLst/>
            </a:prstGeom>
            <a:noFill/>
            <a:ln w="9525">
              <a:noFill/>
              <a:miter lim="800000"/>
              <a:headEnd/>
              <a:tailEnd/>
            </a:ln>
            <a:effectLst/>
          </p:spPr>
          <p:txBody>
            <a:bodyPr wrap="none">
              <a:spAutoFit/>
            </a:bodyPr>
            <a:lstStyle/>
            <a:p>
              <a:r>
                <a:rPr kumimoji="1" lang="en-US" altLang="zh-CN" sz="2400" b="1">
                  <a:latin typeface="Times New Roman" pitchFamily="18" charset="0"/>
                  <a:ea typeface="华文中宋" pitchFamily="2" charset="-122"/>
                </a:rPr>
                <a:t>…… </a:t>
              </a:r>
            </a:p>
          </p:txBody>
        </p:sp>
      </p:grpSp>
      <p:sp>
        <p:nvSpPr>
          <p:cNvPr id="50233" name="AutoShape 57"/>
          <p:cNvSpPr>
            <a:spLocks/>
          </p:cNvSpPr>
          <p:nvPr/>
        </p:nvSpPr>
        <p:spPr bwMode="auto">
          <a:xfrm flipH="1">
            <a:off x="9906000" y="1181100"/>
            <a:ext cx="152400" cy="1600200"/>
          </a:xfrm>
          <a:prstGeom prst="leftBrace">
            <a:avLst>
              <a:gd name="adj1" fmla="val 87500"/>
              <a:gd name="adj2" fmla="val 50000"/>
            </a:avLst>
          </a:prstGeom>
          <a:noFill/>
          <a:ln w="12700">
            <a:solidFill>
              <a:schemeClr val="tx1"/>
            </a:solidFill>
            <a:round/>
            <a:headEnd/>
            <a:tailEnd/>
          </a:ln>
          <a:effectLst/>
        </p:spPr>
        <p:txBody>
          <a:bodyPr wrap="none" anchor="ctr"/>
          <a:lstStyle/>
          <a:p>
            <a:endParaRPr lang="zh-CN" altLang="en-US"/>
          </a:p>
        </p:txBody>
      </p:sp>
      <p:sp>
        <p:nvSpPr>
          <p:cNvPr id="50234" name="Line 58"/>
          <p:cNvSpPr>
            <a:spLocks noChangeShapeType="1"/>
          </p:cNvSpPr>
          <p:nvPr/>
        </p:nvSpPr>
        <p:spPr bwMode="auto">
          <a:xfrm>
            <a:off x="10058400" y="1976438"/>
            <a:ext cx="228600" cy="0"/>
          </a:xfrm>
          <a:prstGeom prst="line">
            <a:avLst/>
          </a:prstGeom>
          <a:noFill/>
          <a:ln w="12700">
            <a:solidFill>
              <a:schemeClr val="tx1"/>
            </a:solidFill>
            <a:round/>
            <a:headEnd/>
            <a:tailEnd/>
          </a:ln>
          <a:effectLst/>
        </p:spPr>
        <p:txBody>
          <a:bodyPr/>
          <a:lstStyle/>
          <a:p>
            <a:endParaRPr lang="zh-CN" altLang="en-US"/>
          </a:p>
        </p:txBody>
      </p:sp>
      <p:sp>
        <p:nvSpPr>
          <p:cNvPr id="50235" name="Line 59"/>
          <p:cNvSpPr>
            <a:spLocks noChangeShapeType="1"/>
          </p:cNvSpPr>
          <p:nvPr/>
        </p:nvSpPr>
        <p:spPr bwMode="auto">
          <a:xfrm>
            <a:off x="10287000" y="1976438"/>
            <a:ext cx="0" cy="1524000"/>
          </a:xfrm>
          <a:prstGeom prst="line">
            <a:avLst/>
          </a:prstGeom>
          <a:noFill/>
          <a:ln w="12700">
            <a:solidFill>
              <a:schemeClr val="tx1"/>
            </a:solidFill>
            <a:round/>
            <a:headEnd/>
            <a:tailEnd/>
          </a:ln>
          <a:effectLst/>
        </p:spPr>
        <p:txBody>
          <a:bodyPr/>
          <a:lstStyle/>
          <a:p>
            <a:endParaRPr lang="zh-CN" altLang="en-US"/>
          </a:p>
        </p:txBody>
      </p:sp>
      <p:sp>
        <p:nvSpPr>
          <p:cNvPr id="50236" name="Line 60"/>
          <p:cNvSpPr>
            <a:spLocks noChangeShapeType="1"/>
          </p:cNvSpPr>
          <p:nvPr/>
        </p:nvSpPr>
        <p:spPr bwMode="auto">
          <a:xfrm flipH="1">
            <a:off x="7543800" y="3500438"/>
            <a:ext cx="2743200" cy="0"/>
          </a:xfrm>
          <a:prstGeom prst="line">
            <a:avLst/>
          </a:prstGeom>
          <a:noFill/>
          <a:ln w="12700">
            <a:solidFill>
              <a:schemeClr val="tx1"/>
            </a:solidFill>
            <a:round/>
            <a:headEnd/>
            <a:tailEnd type="triangle" w="med" len="med"/>
          </a:ln>
          <a:effectLst/>
        </p:spPr>
        <p:txBody>
          <a:bodyPr/>
          <a:lstStyle/>
          <a:p>
            <a:endParaRPr lang="zh-CN" altLang="en-US"/>
          </a:p>
        </p:txBody>
      </p:sp>
      <p:sp>
        <p:nvSpPr>
          <p:cNvPr id="50237" name="Rectangle 61"/>
          <p:cNvSpPr>
            <a:spLocks noChangeArrowheads="1"/>
          </p:cNvSpPr>
          <p:nvPr/>
        </p:nvSpPr>
        <p:spPr bwMode="auto">
          <a:xfrm>
            <a:off x="4114800" y="3068638"/>
            <a:ext cx="3625850" cy="641350"/>
          </a:xfrm>
          <a:prstGeom prst="rect">
            <a:avLst/>
          </a:prstGeom>
          <a:noFill/>
          <a:ln w="9525">
            <a:noFill/>
            <a:miter lim="800000"/>
            <a:headEnd/>
            <a:tailEnd/>
          </a:ln>
          <a:effectLst/>
        </p:spPr>
        <p:txBody>
          <a:bodyPr wrap="none">
            <a:spAutoFit/>
          </a:bodyPr>
          <a:lstStyle/>
          <a:p>
            <a:r>
              <a:rPr kumimoji="1" lang="zh-CN" altLang="en-US" sz="3600" b="1">
                <a:solidFill>
                  <a:srgbClr val="FF3300"/>
                </a:solidFill>
                <a:effectLst>
                  <a:outerShdw blurRad="38100" dist="38100" dir="2700000" algn="tl">
                    <a:srgbClr val="000000"/>
                  </a:outerShdw>
                </a:effectLst>
                <a:latin typeface="隶书" pitchFamily="49" charset="-122"/>
                <a:ea typeface="隶书" pitchFamily="49" charset="-122"/>
              </a:rPr>
              <a:t>具有一定的结构 </a:t>
            </a:r>
          </a:p>
        </p:txBody>
      </p:sp>
      <p:sp>
        <p:nvSpPr>
          <p:cNvPr id="50239" name="AutoShape 63"/>
          <p:cNvSpPr>
            <a:spLocks/>
          </p:cNvSpPr>
          <p:nvPr/>
        </p:nvSpPr>
        <p:spPr bwMode="auto">
          <a:xfrm rot="5400000">
            <a:off x="5638800" y="684213"/>
            <a:ext cx="304800" cy="6248400"/>
          </a:xfrm>
          <a:prstGeom prst="leftBrace">
            <a:avLst>
              <a:gd name="adj1" fmla="val 170833"/>
              <a:gd name="adj2" fmla="val 50000"/>
            </a:avLst>
          </a:prstGeom>
          <a:noFill/>
          <a:ln w="12700">
            <a:solidFill>
              <a:schemeClr val="tx1"/>
            </a:solidFill>
            <a:round/>
            <a:headEnd/>
            <a:tailEnd/>
          </a:ln>
          <a:effectLst/>
        </p:spPr>
        <p:txBody>
          <a:bodyPr wrap="none" anchor="ctr"/>
          <a:lstStyle/>
          <a:p>
            <a:endParaRPr lang="zh-CN" altLang="en-US"/>
          </a:p>
        </p:txBody>
      </p:sp>
      <p:sp>
        <p:nvSpPr>
          <p:cNvPr id="50240" name="Rectangle 64"/>
          <p:cNvSpPr>
            <a:spLocks noChangeArrowheads="1"/>
          </p:cNvSpPr>
          <p:nvPr/>
        </p:nvSpPr>
        <p:spPr bwMode="auto">
          <a:xfrm>
            <a:off x="1857375" y="4824413"/>
            <a:ext cx="1797050" cy="519112"/>
          </a:xfrm>
          <a:prstGeom prst="rect">
            <a:avLst/>
          </a:prstGeom>
          <a:solidFill>
            <a:srgbClr val="FFFFCC"/>
          </a:solidFill>
          <a:ln w="9525">
            <a:noFill/>
            <a:miter lim="800000"/>
            <a:headEnd/>
            <a:tailEnd/>
          </a:ln>
          <a:effectLst/>
        </p:spPr>
        <p:txBody>
          <a:bodyPr wrap="none">
            <a:spAutoFit/>
          </a:bodyPr>
          <a:lstStyle/>
          <a:p>
            <a:r>
              <a:rPr kumimoji="1" lang="en-US" altLang="zh-CN" sz="2800" b="1">
                <a:latin typeface="Times New Roman" pitchFamily="18" charset="0"/>
                <a:ea typeface="隶书" pitchFamily="49" charset="-122"/>
              </a:rPr>
              <a:t> </a:t>
            </a:r>
            <a:r>
              <a:rPr kumimoji="1" lang="zh-CN" altLang="en-US" sz="2800" b="1">
                <a:latin typeface="Times New Roman" pitchFamily="18" charset="0"/>
                <a:ea typeface="隶书" pitchFamily="49" charset="-122"/>
              </a:rPr>
              <a:t>逻辑结构 </a:t>
            </a:r>
          </a:p>
        </p:txBody>
      </p:sp>
      <p:sp>
        <p:nvSpPr>
          <p:cNvPr id="50241" name="Rectangle 65"/>
          <p:cNvSpPr>
            <a:spLocks noChangeArrowheads="1"/>
          </p:cNvSpPr>
          <p:nvPr/>
        </p:nvSpPr>
        <p:spPr bwMode="auto">
          <a:xfrm>
            <a:off x="4876800" y="4813301"/>
            <a:ext cx="1797050" cy="519113"/>
          </a:xfrm>
          <a:prstGeom prst="rect">
            <a:avLst/>
          </a:prstGeom>
          <a:solidFill>
            <a:srgbClr val="FFFFCC"/>
          </a:solidFill>
          <a:ln w="9525">
            <a:noFill/>
            <a:miter lim="800000"/>
            <a:headEnd/>
            <a:tailEnd/>
          </a:ln>
          <a:effectLst/>
        </p:spPr>
        <p:txBody>
          <a:bodyPr wrap="none">
            <a:spAutoFit/>
          </a:bodyPr>
          <a:lstStyle/>
          <a:p>
            <a:r>
              <a:rPr kumimoji="1" lang="en-US" altLang="zh-CN" sz="2800" b="1">
                <a:latin typeface="Times New Roman" pitchFamily="18" charset="0"/>
                <a:ea typeface="隶书" pitchFamily="49" charset="-122"/>
              </a:rPr>
              <a:t> </a:t>
            </a:r>
            <a:r>
              <a:rPr kumimoji="1" lang="zh-CN" altLang="en-US" sz="2800" b="1">
                <a:latin typeface="Times New Roman" pitchFamily="18" charset="0"/>
                <a:ea typeface="隶书" pitchFamily="49" charset="-122"/>
              </a:rPr>
              <a:t>存储结构 </a:t>
            </a:r>
          </a:p>
        </p:txBody>
      </p:sp>
      <p:sp>
        <p:nvSpPr>
          <p:cNvPr id="50242" name="Rectangle 66"/>
          <p:cNvSpPr>
            <a:spLocks noChangeArrowheads="1"/>
          </p:cNvSpPr>
          <p:nvPr/>
        </p:nvSpPr>
        <p:spPr bwMode="auto">
          <a:xfrm>
            <a:off x="8382000" y="4768851"/>
            <a:ext cx="1079500" cy="519113"/>
          </a:xfrm>
          <a:prstGeom prst="rect">
            <a:avLst/>
          </a:prstGeom>
          <a:solidFill>
            <a:srgbClr val="FFFFCC"/>
          </a:solidFill>
          <a:ln w="9525">
            <a:noFill/>
            <a:miter lim="800000"/>
            <a:headEnd/>
            <a:tailEnd/>
          </a:ln>
          <a:effectLst/>
        </p:spPr>
        <p:txBody>
          <a:bodyPr wrap="none">
            <a:spAutoFit/>
          </a:bodyPr>
          <a:lstStyle/>
          <a:p>
            <a:r>
              <a:rPr kumimoji="1" lang="en-US" altLang="zh-CN" sz="2800" b="1">
                <a:latin typeface="Times New Roman" pitchFamily="18" charset="0"/>
                <a:ea typeface="隶书" pitchFamily="49" charset="-122"/>
              </a:rPr>
              <a:t> </a:t>
            </a:r>
            <a:r>
              <a:rPr kumimoji="1" lang="zh-CN" altLang="en-US" sz="2800" b="1">
                <a:latin typeface="Times New Roman" pitchFamily="18" charset="0"/>
                <a:ea typeface="隶书" pitchFamily="49" charset="-122"/>
              </a:rPr>
              <a:t>算法 </a:t>
            </a:r>
          </a:p>
        </p:txBody>
      </p:sp>
      <p:sp>
        <p:nvSpPr>
          <p:cNvPr id="50243" name="Rectangle 67"/>
          <p:cNvSpPr>
            <a:spLocks noChangeArrowheads="1"/>
          </p:cNvSpPr>
          <p:nvPr/>
        </p:nvSpPr>
        <p:spPr bwMode="auto">
          <a:xfrm>
            <a:off x="4921251" y="3884614"/>
            <a:ext cx="1800493" cy="830997"/>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有效地组织 </a:t>
            </a:r>
          </a:p>
          <a:p>
            <a:r>
              <a:rPr kumimoji="1" lang="zh-CN" altLang="en-US" sz="2400" b="1">
                <a:latin typeface="Times New Roman" pitchFamily="18" charset="0"/>
                <a:ea typeface="华文中宋" pitchFamily="2" charset="-122"/>
              </a:rPr>
              <a:t>计算机存贮 </a:t>
            </a:r>
          </a:p>
        </p:txBody>
      </p:sp>
      <p:sp>
        <p:nvSpPr>
          <p:cNvPr id="50244" name="Rectangle 68"/>
          <p:cNvSpPr>
            <a:spLocks noChangeArrowheads="1"/>
          </p:cNvSpPr>
          <p:nvPr/>
        </p:nvSpPr>
        <p:spPr bwMode="auto">
          <a:xfrm>
            <a:off x="1644651" y="3884614"/>
            <a:ext cx="2723823" cy="830997"/>
          </a:xfrm>
          <a:prstGeom prst="rect">
            <a:avLst/>
          </a:prstGeom>
          <a:noFill/>
          <a:ln w="9525">
            <a:noFill/>
            <a:miter lim="800000"/>
            <a:headEnd/>
            <a:tailEnd/>
          </a:ln>
          <a:effectLst/>
        </p:spPr>
        <p:txBody>
          <a:bodyPr wrap="none">
            <a:spAutoFit/>
          </a:bodyPr>
          <a:lstStyle/>
          <a:p>
            <a:r>
              <a:rPr kumimoji="1" lang="zh-CN" altLang="en-US" sz="2400" b="1" dirty="0">
                <a:latin typeface="Times New Roman" pitchFamily="18" charset="0"/>
                <a:ea typeface="华文中宋" pitchFamily="2" charset="-122"/>
              </a:rPr>
              <a:t>研究对象的特性及 </a:t>
            </a:r>
          </a:p>
          <a:p>
            <a:r>
              <a:rPr kumimoji="1" lang="zh-CN" altLang="en-US" sz="2400" b="1" dirty="0">
                <a:latin typeface="Times New Roman" pitchFamily="18" charset="0"/>
                <a:ea typeface="华文中宋" pitchFamily="2" charset="-122"/>
              </a:rPr>
              <a:t>其相互之间的关系 </a:t>
            </a:r>
          </a:p>
        </p:txBody>
      </p:sp>
      <p:sp>
        <p:nvSpPr>
          <p:cNvPr id="50245" name="Rectangle 69"/>
          <p:cNvSpPr>
            <a:spLocks noChangeArrowheads="1"/>
          </p:cNvSpPr>
          <p:nvPr/>
        </p:nvSpPr>
        <p:spPr bwMode="auto">
          <a:xfrm>
            <a:off x="7464152" y="3897313"/>
            <a:ext cx="3024336" cy="793102"/>
          </a:xfrm>
          <a:prstGeom prst="rect">
            <a:avLst/>
          </a:prstGeom>
          <a:noFill/>
          <a:ln w="9525">
            <a:noFill/>
            <a:miter lim="800000"/>
            <a:headEnd/>
            <a:tailEnd/>
          </a:ln>
          <a:effectLst/>
        </p:spPr>
        <p:txBody>
          <a:bodyPr wrap="square">
            <a:spAutoFit/>
          </a:bodyPr>
          <a:lstStyle/>
          <a:p>
            <a:pPr>
              <a:lnSpc>
                <a:spcPct val="90000"/>
              </a:lnSpc>
              <a:spcBef>
                <a:spcPct val="50000"/>
              </a:spcBef>
              <a:buSzPct val="90000"/>
            </a:pPr>
            <a:r>
              <a:rPr kumimoji="1" lang="zh-CN" altLang="en-US" sz="2400" b="1" dirty="0">
                <a:latin typeface="Times New Roman" pitchFamily="18" charset="0"/>
                <a:ea typeface="华文中宋" pitchFamily="2" charset="-122"/>
              </a:rPr>
              <a:t>有效地实现对象之 </a:t>
            </a:r>
          </a:p>
          <a:p>
            <a:pPr>
              <a:lnSpc>
                <a:spcPct val="40000"/>
              </a:lnSpc>
              <a:spcBef>
                <a:spcPct val="50000"/>
              </a:spcBef>
              <a:buSzPct val="90000"/>
            </a:pPr>
            <a:r>
              <a:rPr kumimoji="1" lang="zh-CN" altLang="en-US" sz="2400" b="1" dirty="0">
                <a:latin typeface="Times New Roman" pitchFamily="18" charset="0"/>
                <a:ea typeface="华文中宋" pitchFamily="2" charset="-122"/>
              </a:rPr>
              <a:t>间的  “运算”  关系 </a:t>
            </a:r>
          </a:p>
        </p:txBody>
      </p:sp>
      <p:sp>
        <p:nvSpPr>
          <p:cNvPr id="50246" name="AutoShape 70"/>
          <p:cNvSpPr>
            <a:spLocks/>
          </p:cNvSpPr>
          <p:nvPr/>
        </p:nvSpPr>
        <p:spPr bwMode="auto">
          <a:xfrm rot="16200000" flipV="1">
            <a:off x="5638800" y="2436813"/>
            <a:ext cx="304800" cy="6248400"/>
          </a:xfrm>
          <a:prstGeom prst="leftBrace">
            <a:avLst>
              <a:gd name="adj1" fmla="val 170833"/>
              <a:gd name="adj2" fmla="val 50000"/>
            </a:avLst>
          </a:prstGeom>
          <a:noFill/>
          <a:ln w="12700">
            <a:solidFill>
              <a:schemeClr val="tx1"/>
            </a:solidFill>
            <a:round/>
            <a:headEnd/>
            <a:tailEnd/>
          </a:ln>
          <a:effectLst/>
        </p:spPr>
        <p:txBody>
          <a:bodyPr wrap="none" anchor="ctr"/>
          <a:lstStyle/>
          <a:p>
            <a:endParaRPr lang="zh-CN" altLang="en-US"/>
          </a:p>
        </p:txBody>
      </p:sp>
      <p:sp>
        <p:nvSpPr>
          <p:cNvPr id="50247" name="Rectangle 71"/>
          <p:cNvSpPr>
            <a:spLocks noChangeArrowheads="1"/>
          </p:cNvSpPr>
          <p:nvPr/>
        </p:nvSpPr>
        <p:spPr bwMode="auto">
          <a:xfrm>
            <a:off x="2438401" y="5622926"/>
            <a:ext cx="6342063" cy="701675"/>
          </a:xfrm>
          <a:prstGeom prst="rect">
            <a:avLst/>
          </a:prstGeom>
          <a:noFill/>
          <a:ln w="9525">
            <a:noFill/>
            <a:miter lim="800000"/>
            <a:headEnd/>
            <a:tailEnd/>
          </a:ln>
          <a:effectLst/>
        </p:spPr>
        <p:txBody>
          <a:bodyPr wrap="none">
            <a:spAutoFit/>
          </a:bodyPr>
          <a:lstStyle/>
          <a:p>
            <a:r>
              <a:rPr kumimoji="1" lang="en-US" altLang="zh-CN" sz="4000" b="1">
                <a:effectLst>
                  <a:outerShdw blurRad="38100" dist="38100" dir="2700000" algn="tl">
                    <a:srgbClr val="FFFFFF"/>
                  </a:outerShdw>
                </a:effectLst>
                <a:latin typeface="隶书" pitchFamily="49" charset="-122"/>
                <a:ea typeface="隶书" pitchFamily="49" charset="-122"/>
              </a:rPr>
              <a:t> </a:t>
            </a:r>
            <a:r>
              <a:rPr kumimoji="1" lang="en-US" altLang="zh-CN" sz="4000" b="1">
                <a:solidFill>
                  <a:srgbClr val="FF3300"/>
                </a:solidFill>
                <a:effectLst>
                  <a:outerShdw blurRad="38100" dist="38100" dir="2700000" algn="tl">
                    <a:srgbClr val="000000"/>
                  </a:outerShdw>
                </a:effectLst>
                <a:latin typeface="隶书" pitchFamily="49" charset="-122"/>
                <a:ea typeface="隶书" pitchFamily="49" charset="-122"/>
              </a:rPr>
              <a:t>《</a:t>
            </a:r>
            <a:r>
              <a:rPr kumimoji="1" lang="zh-CN" altLang="en-US" sz="4000" b="1">
                <a:solidFill>
                  <a:srgbClr val="FF3300"/>
                </a:solidFill>
                <a:effectLst>
                  <a:outerShdw blurRad="38100" dist="38100" dir="2700000" algn="tl">
                    <a:srgbClr val="000000"/>
                  </a:outerShdw>
                </a:effectLst>
                <a:latin typeface="隶书" pitchFamily="49" charset="-122"/>
                <a:ea typeface="隶书" pitchFamily="49" charset="-122"/>
              </a:rPr>
              <a:t>数据结构</a:t>
            </a:r>
            <a:r>
              <a:rPr kumimoji="1" lang="en-US" altLang="zh-CN" sz="4000" b="1">
                <a:solidFill>
                  <a:srgbClr val="FF3300"/>
                </a:solidFill>
                <a:effectLst>
                  <a:outerShdw blurRad="38100" dist="38100" dir="2700000" algn="tl">
                    <a:srgbClr val="000000"/>
                  </a:outerShdw>
                </a:effectLst>
                <a:latin typeface="隶书" pitchFamily="49" charset="-122"/>
                <a:ea typeface="隶书" pitchFamily="49" charset="-122"/>
              </a:rPr>
              <a:t>》</a:t>
            </a:r>
            <a:r>
              <a:rPr kumimoji="1" lang="zh-CN" altLang="en-US" sz="4000" b="1">
                <a:solidFill>
                  <a:srgbClr val="FF3300"/>
                </a:solidFill>
                <a:effectLst>
                  <a:outerShdw blurRad="38100" dist="38100" dir="2700000" algn="tl">
                    <a:srgbClr val="000000"/>
                  </a:outerShdw>
                </a:effectLst>
                <a:latin typeface="隶书" pitchFamily="49" charset="-122"/>
                <a:ea typeface="隶书" pitchFamily="49" charset="-122"/>
              </a:rPr>
              <a:t>的研究内容</a:t>
            </a:r>
            <a:r>
              <a:rPr kumimoji="1" lang="zh-CN" altLang="en-US" sz="4000" b="1">
                <a:effectLst>
                  <a:outerShdw blurRad="38100" dist="38100" dir="2700000" algn="tl">
                    <a:srgbClr val="FFFFFF"/>
                  </a:outerShdw>
                </a:effectLst>
                <a:latin typeface="隶书" pitchFamily="49" charset="-122"/>
                <a:ea typeface="隶书" pitchFamily="49" charset="-122"/>
              </a:rPr>
              <a:t>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0216"/>
                                        </p:tgtEl>
                                        <p:attrNameLst>
                                          <p:attrName>style.visibility</p:attrName>
                                        </p:attrNameLst>
                                      </p:cBhvr>
                                      <p:to>
                                        <p:strVal val="visible"/>
                                      </p:to>
                                    </p:set>
                                    <p:animEffect transition="in" filter="wipe(left)">
                                      <p:cBhvr>
                                        <p:cTn id="7" dur="2000"/>
                                        <p:tgtEl>
                                          <p:spTgt spid="502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0217"/>
                                        </p:tgtEl>
                                        <p:attrNameLst>
                                          <p:attrName>style.visibility</p:attrName>
                                        </p:attrNameLst>
                                      </p:cBhvr>
                                      <p:to>
                                        <p:strVal val="visible"/>
                                      </p:to>
                                    </p:set>
                                    <p:animEffect transition="in" filter="barn(outHorizontal)">
                                      <p:cBhvr>
                                        <p:cTn id="12" dur="500"/>
                                        <p:tgtEl>
                                          <p:spTgt spid="502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214"/>
                                        </p:tgtEl>
                                        <p:attrNameLst>
                                          <p:attrName>style.visibility</p:attrName>
                                        </p:attrNameLst>
                                      </p:cBhvr>
                                      <p:to>
                                        <p:strVal val="visible"/>
                                      </p:to>
                                    </p:set>
                                    <p:animEffect transition="in" filter="wipe(left)">
                                      <p:cBhvr>
                                        <p:cTn id="17" dur="500"/>
                                        <p:tgtEl>
                                          <p:spTgt spid="502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215"/>
                                        </p:tgtEl>
                                        <p:attrNameLst>
                                          <p:attrName>style.visibility</p:attrName>
                                        </p:attrNameLst>
                                      </p:cBhvr>
                                      <p:to>
                                        <p:strVal val="visible"/>
                                      </p:to>
                                    </p:set>
                                    <p:animEffect transition="in" filter="wipe(left)">
                                      <p:cBhvr>
                                        <p:cTn id="22" dur="500"/>
                                        <p:tgtEl>
                                          <p:spTgt spid="5021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50223"/>
                                        </p:tgtEl>
                                        <p:attrNameLst>
                                          <p:attrName>style.visibility</p:attrName>
                                        </p:attrNameLst>
                                      </p:cBhvr>
                                      <p:to>
                                        <p:strVal val="visible"/>
                                      </p:to>
                                    </p:set>
                                    <p:animEffect transition="in" filter="barn(outHorizontal)">
                                      <p:cBhvr>
                                        <p:cTn id="27" dur="500"/>
                                        <p:tgtEl>
                                          <p:spTgt spid="502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218"/>
                                        </p:tgtEl>
                                        <p:attrNameLst>
                                          <p:attrName>style.visibility</p:attrName>
                                        </p:attrNameLst>
                                      </p:cBhvr>
                                      <p:to>
                                        <p:strVal val="visible"/>
                                      </p:to>
                                    </p:set>
                                    <p:animEffect transition="in" filter="wipe(left)">
                                      <p:cBhvr>
                                        <p:cTn id="32" dur="500"/>
                                        <p:tgtEl>
                                          <p:spTgt spid="502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0219"/>
                                        </p:tgtEl>
                                        <p:attrNameLst>
                                          <p:attrName>style.visibility</p:attrName>
                                        </p:attrNameLst>
                                      </p:cBhvr>
                                      <p:to>
                                        <p:strVal val="visible"/>
                                      </p:to>
                                    </p:set>
                                    <p:animEffect transition="in" filter="wipe(left)">
                                      <p:cBhvr>
                                        <p:cTn id="37" dur="500"/>
                                        <p:tgtEl>
                                          <p:spTgt spid="502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0220"/>
                                        </p:tgtEl>
                                        <p:attrNameLst>
                                          <p:attrName>style.visibility</p:attrName>
                                        </p:attrNameLst>
                                      </p:cBhvr>
                                      <p:to>
                                        <p:strVal val="visible"/>
                                      </p:to>
                                    </p:set>
                                    <p:animEffect transition="in" filter="wipe(left)">
                                      <p:cBhvr>
                                        <p:cTn id="42" dur="500"/>
                                        <p:tgtEl>
                                          <p:spTgt spid="502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0221"/>
                                        </p:tgtEl>
                                        <p:attrNameLst>
                                          <p:attrName>style.visibility</p:attrName>
                                        </p:attrNameLst>
                                      </p:cBhvr>
                                      <p:to>
                                        <p:strVal val="visible"/>
                                      </p:to>
                                    </p:set>
                                    <p:animEffect transition="in" filter="wipe(left)">
                                      <p:cBhvr>
                                        <p:cTn id="47" dur="500"/>
                                        <p:tgtEl>
                                          <p:spTgt spid="502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0222"/>
                                        </p:tgtEl>
                                        <p:attrNameLst>
                                          <p:attrName>style.visibility</p:attrName>
                                        </p:attrNameLst>
                                      </p:cBhvr>
                                      <p:to>
                                        <p:strVal val="visible"/>
                                      </p:to>
                                    </p:set>
                                    <p:animEffect transition="in" filter="wipe(left)">
                                      <p:cBhvr>
                                        <p:cTn id="52" dur="500"/>
                                        <p:tgtEl>
                                          <p:spTgt spid="5022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wipe(up)">
                                      <p:cBhvr>
                                        <p:cTn id="5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58" fill="hold">
                      <p:stCondLst>
                        <p:cond delay="indefinite"/>
                      </p:stCondLst>
                      <p:childTnLst>
                        <p:par>
                          <p:cTn id="59" fill="hold">
                            <p:stCondLst>
                              <p:cond delay="0"/>
                            </p:stCondLst>
                            <p:childTnLst>
                              <p:par>
                                <p:cTn id="60" presetID="16" presetClass="entr" presetSubtype="42" fill="hold" grpId="0" nodeType="clickEffect">
                                  <p:stCondLst>
                                    <p:cond delay="0"/>
                                  </p:stCondLst>
                                  <p:childTnLst>
                                    <p:set>
                                      <p:cBhvr>
                                        <p:cTn id="61" dur="1" fill="hold">
                                          <p:stCondLst>
                                            <p:cond delay="0"/>
                                          </p:stCondLst>
                                        </p:cTn>
                                        <p:tgtEl>
                                          <p:spTgt spid="50224"/>
                                        </p:tgtEl>
                                        <p:attrNameLst>
                                          <p:attrName>style.visibility</p:attrName>
                                        </p:attrNameLst>
                                      </p:cBhvr>
                                      <p:to>
                                        <p:strVal val="visible"/>
                                      </p:to>
                                    </p:set>
                                    <p:animEffect transition="in" filter="barn(outHorizontal)">
                                      <p:cBhvr>
                                        <p:cTn id="62" dur="500"/>
                                        <p:tgtEl>
                                          <p:spTgt spid="5022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0225"/>
                                        </p:tgtEl>
                                        <p:attrNameLst>
                                          <p:attrName>style.visibility</p:attrName>
                                        </p:attrNameLst>
                                      </p:cBhvr>
                                      <p:to>
                                        <p:strVal val="visible"/>
                                      </p:to>
                                    </p:set>
                                    <p:animEffect transition="in" filter="wipe(left)">
                                      <p:cBhvr>
                                        <p:cTn id="67" dur="500"/>
                                        <p:tgtEl>
                                          <p:spTgt spid="50225"/>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42" fill="hold" grpId="0" nodeType="clickEffect">
                                  <p:stCondLst>
                                    <p:cond delay="0"/>
                                  </p:stCondLst>
                                  <p:childTnLst>
                                    <p:set>
                                      <p:cBhvr>
                                        <p:cTn id="71" dur="1" fill="hold">
                                          <p:stCondLst>
                                            <p:cond delay="0"/>
                                          </p:stCondLst>
                                        </p:cTn>
                                        <p:tgtEl>
                                          <p:spTgt spid="50226"/>
                                        </p:tgtEl>
                                        <p:attrNameLst>
                                          <p:attrName>style.visibility</p:attrName>
                                        </p:attrNameLst>
                                      </p:cBhvr>
                                      <p:to>
                                        <p:strVal val="visible"/>
                                      </p:to>
                                    </p:set>
                                    <p:animEffect transition="in" filter="barn(outHorizontal)">
                                      <p:cBhvr>
                                        <p:cTn id="72" dur="500"/>
                                        <p:tgtEl>
                                          <p:spTgt spid="5022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wipe(left)">
                                      <p:cBhvr>
                                        <p:cTn id="77" dur="500"/>
                                        <p:tgtEl>
                                          <p:spTgt spid="3"/>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42" fill="hold" grpId="0" nodeType="clickEffect">
                                  <p:stCondLst>
                                    <p:cond delay="0"/>
                                  </p:stCondLst>
                                  <p:childTnLst>
                                    <p:set>
                                      <p:cBhvr>
                                        <p:cTn id="81" dur="1" fill="hold">
                                          <p:stCondLst>
                                            <p:cond delay="0"/>
                                          </p:stCondLst>
                                        </p:cTn>
                                        <p:tgtEl>
                                          <p:spTgt spid="50233"/>
                                        </p:tgtEl>
                                        <p:attrNameLst>
                                          <p:attrName>style.visibility</p:attrName>
                                        </p:attrNameLst>
                                      </p:cBhvr>
                                      <p:to>
                                        <p:strVal val="visible"/>
                                      </p:to>
                                    </p:set>
                                    <p:animEffect transition="in" filter="barn(outHorizontal)">
                                      <p:cBhvr>
                                        <p:cTn id="82" dur="500"/>
                                        <p:tgtEl>
                                          <p:spTgt spid="50233"/>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50234"/>
                                        </p:tgtEl>
                                        <p:attrNameLst>
                                          <p:attrName>style.visibility</p:attrName>
                                        </p:attrNameLst>
                                      </p:cBhvr>
                                      <p:to>
                                        <p:strVal val="visible"/>
                                      </p:to>
                                    </p:set>
                                    <p:animEffect transition="in" filter="wipe(left)">
                                      <p:cBhvr>
                                        <p:cTn id="86" dur="500"/>
                                        <p:tgtEl>
                                          <p:spTgt spid="50234"/>
                                        </p:tgtEl>
                                      </p:cBhvr>
                                    </p:animEffect>
                                  </p:childTnLst>
                                </p:cTn>
                              </p:par>
                            </p:childTnLst>
                          </p:cTn>
                        </p:par>
                        <p:par>
                          <p:cTn id="87" fill="hold">
                            <p:stCondLst>
                              <p:cond delay="1000"/>
                            </p:stCondLst>
                            <p:childTnLst>
                              <p:par>
                                <p:cTn id="88" presetID="22" presetClass="entr" presetSubtype="1" fill="hold" grpId="0" nodeType="afterEffect">
                                  <p:stCondLst>
                                    <p:cond delay="0"/>
                                  </p:stCondLst>
                                  <p:childTnLst>
                                    <p:set>
                                      <p:cBhvr>
                                        <p:cTn id="89" dur="1" fill="hold">
                                          <p:stCondLst>
                                            <p:cond delay="0"/>
                                          </p:stCondLst>
                                        </p:cTn>
                                        <p:tgtEl>
                                          <p:spTgt spid="50235"/>
                                        </p:tgtEl>
                                        <p:attrNameLst>
                                          <p:attrName>style.visibility</p:attrName>
                                        </p:attrNameLst>
                                      </p:cBhvr>
                                      <p:to>
                                        <p:strVal val="visible"/>
                                      </p:to>
                                    </p:set>
                                    <p:animEffect transition="in" filter="wipe(up)">
                                      <p:cBhvr>
                                        <p:cTn id="90" dur="500"/>
                                        <p:tgtEl>
                                          <p:spTgt spid="50235"/>
                                        </p:tgtEl>
                                      </p:cBhvr>
                                    </p:animEffect>
                                  </p:childTnLst>
                                </p:cTn>
                              </p:par>
                            </p:childTnLst>
                          </p:cTn>
                        </p:par>
                        <p:par>
                          <p:cTn id="91" fill="hold">
                            <p:stCondLst>
                              <p:cond delay="1500"/>
                            </p:stCondLst>
                            <p:childTnLst>
                              <p:par>
                                <p:cTn id="92" presetID="22" presetClass="entr" presetSubtype="2" fill="hold" grpId="0" nodeType="afterEffect">
                                  <p:stCondLst>
                                    <p:cond delay="0"/>
                                  </p:stCondLst>
                                  <p:childTnLst>
                                    <p:set>
                                      <p:cBhvr>
                                        <p:cTn id="93" dur="1" fill="hold">
                                          <p:stCondLst>
                                            <p:cond delay="0"/>
                                          </p:stCondLst>
                                        </p:cTn>
                                        <p:tgtEl>
                                          <p:spTgt spid="50236"/>
                                        </p:tgtEl>
                                        <p:attrNameLst>
                                          <p:attrName>style.visibility</p:attrName>
                                        </p:attrNameLst>
                                      </p:cBhvr>
                                      <p:to>
                                        <p:strVal val="visible"/>
                                      </p:to>
                                    </p:set>
                                    <p:animEffect transition="in" filter="wipe(right)">
                                      <p:cBhvr>
                                        <p:cTn id="94" dur="500"/>
                                        <p:tgtEl>
                                          <p:spTgt spid="50236"/>
                                        </p:tgtEl>
                                      </p:cBhvr>
                                    </p:animEffect>
                                  </p:childTnLst>
                                </p:cTn>
                              </p:par>
                            </p:childTnLst>
                          </p:cTn>
                        </p:par>
                        <p:par>
                          <p:cTn id="95" fill="hold">
                            <p:stCondLst>
                              <p:cond delay="2000"/>
                            </p:stCondLst>
                            <p:childTnLst>
                              <p:par>
                                <p:cTn id="96" presetID="17" presetClass="entr" presetSubtype="10" fill="hold" grpId="0" nodeType="afterEffect">
                                  <p:stCondLst>
                                    <p:cond delay="0"/>
                                  </p:stCondLst>
                                  <p:childTnLst>
                                    <p:set>
                                      <p:cBhvr>
                                        <p:cTn id="97" dur="1" fill="hold">
                                          <p:stCondLst>
                                            <p:cond delay="0"/>
                                          </p:stCondLst>
                                        </p:cTn>
                                        <p:tgtEl>
                                          <p:spTgt spid="50237"/>
                                        </p:tgtEl>
                                        <p:attrNameLst>
                                          <p:attrName>style.visibility</p:attrName>
                                        </p:attrNameLst>
                                      </p:cBhvr>
                                      <p:to>
                                        <p:strVal val="visible"/>
                                      </p:to>
                                    </p:set>
                                    <p:anim calcmode="lin" valueType="num">
                                      <p:cBhvr>
                                        <p:cTn id="98" dur="2000" fill="hold"/>
                                        <p:tgtEl>
                                          <p:spTgt spid="50237"/>
                                        </p:tgtEl>
                                        <p:attrNameLst>
                                          <p:attrName>ppt_w</p:attrName>
                                        </p:attrNameLst>
                                      </p:cBhvr>
                                      <p:tavLst>
                                        <p:tav tm="0">
                                          <p:val>
                                            <p:fltVal val="0"/>
                                          </p:val>
                                        </p:tav>
                                        <p:tav tm="100000">
                                          <p:val>
                                            <p:strVal val="#ppt_w"/>
                                          </p:val>
                                        </p:tav>
                                      </p:tavLst>
                                    </p:anim>
                                    <p:anim calcmode="lin" valueType="num">
                                      <p:cBhvr>
                                        <p:cTn id="99" dur="2000" fill="hold"/>
                                        <p:tgtEl>
                                          <p:spTgt spid="50237"/>
                                        </p:tgtEl>
                                        <p:attrNameLst>
                                          <p:attrName>ppt_h</p:attrName>
                                        </p:attrNameLst>
                                      </p:cBhvr>
                                      <p:tavLst>
                                        <p:tav tm="0">
                                          <p:val>
                                            <p:strVal val="#ppt_h"/>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16" presetClass="entr" presetSubtype="37" fill="hold" grpId="0" nodeType="clickEffect">
                                  <p:stCondLst>
                                    <p:cond delay="0"/>
                                  </p:stCondLst>
                                  <p:childTnLst>
                                    <p:set>
                                      <p:cBhvr>
                                        <p:cTn id="103" dur="1" fill="hold">
                                          <p:stCondLst>
                                            <p:cond delay="0"/>
                                          </p:stCondLst>
                                        </p:cTn>
                                        <p:tgtEl>
                                          <p:spTgt spid="50239"/>
                                        </p:tgtEl>
                                        <p:attrNameLst>
                                          <p:attrName>style.visibility</p:attrName>
                                        </p:attrNameLst>
                                      </p:cBhvr>
                                      <p:to>
                                        <p:strVal val="visible"/>
                                      </p:to>
                                    </p:set>
                                    <p:animEffect transition="in" filter="barn(outVertical)">
                                      <p:cBhvr>
                                        <p:cTn id="104" dur="500"/>
                                        <p:tgtEl>
                                          <p:spTgt spid="50239"/>
                                        </p:tgtEl>
                                      </p:cBhvr>
                                    </p:animEffect>
                                  </p:childTnLst>
                                </p:cTn>
                              </p:par>
                            </p:childTnLst>
                          </p:cTn>
                        </p:par>
                      </p:childTnLst>
                    </p:cTn>
                  </p:par>
                  <p:par>
                    <p:cTn id="105" fill="hold">
                      <p:stCondLst>
                        <p:cond delay="indefinite"/>
                      </p:stCondLst>
                      <p:childTnLst>
                        <p:par>
                          <p:cTn id="106" fill="hold">
                            <p:stCondLst>
                              <p:cond delay="0"/>
                            </p:stCondLst>
                            <p:childTnLst>
                              <p:par>
                                <p:cTn id="107" presetID="17" presetClass="entr" presetSubtype="10" fill="hold" grpId="0" nodeType="clickEffect">
                                  <p:stCondLst>
                                    <p:cond delay="0"/>
                                  </p:stCondLst>
                                  <p:childTnLst>
                                    <p:set>
                                      <p:cBhvr>
                                        <p:cTn id="108" dur="1" fill="hold">
                                          <p:stCondLst>
                                            <p:cond delay="0"/>
                                          </p:stCondLst>
                                        </p:cTn>
                                        <p:tgtEl>
                                          <p:spTgt spid="50244"/>
                                        </p:tgtEl>
                                        <p:attrNameLst>
                                          <p:attrName>style.visibility</p:attrName>
                                        </p:attrNameLst>
                                      </p:cBhvr>
                                      <p:to>
                                        <p:strVal val="visible"/>
                                      </p:to>
                                    </p:set>
                                    <p:anim calcmode="lin" valueType="num">
                                      <p:cBhvr>
                                        <p:cTn id="109" dur="500" fill="hold"/>
                                        <p:tgtEl>
                                          <p:spTgt spid="50244"/>
                                        </p:tgtEl>
                                        <p:attrNameLst>
                                          <p:attrName>ppt_w</p:attrName>
                                        </p:attrNameLst>
                                      </p:cBhvr>
                                      <p:tavLst>
                                        <p:tav tm="0">
                                          <p:val>
                                            <p:fltVal val="0"/>
                                          </p:val>
                                        </p:tav>
                                        <p:tav tm="100000">
                                          <p:val>
                                            <p:strVal val="#ppt_w"/>
                                          </p:val>
                                        </p:tav>
                                      </p:tavLst>
                                    </p:anim>
                                    <p:anim calcmode="lin" valueType="num">
                                      <p:cBhvr>
                                        <p:cTn id="110" dur="500" fill="hold"/>
                                        <p:tgtEl>
                                          <p:spTgt spid="50244"/>
                                        </p:tgtEl>
                                        <p:attrNameLst>
                                          <p:attrName>ppt_h</p:attrName>
                                        </p:attrNameLst>
                                      </p:cBhvr>
                                      <p:tavLst>
                                        <p:tav tm="0">
                                          <p:val>
                                            <p:strVal val="#ppt_h"/>
                                          </p:val>
                                        </p:tav>
                                        <p:tav tm="100000">
                                          <p:val>
                                            <p:strVal val="#ppt_h"/>
                                          </p:val>
                                        </p:tav>
                                      </p:tavLst>
                                    </p:anim>
                                  </p:childTnLst>
                                </p:cTn>
                              </p:par>
                            </p:childTnLst>
                          </p:cTn>
                        </p:par>
                      </p:childTnLst>
                    </p:cTn>
                  </p:par>
                  <p:par>
                    <p:cTn id="111" fill="hold">
                      <p:stCondLst>
                        <p:cond delay="indefinite"/>
                      </p:stCondLst>
                      <p:childTnLst>
                        <p:par>
                          <p:cTn id="112" fill="hold">
                            <p:stCondLst>
                              <p:cond delay="0"/>
                            </p:stCondLst>
                            <p:childTnLst>
                              <p:par>
                                <p:cTn id="113" presetID="16" presetClass="entr" presetSubtype="37" fill="hold" grpId="0" nodeType="clickEffect">
                                  <p:stCondLst>
                                    <p:cond delay="0"/>
                                  </p:stCondLst>
                                  <p:childTnLst>
                                    <p:set>
                                      <p:cBhvr>
                                        <p:cTn id="114" dur="1" fill="hold">
                                          <p:stCondLst>
                                            <p:cond delay="0"/>
                                          </p:stCondLst>
                                        </p:cTn>
                                        <p:tgtEl>
                                          <p:spTgt spid="50240"/>
                                        </p:tgtEl>
                                        <p:attrNameLst>
                                          <p:attrName>style.visibility</p:attrName>
                                        </p:attrNameLst>
                                      </p:cBhvr>
                                      <p:to>
                                        <p:strVal val="visible"/>
                                      </p:to>
                                    </p:set>
                                    <p:animEffect transition="in" filter="barn(outVertical)">
                                      <p:cBhvr>
                                        <p:cTn id="115" dur="500"/>
                                        <p:tgtEl>
                                          <p:spTgt spid="50240"/>
                                        </p:tgtEl>
                                      </p:cBhvr>
                                    </p:animEffect>
                                  </p:childTnLst>
                                </p:cTn>
                              </p:par>
                            </p:childTnLst>
                          </p:cTn>
                        </p:par>
                      </p:childTnLst>
                    </p:cTn>
                  </p:par>
                  <p:par>
                    <p:cTn id="116" fill="hold">
                      <p:stCondLst>
                        <p:cond delay="indefinite"/>
                      </p:stCondLst>
                      <p:childTnLst>
                        <p:par>
                          <p:cTn id="117" fill="hold">
                            <p:stCondLst>
                              <p:cond delay="0"/>
                            </p:stCondLst>
                            <p:childTnLst>
                              <p:par>
                                <p:cTn id="118" presetID="17" presetClass="entr" presetSubtype="10" fill="hold" grpId="0" nodeType="clickEffect">
                                  <p:stCondLst>
                                    <p:cond delay="0"/>
                                  </p:stCondLst>
                                  <p:childTnLst>
                                    <p:set>
                                      <p:cBhvr>
                                        <p:cTn id="119" dur="1" fill="hold">
                                          <p:stCondLst>
                                            <p:cond delay="0"/>
                                          </p:stCondLst>
                                        </p:cTn>
                                        <p:tgtEl>
                                          <p:spTgt spid="50243"/>
                                        </p:tgtEl>
                                        <p:attrNameLst>
                                          <p:attrName>style.visibility</p:attrName>
                                        </p:attrNameLst>
                                      </p:cBhvr>
                                      <p:to>
                                        <p:strVal val="visible"/>
                                      </p:to>
                                    </p:set>
                                    <p:anim calcmode="lin" valueType="num">
                                      <p:cBhvr>
                                        <p:cTn id="120" dur="500" fill="hold"/>
                                        <p:tgtEl>
                                          <p:spTgt spid="50243"/>
                                        </p:tgtEl>
                                        <p:attrNameLst>
                                          <p:attrName>ppt_w</p:attrName>
                                        </p:attrNameLst>
                                      </p:cBhvr>
                                      <p:tavLst>
                                        <p:tav tm="0">
                                          <p:val>
                                            <p:fltVal val="0"/>
                                          </p:val>
                                        </p:tav>
                                        <p:tav tm="100000">
                                          <p:val>
                                            <p:strVal val="#ppt_w"/>
                                          </p:val>
                                        </p:tav>
                                      </p:tavLst>
                                    </p:anim>
                                    <p:anim calcmode="lin" valueType="num">
                                      <p:cBhvr>
                                        <p:cTn id="121" dur="500" fill="hold"/>
                                        <p:tgtEl>
                                          <p:spTgt spid="50243"/>
                                        </p:tgtEl>
                                        <p:attrNameLst>
                                          <p:attrName>ppt_h</p:attrName>
                                        </p:attrNameLst>
                                      </p:cBhvr>
                                      <p:tavLst>
                                        <p:tav tm="0">
                                          <p:val>
                                            <p:strVal val="#ppt_h"/>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16" presetClass="entr" presetSubtype="37" fill="hold" grpId="0" nodeType="clickEffect">
                                  <p:stCondLst>
                                    <p:cond delay="0"/>
                                  </p:stCondLst>
                                  <p:childTnLst>
                                    <p:set>
                                      <p:cBhvr>
                                        <p:cTn id="125" dur="1" fill="hold">
                                          <p:stCondLst>
                                            <p:cond delay="0"/>
                                          </p:stCondLst>
                                        </p:cTn>
                                        <p:tgtEl>
                                          <p:spTgt spid="50241"/>
                                        </p:tgtEl>
                                        <p:attrNameLst>
                                          <p:attrName>style.visibility</p:attrName>
                                        </p:attrNameLst>
                                      </p:cBhvr>
                                      <p:to>
                                        <p:strVal val="visible"/>
                                      </p:to>
                                    </p:set>
                                    <p:animEffect transition="in" filter="barn(outVertical)">
                                      <p:cBhvr>
                                        <p:cTn id="126" dur="500"/>
                                        <p:tgtEl>
                                          <p:spTgt spid="50241"/>
                                        </p:tgtEl>
                                      </p:cBhvr>
                                    </p:animEffect>
                                  </p:childTnLst>
                                </p:cTn>
                              </p:par>
                            </p:childTnLst>
                          </p:cTn>
                        </p:par>
                      </p:childTnLst>
                    </p:cTn>
                  </p:par>
                  <p:par>
                    <p:cTn id="127" fill="hold">
                      <p:stCondLst>
                        <p:cond delay="indefinite"/>
                      </p:stCondLst>
                      <p:childTnLst>
                        <p:par>
                          <p:cTn id="128" fill="hold">
                            <p:stCondLst>
                              <p:cond delay="0"/>
                            </p:stCondLst>
                            <p:childTnLst>
                              <p:par>
                                <p:cTn id="129" presetID="17" presetClass="entr" presetSubtype="10" fill="hold" grpId="0" nodeType="clickEffect">
                                  <p:stCondLst>
                                    <p:cond delay="0"/>
                                  </p:stCondLst>
                                  <p:childTnLst>
                                    <p:set>
                                      <p:cBhvr>
                                        <p:cTn id="130" dur="1" fill="hold">
                                          <p:stCondLst>
                                            <p:cond delay="0"/>
                                          </p:stCondLst>
                                        </p:cTn>
                                        <p:tgtEl>
                                          <p:spTgt spid="50245"/>
                                        </p:tgtEl>
                                        <p:attrNameLst>
                                          <p:attrName>style.visibility</p:attrName>
                                        </p:attrNameLst>
                                      </p:cBhvr>
                                      <p:to>
                                        <p:strVal val="visible"/>
                                      </p:to>
                                    </p:set>
                                    <p:anim calcmode="lin" valueType="num">
                                      <p:cBhvr>
                                        <p:cTn id="131" dur="500" fill="hold"/>
                                        <p:tgtEl>
                                          <p:spTgt spid="50245"/>
                                        </p:tgtEl>
                                        <p:attrNameLst>
                                          <p:attrName>ppt_w</p:attrName>
                                        </p:attrNameLst>
                                      </p:cBhvr>
                                      <p:tavLst>
                                        <p:tav tm="0">
                                          <p:val>
                                            <p:fltVal val="0"/>
                                          </p:val>
                                        </p:tav>
                                        <p:tav tm="100000">
                                          <p:val>
                                            <p:strVal val="#ppt_w"/>
                                          </p:val>
                                        </p:tav>
                                      </p:tavLst>
                                    </p:anim>
                                    <p:anim calcmode="lin" valueType="num">
                                      <p:cBhvr>
                                        <p:cTn id="132" dur="500" fill="hold"/>
                                        <p:tgtEl>
                                          <p:spTgt spid="50245"/>
                                        </p:tgtEl>
                                        <p:attrNameLst>
                                          <p:attrName>ppt_h</p:attrName>
                                        </p:attrNameLst>
                                      </p:cBhvr>
                                      <p:tavLst>
                                        <p:tav tm="0">
                                          <p:val>
                                            <p:strVal val="#ppt_h"/>
                                          </p:val>
                                        </p:tav>
                                        <p:tav tm="100000">
                                          <p:val>
                                            <p:strVal val="#ppt_h"/>
                                          </p:val>
                                        </p:tav>
                                      </p:tavLst>
                                    </p:anim>
                                  </p:childTnLst>
                                </p:cTn>
                              </p:par>
                            </p:childTnLst>
                          </p:cTn>
                        </p:par>
                      </p:childTnLst>
                    </p:cTn>
                  </p:par>
                  <p:par>
                    <p:cTn id="133" fill="hold">
                      <p:stCondLst>
                        <p:cond delay="indefinite"/>
                      </p:stCondLst>
                      <p:childTnLst>
                        <p:par>
                          <p:cTn id="134" fill="hold">
                            <p:stCondLst>
                              <p:cond delay="0"/>
                            </p:stCondLst>
                            <p:childTnLst>
                              <p:par>
                                <p:cTn id="135" presetID="16" presetClass="entr" presetSubtype="37" fill="hold" grpId="0" nodeType="clickEffect">
                                  <p:stCondLst>
                                    <p:cond delay="0"/>
                                  </p:stCondLst>
                                  <p:childTnLst>
                                    <p:set>
                                      <p:cBhvr>
                                        <p:cTn id="136" dur="1" fill="hold">
                                          <p:stCondLst>
                                            <p:cond delay="0"/>
                                          </p:stCondLst>
                                        </p:cTn>
                                        <p:tgtEl>
                                          <p:spTgt spid="50242"/>
                                        </p:tgtEl>
                                        <p:attrNameLst>
                                          <p:attrName>style.visibility</p:attrName>
                                        </p:attrNameLst>
                                      </p:cBhvr>
                                      <p:to>
                                        <p:strVal val="visible"/>
                                      </p:to>
                                    </p:set>
                                    <p:animEffect transition="in" filter="barn(outVertical)">
                                      <p:cBhvr>
                                        <p:cTn id="137" dur="500"/>
                                        <p:tgtEl>
                                          <p:spTgt spid="50242"/>
                                        </p:tgtEl>
                                      </p:cBhvr>
                                    </p:animEffect>
                                  </p:childTnLst>
                                </p:cTn>
                              </p:par>
                            </p:childTnLst>
                          </p:cTn>
                        </p:par>
                      </p:childTnLst>
                    </p:cTn>
                  </p:par>
                  <p:par>
                    <p:cTn id="138" fill="hold">
                      <p:stCondLst>
                        <p:cond delay="indefinite"/>
                      </p:stCondLst>
                      <p:childTnLst>
                        <p:par>
                          <p:cTn id="139" fill="hold">
                            <p:stCondLst>
                              <p:cond delay="0"/>
                            </p:stCondLst>
                            <p:childTnLst>
                              <p:par>
                                <p:cTn id="140" presetID="16" presetClass="entr" presetSubtype="37" fill="hold" grpId="0" nodeType="clickEffect">
                                  <p:stCondLst>
                                    <p:cond delay="0"/>
                                  </p:stCondLst>
                                  <p:childTnLst>
                                    <p:set>
                                      <p:cBhvr>
                                        <p:cTn id="141" dur="1" fill="hold">
                                          <p:stCondLst>
                                            <p:cond delay="0"/>
                                          </p:stCondLst>
                                        </p:cTn>
                                        <p:tgtEl>
                                          <p:spTgt spid="50246"/>
                                        </p:tgtEl>
                                        <p:attrNameLst>
                                          <p:attrName>style.visibility</p:attrName>
                                        </p:attrNameLst>
                                      </p:cBhvr>
                                      <p:to>
                                        <p:strVal val="visible"/>
                                      </p:to>
                                    </p:set>
                                    <p:animEffect transition="in" filter="barn(outVertical)">
                                      <p:cBhvr>
                                        <p:cTn id="142" dur="500"/>
                                        <p:tgtEl>
                                          <p:spTgt spid="50246"/>
                                        </p:tgtEl>
                                      </p:cBhvr>
                                    </p:animEffect>
                                  </p:childTnLst>
                                </p:cTn>
                              </p:par>
                            </p:childTnLst>
                          </p:cTn>
                        </p:par>
                      </p:childTnLst>
                    </p:cTn>
                  </p:par>
                  <p:par>
                    <p:cTn id="143" fill="hold">
                      <p:stCondLst>
                        <p:cond delay="indefinite"/>
                      </p:stCondLst>
                      <p:childTnLst>
                        <p:par>
                          <p:cTn id="144" fill="hold">
                            <p:stCondLst>
                              <p:cond delay="0"/>
                            </p:stCondLst>
                            <p:childTnLst>
                              <p:par>
                                <p:cTn id="145" presetID="17" presetClass="entr" presetSubtype="10" fill="hold" grpId="0" nodeType="clickEffect">
                                  <p:stCondLst>
                                    <p:cond delay="0"/>
                                  </p:stCondLst>
                                  <p:childTnLst>
                                    <p:set>
                                      <p:cBhvr>
                                        <p:cTn id="146" dur="1" fill="hold">
                                          <p:stCondLst>
                                            <p:cond delay="0"/>
                                          </p:stCondLst>
                                        </p:cTn>
                                        <p:tgtEl>
                                          <p:spTgt spid="50247"/>
                                        </p:tgtEl>
                                        <p:attrNameLst>
                                          <p:attrName>style.visibility</p:attrName>
                                        </p:attrNameLst>
                                      </p:cBhvr>
                                      <p:to>
                                        <p:strVal val="visible"/>
                                      </p:to>
                                    </p:set>
                                    <p:anim calcmode="lin" valueType="num">
                                      <p:cBhvr>
                                        <p:cTn id="147" dur="2000" fill="hold"/>
                                        <p:tgtEl>
                                          <p:spTgt spid="50247"/>
                                        </p:tgtEl>
                                        <p:attrNameLst>
                                          <p:attrName>ppt_w</p:attrName>
                                        </p:attrNameLst>
                                      </p:cBhvr>
                                      <p:tavLst>
                                        <p:tav tm="0">
                                          <p:val>
                                            <p:fltVal val="0"/>
                                          </p:val>
                                        </p:tav>
                                        <p:tav tm="100000">
                                          <p:val>
                                            <p:strVal val="#ppt_w"/>
                                          </p:val>
                                        </p:tav>
                                      </p:tavLst>
                                    </p:anim>
                                    <p:anim calcmode="lin" valueType="num">
                                      <p:cBhvr>
                                        <p:cTn id="148" dur="2000" fill="hold"/>
                                        <p:tgtEl>
                                          <p:spTgt spid="5024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23" grpId="0" animBg="1"/>
      <p:bldP spid="50214" grpId="0" autoUpdateAnimBg="0"/>
      <p:bldP spid="50215" grpId="0" autoUpdateAnimBg="0"/>
      <p:bldP spid="50216" grpId="0" autoUpdateAnimBg="0"/>
      <p:bldP spid="50217" grpId="0" animBg="1"/>
      <p:bldP spid="50218" grpId="0" autoUpdateAnimBg="0"/>
      <p:bldP spid="50219" grpId="0" autoUpdateAnimBg="0"/>
      <p:bldP spid="50220" grpId="0" autoUpdateAnimBg="0"/>
      <p:bldP spid="50221" grpId="0" autoUpdateAnimBg="0"/>
      <p:bldP spid="50222" grpId="0" autoUpdateAnimBg="0"/>
      <p:bldP spid="50224" grpId="0" animBg="1"/>
      <p:bldP spid="50225" grpId="0" autoUpdateAnimBg="0"/>
      <p:bldP spid="50226" grpId="0" animBg="1"/>
      <p:bldP spid="50233" grpId="0" animBg="1"/>
      <p:bldP spid="50234" grpId="0" animBg="1"/>
      <p:bldP spid="50235" grpId="0" animBg="1"/>
      <p:bldP spid="50236" grpId="0" animBg="1"/>
      <p:bldP spid="50237" grpId="0" autoUpdateAnimBg="0"/>
      <p:bldP spid="50239" grpId="0" animBg="1"/>
      <p:bldP spid="50240" grpId="0" animBg="1" autoUpdateAnimBg="0"/>
      <p:bldP spid="50241" grpId="0" animBg="1" autoUpdateAnimBg="0"/>
      <p:bldP spid="50242" grpId="0" animBg="1" autoUpdateAnimBg="0"/>
      <p:bldP spid="50243" grpId="0" autoUpdateAnimBg="0"/>
      <p:bldP spid="50244" grpId="0" autoUpdateAnimBg="0"/>
      <p:bldP spid="50245" grpId="0" autoUpdateAnimBg="0"/>
      <p:bldP spid="50246" grpId="0" animBg="1"/>
      <p:bldP spid="5024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ChangeArrowheads="1"/>
          </p:cNvSpPr>
          <p:nvPr/>
        </p:nvSpPr>
        <p:spPr bwMode="auto">
          <a:xfrm>
            <a:off x="3978275" y="1459086"/>
            <a:ext cx="2101850" cy="457200"/>
          </a:xfrm>
          <a:prstGeom prst="rect">
            <a:avLst/>
          </a:prstGeom>
          <a:noFill/>
          <a:ln w="9525">
            <a:noFill/>
            <a:miter lim="800000"/>
            <a:headEnd/>
            <a:tailEnd/>
          </a:ln>
          <a:effectLst/>
        </p:spPr>
        <p:txBody>
          <a:bodyPr wrap="none">
            <a:spAutoFit/>
          </a:bodyPr>
          <a:lstStyle/>
          <a:p>
            <a:r>
              <a:rPr kumimoji="1" lang="zh-CN" altLang="en-US" sz="2400" b="1" dirty="0">
                <a:solidFill>
                  <a:srgbClr val="000000"/>
                </a:solidFill>
                <a:latin typeface="Tahoma" pitchFamily="34" charset="0"/>
                <a:ea typeface="华文中宋" pitchFamily="2" charset="-122"/>
              </a:rPr>
              <a:t>抽象数学模型 </a:t>
            </a:r>
          </a:p>
        </p:txBody>
      </p:sp>
      <p:sp>
        <p:nvSpPr>
          <p:cNvPr id="26630" name="Rectangle 6"/>
          <p:cNvSpPr>
            <a:spLocks noChangeArrowheads="1"/>
          </p:cNvSpPr>
          <p:nvPr/>
        </p:nvSpPr>
        <p:spPr bwMode="auto">
          <a:xfrm>
            <a:off x="1524000" y="2813372"/>
            <a:ext cx="2590800" cy="457200"/>
          </a:xfrm>
          <a:prstGeom prst="rect">
            <a:avLst/>
          </a:prstGeom>
          <a:noFill/>
          <a:ln w="9525">
            <a:noFill/>
            <a:miter lim="800000"/>
            <a:headEnd/>
            <a:tailEnd/>
          </a:ln>
          <a:effectLst/>
        </p:spPr>
        <p:txBody>
          <a:bodyPr>
            <a:spAutoFit/>
          </a:bodyPr>
          <a:lstStyle/>
          <a:p>
            <a:r>
              <a:rPr kumimoji="1" lang="zh-CN" altLang="en-US" sz="2400" b="1" dirty="0">
                <a:latin typeface="Times New Roman" pitchFamily="18" charset="0"/>
                <a:ea typeface="华文中宋" pitchFamily="2" charset="-122"/>
              </a:rPr>
              <a:t>计算机解题步骤 </a:t>
            </a:r>
          </a:p>
        </p:txBody>
      </p:sp>
      <p:sp>
        <p:nvSpPr>
          <p:cNvPr id="26631" name="AutoShape 7"/>
          <p:cNvSpPr>
            <a:spLocks/>
          </p:cNvSpPr>
          <p:nvPr/>
        </p:nvSpPr>
        <p:spPr bwMode="auto">
          <a:xfrm>
            <a:off x="3806826" y="1674986"/>
            <a:ext cx="236537" cy="2808288"/>
          </a:xfrm>
          <a:prstGeom prst="leftBrace">
            <a:avLst>
              <a:gd name="adj1" fmla="val 98938"/>
              <a:gd name="adj2" fmla="val 50000"/>
            </a:avLst>
          </a:prstGeom>
          <a:noFill/>
          <a:ln w="12700">
            <a:solidFill>
              <a:schemeClr val="tx1"/>
            </a:solidFill>
            <a:round/>
            <a:headEnd/>
            <a:tailEnd/>
          </a:ln>
          <a:effectLst/>
        </p:spPr>
        <p:txBody>
          <a:bodyPr wrap="none" anchor="ctr"/>
          <a:lstStyle/>
          <a:p>
            <a:endParaRPr lang="zh-CN" altLang="en-US"/>
          </a:p>
        </p:txBody>
      </p:sp>
      <p:sp>
        <p:nvSpPr>
          <p:cNvPr id="26662" name="Rectangle 38"/>
          <p:cNvSpPr>
            <a:spLocks noChangeArrowheads="1"/>
          </p:cNvSpPr>
          <p:nvPr/>
        </p:nvSpPr>
        <p:spPr bwMode="auto">
          <a:xfrm>
            <a:off x="3984625" y="2875137"/>
            <a:ext cx="1515158" cy="461665"/>
          </a:xfrm>
          <a:prstGeom prst="rect">
            <a:avLst/>
          </a:prstGeom>
          <a:noFill/>
          <a:ln w="9525">
            <a:noFill/>
            <a:miter lim="800000"/>
            <a:headEnd/>
            <a:tailEnd/>
          </a:ln>
          <a:effectLst/>
        </p:spPr>
        <p:txBody>
          <a:bodyPr wrap="none">
            <a:spAutoFit/>
          </a:bodyPr>
          <a:lstStyle/>
          <a:p>
            <a:r>
              <a:rPr kumimoji="1" lang="zh-CN" altLang="en-US" sz="2400" b="1" dirty="0">
                <a:solidFill>
                  <a:srgbClr val="000000"/>
                </a:solidFill>
                <a:latin typeface="华文中宋" pitchFamily="2" charset="-122"/>
                <a:ea typeface="华文中宋" pitchFamily="2" charset="-122"/>
              </a:rPr>
              <a:t>设计算法 </a:t>
            </a:r>
          </a:p>
        </p:txBody>
      </p:sp>
      <p:sp>
        <p:nvSpPr>
          <p:cNvPr id="26663" name="Rectangle 39"/>
          <p:cNvSpPr>
            <a:spLocks noChangeArrowheads="1"/>
          </p:cNvSpPr>
          <p:nvPr/>
        </p:nvSpPr>
        <p:spPr bwMode="auto">
          <a:xfrm>
            <a:off x="4008437" y="4195936"/>
            <a:ext cx="2711450" cy="457200"/>
          </a:xfrm>
          <a:prstGeom prst="rect">
            <a:avLst/>
          </a:prstGeom>
          <a:noFill/>
          <a:ln w="9525">
            <a:noFill/>
            <a:miter lim="800000"/>
            <a:headEnd/>
            <a:tailEnd/>
          </a:ln>
          <a:effectLst/>
        </p:spPr>
        <p:txBody>
          <a:bodyPr wrap="none">
            <a:spAutoFit/>
          </a:bodyPr>
          <a:lstStyle/>
          <a:p>
            <a:r>
              <a:rPr kumimoji="1" lang="zh-CN" altLang="en-US" sz="2400" b="1">
                <a:solidFill>
                  <a:srgbClr val="000000"/>
                </a:solidFill>
                <a:latin typeface="Tahoma" pitchFamily="34" charset="0"/>
                <a:ea typeface="华文中宋" pitchFamily="2" charset="-122"/>
              </a:rPr>
              <a:t>编程、调试、运行 </a:t>
            </a:r>
          </a:p>
        </p:txBody>
      </p:sp>
      <p:sp>
        <p:nvSpPr>
          <p:cNvPr id="26665" name="AutoShape 41"/>
          <p:cNvSpPr>
            <a:spLocks/>
          </p:cNvSpPr>
          <p:nvPr/>
        </p:nvSpPr>
        <p:spPr bwMode="auto">
          <a:xfrm>
            <a:off x="6019800" y="398636"/>
            <a:ext cx="215900" cy="2573338"/>
          </a:xfrm>
          <a:prstGeom prst="leftBrace">
            <a:avLst>
              <a:gd name="adj1" fmla="val 99326"/>
              <a:gd name="adj2" fmla="val 50000"/>
            </a:avLst>
          </a:prstGeom>
          <a:noFill/>
          <a:ln w="12700">
            <a:solidFill>
              <a:schemeClr val="tx1"/>
            </a:solidFill>
            <a:round/>
            <a:headEnd/>
            <a:tailEnd/>
          </a:ln>
          <a:effectLst/>
        </p:spPr>
        <p:txBody>
          <a:bodyPr wrap="none" anchor="ctr"/>
          <a:lstStyle/>
          <a:p>
            <a:endParaRPr lang="zh-CN" altLang="en-US"/>
          </a:p>
        </p:txBody>
      </p:sp>
      <p:sp>
        <p:nvSpPr>
          <p:cNvPr id="26666" name="Rectangle 42"/>
          <p:cNvSpPr>
            <a:spLocks noChangeArrowheads="1"/>
          </p:cNvSpPr>
          <p:nvPr/>
        </p:nvSpPr>
        <p:spPr bwMode="auto">
          <a:xfrm>
            <a:off x="6191251" y="246236"/>
            <a:ext cx="1501775" cy="457200"/>
          </a:xfrm>
          <a:prstGeom prst="rect">
            <a:avLst/>
          </a:prstGeom>
          <a:noFill/>
          <a:ln w="9525">
            <a:noFill/>
            <a:miter lim="800000"/>
            <a:headEnd/>
            <a:tailEnd/>
          </a:ln>
          <a:effectLst/>
        </p:spPr>
        <p:txBody>
          <a:bodyPr wrap="none">
            <a:spAutoFit/>
          </a:bodyPr>
          <a:lstStyle/>
          <a:p>
            <a:r>
              <a:rPr kumimoji="1" lang="zh-CN" altLang="en-US" sz="2400" b="1">
                <a:solidFill>
                  <a:srgbClr val="000000"/>
                </a:solidFill>
                <a:latin typeface="华文中宋" pitchFamily="2" charset="-122"/>
                <a:ea typeface="华文中宋" pitchFamily="2" charset="-122"/>
              </a:rPr>
              <a:t>分析问题 </a:t>
            </a:r>
          </a:p>
        </p:txBody>
      </p:sp>
      <p:sp>
        <p:nvSpPr>
          <p:cNvPr id="26667" name="Rectangle 43"/>
          <p:cNvSpPr>
            <a:spLocks noChangeArrowheads="1"/>
          </p:cNvSpPr>
          <p:nvPr/>
        </p:nvSpPr>
        <p:spPr bwMode="auto">
          <a:xfrm>
            <a:off x="6196013" y="1027287"/>
            <a:ext cx="2130711" cy="461665"/>
          </a:xfrm>
          <a:prstGeom prst="rect">
            <a:avLst/>
          </a:prstGeom>
          <a:noFill/>
          <a:ln w="9525">
            <a:noFill/>
            <a:miter lim="800000"/>
            <a:headEnd/>
            <a:tailEnd/>
          </a:ln>
          <a:effectLst/>
        </p:spPr>
        <p:txBody>
          <a:bodyPr wrap="none">
            <a:spAutoFit/>
          </a:bodyPr>
          <a:lstStyle/>
          <a:p>
            <a:r>
              <a:rPr kumimoji="1" lang="zh-CN" altLang="en-US" sz="2400" b="1">
                <a:solidFill>
                  <a:srgbClr val="000000"/>
                </a:solidFill>
                <a:latin typeface="华文中宋" pitchFamily="2" charset="-122"/>
                <a:ea typeface="华文中宋" pitchFamily="2" charset="-122"/>
              </a:rPr>
              <a:t>提取操作对象 </a:t>
            </a:r>
          </a:p>
        </p:txBody>
      </p:sp>
      <p:sp>
        <p:nvSpPr>
          <p:cNvPr id="26668" name="Rectangle 44"/>
          <p:cNvSpPr>
            <a:spLocks noChangeArrowheads="1"/>
          </p:cNvSpPr>
          <p:nvPr/>
        </p:nvSpPr>
        <p:spPr bwMode="auto">
          <a:xfrm>
            <a:off x="6172201" y="1795637"/>
            <a:ext cx="3633787" cy="470129"/>
          </a:xfrm>
          <a:prstGeom prst="rect">
            <a:avLst/>
          </a:prstGeom>
          <a:noFill/>
          <a:ln w="9525">
            <a:noFill/>
            <a:miter lim="800000"/>
            <a:headEnd/>
            <a:tailEnd/>
          </a:ln>
          <a:effectLst/>
        </p:spPr>
        <p:txBody>
          <a:bodyPr>
            <a:spAutoFit/>
          </a:bodyPr>
          <a:lstStyle/>
          <a:p>
            <a:pPr>
              <a:lnSpc>
                <a:spcPct val="110000"/>
              </a:lnSpc>
            </a:pPr>
            <a:r>
              <a:rPr kumimoji="1" lang="zh-CN" altLang="en-US" sz="2400" b="1">
                <a:solidFill>
                  <a:srgbClr val="000000"/>
                </a:solidFill>
                <a:latin typeface="华文中宋" pitchFamily="2" charset="-122"/>
                <a:ea typeface="华文中宋" pitchFamily="2" charset="-122"/>
              </a:rPr>
              <a:t>找出操作对象之间的关系 </a:t>
            </a:r>
          </a:p>
        </p:txBody>
      </p:sp>
      <p:sp>
        <p:nvSpPr>
          <p:cNvPr id="26669" name="Rectangle 45"/>
          <p:cNvSpPr>
            <a:spLocks noChangeArrowheads="1"/>
          </p:cNvSpPr>
          <p:nvPr/>
        </p:nvSpPr>
        <p:spPr bwMode="auto">
          <a:xfrm>
            <a:off x="6172201" y="2608436"/>
            <a:ext cx="2416175" cy="457200"/>
          </a:xfrm>
          <a:prstGeom prst="rect">
            <a:avLst/>
          </a:prstGeom>
          <a:noFill/>
          <a:ln w="9525">
            <a:noFill/>
            <a:miter lim="800000"/>
            <a:headEnd/>
            <a:tailEnd/>
          </a:ln>
          <a:effectLst/>
        </p:spPr>
        <p:txBody>
          <a:bodyPr wrap="none">
            <a:spAutoFit/>
          </a:bodyPr>
          <a:lstStyle/>
          <a:p>
            <a:r>
              <a:rPr kumimoji="1" lang="zh-CN" altLang="en-US" sz="2400" b="1">
                <a:solidFill>
                  <a:srgbClr val="000000"/>
                </a:solidFill>
                <a:latin typeface="华文中宋" pitchFamily="2" charset="-122"/>
                <a:ea typeface="华文中宋" pitchFamily="2" charset="-122"/>
              </a:rPr>
              <a:t>用数学语言描述 </a:t>
            </a:r>
          </a:p>
        </p:txBody>
      </p:sp>
      <p:sp>
        <p:nvSpPr>
          <p:cNvPr id="26670" name="Rectangle 46"/>
          <p:cNvSpPr>
            <a:spLocks noChangeArrowheads="1"/>
          </p:cNvSpPr>
          <p:nvPr/>
        </p:nvSpPr>
        <p:spPr bwMode="auto">
          <a:xfrm>
            <a:off x="8458201" y="2610025"/>
            <a:ext cx="1901825" cy="420687"/>
          </a:xfrm>
          <a:prstGeom prst="rect">
            <a:avLst/>
          </a:prstGeom>
          <a:noFill/>
          <a:ln w="9525">
            <a:noFill/>
            <a:miter lim="800000"/>
            <a:headEnd/>
            <a:tailEnd/>
          </a:ln>
          <a:effectLst/>
        </p:spPr>
        <p:txBody>
          <a:bodyPr wrap="none">
            <a:spAutoFit/>
          </a:bodyPr>
          <a:lstStyle/>
          <a:p>
            <a:pPr>
              <a:lnSpc>
                <a:spcPct val="90000"/>
              </a:lnSpc>
            </a:pPr>
            <a:r>
              <a:rPr kumimoji="1" lang="en-US" altLang="zh-CN" sz="2400" b="1" dirty="0">
                <a:solidFill>
                  <a:srgbClr val="000000"/>
                </a:solidFill>
                <a:latin typeface="华文中宋" pitchFamily="2" charset="-122"/>
                <a:ea typeface="华文中宋" pitchFamily="2" charset="-122"/>
                <a:sym typeface="Symbol" pitchFamily="18" charset="2"/>
              </a:rPr>
              <a:t></a:t>
            </a:r>
            <a:r>
              <a:rPr kumimoji="1" lang="en-US" altLang="zh-CN" sz="2400" b="1" dirty="0">
                <a:solidFill>
                  <a:srgbClr val="000000"/>
                </a:solidFill>
                <a:latin typeface="华文中宋" pitchFamily="2" charset="-122"/>
                <a:ea typeface="华文中宋" pitchFamily="2" charset="-122"/>
              </a:rPr>
              <a:t> </a:t>
            </a:r>
            <a:r>
              <a:rPr kumimoji="1" lang="zh-CN" altLang="en-US" sz="2400" b="1" dirty="0">
                <a:solidFill>
                  <a:srgbClr val="0000FF"/>
                </a:solidFill>
                <a:latin typeface="华文中宋" pitchFamily="2" charset="-122"/>
                <a:ea typeface="华文中宋" pitchFamily="2" charset="-122"/>
              </a:rPr>
              <a:t>数据结构</a:t>
            </a:r>
            <a:r>
              <a:rPr kumimoji="1" lang="zh-CN" altLang="en-US" sz="2400" b="1" dirty="0">
                <a:solidFill>
                  <a:srgbClr val="000000"/>
                </a:solidFill>
                <a:latin typeface="华文中宋" pitchFamily="2" charset="-122"/>
                <a:ea typeface="华文中宋" pitchFamily="2" charset="-122"/>
              </a:rPr>
              <a:t> </a:t>
            </a:r>
          </a:p>
        </p:txBody>
      </p:sp>
      <p:sp>
        <p:nvSpPr>
          <p:cNvPr id="15" name="Text Box 8"/>
          <p:cNvSpPr txBox="1">
            <a:spLocks noChangeArrowheads="1"/>
          </p:cNvSpPr>
          <p:nvPr/>
        </p:nvSpPr>
        <p:spPr bwMode="auto">
          <a:xfrm>
            <a:off x="2006601" y="5085185"/>
            <a:ext cx="8263801" cy="1070101"/>
          </a:xfrm>
          <a:prstGeom prst="rect">
            <a:avLst/>
          </a:prstGeom>
          <a:noFill/>
          <a:ln w="9525">
            <a:noFill/>
            <a:miter lim="800000"/>
            <a:headEnd/>
            <a:tailEnd/>
          </a:ln>
          <a:effectLst/>
        </p:spPr>
        <p:txBody>
          <a:bodyPr wrap="none">
            <a:spAutoFit/>
          </a:bodyPr>
          <a:lstStyle/>
          <a:p>
            <a:pPr>
              <a:lnSpc>
                <a:spcPct val="140000"/>
              </a:lnSpc>
            </a:pPr>
            <a:r>
              <a:rPr kumimoji="1" lang="en-US" altLang="zh-CN" sz="2400" b="1" dirty="0">
                <a:solidFill>
                  <a:srgbClr val="000000"/>
                </a:solidFill>
                <a:latin typeface="Times New Roman" pitchFamily="18" charset="0"/>
                <a:ea typeface="华文中宋" pitchFamily="2" charset="-122"/>
              </a:rPr>
              <a:t>        《</a:t>
            </a:r>
            <a:r>
              <a:rPr kumimoji="1" lang="zh-CN" altLang="en-US" sz="2400" b="1" dirty="0">
                <a:latin typeface="Times New Roman" pitchFamily="18" charset="0"/>
                <a:ea typeface="华文中宋" pitchFamily="2" charset="-122"/>
              </a:rPr>
              <a:t>数据结构</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是一门研究非数值计算的程序设计问题中 </a:t>
            </a:r>
          </a:p>
          <a:p>
            <a:pPr>
              <a:lnSpc>
                <a:spcPct val="140000"/>
              </a:lnSpc>
            </a:pPr>
            <a:r>
              <a:rPr kumimoji="1" lang="zh-CN" altLang="en-US" sz="2400" b="1" dirty="0">
                <a:latin typeface="Times New Roman" pitchFamily="18" charset="0"/>
                <a:ea typeface="华文中宋" pitchFamily="2" charset="-122"/>
              </a:rPr>
              <a:t>计算机的</a:t>
            </a:r>
            <a:r>
              <a:rPr kumimoji="1" lang="zh-CN" altLang="en-US" sz="2400" b="1" dirty="0">
                <a:solidFill>
                  <a:srgbClr val="FF3300"/>
                </a:solidFill>
                <a:effectLst>
                  <a:outerShdw blurRad="38100" dist="38100" dir="2700000" algn="tl">
                    <a:srgbClr val="000000"/>
                  </a:outerShdw>
                </a:effectLst>
                <a:latin typeface="Times New Roman" pitchFamily="18" charset="0"/>
                <a:ea typeface="华文中宋" pitchFamily="2" charset="-122"/>
              </a:rPr>
              <a:t>操作对象</a:t>
            </a:r>
            <a:r>
              <a:rPr kumimoji="1" lang="zh-CN" altLang="en-US" sz="2400" b="1" dirty="0">
                <a:solidFill>
                  <a:srgbClr val="000000"/>
                </a:solidFill>
                <a:latin typeface="Times New Roman" pitchFamily="18" charset="0"/>
                <a:ea typeface="华文中宋" pitchFamily="2" charset="-122"/>
              </a:rPr>
              <a:t>以及它们之间的</a:t>
            </a:r>
            <a:r>
              <a:rPr kumimoji="1" lang="zh-CN" altLang="en-US" sz="2400" b="1" dirty="0">
                <a:solidFill>
                  <a:srgbClr val="FF3300"/>
                </a:solidFill>
                <a:effectLst>
                  <a:outerShdw blurRad="38100" dist="38100" dir="2700000" algn="tl">
                    <a:srgbClr val="000000"/>
                  </a:outerShdw>
                </a:effectLst>
                <a:latin typeface="Times New Roman" pitchFamily="18" charset="0"/>
                <a:ea typeface="华文中宋" pitchFamily="2" charset="-122"/>
              </a:rPr>
              <a:t>关系</a:t>
            </a:r>
            <a:r>
              <a:rPr kumimoji="1" lang="zh-CN" altLang="en-US" sz="2400" b="1" dirty="0">
                <a:solidFill>
                  <a:srgbClr val="000000"/>
                </a:solidFill>
                <a:latin typeface="Times New Roman" pitchFamily="18" charset="0"/>
                <a:ea typeface="华文中宋" pitchFamily="2" charset="-122"/>
              </a:rPr>
              <a:t>和</a:t>
            </a:r>
            <a:r>
              <a:rPr kumimoji="1" lang="zh-CN" altLang="en-US" sz="2400" b="1" dirty="0">
                <a:solidFill>
                  <a:srgbClr val="FF3300"/>
                </a:solidFill>
                <a:effectLst>
                  <a:outerShdw blurRad="38100" dist="38100" dir="2700000" algn="tl">
                    <a:srgbClr val="000000"/>
                  </a:outerShdw>
                </a:effectLst>
                <a:latin typeface="Times New Roman" pitchFamily="18" charset="0"/>
                <a:ea typeface="华文中宋" pitchFamily="2" charset="-122"/>
              </a:rPr>
              <a:t>操作</a:t>
            </a:r>
            <a:r>
              <a:rPr kumimoji="1" lang="zh-CN" altLang="en-US" sz="2400" b="1" dirty="0">
                <a:solidFill>
                  <a:srgbClr val="000000"/>
                </a:solidFill>
                <a:latin typeface="Times New Roman" pitchFamily="18" charset="0"/>
                <a:ea typeface="华文中宋" pitchFamily="2" charset="-122"/>
              </a:rPr>
              <a:t>的一门学科。</a:t>
            </a:r>
            <a:endParaRPr kumimoji="1" lang="zh-CN" altLang="en-US" sz="2400" b="1" dirty="0">
              <a:latin typeface="Times New Roman" pitchFamily="18" charset="0"/>
              <a:ea typeface="华文中宋"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Effect transition="in" filter="wipe(left)">
                                      <p:cBhvr>
                                        <p:cTn id="7" dur="500"/>
                                        <p:tgtEl>
                                          <p:spTgt spid="266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6631"/>
                                        </p:tgtEl>
                                        <p:attrNameLst>
                                          <p:attrName>style.visibility</p:attrName>
                                        </p:attrNameLst>
                                      </p:cBhvr>
                                      <p:to>
                                        <p:strVal val="visible"/>
                                      </p:to>
                                    </p:set>
                                    <p:animEffect transition="in" filter="barn(outHorizontal)">
                                      <p:cBhvr>
                                        <p:cTn id="12" dur="500"/>
                                        <p:tgtEl>
                                          <p:spTgt spid="266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8"/>
                                        </p:tgtEl>
                                        <p:attrNameLst>
                                          <p:attrName>style.visibility</p:attrName>
                                        </p:attrNameLst>
                                      </p:cBhvr>
                                      <p:to>
                                        <p:strVal val="visible"/>
                                      </p:to>
                                    </p:set>
                                    <p:animEffect transition="in" filter="wipe(left)">
                                      <p:cBhvr>
                                        <p:cTn id="17" dur="500"/>
                                        <p:tgtEl>
                                          <p:spTgt spid="266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662"/>
                                        </p:tgtEl>
                                        <p:attrNameLst>
                                          <p:attrName>style.visibility</p:attrName>
                                        </p:attrNameLst>
                                      </p:cBhvr>
                                      <p:to>
                                        <p:strVal val="visible"/>
                                      </p:to>
                                    </p:set>
                                    <p:animEffect transition="in" filter="wipe(left)">
                                      <p:cBhvr>
                                        <p:cTn id="22" dur="500"/>
                                        <p:tgtEl>
                                          <p:spTgt spid="266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663"/>
                                        </p:tgtEl>
                                        <p:attrNameLst>
                                          <p:attrName>style.visibility</p:attrName>
                                        </p:attrNameLst>
                                      </p:cBhvr>
                                      <p:to>
                                        <p:strVal val="visible"/>
                                      </p:to>
                                    </p:set>
                                    <p:animEffect transition="in" filter="wipe(left)">
                                      <p:cBhvr>
                                        <p:cTn id="27" dur="500"/>
                                        <p:tgtEl>
                                          <p:spTgt spid="2666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26665"/>
                                        </p:tgtEl>
                                        <p:attrNameLst>
                                          <p:attrName>style.visibility</p:attrName>
                                        </p:attrNameLst>
                                      </p:cBhvr>
                                      <p:to>
                                        <p:strVal val="visible"/>
                                      </p:to>
                                    </p:set>
                                    <p:animEffect transition="in" filter="barn(outHorizontal)">
                                      <p:cBhvr>
                                        <p:cTn id="32" dur="500"/>
                                        <p:tgtEl>
                                          <p:spTgt spid="266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666"/>
                                        </p:tgtEl>
                                        <p:attrNameLst>
                                          <p:attrName>style.visibility</p:attrName>
                                        </p:attrNameLst>
                                      </p:cBhvr>
                                      <p:to>
                                        <p:strVal val="visible"/>
                                      </p:to>
                                    </p:set>
                                    <p:animEffect transition="in" filter="wipe(left)">
                                      <p:cBhvr>
                                        <p:cTn id="37" dur="500"/>
                                        <p:tgtEl>
                                          <p:spTgt spid="2666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667"/>
                                        </p:tgtEl>
                                        <p:attrNameLst>
                                          <p:attrName>style.visibility</p:attrName>
                                        </p:attrNameLst>
                                      </p:cBhvr>
                                      <p:to>
                                        <p:strVal val="visible"/>
                                      </p:to>
                                    </p:set>
                                    <p:animEffect transition="in" filter="wipe(left)">
                                      <p:cBhvr>
                                        <p:cTn id="42" dur="500"/>
                                        <p:tgtEl>
                                          <p:spTgt spid="2666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668"/>
                                        </p:tgtEl>
                                        <p:attrNameLst>
                                          <p:attrName>style.visibility</p:attrName>
                                        </p:attrNameLst>
                                      </p:cBhvr>
                                      <p:to>
                                        <p:strVal val="visible"/>
                                      </p:to>
                                    </p:set>
                                    <p:animEffect transition="in" filter="wipe(left)">
                                      <p:cBhvr>
                                        <p:cTn id="47" dur="500"/>
                                        <p:tgtEl>
                                          <p:spTgt spid="2666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669"/>
                                        </p:tgtEl>
                                        <p:attrNameLst>
                                          <p:attrName>style.visibility</p:attrName>
                                        </p:attrNameLst>
                                      </p:cBhvr>
                                      <p:to>
                                        <p:strVal val="visible"/>
                                      </p:to>
                                    </p:set>
                                    <p:animEffect transition="in" filter="wipe(left)">
                                      <p:cBhvr>
                                        <p:cTn id="52" dur="500"/>
                                        <p:tgtEl>
                                          <p:spTgt spid="2666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670"/>
                                        </p:tgtEl>
                                        <p:attrNameLst>
                                          <p:attrName>style.visibility</p:attrName>
                                        </p:attrNameLst>
                                      </p:cBhvr>
                                      <p:to>
                                        <p:strVal val="visible"/>
                                      </p:to>
                                    </p:set>
                                    <p:animEffect transition="in" filter="wipe(left)">
                                      <p:cBhvr>
                                        <p:cTn id="57" dur="500"/>
                                        <p:tgtEl>
                                          <p:spTgt spid="26670"/>
                                        </p:tgtEl>
                                      </p:cBhvr>
                                    </p:animEffect>
                                  </p:childTnLst>
                                </p:cTn>
                              </p:par>
                            </p:childTnLst>
                          </p:cTn>
                        </p:par>
                      </p:childTnLst>
                    </p:cTn>
                  </p:par>
                  <p:par>
                    <p:cTn id="58" fill="hold">
                      <p:stCondLst>
                        <p:cond delay="indefinite"/>
                      </p:stCondLst>
                      <p:childTnLst>
                        <p:par>
                          <p:cTn id="59" fill="hold">
                            <p:stCondLst>
                              <p:cond delay="0"/>
                            </p:stCondLst>
                            <p:childTnLst>
                              <p:par>
                                <p:cTn id="60" presetID="17" presetClass="entr" presetSubtype="1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p:cTn id="62" dur="500" fill="hold"/>
                                        <p:tgtEl>
                                          <p:spTgt spid="15"/>
                                        </p:tgtEl>
                                        <p:attrNameLst>
                                          <p:attrName>ppt_w</p:attrName>
                                        </p:attrNameLst>
                                      </p:cBhvr>
                                      <p:tavLst>
                                        <p:tav tm="0">
                                          <p:val>
                                            <p:fltVal val="0"/>
                                          </p:val>
                                        </p:tav>
                                        <p:tav tm="100000">
                                          <p:val>
                                            <p:strVal val="#ppt_w"/>
                                          </p:val>
                                        </p:tav>
                                      </p:tavLst>
                                    </p:anim>
                                    <p:anim calcmode="lin" valueType="num">
                                      <p:cBhvr>
                                        <p:cTn id="63" dur="5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utoUpdateAnimBg="0"/>
      <p:bldP spid="26630" grpId="0" autoUpdateAnimBg="0"/>
      <p:bldP spid="26631" grpId="0" animBg="1"/>
      <p:bldP spid="26662" grpId="0" autoUpdateAnimBg="0"/>
      <p:bldP spid="26663" grpId="0" autoUpdateAnimBg="0"/>
      <p:bldP spid="26665" grpId="0" animBg="1"/>
      <p:bldP spid="26666" grpId="0" autoUpdateAnimBg="0"/>
      <p:bldP spid="26667" grpId="0" autoUpdateAnimBg="0"/>
      <p:bldP spid="26668" grpId="0" autoUpdateAnimBg="0"/>
      <p:bldP spid="26669" grpId="0" autoUpdateAnimBg="0"/>
      <p:bldP spid="26670" grpId="0" autoUpdateAnimBg="0"/>
      <p:bldP spid="15"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3071813" y="1541464"/>
            <a:ext cx="684212" cy="3673475"/>
          </a:xfrm>
        </p:spPr>
        <p:txBody>
          <a:bodyPr/>
          <a:lstStyle/>
          <a:p>
            <a:pPr eaLnBrk="1" hangingPunct="1"/>
            <a:r>
              <a:rPr lang="zh-CN" altLang="en-US" sz="3200"/>
              <a:t>本课程组织结构</a:t>
            </a:r>
          </a:p>
        </p:txBody>
      </p:sp>
      <p:sp>
        <p:nvSpPr>
          <p:cNvPr id="5" name="AutoShape 4"/>
          <p:cNvSpPr>
            <a:spLocks/>
          </p:cNvSpPr>
          <p:nvPr/>
        </p:nvSpPr>
        <p:spPr bwMode="auto">
          <a:xfrm>
            <a:off x="3719514" y="2133601"/>
            <a:ext cx="492125" cy="2663825"/>
          </a:xfrm>
          <a:prstGeom prst="leftBrace">
            <a:avLst>
              <a:gd name="adj1" fmla="val 45108"/>
              <a:gd name="adj2" fmla="val 50000"/>
            </a:avLst>
          </a:prstGeom>
          <a:noFill/>
          <a:ln w="19050">
            <a:solidFill>
              <a:schemeClr val="tx1"/>
            </a:solidFill>
            <a:round/>
            <a:headEnd/>
            <a:tailEnd/>
          </a:ln>
        </p:spPr>
        <p:txBody>
          <a:bodyPr wrap="none" anchor="ctr"/>
          <a:lstStyle/>
          <a:p>
            <a:pPr algn="ctr"/>
            <a:endParaRPr lang="zh-CN" altLang="zh-CN" sz="4400">
              <a:latin typeface="Arial" pitchFamily="34" charset="0"/>
            </a:endParaRPr>
          </a:p>
        </p:txBody>
      </p:sp>
      <p:sp>
        <p:nvSpPr>
          <p:cNvPr id="6" name="Text Box 5"/>
          <p:cNvSpPr txBox="1">
            <a:spLocks noChangeArrowheads="1"/>
          </p:cNvSpPr>
          <p:nvPr/>
        </p:nvSpPr>
        <p:spPr bwMode="auto">
          <a:xfrm>
            <a:off x="4295775" y="1444378"/>
            <a:ext cx="452438" cy="1200329"/>
          </a:xfrm>
          <a:prstGeom prst="rect">
            <a:avLst/>
          </a:prstGeom>
          <a:noFill/>
          <a:ln w="9525">
            <a:noFill/>
            <a:miter lim="800000"/>
            <a:headEnd/>
            <a:tailEnd/>
          </a:ln>
        </p:spPr>
        <p:txBody>
          <a:bodyPr>
            <a:spAutoFit/>
          </a:bodyPr>
          <a:lstStyle/>
          <a:p>
            <a:r>
              <a:rPr lang="zh-CN" altLang="en-US" dirty="0"/>
              <a:t>数据结构</a:t>
            </a:r>
          </a:p>
        </p:txBody>
      </p:sp>
      <p:sp>
        <p:nvSpPr>
          <p:cNvPr id="7" name="Text Box 6"/>
          <p:cNvSpPr txBox="1">
            <a:spLocks noChangeArrowheads="1"/>
          </p:cNvSpPr>
          <p:nvPr/>
        </p:nvSpPr>
        <p:spPr bwMode="auto">
          <a:xfrm>
            <a:off x="4295775" y="4508501"/>
            <a:ext cx="452438" cy="646331"/>
          </a:xfrm>
          <a:prstGeom prst="rect">
            <a:avLst/>
          </a:prstGeom>
          <a:noFill/>
          <a:ln w="9525">
            <a:noFill/>
            <a:miter lim="800000"/>
            <a:headEnd/>
            <a:tailEnd/>
          </a:ln>
        </p:spPr>
        <p:txBody>
          <a:bodyPr>
            <a:spAutoFit/>
          </a:bodyPr>
          <a:lstStyle/>
          <a:p>
            <a:r>
              <a:rPr lang="zh-CN" altLang="en-US"/>
              <a:t>算法</a:t>
            </a:r>
          </a:p>
        </p:txBody>
      </p:sp>
      <p:sp>
        <p:nvSpPr>
          <p:cNvPr id="8" name="AutoShape 7"/>
          <p:cNvSpPr>
            <a:spLocks/>
          </p:cNvSpPr>
          <p:nvPr/>
        </p:nvSpPr>
        <p:spPr bwMode="auto">
          <a:xfrm>
            <a:off x="4956176" y="1196753"/>
            <a:ext cx="492125" cy="1539875"/>
          </a:xfrm>
          <a:prstGeom prst="leftBrace">
            <a:avLst>
              <a:gd name="adj1" fmla="val 26075"/>
              <a:gd name="adj2" fmla="val 50000"/>
            </a:avLst>
          </a:prstGeom>
          <a:noFill/>
          <a:ln w="19050">
            <a:solidFill>
              <a:schemeClr val="tx1"/>
            </a:solidFill>
            <a:round/>
            <a:headEnd/>
            <a:tailEnd/>
          </a:ln>
        </p:spPr>
        <p:txBody>
          <a:bodyPr wrap="none" anchor="ctr"/>
          <a:lstStyle/>
          <a:p>
            <a:pPr algn="ctr"/>
            <a:endParaRPr lang="zh-CN" altLang="zh-CN" sz="4400">
              <a:latin typeface="Arial" pitchFamily="34" charset="0"/>
            </a:endParaRPr>
          </a:p>
        </p:txBody>
      </p:sp>
      <p:sp>
        <p:nvSpPr>
          <p:cNvPr id="9" name="AutoShape 9"/>
          <p:cNvSpPr>
            <a:spLocks/>
          </p:cNvSpPr>
          <p:nvPr/>
        </p:nvSpPr>
        <p:spPr bwMode="auto">
          <a:xfrm>
            <a:off x="4872039" y="4221089"/>
            <a:ext cx="492125" cy="1081087"/>
          </a:xfrm>
          <a:prstGeom prst="leftBrace">
            <a:avLst>
              <a:gd name="adj1" fmla="val 18306"/>
              <a:gd name="adj2" fmla="val 50000"/>
            </a:avLst>
          </a:prstGeom>
          <a:noFill/>
          <a:ln w="19050">
            <a:solidFill>
              <a:schemeClr val="tx1"/>
            </a:solidFill>
            <a:round/>
            <a:headEnd/>
            <a:tailEnd/>
          </a:ln>
        </p:spPr>
        <p:txBody>
          <a:bodyPr wrap="none" anchor="ctr"/>
          <a:lstStyle/>
          <a:p>
            <a:pPr algn="ctr"/>
            <a:endParaRPr lang="zh-CN" altLang="zh-CN" sz="4400">
              <a:latin typeface="Arial" pitchFamily="34" charset="0"/>
            </a:endParaRPr>
          </a:p>
        </p:txBody>
      </p:sp>
      <p:sp>
        <p:nvSpPr>
          <p:cNvPr id="10" name="Text Box 10"/>
          <p:cNvSpPr txBox="1">
            <a:spLocks noChangeArrowheads="1"/>
          </p:cNvSpPr>
          <p:nvPr/>
        </p:nvSpPr>
        <p:spPr bwMode="auto">
          <a:xfrm>
            <a:off x="5447928" y="1048969"/>
            <a:ext cx="1249060" cy="1859227"/>
          </a:xfrm>
          <a:prstGeom prst="rect">
            <a:avLst/>
          </a:prstGeom>
          <a:noFill/>
          <a:ln w="9525">
            <a:noFill/>
            <a:miter lim="800000"/>
            <a:headEnd/>
            <a:tailEnd/>
          </a:ln>
        </p:spPr>
        <p:txBody>
          <a:bodyPr wrap="none">
            <a:spAutoFit/>
          </a:bodyPr>
          <a:lstStyle/>
          <a:p>
            <a:pPr>
              <a:lnSpc>
                <a:spcPct val="130000"/>
              </a:lnSpc>
            </a:pPr>
            <a:r>
              <a:rPr lang="zh-CN" altLang="en-US" dirty="0"/>
              <a:t>线性表</a:t>
            </a:r>
          </a:p>
          <a:p>
            <a:pPr>
              <a:lnSpc>
                <a:spcPct val="130000"/>
              </a:lnSpc>
            </a:pPr>
            <a:r>
              <a:rPr lang="zh-CN" altLang="en-US" dirty="0"/>
              <a:t> </a:t>
            </a:r>
          </a:p>
          <a:p>
            <a:pPr>
              <a:lnSpc>
                <a:spcPct val="130000"/>
              </a:lnSpc>
            </a:pPr>
            <a:r>
              <a:rPr lang="zh-CN" altLang="en-US" dirty="0"/>
              <a:t>树</a:t>
            </a:r>
            <a:r>
              <a:rPr lang="en-US" altLang="zh-CN" dirty="0"/>
              <a:t>(</a:t>
            </a:r>
            <a:r>
              <a:rPr lang="zh-CN" altLang="en-US" dirty="0"/>
              <a:t>二叉树</a:t>
            </a:r>
            <a:r>
              <a:rPr lang="en-US" altLang="zh-CN" dirty="0"/>
              <a:t>)</a:t>
            </a:r>
          </a:p>
          <a:p>
            <a:pPr>
              <a:lnSpc>
                <a:spcPct val="130000"/>
              </a:lnSpc>
            </a:pPr>
            <a:endParaRPr lang="en-US" altLang="zh-CN" dirty="0"/>
          </a:p>
          <a:p>
            <a:pPr>
              <a:lnSpc>
                <a:spcPct val="130000"/>
              </a:lnSpc>
            </a:pPr>
            <a:r>
              <a:rPr lang="zh-CN" altLang="en-US" dirty="0"/>
              <a:t>图</a:t>
            </a:r>
          </a:p>
        </p:txBody>
      </p:sp>
      <p:sp>
        <p:nvSpPr>
          <p:cNvPr id="11" name="Text Box 11"/>
          <p:cNvSpPr txBox="1">
            <a:spLocks noChangeArrowheads="1"/>
          </p:cNvSpPr>
          <p:nvPr/>
        </p:nvSpPr>
        <p:spPr bwMode="auto">
          <a:xfrm>
            <a:off x="5375276" y="4005064"/>
            <a:ext cx="646331" cy="1477328"/>
          </a:xfrm>
          <a:prstGeom prst="rect">
            <a:avLst/>
          </a:prstGeom>
          <a:noFill/>
          <a:ln w="9525">
            <a:noFill/>
            <a:miter lim="800000"/>
            <a:headEnd/>
            <a:tailEnd/>
          </a:ln>
        </p:spPr>
        <p:txBody>
          <a:bodyPr wrap="none">
            <a:spAutoFit/>
          </a:bodyPr>
          <a:lstStyle/>
          <a:p>
            <a:r>
              <a:rPr lang="zh-CN" altLang="en-US" dirty="0"/>
              <a:t>查找</a:t>
            </a:r>
            <a:endParaRPr lang="en-US" altLang="zh-CN" dirty="0"/>
          </a:p>
          <a:p>
            <a:endParaRPr lang="zh-CN" altLang="en-US" dirty="0"/>
          </a:p>
          <a:p>
            <a:r>
              <a:rPr lang="zh-CN" altLang="en-US" dirty="0"/>
              <a:t> </a:t>
            </a:r>
          </a:p>
          <a:p>
            <a:endParaRPr lang="zh-CN" altLang="en-US" dirty="0"/>
          </a:p>
          <a:p>
            <a:r>
              <a:rPr lang="zh-CN" altLang="en-US" dirty="0"/>
              <a:t>排序</a:t>
            </a:r>
          </a:p>
        </p:txBody>
      </p:sp>
      <p:sp>
        <p:nvSpPr>
          <p:cNvPr id="12" name="AutoShape 12"/>
          <p:cNvSpPr>
            <a:spLocks/>
          </p:cNvSpPr>
          <p:nvPr/>
        </p:nvSpPr>
        <p:spPr bwMode="auto">
          <a:xfrm>
            <a:off x="6584065" y="610809"/>
            <a:ext cx="492125" cy="1296987"/>
          </a:xfrm>
          <a:prstGeom prst="leftBrace">
            <a:avLst>
              <a:gd name="adj1" fmla="val 21962"/>
              <a:gd name="adj2" fmla="val 50000"/>
            </a:avLst>
          </a:prstGeom>
          <a:noFill/>
          <a:ln w="19050">
            <a:solidFill>
              <a:schemeClr val="tx1"/>
            </a:solidFill>
            <a:round/>
            <a:headEnd/>
            <a:tailEnd/>
          </a:ln>
        </p:spPr>
        <p:txBody>
          <a:bodyPr wrap="none" anchor="ctr"/>
          <a:lstStyle/>
          <a:p>
            <a:pPr algn="ctr"/>
            <a:endParaRPr lang="zh-CN" altLang="zh-CN" sz="4400">
              <a:latin typeface="Arial" pitchFamily="34" charset="0"/>
            </a:endParaRPr>
          </a:p>
        </p:txBody>
      </p:sp>
      <p:sp>
        <p:nvSpPr>
          <p:cNvPr id="13" name="Text Box 13"/>
          <p:cNvSpPr txBox="1">
            <a:spLocks noChangeArrowheads="1"/>
          </p:cNvSpPr>
          <p:nvPr/>
        </p:nvSpPr>
        <p:spPr bwMode="auto">
          <a:xfrm>
            <a:off x="7074473" y="357738"/>
            <a:ext cx="2447925" cy="1754326"/>
          </a:xfrm>
          <a:prstGeom prst="rect">
            <a:avLst/>
          </a:prstGeom>
          <a:noFill/>
          <a:ln w="9525">
            <a:noFill/>
            <a:miter lim="800000"/>
            <a:headEnd/>
            <a:tailEnd/>
          </a:ln>
        </p:spPr>
        <p:txBody>
          <a:bodyPr>
            <a:spAutoFit/>
          </a:bodyPr>
          <a:lstStyle/>
          <a:p>
            <a:pPr>
              <a:lnSpc>
                <a:spcPct val="150000"/>
              </a:lnSpc>
            </a:pPr>
            <a:r>
              <a:rPr lang="zh-CN" altLang="en-US" dirty="0"/>
              <a:t>一般线性表</a:t>
            </a:r>
          </a:p>
          <a:p>
            <a:pPr>
              <a:lnSpc>
                <a:spcPct val="150000"/>
              </a:lnSpc>
            </a:pPr>
            <a:r>
              <a:rPr lang="zh-CN" altLang="en-US" dirty="0"/>
              <a:t>操作受限线性表</a:t>
            </a:r>
          </a:p>
          <a:p>
            <a:pPr>
              <a:lnSpc>
                <a:spcPct val="150000"/>
              </a:lnSpc>
            </a:pPr>
            <a:r>
              <a:rPr lang="zh-CN" altLang="en-US" dirty="0"/>
              <a:t>数据受限线性表</a:t>
            </a:r>
          </a:p>
          <a:p>
            <a:pPr>
              <a:lnSpc>
                <a:spcPct val="150000"/>
              </a:lnSpc>
            </a:pPr>
            <a:r>
              <a:rPr lang="zh-CN" altLang="en-US" dirty="0"/>
              <a:t>线性表的扩展</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6" name="自选图形 5"/>
          <p:cNvSpPr>
            <a:spLocks noChangeArrowheads="1"/>
          </p:cNvSpPr>
          <p:nvPr/>
        </p:nvSpPr>
        <p:spPr bwMode="gray">
          <a:xfrm>
            <a:off x="3346451" y="4992140"/>
            <a:ext cx="462121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ea typeface="宋体" pitchFamily="2" charset="-122"/>
              </a:rPr>
              <a:t>算法和算法分析</a:t>
            </a:r>
          </a:p>
        </p:txBody>
      </p:sp>
      <p:sp>
        <p:nvSpPr>
          <p:cNvPr id="7" name="自选图形 6"/>
          <p:cNvSpPr>
            <a:spLocks noChangeArrowheads="1"/>
          </p:cNvSpPr>
          <p:nvPr/>
        </p:nvSpPr>
        <p:spPr bwMode="gray">
          <a:xfrm>
            <a:off x="3841750" y="4165053"/>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抽象数据类型（</a:t>
            </a:r>
            <a:r>
              <a:rPr lang="en-US" altLang="zh-CN" b="1" dirty="0">
                <a:latin typeface="宋体" pitchFamily="2" charset="-122"/>
                <a:ea typeface="宋体" pitchFamily="2" charset="-122"/>
              </a:rPr>
              <a:t>ADT</a:t>
            </a:r>
            <a:r>
              <a:rPr lang="zh-CN" altLang="en-US" b="1" dirty="0">
                <a:latin typeface="宋体" pitchFamily="2" charset="-122"/>
                <a:ea typeface="宋体" pitchFamily="2" charset="-122"/>
              </a:rPr>
              <a:t>）</a:t>
            </a:r>
          </a:p>
        </p:txBody>
      </p:sp>
      <p:sp>
        <p:nvSpPr>
          <p:cNvPr id="8" name="自选图形 7"/>
          <p:cNvSpPr>
            <a:spLocks noChangeArrowheads="1"/>
          </p:cNvSpPr>
          <p:nvPr/>
        </p:nvSpPr>
        <p:spPr bwMode="gray">
          <a:xfrm>
            <a:off x="3962400" y="3352253"/>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基本概念和术语</a:t>
            </a:r>
          </a:p>
        </p:txBody>
      </p:sp>
      <p:sp>
        <p:nvSpPr>
          <p:cNvPr id="9" name="自选图形 8"/>
          <p:cNvSpPr>
            <a:spLocks noChangeArrowheads="1"/>
          </p:cNvSpPr>
          <p:nvPr/>
        </p:nvSpPr>
        <p:spPr bwMode="gray">
          <a:xfrm>
            <a:off x="3810000" y="2483890"/>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课程概览</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课程安排及要求</a:t>
            </a:r>
          </a:p>
        </p:txBody>
      </p:sp>
      <p:grpSp>
        <p:nvGrpSpPr>
          <p:cNvPr id="2"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3" name="组合 17"/>
          <p:cNvGrpSpPr>
            <a:grpSpLocks/>
          </p:cNvGrpSpPr>
          <p:nvPr/>
        </p:nvGrpSpPr>
        <p:grpSpPr bwMode="auto">
          <a:xfrm>
            <a:off x="3505200" y="2521131"/>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11" name="组合 24"/>
          <p:cNvGrpSpPr>
            <a:grpSpLocks/>
          </p:cNvGrpSpPr>
          <p:nvPr/>
        </p:nvGrpSpPr>
        <p:grpSpPr bwMode="auto">
          <a:xfrm>
            <a:off x="3657600" y="3359331"/>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18" name="组合 31"/>
          <p:cNvGrpSpPr>
            <a:grpSpLocks/>
          </p:cNvGrpSpPr>
          <p:nvPr/>
        </p:nvGrpSpPr>
        <p:grpSpPr bwMode="auto">
          <a:xfrm>
            <a:off x="3505200" y="4197531"/>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grpSp>
        <p:nvGrpSpPr>
          <p:cNvPr id="25" name="组合 38"/>
          <p:cNvGrpSpPr>
            <a:grpSpLocks/>
          </p:cNvGrpSpPr>
          <p:nvPr/>
        </p:nvGrpSpPr>
        <p:grpSpPr bwMode="auto">
          <a:xfrm>
            <a:off x="3048000" y="4972231"/>
            <a:ext cx="355600" cy="519245"/>
            <a:chOff x="2078" y="1387"/>
            <a:chExt cx="1615" cy="2201"/>
          </a:xfrm>
        </p:grpSpPr>
        <p:sp>
          <p:nvSpPr>
            <p:cNvPr id="40" name="椭圆 39"/>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1" name="椭圆 40"/>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2" name="椭圆 41"/>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43" name="椭圆 42"/>
            <p:cNvSpPr>
              <a:spLocks noChangeArrowheads="1"/>
            </p:cNvSpPr>
            <p:nvPr/>
          </p:nvSpPr>
          <p:spPr bwMode="gray">
            <a:xfrm>
              <a:off x="2254" y="1387"/>
              <a:ext cx="1180" cy="220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none" anchor="ctr">
              <a:spAutoFit/>
            </a:bodyPr>
            <a:lstStyle/>
            <a:p>
              <a:endParaRPr lang="zh-CN" altLang="en-US"/>
            </a:p>
          </p:txBody>
        </p:sp>
        <p:sp>
          <p:nvSpPr>
            <p:cNvPr id="44" name="椭圆 43"/>
            <p:cNvSpPr>
              <a:spLocks noChangeArrowheads="1"/>
            </p:cNvSpPr>
            <p:nvPr/>
          </p:nvSpPr>
          <p:spPr bwMode="gray">
            <a:xfrm>
              <a:off x="2338"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45" name="椭圆 44"/>
            <p:cNvSpPr>
              <a:spLocks noChangeArrowheads="1"/>
            </p:cNvSpPr>
            <p:nvPr/>
          </p:nvSpPr>
          <p:spPr bwMode="gray">
            <a:xfrm>
              <a:off x="2337" y="1387"/>
              <a:ext cx="1096" cy="2201"/>
            </a:xfrm>
            <a:prstGeom prst="ellipse">
              <a:avLst/>
            </a:prstGeom>
            <a:gradFill rotWithShape="1">
              <a:gsLst>
                <a:gs pos="0">
                  <a:srgbClr val="E35E23"/>
                </a:gs>
                <a:gs pos="100000">
                  <a:srgbClr val="6E2E11"/>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
        <p:nvSpPr>
          <p:cNvPr id="50" name="自选图形 45"/>
          <p:cNvSpPr>
            <a:spLocks noChangeArrowheads="1"/>
          </p:cNvSpPr>
          <p:nvPr/>
        </p:nvSpPr>
        <p:spPr bwMode="gray">
          <a:xfrm>
            <a:off x="8648774" y="3384289"/>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51" name="自选图形 46"/>
          <p:cNvSpPr>
            <a:spLocks noChangeArrowheads="1"/>
          </p:cNvSpPr>
          <p:nvPr/>
        </p:nvSpPr>
        <p:spPr bwMode="gray">
          <a:xfrm>
            <a:off x="9080574" y="3384289"/>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52" name="自选图形 47"/>
          <p:cNvSpPr>
            <a:spLocks noChangeArrowheads="1"/>
          </p:cNvSpPr>
          <p:nvPr/>
        </p:nvSpPr>
        <p:spPr bwMode="gray">
          <a:xfrm>
            <a:off x="9512374" y="3384289"/>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197768"/>
            <a:ext cx="8229600" cy="1143000"/>
          </a:xfrm>
        </p:spPr>
        <p:txBody>
          <a:bodyPr>
            <a:normAutofit/>
          </a:bodyPr>
          <a:lstStyle/>
          <a:p>
            <a:r>
              <a:rPr lang="zh-CN" altLang="en-US" b="1" dirty="0">
                <a:latin typeface="宋体" pitchFamily="2" charset="-122"/>
                <a:ea typeface="宋体" pitchFamily="2" charset="-122"/>
              </a:rPr>
              <a:t>基本概念和术语</a:t>
            </a:r>
            <a:endParaRPr lang="zh-CN" altLang="en-US" dirty="0"/>
          </a:p>
        </p:txBody>
      </p:sp>
      <p:sp>
        <p:nvSpPr>
          <p:cNvPr id="3" name="内容占位符 2"/>
          <p:cNvSpPr>
            <a:spLocks noGrp="1"/>
          </p:cNvSpPr>
          <p:nvPr>
            <p:ph idx="1"/>
          </p:nvPr>
        </p:nvSpPr>
        <p:spPr>
          <a:xfrm>
            <a:off x="1981200" y="1412776"/>
            <a:ext cx="8229600" cy="5184576"/>
          </a:xfrm>
        </p:spPr>
        <p:txBody>
          <a:bodyPr>
            <a:normAutofit fontScale="77500" lnSpcReduction="20000"/>
          </a:bodyPr>
          <a:lstStyle/>
          <a:p>
            <a:pPr>
              <a:lnSpc>
                <a:spcPct val="150000"/>
              </a:lnSpc>
            </a:pPr>
            <a:r>
              <a:rPr lang="zh-CN" altLang="en-US" sz="3600" b="1" dirty="0"/>
              <a:t>数据（</a:t>
            </a:r>
            <a:r>
              <a:rPr lang="en-US" altLang="zh-CN" sz="3600" b="1" dirty="0"/>
              <a:t>Data</a:t>
            </a:r>
            <a:r>
              <a:rPr lang="zh-CN" altLang="en-US" sz="3600" b="1" dirty="0"/>
              <a:t>）</a:t>
            </a:r>
            <a:endParaRPr lang="en-US" altLang="zh-CN" sz="3600" b="1" dirty="0"/>
          </a:p>
          <a:p>
            <a:pPr>
              <a:lnSpc>
                <a:spcPct val="150000"/>
              </a:lnSpc>
              <a:buNone/>
            </a:pPr>
            <a:r>
              <a:rPr lang="en-US" altLang="zh-CN" b="1" dirty="0"/>
              <a:t>              </a:t>
            </a:r>
            <a:r>
              <a:rPr lang="zh-CN" altLang="en-US" dirty="0"/>
              <a:t>是对客观事物的符号表示，在计算机科学中是指所有能输入到计算机中并被计算机程序处理的符号的总称。</a:t>
            </a:r>
            <a:endParaRPr lang="en-US" altLang="zh-CN" dirty="0"/>
          </a:p>
          <a:p>
            <a:pPr lvl="0">
              <a:lnSpc>
                <a:spcPct val="160000"/>
              </a:lnSpc>
              <a:defRPr/>
            </a:pPr>
            <a:r>
              <a:rPr lang="zh-CN" altLang="en-US" sz="3600" b="1" dirty="0"/>
              <a:t>数据对象 （</a:t>
            </a:r>
            <a:r>
              <a:rPr lang="en-US" altLang="zh-CN" sz="3600" b="1" dirty="0"/>
              <a:t>data object</a:t>
            </a:r>
            <a:r>
              <a:rPr lang="zh-CN" altLang="en-US" sz="3600" b="1" dirty="0"/>
              <a:t>）</a:t>
            </a:r>
            <a:endParaRPr lang="en-US" altLang="zh-CN" sz="3600" b="1" dirty="0"/>
          </a:p>
          <a:p>
            <a:pPr lvl="0">
              <a:lnSpc>
                <a:spcPct val="160000"/>
              </a:lnSpc>
              <a:buNone/>
              <a:defRPr/>
            </a:pPr>
            <a:r>
              <a:rPr lang="zh-CN" altLang="en-US" dirty="0"/>
              <a:t>             性质相同的数据元素的集合，是数据的一个子集。</a:t>
            </a:r>
            <a:r>
              <a:rPr lang="en-US" altLang="zh-CN" dirty="0"/>
              <a:t>     </a:t>
            </a:r>
          </a:p>
          <a:p>
            <a:pPr lvl="0">
              <a:lnSpc>
                <a:spcPct val="160000"/>
              </a:lnSpc>
              <a:defRPr/>
            </a:pPr>
            <a:r>
              <a:rPr lang="zh-CN" altLang="en-US" sz="3600" b="1" dirty="0"/>
              <a:t>数据元素 （</a:t>
            </a:r>
            <a:r>
              <a:rPr lang="en-US" altLang="zh-CN" sz="3600" b="1" dirty="0"/>
              <a:t>data element</a:t>
            </a:r>
            <a:r>
              <a:rPr lang="zh-CN" altLang="en-US" sz="3600" b="1" dirty="0"/>
              <a:t>）</a:t>
            </a:r>
            <a:endParaRPr lang="en-US" altLang="zh-CN" sz="3600" b="1" dirty="0"/>
          </a:p>
          <a:p>
            <a:pPr lvl="0">
              <a:lnSpc>
                <a:spcPct val="160000"/>
              </a:lnSpc>
              <a:buNone/>
              <a:defRPr/>
            </a:pPr>
            <a:r>
              <a:rPr lang="zh-CN" altLang="en-US" sz="3600" dirty="0"/>
              <a:t>            </a:t>
            </a:r>
            <a:r>
              <a:rPr lang="zh-CN" altLang="en-US" dirty="0"/>
              <a:t>是数据的基本单位，在计算机程序中通常作为一个整体而考虑和处理。</a:t>
            </a:r>
            <a:endParaRPr lang="en-US" altLang="zh-CN" sz="3600" dirty="0"/>
          </a:p>
          <a:p>
            <a:pPr>
              <a:buNone/>
            </a:pPr>
            <a:endParaRPr lang="en-US" altLang="zh-CN" dirty="0"/>
          </a:p>
          <a:p>
            <a:pPr>
              <a:buNone/>
            </a:pP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197768"/>
            <a:ext cx="8229600" cy="1143000"/>
          </a:xfrm>
        </p:spPr>
        <p:txBody>
          <a:bodyPr>
            <a:normAutofit/>
          </a:bodyPr>
          <a:lstStyle/>
          <a:p>
            <a:r>
              <a:rPr lang="zh-CN" altLang="en-US" b="1" dirty="0">
                <a:latin typeface="宋体" pitchFamily="2" charset="-122"/>
                <a:ea typeface="宋体" pitchFamily="2" charset="-122"/>
              </a:rPr>
              <a:t>基本概念和术语</a:t>
            </a:r>
            <a:endParaRPr lang="zh-CN" altLang="en-US" dirty="0"/>
          </a:p>
        </p:txBody>
      </p:sp>
      <p:sp>
        <p:nvSpPr>
          <p:cNvPr id="3" name="内容占位符 2"/>
          <p:cNvSpPr>
            <a:spLocks noGrp="1"/>
          </p:cNvSpPr>
          <p:nvPr>
            <p:ph idx="1"/>
          </p:nvPr>
        </p:nvSpPr>
        <p:spPr>
          <a:xfrm>
            <a:off x="1981200" y="1412776"/>
            <a:ext cx="8229600" cy="5184576"/>
          </a:xfrm>
        </p:spPr>
        <p:txBody>
          <a:bodyPr>
            <a:normAutofit fontScale="85000" lnSpcReduction="20000"/>
          </a:bodyPr>
          <a:lstStyle/>
          <a:p>
            <a:pPr lvl="0">
              <a:lnSpc>
                <a:spcPct val="160000"/>
              </a:lnSpc>
              <a:defRPr/>
            </a:pPr>
            <a:r>
              <a:rPr lang="zh-CN" altLang="en-US" sz="3300" b="1" dirty="0"/>
              <a:t>数据项 （</a:t>
            </a:r>
            <a:r>
              <a:rPr lang="en-US" altLang="zh-CN" sz="3300" b="1" dirty="0"/>
              <a:t>data item</a:t>
            </a:r>
            <a:r>
              <a:rPr lang="zh-CN" altLang="en-US" sz="3300" b="1" dirty="0"/>
              <a:t>）</a:t>
            </a:r>
            <a:endParaRPr lang="en-US" altLang="zh-CN" sz="3300" b="1" dirty="0"/>
          </a:p>
          <a:p>
            <a:pPr lvl="0">
              <a:lnSpc>
                <a:spcPct val="160000"/>
              </a:lnSpc>
              <a:buNone/>
              <a:defRPr/>
            </a:pPr>
            <a:r>
              <a:rPr lang="zh-CN" altLang="en-US" sz="3600" dirty="0"/>
              <a:t>　       </a:t>
            </a:r>
            <a:r>
              <a:rPr lang="zh-CN" altLang="en-US" dirty="0"/>
              <a:t>一个数据元素可由若干个数据项组成，数据项是数据不可分割的最小单位。           </a:t>
            </a:r>
            <a:endParaRPr lang="en-US" altLang="zh-CN" dirty="0"/>
          </a:p>
          <a:p>
            <a:pPr>
              <a:lnSpc>
                <a:spcPct val="150000"/>
              </a:lnSpc>
            </a:pPr>
            <a:r>
              <a:rPr lang="zh-CN" altLang="en-US" b="1" dirty="0"/>
              <a:t>结构（</a:t>
            </a:r>
            <a:r>
              <a:rPr lang="en-US" altLang="zh-CN" b="1" dirty="0"/>
              <a:t>Structure</a:t>
            </a:r>
            <a:r>
              <a:rPr lang="zh-CN" altLang="en-US" b="1" dirty="0"/>
              <a:t>）</a:t>
            </a:r>
            <a:endParaRPr lang="en-US" altLang="zh-CN" b="1" dirty="0"/>
          </a:p>
          <a:p>
            <a:pPr>
              <a:lnSpc>
                <a:spcPct val="150000"/>
              </a:lnSpc>
              <a:buNone/>
            </a:pPr>
            <a:r>
              <a:rPr lang="zh-CN" altLang="en-US" dirty="0"/>
              <a:t>             是组成</a:t>
            </a:r>
            <a:r>
              <a:rPr lang="zh-CN" altLang="en-US" dirty="0">
                <a:solidFill>
                  <a:srgbClr val="FF0000"/>
                </a:solidFill>
              </a:rPr>
              <a:t>整体</a:t>
            </a:r>
            <a:r>
              <a:rPr lang="zh-CN" altLang="en-US" dirty="0"/>
              <a:t>的各部分的</a:t>
            </a:r>
            <a:r>
              <a:rPr lang="zh-CN" altLang="en-US" dirty="0">
                <a:solidFill>
                  <a:srgbClr val="FF0000"/>
                </a:solidFill>
              </a:rPr>
              <a:t>关系和关联</a:t>
            </a:r>
            <a:r>
              <a:rPr lang="zh-CN" altLang="en-US" dirty="0"/>
              <a:t>。</a:t>
            </a:r>
            <a:endParaRPr lang="en-US" altLang="zh-CN" b="1" dirty="0"/>
          </a:p>
          <a:p>
            <a:pPr>
              <a:lnSpc>
                <a:spcPct val="150000"/>
              </a:lnSpc>
            </a:pPr>
            <a:r>
              <a:rPr lang="zh-CN" altLang="en-US" b="1" dirty="0"/>
              <a:t>数据结构（</a:t>
            </a:r>
            <a:r>
              <a:rPr lang="en-US" altLang="zh-CN" b="1" dirty="0"/>
              <a:t> Data Structure</a:t>
            </a:r>
            <a:r>
              <a:rPr lang="zh-CN" altLang="en-US" b="1" dirty="0"/>
              <a:t>）</a:t>
            </a:r>
            <a:endParaRPr lang="en-US" altLang="zh-CN" b="1" dirty="0"/>
          </a:p>
          <a:p>
            <a:pPr>
              <a:lnSpc>
                <a:spcPct val="150000"/>
              </a:lnSpc>
              <a:buNone/>
            </a:pPr>
            <a:r>
              <a:rPr lang="zh-CN" altLang="en-US" dirty="0"/>
              <a:t>             数据结构是相互之间存在一种或多种特定关系的数据元素的集合，也可称其为逻辑结构。</a:t>
            </a:r>
            <a:endParaRPr lang="en-US" altLang="zh-CN" dirty="0"/>
          </a:p>
          <a:p>
            <a:pPr>
              <a:buNone/>
            </a:pPr>
            <a:endParaRPr lang="en-US" altLang="zh-CN" dirty="0"/>
          </a:p>
          <a:p>
            <a:pPr>
              <a:buNone/>
            </a:pP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4460" name="Object 12"/>
          <p:cNvGraphicFramePr>
            <a:graphicFrameLocks noChangeAspect="1"/>
          </p:cNvGraphicFramePr>
          <p:nvPr/>
        </p:nvGraphicFramePr>
        <p:xfrm>
          <a:off x="5519936" y="527198"/>
          <a:ext cx="3683000" cy="5926138"/>
        </p:xfrm>
        <a:graphic>
          <a:graphicData uri="http://schemas.openxmlformats.org/presentationml/2006/ole">
            <mc:AlternateContent xmlns:mc="http://schemas.openxmlformats.org/markup-compatibility/2006">
              <mc:Choice xmlns:v="urn:schemas-microsoft-com:vml" Requires="v">
                <p:oleObj name="Visio" r:id="rId3" imgW="2627620" imgH="4228081" progId="Visio.Drawing.11">
                  <p:embed/>
                </p:oleObj>
              </mc:Choice>
              <mc:Fallback>
                <p:oleObj name="Visio" r:id="rId3" imgW="2627620" imgH="4228081" progId="Visio.Drawing.11">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9936" y="527198"/>
                        <a:ext cx="3683000" cy="592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3927630" y="1412776"/>
            <a:ext cx="800219" cy="4196020"/>
          </a:xfrm>
          <a:prstGeom prst="rect">
            <a:avLst/>
          </a:prstGeom>
          <a:noFill/>
        </p:spPr>
        <p:txBody>
          <a:bodyPr vert="eaVert" wrap="none" rtlCol="0">
            <a:spAutoFit/>
          </a:bodyPr>
          <a:lstStyle/>
          <a:p>
            <a:r>
              <a:rPr lang="zh-CN" altLang="en-US" sz="4000" dirty="0"/>
              <a:t>四类基本数据结构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关系、关联的表示</a:t>
            </a:r>
            <a:r>
              <a:rPr lang="en-US" altLang="zh-CN" sz="3600" dirty="0"/>
              <a:t>--</a:t>
            </a:r>
            <a:r>
              <a:rPr lang="zh-CN" altLang="en-US" sz="3600" dirty="0"/>
              <a:t>用</a:t>
            </a:r>
            <a:r>
              <a:rPr lang="zh-CN" altLang="en-US" sz="3600" dirty="0">
                <a:solidFill>
                  <a:srgbClr val="FF0000"/>
                </a:solidFill>
              </a:rPr>
              <a:t>序偶</a:t>
            </a:r>
            <a:r>
              <a:rPr lang="zh-CN" altLang="en-US" sz="3600" dirty="0"/>
              <a:t>表示</a:t>
            </a:r>
          </a:p>
        </p:txBody>
      </p:sp>
      <p:sp>
        <p:nvSpPr>
          <p:cNvPr id="3" name="内容占位符 2"/>
          <p:cNvSpPr>
            <a:spLocks noGrp="1"/>
          </p:cNvSpPr>
          <p:nvPr>
            <p:ph idx="1"/>
          </p:nvPr>
        </p:nvSpPr>
        <p:spPr>
          <a:xfrm>
            <a:off x="2042864" y="1412776"/>
            <a:ext cx="8229600" cy="4781128"/>
          </a:xfrm>
        </p:spPr>
        <p:txBody>
          <a:bodyPr>
            <a:normAutofit fontScale="92500" lnSpcReduction="10000"/>
          </a:bodyPr>
          <a:lstStyle/>
          <a:p>
            <a:r>
              <a:rPr lang="zh-CN" altLang="en-US" dirty="0"/>
              <a:t>数据结构的形式定义：</a:t>
            </a:r>
            <a:endParaRPr lang="en-US" altLang="zh-CN" dirty="0"/>
          </a:p>
          <a:p>
            <a:pPr>
              <a:buNone/>
            </a:pPr>
            <a:r>
              <a:rPr lang="en-US" altLang="zh-CN" dirty="0"/>
              <a:t>     </a:t>
            </a:r>
            <a:r>
              <a:rPr lang="en-US" altLang="zh-CN" dirty="0" err="1"/>
              <a:t>Data_Structure</a:t>
            </a:r>
            <a:r>
              <a:rPr lang="en-US" altLang="zh-CN" dirty="0"/>
              <a:t>  =  (D, S )</a:t>
            </a:r>
          </a:p>
          <a:p>
            <a:pPr>
              <a:buNone/>
            </a:pPr>
            <a:endParaRPr lang="en-US" altLang="zh-CN" dirty="0"/>
          </a:p>
          <a:p>
            <a:r>
              <a:rPr lang="zh-CN" altLang="en-US" dirty="0"/>
              <a:t>例如：复数数据结构</a:t>
            </a:r>
            <a:r>
              <a:rPr lang="en-US" altLang="zh-CN" dirty="0"/>
              <a:t>Complex  =  (C, R)</a:t>
            </a:r>
          </a:p>
          <a:p>
            <a:pPr>
              <a:buNone/>
            </a:pPr>
            <a:r>
              <a:rPr lang="en-US" altLang="zh-CN" dirty="0"/>
              <a:t>     C = {c1,c2|c1,c2</a:t>
            </a:r>
            <a:r>
              <a:rPr lang="zh-CN" altLang="en-US" dirty="0"/>
              <a:t>属于任意实数</a:t>
            </a:r>
            <a:r>
              <a:rPr lang="en-US" altLang="zh-CN" dirty="0"/>
              <a:t>}</a:t>
            </a:r>
          </a:p>
          <a:p>
            <a:pPr>
              <a:buNone/>
            </a:pPr>
            <a:r>
              <a:rPr lang="en-US" altLang="zh-CN" dirty="0"/>
              <a:t>     R = {&lt;c1,c2&gt;|c1</a:t>
            </a:r>
            <a:r>
              <a:rPr lang="zh-CN" altLang="en-US" dirty="0"/>
              <a:t>表示实部</a:t>
            </a:r>
            <a:r>
              <a:rPr lang="en-US" altLang="zh-CN" dirty="0"/>
              <a:t>,c2</a:t>
            </a:r>
            <a:r>
              <a:rPr lang="zh-CN" altLang="en-US" dirty="0"/>
              <a:t>表示虚部</a:t>
            </a:r>
            <a:r>
              <a:rPr lang="en-US" altLang="zh-CN" dirty="0"/>
              <a:t>}</a:t>
            </a:r>
          </a:p>
          <a:p>
            <a:pPr>
              <a:buNone/>
            </a:pPr>
            <a:endParaRPr lang="en-US" altLang="zh-CN" dirty="0"/>
          </a:p>
          <a:p>
            <a:r>
              <a:rPr lang="zh-CN" altLang="en-US" dirty="0"/>
              <a:t>三种基本的关系</a:t>
            </a:r>
            <a:endParaRPr lang="en-US" altLang="zh-CN" dirty="0"/>
          </a:p>
          <a:p>
            <a:pPr>
              <a:buNone/>
            </a:pPr>
            <a:r>
              <a:rPr lang="en-US" altLang="zh-CN" dirty="0"/>
              <a:t>    1:1              1:n              n:m</a:t>
            </a:r>
          </a:p>
          <a:p>
            <a:pPr>
              <a:buNone/>
            </a:pPr>
            <a:endParaRPr lang="en-US" altLang="zh-CN" dirty="0"/>
          </a:p>
          <a:p>
            <a:pPr>
              <a:buNone/>
            </a:pP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197768"/>
            <a:ext cx="8229600" cy="1143000"/>
          </a:xfrm>
        </p:spPr>
        <p:txBody>
          <a:bodyPr/>
          <a:lstStyle/>
          <a:p>
            <a:r>
              <a:rPr lang="zh-CN" altLang="en-US" b="1" dirty="0">
                <a:latin typeface="宋体" pitchFamily="2" charset="-122"/>
                <a:ea typeface="宋体" pitchFamily="2" charset="-122"/>
              </a:rPr>
              <a:t>基本概念和术语</a:t>
            </a:r>
            <a:r>
              <a:rPr lang="en-US" altLang="zh-CN" b="1" dirty="0">
                <a:latin typeface="宋体" pitchFamily="2" charset="-122"/>
                <a:ea typeface="宋体" pitchFamily="2" charset="-122"/>
              </a:rPr>
              <a:t>(</a:t>
            </a:r>
            <a:r>
              <a:rPr lang="zh-CN" altLang="en-US" b="1" dirty="0">
                <a:latin typeface="宋体" pitchFamily="2" charset="-122"/>
                <a:ea typeface="宋体" pitchFamily="2" charset="-122"/>
              </a:rPr>
              <a:t>续</a:t>
            </a:r>
            <a:r>
              <a:rPr lang="en-US" altLang="zh-CN" b="1" dirty="0">
                <a:latin typeface="宋体" pitchFamily="2" charset="-122"/>
                <a:ea typeface="宋体" pitchFamily="2" charset="-122"/>
              </a:rPr>
              <a:t>)</a:t>
            </a:r>
            <a:endParaRPr lang="zh-CN" altLang="en-US" dirty="0"/>
          </a:p>
        </p:txBody>
      </p:sp>
      <p:sp>
        <p:nvSpPr>
          <p:cNvPr id="3" name="内容占位符 2"/>
          <p:cNvSpPr>
            <a:spLocks noGrp="1"/>
          </p:cNvSpPr>
          <p:nvPr>
            <p:ph idx="1"/>
          </p:nvPr>
        </p:nvSpPr>
        <p:spPr>
          <a:xfrm>
            <a:off x="1981200" y="1268760"/>
            <a:ext cx="8229600" cy="5184576"/>
          </a:xfrm>
        </p:spPr>
        <p:txBody>
          <a:bodyPr>
            <a:normAutofit fontScale="85000" lnSpcReduction="20000"/>
          </a:bodyPr>
          <a:lstStyle/>
          <a:p>
            <a:pPr>
              <a:lnSpc>
                <a:spcPct val="150000"/>
              </a:lnSpc>
            </a:pPr>
            <a:r>
              <a:rPr lang="zh-CN" altLang="en-US" b="1" dirty="0"/>
              <a:t>物理结构</a:t>
            </a:r>
            <a:r>
              <a:rPr lang="en-US" altLang="zh-CN" b="1" dirty="0"/>
              <a:t>(</a:t>
            </a:r>
            <a:r>
              <a:rPr lang="zh-CN" altLang="en-US" b="1" dirty="0"/>
              <a:t>存储结构</a:t>
            </a:r>
            <a:r>
              <a:rPr lang="en-US" altLang="zh-CN" b="1" dirty="0"/>
              <a:t>)</a:t>
            </a:r>
          </a:p>
          <a:p>
            <a:pPr>
              <a:lnSpc>
                <a:spcPct val="150000"/>
              </a:lnSpc>
              <a:buNone/>
            </a:pPr>
            <a:r>
              <a:rPr lang="en-US" altLang="zh-CN" dirty="0"/>
              <a:t>            </a:t>
            </a:r>
            <a:r>
              <a:rPr lang="zh-CN" altLang="en-US" sz="2800" dirty="0"/>
              <a:t>数据结构在计算机中的表示</a:t>
            </a:r>
            <a:r>
              <a:rPr lang="en-US" altLang="zh-CN" sz="2800" dirty="0"/>
              <a:t>(</a:t>
            </a:r>
            <a:r>
              <a:rPr lang="zh-CN" altLang="en-US" sz="2800" dirty="0"/>
              <a:t>映像</a:t>
            </a:r>
            <a:r>
              <a:rPr lang="en-US" altLang="zh-CN" sz="2800" dirty="0"/>
              <a:t>)</a:t>
            </a:r>
            <a:r>
              <a:rPr lang="zh-CN" altLang="en-US" sz="2800" dirty="0"/>
              <a:t>称为数据的物理结构。</a:t>
            </a:r>
            <a:endParaRPr lang="en-US" altLang="zh-CN" sz="2800" dirty="0"/>
          </a:p>
          <a:p>
            <a:pPr lvl="1">
              <a:lnSpc>
                <a:spcPct val="150000"/>
              </a:lnSpc>
            </a:pPr>
            <a:r>
              <a:rPr lang="zh-CN" altLang="en-US" b="1" dirty="0"/>
              <a:t>顺序映像</a:t>
            </a:r>
            <a:endParaRPr lang="en-US" altLang="zh-CN" b="1" dirty="0"/>
          </a:p>
          <a:p>
            <a:pPr>
              <a:lnSpc>
                <a:spcPct val="150000"/>
              </a:lnSpc>
              <a:buNone/>
            </a:pPr>
            <a:r>
              <a:rPr lang="en-US" altLang="zh-CN" dirty="0"/>
              <a:t>            </a:t>
            </a:r>
            <a:r>
              <a:rPr lang="zh-CN" altLang="en-US" sz="2800" dirty="0"/>
              <a:t>顺序映像的特点是借助元素在存储器中的相对位置来表示数据元素之间的逻辑关系。</a:t>
            </a:r>
            <a:endParaRPr lang="en-US" altLang="zh-CN" sz="2800" dirty="0"/>
          </a:p>
          <a:p>
            <a:pPr lvl="1">
              <a:lnSpc>
                <a:spcPct val="150000"/>
              </a:lnSpc>
            </a:pPr>
            <a:r>
              <a:rPr lang="zh-CN" altLang="en-US" b="1" dirty="0"/>
              <a:t>非顺序映像</a:t>
            </a:r>
            <a:endParaRPr lang="en-US" altLang="zh-CN" b="1" dirty="0"/>
          </a:p>
          <a:p>
            <a:pPr>
              <a:lnSpc>
                <a:spcPct val="150000"/>
              </a:lnSpc>
              <a:buNone/>
            </a:pPr>
            <a:r>
              <a:rPr lang="en-US" altLang="zh-CN" dirty="0"/>
              <a:t>           </a:t>
            </a:r>
            <a:r>
              <a:rPr lang="zh-CN" altLang="en-US" sz="2800" dirty="0"/>
              <a:t>非顺序映像的特点是借助指示元素存储地址的指针表示数据元素之间的逻辑关系。</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latin typeface="宋体" pitchFamily="2" charset="-122"/>
                <a:ea typeface="宋体" pitchFamily="2" charset="-122"/>
              </a:rPr>
              <a:t>基本概念和术语</a:t>
            </a:r>
            <a:r>
              <a:rPr lang="en-US" altLang="zh-CN" b="1" dirty="0">
                <a:latin typeface="宋体" pitchFamily="2" charset="-122"/>
                <a:ea typeface="宋体" pitchFamily="2" charset="-122"/>
              </a:rPr>
              <a:t>(</a:t>
            </a:r>
            <a:r>
              <a:rPr lang="zh-CN" altLang="en-US" b="1" dirty="0">
                <a:latin typeface="宋体" pitchFamily="2" charset="-122"/>
                <a:ea typeface="宋体" pitchFamily="2" charset="-122"/>
              </a:rPr>
              <a:t>续</a:t>
            </a:r>
            <a:r>
              <a:rPr lang="en-US" altLang="zh-CN" b="1" dirty="0">
                <a:latin typeface="宋体" pitchFamily="2" charset="-122"/>
                <a:ea typeface="宋体" pitchFamily="2" charset="-122"/>
              </a:rPr>
              <a:t>)</a:t>
            </a:r>
            <a:endParaRPr lang="zh-CN" altLang="en-US" b="1" dirty="0">
              <a:latin typeface="宋体" pitchFamily="2" charset="-122"/>
              <a:ea typeface="宋体" pitchFamily="2" charset="-122"/>
            </a:endParaRPr>
          </a:p>
        </p:txBody>
      </p:sp>
      <p:sp>
        <p:nvSpPr>
          <p:cNvPr id="4" name="Text Box 13"/>
          <p:cNvSpPr txBox="1">
            <a:spLocks noChangeArrowheads="1"/>
          </p:cNvSpPr>
          <p:nvPr/>
        </p:nvSpPr>
        <p:spPr bwMode="auto">
          <a:xfrm>
            <a:off x="1919289" y="1916832"/>
            <a:ext cx="8385629" cy="984500"/>
          </a:xfrm>
          <a:prstGeom prst="rect">
            <a:avLst/>
          </a:prstGeom>
          <a:noFill/>
          <a:ln w="9525">
            <a:noFill/>
            <a:miter lim="800000"/>
            <a:headEnd/>
            <a:tailEnd/>
          </a:ln>
          <a:effectLst/>
        </p:spPr>
        <p:txBody>
          <a:bodyPr wrap="none">
            <a:spAutoFit/>
          </a:bodyPr>
          <a:lstStyle/>
          <a:p>
            <a:pPr>
              <a:lnSpc>
                <a:spcPct val="130000"/>
              </a:lnSpc>
            </a:pPr>
            <a:r>
              <a:rPr kumimoji="1" lang="zh-CN" altLang="en-US" sz="2400" b="1">
                <a:solidFill>
                  <a:srgbClr val="0000FF"/>
                </a:solidFill>
                <a:latin typeface="+mn-ea"/>
              </a:rPr>
              <a:t>数据类型：</a:t>
            </a:r>
            <a:r>
              <a:rPr kumimoji="1" lang="zh-CN" altLang="en-US" sz="2400" b="1">
                <a:latin typeface="+mn-ea"/>
              </a:rPr>
              <a:t>是一组性质相同的</a:t>
            </a:r>
            <a:r>
              <a:rPr kumimoji="1" lang="zh-CN" altLang="en-US" sz="2400" b="1">
                <a:solidFill>
                  <a:srgbClr val="0000FF"/>
                </a:solidFill>
                <a:latin typeface="+mn-ea"/>
              </a:rPr>
              <a:t>值的集合</a:t>
            </a:r>
            <a:r>
              <a:rPr kumimoji="1" lang="zh-CN" altLang="en-US" sz="2400" b="1">
                <a:latin typeface="+mn-ea"/>
              </a:rPr>
              <a:t>以及定义于这个</a:t>
            </a:r>
            <a:r>
              <a:rPr kumimoji="1" lang="zh-CN" altLang="en-US" sz="2400" b="1">
                <a:solidFill>
                  <a:srgbClr val="0000FF"/>
                </a:solidFill>
                <a:latin typeface="+mn-ea"/>
              </a:rPr>
              <a:t>值 </a:t>
            </a:r>
          </a:p>
          <a:p>
            <a:pPr>
              <a:lnSpc>
                <a:spcPct val="130000"/>
              </a:lnSpc>
            </a:pPr>
            <a:r>
              <a:rPr kumimoji="1" lang="zh-CN" altLang="en-US" sz="2400" b="1">
                <a:solidFill>
                  <a:srgbClr val="0000FF"/>
                </a:solidFill>
                <a:latin typeface="+mn-ea"/>
              </a:rPr>
              <a:t>集合上的一组操作</a:t>
            </a:r>
            <a:r>
              <a:rPr kumimoji="1" lang="zh-CN" altLang="en-US" sz="2400" b="1">
                <a:latin typeface="+mn-ea"/>
              </a:rPr>
              <a:t>的总称。 </a:t>
            </a:r>
            <a:r>
              <a:rPr kumimoji="1" lang="zh-CN" altLang="en-US" sz="2400" b="1">
                <a:solidFill>
                  <a:srgbClr val="FF3300"/>
                </a:solidFill>
                <a:effectLst>
                  <a:outerShdw blurRad="38100" dist="38100" dir="2700000" algn="tl">
                    <a:srgbClr val="000000"/>
                  </a:outerShdw>
                </a:effectLst>
                <a:latin typeface="+mn-ea"/>
              </a:rPr>
              <a:t>值的集合</a:t>
            </a:r>
            <a:r>
              <a:rPr kumimoji="1" lang="en-US" altLang="zh-CN" sz="2400" b="1">
                <a:solidFill>
                  <a:srgbClr val="FF3300"/>
                </a:solidFill>
                <a:effectLst>
                  <a:outerShdw blurRad="38100" dist="38100" dir="2700000" algn="tl">
                    <a:srgbClr val="000000"/>
                  </a:outerShdw>
                </a:effectLst>
                <a:latin typeface="+mn-ea"/>
              </a:rPr>
              <a:t>+</a:t>
            </a:r>
            <a:r>
              <a:rPr kumimoji="1" lang="zh-CN" altLang="en-US" sz="2400" b="1">
                <a:solidFill>
                  <a:srgbClr val="FF3300"/>
                </a:solidFill>
                <a:effectLst>
                  <a:outerShdw blurRad="38100" dist="38100" dir="2700000" algn="tl">
                    <a:srgbClr val="000000"/>
                  </a:outerShdw>
                </a:effectLst>
                <a:latin typeface="+mn-ea"/>
              </a:rPr>
              <a:t>值集合上的一组操作</a:t>
            </a:r>
            <a:r>
              <a:rPr kumimoji="1" lang="zh-CN" altLang="en-US" sz="2400" b="1">
                <a:solidFill>
                  <a:srgbClr val="FF3300"/>
                </a:solidFill>
                <a:latin typeface="+mn-ea"/>
              </a:rPr>
              <a:t> </a:t>
            </a:r>
          </a:p>
        </p:txBody>
      </p:sp>
      <p:sp>
        <p:nvSpPr>
          <p:cNvPr id="5" name="Text Box 14"/>
          <p:cNvSpPr txBox="1">
            <a:spLocks noChangeArrowheads="1"/>
          </p:cNvSpPr>
          <p:nvPr/>
        </p:nvSpPr>
        <p:spPr bwMode="auto">
          <a:xfrm>
            <a:off x="1992314" y="4796558"/>
            <a:ext cx="7922362" cy="919867"/>
          </a:xfrm>
          <a:prstGeom prst="rect">
            <a:avLst/>
          </a:prstGeom>
          <a:noFill/>
          <a:ln w="9525">
            <a:noFill/>
            <a:miter lim="800000"/>
            <a:headEnd/>
            <a:tailEnd/>
          </a:ln>
          <a:effectLst/>
        </p:spPr>
        <p:txBody>
          <a:bodyPr wrap="none">
            <a:spAutoFit/>
          </a:bodyPr>
          <a:lstStyle/>
          <a:p>
            <a:pPr>
              <a:lnSpc>
                <a:spcPct val="120000"/>
              </a:lnSpc>
            </a:pPr>
            <a:r>
              <a:rPr kumimoji="1" lang="zh-CN" altLang="en-US" sz="2400" b="1" dirty="0">
                <a:latin typeface="+mn-ea"/>
              </a:rPr>
              <a:t>例如，</a:t>
            </a:r>
            <a:r>
              <a:rPr kumimoji="1" lang="en-US" altLang="zh-CN" sz="2400" b="1" dirty="0">
                <a:latin typeface="+mn-ea"/>
              </a:rPr>
              <a:t>C</a:t>
            </a:r>
            <a:r>
              <a:rPr kumimoji="1" lang="zh-CN" altLang="en-US" sz="2400" b="1" dirty="0">
                <a:latin typeface="+mn-ea"/>
              </a:rPr>
              <a:t>语言中的</a:t>
            </a:r>
            <a:r>
              <a:rPr kumimoji="1" lang="en-US" altLang="zh-CN" sz="2400" b="1" dirty="0">
                <a:latin typeface="+mn-ea"/>
              </a:rPr>
              <a:t>int</a:t>
            </a:r>
            <a:r>
              <a:rPr kumimoji="1" lang="zh-CN" altLang="en-US" sz="2400" b="1" dirty="0">
                <a:latin typeface="+mn-ea"/>
              </a:rPr>
              <a:t>型变量，是指一定范围中的值构成的</a:t>
            </a:r>
            <a:endParaRPr kumimoji="1" lang="en-US" altLang="zh-CN" sz="2400" b="1" dirty="0">
              <a:latin typeface="+mn-ea"/>
            </a:endParaRPr>
          </a:p>
          <a:p>
            <a:pPr>
              <a:lnSpc>
                <a:spcPct val="120000"/>
              </a:lnSpc>
            </a:pPr>
            <a:r>
              <a:rPr kumimoji="1" lang="zh-CN" altLang="en-US" sz="2400" b="1" dirty="0">
                <a:latin typeface="+mn-ea"/>
              </a:rPr>
              <a:t>集合及一组操作（加、减、乘、除、乘方 等）的总称。</a:t>
            </a:r>
          </a:p>
        </p:txBody>
      </p:sp>
      <p:sp>
        <p:nvSpPr>
          <p:cNvPr id="6" name="Text Box 97"/>
          <p:cNvSpPr txBox="1">
            <a:spLocks noChangeArrowheads="1"/>
          </p:cNvSpPr>
          <p:nvPr/>
        </p:nvSpPr>
        <p:spPr bwMode="auto">
          <a:xfrm>
            <a:off x="4511675" y="2924896"/>
            <a:ext cx="4167188" cy="1769331"/>
          </a:xfrm>
          <a:prstGeom prst="rect">
            <a:avLst/>
          </a:prstGeom>
          <a:noFill/>
          <a:ln w="9525">
            <a:noFill/>
            <a:miter lim="800000"/>
            <a:headEnd/>
            <a:tailEnd/>
          </a:ln>
          <a:effectLst/>
        </p:spPr>
        <p:txBody>
          <a:bodyPr>
            <a:spAutoFit/>
          </a:bodyPr>
          <a:lstStyle/>
          <a:p>
            <a:pPr>
              <a:lnSpc>
                <a:spcPct val="160000"/>
              </a:lnSpc>
            </a:pPr>
            <a:r>
              <a:rPr kumimoji="1" lang="zh-CN" altLang="en-US" sz="2400" b="1">
                <a:latin typeface="+mn-ea"/>
              </a:rPr>
              <a:t>约束变量的</a:t>
            </a:r>
            <a:r>
              <a:rPr kumimoji="1" lang="zh-CN" altLang="en-US" sz="2400" b="1">
                <a:solidFill>
                  <a:srgbClr val="FF3300"/>
                </a:solidFill>
                <a:effectLst>
                  <a:outerShdw blurRad="38100" dist="38100" dir="2700000" algn="tl">
                    <a:srgbClr val="000000"/>
                  </a:outerShdw>
                </a:effectLst>
                <a:latin typeface="+mn-ea"/>
              </a:rPr>
              <a:t>内存空间</a:t>
            </a:r>
            <a:r>
              <a:rPr kumimoji="1" lang="zh-CN" altLang="en-US" sz="2400" b="1">
                <a:latin typeface="+mn-ea"/>
              </a:rPr>
              <a:t>，</a:t>
            </a:r>
          </a:p>
          <a:p>
            <a:pPr>
              <a:lnSpc>
                <a:spcPct val="160000"/>
              </a:lnSpc>
            </a:pPr>
            <a:r>
              <a:rPr kumimoji="1" lang="zh-CN" altLang="en-US" sz="2400" b="1">
                <a:latin typeface="+mn-ea"/>
              </a:rPr>
              <a:t>约束变量或常量的</a:t>
            </a:r>
            <a:r>
              <a:rPr kumimoji="1" lang="zh-CN" altLang="en-US" sz="2400" b="1">
                <a:solidFill>
                  <a:srgbClr val="FF3300"/>
                </a:solidFill>
                <a:effectLst>
                  <a:outerShdw blurRad="38100" dist="38100" dir="2700000" algn="tl">
                    <a:srgbClr val="000000"/>
                  </a:outerShdw>
                </a:effectLst>
                <a:latin typeface="+mn-ea"/>
              </a:rPr>
              <a:t>取值范围</a:t>
            </a:r>
            <a:r>
              <a:rPr kumimoji="1" lang="zh-CN" altLang="en-US" sz="2400" b="1">
                <a:latin typeface="+mn-ea"/>
              </a:rPr>
              <a:t>，</a:t>
            </a:r>
          </a:p>
          <a:p>
            <a:pPr>
              <a:lnSpc>
                <a:spcPct val="160000"/>
              </a:lnSpc>
            </a:pPr>
            <a:r>
              <a:rPr kumimoji="1" lang="zh-CN" altLang="en-US" sz="2400" b="1">
                <a:latin typeface="+mn-ea"/>
              </a:rPr>
              <a:t>约束变量或常量的</a:t>
            </a:r>
            <a:r>
              <a:rPr kumimoji="1" lang="zh-CN" altLang="en-US" sz="2400" b="1">
                <a:solidFill>
                  <a:srgbClr val="FF3300"/>
                </a:solidFill>
                <a:effectLst>
                  <a:outerShdw blurRad="38100" dist="38100" dir="2700000" algn="tl">
                    <a:srgbClr val="000000"/>
                  </a:outerShdw>
                </a:effectLst>
                <a:latin typeface="+mn-ea"/>
              </a:rPr>
              <a:t>操作</a:t>
            </a:r>
            <a:r>
              <a:rPr kumimoji="1" lang="zh-CN" altLang="en-US" sz="2400" b="1">
                <a:latin typeface="+mn-ea"/>
              </a:rPr>
              <a:t>。 </a:t>
            </a:r>
          </a:p>
        </p:txBody>
      </p:sp>
      <p:sp>
        <p:nvSpPr>
          <p:cNvPr id="7" name="Text Box 99"/>
          <p:cNvSpPr txBox="1">
            <a:spLocks noChangeArrowheads="1"/>
          </p:cNvSpPr>
          <p:nvPr/>
        </p:nvSpPr>
        <p:spPr bwMode="auto">
          <a:xfrm>
            <a:off x="2001838" y="3717058"/>
            <a:ext cx="2661306" cy="461665"/>
          </a:xfrm>
          <a:prstGeom prst="rect">
            <a:avLst/>
          </a:prstGeom>
          <a:noFill/>
          <a:ln w="9525">
            <a:noFill/>
            <a:miter lim="800000"/>
            <a:headEnd/>
            <a:tailEnd/>
          </a:ln>
          <a:effectLst/>
        </p:spPr>
        <p:txBody>
          <a:bodyPr wrap="none">
            <a:spAutoFit/>
          </a:bodyPr>
          <a:lstStyle/>
          <a:p>
            <a:r>
              <a:rPr kumimoji="1" lang="zh-CN" altLang="en-US" sz="2400" b="1">
                <a:solidFill>
                  <a:srgbClr val="0000FF"/>
                </a:solidFill>
                <a:latin typeface="+mn-ea"/>
              </a:rPr>
              <a:t>数据类型的作用  </a:t>
            </a:r>
          </a:p>
        </p:txBody>
      </p:sp>
      <p:sp>
        <p:nvSpPr>
          <p:cNvPr id="8" name="AutoShape 100"/>
          <p:cNvSpPr>
            <a:spLocks/>
          </p:cNvSpPr>
          <p:nvPr/>
        </p:nvSpPr>
        <p:spPr bwMode="auto">
          <a:xfrm>
            <a:off x="4327525" y="3283670"/>
            <a:ext cx="184150" cy="1371600"/>
          </a:xfrm>
          <a:prstGeom prst="leftBrace">
            <a:avLst>
              <a:gd name="adj1" fmla="val 62069"/>
              <a:gd name="adj2" fmla="val 50000"/>
            </a:avLst>
          </a:prstGeom>
          <a:noFill/>
          <a:ln w="12700">
            <a:solidFill>
              <a:schemeClr val="tx1"/>
            </a:solidFill>
            <a:round/>
            <a:headEnd/>
            <a:tailEnd/>
          </a:ln>
          <a:effectLst/>
        </p:spPr>
        <p:txBody>
          <a:bodyPr wrap="none" anchor="ctr"/>
          <a:lstStyle/>
          <a:p>
            <a:endParaRPr lang="zh-CN" altLang="en-US" sz="240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16" presetClass="entr" presetSubtype="4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arn(outHorizontal)">
                                      <p:cBhvr>
                                        <p:cTn id="15" dur="500"/>
                                        <p:tgtEl>
                                          <p:spTgt spid="8"/>
                                        </p:tgtEl>
                                      </p:cBhvr>
                                    </p:animEffect>
                                  </p:childTnLst>
                                </p:cTn>
                              </p:par>
                              <p:par>
                                <p:cTn id="16" presetID="3" presetClass="entr" presetSubtype="5"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vertical)">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checkerboard(across)">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p:bldP spid="7" grpId="0" autoUpdateAnimBg="0"/>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197768"/>
            <a:ext cx="8229600" cy="1143000"/>
          </a:xfrm>
        </p:spPr>
        <p:txBody>
          <a:bodyPr/>
          <a:lstStyle/>
          <a:p>
            <a:r>
              <a:rPr lang="zh-CN" altLang="en-US" b="1" dirty="0">
                <a:latin typeface="宋体" pitchFamily="2" charset="-122"/>
                <a:ea typeface="宋体" pitchFamily="2" charset="-122"/>
              </a:rPr>
              <a:t>基本概念和术语</a:t>
            </a:r>
            <a:r>
              <a:rPr lang="en-US" altLang="zh-CN" b="1" dirty="0">
                <a:latin typeface="宋体" pitchFamily="2" charset="-122"/>
                <a:ea typeface="宋体" pitchFamily="2" charset="-122"/>
              </a:rPr>
              <a:t>(</a:t>
            </a:r>
            <a:r>
              <a:rPr lang="zh-CN" altLang="en-US" b="1" dirty="0">
                <a:latin typeface="宋体" pitchFamily="2" charset="-122"/>
                <a:ea typeface="宋体" pitchFamily="2" charset="-122"/>
              </a:rPr>
              <a:t>续</a:t>
            </a:r>
            <a:r>
              <a:rPr lang="en-US" altLang="zh-CN" b="1" dirty="0">
                <a:latin typeface="宋体" pitchFamily="2" charset="-122"/>
                <a:ea typeface="宋体" pitchFamily="2" charset="-122"/>
              </a:rPr>
              <a:t>)</a:t>
            </a:r>
            <a:endParaRPr lang="zh-CN" altLang="en-US" dirty="0"/>
          </a:p>
        </p:txBody>
      </p:sp>
      <p:sp>
        <p:nvSpPr>
          <p:cNvPr id="3" name="内容占位符 2"/>
          <p:cNvSpPr>
            <a:spLocks noGrp="1"/>
          </p:cNvSpPr>
          <p:nvPr>
            <p:ph idx="1"/>
          </p:nvPr>
        </p:nvSpPr>
        <p:spPr>
          <a:xfrm>
            <a:off x="1981200" y="1268760"/>
            <a:ext cx="8229600" cy="5184576"/>
          </a:xfrm>
        </p:spPr>
        <p:txBody>
          <a:bodyPr>
            <a:normAutofit/>
          </a:bodyPr>
          <a:lstStyle/>
          <a:p>
            <a:pPr>
              <a:lnSpc>
                <a:spcPct val="150000"/>
              </a:lnSpc>
            </a:pPr>
            <a:r>
              <a:rPr lang="zh-CN" altLang="en-US" sz="2400" b="1" dirty="0"/>
              <a:t>抽象数据类型（</a:t>
            </a:r>
            <a:r>
              <a:rPr lang="en-US" altLang="zh-CN" sz="2400" b="1" dirty="0"/>
              <a:t>abstract  data  type   ADT</a:t>
            </a:r>
            <a:r>
              <a:rPr lang="zh-CN" altLang="en-US" sz="2400" b="1" dirty="0"/>
              <a:t>）</a:t>
            </a:r>
            <a:endParaRPr lang="en-US" altLang="zh-CN" sz="2400" b="1" dirty="0"/>
          </a:p>
          <a:p>
            <a:pPr>
              <a:lnSpc>
                <a:spcPct val="150000"/>
              </a:lnSpc>
              <a:buNone/>
            </a:pPr>
            <a:r>
              <a:rPr lang="en-US" altLang="zh-CN" sz="2400" dirty="0"/>
              <a:t>            </a:t>
            </a:r>
            <a:r>
              <a:rPr lang="zh-CN" altLang="en-US" sz="2400" dirty="0"/>
              <a:t>是指一个数学模型以及定义在该模型上的一组操作。抽象数据类型的定义仅取决于它的一组逻辑特性，而与其在计算机内部如何表示和实现无关。</a:t>
            </a:r>
            <a:endParaRPr lang="en-US" altLang="zh-CN" sz="2400" dirty="0"/>
          </a:p>
          <a:p>
            <a:pPr>
              <a:lnSpc>
                <a:spcPct val="150000"/>
              </a:lnSpc>
            </a:pPr>
            <a:r>
              <a:rPr lang="zh-CN" altLang="en-US" sz="2400" b="1" dirty="0"/>
              <a:t>原子类型、固定聚合类型、可变聚合类型、多形数据类型</a:t>
            </a:r>
            <a:r>
              <a:rPr lang="zh-CN" altLang="en-US" sz="2400" dirty="0"/>
              <a:t>（</a:t>
            </a:r>
            <a:r>
              <a:rPr lang="en-US" altLang="zh-CN" sz="2400" dirty="0"/>
              <a:t>p8-9</a:t>
            </a:r>
            <a:r>
              <a:rPr lang="zh-CN" altLang="en-US" sz="2400" dirty="0"/>
              <a:t>）</a:t>
            </a:r>
            <a:endParaRPr lang="en-US" altLang="zh-CN"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6" name="自选图形 5"/>
          <p:cNvSpPr>
            <a:spLocks noChangeArrowheads="1"/>
          </p:cNvSpPr>
          <p:nvPr/>
        </p:nvSpPr>
        <p:spPr bwMode="gray">
          <a:xfrm>
            <a:off x="3346451" y="4992140"/>
            <a:ext cx="462121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ea typeface="宋体" pitchFamily="2" charset="-122"/>
              </a:rPr>
              <a:t>算法和算法分析</a:t>
            </a:r>
          </a:p>
        </p:txBody>
      </p:sp>
      <p:sp>
        <p:nvSpPr>
          <p:cNvPr id="7" name="自选图形 6"/>
          <p:cNvSpPr>
            <a:spLocks noChangeArrowheads="1"/>
          </p:cNvSpPr>
          <p:nvPr/>
        </p:nvSpPr>
        <p:spPr bwMode="gray">
          <a:xfrm>
            <a:off x="3841750" y="4165053"/>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抽象数据类型（</a:t>
            </a:r>
            <a:r>
              <a:rPr lang="en-US" altLang="zh-CN" b="1" dirty="0">
                <a:latin typeface="宋体" pitchFamily="2" charset="-122"/>
                <a:ea typeface="宋体" pitchFamily="2" charset="-122"/>
              </a:rPr>
              <a:t>ADT</a:t>
            </a:r>
            <a:r>
              <a:rPr lang="zh-CN" altLang="en-US" b="1" dirty="0">
                <a:latin typeface="宋体" pitchFamily="2" charset="-122"/>
                <a:ea typeface="宋体" pitchFamily="2" charset="-122"/>
              </a:rPr>
              <a:t>）</a:t>
            </a:r>
          </a:p>
        </p:txBody>
      </p:sp>
      <p:sp>
        <p:nvSpPr>
          <p:cNvPr id="8" name="自选图形 7"/>
          <p:cNvSpPr>
            <a:spLocks noChangeArrowheads="1"/>
          </p:cNvSpPr>
          <p:nvPr/>
        </p:nvSpPr>
        <p:spPr bwMode="gray">
          <a:xfrm>
            <a:off x="3962400" y="3352253"/>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基本概念和术语</a:t>
            </a:r>
          </a:p>
        </p:txBody>
      </p:sp>
      <p:sp>
        <p:nvSpPr>
          <p:cNvPr id="9" name="自选图形 8"/>
          <p:cNvSpPr>
            <a:spLocks noChangeArrowheads="1"/>
          </p:cNvSpPr>
          <p:nvPr/>
        </p:nvSpPr>
        <p:spPr bwMode="gray">
          <a:xfrm>
            <a:off x="3810000" y="2483890"/>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课程概览</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课程安排及要求</a:t>
            </a:r>
          </a:p>
        </p:txBody>
      </p:sp>
      <p:grpSp>
        <p:nvGrpSpPr>
          <p:cNvPr id="2"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3" name="组合 17"/>
          <p:cNvGrpSpPr>
            <a:grpSpLocks/>
          </p:cNvGrpSpPr>
          <p:nvPr/>
        </p:nvGrpSpPr>
        <p:grpSpPr bwMode="auto">
          <a:xfrm>
            <a:off x="3505200" y="2521131"/>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11" name="组合 24"/>
          <p:cNvGrpSpPr>
            <a:grpSpLocks/>
          </p:cNvGrpSpPr>
          <p:nvPr/>
        </p:nvGrpSpPr>
        <p:grpSpPr bwMode="auto">
          <a:xfrm>
            <a:off x="3657600" y="3359331"/>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18" name="组合 31"/>
          <p:cNvGrpSpPr>
            <a:grpSpLocks/>
          </p:cNvGrpSpPr>
          <p:nvPr/>
        </p:nvGrpSpPr>
        <p:grpSpPr bwMode="auto">
          <a:xfrm>
            <a:off x="3505200" y="4197531"/>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grpSp>
        <p:nvGrpSpPr>
          <p:cNvPr id="25" name="组合 38"/>
          <p:cNvGrpSpPr>
            <a:grpSpLocks/>
          </p:cNvGrpSpPr>
          <p:nvPr/>
        </p:nvGrpSpPr>
        <p:grpSpPr bwMode="auto">
          <a:xfrm>
            <a:off x="3048000" y="4972231"/>
            <a:ext cx="355600" cy="519245"/>
            <a:chOff x="2078" y="1387"/>
            <a:chExt cx="1615" cy="2201"/>
          </a:xfrm>
        </p:grpSpPr>
        <p:sp>
          <p:nvSpPr>
            <p:cNvPr id="40" name="椭圆 39"/>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1" name="椭圆 40"/>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2" name="椭圆 41"/>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43" name="椭圆 42"/>
            <p:cNvSpPr>
              <a:spLocks noChangeArrowheads="1"/>
            </p:cNvSpPr>
            <p:nvPr/>
          </p:nvSpPr>
          <p:spPr bwMode="gray">
            <a:xfrm>
              <a:off x="2254" y="1387"/>
              <a:ext cx="1180" cy="220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none" anchor="ctr">
              <a:spAutoFit/>
            </a:bodyPr>
            <a:lstStyle/>
            <a:p>
              <a:endParaRPr lang="zh-CN" altLang="en-US"/>
            </a:p>
          </p:txBody>
        </p:sp>
        <p:sp>
          <p:nvSpPr>
            <p:cNvPr id="44" name="椭圆 43"/>
            <p:cNvSpPr>
              <a:spLocks noChangeArrowheads="1"/>
            </p:cNvSpPr>
            <p:nvPr/>
          </p:nvSpPr>
          <p:spPr bwMode="gray">
            <a:xfrm>
              <a:off x="2338"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45" name="椭圆 44"/>
            <p:cNvSpPr>
              <a:spLocks noChangeArrowheads="1"/>
            </p:cNvSpPr>
            <p:nvPr/>
          </p:nvSpPr>
          <p:spPr bwMode="gray">
            <a:xfrm>
              <a:off x="2337" y="1387"/>
              <a:ext cx="1096" cy="2201"/>
            </a:xfrm>
            <a:prstGeom prst="ellipse">
              <a:avLst/>
            </a:prstGeom>
            <a:gradFill rotWithShape="1">
              <a:gsLst>
                <a:gs pos="0">
                  <a:srgbClr val="E35E23"/>
                </a:gs>
                <a:gs pos="100000">
                  <a:srgbClr val="6E2E11"/>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
        <p:nvSpPr>
          <p:cNvPr id="48" name="自选图形 45"/>
          <p:cNvSpPr>
            <a:spLocks noChangeArrowheads="1"/>
          </p:cNvSpPr>
          <p:nvPr/>
        </p:nvSpPr>
        <p:spPr bwMode="gray">
          <a:xfrm>
            <a:off x="8635126" y="4190025"/>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53" name="自选图形 46"/>
          <p:cNvSpPr>
            <a:spLocks noChangeArrowheads="1"/>
          </p:cNvSpPr>
          <p:nvPr/>
        </p:nvSpPr>
        <p:spPr bwMode="gray">
          <a:xfrm>
            <a:off x="9066926" y="4190025"/>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54" name="自选图形 47"/>
          <p:cNvSpPr>
            <a:spLocks noChangeArrowheads="1"/>
          </p:cNvSpPr>
          <p:nvPr/>
        </p:nvSpPr>
        <p:spPr bwMode="gray">
          <a:xfrm>
            <a:off x="9498726" y="4190025"/>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type="body" idx="1"/>
          </p:nvPr>
        </p:nvSpPr>
        <p:spPr>
          <a:xfrm>
            <a:off x="1981200" y="476251"/>
            <a:ext cx="8091488" cy="3554413"/>
          </a:xfrm>
        </p:spPr>
        <p:txBody>
          <a:bodyPr/>
          <a:lstStyle/>
          <a:p>
            <a:pPr marL="457200" indent="-457200" algn="just">
              <a:buNone/>
            </a:pPr>
            <a:r>
              <a:rPr lang="zh-CN" altLang="en-US" sz="2400" b="1">
                <a:solidFill>
                  <a:srgbClr val="0000FF"/>
                </a:solidFill>
                <a:latin typeface="华文中宋" pitchFamily="2" charset="-122"/>
                <a:ea typeface="华文中宋" pitchFamily="2" charset="-122"/>
              </a:rPr>
              <a:t>抽象数据类型 </a:t>
            </a:r>
            <a:r>
              <a:rPr lang="en-US" altLang="zh-CN" sz="2400" b="1">
                <a:solidFill>
                  <a:srgbClr val="0000FF"/>
                </a:solidFill>
                <a:latin typeface="华文中宋" pitchFamily="2" charset="-122"/>
                <a:ea typeface="华文中宋" pitchFamily="2" charset="-122"/>
              </a:rPr>
              <a:t>Abstract Data Type, ADT</a:t>
            </a:r>
          </a:p>
          <a:p>
            <a:pPr marL="990600" lvl="1" indent="-533400" algn="just">
              <a:buClr>
                <a:schemeClr val="tx1"/>
              </a:buClr>
              <a:buFont typeface="Wingdings" pitchFamily="2" charset="2"/>
              <a:buChar char="q"/>
            </a:pPr>
            <a:r>
              <a:rPr lang="zh-CN" altLang="en-US" sz="2400" b="1"/>
              <a:t>含义</a:t>
            </a:r>
          </a:p>
        </p:txBody>
      </p:sp>
      <p:grpSp>
        <p:nvGrpSpPr>
          <p:cNvPr id="2" name="Group 4"/>
          <p:cNvGrpSpPr>
            <a:grpSpLocks/>
          </p:cNvGrpSpPr>
          <p:nvPr/>
        </p:nvGrpSpPr>
        <p:grpSpPr bwMode="auto">
          <a:xfrm>
            <a:off x="2351088" y="2349500"/>
            <a:ext cx="3600450" cy="2109788"/>
            <a:chOff x="567" y="1480"/>
            <a:chExt cx="2268" cy="1329"/>
          </a:xfrm>
        </p:grpSpPr>
        <p:sp>
          <p:nvSpPr>
            <p:cNvPr id="249861" name="Text Box 5"/>
            <p:cNvSpPr txBox="1">
              <a:spLocks noChangeArrowheads="1"/>
            </p:cNvSpPr>
            <p:nvPr/>
          </p:nvSpPr>
          <p:spPr bwMode="auto">
            <a:xfrm>
              <a:off x="567" y="1480"/>
              <a:ext cx="2268" cy="1329"/>
            </a:xfrm>
            <a:prstGeom prst="rect">
              <a:avLst/>
            </a:prstGeom>
            <a:solidFill>
              <a:schemeClr val="bg1"/>
            </a:solidFill>
            <a:ln w="9525" algn="ctr">
              <a:solidFill>
                <a:schemeClr val="tx1"/>
              </a:solidFill>
              <a:miter lim="800000"/>
              <a:headEnd/>
              <a:tailEnd/>
            </a:ln>
            <a:effectLst/>
          </p:spPr>
          <p:txBody>
            <a:bodyPr>
              <a:spAutoFit/>
            </a:bodyPr>
            <a:lstStyle/>
            <a:p>
              <a:pPr>
                <a:spcBef>
                  <a:spcPct val="50000"/>
                </a:spcBef>
              </a:pPr>
              <a:r>
                <a:rPr lang="zh-CN" altLang="en-US" sz="2400" b="1">
                  <a:solidFill>
                    <a:schemeClr val="tx2"/>
                  </a:solidFill>
                  <a:ea typeface="宋体" pitchFamily="2" charset="-122"/>
                </a:rPr>
                <a:t>书号　书名　　　作者</a:t>
              </a:r>
            </a:p>
            <a:p>
              <a:pPr>
                <a:spcBef>
                  <a:spcPct val="50000"/>
                </a:spcBef>
              </a:pPr>
              <a:r>
                <a:rPr lang="zh-CN" altLang="en-US" sz="2400" b="1">
                  <a:solidFill>
                    <a:schemeClr val="tx2"/>
                  </a:solidFill>
                  <a:ea typeface="宋体" pitchFamily="2" charset="-122"/>
                </a:rPr>
                <a:t>  </a:t>
              </a:r>
              <a:r>
                <a:rPr lang="en-US" altLang="zh-CN" sz="2400" b="1">
                  <a:solidFill>
                    <a:schemeClr val="tx2"/>
                  </a:solidFill>
                  <a:ea typeface="宋体" pitchFamily="2" charset="-122"/>
                </a:rPr>
                <a:t>1</a:t>
              </a:r>
              <a:r>
                <a:rPr lang="zh-CN" altLang="en-US" sz="2400" b="1">
                  <a:solidFill>
                    <a:schemeClr val="tx2"/>
                  </a:solidFill>
                  <a:ea typeface="宋体" pitchFamily="2" charset="-122"/>
                </a:rPr>
                <a:t>　　数据结构　严蔚敏</a:t>
              </a:r>
            </a:p>
            <a:p>
              <a:pPr>
                <a:spcBef>
                  <a:spcPct val="50000"/>
                </a:spcBef>
              </a:pPr>
              <a:r>
                <a:rPr lang="zh-CN" altLang="en-US" sz="2400" b="1">
                  <a:solidFill>
                    <a:schemeClr val="tx2"/>
                  </a:solidFill>
                  <a:ea typeface="宋体" pitchFamily="2" charset="-122"/>
                </a:rPr>
                <a:t>  </a:t>
              </a:r>
              <a:r>
                <a:rPr lang="en-US" altLang="zh-CN" sz="2400" b="1">
                  <a:solidFill>
                    <a:schemeClr val="tx2"/>
                  </a:solidFill>
                  <a:ea typeface="宋体" pitchFamily="2" charset="-122"/>
                </a:rPr>
                <a:t>2</a:t>
              </a:r>
              <a:r>
                <a:rPr lang="zh-CN" altLang="en-US" sz="2400" b="1">
                  <a:solidFill>
                    <a:schemeClr val="tx2"/>
                  </a:solidFill>
                  <a:ea typeface="宋体" pitchFamily="2" charset="-122"/>
                </a:rPr>
                <a:t>　　信息论　　周萌清</a:t>
              </a:r>
            </a:p>
            <a:p>
              <a:pPr>
                <a:spcBef>
                  <a:spcPct val="50000"/>
                </a:spcBef>
              </a:pPr>
              <a:r>
                <a:rPr lang="en-US" altLang="zh-CN" sz="2400" b="1">
                  <a:solidFill>
                    <a:schemeClr val="tx2"/>
                  </a:solidFill>
                  <a:ea typeface="宋体" pitchFamily="2" charset="-122"/>
                </a:rPr>
                <a:t>……</a:t>
              </a:r>
            </a:p>
          </p:txBody>
        </p:sp>
        <p:sp>
          <p:nvSpPr>
            <p:cNvPr id="249862" name="Line 6"/>
            <p:cNvSpPr>
              <a:spLocks noChangeShapeType="1"/>
            </p:cNvSpPr>
            <p:nvPr/>
          </p:nvSpPr>
          <p:spPr bwMode="auto">
            <a:xfrm>
              <a:off x="567" y="1797"/>
              <a:ext cx="2268" cy="0"/>
            </a:xfrm>
            <a:prstGeom prst="line">
              <a:avLst/>
            </a:prstGeom>
            <a:noFill/>
            <a:ln w="9525">
              <a:solidFill>
                <a:schemeClr val="tx1"/>
              </a:solidFill>
              <a:round/>
              <a:headEnd/>
              <a:tailEnd/>
            </a:ln>
            <a:effectLst/>
          </p:spPr>
          <p:txBody>
            <a:bodyPr anchor="ctr"/>
            <a:lstStyle/>
            <a:p>
              <a:endParaRPr lang="zh-CN" altLang="en-US"/>
            </a:p>
          </p:txBody>
        </p:sp>
      </p:grpSp>
      <p:grpSp>
        <p:nvGrpSpPr>
          <p:cNvPr id="3" name="Group 7"/>
          <p:cNvGrpSpPr>
            <a:grpSpLocks/>
          </p:cNvGrpSpPr>
          <p:nvPr/>
        </p:nvGrpSpPr>
        <p:grpSpPr bwMode="auto">
          <a:xfrm>
            <a:off x="6311900" y="2349500"/>
            <a:ext cx="3600450" cy="2109788"/>
            <a:chOff x="567" y="1480"/>
            <a:chExt cx="2268" cy="1329"/>
          </a:xfrm>
        </p:grpSpPr>
        <p:sp>
          <p:nvSpPr>
            <p:cNvPr id="249864" name="Text Box 8"/>
            <p:cNvSpPr txBox="1">
              <a:spLocks noChangeArrowheads="1"/>
            </p:cNvSpPr>
            <p:nvPr/>
          </p:nvSpPr>
          <p:spPr bwMode="auto">
            <a:xfrm>
              <a:off x="567" y="1480"/>
              <a:ext cx="2268" cy="1329"/>
            </a:xfrm>
            <a:prstGeom prst="rect">
              <a:avLst/>
            </a:prstGeom>
            <a:solidFill>
              <a:schemeClr val="bg1"/>
            </a:solidFill>
            <a:ln w="9525" algn="ctr">
              <a:solidFill>
                <a:schemeClr val="tx1"/>
              </a:solidFill>
              <a:miter lim="800000"/>
              <a:headEnd/>
              <a:tailEnd/>
            </a:ln>
            <a:effectLst/>
          </p:spPr>
          <p:txBody>
            <a:bodyPr>
              <a:spAutoFit/>
            </a:bodyPr>
            <a:lstStyle/>
            <a:p>
              <a:pPr>
                <a:spcBef>
                  <a:spcPct val="50000"/>
                </a:spcBef>
              </a:pPr>
              <a:r>
                <a:rPr lang="zh-CN" altLang="en-US" sz="2400" b="1">
                  <a:solidFill>
                    <a:schemeClr val="tx2"/>
                  </a:solidFill>
                  <a:ea typeface="宋体" pitchFamily="2" charset="-122"/>
                </a:rPr>
                <a:t>学号　　姓名　　分数</a:t>
              </a:r>
            </a:p>
            <a:p>
              <a:pPr>
                <a:spcBef>
                  <a:spcPct val="50000"/>
                </a:spcBef>
              </a:pPr>
              <a:r>
                <a:rPr lang="zh-CN" altLang="en-US" sz="2400" b="1">
                  <a:solidFill>
                    <a:schemeClr val="tx2"/>
                  </a:solidFill>
                  <a:ea typeface="宋体" pitchFamily="2" charset="-122"/>
                </a:rPr>
                <a:t>  </a:t>
              </a:r>
              <a:r>
                <a:rPr lang="en-US" altLang="zh-CN" sz="2400" b="1">
                  <a:solidFill>
                    <a:schemeClr val="tx2"/>
                  </a:solidFill>
                  <a:ea typeface="宋体" pitchFamily="2" charset="-122"/>
                </a:rPr>
                <a:t>1</a:t>
              </a:r>
              <a:r>
                <a:rPr lang="zh-CN" altLang="en-US" sz="2400" b="1">
                  <a:solidFill>
                    <a:schemeClr val="tx2"/>
                  </a:solidFill>
                  <a:ea typeface="宋体" pitchFamily="2" charset="-122"/>
                </a:rPr>
                <a:t>　　　张三　　</a:t>
              </a:r>
              <a:r>
                <a:rPr lang="en-US" altLang="zh-CN" sz="2400" b="1">
                  <a:solidFill>
                    <a:schemeClr val="tx2"/>
                  </a:solidFill>
                  <a:ea typeface="宋体" pitchFamily="2" charset="-122"/>
                </a:rPr>
                <a:t>80</a:t>
              </a:r>
            </a:p>
            <a:p>
              <a:pPr>
                <a:spcBef>
                  <a:spcPct val="50000"/>
                </a:spcBef>
              </a:pPr>
              <a:r>
                <a:rPr lang="en-US" altLang="zh-CN" sz="2400" b="1">
                  <a:solidFill>
                    <a:schemeClr val="tx2"/>
                  </a:solidFill>
                  <a:ea typeface="宋体" pitchFamily="2" charset="-122"/>
                </a:rPr>
                <a:t>  2</a:t>
              </a:r>
              <a:r>
                <a:rPr lang="zh-CN" altLang="en-US" sz="2400" b="1">
                  <a:solidFill>
                    <a:schemeClr val="tx2"/>
                  </a:solidFill>
                  <a:ea typeface="宋体" pitchFamily="2" charset="-122"/>
                </a:rPr>
                <a:t>　　　李四　　</a:t>
              </a:r>
              <a:r>
                <a:rPr lang="en-US" altLang="zh-CN" sz="2400" b="1">
                  <a:solidFill>
                    <a:schemeClr val="tx2"/>
                  </a:solidFill>
                  <a:ea typeface="宋体" pitchFamily="2" charset="-122"/>
                </a:rPr>
                <a:t>90</a:t>
              </a:r>
            </a:p>
            <a:p>
              <a:pPr>
                <a:spcBef>
                  <a:spcPct val="50000"/>
                </a:spcBef>
              </a:pPr>
              <a:r>
                <a:rPr lang="en-US" altLang="zh-CN" sz="2400" b="1">
                  <a:solidFill>
                    <a:schemeClr val="tx2"/>
                  </a:solidFill>
                  <a:ea typeface="宋体" pitchFamily="2" charset="-122"/>
                </a:rPr>
                <a:t>……</a:t>
              </a:r>
            </a:p>
          </p:txBody>
        </p:sp>
        <p:sp>
          <p:nvSpPr>
            <p:cNvPr id="249865" name="Line 9"/>
            <p:cNvSpPr>
              <a:spLocks noChangeShapeType="1"/>
            </p:cNvSpPr>
            <p:nvPr/>
          </p:nvSpPr>
          <p:spPr bwMode="auto">
            <a:xfrm>
              <a:off x="567" y="1797"/>
              <a:ext cx="2268" cy="0"/>
            </a:xfrm>
            <a:prstGeom prst="line">
              <a:avLst/>
            </a:prstGeom>
            <a:noFill/>
            <a:ln w="9525">
              <a:solidFill>
                <a:schemeClr val="tx1"/>
              </a:solidFill>
              <a:round/>
              <a:headEnd/>
              <a:tailEnd/>
            </a:ln>
            <a:effectLst/>
          </p:spPr>
          <p:txBody>
            <a:bodyPr anchor="ctr"/>
            <a:lstStyle/>
            <a:p>
              <a:endParaRPr lang="zh-CN" altLang="en-US"/>
            </a:p>
          </p:txBody>
        </p:sp>
      </p:grpSp>
      <p:grpSp>
        <p:nvGrpSpPr>
          <p:cNvPr id="4" name="Group 10"/>
          <p:cNvGrpSpPr>
            <a:grpSpLocks/>
          </p:cNvGrpSpPr>
          <p:nvPr/>
        </p:nvGrpSpPr>
        <p:grpSpPr bwMode="auto">
          <a:xfrm>
            <a:off x="2351088" y="4581525"/>
            <a:ext cx="4608512" cy="2109788"/>
            <a:chOff x="567" y="1480"/>
            <a:chExt cx="2268" cy="1329"/>
          </a:xfrm>
        </p:grpSpPr>
        <p:sp>
          <p:nvSpPr>
            <p:cNvPr id="249867" name="Text Box 11"/>
            <p:cNvSpPr txBox="1">
              <a:spLocks noChangeArrowheads="1"/>
            </p:cNvSpPr>
            <p:nvPr/>
          </p:nvSpPr>
          <p:spPr bwMode="auto">
            <a:xfrm>
              <a:off x="567" y="1480"/>
              <a:ext cx="2268" cy="1329"/>
            </a:xfrm>
            <a:prstGeom prst="rect">
              <a:avLst/>
            </a:prstGeom>
            <a:solidFill>
              <a:schemeClr val="bg1"/>
            </a:solidFill>
            <a:ln w="9525" algn="ctr">
              <a:solidFill>
                <a:schemeClr val="tx1"/>
              </a:solidFill>
              <a:miter lim="800000"/>
              <a:headEnd/>
              <a:tailEnd/>
            </a:ln>
            <a:effectLst/>
          </p:spPr>
          <p:txBody>
            <a:bodyPr>
              <a:spAutoFit/>
            </a:bodyPr>
            <a:lstStyle/>
            <a:p>
              <a:pPr>
                <a:spcBef>
                  <a:spcPct val="50000"/>
                </a:spcBef>
              </a:pPr>
              <a:r>
                <a:rPr lang="zh-CN" altLang="en-US" sz="2400" b="1">
                  <a:solidFill>
                    <a:schemeClr val="tx2"/>
                  </a:solidFill>
                  <a:ea typeface="宋体" pitchFamily="2" charset="-122"/>
                </a:rPr>
                <a:t>货号　品名　　型号　　价格</a:t>
              </a:r>
            </a:p>
            <a:p>
              <a:pPr>
                <a:spcBef>
                  <a:spcPct val="50000"/>
                </a:spcBef>
              </a:pPr>
              <a:r>
                <a:rPr lang="zh-CN" altLang="en-US" sz="2400" b="1">
                  <a:solidFill>
                    <a:schemeClr val="tx2"/>
                  </a:solidFill>
                  <a:ea typeface="宋体" pitchFamily="2" charset="-122"/>
                </a:rPr>
                <a:t>  </a:t>
              </a:r>
              <a:r>
                <a:rPr lang="en-US" altLang="zh-CN" sz="2400" b="1">
                  <a:solidFill>
                    <a:schemeClr val="tx2"/>
                  </a:solidFill>
                  <a:ea typeface="宋体" pitchFamily="2" charset="-122"/>
                </a:rPr>
                <a:t>1</a:t>
              </a:r>
              <a:r>
                <a:rPr lang="zh-CN" altLang="en-US" sz="2400" b="1">
                  <a:solidFill>
                    <a:schemeClr val="tx2"/>
                  </a:solidFill>
                  <a:ea typeface="宋体" pitchFamily="2" charset="-122"/>
                </a:rPr>
                <a:t>　　洗衣机　</a:t>
              </a:r>
              <a:r>
                <a:rPr lang="en-US" altLang="zh-CN" sz="2400" b="1">
                  <a:solidFill>
                    <a:schemeClr val="tx2"/>
                  </a:solidFill>
                  <a:ea typeface="宋体" pitchFamily="2" charset="-122"/>
                </a:rPr>
                <a:t>XM-1</a:t>
              </a:r>
              <a:r>
                <a:rPr lang="zh-CN" altLang="en-US" sz="2400" b="1">
                  <a:solidFill>
                    <a:schemeClr val="tx2"/>
                  </a:solidFill>
                  <a:ea typeface="宋体" pitchFamily="2" charset="-122"/>
                </a:rPr>
                <a:t>　  </a:t>
              </a:r>
              <a:r>
                <a:rPr lang="en-US" altLang="zh-CN" sz="2400" b="1">
                  <a:solidFill>
                    <a:schemeClr val="tx2"/>
                  </a:solidFill>
                  <a:ea typeface="宋体" pitchFamily="2" charset="-122"/>
                </a:rPr>
                <a:t>1500</a:t>
              </a:r>
            </a:p>
            <a:p>
              <a:pPr>
                <a:spcBef>
                  <a:spcPct val="50000"/>
                </a:spcBef>
              </a:pPr>
              <a:r>
                <a:rPr lang="en-US" altLang="zh-CN" sz="2400" b="1">
                  <a:solidFill>
                    <a:schemeClr val="tx2"/>
                  </a:solidFill>
                  <a:ea typeface="宋体" pitchFamily="2" charset="-122"/>
                </a:rPr>
                <a:t>  2</a:t>
              </a:r>
              <a:r>
                <a:rPr lang="zh-CN" altLang="en-US" sz="2400" b="1">
                  <a:solidFill>
                    <a:schemeClr val="tx2"/>
                  </a:solidFill>
                  <a:ea typeface="宋体" pitchFamily="2" charset="-122"/>
                </a:rPr>
                <a:t>　　电视机　</a:t>
              </a:r>
              <a:r>
                <a:rPr lang="en-US" altLang="zh-CN" sz="2400" b="1">
                  <a:solidFill>
                    <a:schemeClr val="tx2"/>
                  </a:solidFill>
                  <a:ea typeface="宋体" pitchFamily="2" charset="-122"/>
                </a:rPr>
                <a:t>HDV-2</a:t>
              </a:r>
              <a:r>
                <a:rPr lang="zh-CN" altLang="en-US" sz="2400" b="1">
                  <a:solidFill>
                    <a:schemeClr val="tx2"/>
                  </a:solidFill>
                  <a:ea typeface="宋体" pitchFamily="2" charset="-122"/>
                </a:rPr>
                <a:t>　</a:t>
              </a:r>
              <a:r>
                <a:rPr lang="en-US" altLang="zh-CN" sz="2400" b="1">
                  <a:solidFill>
                    <a:schemeClr val="tx2"/>
                  </a:solidFill>
                  <a:ea typeface="宋体" pitchFamily="2" charset="-122"/>
                </a:rPr>
                <a:t>5000</a:t>
              </a:r>
            </a:p>
            <a:p>
              <a:pPr>
                <a:spcBef>
                  <a:spcPct val="50000"/>
                </a:spcBef>
              </a:pPr>
              <a:r>
                <a:rPr lang="en-US" altLang="zh-CN" sz="2400" b="1">
                  <a:solidFill>
                    <a:schemeClr val="tx2"/>
                  </a:solidFill>
                  <a:ea typeface="宋体" pitchFamily="2" charset="-122"/>
                </a:rPr>
                <a:t>……</a:t>
              </a:r>
            </a:p>
          </p:txBody>
        </p:sp>
        <p:sp>
          <p:nvSpPr>
            <p:cNvPr id="249868" name="Line 12"/>
            <p:cNvSpPr>
              <a:spLocks noChangeShapeType="1"/>
            </p:cNvSpPr>
            <p:nvPr/>
          </p:nvSpPr>
          <p:spPr bwMode="auto">
            <a:xfrm>
              <a:off x="567" y="1797"/>
              <a:ext cx="2268" cy="0"/>
            </a:xfrm>
            <a:prstGeom prst="line">
              <a:avLst/>
            </a:prstGeom>
            <a:noFill/>
            <a:ln w="9525">
              <a:solidFill>
                <a:schemeClr val="tx1"/>
              </a:solidFill>
              <a:round/>
              <a:headEnd/>
              <a:tailEnd/>
            </a:ln>
            <a:effectLst/>
          </p:spPr>
          <p:txBody>
            <a:bodyPr anchor="ctr"/>
            <a:lstStyle/>
            <a:p>
              <a:endParaRPr lang="zh-CN" altLang="en-US"/>
            </a:p>
          </p:txBody>
        </p:sp>
      </p:grpSp>
      <p:grpSp>
        <p:nvGrpSpPr>
          <p:cNvPr id="5" name="Group 13"/>
          <p:cNvGrpSpPr>
            <a:grpSpLocks/>
          </p:cNvGrpSpPr>
          <p:nvPr/>
        </p:nvGrpSpPr>
        <p:grpSpPr bwMode="auto">
          <a:xfrm>
            <a:off x="7248526" y="4581525"/>
            <a:ext cx="2663825" cy="2109788"/>
            <a:chOff x="567" y="1480"/>
            <a:chExt cx="2268" cy="1329"/>
          </a:xfrm>
        </p:grpSpPr>
        <p:sp>
          <p:nvSpPr>
            <p:cNvPr id="249870" name="Text Box 14"/>
            <p:cNvSpPr txBox="1">
              <a:spLocks noChangeArrowheads="1"/>
            </p:cNvSpPr>
            <p:nvPr/>
          </p:nvSpPr>
          <p:spPr bwMode="auto">
            <a:xfrm>
              <a:off x="567" y="1480"/>
              <a:ext cx="2268" cy="1329"/>
            </a:xfrm>
            <a:prstGeom prst="rect">
              <a:avLst/>
            </a:prstGeom>
            <a:solidFill>
              <a:schemeClr val="bg1"/>
            </a:solidFill>
            <a:ln w="9525" algn="ctr">
              <a:solidFill>
                <a:schemeClr val="tx1"/>
              </a:solidFill>
              <a:miter lim="800000"/>
              <a:headEnd/>
              <a:tailEnd/>
            </a:ln>
            <a:effectLst/>
          </p:spPr>
          <p:txBody>
            <a:bodyPr>
              <a:spAutoFit/>
            </a:bodyPr>
            <a:lstStyle/>
            <a:p>
              <a:pPr>
                <a:spcBef>
                  <a:spcPct val="50000"/>
                </a:spcBef>
              </a:pPr>
              <a:r>
                <a:rPr lang="zh-CN" altLang="en-US" sz="2400" b="1">
                  <a:solidFill>
                    <a:schemeClr val="tx2"/>
                  </a:solidFill>
                  <a:ea typeface="宋体" pitchFamily="2" charset="-122"/>
                </a:rPr>
                <a:t>序号 系数 指数</a:t>
              </a:r>
            </a:p>
            <a:p>
              <a:pPr>
                <a:spcBef>
                  <a:spcPct val="50000"/>
                </a:spcBef>
              </a:pPr>
              <a:r>
                <a:rPr lang="zh-CN" altLang="en-US" sz="2400" b="1">
                  <a:solidFill>
                    <a:schemeClr val="tx2"/>
                  </a:solidFill>
                  <a:ea typeface="宋体" pitchFamily="2" charset="-122"/>
                </a:rPr>
                <a:t>  </a:t>
              </a:r>
              <a:r>
                <a:rPr lang="en-US" altLang="zh-CN" sz="2400" b="1">
                  <a:solidFill>
                    <a:schemeClr val="tx2"/>
                  </a:solidFill>
                  <a:ea typeface="宋体" pitchFamily="2" charset="-122"/>
                </a:rPr>
                <a:t>1        2    500</a:t>
              </a:r>
            </a:p>
            <a:p>
              <a:pPr>
                <a:spcBef>
                  <a:spcPct val="50000"/>
                </a:spcBef>
              </a:pPr>
              <a:r>
                <a:rPr lang="en-US" altLang="zh-CN" sz="2400" b="1">
                  <a:solidFill>
                    <a:schemeClr val="tx2"/>
                  </a:solidFill>
                  <a:ea typeface="宋体" pitchFamily="2" charset="-122"/>
                </a:rPr>
                <a:t>  2       -5</a:t>
              </a:r>
              <a:r>
                <a:rPr lang="zh-CN" altLang="en-US" sz="2400" b="1">
                  <a:solidFill>
                    <a:schemeClr val="tx2"/>
                  </a:solidFill>
                  <a:ea typeface="宋体" pitchFamily="2" charset="-122"/>
                </a:rPr>
                <a:t>　</a:t>
              </a:r>
              <a:r>
                <a:rPr lang="en-US" altLang="zh-CN" sz="2400" b="1">
                  <a:solidFill>
                    <a:schemeClr val="tx2"/>
                  </a:solidFill>
                  <a:ea typeface="宋体" pitchFamily="2" charset="-122"/>
                </a:rPr>
                <a:t>1500</a:t>
              </a:r>
            </a:p>
            <a:p>
              <a:pPr>
                <a:spcBef>
                  <a:spcPct val="50000"/>
                </a:spcBef>
              </a:pPr>
              <a:r>
                <a:rPr lang="en-US" altLang="zh-CN" sz="2400" b="1">
                  <a:solidFill>
                    <a:schemeClr val="tx2"/>
                  </a:solidFill>
                  <a:ea typeface="宋体" pitchFamily="2" charset="-122"/>
                </a:rPr>
                <a:t>……</a:t>
              </a:r>
            </a:p>
          </p:txBody>
        </p:sp>
        <p:sp>
          <p:nvSpPr>
            <p:cNvPr id="249871" name="Line 15"/>
            <p:cNvSpPr>
              <a:spLocks noChangeShapeType="1"/>
            </p:cNvSpPr>
            <p:nvPr/>
          </p:nvSpPr>
          <p:spPr bwMode="auto">
            <a:xfrm>
              <a:off x="567" y="1797"/>
              <a:ext cx="2268" cy="0"/>
            </a:xfrm>
            <a:prstGeom prst="line">
              <a:avLst/>
            </a:prstGeom>
            <a:noFill/>
            <a:ln w="9525">
              <a:solidFill>
                <a:schemeClr val="tx1"/>
              </a:solidFill>
              <a:round/>
              <a:headEnd/>
              <a:tailEnd/>
            </a:ln>
            <a:effectLst/>
          </p:spPr>
          <p:txBody>
            <a:bodyPr anchor="ctr"/>
            <a:lstStyle/>
            <a:p>
              <a:endParaRPr lang="zh-CN" altLang="en-US"/>
            </a:p>
          </p:txBody>
        </p:sp>
      </p:grpSp>
      <p:sp>
        <p:nvSpPr>
          <p:cNvPr id="15" name="Rectangle 40"/>
          <p:cNvSpPr>
            <a:spLocks noChangeArrowheads="1"/>
          </p:cNvSpPr>
          <p:nvPr/>
        </p:nvSpPr>
        <p:spPr bwMode="auto">
          <a:xfrm>
            <a:off x="2098676" y="1310532"/>
            <a:ext cx="8569325" cy="830997"/>
          </a:xfrm>
          <a:prstGeom prst="rect">
            <a:avLst/>
          </a:prstGeom>
          <a:noFill/>
          <a:ln w="9525">
            <a:noFill/>
            <a:miter lim="800000"/>
            <a:headEnd/>
            <a:tailEnd/>
          </a:ln>
          <a:effectLst/>
        </p:spPr>
        <p:txBody>
          <a:bodyPr>
            <a:spAutoFit/>
          </a:bodyPr>
          <a:lstStyle/>
          <a:p>
            <a:r>
              <a:rPr kumimoji="1" lang="zh-CN" altLang="en-US" sz="2400" b="1" dirty="0">
                <a:solidFill>
                  <a:srgbClr val="0000FF"/>
                </a:solidFill>
                <a:latin typeface="Times New Roman" pitchFamily="18" charset="0"/>
                <a:ea typeface="华文中宋" pitchFamily="2" charset="-122"/>
              </a:rPr>
              <a:t>         </a:t>
            </a:r>
            <a:r>
              <a:rPr kumimoji="1" lang="zh-CN" altLang="en-US" sz="2400" b="1" dirty="0">
                <a:latin typeface="Times New Roman" pitchFamily="18" charset="0"/>
                <a:ea typeface="华文新魏" pitchFamily="2" charset="-122"/>
              </a:rPr>
              <a:t>一种数据类型，其数据对象和对象操作的规格说明独 </a:t>
            </a:r>
          </a:p>
          <a:p>
            <a:r>
              <a:rPr kumimoji="1" lang="zh-CN" altLang="en-US" sz="2400" b="1" dirty="0">
                <a:latin typeface="Times New Roman" pitchFamily="18" charset="0"/>
                <a:ea typeface="华文新魏" pitchFamily="2" charset="-122"/>
              </a:rPr>
              <a:t>          立于对象的存储表示和对象上操作的实现。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ADT</a:t>
            </a:r>
            <a:r>
              <a:rPr lang="zh-CN" altLang="en-US" dirty="0"/>
              <a:t>的定义</a:t>
            </a:r>
          </a:p>
        </p:txBody>
      </p:sp>
      <p:sp>
        <p:nvSpPr>
          <p:cNvPr id="3" name="内容占位符 2"/>
          <p:cNvSpPr>
            <a:spLocks noGrp="1"/>
          </p:cNvSpPr>
          <p:nvPr>
            <p:ph idx="1"/>
          </p:nvPr>
        </p:nvSpPr>
        <p:spPr>
          <a:xfrm>
            <a:off x="1981200" y="1196752"/>
            <a:ext cx="8229600" cy="5661248"/>
          </a:xfrm>
        </p:spPr>
        <p:txBody>
          <a:bodyPr>
            <a:normAutofit lnSpcReduction="10000"/>
          </a:bodyPr>
          <a:lstStyle/>
          <a:p>
            <a:r>
              <a:rPr lang="zh-CN" altLang="en-US" dirty="0"/>
              <a:t>定义：</a:t>
            </a:r>
            <a:endParaRPr lang="en-US" altLang="zh-CN" dirty="0"/>
          </a:p>
          <a:p>
            <a:pPr>
              <a:buNone/>
            </a:pPr>
            <a:r>
              <a:rPr lang="en-US" altLang="zh-CN" sz="2400" dirty="0"/>
              <a:t>             </a:t>
            </a:r>
            <a:r>
              <a:rPr lang="zh-CN" altLang="en-US" sz="2400" dirty="0"/>
              <a:t>和数据结构的形式定义相对应，抽象数据类型可以用三元组来刻画</a:t>
            </a:r>
            <a:r>
              <a:rPr lang="en-US" altLang="zh-CN" sz="2400" dirty="0">
                <a:sym typeface="Wingdings" pitchFamily="2" charset="2"/>
              </a:rPr>
              <a:t>:(D,S,P)</a:t>
            </a:r>
            <a:r>
              <a:rPr lang="zh-CN" altLang="en-US" sz="2400" dirty="0">
                <a:sym typeface="Wingdings" pitchFamily="2" charset="2"/>
              </a:rPr>
              <a:t>。其中</a:t>
            </a:r>
            <a:r>
              <a:rPr lang="en-US" altLang="zh-CN" sz="2400" dirty="0">
                <a:sym typeface="Wingdings" pitchFamily="2" charset="2"/>
              </a:rPr>
              <a:t>D</a:t>
            </a:r>
            <a:r>
              <a:rPr lang="zh-CN" altLang="en-US" sz="2400" dirty="0">
                <a:sym typeface="Wingdings" pitchFamily="2" charset="2"/>
              </a:rPr>
              <a:t>是数据对象，</a:t>
            </a:r>
            <a:r>
              <a:rPr lang="en-US" altLang="zh-CN" sz="2400" dirty="0">
                <a:sym typeface="Wingdings" pitchFamily="2" charset="2"/>
              </a:rPr>
              <a:t>S</a:t>
            </a:r>
            <a:r>
              <a:rPr lang="zh-CN" altLang="en-US" sz="2400" dirty="0">
                <a:sym typeface="Wingdings" pitchFamily="2" charset="2"/>
              </a:rPr>
              <a:t>是</a:t>
            </a:r>
            <a:r>
              <a:rPr lang="en-US" altLang="zh-CN" sz="2400" dirty="0">
                <a:sym typeface="Wingdings" pitchFamily="2" charset="2"/>
              </a:rPr>
              <a:t>D</a:t>
            </a:r>
            <a:r>
              <a:rPr lang="zh-CN" altLang="en-US" sz="2400" dirty="0">
                <a:sym typeface="Wingdings" pitchFamily="2" charset="2"/>
              </a:rPr>
              <a:t>上的关系集，</a:t>
            </a:r>
            <a:r>
              <a:rPr lang="en-US" altLang="zh-CN" sz="2400" dirty="0">
                <a:sym typeface="Wingdings" pitchFamily="2" charset="2"/>
              </a:rPr>
              <a:t>P</a:t>
            </a:r>
            <a:r>
              <a:rPr lang="zh-CN" altLang="en-US" sz="2400" dirty="0">
                <a:sym typeface="Wingdings" pitchFamily="2" charset="2"/>
              </a:rPr>
              <a:t>是对</a:t>
            </a:r>
            <a:r>
              <a:rPr lang="en-US" altLang="zh-CN" sz="2400" dirty="0">
                <a:sym typeface="Wingdings" pitchFamily="2" charset="2"/>
              </a:rPr>
              <a:t>D</a:t>
            </a:r>
            <a:r>
              <a:rPr lang="zh-CN" altLang="en-US" sz="2400" dirty="0">
                <a:sym typeface="Wingdings" pitchFamily="2" charset="2"/>
              </a:rPr>
              <a:t>的基本操作。</a:t>
            </a:r>
            <a:endParaRPr lang="en-US" altLang="zh-CN" sz="2400" dirty="0">
              <a:sym typeface="Wingdings" pitchFamily="2" charset="2"/>
            </a:endParaRPr>
          </a:p>
          <a:p>
            <a:pPr>
              <a:buNone/>
            </a:pPr>
            <a:r>
              <a:rPr lang="en-US" altLang="zh-CN" sz="2400" dirty="0">
                <a:sym typeface="Wingdings" pitchFamily="2" charset="2"/>
              </a:rPr>
              <a:t>     ADT  </a:t>
            </a:r>
            <a:r>
              <a:rPr lang="zh-CN" altLang="en-US" sz="2400" dirty="0">
                <a:sym typeface="Wingdings" pitchFamily="2" charset="2"/>
              </a:rPr>
              <a:t>抽象数据类型名</a:t>
            </a:r>
            <a:r>
              <a:rPr lang="en-US" altLang="zh-CN" sz="2400" dirty="0">
                <a:sym typeface="Wingdings" pitchFamily="2" charset="2"/>
              </a:rPr>
              <a:t>{</a:t>
            </a:r>
          </a:p>
          <a:p>
            <a:pPr>
              <a:buNone/>
            </a:pPr>
            <a:r>
              <a:rPr lang="en-US" altLang="zh-CN" sz="2400" dirty="0">
                <a:sym typeface="Wingdings" pitchFamily="2" charset="2"/>
              </a:rPr>
              <a:t>               </a:t>
            </a:r>
            <a:r>
              <a:rPr lang="zh-CN" altLang="en-US" sz="2400" dirty="0">
                <a:sym typeface="Wingdings" pitchFamily="2" charset="2"/>
              </a:rPr>
              <a:t>数据对象：</a:t>
            </a:r>
            <a:r>
              <a:rPr lang="en-US" altLang="zh-CN" sz="2400" dirty="0">
                <a:sym typeface="Wingdings" pitchFamily="2" charset="2"/>
              </a:rPr>
              <a:t>&lt;</a:t>
            </a:r>
            <a:r>
              <a:rPr lang="zh-CN" altLang="en-US" sz="2400" dirty="0">
                <a:sym typeface="Wingdings" pitchFamily="2" charset="2"/>
              </a:rPr>
              <a:t>数据对象的定义</a:t>
            </a:r>
            <a:r>
              <a:rPr lang="en-US" altLang="zh-CN" sz="2400" dirty="0">
                <a:sym typeface="Wingdings" pitchFamily="2" charset="2"/>
              </a:rPr>
              <a:t>&gt;</a:t>
            </a:r>
          </a:p>
          <a:p>
            <a:pPr>
              <a:buNone/>
            </a:pPr>
            <a:r>
              <a:rPr lang="zh-CN" altLang="en-US" sz="2400" dirty="0">
                <a:sym typeface="Wingdings" pitchFamily="2" charset="2"/>
              </a:rPr>
              <a:t>               数据关系：</a:t>
            </a:r>
            <a:r>
              <a:rPr lang="en-US" altLang="zh-CN" sz="2400" dirty="0">
                <a:sym typeface="Wingdings" pitchFamily="2" charset="2"/>
              </a:rPr>
              <a:t>&lt;</a:t>
            </a:r>
            <a:r>
              <a:rPr lang="zh-CN" altLang="en-US" sz="2400" dirty="0">
                <a:sym typeface="Wingdings" pitchFamily="2" charset="2"/>
              </a:rPr>
              <a:t>数据关系的定义</a:t>
            </a:r>
            <a:r>
              <a:rPr lang="en-US" altLang="zh-CN" sz="2400" dirty="0">
                <a:sym typeface="Wingdings" pitchFamily="2" charset="2"/>
              </a:rPr>
              <a:t>&gt;</a:t>
            </a:r>
          </a:p>
          <a:p>
            <a:pPr>
              <a:buNone/>
            </a:pPr>
            <a:r>
              <a:rPr lang="zh-CN" altLang="en-US" sz="2400" dirty="0">
                <a:sym typeface="Wingdings" pitchFamily="2" charset="2"/>
              </a:rPr>
              <a:t>               基本操作：</a:t>
            </a:r>
            <a:r>
              <a:rPr lang="en-US" altLang="zh-CN" sz="2400" dirty="0">
                <a:sym typeface="Wingdings" pitchFamily="2" charset="2"/>
              </a:rPr>
              <a:t>&lt;</a:t>
            </a:r>
            <a:r>
              <a:rPr lang="zh-CN" altLang="en-US" sz="2400" dirty="0">
                <a:sym typeface="Wingdings" pitchFamily="2" charset="2"/>
              </a:rPr>
              <a:t>基本操作的定义</a:t>
            </a:r>
            <a:r>
              <a:rPr lang="en-US" altLang="zh-CN" sz="2400" dirty="0">
                <a:sym typeface="Wingdings" pitchFamily="2" charset="2"/>
              </a:rPr>
              <a:t>&gt;</a:t>
            </a:r>
          </a:p>
          <a:p>
            <a:pPr>
              <a:buNone/>
            </a:pPr>
            <a:r>
              <a:rPr lang="en-US" altLang="zh-CN" sz="2400" dirty="0">
                <a:sym typeface="Wingdings" pitchFamily="2" charset="2"/>
              </a:rPr>
              <a:t>     } ADT  </a:t>
            </a:r>
            <a:r>
              <a:rPr lang="zh-CN" altLang="en-US" sz="2400" dirty="0">
                <a:sym typeface="Wingdings" pitchFamily="2" charset="2"/>
              </a:rPr>
              <a:t>抽象数据类型名</a:t>
            </a:r>
            <a:endParaRPr lang="en-US" altLang="zh-CN" sz="2400" dirty="0">
              <a:sym typeface="Wingdings" pitchFamily="2" charset="2"/>
            </a:endParaRPr>
          </a:p>
          <a:p>
            <a:pPr>
              <a:buNone/>
            </a:pPr>
            <a:r>
              <a:rPr lang="en-US" altLang="zh-CN" sz="2400" dirty="0"/>
              <a:t>             </a:t>
            </a:r>
            <a:r>
              <a:rPr lang="zh-CN" altLang="en-US" sz="2400" dirty="0"/>
              <a:t>其中，数据对象和数据关系的定义用伪码描述，基本操作的定义格式为：</a:t>
            </a:r>
            <a:endParaRPr lang="en-US" altLang="zh-CN" sz="2400" dirty="0"/>
          </a:p>
          <a:p>
            <a:pPr>
              <a:buNone/>
            </a:pPr>
            <a:r>
              <a:rPr lang="en-US" altLang="zh-CN" sz="2400" dirty="0"/>
              <a:t>     </a:t>
            </a:r>
            <a:r>
              <a:rPr lang="zh-CN" altLang="en-US" sz="2400" dirty="0"/>
              <a:t>基本操作名</a:t>
            </a:r>
            <a:r>
              <a:rPr lang="en-US" altLang="zh-CN" sz="2400" dirty="0"/>
              <a:t>(</a:t>
            </a:r>
            <a:r>
              <a:rPr lang="zh-CN" altLang="en-US" sz="2400" dirty="0"/>
              <a:t>参数表</a:t>
            </a:r>
            <a:r>
              <a:rPr lang="en-US" altLang="zh-CN" sz="2400" dirty="0"/>
              <a:t>)</a:t>
            </a:r>
          </a:p>
          <a:p>
            <a:pPr>
              <a:buNone/>
            </a:pPr>
            <a:r>
              <a:rPr lang="en-US" altLang="zh-CN" sz="2400" dirty="0"/>
              <a:t>              </a:t>
            </a:r>
            <a:r>
              <a:rPr lang="zh-CN" altLang="en-US" sz="2400" dirty="0"/>
              <a:t>初始条件：</a:t>
            </a:r>
            <a:r>
              <a:rPr lang="en-US" altLang="zh-CN" sz="2400" dirty="0"/>
              <a:t>&lt;</a:t>
            </a:r>
            <a:r>
              <a:rPr lang="zh-CN" altLang="en-US" sz="2400" dirty="0"/>
              <a:t>初始条件描述</a:t>
            </a:r>
            <a:r>
              <a:rPr lang="en-US" altLang="zh-CN" sz="2400" dirty="0"/>
              <a:t>&gt;</a:t>
            </a:r>
            <a:br>
              <a:rPr lang="en-US" altLang="zh-CN" sz="2400" dirty="0"/>
            </a:br>
            <a:r>
              <a:rPr lang="en-US" altLang="zh-CN" sz="2400" dirty="0"/>
              <a:t>         </a:t>
            </a:r>
            <a:r>
              <a:rPr lang="zh-CN" altLang="en-US" sz="2400" dirty="0"/>
              <a:t>操作结果：</a:t>
            </a:r>
            <a:r>
              <a:rPr lang="en-US" altLang="zh-CN" sz="2400" dirty="0"/>
              <a:t>&lt;</a:t>
            </a:r>
            <a:r>
              <a:rPr lang="zh-CN" altLang="en-US" sz="2400" dirty="0"/>
              <a:t>操作结果描述</a:t>
            </a:r>
            <a:r>
              <a:rPr lang="en-US" altLang="zh-CN" sz="2400" dirty="0"/>
              <a:t>&gt;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一个例子</a:t>
            </a:r>
            <a:r>
              <a:rPr lang="en-US" altLang="zh-CN" dirty="0"/>
              <a:t>---</a:t>
            </a:r>
            <a:r>
              <a:rPr lang="zh-CN" altLang="en-US" dirty="0"/>
              <a:t>二元组的定义</a:t>
            </a:r>
          </a:p>
        </p:txBody>
      </p:sp>
      <p:sp>
        <p:nvSpPr>
          <p:cNvPr id="4" name="Rectangle 3"/>
          <p:cNvSpPr txBox="1">
            <a:spLocks noChangeArrowheads="1"/>
          </p:cNvSpPr>
          <p:nvPr/>
        </p:nvSpPr>
        <p:spPr>
          <a:xfrm>
            <a:off x="2208214" y="1412777"/>
            <a:ext cx="8270875" cy="4719737"/>
          </a:xfrm>
          <a:prstGeom prst="rect">
            <a:avLst/>
          </a:prstGeom>
        </p:spPr>
        <p:txBody>
          <a:bodyPr vert="horz" lIns="91440" tIns="45720" rIns="91440" bIns="45720" rtlCol="0">
            <a:normAutofit lnSpcReduction="10000"/>
          </a:bodyPr>
          <a:lstStyle/>
          <a:p>
            <a:pPr marL="342900" indent="-342900">
              <a:lnSpc>
                <a:spcPct val="90000"/>
              </a:lnSpc>
              <a:spcBef>
                <a:spcPct val="20000"/>
              </a:spcBef>
              <a:defRPr/>
            </a:pPr>
            <a:r>
              <a:rPr lang="en-US" altLang="zh-CN" sz="3200" dirty="0"/>
              <a:t>ADT Compare{</a:t>
            </a:r>
          </a:p>
          <a:p>
            <a:pPr marL="342900" indent="-342900">
              <a:lnSpc>
                <a:spcPct val="90000"/>
              </a:lnSpc>
              <a:spcBef>
                <a:spcPct val="20000"/>
              </a:spcBef>
              <a:defRPr/>
            </a:pPr>
            <a:r>
              <a:rPr lang="en-US" altLang="zh-CN" sz="2400" dirty="0"/>
              <a:t>     </a:t>
            </a:r>
            <a:r>
              <a:rPr lang="zh-CN" altLang="en-US" sz="2400" dirty="0"/>
              <a:t>数据对象：</a:t>
            </a:r>
            <a:r>
              <a:rPr lang="en-US" altLang="zh-CN" sz="2400" dirty="0"/>
              <a:t>D={e1,e2| e1,e2</a:t>
            </a:r>
            <a:r>
              <a:rPr lang="zh-CN" altLang="en-US" sz="2400" dirty="0"/>
              <a:t>为可比较的同类型的元素</a:t>
            </a:r>
            <a:r>
              <a:rPr lang="en-US" altLang="zh-CN" sz="2400" dirty="0"/>
              <a:t>}</a:t>
            </a:r>
          </a:p>
          <a:p>
            <a:pPr marL="342900" indent="-342900">
              <a:lnSpc>
                <a:spcPct val="90000"/>
              </a:lnSpc>
              <a:spcBef>
                <a:spcPct val="20000"/>
              </a:spcBef>
              <a:defRPr/>
            </a:pPr>
            <a:r>
              <a:rPr lang="en-US" altLang="zh-CN" sz="2400" dirty="0"/>
              <a:t>     </a:t>
            </a:r>
            <a:r>
              <a:rPr lang="zh-CN" altLang="en-US" sz="2400" dirty="0"/>
              <a:t>数据关系：</a:t>
            </a:r>
            <a:r>
              <a:rPr lang="en-US" altLang="zh-CN" sz="2400" dirty="0"/>
              <a:t>R={&lt; e1,e2 &gt;}</a:t>
            </a:r>
          </a:p>
          <a:p>
            <a:pPr marL="342900" indent="-342900">
              <a:lnSpc>
                <a:spcPct val="90000"/>
              </a:lnSpc>
              <a:spcBef>
                <a:spcPct val="20000"/>
              </a:spcBef>
              <a:defRPr/>
            </a:pPr>
            <a:r>
              <a:rPr lang="en-US" altLang="zh-CN" sz="2400" dirty="0"/>
              <a:t>     </a:t>
            </a:r>
            <a:r>
              <a:rPr lang="zh-CN" altLang="en-US" sz="2400" dirty="0"/>
              <a:t>基本操作：</a:t>
            </a:r>
          </a:p>
          <a:p>
            <a:pPr marL="342900" indent="-342900">
              <a:lnSpc>
                <a:spcPct val="90000"/>
              </a:lnSpc>
              <a:spcBef>
                <a:spcPct val="20000"/>
              </a:spcBef>
              <a:defRPr/>
            </a:pPr>
            <a:r>
              <a:rPr lang="zh-CN" altLang="en-US" sz="2400" dirty="0"/>
              <a:t>     </a:t>
            </a:r>
            <a:r>
              <a:rPr lang="en-US" altLang="zh-CN" sz="2400" dirty="0" err="1"/>
              <a:t>InitCom</a:t>
            </a:r>
            <a:r>
              <a:rPr lang="en-US" altLang="zh-CN" sz="2400" dirty="0"/>
              <a:t>(&amp;C,ee1,ee2)</a:t>
            </a:r>
          </a:p>
          <a:p>
            <a:pPr marL="342900" indent="-342900">
              <a:lnSpc>
                <a:spcPct val="90000"/>
              </a:lnSpc>
              <a:spcBef>
                <a:spcPct val="20000"/>
              </a:spcBef>
              <a:defRPr/>
            </a:pPr>
            <a:r>
              <a:rPr lang="en-US" altLang="zh-CN" sz="2400" dirty="0"/>
              <a:t>     </a:t>
            </a:r>
            <a:r>
              <a:rPr lang="zh-CN" altLang="en-US" sz="2400" dirty="0"/>
              <a:t>操作结果：构造一个二元组</a:t>
            </a:r>
            <a:r>
              <a:rPr lang="en-US" altLang="zh-CN" sz="2400" dirty="0"/>
              <a:t>c</a:t>
            </a:r>
            <a:r>
              <a:rPr lang="zh-CN" altLang="en-US" sz="2400" dirty="0"/>
              <a:t>，元素</a:t>
            </a:r>
            <a:r>
              <a:rPr lang="en-US" altLang="zh-CN" sz="2400" dirty="0"/>
              <a:t>e1,e2</a:t>
            </a:r>
            <a:r>
              <a:rPr lang="zh-CN" altLang="en-US" sz="2400" dirty="0"/>
              <a:t>分别被赋成</a:t>
            </a:r>
            <a:r>
              <a:rPr lang="en-US" altLang="zh-CN" sz="2400" dirty="0"/>
              <a:t>ee1,ee2</a:t>
            </a:r>
            <a:r>
              <a:rPr lang="zh-CN" altLang="en-US" sz="2400" dirty="0"/>
              <a:t>。</a:t>
            </a:r>
          </a:p>
          <a:p>
            <a:pPr marL="342900" indent="-342900">
              <a:lnSpc>
                <a:spcPct val="90000"/>
              </a:lnSpc>
              <a:spcBef>
                <a:spcPct val="20000"/>
              </a:spcBef>
              <a:defRPr/>
            </a:pPr>
            <a:r>
              <a:rPr lang="zh-CN" altLang="en-US" sz="2400" dirty="0"/>
              <a:t>     </a:t>
            </a:r>
            <a:r>
              <a:rPr lang="en-US" altLang="zh-CN" sz="2400" dirty="0" err="1"/>
              <a:t>FirElemBig</a:t>
            </a:r>
            <a:r>
              <a:rPr lang="en-US" altLang="zh-CN" sz="2400" dirty="0"/>
              <a:t>(C)</a:t>
            </a:r>
          </a:p>
          <a:p>
            <a:pPr marL="342900" indent="-342900">
              <a:lnSpc>
                <a:spcPct val="90000"/>
              </a:lnSpc>
              <a:spcBef>
                <a:spcPct val="20000"/>
              </a:spcBef>
              <a:defRPr/>
            </a:pPr>
            <a:r>
              <a:rPr lang="en-US" altLang="zh-CN" sz="2400" dirty="0"/>
              <a:t>     </a:t>
            </a:r>
            <a:r>
              <a:rPr lang="zh-CN" altLang="en-US" sz="2400" dirty="0"/>
              <a:t>初始条件：二元组已经存在。</a:t>
            </a:r>
          </a:p>
          <a:p>
            <a:pPr marL="342900" indent="-342900">
              <a:lnSpc>
                <a:spcPct val="90000"/>
              </a:lnSpc>
              <a:spcBef>
                <a:spcPct val="20000"/>
              </a:spcBef>
              <a:defRPr/>
            </a:pPr>
            <a:r>
              <a:rPr lang="zh-CN" altLang="en-US" sz="2400" dirty="0"/>
              <a:t>     操作结果：如果首元素大，则返回</a:t>
            </a:r>
            <a:r>
              <a:rPr lang="en-US" altLang="zh-CN" sz="2400" dirty="0"/>
              <a:t>1</a:t>
            </a:r>
            <a:r>
              <a:rPr lang="zh-CN" altLang="en-US" sz="2400" dirty="0"/>
              <a:t>，否则返回</a:t>
            </a:r>
            <a:r>
              <a:rPr lang="en-US" altLang="zh-CN" sz="2400" dirty="0"/>
              <a:t>0</a:t>
            </a:r>
            <a:r>
              <a:rPr lang="zh-CN" altLang="en-US" sz="2400" dirty="0"/>
              <a:t>。</a:t>
            </a:r>
          </a:p>
          <a:p>
            <a:pPr marL="342900" indent="-342900">
              <a:lnSpc>
                <a:spcPct val="90000"/>
              </a:lnSpc>
              <a:spcBef>
                <a:spcPct val="20000"/>
              </a:spcBef>
              <a:defRPr/>
            </a:pPr>
            <a:r>
              <a:rPr lang="zh-CN" altLang="en-US" sz="2400" dirty="0"/>
              <a:t>     </a:t>
            </a:r>
            <a:r>
              <a:rPr lang="en-US" altLang="zh-CN" sz="2400" dirty="0"/>
              <a:t>...</a:t>
            </a:r>
          </a:p>
          <a:p>
            <a:pPr marL="342900" indent="-342900">
              <a:lnSpc>
                <a:spcPct val="90000"/>
              </a:lnSpc>
              <a:spcBef>
                <a:spcPct val="20000"/>
              </a:spcBef>
              <a:defRPr/>
            </a:pPr>
            <a:r>
              <a:rPr lang="en-US" altLang="zh-CN" sz="3200" dirty="0"/>
              <a:t>   } ADT Compare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a:t>
            </a:r>
            <a:r>
              <a:rPr lang="en-US" altLang="zh-CN" dirty="0"/>
              <a:t>C</a:t>
            </a:r>
            <a:r>
              <a:rPr lang="zh-CN" altLang="en-US" dirty="0"/>
              <a:t>语言简介</a:t>
            </a:r>
          </a:p>
        </p:txBody>
      </p:sp>
      <p:sp>
        <p:nvSpPr>
          <p:cNvPr id="3" name="内容占位符 2"/>
          <p:cNvSpPr>
            <a:spLocks noGrp="1"/>
          </p:cNvSpPr>
          <p:nvPr>
            <p:ph idx="1"/>
          </p:nvPr>
        </p:nvSpPr>
        <p:spPr/>
        <p:txBody>
          <a:bodyPr/>
          <a:lstStyle/>
          <a:p>
            <a:r>
              <a:rPr lang="zh-CN" altLang="en-US" dirty="0"/>
              <a:t>类</a:t>
            </a:r>
            <a:r>
              <a:rPr lang="en-US" altLang="zh-CN" dirty="0"/>
              <a:t>C</a:t>
            </a:r>
            <a:r>
              <a:rPr lang="zh-CN" altLang="en-US" dirty="0"/>
              <a:t>就是一种新的语言，跟</a:t>
            </a:r>
            <a:r>
              <a:rPr lang="en-US" altLang="zh-CN" dirty="0"/>
              <a:t>C</a:t>
            </a:r>
            <a:r>
              <a:rPr lang="zh-CN" altLang="en-US" dirty="0"/>
              <a:t>语言很类似，但是现在没有一个编译器支持它。</a:t>
            </a:r>
            <a:endParaRPr lang="en-US" altLang="zh-CN" dirty="0"/>
          </a:p>
          <a:p>
            <a:r>
              <a:rPr lang="en-US" altLang="zh-CN" dirty="0"/>
              <a:t>&amp;</a:t>
            </a:r>
            <a:r>
              <a:rPr lang="zh-CN" altLang="en-US" dirty="0"/>
              <a:t>操作符</a:t>
            </a:r>
            <a:endParaRPr lang="en-US" altLang="zh-CN" dirty="0"/>
          </a:p>
          <a:p>
            <a:r>
              <a:rPr lang="zh-CN" altLang="en-US" dirty="0"/>
              <a:t>预定义常量和类型等</a:t>
            </a:r>
            <a:endParaRPr lang="en-US" altLang="zh-CN" dirty="0"/>
          </a:p>
          <a:p>
            <a:r>
              <a:rPr lang="en-US" altLang="zh-CN" dirty="0"/>
              <a:t>P10.</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抽象数据类型的表示</a:t>
            </a:r>
          </a:p>
        </p:txBody>
      </p:sp>
      <p:sp>
        <p:nvSpPr>
          <p:cNvPr id="3" name="内容占位符 2"/>
          <p:cNvSpPr>
            <a:spLocks noGrp="1"/>
          </p:cNvSpPr>
          <p:nvPr>
            <p:ph idx="1"/>
          </p:nvPr>
        </p:nvSpPr>
        <p:spPr/>
        <p:txBody>
          <a:bodyPr>
            <a:normAutofit lnSpcReduction="10000"/>
          </a:bodyPr>
          <a:lstStyle/>
          <a:p>
            <a:r>
              <a:rPr lang="zh-CN" altLang="en-US" sz="2400" dirty="0"/>
              <a:t>抽象数据类型的表示就是要将该类型映射到计算机中，也就是确定抽象数据类型的存储结构以及给出基于该结构之上的基本操作的函数原型。</a:t>
            </a:r>
            <a:endParaRPr lang="en-US" altLang="zh-CN" sz="2400" dirty="0"/>
          </a:p>
          <a:p>
            <a:r>
              <a:rPr lang="zh-CN" altLang="en-US" sz="2400" dirty="0"/>
              <a:t>例子</a:t>
            </a:r>
            <a:endParaRPr lang="en-US" altLang="zh-CN" sz="2400" dirty="0"/>
          </a:p>
          <a:p>
            <a:pPr>
              <a:buNone/>
            </a:pPr>
            <a:r>
              <a:rPr lang="en-US" altLang="zh-CN" sz="2400" dirty="0"/>
              <a:t>       typedef  int   </a:t>
            </a:r>
            <a:r>
              <a:rPr lang="en-US" altLang="zh-CN" sz="2400" dirty="0" err="1"/>
              <a:t>ElemType</a:t>
            </a:r>
            <a:r>
              <a:rPr lang="en-US" altLang="zh-CN" sz="2400" dirty="0"/>
              <a:t>; //</a:t>
            </a:r>
            <a:r>
              <a:rPr lang="zh-CN" altLang="en-US" sz="2400" dirty="0"/>
              <a:t>整型元组</a:t>
            </a:r>
            <a:endParaRPr lang="en-US" altLang="zh-CN" sz="2400" dirty="0"/>
          </a:p>
          <a:p>
            <a:pPr>
              <a:buNone/>
            </a:pPr>
            <a:r>
              <a:rPr lang="en-US" altLang="zh-CN" sz="2400" dirty="0"/>
              <a:t>       </a:t>
            </a:r>
            <a:r>
              <a:rPr lang="en-US" altLang="zh-CN" sz="2400" dirty="0" err="1"/>
              <a:t>typedef</a:t>
            </a:r>
            <a:r>
              <a:rPr lang="en-US" altLang="zh-CN" sz="2400" dirty="0"/>
              <a:t>  </a:t>
            </a:r>
            <a:r>
              <a:rPr lang="en-US" altLang="zh-CN" sz="2400" dirty="0" err="1"/>
              <a:t>ElemType</a:t>
            </a:r>
            <a:r>
              <a:rPr lang="en-US" altLang="zh-CN" sz="2400" dirty="0"/>
              <a:t>  * Compare; //</a:t>
            </a:r>
            <a:r>
              <a:rPr lang="zh-CN" altLang="en-US" sz="2400" dirty="0"/>
              <a:t>动态顺序存储结构</a:t>
            </a:r>
            <a:endParaRPr lang="en-US" altLang="zh-CN" sz="2400" dirty="0"/>
          </a:p>
          <a:p>
            <a:pPr>
              <a:buNone/>
            </a:pPr>
            <a:r>
              <a:rPr lang="en-US" altLang="zh-CN" sz="2400" dirty="0"/>
              <a:t>       //</a:t>
            </a:r>
            <a:r>
              <a:rPr lang="zh-CN" altLang="en-US" sz="2400" dirty="0"/>
              <a:t>初始化二元组</a:t>
            </a:r>
            <a:endParaRPr lang="en-US" altLang="zh-CN" sz="2400" dirty="0"/>
          </a:p>
          <a:p>
            <a:pPr>
              <a:buNone/>
            </a:pPr>
            <a:r>
              <a:rPr lang="en-US" altLang="zh-CN" sz="2400" dirty="0"/>
              <a:t>      </a:t>
            </a:r>
            <a:r>
              <a:rPr lang="zh-CN" altLang="en-US" sz="2400" dirty="0"/>
              <a:t> </a:t>
            </a:r>
            <a:r>
              <a:rPr lang="en-US" altLang="zh-CN" sz="2400" dirty="0" err="1"/>
              <a:t>InitCom</a:t>
            </a:r>
            <a:r>
              <a:rPr lang="en-US" altLang="zh-CN" sz="2400" dirty="0"/>
              <a:t>(Compare  &amp;C, </a:t>
            </a:r>
            <a:r>
              <a:rPr lang="en-US" altLang="zh-CN" sz="2400" dirty="0" err="1"/>
              <a:t>ElemType</a:t>
            </a:r>
            <a:r>
              <a:rPr lang="en-US" altLang="zh-CN" sz="2400" dirty="0"/>
              <a:t>  ee1, </a:t>
            </a:r>
            <a:r>
              <a:rPr lang="en-US" altLang="zh-CN" sz="2400" dirty="0" err="1"/>
              <a:t>ElemType</a:t>
            </a:r>
            <a:r>
              <a:rPr lang="en-US" altLang="zh-CN" sz="2400" dirty="0"/>
              <a:t>  ee2)</a:t>
            </a:r>
          </a:p>
          <a:p>
            <a:pPr>
              <a:buNone/>
            </a:pPr>
            <a:endParaRPr lang="en-US" altLang="zh-CN" sz="2400" dirty="0"/>
          </a:p>
          <a:p>
            <a:pPr>
              <a:buNone/>
            </a:pPr>
            <a:r>
              <a:rPr lang="en-US" altLang="zh-CN" sz="2400" dirty="0"/>
              <a:t>       //</a:t>
            </a:r>
            <a:r>
              <a:rPr lang="zh-CN" altLang="en-US" sz="2400" dirty="0"/>
              <a:t>判断二元组的首元素是否比次元素大</a:t>
            </a:r>
            <a:endParaRPr lang="en-US" altLang="zh-CN" sz="2400" dirty="0"/>
          </a:p>
          <a:p>
            <a:pPr>
              <a:buNone/>
            </a:pPr>
            <a:r>
              <a:rPr lang="en-US" altLang="zh-CN" sz="2400" dirty="0"/>
              <a:t>       </a:t>
            </a:r>
            <a:r>
              <a:rPr lang="en-US" altLang="zh-CN" sz="2400" dirty="0" err="1"/>
              <a:t>FirElemBig</a:t>
            </a:r>
            <a:r>
              <a:rPr lang="en-US" altLang="zh-CN" sz="2400" dirty="0"/>
              <a:t>(Compare  C)</a:t>
            </a:r>
          </a:p>
          <a:p>
            <a:pPr>
              <a:buNone/>
            </a:pPr>
            <a:r>
              <a:rPr lang="en-US" altLang="zh-CN" sz="2400" dirty="0"/>
              <a:t>       ……</a:t>
            </a:r>
            <a:endParaRPr lang="zh-CN" alt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抽象数据类型的实现</a:t>
            </a:r>
          </a:p>
        </p:txBody>
      </p:sp>
      <p:sp>
        <p:nvSpPr>
          <p:cNvPr id="3" name="内容占位符 2"/>
          <p:cNvSpPr>
            <a:spLocks noGrp="1"/>
          </p:cNvSpPr>
          <p:nvPr>
            <p:ph idx="1"/>
          </p:nvPr>
        </p:nvSpPr>
        <p:spPr>
          <a:xfrm>
            <a:off x="1775520" y="1340768"/>
            <a:ext cx="8686800" cy="5517232"/>
          </a:xfrm>
        </p:spPr>
        <p:txBody>
          <a:bodyPr>
            <a:normAutofit fontScale="77500" lnSpcReduction="20000"/>
          </a:bodyPr>
          <a:lstStyle/>
          <a:p>
            <a:r>
              <a:rPr lang="zh-CN" altLang="en-US" sz="2800" dirty="0"/>
              <a:t>抽象数据类型的实现就是基于特定存储结构之上的基本操作的实现。</a:t>
            </a:r>
            <a:endParaRPr lang="en-US" altLang="zh-CN" sz="2800" dirty="0"/>
          </a:p>
          <a:p>
            <a:endParaRPr lang="en-US" altLang="zh-CN" sz="2800" dirty="0"/>
          </a:p>
          <a:p>
            <a:r>
              <a:rPr lang="zh-CN" altLang="en-US" sz="2400" dirty="0"/>
              <a:t>例子</a:t>
            </a:r>
            <a:endParaRPr lang="en-US" altLang="zh-CN" sz="2400" dirty="0"/>
          </a:p>
          <a:p>
            <a:pPr>
              <a:buNone/>
            </a:pPr>
            <a:r>
              <a:rPr lang="en-US" altLang="zh-CN" sz="2400" dirty="0"/>
              <a:t>       //</a:t>
            </a:r>
            <a:r>
              <a:rPr lang="zh-CN" altLang="en-US" sz="2400" dirty="0"/>
              <a:t>初始化二元组</a:t>
            </a:r>
            <a:endParaRPr lang="en-US" altLang="zh-CN" sz="2400" dirty="0"/>
          </a:p>
          <a:p>
            <a:pPr>
              <a:buNone/>
            </a:pPr>
            <a:r>
              <a:rPr lang="en-US" altLang="zh-CN" sz="2400" dirty="0"/>
              <a:t>       Status</a:t>
            </a:r>
            <a:r>
              <a:rPr lang="zh-CN" altLang="en-US" sz="2400" dirty="0"/>
              <a:t> </a:t>
            </a:r>
            <a:r>
              <a:rPr lang="en-US" altLang="zh-CN" sz="2400" dirty="0" err="1"/>
              <a:t>InitCom</a:t>
            </a:r>
            <a:r>
              <a:rPr lang="en-US" altLang="zh-CN" sz="2400" dirty="0"/>
              <a:t>(Compare  &amp;C, </a:t>
            </a:r>
            <a:r>
              <a:rPr lang="en-US" altLang="zh-CN" sz="2400" dirty="0" err="1"/>
              <a:t>ElemType</a:t>
            </a:r>
            <a:r>
              <a:rPr lang="en-US" altLang="zh-CN" sz="2400" dirty="0"/>
              <a:t>  ee1, </a:t>
            </a:r>
            <a:r>
              <a:rPr lang="en-US" altLang="zh-CN" sz="2400" dirty="0" err="1"/>
              <a:t>ElemType</a:t>
            </a:r>
            <a:r>
              <a:rPr lang="en-US" altLang="zh-CN" sz="2400" dirty="0"/>
              <a:t>  ee2)</a:t>
            </a:r>
          </a:p>
          <a:p>
            <a:pPr>
              <a:buNone/>
            </a:pPr>
            <a:r>
              <a:rPr lang="en-US" altLang="zh-CN" sz="2400" dirty="0"/>
              <a:t>        {</a:t>
            </a:r>
          </a:p>
          <a:p>
            <a:pPr>
              <a:buNone/>
            </a:pPr>
            <a:r>
              <a:rPr lang="en-US" altLang="zh-CN" sz="2400" dirty="0"/>
              <a:t>               C = (</a:t>
            </a:r>
            <a:r>
              <a:rPr lang="en-US" altLang="zh-CN" sz="2400" dirty="0" err="1"/>
              <a:t>ElemType</a:t>
            </a:r>
            <a:r>
              <a:rPr lang="en-US" altLang="zh-CN" sz="2400" dirty="0"/>
              <a:t> *)</a:t>
            </a:r>
            <a:r>
              <a:rPr lang="en-US" altLang="zh-CN" sz="2400" dirty="0" err="1"/>
              <a:t>malloc</a:t>
            </a:r>
            <a:r>
              <a:rPr lang="en-US" altLang="zh-CN" sz="2400" dirty="0"/>
              <a:t>(2*</a:t>
            </a:r>
            <a:r>
              <a:rPr lang="en-US" altLang="zh-CN" sz="2400" dirty="0" err="1"/>
              <a:t>sizeof</a:t>
            </a:r>
            <a:r>
              <a:rPr lang="en-US" altLang="zh-CN" sz="2400" dirty="0"/>
              <a:t>(</a:t>
            </a:r>
            <a:r>
              <a:rPr lang="en-US" altLang="zh-CN" sz="2400" dirty="0" err="1"/>
              <a:t>ElemType</a:t>
            </a:r>
            <a:r>
              <a:rPr lang="en-US" altLang="zh-CN" sz="2400" dirty="0"/>
              <a:t>));</a:t>
            </a:r>
          </a:p>
          <a:p>
            <a:pPr>
              <a:buNone/>
            </a:pPr>
            <a:r>
              <a:rPr lang="en-US" altLang="zh-CN" sz="2400" dirty="0"/>
              <a:t>               if(!C) exit (OVERFLOW);</a:t>
            </a:r>
          </a:p>
          <a:p>
            <a:pPr>
              <a:buNone/>
            </a:pPr>
            <a:r>
              <a:rPr lang="en-US" altLang="zh-CN" sz="2400" dirty="0"/>
              <a:t>                C[0] = ee1;  C[1] = ee2;</a:t>
            </a:r>
          </a:p>
          <a:p>
            <a:pPr>
              <a:buNone/>
            </a:pPr>
            <a:r>
              <a:rPr lang="en-US" altLang="zh-CN" sz="2400" dirty="0"/>
              <a:t>                return OK;</a:t>
            </a:r>
          </a:p>
          <a:p>
            <a:pPr>
              <a:buNone/>
            </a:pPr>
            <a:r>
              <a:rPr lang="en-US" altLang="zh-CN" sz="2400" dirty="0"/>
              <a:t>        }</a:t>
            </a:r>
          </a:p>
          <a:p>
            <a:pPr>
              <a:buNone/>
            </a:pPr>
            <a:endParaRPr lang="en-US" altLang="zh-CN" sz="2400" dirty="0"/>
          </a:p>
          <a:p>
            <a:pPr>
              <a:buNone/>
            </a:pPr>
            <a:r>
              <a:rPr lang="en-US" altLang="zh-CN" sz="2400" dirty="0"/>
              <a:t>        //</a:t>
            </a:r>
            <a:r>
              <a:rPr lang="zh-CN" altLang="en-US" sz="2400" dirty="0"/>
              <a:t>判断二元组的首元素是否大</a:t>
            </a:r>
            <a:endParaRPr lang="en-US" altLang="zh-CN" sz="2400" dirty="0"/>
          </a:p>
          <a:p>
            <a:pPr>
              <a:buNone/>
            </a:pPr>
            <a:r>
              <a:rPr lang="en-US" altLang="zh-CN" sz="2400" dirty="0"/>
              <a:t>       Status </a:t>
            </a:r>
            <a:r>
              <a:rPr lang="en-US" altLang="zh-CN" sz="2400" dirty="0" err="1"/>
              <a:t>FirElemBig</a:t>
            </a:r>
            <a:r>
              <a:rPr lang="en-US" altLang="zh-CN" sz="2400" dirty="0"/>
              <a:t>(Compare  C)</a:t>
            </a:r>
          </a:p>
          <a:p>
            <a:pPr>
              <a:buNone/>
            </a:pPr>
            <a:r>
              <a:rPr lang="en-US" altLang="zh-CN" sz="2400" dirty="0"/>
              <a:t>       {</a:t>
            </a:r>
          </a:p>
          <a:p>
            <a:pPr>
              <a:buNone/>
            </a:pPr>
            <a:r>
              <a:rPr lang="en-US" altLang="zh-CN" sz="2400" dirty="0"/>
              <a:t>                 if(C[0] &gt; C[1])  return  TRUE;</a:t>
            </a:r>
          </a:p>
          <a:p>
            <a:pPr>
              <a:buNone/>
            </a:pPr>
            <a:r>
              <a:rPr lang="en-US" altLang="zh-CN" sz="2400" dirty="0"/>
              <a:t>                 else  return  FALSE;</a:t>
            </a:r>
          </a:p>
          <a:p>
            <a:pPr>
              <a:buNone/>
            </a:pPr>
            <a:r>
              <a:rPr lang="en-US" altLang="zh-CN" sz="2400" dirty="0"/>
              <a:t>       }</a:t>
            </a:r>
            <a:endParaRPr lang="zh-CN"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a:t>
            </a:r>
          </a:p>
        </p:txBody>
      </p:sp>
      <p:sp>
        <p:nvSpPr>
          <p:cNvPr id="3" name="内容占位符 2"/>
          <p:cNvSpPr>
            <a:spLocks noGrp="1"/>
          </p:cNvSpPr>
          <p:nvPr>
            <p:ph idx="1"/>
          </p:nvPr>
        </p:nvSpPr>
        <p:spPr/>
        <p:txBody>
          <a:bodyPr/>
          <a:lstStyle/>
          <a:p>
            <a:r>
              <a:rPr lang="zh-CN" altLang="en-US" dirty="0"/>
              <a:t>矩形抽象数据类型的定义？</a:t>
            </a:r>
            <a:endParaRPr lang="en-US" altLang="zh-CN" dirty="0"/>
          </a:p>
          <a:p>
            <a:r>
              <a:rPr lang="zh-CN" altLang="en-US" dirty="0"/>
              <a:t>矩形抽象数据类型的表示？</a:t>
            </a:r>
            <a:endParaRPr lang="en-US" altLang="zh-CN" dirty="0"/>
          </a:p>
          <a:p>
            <a:r>
              <a:rPr lang="zh-CN" altLang="en-US" dirty="0"/>
              <a:t>矩形抽象数据类型的实现？</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Rectangle 2"/>
          <p:cNvSpPr>
            <a:spLocks noGrp="1" noChangeArrowheads="1"/>
          </p:cNvSpPr>
          <p:nvPr>
            <p:ph type="title" idx="4294967295"/>
          </p:nvPr>
        </p:nvSpPr>
        <p:spPr>
          <a:xfrm>
            <a:off x="1981200" y="549275"/>
            <a:ext cx="8229600" cy="935038"/>
          </a:xfrm>
        </p:spPr>
        <p:txBody>
          <a:bodyPr anchor="b"/>
          <a:lstStyle/>
          <a:p>
            <a:r>
              <a:rPr lang="zh-CN" altLang="en-US" sz="2800" b="1" dirty="0">
                <a:latin typeface="楷体_GB2312" pitchFamily="49" charset="-122"/>
                <a:ea typeface="楷体_GB2312" pitchFamily="49" charset="-122"/>
              </a:rPr>
              <a:t>抽象数据类型矩形的定义</a:t>
            </a:r>
          </a:p>
        </p:txBody>
      </p:sp>
      <p:sp>
        <p:nvSpPr>
          <p:cNvPr id="256004" name="Rectangle 3"/>
          <p:cNvSpPr>
            <a:spLocks noGrp="1" noChangeArrowheads="1"/>
          </p:cNvSpPr>
          <p:nvPr>
            <p:ph type="body" idx="4294967295"/>
          </p:nvPr>
        </p:nvSpPr>
        <p:spPr>
          <a:xfrm>
            <a:off x="2208214" y="1844676"/>
            <a:ext cx="8270875" cy="4321175"/>
          </a:xfrm>
        </p:spPr>
        <p:txBody>
          <a:bodyPr>
            <a:normAutofit lnSpcReduction="10000"/>
          </a:bodyPr>
          <a:lstStyle/>
          <a:p>
            <a:pPr>
              <a:lnSpc>
                <a:spcPct val="80000"/>
              </a:lnSpc>
              <a:buFont typeface="Wingdings" pitchFamily="2" charset="2"/>
              <a:buNone/>
            </a:pPr>
            <a:r>
              <a:rPr lang="en-US" altLang="zh-CN" sz="2000" dirty="0"/>
              <a:t>ADT Rectangle {</a:t>
            </a:r>
          </a:p>
          <a:p>
            <a:pPr>
              <a:lnSpc>
                <a:spcPct val="80000"/>
              </a:lnSpc>
              <a:buFont typeface="Wingdings" pitchFamily="2" charset="2"/>
              <a:buNone/>
            </a:pPr>
            <a:r>
              <a:rPr lang="en-US" altLang="zh-CN" sz="2000" dirty="0"/>
              <a:t> 	</a:t>
            </a:r>
            <a:r>
              <a:rPr lang="zh-CN" altLang="en-US" sz="2000" dirty="0"/>
              <a:t>数据对象： </a:t>
            </a:r>
            <a:r>
              <a:rPr lang="en-US" altLang="zh-CN" sz="2000" dirty="0"/>
              <a:t>length//</a:t>
            </a:r>
            <a:r>
              <a:rPr lang="zh-CN" altLang="en-US" sz="2000" dirty="0"/>
              <a:t>非负实数，表示矩形的长；</a:t>
            </a:r>
          </a:p>
          <a:p>
            <a:pPr>
              <a:lnSpc>
                <a:spcPct val="80000"/>
              </a:lnSpc>
              <a:buFont typeface="Wingdings" pitchFamily="2" charset="2"/>
              <a:buNone/>
            </a:pPr>
            <a:r>
              <a:rPr lang="zh-CN" altLang="en-US" sz="2000" dirty="0"/>
              <a:t>                         </a:t>
            </a:r>
            <a:r>
              <a:rPr lang="en-US" altLang="zh-CN" sz="2000" dirty="0"/>
              <a:t>width//</a:t>
            </a:r>
            <a:r>
              <a:rPr lang="zh-CN" altLang="en-US" sz="2000" dirty="0"/>
              <a:t>非负实数，表示矩形的宽；</a:t>
            </a:r>
          </a:p>
          <a:p>
            <a:pPr>
              <a:lnSpc>
                <a:spcPct val="80000"/>
              </a:lnSpc>
              <a:buFont typeface="Wingdings" pitchFamily="2" charset="2"/>
              <a:buNone/>
            </a:pPr>
            <a:r>
              <a:rPr lang="zh-CN" altLang="en-US" sz="2000" dirty="0"/>
              <a:t>      数据关系： 无</a:t>
            </a:r>
          </a:p>
          <a:p>
            <a:pPr>
              <a:lnSpc>
                <a:spcPct val="80000"/>
              </a:lnSpc>
              <a:buFont typeface="Wingdings" pitchFamily="2" charset="2"/>
              <a:buNone/>
            </a:pPr>
            <a:r>
              <a:rPr lang="zh-CN" altLang="en-US" sz="2000" dirty="0"/>
              <a:t>	基本操作：</a:t>
            </a:r>
          </a:p>
          <a:p>
            <a:pPr>
              <a:lnSpc>
                <a:spcPct val="80000"/>
              </a:lnSpc>
              <a:buFont typeface="Wingdings" pitchFamily="2" charset="2"/>
              <a:buNone/>
            </a:pPr>
            <a:r>
              <a:rPr lang="zh-CN" altLang="en-US" sz="2000" dirty="0"/>
              <a:t> 		        </a:t>
            </a:r>
            <a:r>
              <a:rPr lang="en-US" altLang="zh-CN" sz="2000" dirty="0"/>
              <a:t>Init( &amp;R, length</a:t>
            </a:r>
            <a:r>
              <a:rPr lang="zh-CN" altLang="en-US" sz="2000" dirty="0"/>
              <a:t>，</a:t>
            </a:r>
            <a:r>
              <a:rPr lang="en-US" altLang="zh-CN" sz="2000" dirty="0"/>
              <a:t>width )</a:t>
            </a:r>
          </a:p>
          <a:p>
            <a:pPr>
              <a:lnSpc>
                <a:spcPct val="80000"/>
              </a:lnSpc>
              <a:buFont typeface="Wingdings" pitchFamily="2" charset="2"/>
              <a:buNone/>
            </a:pPr>
            <a:r>
              <a:rPr lang="en-US" altLang="zh-CN" sz="2000" dirty="0"/>
              <a:t>  		</a:t>
            </a:r>
            <a:r>
              <a:rPr lang="zh-CN" altLang="en-US" sz="2000" dirty="0"/>
              <a:t>　         初始条件：无</a:t>
            </a:r>
          </a:p>
          <a:p>
            <a:pPr>
              <a:lnSpc>
                <a:spcPct val="80000"/>
              </a:lnSpc>
              <a:buFont typeface="Wingdings" pitchFamily="2" charset="2"/>
              <a:buNone/>
            </a:pPr>
            <a:r>
              <a:rPr lang="zh-CN" altLang="en-US" sz="2000" dirty="0"/>
              <a:t>                       　操作结果：将矩形</a:t>
            </a:r>
            <a:r>
              <a:rPr lang="en-US" altLang="zh-CN" sz="2000" dirty="0"/>
              <a:t>R</a:t>
            </a:r>
            <a:r>
              <a:rPr lang="zh-CN" altLang="en-US" sz="2000" dirty="0"/>
              <a:t>的长和宽初始化成</a:t>
            </a:r>
            <a:r>
              <a:rPr lang="en-US" altLang="zh-CN" sz="2000" dirty="0"/>
              <a:t>length</a:t>
            </a:r>
            <a:r>
              <a:rPr lang="zh-CN" altLang="en-US" sz="2000" dirty="0"/>
              <a:t>和</a:t>
            </a:r>
            <a:r>
              <a:rPr lang="en-US" altLang="zh-CN" sz="2000" dirty="0"/>
              <a:t>width</a:t>
            </a:r>
          </a:p>
          <a:p>
            <a:pPr>
              <a:lnSpc>
                <a:spcPct val="80000"/>
              </a:lnSpc>
              <a:buFont typeface="Wingdings" pitchFamily="2" charset="2"/>
              <a:buNone/>
            </a:pPr>
            <a:r>
              <a:rPr lang="en-US" altLang="zh-CN" sz="2000" dirty="0"/>
              <a:t>       	        Area( R)</a:t>
            </a:r>
          </a:p>
          <a:p>
            <a:pPr>
              <a:lnSpc>
                <a:spcPct val="80000"/>
              </a:lnSpc>
              <a:buFont typeface="Wingdings" pitchFamily="2" charset="2"/>
              <a:buNone/>
            </a:pPr>
            <a:r>
              <a:rPr lang="en-US" altLang="zh-CN" sz="2000" dirty="0"/>
              <a:t>		</a:t>
            </a:r>
            <a:r>
              <a:rPr lang="zh-CN" altLang="en-US" sz="2000" dirty="0"/>
              <a:t>　         初始条件：矩形</a:t>
            </a:r>
            <a:r>
              <a:rPr lang="en-US" altLang="zh-CN" sz="2000" dirty="0"/>
              <a:t>R</a:t>
            </a:r>
            <a:r>
              <a:rPr lang="zh-CN" altLang="en-US" sz="2000" dirty="0"/>
              <a:t>存在</a:t>
            </a:r>
          </a:p>
          <a:p>
            <a:pPr>
              <a:lnSpc>
                <a:spcPct val="80000"/>
              </a:lnSpc>
              <a:buFont typeface="Wingdings" pitchFamily="2" charset="2"/>
              <a:buNone/>
            </a:pPr>
            <a:r>
              <a:rPr lang="zh-CN" altLang="en-US" sz="2000" dirty="0"/>
              <a:t> 		　         操作结果：返回矩形的面积</a:t>
            </a:r>
          </a:p>
          <a:p>
            <a:pPr>
              <a:lnSpc>
                <a:spcPct val="80000"/>
              </a:lnSpc>
              <a:buFont typeface="Wingdings" pitchFamily="2" charset="2"/>
              <a:buNone/>
            </a:pPr>
            <a:r>
              <a:rPr lang="zh-CN" altLang="en-US" sz="2000" dirty="0"/>
              <a:t>		        </a:t>
            </a:r>
            <a:r>
              <a:rPr lang="en-US" altLang="zh-CN" sz="2000" dirty="0"/>
              <a:t>Circumference( R)</a:t>
            </a:r>
          </a:p>
          <a:p>
            <a:pPr>
              <a:lnSpc>
                <a:spcPct val="80000"/>
              </a:lnSpc>
              <a:buFont typeface="Wingdings" pitchFamily="2" charset="2"/>
              <a:buNone/>
            </a:pPr>
            <a:r>
              <a:rPr lang="en-US" altLang="zh-CN" sz="2000" dirty="0"/>
              <a:t>		</a:t>
            </a:r>
            <a:r>
              <a:rPr lang="zh-CN" altLang="en-US" sz="2000" dirty="0"/>
              <a:t>　         初始条件：矩形</a:t>
            </a:r>
            <a:r>
              <a:rPr lang="en-US" altLang="zh-CN" sz="2000" dirty="0"/>
              <a:t>R</a:t>
            </a:r>
            <a:r>
              <a:rPr lang="zh-CN" altLang="en-US" sz="2000" dirty="0"/>
              <a:t>存在</a:t>
            </a:r>
          </a:p>
          <a:p>
            <a:pPr>
              <a:lnSpc>
                <a:spcPct val="80000"/>
              </a:lnSpc>
              <a:buFont typeface="Wingdings" pitchFamily="2" charset="2"/>
              <a:buNone/>
            </a:pPr>
            <a:r>
              <a:rPr lang="zh-CN" altLang="en-US" sz="2000" dirty="0"/>
              <a:t>		　         操作结果：返回矩形的周长</a:t>
            </a:r>
          </a:p>
          <a:p>
            <a:pPr>
              <a:lnSpc>
                <a:spcPct val="80000"/>
              </a:lnSpc>
              <a:buFont typeface="Wingdings" pitchFamily="2" charset="2"/>
              <a:buNone/>
            </a:pPr>
            <a:r>
              <a:rPr lang="en-US" altLang="zh-CN" sz="2000" dirty="0"/>
              <a:t>} ADT Rectangle</a:t>
            </a:r>
          </a:p>
          <a:p>
            <a:pPr>
              <a:lnSpc>
                <a:spcPct val="80000"/>
              </a:lnSpc>
            </a:pPr>
            <a:endParaRPr lang="en-US" altLang="zh-CN"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Rectangle 2"/>
          <p:cNvSpPr>
            <a:spLocks noGrp="1" noChangeArrowheads="1"/>
          </p:cNvSpPr>
          <p:nvPr>
            <p:ph type="title" idx="4294967295"/>
          </p:nvPr>
        </p:nvSpPr>
        <p:spPr>
          <a:xfrm>
            <a:off x="1919289" y="115889"/>
            <a:ext cx="7793037" cy="708025"/>
          </a:xfrm>
        </p:spPr>
        <p:txBody>
          <a:bodyPr anchor="b"/>
          <a:lstStyle/>
          <a:p>
            <a:r>
              <a:rPr lang="zh-CN" altLang="en-US" sz="2800" b="1">
                <a:ea typeface="楷体_GB2312" pitchFamily="49" charset="-122"/>
              </a:rPr>
              <a:t>矩形抽象数据类型的表示</a:t>
            </a:r>
            <a:r>
              <a:rPr lang="zh-CN" altLang="en-US" sz="3600"/>
              <a:t>   </a:t>
            </a:r>
          </a:p>
        </p:txBody>
      </p:sp>
      <p:sp>
        <p:nvSpPr>
          <p:cNvPr id="257028" name="Rectangle 3"/>
          <p:cNvSpPr>
            <a:spLocks noGrp="1" noChangeArrowheads="1"/>
          </p:cNvSpPr>
          <p:nvPr>
            <p:ph type="body" idx="4294967295"/>
          </p:nvPr>
        </p:nvSpPr>
        <p:spPr>
          <a:xfrm>
            <a:off x="1991544" y="980728"/>
            <a:ext cx="8229600" cy="5544022"/>
          </a:xfrm>
        </p:spPr>
        <p:txBody>
          <a:bodyPr>
            <a:normAutofit lnSpcReduction="10000"/>
          </a:bodyPr>
          <a:lstStyle/>
          <a:p>
            <a:pPr>
              <a:buFont typeface="Wingdings" pitchFamily="2" charset="2"/>
              <a:buNone/>
            </a:pPr>
            <a:r>
              <a:rPr lang="en-US" altLang="zh-CN" dirty="0"/>
              <a:t> </a:t>
            </a:r>
            <a:r>
              <a:rPr lang="en-US" altLang="zh-CN" sz="1800" dirty="0"/>
              <a:t>// </a:t>
            </a:r>
            <a:r>
              <a:rPr lang="zh-CN" altLang="en-US" sz="1800" dirty="0"/>
              <a:t>定义矩形的存储结构</a:t>
            </a:r>
          </a:p>
          <a:p>
            <a:pPr>
              <a:buFont typeface="Wingdings" pitchFamily="2" charset="2"/>
              <a:buNone/>
            </a:pPr>
            <a:r>
              <a:rPr lang="en-US" altLang="en-US" sz="1600" dirty="0" err="1"/>
              <a:t>typedef</a:t>
            </a:r>
            <a:r>
              <a:rPr lang="en-US" altLang="en-US" sz="1600" dirty="0"/>
              <a:t> </a:t>
            </a:r>
            <a:r>
              <a:rPr lang="en-US" altLang="en-US" sz="1600" dirty="0" err="1"/>
              <a:t>struct</a:t>
            </a:r>
            <a:endParaRPr lang="en-US" altLang="en-US" sz="1600" dirty="0"/>
          </a:p>
          <a:p>
            <a:pPr>
              <a:buFont typeface="Wingdings" pitchFamily="2" charset="2"/>
              <a:buNone/>
            </a:pPr>
            <a:r>
              <a:rPr lang="en-US" altLang="zh-CN" sz="1600" dirty="0"/>
              <a:t>      {    </a:t>
            </a:r>
            <a:r>
              <a:rPr lang="en-US" altLang="en-US" sz="1600" dirty="0"/>
              <a:t>float length;		// </a:t>
            </a:r>
            <a:r>
              <a:rPr lang="en-US" altLang="en-US" sz="1600" dirty="0" err="1"/>
              <a:t>矩形的长</a:t>
            </a:r>
            <a:endParaRPr lang="en-US" altLang="en-US" sz="1600" dirty="0"/>
          </a:p>
          <a:p>
            <a:pPr>
              <a:buFont typeface="Wingdings" pitchFamily="2" charset="2"/>
              <a:buNone/>
            </a:pPr>
            <a:r>
              <a:rPr lang="en-US" altLang="en-US" sz="1600" dirty="0"/>
              <a:t>	</a:t>
            </a:r>
            <a:r>
              <a:rPr lang="zh-CN" altLang="en-US" sz="1600" dirty="0"/>
              <a:t>      </a:t>
            </a:r>
            <a:r>
              <a:rPr lang="en-US" altLang="en-US" sz="1600" dirty="0"/>
              <a:t>float width</a:t>
            </a:r>
            <a:r>
              <a:rPr lang="zh-CN" altLang="en-US" sz="1600" dirty="0"/>
              <a:t>；                </a:t>
            </a:r>
            <a:r>
              <a:rPr lang="en-US" altLang="en-US" sz="1600" dirty="0"/>
              <a:t>// </a:t>
            </a:r>
            <a:r>
              <a:rPr lang="en-US" altLang="en-US" sz="1600" dirty="0" err="1"/>
              <a:t>矩形的宽</a:t>
            </a:r>
            <a:endParaRPr lang="en-US" altLang="en-US" sz="1600" dirty="0"/>
          </a:p>
          <a:p>
            <a:pPr>
              <a:buFont typeface="Wingdings" pitchFamily="2" charset="2"/>
              <a:buNone/>
            </a:pPr>
            <a:r>
              <a:rPr lang="zh-CN" altLang="en-US" sz="1600" dirty="0"/>
              <a:t>      </a:t>
            </a:r>
            <a:r>
              <a:rPr lang="en-US" altLang="en-US" sz="1600" dirty="0"/>
              <a:t>} Rectangle;</a:t>
            </a:r>
            <a:r>
              <a:rPr lang="en-US" altLang="zh-CN" sz="1600" dirty="0"/>
              <a:t>	       </a:t>
            </a:r>
          </a:p>
          <a:p>
            <a:pPr>
              <a:buFont typeface="Wingdings" pitchFamily="2" charset="2"/>
              <a:buNone/>
            </a:pPr>
            <a:r>
              <a:rPr lang="en-US" altLang="zh-CN" sz="1800" dirty="0"/>
              <a:t>// </a:t>
            </a:r>
            <a:r>
              <a:rPr lang="zh-CN" altLang="en-US" sz="1800" dirty="0"/>
              <a:t>操作目的：对矩形</a:t>
            </a:r>
            <a:r>
              <a:rPr lang="en-US" altLang="zh-CN" sz="1800" dirty="0"/>
              <a:t>R</a:t>
            </a:r>
            <a:r>
              <a:rPr lang="zh-CN" altLang="en-US" sz="1800" dirty="0"/>
              <a:t>初始化</a:t>
            </a:r>
          </a:p>
          <a:p>
            <a:pPr>
              <a:buFont typeface="Wingdings" pitchFamily="2" charset="2"/>
              <a:buNone/>
            </a:pPr>
            <a:r>
              <a:rPr lang="en-US" altLang="zh-CN" sz="1800" dirty="0"/>
              <a:t>// </a:t>
            </a:r>
            <a:r>
              <a:rPr lang="zh-CN" altLang="en-US" sz="1800" dirty="0"/>
              <a:t>初始条件：</a:t>
            </a:r>
          </a:p>
          <a:p>
            <a:pPr>
              <a:buFont typeface="Wingdings" pitchFamily="2" charset="2"/>
              <a:buNone/>
            </a:pPr>
            <a:r>
              <a:rPr lang="en-US" altLang="zh-CN" sz="1800" dirty="0"/>
              <a:t>// </a:t>
            </a:r>
            <a:r>
              <a:rPr lang="zh-CN" altLang="en-US" sz="1800" dirty="0"/>
              <a:t>操作结果：将矩形</a:t>
            </a:r>
            <a:r>
              <a:rPr lang="en-US" altLang="zh-CN" sz="1800" dirty="0"/>
              <a:t>R</a:t>
            </a:r>
            <a:r>
              <a:rPr lang="zh-CN" altLang="en-US" sz="1800" dirty="0"/>
              <a:t>的长初始化成 </a:t>
            </a:r>
            <a:r>
              <a:rPr lang="en-US" altLang="zh-CN" sz="1800" dirty="0"/>
              <a:t>l</a:t>
            </a:r>
            <a:r>
              <a:rPr lang="zh-CN" altLang="en-US" sz="1800" dirty="0"/>
              <a:t>，宽初始化为</a:t>
            </a:r>
            <a:r>
              <a:rPr lang="en-US" altLang="zh-CN" sz="1800" dirty="0"/>
              <a:t>w</a:t>
            </a:r>
          </a:p>
          <a:p>
            <a:pPr>
              <a:buFont typeface="Wingdings" pitchFamily="2" charset="2"/>
              <a:buNone/>
            </a:pPr>
            <a:r>
              <a:rPr lang="en-US" altLang="zh-CN" sz="1800" dirty="0" err="1"/>
              <a:t>bool</a:t>
            </a:r>
            <a:r>
              <a:rPr lang="en-US" altLang="zh-CN" sz="1800" dirty="0"/>
              <a:t> Init(</a:t>
            </a:r>
            <a:r>
              <a:rPr lang="en-US" altLang="en-US" sz="1800" dirty="0"/>
              <a:t>Rectangle</a:t>
            </a:r>
            <a:r>
              <a:rPr lang="en-US" altLang="zh-CN" sz="1800" dirty="0"/>
              <a:t> &amp;R, float l, float w);	</a:t>
            </a:r>
          </a:p>
          <a:p>
            <a:pPr>
              <a:buFont typeface="Wingdings" pitchFamily="2" charset="2"/>
              <a:buNone/>
            </a:pPr>
            <a:r>
              <a:rPr lang="en-US" altLang="zh-CN" sz="1800" dirty="0"/>
              <a:t>// </a:t>
            </a:r>
            <a:r>
              <a:rPr lang="zh-CN" altLang="en-US" sz="1800" dirty="0"/>
              <a:t>操作目的：求矩形</a:t>
            </a:r>
            <a:r>
              <a:rPr lang="en-US" altLang="zh-CN" sz="1800" dirty="0"/>
              <a:t>R</a:t>
            </a:r>
            <a:r>
              <a:rPr lang="zh-CN" altLang="en-US" sz="1800" dirty="0"/>
              <a:t>的面积</a:t>
            </a:r>
          </a:p>
          <a:p>
            <a:pPr>
              <a:buFont typeface="Wingdings" pitchFamily="2" charset="2"/>
              <a:buNone/>
            </a:pPr>
            <a:r>
              <a:rPr lang="en-US" altLang="zh-CN" sz="1800" dirty="0"/>
              <a:t>// </a:t>
            </a:r>
            <a:r>
              <a:rPr lang="zh-CN" altLang="en-US" sz="1800" dirty="0"/>
              <a:t>初始条件：矩形</a:t>
            </a:r>
            <a:r>
              <a:rPr lang="en-US" altLang="zh-CN" sz="1800" dirty="0"/>
              <a:t>R</a:t>
            </a:r>
            <a:r>
              <a:rPr lang="zh-CN" altLang="en-US" sz="1800" dirty="0"/>
              <a:t>存在</a:t>
            </a:r>
          </a:p>
          <a:p>
            <a:pPr>
              <a:buFont typeface="Wingdings" pitchFamily="2" charset="2"/>
              <a:buNone/>
            </a:pPr>
            <a:r>
              <a:rPr lang="en-US" altLang="zh-CN" sz="1800" dirty="0"/>
              <a:t>// </a:t>
            </a:r>
            <a:r>
              <a:rPr lang="zh-CN" altLang="en-US" sz="1800" dirty="0"/>
              <a:t>操作结果：返回矩形的面积</a:t>
            </a:r>
          </a:p>
          <a:p>
            <a:pPr>
              <a:buFont typeface="Wingdings" pitchFamily="2" charset="2"/>
              <a:buNone/>
            </a:pPr>
            <a:r>
              <a:rPr lang="en-US" altLang="zh-CN" sz="1800" dirty="0"/>
              <a:t>float Area(</a:t>
            </a:r>
            <a:r>
              <a:rPr lang="en-US" altLang="en-US" sz="1800" dirty="0"/>
              <a:t>Rectangle</a:t>
            </a:r>
            <a:r>
              <a:rPr lang="en-US" altLang="zh-CN" sz="1800" dirty="0"/>
              <a:t> R);</a:t>
            </a:r>
          </a:p>
          <a:p>
            <a:pPr>
              <a:buFont typeface="Wingdings" pitchFamily="2" charset="2"/>
              <a:buNone/>
            </a:pPr>
            <a:r>
              <a:rPr lang="en-US" altLang="zh-CN" sz="1800" dirty="0"/>
              <a:t>// </a:t>
            </a:r>
            <a:r>
              <a:rPr lang="zh-CN" altLang="en-US" sz="1800" dirty="0"/>
              <a:t>操作目的：求矩形</a:t>
            </a:r>
            <a:r>
              <a:rPr lang="en-US" altLang="zh-CN" sz="1800" dirty="0"/>
              <a:t>R</a:t>
            </a:r>
            <a:r>
              <a:rPr lang="zh-CN" altLang="en-US" sz="1800" dirty="0"/>
              <a:t>的周长</a:t>
            </a:r>
          </a:p>
          <a:p>
            <a:pPr>
              <a:buFont typeface="Wingdings" pitchFamily="2" charset="2"/>
              <a:buNone/>
            </a:pPr>
            <a:r>
              <a:rPr lang="en-US" altLang="zh-CN" sz="1800" dirty="0"/>
              <a:t>// </a:t>
            </a:r>
            <a:r>
              <a:rPr lang="zh-CN" altLang="en-US" sz="1800" dirty="0"/>
              <a:t>初始条件：矩形</a:t>
            </a:r>
            <a:r>
              <a:rPr lang="en-US" altLang="zh-CN" sz="1800" dirty="0"/>
              <a:t>R</a:t>
            </a:r>
            <a:r>
              <a:rPr lang="zh-CN" altLang="en-US" sz="1800" dirty="0"/>
              <a:t>存在</a:t>
            </a:r>
          </a:p>
          <a:p>
            <a:pPr>
              <a:buFont typeface="Wingdings" pitchFamily="2" charset="2"/>
              <a:buNone/>
            </a:pPr>
            <a:r>
              <a:rPr lang="en-US" altLang="zh-CN" sz="1800" dirty="0"/>
              <a:t>// </a:t>
            </a:r>
            <a:r>
              <a:rPr lang="zh-CN" altLang="en-US" sz="1800" dirty="0"/>
              <a:t>操作结果：返回矩形的周长</a:t>
            </a:r>
          </a:p>
          <a:p>
            <a:pPr>
              <a:buFont typeface="Wingdings" pitchFamily="2" charset="2"/>
              <a:buNone/>
            </a:pPr>
            <a:r>
              <a:rPr lang="en-US" altLang="zh-CN" sz="1800" dirty="0"/>
              <a:t>float Circumference(Rectangle 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Rectangle 2"/>
          <p:cNvSpPr>
            <a:spLocks noGrp="1" noChangeArrowheads="1"/>
          </p:cNvSpPr>
          <p:nvPr>
            <p:ph type="title" idx="4294967295"/>
          </p:nvPr>
        </p:nvSpPr>
        <p:spPr>
          <a:xfrm>
            <a:off x="1981200" y="260350"/>
            <a:ext cx="8229600" cy="776288"/>
          </a:xfrm>
        </p:spPr>
        <p:txBody>
          <a:bodyPr anchor="b"/>
          <a:lstStyle/>
          <a:p>
            <a:r>
              <a:rPr lang="zh-CN" altLang="en-US" sz="2800" b="1">
                <a:latin typeface="楷体_GB2312" pitchFamily="49" charset="-122"/>
                <a:ea typeface="楷体_GB2312" pitchFamily="49" charset="-122"/>
              </a:rPr>
              <a:t>矩形</a:t>
            </a:r>
            <a:r>
              <a:rPr lang="en-US" altLang="zh-CN" sz="2800" b="1">
                <a:latin typeface="楷体_GB2312" pitchFamily="49" charset="-122"/>
                <a:ea typeface="楷体_GB2312" pitchFamily="49" charset="-122"/>
              </a:rPr>
              <a:t>ADT</a:t>
            </a:r>
            <a:r>
              <a:rPr lang="zh-CN" altLang="en-US" sz="2800" b="1">
                <a:latin typeface="楷体_GB2312" pitchFamily="49" charset="-122"/>
                <a:ea typeface="楷体_GB2312" pitchFamily="49" charset="-122"/>
              </a:rPr>
              <a:t>的实现</a:t>
            </a:r>
          </a:p>
        </p:txBody>
      </p:sp>
      <p:sp>
        <p:nvSpPr>
          <p:cNvPr id="259076" name="Rectangle 3"/>
          <p:cNvSpPr>
            <a:spLocks noGrp="1" noChangeArrowheads="1"/>
          </p:cNvSpPr>
          <p:nvPr>
            <p:ph type="body" idx="4294967295"/>
          </p:nvPr>
        </p:nvSpPr>
        <p:spPr>
          <a:xfrm>
            <a:off x="1981200" y="1052513"/>
            <a:ext cx="8229600" cy="5040783"/>
          </a:xfrm>
        </p:spPr>
        <p:txBody>
          <a:bodyPr>
            <a:normAutofit/>
          </a:bodyPr>
          <a:lstStyle/>
          <a:p>
            <a:pPr>
              <a:lnSpc>
                <a:spcPct val="80000"/>
              </a:lnSpc>
              <a:buFont typeface="Wingdings" pitchFamily="2" charset="2"/>
              <a:buNone/>
            </a:pPr>
            <a:endParaRPr lang="en-US" altLang="zh-CN" sz="800" dirty="0"/>
          </a:p>
          <a:p>
            <a:pPr>
              <a:lnSpc>
                <a:spcPct val="80000"/>
              </a:lnSpc>
              <a:buFont typeface="Wingdings" pitchFamily="2" charset="2"/>
              <a:buNone/>
            </a:pPr>
            <a:r>
              <a:rPr lang="en-US" altLang="zh-CN" sz="800" dirty="0"/>
              <a:t> </a:t>
            </a:r>
            <a:r>
              <a:rPr lang="en-US" altLang="en-US" sz="2000" dirty="0" err="1"/>
              <a:t>bool</a:t>
            </a:r>
            <a:r>
              <a:rPr lang="en-US" altLang="en-US" sz="2000" dirty="0"/>
              <a:t> Init(Rectangle &amp;R, float l, float w)</a:t>
            </a:r>
          </a:p>
          <a:p>
            <a:pPr>
              <a:lnSpc>
                <a:spcPct val="80000"/>
              </a:lnSpc>
              <a:buFont typeface="Wingdings" pitchFamily="2" charset="2"/>
              <a:buNone/>
            </a:pPr>
            <a:r>
              <a:rPr lang="en-US" altLang="en-US" sz="1600" dirty="0"/>
              <a:t>{</a:t>
            </a:r>
          </a:p>
          <a:p>
            <a:pPr>
              <a:lnSpc>
                <a:spcPct val="80000"/>
              </a:lnSpc>
              <a:buFont typeface="Wingdings" pitchFamily="2" charset="2"/>
              <a:buNone/>
            </a:pPr>
            <a:r>
              <a:rPr lang="en-US" altLang="en-US" sz="1600" dirty="0"/>
              <a:t>	if(l&gt;0&amp;&amp;w&gt;0){</a:t>
            </a:r>
          </a:p>
          <a:p>
            <a:pPr>
              <a:lnSpc>
                <a:spcPct val="80000"/>
              </a:lnSpc>
              <a:buFont typeface="Wingdings" pitchFamily="2" charset="2"/>
              <a:buNone/>
            </a:pPr>
            <a:r>
              <a:rPr lang="en-US" altLang="en-US" sz="1600" dirty="0"/>
              <a:t>		</a:t>
            </a:r>
            <a:r>
              <a:rPr lang="en-US" altLang="en-US" sz="1600" dirty="0" err="1"/>
              <a:t>R.length</a:t>
            </a:r>
            <a:r>
              <a:rPr lang="en-US" altLang="en-US" sz="1600" dirty="0"/>
              <a:t>=l;</a:t>
            </a:r>
          </a:p>
          <a:p>
            <a:pPr>
              <a:lnSpc>
                <a:spcPct val="80000"/>
              </a:lnSpc>
              <a:buFont typeface="Wingdings" pitchFamily="2" charset="2"/>
              <a:buNone/>
            </a:pPr>
            <a:r>
              <a:rPr lang="en-US" altLang="en-US" sz="1600" dirty="0"/>
              <a:t>		</a:t>
            </a:r>
            <a:r>
              <a:rPr lang="en-US" altLang="en-US" sz="1600" dirty="0" err="1"/>
              <a:t>R.width</a:t>
            </a:r>
            <a:r>
              <a:rPr lang="en-US" altLang="en-US" sz="1600" dirty="0"/>
              <a:t>=w;</a:t>
            </a:r>
          </a:p>
          <a:p>
            <a:pPr>
              <a:lnSpc>
                <a:spcPct val="80000"/>
              </a:lnSpc>
              <a:buFont typeface="Wingdings" pitchFamily="2" charset="2"/>
              <a:buNone/>
            </a:pPr>
            <a:r>
              <a:rPr lang="en-US" altLang="en-US" sz="1600" dirty="0"/>
              <a:t>		return true;}</a:t>
            </a:r>
          </a:p>
          <a:p>
            <a:pPr>
              <a:lnSpc>
                <a:spcPct val="80000"/>
              </a:lnSpc>
              <a:buFont typeface="Wingdings" pitchFamily="2" charset="2"/>
              <a:buNone/>
            </a:pPr>
            <a:r>
              <a:rPr lang="en-US" altLang="en-US" sz="1600" dirty="0"/>
              <a:t>	else</a:t>
            </a:r>
          </a:p>
          <a:p>
            <a:pPr>
              <a:lnSpc>
                <a:spcPct val="80000"/>
              </a:lnSpc>
              <a:buFont typeface="Wingdings" pitchFamily="2" charset="2"/>
              <a:buNone/>
            </a:pPr>
            <a:r>
              <a:rPr lang="en-US" altLang="en-US" sz="1600" dirty="0"/>
              <a:t>		return false; </a:t>
            </a:r>
          </a:p>
          <a:p>
            <a:pPr>
              <a:lnSpc>
                <a:spcPct val="80000"/>
              </a:lnSpc>
              <a:buFont typeface="Wingdings" pitchFamily="2" charset="2"/>
              <a:buNone/>
            </a:pPr>
            <a:r>
              <a:rPr lang="en-US" altLang="en-US" sz="1600" dirty="0"/>
              <a:t>}</a:t>
            </a:r>
            <a:endParaRPr lang="en-US" altLang="zh-CN" sz="1600" dirty="0"/>
          </a:p>
          <a:p>
            <a:pPr>
              <a:lnSpc>
                <a:spcPct val="80000"/>
              </a:lnSpc>
              <a:buFont typeface="Wingdings" pitchFamily="2" charset="2"/>
              <a:buNone/>
            </a:pPr>
            <a:r>
              <a:rPr lang="en-US" altLang="en-US" sz="2000" dirty="0"/>
              <a:t>float Area(Rectangle R)</a:t>
            </a:r>
          </a:p>
          <a:p>
            <a:pPr>
              <a:lnSpc>
                <a:spcPct val="80000"/>
              </a:lnSpc>
              <a:buFont typeface="Wingdings" pitchFamily="2" charset="2"/>
              <a:buNone/>
            </a:pPr>
            <a:r>
              <a:rPr lang="en-US" altLang="en-US" sz="1600" dirty="0"/>
              <a:t>{		</a:t>
            </a:r>
          </a:p>
          <a:p>
            <a:pPr>
              <a:lnSpc>
                <a:spcPct val="80000"/>
              </a:lnSpc>
              <a:buFont typeface="Wingdings" pitchFamily="2" charset="2"/>
              <a:buNone/>
            </a:pPr>
            <a:r>
              <a:rPr lang="en-US" altLang="en-US" sz="1600" dirty="0"/>
              <a:t>	return </a:t>
            </a:r>
            <a:r>
              <a:rPr lang="en-US" altLang="en-US" sz="1600" dirty="0" err="1"/>
              <a:t>R.length</a:t>
            </a:r>
            <a:r>
              <a:rPr lang="en-US" altLang="en-US" sz="1600" dirty="0"/>
              <a:t>*</a:t>
            </a:r>
            <a:r>
              <a:rPr lang="en-US" altLang="en-US" sz="1600" dirty="0" err="1"/>
              <a:t>R.width</a:t>
            </a:r>
            <a:r>
              <a:rPr lang="en-US" altLang="en-US" sz="1600" dirty="0"/>
              <a:t>;</a:t>
            </a:r>
          </a:p>
          <a:p>
            <a:pPr>
              <a:lnSpc>
                <a:spcPct val="80000"/>
              </a:lnSpc>
              <a:buFont typeface="Wingdings" pitchFamily="2" charset="2"/>
              <a:buNone/>
            </a:pPr>
            <a:r>
              <a:rPr lang="en-US" altLang="en-US" sz="1600" dirty="0"/>
              <a:t>}</a:t>
            </a:r>
            <a:endParaRPr lang="en-US" altLang="zh-CN" sz="1600" dirty="0"/>
          </a:p>
          <a:p>
            <a:pPr>
              <a:lnSpc>
                <a:spcPct val="80000"/>
              </a:lnSpc>
              <a:buFont typeface="Wingdings" pitchFamily="2" charset="2"/>
              <a:buNone/>
            </a:pPr>
            <a:r>
              <a:rPr lang="en-US" altLang="en-US" sz="2000" dirty="0"/>
              <a:t>float Circumference(Rectangle R)</a:t>
            </a:r>
          </a:p>
          <a:p>
            <a:pPr>
              <a:lnSpc>
                <a:spcPct val="80000"/>
              </a:lnSpc>
              <a:buFont typeface="Wingdings" pitchFamily="2" charset="2"/>
              <a:buNone/>
            </a:pPr>
            <a:r>
              <a:rPr lang="en-US" altLang="en-US" sz="1600" dirty="0"/>
              <a:t>{</a:t>
            </a:r>
          </a:p>
          <a:p>
            <a:pPr>
              <a:lnSpc>
                <a:spcPct val="80000"/>
              </a:lnSpc>
              <a:buFont typeface="Wingdings" pitchFamily="2" charset="2"/>
              <a:buNone/>
            </a:pPr>
            <a:r>
              <a:rPr lang="en-US" altLang="en-US" sz="1600" dirty="0"/>
              <a:t>    return 2*(</a:t>
            </a:r>
            <a:r>
              <a:rPr lang="en-US" altLang="en-US" sz="1600" dirty="0" err="1"/>
              <a:t>R.length+R.width</a:t>
            </a:r>
            <a:r>
              <a:rPr lang="en-US" altLang="en-US" sz="1600" dirty="0"/>
              <a:t>);</a:t>
            </a:r>
          </a:p>
          <a:p>
            <a:pPr>
              <a:lnSpc>
                <a:spcPct val="80000"/>
              </a:lnSpc>
              <a:buFont typeface="Wingdings" pitchFamily="2" charset="2"/>
              <a:buNone/>
            </a:pPr>
            <a:r>
              <a:rPr lang="en-US" altLang="en-US" sz="1600" dirty="0"/>
              <a:t>}</a:t>
            </a:r>
            <a:endParaRPr lang="en-US" altLang="zh-CN"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ADT</a:t>
            </a:r>
            <a:r>
              <a:rPr lang="zh-CN" altLang="en-US" dirty="0"/>
              <a:t>小结</a:t>
            </a:r>
          </a:p>
        </p:txBody>
      </p:sp>
      <p:sp>
        <p:nvSpPr>
          <p:cNvPr id="3" name="内容占位符 2"/>
          <p:cNvSpPr>
            <a:spLocks noGrp="1"/>
          </p:cNvSpPr>
          <p:nvPr>
            <p:ph idx="1"/>
          </p:nvPr>
        </p:nvSpPr>
        <p:spPr/>
        <p:txBody>
          <a:bodyPr/>
          <a:lstStyle/>
          <a:p>
            <a:r>
              <a:rPr lang="zh-CN" altLang="en-US" dirty="0">
                <a:ea typeface="楷体_GB2312" pitchFamily="49" charset="-122"/>
              </a:rPr>
              <a:t>抽象数据类型主要指用户在设计软件系统时自己定义的数据类型。</a:t>
            </a:r>
          </a:p>
          <a:p>
            <a:pPr>
              <a:lnSpc>
                <a:spcPct val="130000"/>
              </a:lnSpc>
            </a:pPr>
            <a:r>
              <a:rPr lang="zh-CN" altLang="en-US" dirty="0">
                <a:ea typeface="楷体_GB2312" pitchFamily="49" charset="-122"/>
              </a:rPr>
              <a:t>在构造软件系统的各个相对独立的模块时，定义</a:t>
            </a:r>
            <a:r>
              <a:rPr lang="zh-CN" altLang="en-US" b="1" dirty="0">
                <a:ea typeface="楷体_GB2312" pitchFamily="49" charset="-122"/>
              </a:rPr>
              <a:t>一组数据</a:t>
            </a:r>
            <a:r>
              <a:rPr lang="zh-CN" altLang="en-US" dirty="0">
                <a:ea typeface="楷体_GB2312" pitchFamily="49" charset="-122"/>
              </a:rPr>
              <a:t>和施与这些数据之上的</a:t>
            </a:r>
            <a:r>
              <a:rPr lang="zh-CN" altLang="en-US" b="1" dirty="0">
                <a:ea typeface="楷体_GB2312" pitchFamily="49" charset="-122"/>
              </a:rPr>
              <a:t>一组操作</a:t>
            </a:r>
            <a:r>
              <a:rPr lang="zh-CN" altLang="en-US" dirty="0">
                <a:ea typeface="楷体_GB2312" pitchFamily="49" charset="-122"/>
              </a:rPr>
              <a:t>，并在模块</a:t>
            </a:r>
            <a:r>
              <a:rPr lang="zh-CN" altLang="en-US" b="1" dirty="0">
                <a:ea typeface="楷体_GB2312" pitchFamily="49" charset="-122"/>
              </a:rPr>
              <a:t>内部</a:t>
            </a:r>
            <a:r>
              <a:rPr lang="zh-CN" altLang="en-US" dirty="0">
                <a:ea typeface="楷体_GB2312" pitchFamily="49" charset="-122"/>
              </a:rPr>
              <a:t>给出它们的</a:t>
            </a:r>
            <a:r>
              <a:rPr lang="zh-CN" altLang="en-US" b="1" dirty="0">
                <a:ea typeface="楷体_GB2312" pitchFamily="49" charset="-122"/>
              </a:rPr>
              <a:t>表示和实现细节</a:t>
            </a:r>
            <a:r>
              <a:rPr lang="zh-CN" altLang="en-US" dirty="0">
                <a:ea typeface="楷体_GB2312" pitchFamily="49" charset="-122"/>
              </a:rPr>
              <a:t>，在模块</a:t>
            </a:r>
            <a:r>
              <a:rPr lang="zh-CN" altLang="en-US" b="1" dirty="0">
                <a:ea typeface="楷体_GB2312" pitchFamily="49" charset="-122"/>
              </a:rPr>
              <a:t>外部</a:t>
            </a:r>
            <a:r>
              <a:rPr lang="zh-CN" altLang="en-US" dirty="0">
                <a:ea typeface="楷体_GB2312" pitchFamily="49" charset="-122"/>
              </a:rPr>
              <a:t>使用的只是</a:t>
            </a:r>
            <a:r>
              <a:rPr lang="zh-CN" altLang="en-US" b="1" dirty="0">
                <a:ea typeface="楷体_GB2312" pitchFamily="49" charset="-122"/>
              </a:rPr>
              <a:t>抽象的数据和抽象的操作</a:t>
            </a:r>
            <a:r>
              <a:rPr lang="zh-CN" altLang="en-US" dirty="0">
                <a:ea typeface="楷体_GB2312" pitchFamily="49" charset="-122"/>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6" name="自选图形 5"/>
          <p:cNvSpPr>
            <a:spLocks noChangeArrowheads="1"/>
          </p:cNvSpPr>
          <p:nvPr/>
        </p:nvSpPr>
        <p:spPr bwMode="gray">
          <a:xfrm>
            <a:off x="3346451" y="4992140"/>
            <a:ext cx="462121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ea typeface="宋体" pitchFamily="2" charset="-122"/>
              </a:rPr>
              <a:t>算法和算法分析</a:t>
            </a:r>
          </a:p>
        </p:txBody>
      </p:sp>
      <p:sp>
        <p:nvSpPr>
          <p:cNvPr id="7" name="自选图形 6"/>
          <p:cNvSpPr>
            <a:spLocks noChangeArrowheads="1"/>
          </p:cNvSpPr>
          <p:nvPr/>
        </p:nvSpPr>
        <p:spPr bwMode="gray">
          <a:xfrm>
            <a:off x="3841750" y="4165053"/>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抽象数据类型（</a:t>
            </a:r>
            <a:r>
              <a:rPr lang="en-US" altLang="zh-CN" b="1" dirty="0">
                <a:latin typeface="宋体" pitchFamily="2" charset="-122"/>
                <a:ea typeface="宋体" pitchFamily="2" charset="-122"/>
              </a:rPr>
              <a:t>ADT</a:t>
            </a:r>
            <a:r>
              <a:rPr lang="zh-CN" altLang="en-US" b="1" dirty="0">
                <a:latin typeface="宋体" pitchFamily="2" charset="-122"/>
                <a:ea typeface="宋体" pitchFamily="2" charset="-122"/>
              </a:rPr>
              <a:t>）</a:t>
            </a:r>
          </a:p>
        </p:txBody>
      </p:sp>
      <p:sp>
        <p:nvSpPr>
          <p:cNvPr id="8" name="自选图形 7"/>
          <p:cNvSpPr>
            <a:spLocks noChangeArrowheads="1"/>
          </p:cNvSpPr>
          <p:nvPr/>
        </p:nvSpPr>
        <p:spPr bwMode="gray">
          <a:xfrm>
            <a:off x="3962400" y="3352253"/>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基本概念和术语</a:t>
            </a:r>
          </a:p>
        </p:txBody>
      </p:sp>
      <p:sp>
        <p:nvSpPr>
          <p:cNvPr id="9" name="自选图形 8"/>
          <p:cNvSpPr>
            <a:spLocks noChangeArrowheads="1"/>
          </p:cNvSpPr>
          <p:nvPr/>
        </p:nvSpPr>
        <p:spPr bwMode="gray">
          <a:xfrm>
            <a:off x="3810000" y="2483890"/>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课程概览</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课程安排及要求</a:t>
            </a:r>
          </a:p>
        </p:txBody>
      </p:sp>
      <p:grpSp>
        <p:nvGrpSpPr>
          <p:cNvPr id="2"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3" name="组合 17"/>
          <p:cNvGrpSpPr>
            <a:grpSpLocks/>
          </p:cNvGrpSpPr>
          <p:nvPr/>
        </p:nvGrpSpPr>
        <p:grpSpPr bwMode="auto">
          <a:xfrm>
            <a:off x="3505200" y="2521131"/>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11" name="组合 24"/>
          <p:cNvGrpSpPr>
            <a:grpSpLocks/>
          </p:cNvGrpSpPr>
          <p:nvPr/>
        </p:nvGrpSpPr>
        <p:grpSpPr bwMode="auto">
          <a:xfrm>
            <a:off x="3657600" y="3359331"/>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18" name="组合 31"/>
          <p:cNvGrpSpPr>
            <a:grpSpLocks/>
          </p:cNvGrpSpPr>
          <p:nvPr/>
        </p:nvGrpSpPr>
        <p:grpSpPr bwMode="auto">
          <a:xfrm>
            <a:off x="3505200" y="4197531"/>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grpSp>
        <p:nvGrpSpPr>
          <p:cNvPr id="25" name="组合 38"/>
          <p:cNvGrpSpPr>
            <a:grpSpLocks/>
          </p:cNvGrpSpPr>
          <p:nvPr/>
        </p:nvGrpSpPr>
        <p:grpSpPr bwMode="auto">
          <a:xfrm>
            <a:off x="3048000" y="4972231"/>
            <a:ext cx="355600" cy="519245"/>
            <a:chOff x="2078" y="1387"/>
            <a:chExt cx="1615" cy="2201"/>
          </a:xfrm>
        </p:grpSpPr>
        <p:sp>
          <p:nvSpPr>
            <p:cNvPr id="40" name="椭圆 39"/>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41" name="椭圆 40"/>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42" name="椭圆 41"/>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43" name="椭圆 42"/>
            <p:cNvSpPr>
              <a:spLocks noChangeArrowheads="1"/>
            </p:cNvSpPr>
            <p:nvPr/>
          </p:nvSpPr>
          <p:spPr bwMode="gray">
            <a:xfrm>
              <a:off x="2254" y="1387"/>
              <a:ext cx="1180" cy="220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none" anchor="ctr">
              <a:spAutoFit/>
            </a:bodyPr>
            <a:lstStyle/>
            <a:p>
              <a:endParaRPr lang="zh-CN" altLang="en-US"/>
            </a:p>
          </p:txBody>
        </p:sp>
        <p:sp>
          <p:nvSpPr>
            <p:cNvPr id="44" name="椭圆 43"/>
            <p:cNvSpPr>
              <a:spLocks noChangeArrowheads="1"/>
            </p:cNvSpPr>
            <p:nvPr/>
          </p:nvSpPr>
          <p:spPr bwMode="gray">
            <a:xfrm>
              <a:off x="2338"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45" name="椭圆 44"/>
            <p:cNvSpPr>
              <a:spLocks noChangeArrowheads="1"/>
            </p:cNvSpPr>
            <p:nvPr/>
          </p:nvSpPr>
          <p:spPr bwMode="gray">
            <a:xfrm>
              <a:off x="2337" y="1387"/>
              <a:ext cx="1096" cy="2201"/>
            </a:xfrm>
            <a:prstGeom prst="ellipse">
              <a:avLst/>
            </a:prstGeom>
            <a:gradFill rotWithShape="1">
              <a:gsLst>
                <a:gs pos="0">
                  <a:srgbClr val="E35E23"/>
                </a:gs>
                <a:gs pos="100000">
                  <a:srgbClr val="6E2E11"/>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
        <p:nvSpPr>
          <p:cNvPr id="50" name="自选图形 45"/>
          <p:cNvSpPr>
            <a:spLocks noChangeArrowheads="1"/>
          </p:cNvSpPr>
          <p:nvPr/>
        </p:nvSpPr>
        <p:spPr bwMode="gray">
          <a:xfrm>
            <a:off x="7999272" y="5009610"/>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51" name="自选图形 46"/>
          <p:cNvSpPr>
            <a:spLocks noChangeArrowheads="1"/>
          </p:cNvSpPr>
          <p:nvPr/>
        </p:nvSpPr>
        <p:spPr bwMode="gray">
          <a:xfrm>
            <a:off x="8431072" y="5009610"/>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52" name="自选图形 47"/>
          <p:cNvSpPr>
            <a:spLocks noChangeArrowheads="1"/>
          </p:cNvSpPr>
          <p:nvPr/>
        </p:nvSpPr>
        <p:spPr bwMode="gray">
          <a:xfrm>
            <a:off x="8862872" y="5009610"/>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1556792"/>
            <a:ext cx="8229600" cy="1143000"/>
          </a:xfrm>
        </p:spPr>
        <p:txBody>
          <a:bodyPr>
            <a:normAutofit/>
          </a:bodyPr>
          <a:lstStyle/>
          <a:p>
            <a:pPr algn="l">
              <a:lnSpc>
                <a:spcPct val="120000"/>
              </a:lnSpc>
            </a:pPr>
            <a:r>
              <a:rPr lang="zh-CN" altLang="en-US" sz="2400" dirty="0"/>
              <a:t>算法</a:t>
            </a:r>
            <a:r>
              <a:rPr lang="en-US" altLang="zh-CN" sz="2400" dirty="0"/>
              <a:t>---</a:t>
            </a:r>
            <a:r>
              <a:rPr lang="zh-CN" altLang="en-US" sz="2400" dirty="0"/>
              <a:t>是对特定问题求解步骤的一种描述，它是指令的有限序列，其中每一条指令表示一个或多个操作。</a:t>
            </a:r>
          </a:p>
        </p:txBody>
      </p:sp>
      <p:sp>
        <p:nvSpPr>
          <p:cNvPr id="3" name="内容占位符 2"/>
          <p:cNvSpPr>
            <a:spLocks noGrp="1"/>
          </p:cNvSpPr>
          <p:nvPr>
            <p:ph idx="1"/>
          </p:nvPr>
        </p:nvSpPr>
        <p:spPr>
          <a:xfrm>
            <a:off x="1991544" y="2968352"/>
            <a:ext cx="3754760" cy="3052936"/>
          </a:xfrm>
        </p:spPr>
        <p:txBody>
          <a:bodyPr/>
          <a:lstStyle/>
          <a:p>
            <a:r>
              <a:rPr lang="zh-CN" altLang="en-US" dirty="0"/>
              <a:t>算法的五个特性</a:t>
            </a:r>
            <a:endParaRPr lang="en-US" altLang="zh-CN" dirty="0"/>
          </a:p>
          <a:p>
            <a:pPr lvl="0">
              <a:buNone/>
            </a:pPr>
            <a:r>
              <a:rPr lang="en-US" altLang="zh-CN" sz="2400" b="1" dirty="0">
                <a:solidFill>
                  <a:srgbClr val="0000CC"/>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有穷性</a:t>
            </a:r>
          </a:p>
          <a:p>
            <a:pPr lvl="0">
              <a:buNone/>
            </a:pPr>
            <a:r>
              <a:rPr lang="en-US" altLang="zh-CN" sz="2400" b="1" dirty="0">
                <a:solidFill>
                  <a:srgbClr val="0000CC"/>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确定性</a:t>
            </a:r>
          </a:p>
          <a:p>
            <a:pPr lvl="0">
              <a:buNone/>
            </a:pPr>
            <a:r>
              <a:rPr lang="en-US" altLang="zh-CN" sz="2400" b="1" dirty="0">
                <a:solidFill>
                  <a:srgbClr val="0000CC"/>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可行性</a:t>
            </a:r>
          </a:p>
          <a:p>
            <a:pPr lvl="0">
              <a:buNone/>
            </a:pPr>
            <a:r>
              <a:rPr lang="en-US" altLang="zh-CN" sz="2400" b="1" dirty="0">
                <a:solidFill>
                  <a:srgbClr val="0000CC"/>
                </a:solidFill>
                <a:latin typeface="楷体_GB2312" pitchFamily="49" charset="-122"/>
                <a:ea typeface="楷体_GB2312" pitchFamily="49" charset="-122"/>
              </a:rPr>
              <a:t>◆</a:t>
            </a:r>
            <a:r>
              <a:rPr lang="en-US" altLang="zh-CN" sz="2400" b="1" dirty="0">
                <a:latin typeface="楷体_GB2312" pitchFamily="49" charset="-122"/>
                <a:ea typeface="楷体_GB2312" pitchFamily="49" charset="-122"/>
              </a:rPr>
              <a:t>0</a:t>
            </a:r>
            <a:r>
              <a:rPr lang="zh-CN" altLang="en-US" sz="2400" b="1" dirty="0">
                <a:latin typeface="楷体_GB2312" pitchFamily="49" charset="-122"/>
                <a:ea typeface="楷体_GB2312" pitchFamily="49" charset="-122"/>
              </a:rPr>
              <a:t>个或多个输入</a:t>
            </a:r>
            <a:endParaRPr lang="en-US" altLang="zh-CN" sz="2400" b="1" dirty="0">
              <a:latin typeface="楷体_GB2312" pitchFamily="49" charset="-122"/>
              <a:ea typeface="楷体_GB2312" pitchFamily="49" charset="-122"/>
            </a:endParaRPr>
          </a:p>
          <a:p>
            <a:pPr lvl="0">
              <a:buNone/>
            </a:pPr>
            <a:r>
              <a:rPr lang="en-US" altLang="zh-CN" sz="2400" b="1" dirty="0">
                <a:solidFill>
                  <a:srgbClr val="0000CC"/>
                </a:solidFill>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个或多个输出</a:t>
            </a:r>
          </a:p>
          <a:p>
            <a:pPr lvl="0">
              <a:buNone/>
            </a:pPr>
            <a:endParaRPr lang="zh-CN" altLang="en-US" sz="2400" b="1" dirty="0">
              <a:latin typeface="楷体_GB2312" pitchFamily="49" charset="-122"/>
              <a:ea typeface="楷体_GB2312" pitchFamily="49" charset="-122"/>
            </a:endParaRPr>
          </a:p>
          <a:p>
            <a:pPr lvl="0">
              <a:buNone/>
            </a:pPr>
            <a:endParaRPr lang="zh-CN" altLang="en-US" sz="2400" b="1" dirty="0">
              <a:latin typeface="楷体_GB2312" pitchFamily="49" charset="-122"/>
              <a:ea typeface="楷体_GB2312" pitchFamily="49" charset="-122"/>
            </a:endParaRPr>
          </a:p>
          <a:p>
            <a:pPr>
              <a:buNone/>
            </a:pPr>
            <a:endParaRPr lang="zh-CN" altLang="en-US" dirty="0"/>
          </a:p>
        </p:txBody>
      </p:sp>
      <p:sp>
        <p:nvSpPr>
          <p:cNvPr id="4" name="内容占位符 2"/>
          <p:cNvSpPr txBox="1">
            <a:spLocks/>
          </p:cNvSpPr>
          <p:nvPr/>
        </p:nvSpPr>
        <p:spPr>
          <a:xfrm>
            <a:off x="6096000" y="2968352"/>
            <a:ext cx="3754760" cy="2952328"/>
          </a:xfrm>
          <a:prstGeom prst="rect">
            <a:avLst/>
          </a:prstGeom>
        </p:spPr>
        <p:txBody>
          <a:bodyPr vert="horz" lIns="91440" tIns="45720" rIns="91440" bIns="45720" rtlCol="0">
            <a:normAutofit/>
          </a:bodyPr>
          <a:lstStyle/>
          <a:p>
            <a:pPr marL="342900" indent="-342900">
              <a:spcBef>
                <a:spcPts val="600"/>
              </a:spcBef>
              <a:buFont typeface="Arial" pitchFamily="34" charset="0"/>
              <a:buChar char="•"/>
              <a:defRPr/>
            </a:pPr>
            <a:r>
              <a:rPr lang="zh-CN" altLang="en-US" sz="3200" dirty="0"/>
              <a:t>算法的设计要求</a:t>
            </a:r>
            <a:endParaRPr lang="en-US" altLang="zh-CN" sz="3200" dirty="0"/>
          </a:p>
          <a:p>
            <a:pPr>
              <a:spcBef>
                <a:spcPts val="600"/>
              </a:spcBef>
            </a:pPr>
            <a:r>
              <a:rPr lang="en-US" altLang="zh-CN" sz="2400" b="1" dirty="0">
                <a:solidFill>
                  <a:srgbClr val="0000CC"/>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正确性</a:t>
            </a:r>
          </a:p>
          <a:p>
            <a:pPr>
              <a:spcBef>
                <a:spcPts val="600"/>
              </a:spcBef>
            </a:pPr>
            <a:r>
              <a:rPr lang="en-US" altLang="zh-CN" sz="2400" b="1" dirty="0">
                <a:solidFill>
                  <a:srgbClr val="0000CC"/>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可读性</a:t>
            </a:r>
          </a:p>
          <a:p>
            <a:pPr>
              <a:spcBef>
                <a:spcPts val="600"/>
              </a:spcBef>
            </a:pPr>
            <a:r>
              <a:rPr lang="en-US" altLang="zh-CN" sz="2400" b="1" dirty="0">
                <a:solidFill>
                  <a:srgbClr val="0000CC"/>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健壮性</a:t>
            </a:r>
          </a:p>
          <a:p>
            <a:pPr>
              <a:spcBef>
                <a:spcPts val="600"/>
              </a:spcBef>
            </a:pPr>
            <a:r>
              <a:rPr lang="en-US" altLang="zh-CN" sz="2400" b="1" dirty="0">
                <a:solidFill>
                  <a:srgbClr val="0000CC"/>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高效率</a:t>
            </a:r>
            <a:endParaRPr lang="en-US" altLang="zh-CN" sz="2400" b="1" dirty="0">
              <a:latin typeface="楷体_GB2312" pitchFamily="49" charset="-122"/>
              <a:ea typeface="楷体_GB2312" pitchFamily="49" charset="-122"/>
            </a:endParaRPr>
          </a:p>
          <a:p>
            <a:pPr>
              <a:spcBef>
                <a:spcPts val="600"/>
              </a:spcBef>
            </a:pPr>
            <a:r>
              <a:rPr lang="en-US" altLang="zh-CN" sz="2400" b="1" dirty="0">
                <a:solidFill>
                  <a:srgbClr val="0000CC"/>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低存储</a:t>
            </a:r>
          </a:p>
          <a:p>
            <a:pPr marL="342900" indent="-342900">
              <a:spcBef>
                <a:spcPct val="20000"/>
              </a:spcBef>
              <a:defRPr/>
            </a:pPr>
            <a:endParaRPr lang="zh-CN" altLang="en-US" sz="3200" dirty="0"/>
          </a:p>
        </p:txBody>
      </p:sp>
      <p:sp>
        <p:nvSpPr>
          <p:cNvPr id="6" name="标题 1"/>
          <p:cNvSpPr txBox="1">
            <a:spLocks/>
          </p:cNvSpPr>
          <p:nvPr/>
        </p:nvSpPr>
        <p:spPr>
          <a:xfrm>
            <a:off x="1919536" y="341784"/>
            <a:ext cx="8229600" cy="1143000"/>
          </a:xfrm>
          <a:prstGeom prst="rect">
            <a:avLst/>
          </a:prstGeom>
        </p:spPr>
        <p:txBody>
          <a:bodyPr vert="horz" lIns="91440" tIns="45720" rIns="91440" bIns="45720" rtlCol="0" anchor="ctr">
            <a:normAutofit/>
          </a:bodyPr>
          <a:lstStyle/>
          <a:p>
            <a:pPr algn="ctr"/>
            <a:r>
              <a:rPr lang="zh-CN" altLang="en-US" sz="4400" dirty="0"/>
              <a:t>算法的基本概念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Text Box 6"/>
          <p:cNvSpPr txBox="1">
            <a:spLocks noChangeArrowheads="1"/>
          </p:cNvSpPr>
          <p:nvPr/>
        </p:nvSpPr>
        <p:spPr bwMode="auto">
          <a:xfrm>
            <a:off x="2974976" y="871539"/>
            <a:ext cx="6988175" cy="420687"/>
          </a:xfrm>
          <a:prstGeom prst="rect">
            <a:avLst/>
          </a:prstGeom>
          <a:noFill/>
          <a:ln w="9525">
            <a:noFill/>
            <a:miter lim="800000"/>
            <a:headEnd/>
            <a:tailEnd/>
          </a:ln>
          <a:effectLst/>
        </p:spPr>
        <p:txBody>
          <a:bodyPr wrap="none">
            <a:spAutoFit/>
          </a:bodyPr>
          <a:lstStyle/>
          <a:p>
            <a:pPr>
              <a:lnSpc>
                <a:spcPct val="90000"/>
              </a:lnSpc>
              <a:spcBef>
                <a:spcPct val="20000"/>
              </a:spcBef>
              <a:buSzPct val="90000"/>
            </a:pPr>
            <a:r>
              <a:rPr kumimoji="1" lang="zh-CN" altLang="en-US" sz="2400" b="1">
                <a:latin typeface="华文中宋" pitchFamily="2" charset="-122"/>
                <a:ea typeface="华文中宋" pitchFamily="2" charset="-122"/>
              </a:rPr>
              <a:t>算法的含义与程序十分相似，但二者是有区别的。 </a:t>
            </a:r>
          </a:p>
        </p:txBody>
      </p:sp>
      <p:sp>
        <p:nvSpPr>
          <p:cNvPr id="20487" name="AutoShape 7"/>
          <p:cNvSpPr>
            <a:spLocks noChangeArrowheads="1"/>
          </p:cNvSpPr>
          <p:nvPr/>
        </p:nvSpPr>
        <p:spPr bwMode="auto">
          <a:xfrm>
            <a:off x="1831975" y="476250"/>
            <a:ext cx="1143000" cy="1066800"/>
          </a:xfrm>
          <a:prstGeom prst="star32">
            <a:avLst>
              <a:gd name="adj" fmla="val 37500"/>
            </a:avLst>
          </a:prstGeom>
          <a:solidFill>
            <a:srgbClr val="FF00FF"/>
          </a:solidFill>
          <a:ln w="9525">
            <a:solidFill>
              <a:srgbClr val="FFFF00"/>
            </a:solidFill>
            <a:miter lim="800000"/>
            <a:headEnd/>
            <a:tailEnd/>
          </a:ln>
          <a:effectLst/>
        </p:spPr>
        <p:txBody>
          <a:bodyPr wrap="none" anchor="ctr"/>
          <a:lstStyle/>
          <a:p>
            <a:pPr algn="ctr">
              <a:lnSpc>
                <a:spcPct val="80000"/>
              </a:lnSpc>
            </a:pPr>
            <a:r>
              <a:rPr kumimoji="1" lang="zh-CN" altLang="en-US" sz="4400" b="1">
                <a:latin typeface="Times New Roman" pitchFamily="18" charset="0"/>
                <a:ea typeface="隶书" pitchFamily="49" charset="-122"/>
              </a:rPr>
              <a:t>注</a:t>
            </a:r>
          </a:p>
        </p:txBody>
      </p:sp>
      <p:sp>
        <p:nvSpPr>
          <p:cNvPr id="20488" name="Text Box 8"/>
          <p:cNvSpPr txBox="1">
            <a:spLocks noChangeArrowheads="1"/>
          </p:cNvSpPr>
          <p:nvPr/>
        </p:nvSpPr>
        <p:spPr bwMode="auto">
          <a:xfrm>
            <a:off x="1876426" y="1395413"/>
            <a:ext cx="8765541" cy="1831976"/>
          </a:xfrm>
          <a:prstGeom prst="rect">
            <a:avLst/>
          </a:prstGeom>
          <a:noFill/>
          <a:ln w="9525">
            <a:noFill/>
            <a:miter lim="800000"/>
            <a:headEnd/>
            <a:tailEnd/>
          </a:ln>
          <a:effectLst/>
        </p:spPr>
        <p:txBody>
          <a:bodyPr wrap="none">
            <a:spAutoFit/>
          </a:bodyPr>
          <a:lstStyle/>
          <a:p>
            <a:pPr>
              <a:lnSpc>
                <a:spcPct val="150000"/>
              </a:lnSpc>
              <a:spcBef>
                <a:spcPct val="20000"/>
              </a:spcBef>
              <a:buSzPct val="90000"/>
            </a:pPr>
            <a:r>
              <a:rPr kumimoji="1" lang="en-US" altLang="zh-CN" sz="2400" b="1" dirty="0">
                <a:latin typeface="Times New Roman" pitchFamily="18" charset="0"/>
              </a:rPr>
              <a:t>1</a:t>
            </a:r>
            <a:r>
              <a:rPr kumimoji="1" lang="zh-CN" altLang="en-US" sz="2400" b="1" dirty="0">
                <a:latin typeface="Times New Roman" pitchFamily="18" charset="0"/>
              </a:rPr>
              <a:t>、一个程序不一定满足有穷性（如一个操作系统在用户未使 </a:t>
            </a:r>
          </a:p>
          <a:p>
            <a:pPr>
              <a:lnSpc>
                <a:spcPct val="150000"/>
              </a:lnSpc>
              <a:spcBef>
                <a:spcPct val="20000"/>
              </a:spcBef>
              <a:buSzPct val="90000"/>
            </a:pPr>
            <a:r>
              <a:rPr kumimoji="1" lang="zh-CN" altLang="en-US" sz="2400" b="1" dirty="0">
                <a:latin typeface="Times New Roman" pitchFamily="18" charset="0"/>
              </a:rPr>
              <a:t>      用前一直处于“等待” 的循环中</a:t>
            </a:r>
            <a:r>
              <a:rPr kumimoji="1" lang="en-US" altLang="zh-CN" sz="2400" b="1" dirty="0">
                <a:latin typeface="Times New Roman" pitchFamily="18" charset="0"/>
              </a:rPr>
              <a:t>,  </a:t>
            </a:r>
            <a:r>
              <a:rPr kumimoji="1" lang="zh-CN" altLang="en-US" sz="2400" b="1" dirty="0">
                <a:latin typeface="Times New Roman" pitchFamily="18" charset="0"/>
              </a:rPr>
              <a:t>直到出现新的用户事件为 </a:t>
            </a:r>
          </a:p>
          <a:p>
            <a:pPr>
              <a:lnSpc>
                <a:spcPct val="150000"/>
              </a:lnSpc>
              <a:spcBef>
                <a:spcPct val="20000"/>
              </a:spcBef>
              <a:buSzPct val="90000"/>
            </a:pPr>
            <a:r>
              <a:rPr kumimoji="1" lang="zh-CN" altLang="en-US" sz="2400" b="1" dirty="0">
                <a:latin typeface="Times New Roman" pitchFamily="18" charset="0"/>
              </a:rPr>
              <a:t>      止。这样的系统可以无休止地运行，直到系统停工。）；</a:t>
            </a:r>
          </a:p>
        </p:txBody>
      </p:sp>
      <p:sp>
        <p:nvSpPr>
          <p:cNvPr id="20489" name="Text Box 9"/>
          <p:cNvSpPr txBox="1">
            <a:spLocks noChangeArrowheads="1"/>
          </p:cNvSpPr>
          <p:nvPr/>
        </p:nvSpPr>
        <p:spPr bwMode="auto">
          <a:xfrm>
            <a:off x="1876425" y="3317875"/>
            <a:ext cx="8767144" cy="1204112"/>
          </a:xfrm>
          <a:prstGeom prst="rect">
            <a:avLst/>
          </a:prstGeom>
          <a:noFill/>
          <a:ln w="9525">
            <a:noFill/>
            <a:miter lim="800000"/>
            <a:headEnd/>
            <a:tailEnd/>
          </a:ln>
          <a:effectLst/>
        </p:spPr>
        <p:txBody>
          <a:bodyPr wrap="none">
            <a:spAutoFit/>
          </a:bodyPr>
          <a:lstStyle/>
          <a:p>
            <a:pPr>
              <a:lnSpc>
                <a:spcPct val="150000"/>
              </a:lnSpc>
              <a:spcBef>
                <a:spcPct val="20000"/>
              </a:spcBef>
              <a:buSzPct val="90000"/>
            </a:pPr>
            <a:r>
              <a:rPr kumimoji="1" lang="en-US" altLang="zh-CN" sz="2400" b="1">
                <a:latin typeface="Times New Roman" pitchFamily="18" charset="0"/>
              </a:rPr>
              <a:t>2</a:t>
            </a:r>
            <a:r>
              <a:rPr kumimoji="1" lang="zh-CN" altLang="en-US" sz="2400" b="1">
                <a:latin typeface="Times New Roman" pitchFamily="18" charset="0"/>
              </a:rPr>
              <a:t>、程序中的指令必须是机器可执行的，而算法中的指令则无 </a:t>
            </a:r>
          </a:p>
          <a:p>
            <a:pPr>
              <a:lnSpc>
                <a:spcPct val="150000"/>
              </a:lnSpc>
              <a:spcBef>
                <a:spcPct val="20000"/>
              </a:spcBef>
              <a:buSzPct val="90000"/>
            </a:pPr>
            <a:r>
              <a:rPr kumimoji="1" lang="zh-CN" altLang="en-US" sz="2400" b="1">
                <a:latin typeface="Times New Roman" pitchFamily="18" charset="0"/>
              </a:rPr>
              <a:t>      此限制。算法若用计算机语言来书写，则它就可以是程序。 </a:t>
            </a:r>
            <a:endParaRPr kumimoji="1" lang="zh-CN" altLang="en-US" sz="2400">
              <a:latin typeface="Times New Roman" pitchFamily="18" charset="0"/>
              <a:ea typeface="宋体" pitchFamily="2" charset="-122"/>
            </a:endParaRPr>
          </a:p>
        </p:txBody>
      </p:sp>
      <p:sp>
        <p:nvSpPr>
          <p:cNvPr id="20490" name="Text Box 10"/>
          <p:cNvSpPr txBox="1">
            <a:spLocks noChangeArrowheads="1"/>
          </p:cNvSpPr>
          <p:nvPr/>
        </p:nvSpPr>
        <p:spPr bwMode="auto">
          <a:xfrm>
            <a:off x="1846263" y="4646614"/>
            <a:ext cx="8489950" cy="1735137"/>
          </a:xfrm>
          <a:prstGeom prst="rect">
            <a:avLst/>
          </a:prstGeom>
          <a:noFill/>
          <a:ln w="9525">
            <a:noFill/>
            <a:miter lim="800000"/>
            <a:headEnd/>
            <a:tailEnd/>
          </a:ln>
          <a:effectLst/>
        </p:spPr>
        <p:txBody>
          <a:bodyPr wrap="none">
            <a:spAutoFit/>
          </a:bodyPr>
          <a:lstStyle/>
          <a:p>
            <a:pPr>
              <a:lnSpc>
                <a:spcPct val="150000"/>
              </a:lnSpc>
            </a:pPr>
            <a:r>
              <a:rPr kumimoji="1" lang="en-US" altLang="zh-CN" sz="2400" b="1">
                <a:solidFill>
                  <a:srgbClr val="000000"/>
                </a:solidFill>
                <a:latin typeface="Times New Roman" pitchFamily="18" charset="0"/>
                <a:ea typeface="华文新魏" pitchFamily="2" charset="-122"/>
              </a:rPr>
              <a:t>        </a:t>
            </a:r>
            <a:r>
              <a:rPr kumimoji="1" lang="zh-CN" altLang="en-US" sz="2400" b="1">
                <a:solidFill>
                  <a:srgbClr val="000000"/>
                </a:solidFill>
                <a:latin typeface="Times New Roman" pitchFamily="18" charset="0"/>
                <a:ea typeface="华文新魏" pitchFamily="2" charset="-122"/>
              </a:rPr>
              <a:t>一个算法可以用自然语言、数学语言或约定符号来描述， </a:t>
            </a:r>
          </a:p>
          <a:p>
            <a:pPr>
              <a:lnSpc>
                <a:spcPct val="150000"/>
              </a:lnSpc>
            </a:pPr>
            <a:r>
              <a:rPr kumimoji="1" lang="zh-CN" altLang="en-US" sz="2400" b="1">
                <a:solidFill>
                  <a:srgbClr val="000000"/>
                </a:solidFill>
                <a:latin typeface="Times New Roman" pitchFamily="18" charset="0"/>
                <a:ea typeface="华文新魏" pitchFamily="2" charset="-122"/>
              </a:rPr>
              <a:t>也可以用流程图、计算机高级程序语言</a:t>
            </a:r>
            <a:r>
              <a:rPr kumimoji="1" lang="zh-CN" altLang="en-US" sz="2400" b="1">
                <a:solidFill>
                  <a:srgbClr val="000000"/>
                </a:solidFill>
                <a:latin typeface="Times New Roman" pitchFamily="18" charset="0"/>
                <a:ea typeface="华文中宋" pitchFamily="2" charset="-122"/>
              </a:rPr>
              <a:t>（</a:t>
            </a:r>
            <a:r>
              <a:rPr kumimoji="1" lang="zh-CN" altLang="en-US" sz="2400" b="1">
                <a:solidFill>
                  <a:srgbClr val="000000"/>
                </a:solidFill>
                <a:latin typeface="Times New Roman" pitchFamily="18" charset="0"/>
                <a:ea typeface="华文新魏" pitchFamily="2" charset="-122"/>
              </a:rPr>
              <a:t>如 </a:t>
            </a:r>
            <a:r>
              <a:rPr kumimoji="1" lang="en-US" altLang="zh-CN" sz="2400" b="1">
                <a:solidFill>
                  <a:srgbClr val="000000"/>
                </a:solidFill>
                <a:latin typeface="Times New Roman" pitchFamily="18" charset="0"/>
                <a:ea typeface="华文新魏" pitchFamily="2" charset="-122"/>
              </a:rPr>
              <a:t>C </a:t>
            </a:r>
            <a:r>
              <a:rPr kumimoji="1" lang="zh-CN" altLang="en-US" sz="2400" b="1">
                <a:solidFill>
                  <a:srgbClr val="000000"/>
                </a:solidFill>
                <a:latin typeface="Times New Roman" pitchFamily="18" charset="0"/>
                <a:ea typeface="华文新魏" pitchFamily="2" charset="-122"/>
              </a:rPr>
              <a:t>语言</a:t>
            </a:r>
            <a:r>
              <a:rPr kumimoji="1" lang="zh-CN" altLang="en-US" sz="2400" b="1">
                <a:solidFill>
                  <a:srgbClr val="000000"/>
                </a:solidFill>
                <a:latin typeface="Times New Roman" pitchFamily="18" charset="0"/>
                <a:ea typeface="华文中宋" pitchFamily="2" charset="-122"/>
              </a:rPr>
              <a:t>）</a:t>
            </a:r>
            <a:r>
              <a:rPr kumimoji="1" lang="zh-CN" altLang="en-US" sz="2400" b="1">
                <a:solidFill>
                  <a:srgbClr val="000000"/>
                </a:solidFill>
                <a:latin typeface="Times New Roman" pitchFamily="18" charset="0"/>
                <a:ea typeface="华文新魏" pitchFamily="2" charset="-122"/>
              </a:rPr>
              <a:t>或伪代 </a:t>
            </a:r>
          </a:p>
          <a:p>
            <a:pPr>
              <a:lnSpc>
                <a:spcPct val="150000"/>
              </a:lnSpc>
            </a:pPr>
            <a:r>
              <a:rPr kumimoji="1" lang="zh-CN" altLang="en-US" sz="2400" b="1">
                <a:solidFill>
                  <a:srgbClr val="000000"/>
                </a:solidFill>
                <a:latin typeface="Times New Roman" pitchFamily="18" charset="0"/>
                <a:ea typeface="华文新魏" pitchFamily="2" charset="-122"/>
              </a:rPr>
              <a:t>码等来描述 。 </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20487"/>
                                        </p:tgtEl>
                                        <p:attrNameLst>
                                          <p:attrName>style.visibility</p:attrName>
                                        </p:attrNameLst>
                                      </p:cBhvr>
                                      <p:to>
                                        <p:strVal val="visible"/>
                                      </p:to>
                                    </p:set>
                                    <p:anim calcmode="lin" valueType="num">
                                      <p:cBhvr>
                                        <p:cTn id="7" dur="500" fill="hold"/>
                                        <p:tgtEl>
                                          <p:spTgt spid="20487"/>
                                        </p:tgtEl>
                                        <p:attrNameLst>
                                          <p:attrName>ppt_w</p:attrName>
                                        </p:attrNameLst>
                                      </p:cBhvr>
                                      <p:tavLst>
                                        <p:tav tm="0">
                                          <p:val>
                                            <p:fltVal val="0"/>
                                          </p:val>
                                        </p:tav>
                                        <p:tav tm="100000">
                                          <p:val>
                                            <p:strVal val="#ppt_w"/>
                                          </p:val>
                                        </p:tav>
                                      </p:tavLst>
                                    </p:anim>
                                    <p:anim calcmode="lin" valueType="num">
                                      <p:cBhvr>
                                        <p:cTn id="8" dur="500" fill="hold"/>
                                        <p:tgtEl>
                                          <p:spTgt spid="2048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0486"/>
                                        </p:tgtEl>
                                        <p:attrNameLst>
                                          <p:attrName>style.visibility</p:attrName>
                                        </p:attrNameLst>
                                      </p:cBhvr>
                                      <p:to>
                                        <p:strVal val="visible"/>
                                      </p:to>
                                    </p:set>
                                    <p:animEffect transition="in" filter="wipe(left)">
                                      <p:cBhvr>
                                        <p:cTn id="12" dur="500"/>
                                        <p:tgtEl>
                                          <p:spTgt spid="2048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488"/>
                                        </p:tgtEl>
                                        <p:attrNameLst>
                                          <p:attrName>style.visibility</p:attrName>
                                        </p:attrNameLst>
                                      </p:cBhvr>
                                      <p:to>
                                        <p:strVal val="visible"/>
                                      </p:to>
                                    </p:set>
                                    <p:animEffect transition="in" filter="blinds(horizontal)">
                                      <p:cBhvr>
                                        <p:cTn id="17" dur="500"/>
                                        <p:tgtEl>
                                          <p:spTgt spid="2048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0489"/>
                                        </p:tgtEl>
                                        <p:attrNameLst>
                                          <p:attrName>style.visibility</p:attrName>
                                        </p:attrNameLst>
                                      </p:cBhvr>
                                      <p:to>
                                        <p:strVal val="visible"/>
                                      </p:to>
                                    </p:set>
                                    <p:animEffect transition="in" filter="blinds(vertical)">
                                      <p:cBhvr>
                                        <p:cTn id="22" dur="500"/>
                                        <p:tgtEl>
                                          <p:spTgt spid="2048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0490"/>
                                        </p:tgtEl>
                                        <p:attrNameLst>
                                          <p:attrName>style.visibility</p:attrName>
                                        </p:attrNameLst>
                                      </p:cBhvr>
                                      <p:to>
                                        <p:strVal val="visible"/>
                                      </p:to>
                                    </p:set>
                                    <p:anim calcmode="lin" valueType="num">
                                      <p:cBhvr additive="base">
                                        <p:cTn id="27" dur="500" fill="hold"/>
                                        <p:tgtEl>
                                          <p:spTgt spid="20490"/>
                                        </p:tgtEl>
                                        <p:attrNameLst>
                                          <p:attrName>ppt_x</p:attrName>
                                        </p:attrNameLst>
                                      </p:cBhvr>
                                      <p:tavLst>
                                        <p:tav tm="0">
                                          <p:val>
                                            <p:strVal val="#ppt_x"/>
                                          </p:val>
                                        </p:tav>
                                        <p:tav tm="100000">
                                          <p:val>
                                            <p:strVal val="#ppt_x"/>
                                          </p:val>
                                        </p:tav>
                                      </p:tavLst>
                                    </p:anim>
                                    <p:anim calcmode="lin" valueType="num">
                                      <p:cBhvr additive="base">
                                        <p:cTn id="28" dur="500" fill="hold"/>
                                        <p:tgtEl>
                                          <p:spTgt spid="204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autoUpdateAnimBg="0"/>
      <p:bldP spid="20487" grpId="0" animBg="1" autoUpdateAnimBg="0"/>
      <p:bldP spid="20488" grpId="0" autoUpdateAnimBg="0"/>
      <p:bldP spid="20489" grpId="0" autoUpdateAnimBg="0"/>
      <p:bldP spid="20490"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算法的表现形式</a:t>
            </a:r>
          </a:p>
        </p:txBody>
      </p:sp>
      <p:sp>
        <p:nvSpPr>
          <p:cNvPr id="4" name="内容占位符 2"/>
          <p:cNvSpPr>
            <a:spLocks noGrp="1"/>
          </p:cNvSpPr>
          <p:nvPr>
            <p:ph idx="1"/>
          </p:nvPr>
        </p:nvSpPr>
        <p:spPr>
          <a:xfrm>
            <a:off x="1981200" y="1379910"/>
            <a:ext cx="8229600" cy="5073427"/>
          </a:xfrm>
        </p:spPr>
        <p:txBody>
          <a:bodyPr>
            <a:normAutofit fontScale="92500" lnSpcReduction="20000"/>
          </a:bodyPr>
          <a:lstStyle/>
          <a:p>
            <a:pPr>
              <a:buNone/>
            </a:pPr>
            <a:r>
              <a:rPr lang="en-US" altLang="zh-CN" sz="2800" dirty="0"/>
              <a:t>void   </a:t>
            </a:r>
            <a:r>
              <a:rPr lang="en-US" altLang="zh-CN" sz="2800" dirty="0" err="1"/>
              <a:t>bubble_sort</a:t>
            </a:r>
            <a:r>
              <a:rPr lang="en-US" altLang="zh-CN" sz="2800" dirty="0"/>
              <a:t>(</a:t>
            </a:r>
            <a:r>
              <a:rPr lang="en-US" altLang="zh-CN" sz="2800" dirty="0" err="1"/>
              <a:t>int</a:t>
            </a:r>
            <a:r>
              <a:rPr lang="en-US" altLang="zh-CN" sz="2800" dirty="0"/>
              <a:t>   a[] , </a:t>
            </a:r>
            <a:r>
              <a:rPr lang="en-US" altLang="zh-CN" sz="2800" dirty="0" err="1"/>
              <a:t>int</a:t>
            </a:r>
            <a:r>
              <a:rPr lang="en-US" altLang="zh-CN" sz="2800" dirty="0"/>
              <a:t>  n)</a:t>
            </a:r>
          </a:p>
          <a:p>
            <a:pPr>
              <a:buNone/>
            </a:pPr>
            <a:r>
              <a:rPr lang="en-US" altLang="zh-CN" sz="2800" dirty="0"/>
              <a:t>{    //</a:t>
            </a:r>
            <a:r>
              <a:rPr lang="zh-CN" altLang="en-US" sz="2800" dirty="0">
                <a:solidFill>
                  <a:srgbClr val="FF0000"/>
                </a:solidFill>
              </a:rPr>
              <a:t>将</a:t>
            </a:r>
            <a:r>
              <a:rPr lang="en-US" altLang="zh-CN" sz="2800" dirty="0">
                <a:solidFill>
                  <a:srgbClr val="FF0000"/>
                </a:solidFill>
              </a:rPr>
              <a:t>a</a:t>
            </a:r>
            <a:r>
              <a:rPr lang="zh-CN" altLang="en-US" sz="2800" dirty="0">
                <a:solidFill>
                  <a:srgbClr val="FF0000"/>
                </a:solidFill>
              </a:rPr>
              <a:t>中整数序列按从小到大的顺序排序</a:t>
            </a:r>
            <a:endParaRPr lang="en-US" altLang="zh-CN" sz="2800" dirty="0">
              <a:solidFill>
                <a:srgbClr val="FF0000"/>
              </a:solidFill>
            </a:endParaRPr>
          </a:p>
          <a:p>
            <a:pPr>
              <a:buNone/>
            </a:pPr>
            <a:r>
              <a:rPr lang="en-US" altLang="zh-CN" sz="2800" dirty="0"/>
              <a:t>	  for(</a:t>
            </a:r>
            <a:r>
              <a:rPr lang="en-US" altLang="zh-CN" sz="2800" dirty="0" err="1"/>
              <a:t>i</a:t>
            </a:r>
            <a:r>
              <a:rPr lang="en-US" altLang="zh-CN" sz="2800" dirty="0"/>
              <a:t> = n-1, change = </a:t>
            </a:r>
            <a:r>
              <a:rPr lang="en-US" altLang="zh-CN" sz="2800" dirty="0" err="1"/>
              <a:t>TURE;i</a:t>
            </a:r>
            <a:r>
              <a:rPr lang="en-US" altLang="zh-CN" sz="2800" dirty="0"/>
              <a:t>&gt;=1 &amp;&amp; change; </a:t>
            </a:r>
            <a:r>
              <a:rPr lang="en-US" altLang="zh-CN" sz="2800" dirty="0" err="1"/>
              <a:t>i</a:t>
            </a:r>
            <a:r>
              <a:rPr lang="en-US" altLang="zh-CN" sz="2800" dirty="0"/>
              <a:t>--)</a:t>
            </a:r>
          </a:p>
          <a:p>
            <a:pPr>
              <a:buNone/>
            </a:pPr>
            <a:r>
              <a:rPr lang="en-US" altLang="zh-CN" sz="2800" dirty="0"/>
              <a:t>	  {</a:t>
            </a:r>
          </a:p>
          <a:p>
            <a:pPr>
              <a:buNone/>
            </a:pPr>
            <a:r>
              <a:rPr lang="en-US" altLang="zh-CN" sz="2800" dirty="0"/>
              <a:t>            change = FALSE;//</a:t>
            </a:r>
            <a:r>
              <a:rPr lang="zh-CN" altLang="en-US" sz="2800" dirty="0">
                <a:solidFill>
                  <a:srgbClr val="00B0F0"/>
                </a:solidFill>
              </a:rPr>
              <a:t>交换标识</a:t>
            </a:r>
            <a:endParaRPr lang="en-US" altLang="zh-CN" sz="2800" dirty="0">
              <a:solidFill>
                <a:srgbClr val="00B0F0"/>
              </a:solidFill>
            </a:endParaRPr>
          </a:p>
          <a:p>
            <a:pPr>
              <a:buNone/>
            </a:pPr>
            <a:r>
              <a:rPr lang="en-US" altLang="zh-CN" sz="2800" dirty="0"/>
              <a:t>             for(j = 0; j&lt;</a:t>
            </a:r>
            <a:r>
              <a:rPr lang="en-US" altLang="zh-CN" sz="2800" dirty="0" err="1"/>
              <a:t>i;j</a:t>
            </a:r>
            <a:r>
              <a:rPr lang="en-US" altLang="zh-CN" sz="2800" dirty="0"/>
              <a:t>++)</a:t>
            </a:r>
          </a:p>
          <a:p>
            <a:pPr>
              <a:buNone/>
            </a:pPr>
            <a:r>
              <a:rPr lang="en-US" altLang="zh-CN" sz="2800" dirty="0"/>
              <a:t>		       if(a[j] &gt; a[j+1])</a:t>
            </a:r>
          </a:p>
          <a:p>
            <a:pPr>
              <a:buNone/>
            </a:pPr>
            <a:r>
              <a:rPr lang="en-US" altLang="zh-CN" sz="2800" dirty="0"/>
              <a:t>		       {</a:t>
            </a:r>
          </a:p>
          <a:p>
            <a:pPr>
              <a:buNone/>
            </a:pPr>
            <a:r>
              <a:rPr lang="en-US" altLang="zh-CN" sz="2800" dirty="0"/>
              <a:t>			a[j]</a:t>
            </a:r>
            <a:r>
              <a:rPr lang="en-US" altLang="zh-CN" sz="2800" dirty="0">
                <a:sym typeface="Wingdings" pitchFamily="2" charset="2"/>
              </a:rPr>
              <a:t>&lt;---</a:t>
            </a:r>
            <a:r>
              <a:rPr lang="en-US" altLang="zh-CN" sz="2800" dirty="0"/>
              <a:t>&gt;a[j+1];</a:t>
            </a:r>
          </a:p>
          <a:p>
            <a:pPr>
              <a:buNone/>
            </a:pPr>
            <a:r>
              <a:rPr lang="en-US" altLang="zh-CN" sz="2800" dirty="0"/>
              <a:t>                           change = TRUE;</a:t>
            </a:r>
          </a:p>
          <a:p>
            <a:pPr>
              <a:buNone/>
            </a:pPr>
            <a:r>
              <a:rPr lang="en-US" altLang="zh-CN" sz="2800" dirty="0"/>
              <a:t>                   } </a:t>
            </a:r>
          </a:p>
          <a:p>
            <a:pPr>
              <a:buNone/>
            </a:pPr>
            <a:r>
              <a:rPr lang="en-US" altLang="zh-CN" sz="2800" dirty="0"/>
              <a:t>}</a:t>
            </a:r>
            <a:endParaRPr lang="zh-CN" alt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算法效率的度量</a:t>
            </a:r>
          </a:p>
        </p:txBody>
      </p:sp>
      <p:sp>
        <p:nvSpPr>
          <p:cNvPr id="3" name="内容占位符 2"/>
          <p:cNvSpPr>
            <a:spLocks noGrp="1"/>
          </p:cNvSpPr>
          <p:nvPr>
            <p:ph idx="1"/>
          </p:nvPr>
        </p:nvSpPr>
        <p:spPr>
          <a:xfrm>
            <a:off x="1981200" y="1412776"/>
            <a:ext cx="8363272" cy="5257800"/>
          </a:xfrm>
        </p:spPr>
        <p:txBody>
          <a:bodyPr>
            <a:normAutofit/>
          </a:bodyPr>
          <a:lstStyle/>
          <a:p>
            <a:r>
              <a:rPr lang="zh-CN" altLang="en-US" dirty="0"/>
              <a:t>事后统计法</a:t>
            </a:r>
            <a:endParaRPr lang="en-US" altLang="zh-CN" dirty="0"/>
          </a:p>
          <a:p>
            <a:r>
              <a:rPr lang="zh-CN" altLang="en-US" dirty="0"/>
              <a:t>事前分析法</a:t>
            </a:r>
            <a:endParaRPr lang="en-US" altLang="zh-CN" dirty="0"/>
          </a:p>
          <a:p>
            <a:pPr marL="0" indent="0">
              <a:buNone/>
            </a:pPr>
            <a:r>
              <a:rPr lang="en-US" altLang="zh-CN" dirty="0"/>
              <a:t>--</a:t>
            </a:r>
            <a:r>
              <a:rPr lang="zh-CN" altLang="en-US" dirty="0"/>
              <a:t>只考虑问题规模（基本操作）</a:t>
            </a:r>
            <a:endParaRPr lang="en-US" altLang="zh-CN" dirty="0"/>
          </a:p>
          <a:p>
            <a:pPr>
              <a:buNone/>
            </a:pPr>
            <a:r>
              <a:rPr lang="en-US" altLang="zh-CN" dirty="0">
                <a:latin typeface="+mn-ea"/>
              </a:rPr>
              <a:t>    </a:t>
            </a:r>
            <a:r>
              <a:rPr lang="zh-CN" altLang="en-US" sz="2400" dirty="0">
                <a:latin typeface="+mn-ea"/>
              </a:rPr>
              <a:t>一般情况下，算法中基本操作重复执行的次数是问题规模</a:t>
            </a:r>
            <a:r>
              <a:rPr lang="en-US" altLang="zh-CN" sz="2400" dirty="0">
                <a:latin typeface="+mn-ea"/>
              </a:rPr>
              <a:t>n</a:t>
            </a:r>
            <a:r>
              <a:rPr lang="zh-CN" altLang="en-US" sz="2400" dirty="0">
                <a:latin typeface="+mn-ea"/>
              </a:rPr>
              <a:t>的某个函数</a:t>
            </a:r>
            <a:r>
              <a:rPr lang="en-US" altLang="zh-CN" sz="2400" dirty="0">
                <a:latin typeface="+mn-ea"/>
              </a:rPr>
              <a:t>f(n)</a:t>
            </a:r>
            <a:r>
              <a:rPr lang="zh-CN" altLang="en-US" sz="2400" dirty="0">
                <a:latin typeface="+mn-ea"/>
              </a:rPr>
              <a:t>，记作：</a:t>
            </a:r>
            <a:r>
              <a:rPr lang="en-US" altLang="zh-CN" sz="2400" dirty="0">
                <a:solidFill>
                  <a:srgbClr val="FF0000"/>
                </a:solidFill>
                <a:latin typeface="+mn-ea"/>
              </a:rPr>
              <a:t>T(n) = O(f(n))</a:t>
            </a:r>
            <a:r>
              <a:rPr lang="zh-CN" altLang="en-US" sz="2400" dirty="0">
                <a:latin typeface="+mn-ea"/>
              </a:rPr>
              <a:t>，它表示随着问题规模</a:t>
            </a:r>
            <a:r>
              <a:rPr lang="en-US" altLang="zh-CN" sz="2400" dirty="0">
                <a:latin typeface="+mn-ea"/>
              </a:rPr>
              <a:t>n</a:t>
            </a:r>
            <a:r>
              <a:rPr lang="zh-CN" altLang="en-US" sz="2400" dirty="0">
                <a:latin typeface="+mn-ea"/>
              </a:rPr>
              <a:t>的增大，算法执行时间的增长率和</a:t>
            </a:r>
            <a:r>
              <a:rPr lang="en-US" altLang="zh-CN" sz="2400" dirty="0">
                <a:latin typeface="+mn-ea"/>
              </a:rPr>
              <a:t>f(n)</a:t>
            </a:r>
            <a:r>
              <a:rPr lang="zh-CN" altLang="en-US" sz="2400" dirty="0">
                <a:latin typeface="+mn-ea"/>
              </a:rPr>
              <a:t>的增长率相同。</a:t>
            </a:r>
            <a:endParaRPr lang="en-US" altLang="zh-CN" sz="2400" dirty="0">
              <a:latin typeface="+mn-ea"/>
            </a:endParaRPr>
          </a:p>
          <a:p>
            <a:pPr marL="0" indent="0">
              <a:buNone/>
            </a:pPr>
            <a:r>
              <a:rPr lang="en-US" altLang="zh-CN" dirty="0"/>
              <a:t>--</a:t>
            </a:r>
            <a:r>
              <a:rPr lang="zh-CN" altLang="en-US" dirty="0"/>
              <a:t>频度的概念</a:t>
            </a:r>
            <a:endParaRPr lang="en-US" altLang="zh-CN" dirty="0"/>
          </a:p>
          <a:p>
            <a:pPr>
              <a:buNone/>
            </a:pPr>
            <a:r>
              <a:rPr lang="en-US" altLang="zh-CN" dirty="0"/>
              <a:t>        </a:t>
            </a:r>
            <a:r>
              <a:rPr lang="zh-CN" altLang="en-US" sz="2400" dirty="0">
                <a:latin typeface="+mn-ea"/>
              </a:rPr>
              <a:t>基本操作的执行次数。</a:t>
            </a:r>
            <a:endParaRPr lang="en-US" altLang="zh-CN" sz="24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8" name="Text Box 24"/>
          <p:cNvSpPr txBox="1">
            <a:spLocks noChangeArrowheads="1"/>
          </p:cNvSpPr>
          <p:nvPr/>
        </p:nvSpPr>
        <p:spPr bwMode="auto">
          <a:xfrm>
            <a:off x="1631951" y="1268414"/>
            <a:ext cx="8762335" cy="1934247"/>
          </a:xfrm>
          <a:prstGeom prst="rect">
            <a:avLst/>
          </a:prstGeom>
          <a:noFill/>
          <a:ln w="9525">
            <a:noFill/>
            <a:miter lim="800000"/>
            <a:headEnd/>
            <a:tailEnd/>
          </a:ln>
          <a:effectLst/>
        </p:spPr>
        <p:txBody>
          <a:bodyPr wrap="none">
            <a:spAutoFit/>
          </a:bodyPr>
          <a:lstStyle/>
          <a:p>
            <a:pPr>
              <a:lnSpc>
                <a:spcPct val="160000"/>
              </a:lnSpc>
              <a:spcBef>
                <a:spcPct val="20000"/>
              </a:spcBef>
              <a:buClr>
                <a:schemeClr val="accent2"/>
              </a:buClr>
              <a:buSzPct val="80000"/>
              <a:buFont typeface="Wingdings" pitchFamily="2" charset="2"/>
              <a:buNone/>
            </a:pPr>
            <a:r>
              <a:rPr kumimoji="1" lang="zh-CN" altLang="en-US" sz="2400" b="1" dirty="0">
                <a:latin typeface="Times New Roman" pitchFamily="18" charset="0"/>
                <a:ea typeface="华文中宋" pitchFamily="2" charset="-122"/>
              </a:rPr>
              <a:t>例：</a:t>
            </a:r>
            <a:r>
              <a:rPr kumimoji="1" lang="en-US" altLang="zh-CN" sz="2400" b="1" dirty="0">
                <a:latin typeface="Times New Roman" pitchFamily="18" charset="0"/>
              </a:rPr>
              <a:t>{</a:t>
            </a:r>
            <a:r>
              <a:rPr kumimoji="1" lang="en-US" altLang="zh-CN" sz="2400" b="1" dirty="0">
                <a:solidFill>
                  <a:srgbClr val="0000FF"/>
                </a:solidFill>
                <a:latin typeface="Times New Roman" pitchFamily="18" charset="0"/>
              </a:rPr>
              <a:t>++</a:t>
            </a:r>
            <a:r>
              <a:rPr kumimoji="1" lang="en-US" altLang="zh-CN" sz="2400" b="1" i="1" dirty="0">
                <a:solidFill>
                  <a:srgbClr val="0000FF"/>
                </a:solidFill>
                <a:latin typeface="Times New Roman" pitchFamily="18" charset="0"/>
              </a:rPr>
              <a:t>x</a:t>
            </a:r>
            <a:r>
              <a:rPr kumimoji="1" lang="en-US" altLang="zh-CN" sz="2400" b="1" dirty="0">
                <a:solidFill>
                  <a:srgbClr val="0000FF"/>
                </a:solidFill>
                <a:latin typeface="Times New Roman" pitchFamily="18" charset="0"/>
              </a:rPr>
              <a:t>; </a:t>
            </a:r>
            <a:r>
              <a:rPr kumimoji="1" lang="en-US" altLang="zh-CN" sz="2400" b="1" i="1" dirty="0">
                <a:latin typeface="Times New Roman" pitchFamily="18" charset="0"/>
              </a:rPr>
              <a:t>s</a:t>
            </a:r>
            <a:r>
              <a:rPr kumimoji="1" lang="en-US" altLang="zh-CN" sz="2400" b="1" dirty="0">
                <a:latin typeface="Times New Roman" pitchFamily="18" charset="0"/>
              </a:rPr>
              <a:t>=0;}</a:t>
            </a:r>
          </a:p>
          <a:p>
            <a:pPr>
              <a:lnSpc>
                <a:spcPct val="160000"/>
              </a:lnSpc>
              <a:spcBef>
                <a:spcPct val="20000"/>
              </a:spcBef>
              <a:buClr>
                <a:schemeClr val="accent2"/>
              </a:buClr>
              <a:buSzPct val="80000"/>
              <a:buFont typeface="Wingdings" pitchFamily="2" charset="2"/>
              <a:buNone/>
            </a:pPr>
            <a:r>
              <a:rPr kumimoji="1" lang="en-US" altLang="zh-CN" sz="2400" b="1" dirty="0">
                <a:latin typeface="Times New Roman" pitchFamily="18" charset="0"/>
              </a:rPr>
              <a:t>        </a:t>
            </a:r>
            <a:r>
              <a:rPr kumimoji="1" lang="zh-CN" altLang="en-US" sz="2400" b="1" dirty="0">
                <a:latin typeface="Times New Roman" pitchFamily="18" charset="0"/>
              </a:rPr>
              <a:t>包含 “</a:t>
            </a:r>
            <a:r>
              <a:rPr kumimoji="1" lang="en-US" altLang="zh-CN" sz="2400" b="1" i="1" dirty="0">
                <a:latin typeface="Times New Roman" pitchFamily="18" charset="0"/>
              </a:rPr>
              <a:t>x </a:t>
            </a:r>
            <a:r>
              <a:rPr kumimoji="1" lang="zh-CN" altLang="en-US" sz="2400" b="1" dirty="0">
                <a:latin typeface="Times New Roman" pitchFamily="18" charset="0"/>
              </a:rPr>
              <a:t>增 </a:t>
            </a:r>
            <a:r>
              <a:rPr kumimoji="1" lang="en-US" altLang="zh-CN" sz="2400" b="1" dirty="0">
                <a:latin typeface="Times New Roman" pitchFamily="18" charset="0"/>
              </a:rPr>
              <a:t>1” </a:t>
            </a:r>
            <a:r>
              <a:rPr kumimoji="1" lang="zh-CN" altLang="en-US" sz="2400" b="1" dirty="0">
                <a:latin typeface="Times New Roman" pitchFamily="18" charset="0"/>
              </a:rPr>
              <a:t>基本操作的语句的频度为１，即时间复杂度 </a:t>
            </a:r>
          </a:p>
          <a:p>
            <a:pPr>
              <a:lnSpc>
                <a:spcPct val="160000"/>
              </a:lnSpc>
              <a:spcBef>
                <a:spcPct val="20000"/>
              </a:spcBef>
              <a:buClr>
                <a:schemeClr val="accent2"/>
              </a:buClr>
              <a:buSzPct val="80000"/>
              <a:buFont typeface="Wingdings" pitchFamily="2" charset="2"/>
              <a:buNone/>
            </a:pPr>
            <a:r>
              <a:rPr kumimoji="1" lang="zh-CN" altLang="en-US" sz="2400" b="1" dirty="0">
                <a:latin typeface="Times New Roman" pitchFamily="18" charset="0"/>
              </a:rPr>
              <a:t>为</a:t>
            </a:r>
            <a:r>
              <a:rPr kumimoji="1" lang="en-US" altLang="zh-CN" sz="2400" b="1" i="1" dirty="0">
                <a:latin typeface="Times New Roman" pitchFamily="18" charset="0"/>
              </a:rPr>
              <a:t>O</a:t>
            </a:r>
            <a:r>
              <a:rPr kumimoji="1" lang="en-US" altLang="zh-CN" sz="2400" b="1" dirty="0">
                <a:latin typeface="Times New Roman" pitchFamily="18" charset="0"/>
              </a:rPr>
              <a:t>(1)</a:t>
            </a:r>
            <a:r>
              <a:rPr kumimoji="1" lang="zh-CN" altLang="en-US" sz="2400" b="1" dirty="0">
                <a:latin typeface="Times New Roman" pitchFamily="18" charset="0"/>
              </a:rPr>
              <a:t>。</a:t>
            </a:r>
            <a:r>
              <a:rPr kumimoji="1" lang="en-US" altLang="zh-CN" sz="2400" b="1" i="1" dirty="0">
                <a:latin typeface="Times New Roman" pitchFamily="18" charset="0"/>
              </a:rPr>
              <a:t>O</a:t>
            </a:r>
            <a:r>
              <a:rPr kumimoji="1" lang="en-US" altLang="zh-CN" sz="2400" b="1" dirty="0">
                <a:latin typeface="Times New Roman" pitchFamily="18" charset="0"/>
              </a:rPr>
              <a:t>(1) </a:t>
            </a:r>
            <a:r>
              <a:rPr kumimoji="1" lang="zh-CN" altLang="en-US" sz="2400" b="1" dirty="0">
                <a:latin typeface="Times New Roman" pitchFamily="18" charset="0"/>
              </a:rPr>
              <a:t>表示算法的运行时间为常量。即：</a:t>
            </a:r>
            <a:r>
              <a:rPr kumimoji="1" lang="zh-CN" altLang="en-US" sz="2400" b="1" dirty="0">
                <a:solidFill>
                  <a:srgbClr val="FF3300"/>
                </a:solidFill>
                <a:effectLst>
                  <a:outerShdw blurRad="38100" dist="38100" dir="2700000" algn="tl">
                    <a:srgbClr val="000000"/>
                  </a:outerShdw>
                </a:effectLst>
                <a:latin typeface="Times New Roman" pitchFamily="18" charset="0"/>
                <a:ea typeface="华文中宋" pitchFamily="2" charset="-122"/>
              </a:rPr>
              <a:t>常量阶</a:t>
            </a:r>
            <a:r>
              <a:rPr kumimoji="1" lang="zh-CN" altLang="en-US" sz="2400" b="1" dirty="0">
                <a:latin typeface="Times New Roman" pitchFamily="18" charset="0"/>
              </a:rPr>
              <a:t>。</a:t>
            </a:r>
          </a:p>
        </p:txBody>
      </p:sp>
      <p:sp>
        <p:nvSpPr>
          <p:cNvPr id="16409" name="Text Box 25"/>
          <p:cNvSpPr txBox="1">
            <a:spLocks noChangeArrowheads="1"/>
          </p:cNvSpPr>
          <p:nvPr/>
        </p:nvSpPr>
        <p:spPr bwMode="auto">
          <a:xfrm>
            <a:off x="1600200" y="3544889"/>
            <a:ext cx="8933856" cy="2599045"/>
          </a:xfrm>
          <a:prstGeom prst="rect">
            <a:avLst/>
          </a:prstGeom>
          <a:noFill/>
          <a:ln w="9525">
            <a:noFill/>
            <a:miter lim="800000"/>
            <a:headEnd/>
            <a:tailEnd/>
          </a:ln>
          <a:effectLst/>
        </p:spPr>
        <p:txBody>
          <a:bodyPr wrap="none">
            <a:spAutoFit/>
          </a:bodyPr>
          <a:lstStyle/>
          <a:p>
            <a:pPr>
              <a:lnSpc>
                <a:spcPct val="160000"/>
              </a:lnSpc>
              <a:spcBef>
                <a:spcPct val="20000"/>
              </a:spcBef>
              <a:buClr>
                <a:schemeClr val="accent2"/>
              </a:buClr>
              <a:buSzPct val="80000"/>
              <a:buFont typeface="Wingdings" pitchFamily="2" charset="2"/>
              <a:buNone/>
            </a:pPr>
            <a:r>
              <a:rPr kumimoji="1" lang="zh-CN" altLang="en-US" sz="2400" b="1" dirty="0">
                <a:latin typeface="Times New Roman" pitchFamily="18" charset="0"/>
                <a:ea typeface="华文中宋" pitchFamily="2" charset="-122"/>
              </a:rPr>
              <a:t>例：</a:t>
            </a:r>
            <a:r>
              <a:rPr kumimoji="1" lang="en-US" altLang="zh-CN" sz="2400" b="1" dirty="0">
                <a:latin typeface="Times New Roman" pitchFamily="18" charset="0"/>
              </a:rPr>
              <a:t>for(</a:t>
            </a:r>
            <a:r>
              <a:rPr kumimoji="1" lang="en-US" altLang="zh-CN" sz="2400" b="1" i="1" dirty="0" err="1">
                <a:latin typeface="Times New Roman" pitchFamily="18" charset="0"/>
              </a:rPr>
              <a:t>i</a:t>
            </a:r>
            <a:r>
              <a:rPr kumimoji="1" lang="en-US" altLang="zh-CN" sz="2400" b="1" i="1" dirty="0">
                <a:latin typeface="Times New Roman" pitchFamily="18" charset="0"/>
              </a:rPr>
              <a:t> </a:t>
            </a:r>
            <a:r>
              <a:rPr kumimoji="1" lang="en-US" altLang="zh-CN" sz="2400" b="1" dirty="0">
                <a:latin typeface="Times New Roman" pitchFamily="18" charset="0"/>
              </a:rPr>
              <a:t>=1; </a:t>
            </a:r>
            <a:r>
              <a:rPr kumimoji="1" lang="en-US" altLang="zh-CN" sz="2400" b="1" i="1" dirty="0" err="1">
                <a:latin typeface="Times New Roman" pitchFamily="18" charset="0"/>
              </a:rPr>
              <a:t>i</a:t>
            </a:r>
            <a:r>
              <a:rPr kumimoji="1" lang="en-US" altLang="zh-CN" sz="2400" b="1" i="1" dirty="0">
                <a:latin typeface="Times New Roman" pitchFamily="18" charset="0"/>
              </a:rPr>
              <a:t> </a:t>
            </a:r>
            <a:r>
              <a:rPr kumimoji="1" lang="en-US" altLang="zh-CN" sz="2400" b="1" dirty="0">
                <a:latin typeface="Times New Roman" pitchFamily="18" charset="0"/>
              </a:rPr>
              <a:t>&lt;=</a:t>
            </a:r>
            <a:r>
              <a:rPr kumimoji="1" lang="en-US" altLang="zh-CN" sz="2400" b="1" i="1" dirty="0">
                <a:latin typeface="Times New Roman" pitchFamily="18" charset="0"/>
              </a:rPr>
              <a:t>n</a:t>
            </a:r>
            <a:r>
              <a:rPr kumimoji="1" lang="en-US" altLang="zh-CN" sz="2400" b="1" dirty="0">
                <a:latin typeface="Times New Roman" pitchFamily="18" charset="0"/>
              </a:rPr>
              <a:t>; ++</a:t>
            </a:r>
            <a:r>
              <a:rPr kumimoji="1" lang="en-US" altLang="zh-CN" sz="2400" b="1" i="1" dirty="0" err="1">
                <a:latin typeface="Times New Roman" pitchFamily="18" charset="0"/>
              </a:rPr>
              <a:t>i</a:t>
            </a:r>
            <a:r>
              <a:rPr kumimoji="1" lang="en-US" altLang="zh-CN" sz="2400" b="1" dirty="0">
                <a:latin typeface="Times New Roman" pitchFamily="18" charset="0"/>
              </a:rPr>
              <a:t>)</a:t>
            </a:r>
          </a:p>
          <a:p>
            <a:pPr>
              <a:lnSpc>
                <a:spcPct val="160000"/>
              </a:lnSpc>
              <a:spcBef>
                <a:spcPct val="20000"/>
              </a:spcBef>
              <a:buClr>
                <a:schemeClr val="accent2"/>
              </a:buClr>
              <a:buSzPct val="80000"/>
              <a:buFont typeface="Wingdings" pitchFamily="2" charset="2"/>
              <a:buNone/>
            </a:pPr>
            <a:r>
              <a:rPr kumimoji="1" lang="en-US" altLang="zh-CN" sz="2400" b="1" dirty="0">
                <a:latin typeface="Times New Roman" pitchFamily="18" charset="0"/>
              </a:rPr>
              <a:t>               {</a:t>
            </a:r>
            <a:r>
              <a:rPr kumimoji="1" lang="en-US" altLang="zh-CN" sz="2400" b="1" dirty="0">
                <a:solidFill>
                  <a:srgbClr val="0000FF"/>
                </a:solidFill>
                <a:latin typeface="Times New Roman" pitchFamily="18" charset="0"/>
              </a:rPr>
              <a:t>++</a:t>
            </a:r>
            <a:r>
              <a:rPr kumimoji="1" lang="en-US" altLang="zh-CN" sz="2400" b="1" i="1" dirty="0">
                <a:solidFill>
                  <a:srgbClr val="0000FF"/>
                </a:solidFill>
                <a:latin typeface="Times New Roman" pitchFamily="18" charset="0"/>
              </a:rPr>
              <a:t>x</a:t>
            </a:r>
            <a:r>
              <a:rPr kumimoji="1" lang="en-US" altLang="zh-CN" sz="2400" b="1" dirty="0">
                <a:solidFill>
                  <a:srgbClr val="0000FF"/>
                </a:solidFill>
                <a:latin typeface="Times New Roman" pitchFamily="18" charset="0"/>
              </a:rPr>
              <a:t>;</a:t>
            </a:r>
            <a:r>
              <a:rPr kumimoji="1" lang="en-US" altLang="zh-CN" sz="2400" b="1" dirty="0">
                <a:latin typeface="Times New Roman" pitchFamily="18" charset="0"/>
              </a:rPr>
              <a:t>  </a:t>
            </a:r>
            <a:r>
              <a:rPr kumimoji="1" lang="en-US" altLang="zh-CN" sz="2400" b="1" i="1" dirty="0">
                <a:latin typeface="Times New Roman" pitchFamily="18" charset="0"/>
              </a:rPr>
              <a:t>s </a:t>
            </a:r>
            <a:r>
              <a:rPr kumimoji="1" lang="en-US" altLang="zh-CN" sz="2400" b="1" dirty="0">
                <a:latin typeface="Times New Roman" pitchFamily="18" charset="0"/>
              </a:rPr>
              <a:t>+= </a:t>
            </a:r>
            <a:r>
              <a:rPr kumimoji="1" lang="en-US" altLang="zh-CN" sz="2400" b="1" i="1" dirty="0">
                <a:latin typeface="Times New Roman" pitchFamily="18" charset="0"/>
              </a:rPr>
              <a:t>x</a:t>
            </a:r>
            <a:r>
              <a:rPr kumimoji="1" lang="en-US" altLang="zh-CN" sz="2400" b="1" dirty="0">
                <a:latin typeface="Times New Roman" pitchFamily="18" charset="0"/>
              </a:rPr>
              <a:t>;}</a:t>
            </a:r>
          </a:p>
          <a:p>
            <a:pPr>
              <a:lnSpc>
                <a:spcPct val="160000"/>
              </a:lnSpc>
              <a:spcBef>
                <a:spcPct val="20000"/>
              </a:spcBef>
              <a:buClr>
                <a:schemeClr val="accent2"/>
              </a:buClr>
              <a:buSzPct val="80000"/>
              <a:buFont typeface="Wingdings" pitchFamily="2" charset="2"/>
              <a:buNone/>
            </a:pPr>
            <a:r>
              <a:rPr kumimoji="1" lang="en-US" altLang="zh-CN" sz="2400" b="1" dirty="0">
                <a:latin typeface="Times New Roman" pitchFamily="18" charset="0"/>
              </a:rPr>
              <a:t>        </a:t>
            </a:r>
            <a:r>
              <a:rPr kumimoji="1" lang="zh-CN" altLang="en-US" sz="2400" b="1" dirty="0">
                <a:latin typeface="Times New Roman" pitchFamily="18" charset="0"/>
              </a:rPr>
              <a:t>包含 “</a:t>
            </a:r>
            <a:r>
              <a:rPr kumimoji="1" lang="en-US" altLang="zh-CN" sz="2400" b="1" i="1" dirty="0">
                <a:latin typeface="Times New Roman" pitchFamily="18" charset="0"/>
              </a:rPr>
              <a:t>x </a:t>
            </a:r>
            <a:r>
              <a:rPr kumimoji="1" lang="zh-CN" altLang="en-US" sz="2400" b="1" dirty="0">
                <a:latin typeface="Times New Roman" pitchFamily="18" charset="0"/>
              </a:rPr>
              <a:t>增 </a:t>
            </a:r>
            <a:r>
              <a:rPr kumimoji="1" lang="en-US" altLang="zh-CN" sz="2400" b="1" dirty="0">
                <a:latin typeface="Times New Roman" pitchFamily="18" charset="0"/>
              </a:rPr>
              <a:t>1” </a:t>
            </a:r>
            <a:r>
              <a:rPr kumimoji="1" lang="zh-CN" altLang="en-US" sz="2400" b="1" dirty="0">
                <a:latin typeface="Times New Roman" pitchFamily="18" charset="0"/>
              </a:rPr>
              <a:t>基本操作的语句的频度为：</a:t>
            </a:r>
            <a:r>
              <a:rPr kumimoji="1" lang="en-US" altLang="zh-CN" sz="2400" b="1" i="1" dirty="0">
                <a:latin typeface="Times New Roman" pitchFamily="18" charset="0"/>
              </a:rPr>
              <a:t>n</a:t>
            </a:r>
            <a:r>
              <a:rPr kumimoji="1" lang="zh-CN" altLang="en-US" sz="2400" b="1" dirty="0">
                <a:latin typeface="Times New Roman" pitchFamily="18" charset="0"/>
              </a:rPr>
              <a:t>，其时间复杂度 </a:t>
            </a:r>
          </a:p>
          <a:p>
            <a:pPr>
              <a:lnSpc>
                <a:spcPct val="160000"/>
              </a:lnSpc>
              <a:spcBef>
                <a:spcPct val="20000"/>
              </a:spcBef>
              <a:buClr>
                <a:schemeClr val="accent2"/>
              </a:buClr>
              <a:buSzPct val="80000"/>
              <a:buFont typeface="Wingdings" pitchFamily="2" charset="2"/>
              <a:buNone/>
            </a:pPr>
            <a:r>
              <a:rPr kumimoji="1" lang="zh-CN" altLang="en-US" sz="2400" b="1" dirty="0">
                <a:latin typeface="Times New Roman" pitchFamily="18" charset="0"/>
              </a:rPr>
              <a:t>为：</a:t>
            </a:r>
            <a:r>
              <a:rPr kumimoji="1" lang="en-US" altLang="zh-CN" sz="2400" b="1" i="1" dirty="0">
                <a:latin typeface="Times New Roman" pitchFamily="18" charset="0"/>
              </a:rPr>
              <a:t>O</a:t>
            </a:r>
            <a:r>
              <a:rPr kumimoji="1" lang="en-US" altLang="zh-CN" sz="2400" b="1" dirty="0">
                <a:latin typeface="Times New Roman" pitchFamily="18" charset="0"/>
              </a:rPr>
              <a:t>(</a:t>
            </a:r>
            <a:r>
              <a:rPr kumimoji="1" lang="en-US" altLang="zh-CN" sz="2400" b="1" i="1" dirty="0">
                <a:latin typeface="Times New Roman" pitchFamily="18" charset="0"/>
              </a:rPr>
              <a:t>n</a:t>
            </a:r>
            <a:r>
              <a:rPr kumimoji="1" lang="en-US" altLang="zh-CN" sz="2400" b="1" dirty="0">
                <a:latin typeface="Times New Roman" pitchFamily="18" charset="0"/>
              </a:rPr>
              <a:t>)</a:t>
            </a:r>
            <a:r>
              <a:rPr kumimoji="1" lang="zh-CN" altLang="en-US" sz="2400" b="1" dirty="0">
                <a:latin typeface="Times New Roman" pitchFamily="18" charset="0"/>
              </a:rPr>
              <a:t>，即：</a:t>
            </a:r>
            <a:r>
              <a:rPr kumimoji="1" lang="zh-CN" altLang="en-US" sz="2400" b="1" dirty="0">
                <a:solidFill>
                  <a:srgbClr val="FF3300"/>
                </a:solidFill>
                <a:effectLst>
                  <a:outerShdw blurRad="38100" dist="38100" dir="2700000" algn="tl">
                    <a:srgbClr val="000000"/>
                  </a:outerShdw>
                </a:effectLst>
                <a:latin typeface="Times New Roman" pitchFamily="18" charset="0"/>
                <a:ea typeface="华文中宋" pitchFamily="2" charset="-122"/>
              </a:rPr>
              <a:t>线性阶</a:t>
            </a:r>
            <a:r>
              <a:rPr kumimoji="1" lang="zh-CN" altLang="en-US" sz="2400" b="1" dirty="0">
                <a:latin typeface="Times New Roman" pitchFamily="18" charset="0"/>
              </a:rPr>
              <a:t>。</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408">
                                            <p:txEl>
                                              <p:pRg st="0" end="0"/>
                                            </p:txEl>
                                          </p:spTgt>
                                        </p:tgtEl>
                                        <p:attrNameLst>
                                          <p:attrName>style.visibility</p:attrName>
                                        </p:attrNameLst>
                                      </p:cBhvr>
                                      <p:to>
                                        <p:strVal val="visible"/>
                                      </p:to>
                                    </p:set>
                                    <p:anim calcmode="lin" valueType="num">
                                      <p:cBhvr additive="base">
                                        <p:cTn id="7" dur="500" fill="hold"/>
                                        <p:tgtEl>
                                          <p:spTgt spid="164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4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408">
                                            <p:txEl>
                                              <p:pRg st="1" end="1"/>
                                            </p:txEl>
                                          </p:spTgt>
                                        </p:tgtEl>
                                        <p:attrNameLst>
                                          <p:attrName>style.visibility</p:attrName>
                                        </p:attrNameLst>
                                      </p:cBhvr>
                                      <p:to>
                                        <p:strVal val="visible"/>
                                      </p:to>
                                    </p:set>
                                    <p:anim calcmode="lin" valueType="num">
                                      <p:cBhvr additive="base">
                                        <p:cTn id="13" dur="500" fill="hold"/>
                                        <p:tgtEl>
                                          <p:spTgt spid="164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408">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408">
                                            <p:txEl>
                                              <p:pRg st="2" end="2"/>
                                            </p:txEl>
                                          </p:spTgt>
                                        </p:tgtEl>
                                        <p:attrNameLst>
                                          <p:attrName>style.visibility</p:attrName>
                                        </p:attrNameLst>
                                      </p:cBhvr>
                                      <p:to>
                                        <p:strVal val="visible"/>
                                      </p:to>
                                    </p:set>
                                    <p:anim calcmode="lin" valueType="num">
                                      <p:cBhvr additive="base">
                                        <p:cTn id="17" dur="500" fill="hold"/>
                                        <p:tgtEl>
                                          <p:spTgt spid="1640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40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6409">
                                            <p:txEl>
                                              <p:pRg st="0" end="0"/>
                                            </p:txEl>
                                          </p:spTgt>
                                        </p:tgtEl>
                                        <p:attrNameLst>
                                          <p:attrName>style.visibility</p:attrName>
                                        </p:attrNameLst>
                                      </p:cBhvr>
                                      <p:to>
                                        <p:strVal val="visible"/>
                                      </p:to>
                                    </p:set>
                                    <p:anim calcmode="lin" valueType="num">
                                      <p:cBhvr additive="base">
                                        <p:cTn id="23" dur="500" fill="hold"/>
                                        <p:tgtEl>
                                          <p:spTgt spid="1640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409">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409">
                                            <p:txEl>
                                              <p:pRg st="1" end="1"/>
                                            </p:txEl>
                                          </p:spTgt>
                                        </p:tgtEl>
                                        <p:attrNameLst>
                                          <p:attrName>style.visibility</p:attrName>
                                        </p:attrNameLst>
                                      </p:cBhvr>
                                      <p:to>
                                        <p:strVal val="visible"/>
                                      </p:to>
                                    </p:set>
                                    <p:anim calcmode="lin" valueType="num">
                                      <p:cBhvr additive="base">
                                        <p:cTn id="27" dur="500" fill="hold"/>
                                        <p:tgtEl>
                                          <p:spTgt spid="16409">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4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6409">
                                            <p:txEl>
                                              <p:pRg st="2" end="2"/>
                                            </p:txEl>
                                          </p:spTgt>
                                        </p:tgtEl>
                                        <p:attrNameLst>
                                          <p:attrName>style.visibility</p:attrName>
                                        </p:attrNameLst>
                                      </p:cBhvr>
                                      <p:to>
                                        <p:strVal val="visible"/>
                                      </p:to>
                                    </p:set>
                                    <p:anim calcmode="lin" valueType="num">
                                      <p:cBhvr additive="base">
                                        <p:cTn id="33" dur="500" fill="hold"/>
                                        <p:tgtEl>
                                          <p:spTgt spid="16409">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6409">
                                            <p:txEl>
                                              <p:pRg st="2" end="2"/>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6409">
                                            <p:txEl>
                                              <p:pRg st="3" end="3"/>
                                            </p:txEl>
                                          </p:spTgt>
                                        </p:tgtEl>
                                        <p:attrNameLst>
                                          <p:attrName>style.visibility</p:attrName>
                                        </p:attrNameLst>
                                      </p:cBhvr>
                                      <p:to>
                                        <p:strVal val="visible"/>
                                      </p:to>
                                    </p:set>
                                    <p:anim calcmode="lin" valueType="num">
                                      <p:cBhvr additive="base">
                                        <p:cTn id="37" dur="500" fill="hold"/>
                                        <p:tgtEl>
                                          <p:spTgt spid="16409">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40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p:cNvSpPr txBox="1">
            <a:spLocks noChangeArrowheads="1"/>
          </p:cNvSpPr>
          <p:nvPr/>
        </p:nvSpPr>
        <p:spPr bwMode="auto">
          <a:xfrm>
            <a:off x="1703388" y="493713"/>
            <a:ext cx="9036448" cy="2562112"/>
          </a:xfrm>
          <a:prstGeom prst="rect">
            <a:avLst/>
          </a:prstGeom>
          <a:noFill/>
          <a:ln w="9525">
            <a:noFill/>
            <a:miter lim="800000"/>
            <a:headEnd/>
            <a:tailEnd/>
          </a:ln>
          <a:effectLst/>
        </p:spPr>
        <p:txBody>
          <a:bodyPr wrap="none">
            <a:spAutoFit/>
          </a:bodyPr>
          <a:lstStyle/>
          <a:p>
            <a:pPr>
              <a:lnSpc>
                <a:spcPct val="120000"/>
              </a:lnSpc>
              <a:spcBef>
                <a:spcPct val="20000"/>
              </a:spcBef>
              <a:buClr>
                <a:schemeClr val="accent2"/>
              </a:buClr>
              <a:buSzPct val="80000"/>
              <a:buFont typeface="Wingdings" pitchFamily="2" charset="2"/>
              <a:buNone/>
            </a:pPr>
            <a:r>
              <a:rPr kumimoji="1" lang="zh-CN" altLang="en-US" sz="2400" b="1" dirty="0">
                <a:latin typeface="Times New Roman" pitchFamily="18" charset="0"/>
                <a:ea typeface="华文中宋" pitchFamily="2" charset="-122"/>
              </a:rPr>
              <a:t>例：</a:t>
            </a:r>
            <a:r>
              <a:rPr kumimoji="1" lang="en-US" altLang="zh-CN" sz="2400" b="1" dirty="0">
                <a:latin typeface="Times New Roman" pitchFamily="18" charset="0"/>
              </a:rPr>
              <a:t>for(</a:t>
            </a:r>
            <a:r>
              <a:rPr kumimoji="1" lang="en-US" altLang="zh-CN" sz="2400" b="1" i="1" dirty="0" err="1">
                <a:latin typeface="Times New Roman" pitchFamily="18" charset="0"/>
              </a:rPr>
              <a:t>i</a:t>
            </a:r>
            <a:r>
              <a:rPr kumimoji="1" lang="en-US" altLang="zh-CN" sz="2400" b="1" i="1" dirty="0">
                <a:latin typeface="Times New Roman" pitchFamily="18" charset="0"/>
              </a:rPr>
              <a:t> </a:t>
            </a:r>
            <a:r>
              <a:rPr kumimoji="1" lang="en-US" altLang="zh-CN" sz="2400" b="1" dirty="0">
                <a:latin typeface="Times New Roman" pitchFamily="18" charset="0"/>
              </a:rPr>
              <a:t>=1; </a:t>
            </a:r>
            <a:r>
              <a:rPr kumimoji="1" lang="en-US" altLang="zh-CN" sz="2400" b="1" i="1" dirty="0" err="1">
                <a:latin typeface="Times New Roman" pitchFamily="18" charset="0"/>
              </a:rPr>
              <a:t>i</a:t>
            </a:r>
            <a:r>
              <a:rPr kumimoji="1" lang="en-US" altLang="zh-CN" sz="2400" b="1" i="1" dirty="0">
                <a:latin typeface="Times New Roman" pitchFamily="18" charset="0"/>
              </a:rPr>
              <a:t> </a:t>
            </a:r>
            <a:r>
              <a:rPr kumimoji="1" lang="en-US" altLang="zh-CN" sz="2400" b="1" dirty="0">
                <a:latin typeface="Times New Roman" pitchFamily="18" charset="0"/>
              </a:rPr>
              <a:t>&lt;= </a:t>
            </a:r>
            <a:r>
              <a:rPr kumimoji="1" lang="en-US" altLang="zh-CN" sz="2400" b="1" i="1" dirty="0">
                <a:latin typeface="Times New Roman" pitchFamily="18" charset="0"/>
              </a:rPr>
              <a:t>n</a:t>
            </a:r>
            <a:r>
              <a:rPr kumimoji="1" lang="en-US" altLang="zh-CN" sz="2400" b="1" dirty="0">
                <a:latin typeface="Times New Roman" pitchFamily="18" charset="0"/>
              </a:rPr>
              <a:t>;  ++</a:t>
            </a:r>
            <a:r>
              <a:rPr kumimoji="1" lang="en-US" altLang="zh-CN" sz="2400" b="1" i="1" dirty="0" err="1">
                <a:latin typeface="Times New Roman" pitchFamily="18" charset="0"/>
              </a:rPr>
              <a:t>i</a:t>
            </a:r>
            <a:r>
              <a:rPr kumimoji="1" lang="en-US" altLang="zh-CN" sz="2400" b="1" i="1" dirty="0">
                <a:latin typeface="Times New Roman" pitchFamily="18" charset="0"/>
              </a:rPr>
              <a:t> </a:t>
            </a:r>
            <a:r>
              <a:rPr kumimoji="1" lang="en-US" altLang="zh-CN" sz="2400" b="1" dirty="0">
                <a:latin typeface="Times New Roman" pitchFamily="18" charset="0"/>
              </a:rPr>
              <a:t>)</a:t>
            </a:r>
          </a:p>
          <a:p>
            <a:pPr>
              <a:lnSpc>
                <a:spcPct val="120000"/>
              </a:lnSpc>
              <a:spcBef>
                <a:spcPct val="20000"/>
              </a:spcBef>
              <a:buClr>
                <a:schemeClr val="accent2"/>
              </a:buClr>
              <a:buSzPct val="80000"/>
              <a:buFont typeface="Wingdings" pitchFamily="2" charset="2"/>
              <a:buNone/>
            </a:pPr>
            <a:r>
              <a:rPr kumimoji="1" lang="zh-CN" altLang="en-US" sz="2400" b="1" dirty="0">
                <a:latin typeface="Times New Roman" pitchFamily="18" charset="0"/>
              </a:rPr>
              <a:t>　　　　</a:t>
            </a:r>
            <a:r>
              <a:rPr kumimoji="1" lang="en-US" altLang="zh-CN" sz="2400" b="1" dirty="0">
                <a:latin typeface="Times New Roman" pitchFamily="18" charset="0"/>
              </a:rPr>
              <a:t>for(</a:t>
            </a:r>
            <a:r>
              <a:rPr kumimoji="1" lang="en-US" altLang="zh-CN" sz="2400" b="1" i="1" dirty="0">
                <a:latin typeface="Times New Roman" pitchFamily="18" charset="0"/>
              </a:rPr>
              <a:t>j </a:t>
            </a:r>
            <a:r>
              <a:rPr kumimoji="1" lang="en-US" altLang="zh-CN" sz="2400" b="1" dirty="0">
                <a:latin typeface="Times New Roman" pitchFamily="18" charset="0"/>
              </a:rPr>
              <a:t>=1; </a:t>
            </a:r>
            <a:r>
              <a:rPr kumimoji="1" lang="en-US" altLang="zh-CN" sz="2400" b="1" i="1" dirty="0">
                <a:latin typeface="Times New Roman" pitchFamily="18" charset="0"/>
              </a:rPr>
              <a:t>j </a:t>
            </a:r>
            <a:r>
              <a:rPr kumimoji="1" lang="en-US" altLang="zh-CN" sz="2400" b="1" dirty="0">
                <a:latin typeface="Times New Roman" pitchFamily="18" charset="0"/>
              </a:rPr>
              <a:t>&lt;= </a:t>
            </a:r>
            <a:r>
              <a:rPr kumimoji="1" lang="en-US" altLang="zh-CN" sz="2400" b="1" i="1" dirty="0">
                <a:latin typeface="Times New Roman" pitchFamily="18" charset="0"/>
              </a:rPr>
              <a:t>n</a:t>
            </a:r>
            <a:r>
              <a:rPr kumimoji="1" lang="en-US" altLang="zh-CN" sz="2400" b="1" dirty="0">
                <a:latin typeface="Times New Roman" pitchFamily="18" charset="0"/>
              </a:rPr>
              <a:t>; ++</a:t>
            </a:r>
            <a:r>
              <a:rPr kumimoji="1" lang="en-US" altLang="zh-CN" sz="2400" b="1" i="1" dirty="0">
                <a:latin typeface="Times New Roman" pitchFamily="18" charset="0"/>
              </a:rPr>
              <a:t>j </a:t>
            </a:r>
            <a:r>
              <a:rPr kumimoji="1" lang="en-US" altLang="zh-CN" sz="2400" b="1" dirty="0">
                <a:latin typeface="Times New Roman" pitchFamily="18" charset="0"/>
              </a:rPr>
              <a:t>)</a:t>
            </a:r>
          </a:p>
          <a:p>
            <a:pPr>
              <a:lnSpc>
                <a:spcPct val="120000"/>
              </a:lnSpc>
              <a:spcBef>
                <a:spcPct val="20000"/>
              </a:spcBef>
              <a:buClr>
                <a:schemeClr val="accent2"/>
              </a:buClr>
              <a:buSzPct val="80000"/>
              <a:buFont typeface="Wingdings" pitchFamily="2" charset="2"/>
              <a:buNone/>
            </a:pPr>
            <a:r>
              <a:rPr kumimoji="1" lang="en-US" altLang="zh-CN" sz="2400" b="1" dirty="0">
                <a:latin typeface="Times New Roman" pitchFamily="18" charset="0"/>
              </a:rPr>
              <a:t>                      {</a:t>
            </a:r>
            <a:r>
              <a:rPr kumimoji="1" lang="en-US" altLang="zh-CN" sz="2400" b="1" dirty="0">
                <a:solidFill>
                  <a:srgbClr val="0000FF"/>
                </a:solidFill>
                <a:latin typeface="Times New Roman" pitchFamily="18" charset="0"/>
              </a:rPr>
              <a:t>++</a:t>
            </a:r>
            <a:r>
              <a:rPr kumimoji="1" lang="en-US" altLang="zh-CN" sz="2400" b="1" i="1" dirty="0">
                <a:solidFill>
                  <a:srgbClr val="0000FF"/>
                </a:solidFill>
                <a:latin typeface="Times New Roman" pitchFamily="18" charset="0"/>
              </a:rPr>
              <a:t>x</a:t>
            </a:r>
            <a:r>
              <a:rPr kumimoji="1" lang="en-US" altLang="zh-CN" sz="2400" b="1" dirty="0">
                <a:solidFill>
                  <a:srgbClr val="0000FF"/>
                </a:solidFill>
                <a:latin typeface="Times New Roman" pitchFamily="18" charset="0"/>
              </a:rPr>
              <a:t>;</a:t>
            </a:r>
            <a:r>
              <a:rPr kumimoji="1" lang="en-US" altLang="zh-CN" sz="2400" b="1" dirty="0">
                <a:latin typeface="Times New Roman" pitchFamily="18" charset="0"/>
              </a:rPr>
              <a:t>  </a:t>
            </a:r>
            <a:r>
              <a:rPr kumimoji="1" lang="en-US" altLang="zh-CN" sz="2400" b="1" i="1" dirty="0">
                <a:latin typeface="Times New Roman" pitchFamily="18" charset="0"/>
              </a:rPr>
              <a:t>s </a:t>
            </a:r>
            <a:r>
              <a:rPr kumimoji="1" lang="en-US" altLang="zh-CN" sz="2400" b="1" dirty="0">
                <a:latin typeface="Times New Roman" pitchFamily="18" charset="0"/>
              </a:rPr>
              <a:t>+= </a:t>
            </a:r>
            <a:r>
              <a:rPr kumimoji="1" lang="en-US" altLang="zh-CN" sz="2400" b="1" i="1" dirty="0">
                <a:latin typeface="Times New Roman" pitchFamily="18" charset="0"/>
              </a:rPr>
              <a:t>x</a:t>
            </a:r>
            <a:r>
              <a:rPr kumimoji="1" lang="en-US" altLang="zh-CN" sz="2400" b="1" dirty="0">
                <a:latin typeface="Times New Roman" pitchFamily="18" charset="0"/>
              </a:rPr>
              <a:t>;}</a:t>
            </a:r>
          </a:p>
          <a:p>
            <a:pPr>
              <a:lnSpc>
                <a:spcPct val="120000"/>
              </a:lnSpc>
              <a:spcBef>
                <a:spcPct val="20000"/>
              </a:spcBef>
              <a:buClr>
                <a:schemeClr val="accent2"/>
              </a:buClr>
              <a:buSzPct val="80000"/>
              <a:buFont typeface="Wingdings" pitchFamily="2" charset="2"/>
              <a:buNone/>
            </a:pPr>
            <a:r>
              <a:rPr kumimoji="1" lang="en-US" altLang="zh-CN" sz="2400" b="1" dirty="0">
                <a:latin typeface="Times New Roman" pitchFamily="18" charset="0"/>
              </a:rPr>
              <a:t>        </a:t>
            </a:r>
            <a:r>
              <a:rPr kumimoji="1" lang="zh-CN" altLang="en-US" sz="2400" b="1" dirty="0">
                <a:latin typeface="Times New Roman" pitchFamily="18" charset="0"/>
              </a:rPr>
              <a:t>包含 “</a:t>
            </a:r>
            <a:r>
              <a:rPr kumimoji="1" lang="en-US" altLang="zh-CN" sz="2400" b="1" i="1" dirty="0">
                <a:latin typeface="Times New Roman" pitchFamily="18" charset="0"/>
              </a:rPr>
              <a:t>x </a:t>
            </a:r>
            <a:r>
              <a:rPr kumimoji="1" lang="zh-CN" altLang="en-US" sz="2400" b="1" dirty="0">
                <a:latin typeface="Times New Roman" pitchFamily="18" charset="0"/>
              </a:rPr>
              <a:t>增 </a:t>
            </a:r>
            <a:r>
              <a:rPr kumimoji="1" lang="en-US" altLang="zh-CN" sz="2400" b="1" dirty="0">
                <a:latin typeface="Times New Roman" pitchFamily="18" charset="0"/>
              </a:rPr>
              <a:t>1” </a:t>
            </a:r>
            <a:r>
              <a:rPr kumimoji="1" lang="zh-CN" altLang="en-US" sz="2400" b="1" dirty="0">
                <a:latin typeface="Times New Roman" pitchFamily="18" charset="0"/>
              </a:rPr>
              <a:t>基本操作的语句的频度为：</a:t>
            </a:r>
            <a:r>
              <a:rPr kumimoji="1" lang="en-US" altLang="zh-CN" sz="2400" b="1" i="1" dirty="0">
                <a:latin typeface="Times New Roman" pitchFamily="18" charset="0"/>
              </a:rPr>
              <a:t>n</a:t>
            </a:r>
            <a:r>
              <a:rPr kumimoji="1" lang="en-US" altLang="zh-CN" sz="2400" b="1" baseline="30000" dirty="0">
                <a:latin typeface="Times New Roman" pitchFamily="18" charset="0"/>
              </a:rPr>
              <a:t>2</a:t>
            </a:r>
            <a:r>
              <a:rPr kumimoji="1" lang="zh-CN" altLang="en-US" sz="2400" b="1" dirty="0">
                <a:latin typeface="Times New Roman" pitchFamily="18" charset="0"/>
              </a:rPr>
              <a:t>，其时间复杂度 </a:t>
            </a:r>
          </a:p>
          <a:p>
            <a:pPr>
              <a:lnSpc>
                <a:spcPct val="120000"/>
              </a:lnSpc>
              <a:spcBef>
                <a:spcPct val="20000"/>
              </a:spcBef>
              <a:buClr>
                <a:schemeClr val="accent2"/>
              </a:buClr>
              <a:buSzPct val="80000"/>
              <a:buFont typeface="Wingdings" pitchFamily="2" charset="2"/>
              <a:buNone/>
            </a:pPr>
            <a:r>
              <a:rPr kumimoji="1" lang="zh-CN" altLang="en-US" sz="2400" b="1" dirty="0">
                <a:latin typeface="Times New Roman" pitchFamily="18" charset="0"/>
              </a:rPr>
              <a:t>为：</a:t>
            </a:r>
            <a:r>
              <a:rPr kumimoji="1" lang="en-US" altLang="zh-CN" sz="2400" b="1" i="1" dirty="0">
                <a:latin typeface="Times New Roman" pitchFamily="18" charset="0"/>
              </a:rPr>
              <a:t>O</a:t>
            </a:r>
            <a:r>
              <a:rPr kumimoji="1" lang="en-US" altLang="zh-CN" sz="2400" b="1" dirty="0">
                <a:latin typeface="Times New Roman" pitchFamily="18" charset="0"/>
              </a:rPr>
              <a:t>(</a:t>
            </a:r>
            <a:r>
              <a:rPr kumimoji="1" lang="en-US" altLang="zh-CN" sz="2400" b="1" i="1" dirty="0">
                <a:latin typeface="Times New Roman" pitchFamily="18" charset="0"/>
              </a:rPr>
              <a:t>n</a:t>
            </a:r>
            <a:r>
              <a:rPr kumimoji="1" lang="en-US" altLang="zh-CN" sz="2400" b="1" baseline="30000" dirty="0">
                <a:latin typeface="Times New Roman" pitchFamily="18" charset="0"/>
              </a:rPr>
              <a:t>2</a:t>
            </a:r>
            <a:r>
              <a:rPr kumimoji="1" lang="en-US" altLang="zh-CN" sz="2400" b="1" dirty="0">
                <a:latin typeface="Times New Roman" pitchFamily="18" charset="0"/>
              </a:rPr>
              <a:t>)</a:t>
            </a:r>
            <a:r>
              <a:rPr kumimoji="1" lang="zh-CN" altLang="en-US" sz="2400" b="1" dirty="0">
                <a:latin typeface="Times New Roman" pitchFamily="18" charset="0"/>
              </a:rPr>
              <a:t>，即：</a:t>
            </a:r>
            <a:r>
              <a:rPr kumimoji="1" lang="zh-CN" altLang="en-US" sz="2400" b="1" dirty="0">
                <a:solidFill>
                  <a:srgbClr val="FF3300"/>
                </a:solidFill>
                <a:effectLst>
                  <a:outerShdw blurRad="38100" dist="38100" dir="2700000" algn="tl">
                    <a:srgbClr val="000000"/>
                  </a:outerShdw>
                </a:effectLst>
                <a:latin typeface="Times New Roman" pitchFamily="18" charset="0"/>
                <a:ea typeface="华文中宋" pitchFamily="2" charset="-122"/>
              </a:rPr>
              <a:t>平方阶</a:t>
            </a:r>
            <a:r>
              <a:rPr kumimoji="1" lang="zh-CN" altLang="en-US" sz="2400" b="1" dirty="0">
                <a:latin typeface="Times New Roman" pitchFamily="18" charset="0"/>
              </a:rPr>
              <a:t>。</a:t>
            </a:r>
          </a:p>
        </p:txBody>
      </p:sp>
      <p:grpSp>
        <p:nvGrpSpPr>
          <p:cNvPr id="2" name="Group 6"/>
          <p:cNvGrpSpPr>
            <a:grpSpLocks/>
          </p:cNvGrpSpPr>
          <p:nvPr/>
        </p:nvGrpSpPr>
        <p:grpSpPr bwMode="auto">
          <a:xfrm>
            <a:off x="1703389" y="4868866"/>
            <a:ext cx="8353427" cy="1570038"/>
            <a:chOff x="113" y="3067"/>
            <a:chExt cx="5262" cy="989"/>
          </a:xfrm>
        </p:grpSpPr>
        <p:sp>
          <p:nvSpPr>
            <p:cNvPr id="35844" name="Text Box 4"/>
            <p:cNvSpPr txBox="1">
              <a:spLocks noChangeArrowheads="1"/>
            </p:cNvSpPr>
            <p:nvPr/>
          </p:nvSpPr>
          <p:spPr bwMode="auto">
            <a:xfrm>
              <a:off x="113" y="3067"/>
              <a:ext cx="4169" cy="989"/>
            </a:xfrm>
            <a:prstGeom prst="rect">
              <a:avLst/>
            </a:prstGeom>
            <a:noFill/>
            <a:ln w="9525">
              <a:noFill/>
              <a:miter lim="800000"/>
              <a:headEnd/>
              <a:tailEnd/>
            </a:ln>
            <a:effectLst/>
          </p:spPr>
          <p:txBody>
            <a:bodyPr wrap="none">
              <a:spAutoFit/>
            </a:bodyPr>
            <a:lstStyle/>
            <a:p>
              <a:pPr>
                <a:lnSpc>
                  <a:spcPct val="120000"/>
                </a:lnSpc>
                <a:spcBef>
                  <a:spcPct val="20000"/>
                </a:spcBef>
                <a:buClr>
                  <a:schemeClr val="accent2"/>
                </a:buClr>
                <a:buSzPct val="80000"/>
                <a:buFont typeface="Wingdings" pitchFamily="2" charset="2"/>
                <a:buNone/>
              </a:pPr>
              <a:r>
                <a:rPr kumimoji="1" lang="zh-CN" altLang="en-US" sz="2400" b="1" dirty="0">
                  <a:latin typeface="Times New Roman" pitchFamily="18" charset="0"/>
                </a:rPr>
                <a:t>包含 “</a:t>
              </a:r>
              <a:r>
                <a:rPr kumimoji="1" lang="en-US" altLang="zh-CN" sz="2400" b="1" i="1" dirty="0">
                  <a:latin typeface="Times New Roman" pitchFamily="18" charset="0"/>
                </a:rPr>
                <a:t>x </a:t>
              </a:r>
              <a:r>
                <a:rPr kumimoji="1" lang="zh-CN" altLang="en-US" sz="2400" b="1" dirty="0">
                  <a:latin typeface="Times New Roman" pitchFamily="18" charset="0"/>
                </a:rPr>
                <a:t>增 </a:t>
              </a:r>
              <a:r>
                <a:rPr kumimoji="1" lang="en-US" altLang="zh-CN" sz="2400" b="1" dirty="0">
                  <a:latin typeface="Times New Roman" pitchFamily="18" charset="0"/>
                </a:rPr>
                <a:t>1” </a:t>
              </a:r>
              <a:r>
                <a:rPr kumimoji="1" lang="zh-CN" altLang="en-US" sz="2400" b="1" dirty="0">
                  <a:latin typeface="Times New Roman" pitchFamily="18" charset="0"/>
                </a:rPr>
                <a:t>基本操作的语句的频度为：</a:t>
              </a:r>
            </a:p>
            <a:p>
              <a:pPr>
                <a:lnSpc>
                  <a:spcPct val="120000"/>
                </a:lnSpc>
                <a:spcBef>
                  <a:spcPct val="20000"/>
                </a:spcBef>
                <a:buClr>
                  <a:schemeClr val="accent2"/>
                </a:buClr>
                <a:buSzPct val="80000"/>
                <a:buFont typeface="Wingdings" pitchFamily="2" charset="2"/>
                <a:buNone/>
              </a:pPr>
              <a:r>
                <a:rPr kumimoji="1" lang="zh-CN" altLang="en-US" sz="2400" b="1" dirty="0">
                  <a:latin typeface="Times New Roman" pitchFamily="18" charset="0"/>
                </a:rPr>
                <a:t> </a:t>
              </a:r>
              <a:r>
                <a:rPr kumimoji="1" lang="en-US" altLang="zh-CN" sz="2400" b="1" dirty="0">
                  <a:latin typeface="Times New Roman" pitchFamily="18" charset="0"/>
                </a:rPr>
                <a:t>1+2+3+…+</a:t>
              </a:r>
              <a:r>
                <a:rPr kumimoji="1" lang="en-US" altLang="zh-CN" sz="2400" b="1" i="1" dirty="0">
                  <a:latin typeface="Times New Roman" pitchFamily="18" charset="0"/>
                </a:rPr>
                <a:t>n</a:t>
              </a:r>
              <a:r>
                <a:rPr kumimoji="1" lang="en-US" altLang="zh-CN" sz="2400" b="1" dirty="0">
                  <a:latin typeface="Times New Roman" pitchFamily="18" charset="0"/>
                </a:rPr>
                <a:t>-2 = (1+</a:t>
              </a:r>
              <a:r>
                <a:rPr kumimoji="1" lang="en-US" altLang="zh-CN" sz="2400" b="1" i="1" dirty="0">
                  <a:latin typeface="Times New Roman" pitchFamily="18" charset="0"/>
                </a:rPr>
                <a:t>n</a:t>
              </a:r>
              <a:r>
                <a:rPr kumimoji="1" lang="en-US" altLang="zh-CN" sz="2400" b="1" dirty="0">
                  <a:latin typeface="Times New Roman" pitchFamily="18" charset="0"/>
                </a:rPr>
                <a:t>-2)×(</a:t>
              </a:r>
              <a:r>
                <a:rPr kumimoji="1" lang="en-US" altLang="zh-CN" sz="2400" b="1" i="1" dirty="0">
                  <a:latin typeface="Times New Roman" pitchFamily="18" charset="0"/>
                </a:rPr>
                <a:t>n</a:t>
              </a:r>
              <a:r>
                <a:rPr kumimoji="1" lang="en-US" altLang="zh-CN" sz="2400" b="1" dirty="0">
                  <a:latin typeface="Times New Roman" pitchFamily="18" charset="0"/>
                </a:rPr>
                <a:t>-2)/2 = (</a:t>
              </a:r>
              <a:r>
                <a:rPr kumimoji="1" lang="en-US" altLang="zh-CN" sz="2400" b="1" i="1" dirty="0">
                  <a:latin typeface="Times New Roman" pitchFamily="18" charset="0"/>
                </a:rPr>
                <a:t>n</a:t>
              </a:r>
              <a:r>
                <a:rPr kumimoji="1" lang="en-US" altLang="zh-CN" sz="2400" b="1" dirty="0">
                  <a:latin typeface="Times New Roman" pitchFamily="18" charset="0"/>
                </a:rPr>
                <a:t>-1)(</a:t>
              </a:r>
              <a:r>
                <a:rPr kumimoji="1" lang="en-US" altLang="zh-CN" sz="2400" b="1" i="1" dirty="0">
                  <a:latin typeface="Times New Roman" pitchFamily="18" charset="0"/>
                </a:rPr>
                <a:t>n</a:t>
              </a:r>
              <a:r>
                <a:rPr kumimoji="1" lang="en-US" altLang="zh-CN" sz="2400" b="1" dirty="0">
                  <a:latin typeface="Times New Roman" pitchFamily="18" charset="0"/>
                </a:rPr>
                <a:t>-2)/2  </a:t>
              </a:r>
            </a:p>
            <a:p>
              <a:pPr>
                <a:lnSpc>
                  <a:spcPct val="120000"/>
                </a:lnSpc>
                <a:spcBef>
                  <a:spcPct val="20000"/>
                </a:spcBef>
                <a:buClr>
                  <a:schemeClr val="accent2"/>
                </a:buClr>
                <a:buSzPct val="80000"/>
                <a:buFont typeface="Wingdings" pitchFamily="2" charset="2"/>
                <a:buNone/>
              </a:pPr>
              <a:r>
                <a:rPr kumimoji="1" lang="zh-CN" altLang="en-US" sz="2400" b="1" dirty="0">
                  <a:latin typeface="Times New Roman" pitchFamily="18" charset="0"/>
                </a:rPr>
                <a:t>其时间复杂度为：</a:t>
              </a:r>
              <a:r>
                <a:rPr kumimoji="1" lang="en-US" altLang="zh-CN" sz="2400" b="1" i="1" dirty="0">
                  <a:latin typeface="Times New Roman" pitchFamily="18" charset="0"/>
                </a:rPr>
                <a:t>O</a:t>
              </a:r>
              <a:r>
                <a:rPr kumimoji="1" lang="en-US" altLang="zh-CN" sz="2400" b="1" dirty="0">
                  <a:latin typeface="Times New Roman" pitchFamily="18" charset="0"/>
                </a:rPr>
                <a:t>(</a:t>
              </a:r>
              <a:r>
                <a:rPr kumimoji="1" lang="en-US" altLang="zh-CN" sz="2400" b="1" i="1" dirty="0">
                  <a:latin typeface="Times New Roman" pitchFamily="18" charset="0"/>
                </a:rPr>
                <a:t>n</a:t>
              </a:r>
              <a:r>
                <a:rPr kumimoji="1" lang="en-US" altLang="zh-CN" sz="2400" b="1" baseline="22000" dirty="0">
                  <a:latin typeface="Times New Roman" pitchFamily="18" charset="0"/>
                </a:rPr>
                <a:t>2</a:t>
              </a:r>
              <a:r>
                <a:rPr kumimoji="1" lang="en-US" altLang="zh-CN" sz="2400" b="1" dirty="0">
                  <a:latin typeface="Times New Roman" pitchFamily="18" charset="0"/>
                </a:rPr>
                <a:t>)</a:t>
              </a:r>
              <a:r>
                <a:rPr kumimoji="1" lang="zh-CN" altLang="en-US" sz="2400" b="1" dirty="0">
                  <a:latin typeface="Times New Roman" pitchFamily="18" charset="0"/>
                </a:rPr>
                <a:t>，即：</a:t>
              </a:r>
              <a:r>
                <a:rPr kumimoji="1" lang="zh-CN" altLang="en-US" sz="2400" b="1" dirty="0">
                  <a:solidFill>
                    <a:srgbClr val="FF3300"/>
                  </a:solidFill>
                  <a:effectLst>
                    <a:outerShdw blurRad="38100" dist="38100" dir="2700000" algn="tl">
                      <a:srgbClr val="000000"/>
                    </a:outerShdw>
                  </a:effectLst>
                  <a:latin typeface="Times New Roman" pitchFamily="18" charset="0"/>
                  <a:ea typeface="华文中宋" pitchFamily="2" charset="-122"/>
                </a:rPr>
                <a:t>平方阶</a:t>
              </a:r>
              <a:r>
                <a:rPr kumimoji="1" lang="zh-CN" altLang="en-US" sz="2400" b="1" dirty="0">
                  <a:latin typeface="Times New Roman" pitchFamily="18" charset="0"/>
                </a:rPr>
                <a:t>。 </a:t>
              </a:r>
            </a:p>
          </p:txBody>
        </p:sp>
        <p:graphicFrame>
          <p:nvGraphicFramePr>
            <p:cNvPr id="35845" name="Object 5"/>
            <p:cNvGraphicFramePr>
              <a:graphicFrameLocks noChangeAspect="1"/>
            </p:cNvGraphicFramePr>
            <p:nvPr/>
          </p:nvGraphicFramePr>
          <p:xfrm>
            <a:off x="4150" y="3299"/>
            <a:ext cx="1225" cy="494"/>
          </p:xfrm>
          <a:graphic>
            <a:graphicData uri="http://schemas.openxmlformats.org/presentationml/2006/ole">
              <mc:AlternateContent xmlns:mc="http://schemas.openxmlformats.org/markup-compatibility/2006">
                <mc:Choice xmlns:v="urn:schemas-microsoft-com:vml" Requires="v">
                  <p:oleObj name="公式" r:id="rId3" imgW="977760" imgH="393480" progId="Equation.3">
                    <p:embed/>
                  </p:oleObj>
                </mc:Choice>
                <mc:Fallback>
                  <p:oleObj name="公式" r:id="rId3" imgW="977760" imgH="393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0" y="3299"/>
                          <a:ext cx="1225" cy="4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 name="TextBox 5"/>
          <p:cNvSpPr txBox="1"/>
          <p:nvPr/>
        </p:nvSpPr>
        <p:spPr>
          <a:xfrm>
            <a:off x="1775520" y="3284985"/>
            <a:ext cx="4968552" cy="1846659"/>
          </a:xfrm>
          <a:prstGeom prst="rect">
            <a:avLst/>
          </a:prstGeom>
          <a:noFill/>
        </p:spPr>
        <p:txBody>
          <a:bodyPr wrap="square" rtlCol="0">
            <a:spAutoFit/>
          </a:bodyPr>
          <a:lstStyle/>
          <a:p>
            <a:pPr>
              <a:lnSpc>
                <a:spcPct val="120000"/>
              </a:lnSpc>
              <a:spcBef>
                <a:spcPct val="20000"/>
              </a:spcBef>
              <a:buClr>
                <a:schemeClr val="accent2"/>
              </a:buClr>
              <a:buSzPct val="80000"/>
            </a:pPr>
            <a:r>
              <a:rPr kumimoji="1" lang="zh-CN" altLang="en-US" sz="2400" b="1" dirty="0">
                <a:latin typeface="Times New Roman" pitchFamily="18" charset="0"/>
              </a:rPr>
              <a:t>例：</a:t>
            </a:r>
            <a:r>
              <a:rPr kumimoji="1" lang="en-US" altLang="zh-CN" sz="2400" b="1" dirty="0">
                <a:latin typeface="Times New Roman" pitchFamily="18" charset="0"/>
              </a:rPr>
              <a:t>for( </a:t>
            </a:r>
            <a:r>
              <a:rPr kumimoji="1" lang="en-US" altLang="zh-CN" sz="2400" b="1" dirty="0" err="1">
                <a:latin typeface="Times New Roman" pitchFamily="18" charset="0"/>
              </a:rPr>
              <a:t>i</a:t>
            </a:r>
            <a:r>
              <a:rPr kumimoji="1" lang="en-US" altLang="zh-CN" sz="2400" b="1" dirty="0">
                <a:latin typeface="Times New Roman" pitchFamily="18" charset="0"/>
              </a:rPr>
              <a:t> =2; </a:t>
            </a:r>
            <a:r>
              <a:rPr kumimoji="1" lang="en-US" altLang="zh-CN" sz="2400" b="1" dirty="0" err="1">
                <a:latin typeface="Times New Roman" pitchFamily="18" charset="0"/>
              </a:rPr>
              <a:t>i</a:t>
            </a:r>
            <a:r>
              <a:rPr kumimoji="1" lang="en-US" altLang="zh-CN" sz="2400" b="1" dirty="0">
                <a:latin typeface="Times New Roman" pitchFamily="18" charset="0"/>
              </a:rPr>
              <a:t> &lt;= n; ++</a:t>
            </a:r>
            <a:r>
              <a:rPr kumimoji="1" lang="en-US" altLang="zh-CN" sz="2400" b="1" dirty="0" err="1">
                <a:latin typeface="Times New Roman" pitchFamily="18" charset="0"/>
              </a:rPr>
              <a:t>i</a:t>
            </a:r>
            <a:r>
              <a:rPr kumimoji="1" lang="en-US" altLang="zh-CN" sz="2400" b="1" dirty="0">
                <a:latin typeface="Times New Roman" pitchFamily="18" charset="0"/>
              </a:rPr>
              <a:t> )</a:t>
            </a:r>
          </a:p>
          <a:p>
            <a:pPr>
              <a:lnSpc>
                <a:spcPct val="120000"/>
              </a:lnSpc>
              <a:spcBef>
                <a:spcPct val="20000"/>
              </a:spcBef>
              <a:buClr>
                <a:schemeClr val="accent2"/>
              </a:buClr>
              <a:buSzPct val="80000"/>
            </a:pPr>
            <a:r>
              <a:rPr kumimoji="1" lang="en-US" altLang="zh-CN" sz="2400" b="1" dirty="0">
                <a:latin typeface="Times New Roman" pitchFamily="18" charset="0"/>
              </a:rPr>
              <a:t>              for( j =2; j &lt;= </a:t>
            </a:r>
            <a:r>
              <a:rPr kumimoji="1" lang="en-US" altLang="zh-CN" sz="2400" b="1" dirty="0" err="1">
                <a:latin typeface="Times New Roman" pitchFamily="18" charset="0"/>
              </a:rPr>
              <a:t>i</a:t>
            </a:r>
            <a:r>
              <a:rPr kumimoji="1" lang="en-US" altLang="zh-CN" sz="2400" b="1" dirty="0">
                <a:latin typeface="Times New Roman" pitchFamily="18" charset="0"/>
              </a:rPr>
              <a:t> - 1; ++j )</a:t>
            </a:r>
          </a:p>
          <a:p>
            <a:pPr>
              <a:lnSpc>
                <a:spcPct val="120000"/>
              </a:lnSpc>
              <a:spcBef>
                <a:spcPct val="20000"/>
              </a:spcBef>
              <a:buClr>
                <a:schemeClr val="accent2"/>
              </a:buClr>
              <a:buSzPct val="80000"/>
            </a:pPr>
            <a:r>
              <a:rPr kumimoji="1" lang="en-US" altLang="zh-CN" sz="2400" b="1" dirty="0">
                <a:latin typeface="Times New Roman" pitchFamily="18" charset="0"/>
              </a:rPr>
              <a:t>                    {++x;  a[ </a:t>
            </a:r>
            <a:r>
              <a:rPr kumimoji="1" lang="en-US" altLang="zh-CN" sz="2400" b="1" dirty="0" err="1">
                <a:latin typeface="Times New Roman" pitchFamily="18" charset="0"/>
              </a:rPr>
              <a:t>i</a:t>
            </a:r>
            <a:r>
              <a:rPr kumimoji="1" lang="en-US" altLang="zh-CN" sz="2400" b="1" dirty="0">
                <a:latin typeface="Times New Roman" pitchFamily="18" charset="0"/>
              </a:rPr>
              <a:t>, j]=x;}</a:t>
            </a:r>
          </a:p>
          <a:p>
            <a:endParaRPr lang="zh-CN" altLang="en-US" dirty="0"/>
          </a:p>
        </p:txBody>
      </p:sp>
    </p:spTree>
  </p:cSld>
  <p:clrMapOvr>
    <a:masterClrMapping/>
  </p:clrMapOvr>
  <p:transition spd="slow">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 calcmode="lin" valueType="num">
                                      <p:cBhvr additive="base">
                                        <p:cTn id="7" dur="500" fill="hold"/>
                                        <p:tgtEl>
                                          <p:spTgt spid="358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anim calcmode="lin" valueType="num">
                                      <p:cBhvr additive="base">
                                        <p:cTn id="11" dur="500" fill="hold"/>
                                        <p:tgtEl>
                                          <p:spTgt spid="3584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84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anim calcmode="lin" valueType="num">
                                      <p:cBhvr additive="base">
                                        <p:cTn id="15" dur="500" fill="hold"/>
                                        <p:tgtEl>
                                          <p:spTgt spid="3584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8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5843">
                                            <p:txEl>
                                              <p:pRg st="3" end="3"/>
                                            </p:txEl>
                                          </p:spTgt>
                                        </p:tgtEl>
                                        <p:attrNameLst>
                                          <p:attrName>style.visibility</p:attrName>
                                        </p:attrNameLst>
                                      </p:cBhvr>
                                      <p:to>
                                        <p:strVal val="visible"/>
                                      </p:to>
                                    </p:set>
                                    <p:anim calcmode="lin" valueType="num">
                                      <p:cBhvr additive="base">
                                        <p:cTn id="21" dur="500" fill="hold"/>
                                        <p:tgtEl>
                                          <p:spTgt spid="3584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584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5843">
                                            <p:txEl>
                                              <p:pRg st="4" end="4"/>
                                            </p:txEl>
                                          </p:spTgt>
                                        </p:tgtEl>
                                        <p:attrNameLst>
                                          <p:attrName>style.visibility</p:attrName>
                                        </p:attrNameLst>
                                      </p:cBhvr>
                                      <p:to>
                                        <p:strVal val="visible"/>
                                      </p:to>
                                    </p:set>
                                    <p:anim calcmode="lin" valueType="num">
                                      <p:cBhvr additive="base">
                                        <p:cTn id="25" dur="500" fill="hold"/>
                                        <p:tgtEl>
                                          <p:spTgt spid="3584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8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f(n)</a:t>
            </a:r>
            <a:r>
              <a:rPr lang="zh-CN" altLang="en-US" dirty="0"/>
              <a:t>的求法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981200" y="1268761"/>
                <a:ext cx="8229600" cy="4525963"/>
              </a:xfrm>
            </p:spPr>
            <p:txBody>
              <a:bodyPr>
                <a:normAutofit fontScale="92500"/>
              </a:bodyPr>
              <a:lstStyle/>
              <a:p>
                <a:r>
                  <a:rPr lang="en-US" altLang="zh-CN" dirty="0"/>
                  <a:t>f(n)</a:t>
                </a:r>
                <a:r>
                  <a:rPr lang="zh-CN" altLang="en-US" dirty="0"/>
                  <a:t>一般用频度表达式中增长最快的项表示，并将其常数去掉 。</a:t>
                </a:r>
                <a:endParaRPr lang="en-US" altLang="zh-CN" dirty="0"/>
              </a:p>
              <a:p>
                <a:endParaRPr lang="en-US" altLang="zh-CN" dirty="0"/>
              </a:p>
              <a:p>
                <a:r>
                  <a:rPr lang="zh-CN" altLang="en-US" dirty="0"/>
                  <a:t>例如：</a:t>
                </a:r>
                <a:r>
                  <a:rPr lang="en-US" altLang="zh-CN" dirty="0"/>
                  <a:t> </a:t>
                </a:r>
                <a:r>
                  <a:rPr lang="zh-CN" altLang="en-US" dirty="0"/>
                  <a:t>假设某元操作的频度：</a:t>
                </a:r>
                <a:r>
                  <a:rPr lang="en-US" altLang="zh-CN" sz="3600" dirty="0"/>
                  <a:t>100*2</a:t>
                </a:r>
                <a:r>
                  <a:rPr lang="en-US" altLang="zh-CN" sz="3600" baseline="30000" dirty="0"/>
                  <a:t>n</a:t>
                </a:r>
                <a:r>
                  <a:rPr lang="en-US" altLang="zh-CN" sz="3600" dirty="0"/>
                  <a:t>+8n</a:t>
                </a:r>
                <a:r>
                  <a:rPr lang="en-US" altLang="zh-CN" sz="3600" baseline="30000" dirty="0"/>
                  <a:t>2</a:t>
                </a:r>
              </a:p>
              <a:p>
                <a:pPr>
                  <a:buNone/>
                </a:pPr>
                <a:r>
                  <a:rPr lang="en-US" altLang="zh-CN" sz="3500" baseline="30000" dirty="0"/>
                  <a:t>                          </a:t>
                </a:r>
                <a14:m>
                  <m:oMath xmlns:m="http://schemas.openxmlformats.org/officeDocument/2006/math">
                    <m:r>
                      <a:rPr lang="zh-CN" altLang="en-US" sz="3000" dirty="0">
                        <a:latin typeface="Cambria Math" panose="02040503050406030204" pitchFamily="18" charset="0"/>
                      </a:rPr>
                      <m:t>则</m:t>
                    </m:r>
                    <m:r>
                      <a:rPr lang="zh-CN" altLang="en-US" sz="3000" i="1" dirty="0" smtClean="0">
                        <a:latin typeface="Cambria Math" panose="02040503050406030204" pitchFamily="18" charset="0"/>
                      </a:rPr>
                      <m:t>𝑇</m:t>
                    </m:r>
                    <m:d>
                      <m:dPr>
                        <m:ctrlPr>
                          <a:rPr lang="zh-CN" altLang="en-US" sz="3000" i="1" dirty="0">
                            <a:latin typeface="Cambria Math" panose="02040503050406030204" pitchFamily="18" charset="0"/>
                          </a:rPr>
                        </m:ctrlPr>
                      </m:dPr>
                      <m:e>
                        <m:r>
                          <a:rPr lang="zh-CN" altLang="en-US" sz="3000" i="1" dirty="0">
                            <a:latin typeface="Cambria Math" panose="02040503050406030204" pitchFamily="18" charset="0"/>
                          </a:rPr>
                          <m:t>𝑛</m:t>
                        </m:r>
                      </m:e>
                    </m:d>
                    <m:r>
                      <a:rPr lang="zh-CN" altLang="en-US" sz="3000" i="0" dirty="0">
                        <a:latin typeface="Cambria Math" panose="02040503050406030204" pitchFamily="18" charset="0"/>
                      </a:rPr>
                      <m:t>=</m:t>
                    </m:r>
                    <m:r>
                      <a:rPr lang="zh-CN" altLang="en-US" sz="3000" i="1" dirty="0">
                        <a:latin typeface="Cambria Math" panose="02040503050406030204" pitchFamily="18" charset="0"/>
                      </a:rPr>
                      <m:t>𝑂</m:t>
                    </m:r>
                    <m:d>
                      <m:dPr>
                        <m:ctrlPr>
                          <a:rPr lang="zh-CN" altLang="en-US" sz="3000" i="1" dirty="0">
                            <a:latin typeface="Cambria Math" panose="02040503050406030204" pitchFamily="18" charset="0"/>
                          </a:rPr>
                        </m:ctrlPr>
                      </m:dPr>
                      <m:e>
                        <m:sSup>
                          <m:sSupPr>
                            <m:ctrlPr>
                              <a:rPr lang="zh-CN" altLang="en-US" sz="3000" i="1" dirty="0">
                                <a:latin typeface="Cambria Math" panose="02040503050406030204" pitchFamily="18" charset="0"/>
                              </a:rPr>
                            </m:ctrlPr>
                          </m:sSupPr>
                          <m:e>
                            <m:r>
                              <a:rPr lang="zh-CN" altLang="en-US" sz="3000" i="0" dirty="0">
                                <a:latin typeface="Cambria Math" panose="02040503050406030204" pitchFamily="18" charset="0"/>
                              </a:rPr>
                              <m:t>2</m:t>
                            </m:r>
                          </m:e>
                          <m:sup>
                            <m:r>
                              <a:rPr lang="zh-CN" altLang="en-US" sz="3000" i="1" dirty="0">
                                <a:latin typeface="Cambria Math" panose="02040503050406030204" pitchFamily="18" charset="0"/>
                              </a:rPr>
                              <m:t>𝑛</m:t>
                            </m:r>
                          </m:sup>
                        </m:sSup>
                      </m:e>
                    </m:d>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981200" y="1268761"/>
                <a:ext cx="8229600" cy="4525963"/>
              </a:xfrm>
              <a:blipFill>
                <a:blip r:embed="rId2"/>
                <a:stretch>
                  <a:fillRect l="-1481" t="-2288"/>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 Box 4"/>
          <p:cNvSpPr txBox="1">
            <a:spLocks noChangeArrowheads="1"/>
          </p:cNvSpPr>
          <p:nvPr/>
        </p:nvSpPr>
        <p:spPr bwMode="auto">
          <a:xfrm>
            <a:off x="1627188" y="3284538"/>
            <a:ext cx="8324850" cy="1187450"/>
          </a:xfrm>
          <a:prstGeom prst="rect">
            <a:avLst/>
          </a:prstGeom>
          <a:noFill/>
          <a:ln w="9525">
            <a:noFill/>
            <a:miter lim="800000"/>
            <a:headEnd/>
            <a:tailEnd/>
          </a:ln>
          <a:effectLst/>
        </p:spPr>
        <p:txBody>
          <a:bodyPr wrap="none">
            <a:spAutoFit/>
          </a:bodyPr>
          <a:lstStyle/>
          <a:p>
            <a:pPr>
              <a:lnSpc>
                <a:spcPct val="140000"/>
              </a:lnSpc>
              <a:spcBef>
                <a:spcPct val="20000"/>
              </a:spcBef>
            </a:pPr>
            <a:r>
              <a:rPr kumimoji="1" lang="en-US" altLang="zh-CN" sz="2400" b="1" dirty="0">
                <a:latin typeface="Times New Roman" pitchFamily="18" charset="0"/>
                <a:ea typeface="华文中宋" pitchFamily="2" charset="-122"/>
              </a:rPr>
              <a:t>       </a:t>
            </a:r>
            <a:r>
              <a:rPr kumimoji="1" lang="zh-CN" altLang="en-US" sz="2400" b="1" dirty="0">
                <a:latin typeface="Times New Roman" pitchFamily="18" charset="0"/>
                <a:ea typeface="华文中宋" pitchFamily="2" charset="-122"/>
              </a:rPr>
              <a:t>常见的算法的时间</a:t>
            </a:r>
            <a:r>
              <a:rPr kumimoji="1" lang="zh-CN" altLang="en-US" sz="2400" b="1" baseline="30000" dirty="0">
                <a:latin typeface="Times New Roman" pitchFamily="18" charset="0"/>
                <a:ea typeface="华文中宋" pitchFamily="2" charset="-122"/>
              </a:rPr>
              <a:t> </a:t>
            </a:r>
            <a:r>
              <a:rPr kumimoji="1" lang="zh-CN" altLang="en-US" sz="2400" b="1" dirty="0">
                <a:latin typeface="Times New Roman" pitchFamily="18" charset="0"/>
                <a:ea typeface="华文中宋" pitchFamily="2" charset="-122"/>
              </a:rPr>
              <a:t>复杂度之间的关系为：</a:t>
            </a:r>
          </a:p>
          <a:p>
            <a:pPr>
              <a:lnSpc>
                <a:spcPct val="140000"/>
              </a:lnSpc>
              <a:spcBef>
                <a:spcPct val="20000"/>
              </a:spcBef>
            </a:pPr>
            <a:r>
              <a:rPr kumimoji="1" lang="zh-CN" altLang="en-US" sz="2400" b="1" dirty="0">
                <a:latin typeface="Times New Roman" pitchFamily="18" charset="0"/>
                <a:ea typeface="华文中宋" pitchFamily="2" charset="-122"/>
              </a:rPr>
              <a:t>       </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(1)&lt;</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(log </a:t>
            </a:r>
            <a:r>
              <a:rPr kumimoji="1" lang="en-US" altLang="zh-CN" sz="2400" b="1" i="1"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)&lt;</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)&lt;</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err="1">
                <a:latin typeface="Times New Roman" pitchFamily="18" charset="0"/>
                <a:ea typeface="华文中宋" pitchFamily="2" charset="-122"/>
              </a:rPr>
              <a:t>n</a:t>
            </a:r>
            <a:r>
              <a:rPr kumimoji="1" lang="en-US" altLang="zh-CN" sz="2400" b="1" dirty="0" err="1">
                <a:latin typeface="Times New Roman" pitchFamily="18" charset="0"/>
                <a:ea typeface="华文中宋" pitchFamily="2" charset="-122"/>
              </a:rPr>
              <a:t>log</a:t>
            </a:r>
            <a:r>
              <a:rPr kumimoji="1" lang="en-US" altLang="zh-CN" sz="2400" b="1" dirty="0">
                <a:latin typeface="Times New Roman" pitchFamily="18" charset="0"/>
                <a:ea typeface="华文中宋" pitchFamily="2" charset="-122"/>
              </a:rPr>
              <a:t> </a:t>
            </a:r>
            <a:r>
              <a:rPr kumimoji="1" lang="en-US" altLang="zh-CN" sz="2400" b="1" i="1"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)&lt;</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a:latin typeface="Times New Roman" pitchFamily="18" charset="0"/>
                <a:ea typeface="华文中宋" pitchFamily="2" charset="-122"/>
              </a:rPr>
              <a:t>n</a:t>
            </a:r>
            <a:r>
              <a:rPr kumimoji="1" lang="en-US" altLang="zh-CN" sz="2400" b="1" baseline="20000" dirty="0">
                <a:latin typeface="Times New Roman" pitchFamily="18" charset="0"/>
                <a:ea typeface="华文中宋" pitchFamily="2" charset="-122"/>
              </a:rPr>
              <a:t>2</a:t>
            </a:r>
            <a:r>
              <a:rPr kumimoji="1" lang="en-US" altLang="zh-CN" sz="2400" b="1" dirty="0">
                <a:latin typeface="Times New Roman" pitchFamily="18" charset="0"/>
                <a:ea typeface="华文中宋" pitchFamily="2" charset="-122"/>
              </a:rPr>
              <a:t>)&lt;</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(2</a:t>
            </a:r>
            <a:r>
              <a:rPr kumimoji="1" lang="en-US" altLang="zh-CN" sz="2400" b="1" i="1" baseline="36000"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)&lt;</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!)&lt;</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err="1">
                <a:latin typeface="Times New Roman" pitchFamily="18" charset="0"/>
                <a:ea typeface="华文中宋" pitchFamily="2" charset="-122"/>
              </a:rPr>
              <a:t>n</a:t>
            </a:r>
            <a:r>
              <a:rPr kumimoji="1" lang="en-US" altLang="zh-CN" sz="2400" b="1" i="1" baseline="36000" dirty="0" err="1">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  </a:t>
            </a:r>
          </a:p>
        </p:txBody>
      </p:sp>
      <p:sp>
        <p:nvSpPr>
          <p:cNvPr id="36871" name="Text Box 7"/>
          <p:cNvSpPr txBox="1">
            <a:spLocks noChangeArrowheads="1"/>
          </p:cNvSpPr>
          <p:nvPr/>
        </p:nvSpPr>
        <p:spPr bwMode="auto">
          <a:xfrm>
            <a:off x="1611314" y="557213"/>
            <a:ext cx="7985125" cy="2684462"/>
          </a:xfrm>
          <a:prstGeom prst="rect">
            <a:avLst/>
          </a:prstGeom>
          <a:noFill/>
          <a:ln w="9525">
            <a:noFill/>
            <a:miter lim="800000"/>
            <a:headEnd/>
            <a:tailEnd/>
          </a:ln>
          <a:effectLst/>
        </p:spPr>
        <p:txBody>
          <a:bodyPr wrap="none">
            <a:spAutoFit/>
          </a:bodyPr>
          <a:lstStyle/>
          <a:p>
            <a:pPr>
              <a:lnSpc>
                <a:spcPct val="140000"/>
              </a:lnSpc>
              <a:spcBef>
                <a:spcPct val="50000"/>
              </a:spcBef>
            </a:pPr>
            <a:r>
              <a:rPr kumimoji="1" lang="en-US" altLang="zh-CN" sz="2400" b="1" dirty="0">
                <a:latin typeface="Times New Roman" pitchFamily="18" charset="0"/>
                <a:ea typeface="华文中宋" pitchFamily="2" charset="-122"/>
              </a:rPr>
              <a:t>        </a:t>
            </a:r>
            <a:r>
              <a:rPr kumimoji="1" lang="zh-CN" altLang="en-US" sz="2400" b="1" dirty="0">
                <a:latin typeface="Times New Roman" pitchFamily="18" charset="0"/>
                <a:ea typeface="华文中宋" pitchFamily="2" charset="-122"/>
              </a:rPr>
              <a:t>算法的时间</a:t>
            </a:r>
            <a:r>
              <a:rPr kumimoji="1" lang="zh-CN" altLang="en-US" sz="2400" b="1" baseline="30000" dirty="0">
                <a:latin typeface="Times New Roman" pitchFamily="18" charset="0"/>
                <a:ea typeface="华文中宋" pitchFamily="2" charset="-122"/>
              </a:rPr>
              <a:t> </a:t>
            </a:r>
            <a:r>
              <a:rPr kumimoji="1" lang="zh-CN" altLang="en-US" sz="2400" b="1" dirty="0">
                <a:latin typeface="Times New Roman" pitchFamily="18" charset="0"/>
                <a:ea typeface="华文中宋" pitchFamily="2" charset="-122"/>
              </a:rPr>
              <a:t>复杂度常见的有：</a:t>
            </a:r>
          </a:p>
          <a:p>
            <a:pPr>
              <a:lnSpc>
                <a:spcPct val="140000"/>
              </a:lnSpc>
              <a:spcBef>
                <a:spcPct val="50000"/>
              </a:spcBef>
            </a:pPr>
            <a:r>
              <a:rPr kumimoji="1" lang="zh-CN" altLang="en-US" sz="2400" b="1" dirty="0">
                <a:latin typeface="Times New Roman" pitchFamily="18" charset="0"/>
                <a:ea typeface="华文中宋" pitchFamily="2" charset="-122"/>
              </a:rPr>
              <a:t>常数阶 </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(1)</a:t>
            </a:r>
            <a:r>
              <a:rPr kumimoji="1" lang="zh-CN" altLang="en-US" sz="2400" b="1" dirty="0">
                <a:latin typeface="Times New Roman" pitchFamily="18" charset="0"/>
                <a:ea typeface="华文中宋" pitchFamily="2" charset="-122"/>
              </a:rPr>
              <a:t>，对数阶 </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(log </a:t>
            </a:r>
            <a:r>
              <a:rPr kumimoji="1" lang="en-US" altLang="zh-CN" sz="2400" b="1" i="1"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，线性阶 </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a:t>
            </a:r>
          </a:p>
          <a:p>
            <a:pPr>
              <a:lnSpc>
                <a:spcPct val="140000"/>
              </a:lnSpc>
              <a:spcBef>
                <a:spcPct val="50000"/>
              </a:spcBef>
            </a:pPr>
            <a:r>
              <a:rPr kumimoji="1" lang="zh-CN" altLang="en-US" sz="2400" b="1" dirty="0">
                <a:latin typeface="Times New Roman" pitchFamily="18" charset="0"/>
                <a:ea typeface="华文中宋" pitchFamily="2" charset="-122"/>
              </a:rPr>
              <a:t>线性对数阶 </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err="1">
                <a:latin typeface="Times New Roman" pitchFamily="18" charset="0"/>
                <a:ea typeface="华文中宋" pitchFamily="2" charset="-122"/>
              </a:rPr>
              <a:t>n</a:t>
            </a:r>
            <a:r>
              <a:rPr kumimoji="1" lang="en-US" altLang="zh-CN" sz="2400" b="1" dirty="0" err="1">
                <a:latin typeface="Times New Roman" pitchFamily="18" charset="0"/>
                <a:ea typeface="华文中宋" pitchFamily="2" charset="-122"/>
              </a:rPr>
              <a:t>log</a:t>
            </a:r>
            <a:r>
              <a:rPr kumimoji="1" lang="en-US" altLang="zh-CN" sz="2400" b="1" dirty="0">
                <a:latin typeface="Times New Roman" pitchFamily="18" charset="0"/>
                <a:ea typeface="华文中宋" pitchFamily="2" charset="-122"/>
              </a:rPr>
              <a:t> </a:t>
            </a:r>
            <a:r>
              <a:rPr kumimoji="1" lang="en-US" altLang="zh-CN" sz="2400" b="1" i="1"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，平方阶 </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a:latin typeface="Times New Roman" pitchFamily="18" charset="0"/>
                <a:ea typeface="华文中宋" pitchFamily="2" charset="-122"/>
              </a:rPr>
              <a:t>n</a:t>
            </a:r>
            <a:r>
              <a:rPr kumimoji="1" lang="en-US" altLang="zh-CN" sz="2400" b="1" baseline="30000" dirty="0">
                <a:latin typeface="Times New Roman" pitchFamily="18" charset="0"/>
                <a:ea typeface="华文中宋" pitchFamily="2" charset="-122"/>
              </a:rPr>
              <a:t>2</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，立方阶 </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a:latin typeface="Times New Roman" pitchFamily="18" charset="0"/>
                <a:ea typeface="华文中宋" pitchFamily="2" charset="-122"/>
              </a:rPr>
              <a:t>n</a:t>
            </a:r>
            <a:r>
              <a:rPr kumimoji="1" lang="en-US" altLang="zh-CN" sz="2400" b="1" baseline="30000" dirty="0">
                <a:latin typeface="Times New Roman" pitchFamily="18" charset="0"/>
                <a:ea typeface="华文中宋" pitchFamily="2" charset="-122"/>
              </a:rPr>
              <a:t>3</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 </a:t>
            </a:r>
          </a:p>
          <a:p>
            <a:pPr>
              <a:lnSpc>
                <a:spcPct val="140000"/>
              </a:lnSpc>
              <a:spcBef>
                <a:spcPct val="50000"/>
              </a:spcBef>
            </a:pPr>
            <a:r>
              <a:rPr kumimoji="1" lang="en-US" altLang="zh-CN" sz="2400" b="1" i="1" dirty="0">
                <a:latin typeface="Times New Roman" pitchFamily="18" charset="0"/>
                <a:ea typeface="华文中宋" pitchFamily="2" charset="-122"/>
              </a:rPr>
              <a:t>k </a:t>
            </a:r>
            <a:r>
              <a:rPr kumimoji="1" lang="zh-CN" altLang="en-US" sz="2400" b="1" dirty="0">
                <a:latin typeface="Times New Roman" pitchFamily="18" charset="0"/>
                <a:ea typeface="华文中宋" pitchFamily="2" charset="-122"/>
              </a:rPr>
              <a:t>次方阶</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err="1">
                <a:latin typeface="Times New Roman" pitchFamily="18" charset="0"/>
                <a:ea typeface="华文中宋" pitchFamily="2" charset="-122"/>
              </a:rPr>
              <a:t>n</a:t>
            </a:r>
            <a:r>
              <a:rPr kumimoji="1" lang="en-US" altLang="zh-CN" sz="2400" b="1" i="1" baseline="30000" dirty="0" err="1">
                <a:latin typeface="Times New Roman" pitchFamily="18" charset="0"/>
                <a:ea typeface="华文中宋" pitchFamily="2" charset="-122"/>
              </a:rPr>
              <a:t>k</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，指数阶 </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(2</a:t>
            </a:r>
            <a:r>
              <a:rPr kumimoji="1" lang="en-US" altLang="zh-CN" sz="2400" b="1" i="1" baseline="30000"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，阶乘阶 </a:t>
            </a:r>
            <a:r>
              <a:rPr kumimoji="1" lang="en-US" altLang="zh-CN" sz="2400" b="1" i="1" dirty="0">
                <a:latin typeface="Times New Roman" pitchFamily="18" charset="0"/>
                <a:ea typeface="华文中宋" pitchFamily="2" charset="-122"/>
              </a:rPr>
              <a:t>O</a:t>
            </a:r>
            <a:r>
              <a:rPr kumimoji="1" lang="en-US" altLang="zh-CN" sz="2400" b="1" dirty="0">
                <a:latin typeface="Times New Roman" pitchFamily="18" charset="0"/>
                <a:ea typeface="华文中宋" pitchFamily="2" charset="-122"/>
              </a:rPr>
              <a:t>(</a:t>
            </a:r>
            <a:r>
              <a:rPr kumimoji="1" lang="en-US" altLang="zh-CN" sz="2400" b="1" i="1"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a:t>
            </a:r>
          </a:p>
        </p:txBody>
      </p:sp>
      <p:sp>
        <p:nvSpPr>
          <p:cNvPr id="36872" name="Text Box 8"/>
          <p:cNvSpPr txBox="1">
            <a:spLocks noChangeArrowheads="1"/>
          </p:cNvSpPr>
          <p:nvPr/>
        </p:nvSpPr>
        <p:spPr bwMode="auto">
          <a:xfrm>
            <a:off x="1600201" y="4572001"/>
            <a:ext cx="8812213" cy="1662113"/>
          </a:xfrm>
          <a:prstGeom prst="rect">
            <a:avLst/>
          </a:prstGeom>
          <a:noFill/>
          <a:ln w="9525">
            <a:noFill/>
            <a:miter lim="800000"/>
            <a:headEnd/>
            <a:tailEnd/>
          </a:ln>
          <a:effectLst/>
        </p:spPr>
        <p:txBody>
          <a:bodyPr wrap="none">
            <a:spAutoFit/>
          </a:bodyPr>
          <a:lstStyle/>
          <a:p>
            <a:pPr>
              <a:lnSpc>
                <a:spcPct val="130000"/>
              </a:lnSpc>
              <a:spcBef>
                <a:spcPct val="20000"/>
              </a:spcBef>
            </a:pPr>
            <a:r>
              <a:rPr kumimoji="1" lang="en-US" altLang="zh-CN" sz="2400" b="1">
                <a:latin typeface="Times New Roman" pitchFamily="18" charset="0"/>
                <a:ea typeface="华文新魏" pitchFamily="2" charset="-122"/>
              </a:rPr>
              <a:t>        </a:t>
            </a:r>
            <a:r>
              <a:rPr kumimoji="1" lang="zh-CN" altLang="en-US" sz="2400" b="1">
                <a:latin typeface="Times New Roman" pitchFamily="18" charset="0"/>
                <a:ea typeface="华文新魏" pitchFamily="2" charset="-122"/>
              </a:rPr>
              <a:t>当 </a:t>
            </a:r>
            <a:r>
              <a:rPr kumimoji="1" lang="en-US" altLang="zh-CN" sz="2400" b="1" i="1">
                <a:latin typeface="Times New Roman" pitchFamily="18" charset="0"/>
                <a:ea typeface="华文新魏" pitchFamily="2" charset="-122"/>
              </a:rPr>
              <a:t>n</a:t>
            </a:r>
            <a:r>
              <a:rPr kumimoji="1" lang="en-US" altLang="zh-CN" sz="2400" b="1">
                <a:latin typeface="Times New Roman" pitchFamily="18" charset="0"/>
                <a:ea typeface="华文新魏" pitchFamily="2" charset="-122"/>
              </a:rPr>
              <a:t> </a:t>
            </a:r>
            <a:r>
              <a:rPr kumimoji="1" lang="zh-CN" altLang="en-US" sz="2400" b="1">
                <a:latin typeface="Times New Roman" pitchFamily="18" charset="0"/>
                <a:ea typeface="华文新魏" pitchFamily="2" charset="-122"/>
              </a:rPr>
              <a:t>很大时，指数阶算法和多项式阶算法在所需时间上非常 </a:t>
            </a:r>
          </a:p>
          <a:p>
            <a:pPr>
              <a:lnSpc>
                <a:spcPct val="130000"/>
              </a:lnSpc>
              <a:spcBef>
                <a:spcPct val="20000"/>
              </a:spcBef>
            </a:pPr>
            <a:r>
              <a:rPr kumimoji="1" lang="zh-CN" altLang="en-US" sz="2400" b="1">
                <a:latin typeface="Times New Roman" pitchFamily="18" charset="0"/>
                <a:ea typeface="华文新魏" pitchFamily="2" charset="-122"/>
              </a:rPr>
              <a:t>悬殊。因此，只要有人能将现有指数阶算法中的任何一个算法化 </a:t>
            </a:r>
          </a:p>
          <a:p>
            <a:pPr>
              <a:lnSpc>
                <a:spcPct val="130000"/>
              </a:lnSpc>
              <a:spcBef>
                <a:spcPct val="20000"/>
              </a:spcBef>
            </a:pPr>
            <a:r>
              <a:rPr kumimoji="1" lang="zh-CN" altLang="en-US" sz="2400" b="1">
                <a:latin typeface="Times New Roman" pitchFamily="18" charset="0"/>
                <a:ea typeface="华文新魏" pitchFamily="2" charset="-122"/>
              </a:rPr>
              <a:t>简为多项式阶算法，那就取得了一个伟大的成就。</a:t>
            </a:r>
            <a:endParaRPr kumimoji="1" lang="zh-CN" altLang="en-US" sz="2400">
              <a:latin typeface="Times New Roman" pitchFamily="18" charset="0"/>
              <a:ea typeface="华文新魏" pitchFamily="2" charset="-122"/>
            </a:endParaRPr>
          </a:p>
        </p:txBody>
      </p:sp>
    </p:spTree>
  </p:cSld>
  <p:clrMapOvr>
    <a:masterClrMapping/>
  </p:clrMapOvr>
  <p:transition spd="slow">
    <p:spli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6871"/>
                                        </p:tgtEl>
                                        <p:attrNameLst>
                                          <p:attrName>style.visibility</p:attrName>
                                        </p:attrNameLst>
                                      </p:cBhvr>
                                      <p:to>
                                        <p:strVal val="visible"/>
                                      </p:to>
                                    </p:set>
                                    <p:animEffect transition="in" filter="blinds(horizontal)">
                                      <p:cBhvr>
                                        <p:cTn id="7" dur="500"/>
                                        <p:tgtEl>
                                          <p:spTgt spid="36871"/>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36868"/>
                                        </p:tgtEl>
                                        <p:attrNameLst>
                                          <p:attrName>style.visibility</p:attrName>
                                        </p:attrNameLst>
                                      </p:cBhvr>
                                      <p:to>
                                        <p:strVal val="visible"/>
                                      </p:to>
                                    </p:set>
                                    <p:anim calcmode="lin" valueType="num">
                                      <p:cBhvr>
                                        <p:cTn id="12" dur="500" fill="hold"/>
                                        <p:tgtEl>
                                          <p:spTgt spid="36868"/>
                                        </p:tgtEl>
                                        <p:attrNameLst>
                                          <p:attrName>ppt_w</p:attrName>
                                        </p:attrNameLst>
                                      </p:cBhvr>
                                      <p:tavLst>
                                        <p:tav tm="0">
                                          <p:val>
                                            <p:fltVal val="0"/>
                                          </p:val>
                                        </p:tav>
                                        <p:tav tm="100000">
                                          <p:val>
                                            <p:strVal val="#ppt_w"/>
                                          </p:val>
                                        </p:tav>
                                      </p:tavLst>
                                    </p:anim>
                                    <p:anim calcmode="lin" valueType="num">
                                      <p:cBhvr>
                                        <p:cTn id="13" dur="500" fill="hold"/>
                                        <p:tgtEl>
                                          <p:spTgt spid="36868"/>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36872"/>
                                        </p:tgtEl>
                                        <p:attrNameLst>
                                          <p:attrName>style.visibility</p:attrName>
                                        </p:attrNameLst>
                                      </p:cBhvr>
                                      <p:to>
                                        <p:strVal val="visible"/>
                                      </p:to>
                                    </p:set>
                                    <p:animEffect transition="in" filter="blinds(vertical)">
                                      <p:cBhvr>
                                        <p:cTn id="18" dur="500"/>
                                        <p:tgtEl>
                                          <p:spTgt spid="36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autoUpdateAnimBg="0"/>
      <p:bldP spid="36871" grpId="0" autoUpdateAnimBg="0"/>
      <p:bldP spid="3687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常见函数的增长率</a:t>
            </a:r>
          </a:p>
        </p:txBody>
      </p:sp>
      <p:graphicFrame>
        <p:nvGraphicFramePr>
          <p:cNvPr id="26626" name="Object 4"/>
          <p:cNvGraphicFramePr>
            <a:graphicFrameLocks noGrp="1" noChangeAspect="1"/>
          </p:cNvGraphicFramePr>
          <p:nvPr>
            <p:ph idx="1"/>
          </p:nvPr>
        </p:nvGraphicFramePr>
        <p:xfrm>
          <a:off x="2639616" y="1412776"/>
          <a:ext cx="6768752" cy="4904630"/>
        </p:xfrm>
        <a:graphic>
          <a:graphicData uri="http://schemas.openxmlformats.org/presentationml/2006/ole">
            <mc:AlternateContent xmlns:mc="http://schemas.openxmlformats.org/markup-compatibility/2006">
              <mc:Choice xmlns:v="urn:schemas-microsoft-com:vml" Requires="v">
                <p:oleObj name="VISIO" r:id="rId2" imgW="2374560" imgH="1721160" progId="Visio.Drawing.11">
                  <p:embed/>
                </p:oleObj>
              </mc:Choice>
              <mc:Fallback>
                <p:oleObj name="VISIO" r:id="rId2" imgW="2374560" imgH="172116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616" y="1412776"/>
                        <a:ext cx="6768752" cy="4904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时间复杂度的三种具体情况</a:t>
            </a:r>
            <a:endParaRPr lang="en-US" altLang="zh-CN" dirty="0"/>
          </a:p>
        </p:txBody>
      </p:sp>
      <p:sp>
        <p:nvSpPr>
          <p:cNvPr id="3" name="内容占位符 2"/>
          <p:cNvSpPr>
            <a:spLocks noGrp="1"/>
          </p:cNvSpPr>
          <p:nvPr>
            <p:ph idx="1"/>
          </p:nvPr>
        </p:nvSpPr>
        <p:spPr>
          <a:xfrm>
            <a:off x="2207568" y="4221088"/>
            <a:ext cx="7848872" cy="1512168"/>
          </a:xfrm>
        </p:spPr>
        <p:txBody>
          <a:bodyPr/>
          <a:lstStyle/>
          <a:p>
            <a:pPr lvl="1">
              <a:buNone/>
            </a:pPr>
            <a:r>
              <a:rPr lang="zh-CN" altLang="en-US" sz="2400" b="1" dirty="0">
                <a:solidFill>
                  <a:srgbClr val="0000CC"/>
                </a:solidFill>
                <a:latin typeface="楷体_GB2312" pitchFamily="49" charset="-122"/>
                <a:ea typeface="楷体_GB2312" pitchFamily="49" charset="-122"/>
              </a:rPr>
              <a:t>最好情况：</a:t>
            </a:r>
            <a:r>
              <a:rPr lang="en-US" altLang="zh-CN" sz="2400" b="1" dirty="0">
                <a:solidFill>
                  <a:srgbClr val="0000CC"/>
                </a:solidFill>
                <a:latin typeface="楷体_GB2312" pitchFamily="49" charset="-122"/>
                <a:ea typeface="楷体_GB2312" pitchFamily="49" charset="-122"/>
              </a:rPr>
              <a:t>0</a:t>
            </a:r>
            <a:r>
              <a:rPr lang="zh-CN" altLang="en-US" sz="2400" b="1" dirty="0">
                <a:solidFill>
                  <a:srgbClr val="0000CC"/>
                </a:solidFill>
                <a:latin typeface="楷体_GB2312" pitchFamily="49" charset="-122"/>
                <a:ea typeface="楷体_GB2312" pitchFamily="49" charset="-122"/>
              </a:rPr>
              <a:t>次</a:t>
            </a:r>
          </a:p>
          <a:p>
            <a:pPr lvl="1">
              <a:buNone/>
            </a:pPr>
            <a:r>
              <a:rPr lang="zh-CN" altLang="en-US" sz="2400" b="1" dirty="0">
                <a:solidFill>
                  <a:srgbClr val="0000CC"/>
                </a:solidFill>
                <a:latin typeface="楷体_GB2312" pitchFamily="49" charset="-122"/>
                <a:ea typeface="楷体_GB2312" pitchFamily="49" charset="-122"/>
              </a:rPr>
              <a:t>最坏情况：</a:t>
            </a:r>
            <a:r>
              <a:rPr lang="en-US" altLang="zh-CN" sz="2400" b="1" dirty="0">
                <a:solidFill>
                  <a:srgbClr val="0000CC"/>
                </a:solidFill>
                <a:latin typeface="楷体_GB2312" pitchFamily="49" charset="-122"/>
                <a:ea typeface="楷体_GB2312" pitchFamily="49" charset="-122"/>
              </a:rPr>
              <a:t>1+2+3+…+n-1=n(n-1)/2</a:t>
            </a:r>
          </a:p>
          <a:p>
            <a:pPr lvl="1">
              <a:buNone/>
            </a:pPr>
            <a:r>
              <a:rPr lang="zh-CN" altLang="en-US" sz="2400" b="1" dirty="0">
                <a:solidFill>
                  <a:srgbClr val="0000CC"/>
                </a:solidFill>
                <a:latin typeface="楷体_GB2312" pitchFamily="49" charset="-122"/>
                <a:ea typeface="楷体_GB2312" pitchFamily="49" charset="-122"/>
              </a:rPr>
              <a:t>平均时间复杂度为：</a:t>
            </a:r>
            <a:r>
              <a:rPr lang="en-US" altLang="zh-CN" sz="2400" b="1" dirty="0">
                <a:solidFill>
                  <a:srgbClr val="0000CC"/>
                </a:solidFill>
                <a:latin typeface="楷体_GB2312" pitchFamily="49" charset="-122"/>
                <a:ea typeface="楷体_GB2312" pitchFamily="49" charset="-122"/>
              </a:rPr>
              <a:t>O(n</a:t>
            </a:r>
            <a:r>
              <a:rPr lang="en-US" altLang="zh-CN" sz="2400" b="1" baseline="30000" dirty="0">
                <a:solidFill>
                  <a:srgbClr val="0000CC"/>
                </a:solidFill>
                <a:latin typeface="楷体_GB2312" pitchFamily="49" charset="-122"/>
                <a:ea typeface="楷体_GB2312" pitchFamily="49" charset="-122"/>
              </a:rPr>
              <a:t>2</a:t>
            </a:r>
            <a:r>
              <a:rPr lang="en-US" altLang="zh-CN" sz="2400" b="1" dirty="0">
                <a:solidFill>
                  <a:srgbClr val="0000CC"/>
                </a:solidFill>
                <a:latin typeface="楷体_GB2312" pitchFamily="49" charset="-122"/>
                <a:ea typeface="楷体_GB2312" pitchFamily="49" charset="-122"/>
              </a:rPr>
              <a:t>)</a:t>
            </a:r>
          </a:p>
        </p:txBody>
      </p:sp>
      <p:sp>
        <p:nvSpPr>
          <p:cNvPr id="4" name="矩形 3"/>
          <p:cNvSpPr/>
          <p:nvPr/>
        </p:nvSpPr>
        <p:spPr>
          <a:xfrm>
            <a:off x="2423592" y="1628801"/>
            <a:ext cx="7272808" cy="2400657"/>
          </a:xfrm>
          <a:prstGeom prst="rect">
            <a:avLst/>
          </a:prstGeom>
        </p:spPr>
        <p:txBody>
          <a:bodyPr wrap="square">
            <a:spAutoFit/>
          </a:bodyPr>
          <a:lstStyle/>
          <a:p>
            <a:pPr>
              <a:lnSpc>
                <a:spcPct val="90000"/>
              </a:lnSpc>
              <a:spcBef>
                <a:spcPct val="20000"/>
              </a:spcBef>
              <a:buClr>
                <a:schemeClr val="accent2"/>
              </a:buClr>
              <a:buSzPct val="80000"/>
              <a:buFont typeface="Wingdings" pitchFamily="2" charset="2"/>
              <a:buNone/>
            </a:pPr>
            <a:r>
              <a:rPr kumimoji="1" lang="en-US" altLang="zh-CN" sz="2000" b="1" dirty="0">
                <a:latin typeface="Times New Roman" pitchFamily="18" charset="0"/>
              </a:rPr>
              <a:t>Void bubble-sort(</a:t>
            </a:r>
            <a:r>
              <a:rPr kumimoji="1" lang="en-US" altLang="zh-CN" sz="2000" b="1" dirty="0" err="1">
                <a:latin typeface="Times New Roman" pitchFamily="18" charset="0"/>
              </a:rPr>
              <a:t>int</a:t>
            </a:r>
            <a:r>
              <a:rPr kumimoji="1" lang="en-US" altLang="zh-CN" sz="2000" b="1" dirty="0">
                <a:latin typeface="Times New Roman" pitchFamily="18" charset="0"/>
              </a:rPr>
              <a:t> </a:t>
            </a:r>
            <a:r>
              <a:rPr kumimoji="1" lang="en-US" altLang="zh-CN" sz="2000" b="1" i="1" dirty="0">
                <a:latin typeface="Times New Roman" pitchFamily="18" charset="0"/>
              </a:rPr>
              <a:t>a</a:t>
            </a:r>
            <a:r>
              <a:rPr kumimoji="1" lang="en-US" altLang="zh-CN" sz="2000" b="1" dirty="0">
                <a:latin typeface="Times New Roman" pitchFamily="18" charset="0"/>
              </a:rPr>
              <a:t>[]</a:t>
            </a:r>
            <a:r>
              <a:rPr kumimoji="1" lang="zh-CN" altLang="en-US" sz="2000" b="1" dirty="0">
                <a:latin typeface="Times New Roman" pitchFamily="18" charset="0"/>
              </a:rPr>
              <a:t>，</a:t>
            </a:r>
            <a:r>
              <a:rPr kumimoji="1" lang="en-US" altLang="zh-CN" sz="2000" b="1" dirty="0" err="1">
                <a:latin typeface="Times New Roman" pitchFamily="18" charset="0"/>
              </a:rPr>
              <a:t>int</a:t>
            </a:r>
            <a:r>
              <a:rPr kumimoji="1" lang="en-US" altLang="zh-CN" sz="2000" b="1" dirty="0">
                <a:latin typeface="Times New Roman" pitchFamily="18" charset="0"/>
              </a:rPr>
              <a:t> </a:t>
            </a:r>
            <a:r>
              <a:rPr kumimoji="1" lang="en-US" altLang="zh-CN" sz="2000" b="1" i="1" dirty="0">
                <a:latin typeface="Times New Roman" pitchFamily="18" charset="0"/>
              </a:rPr>
              <a:t>n</a:t>
            </a:r>
            <a:r>
              <a:rPr kumimoji="1" lang="en-US" altLang="zh-CN" sz="2000" b="1" dirty="0">
                <a:latin typeface="Times New Roman" pitchFamily="18" charset="0"/>
              </a:rPr>
              <a:t>) </a:t>
            </a:r>
          </a:p>
          <a:p>
            <a:pPr>
              <a:lnSpc>
                <a:spcPct val="90000"/>
              </a:lnSpc>
              <a:spcBef>
                <a:spcPct val="20000"/>
              </a:spcBef>
              <a:buClr>
                <a:schemeClr val="accent2"/>
              </a:buClr>
              <a:buSzPct val="80000"/>
              <a:buFont typeface="Wingdings" pitchFamily="2" charset="2"/>
              <a:buNone/>
            </a:pPr>
            <a:r>
              <a:rPr kumimoji="1" lang="en-US" altLang="zh-CN" sz="2000" b="1" dirty="0">
                <a:latin typeface="Times New Roman" pitchFamily="18" charset="0"/>
              </a:rPr>
              <a:t> {   //</a:t>
            </a:r>
            <a:r>
              <a:rPr kumimoji="1" lang="zh-CN" altLang="en-US" sz="2000" b="1" dirty="0">
                <a:latin typeface="Times New Roman" pitchFamily="18" charset="0"/>
              </a:rPr>
              <a:t>将 </a:t>
            </a:r>
            <a:r>
              <a:rPr kumimoji="1" lang="en-US" altLang="zh-CN" sz="2000" b="1" i="1" dirty="0">
                <a:latin typeface="Times New Roman" pitchFamily="18" charset="0"/>
              </a:rPr>
              <a:t>a</a:t>
            </a:r>
            <a:r>
              <a:rPr kumimoji="1" lang="en-US" altLang="zh-CN" sz="2000" b="1" dirty="0">
                <a:latin typeface="Times New Roman" pitchFamily="18" charset="0"/>
              </a:rPr>
              <a:t> </a:t>
            </a:r>
            <a:r>
              <a:rPr kumimoji="1" lang="zh-CN" altLang="en-US" sz="2000" b="1" dirty="0">
                <a:latin typeface="Times New Roman" pitchFamily="18" charset="0"/>
              </a:rPr>
              <a:t>中整数序列重新排列成自小至大有序的整数序列。 </a:t>
            </a:r>
          </a:p>
          <a:p>
            <a:pPr>
              <a:lnSpc>
                <a:spcPct val="90000"/>
              </a:lnSpc>
              <a:spcBef>
                <a:spcPct val="20000"/>
              </a:spcBef>
              <a:buClr>
                <a:schemeClr val="accent2"/>
              </a:buClr>
              <a:buSzPct val="80000"/>
              <a:buFont typeface="Wingdings" pitchFamily="2" charset="2"/>
              <a:buNone/>
            </a:pPr>
            <a:r>
              <a:rPr kumimoji="1" lang="zh-CN" altLang="en-US" sz="2000" b="1" dirty="0">
                <a:latin typeface="Times New Roman" pitchFamily="18" charset="0"/>
              </a:rPr>
              <a:t>      </a:t>
            </a:r>
            <a:r>
              <a:rPr kumimoji="1" lang="en-US" altLang="zh-CN" sz="2000" b="1" dirty="0">
                <a:latin typeface="Times New Roman" pitchFamily="18" charset="0"/>
              </a:rPr>
              <a:t>for(</a:t>
            </a:r>
            <a:r>
              <a:rPr kumimoji="1" lang="en-US" altLang="zh-CN" sz="2000" b="1" i="1" dirty="0" err="1">
                <a:latin typeface="Times New Roman" pitchFamily="18" charset="0"/>
              </a:rPr>
              <a:t>i</a:t>
            </a:r>
            <a:r>
              <a:rPr kumimoji="1" lang="en-US" altLang="zh-CN" sz="2000" b="1" i="1" dirty="0">
                <a:latin typeface="Times New Roman" pitchFamily="18" charset="0"/>
              </a:rPr>
              <a:t> </a:t>
            </a:r>
            <a:r>
              <a:rPr kumimoji="1" lang="en-US" altLang="zh-CN" sz="2000" b="1" dirty="0">
                <a:latin typeface="Times New Roman" pitchFamily="18" charset="0"/>
              </a:rPr>
              <a:t>= </a:t>
            </a:r>
            <a:r>
              <a:rPr kumimoji="1" lang="en-US" altLang="zh-CN" sz="2000" b="1" i="1" dirty="0">
                <a:latin typeface="Times New Roman" pitchFamily="18" charset="0"/>
              </a:rPr>
              <a:t>n</a:t>
            </a:r>
            <a:r>
              <a:rPr kumimoji="1" lang="en-US" altLang="zh-CN" sz="2000" b="1" dirty="0">
                <a:latin typeface="Times New Roman" pitchFamily="18" charset="0"/>
              </a:rPr>
              <a:t>-1, change = TURE; </a:t>
            </a:r>
            <a:r>
              <a:rPr kumimoji="1" lang="en-US" altLang="zh-CN" sz="2000" b="1" i="1" dirty="0" err="1">
                <a:latin typeface="Times New Roman" pitchFamily="18" charset="0"/>
              </a:rPr>
              <a:t>i</a:t>
            </a:r>
            <a:r>
              <a:rPr kumimoji="1" lang="en-US" altLang="zh-CN" sz="2000" b="1" i="1">
                <a:latin typeface="Times New Roman" pitchFamily="18" charset="0"/>
              </a:rPr>
              <a:t> </a:t>
            </a:r>
            <a:r>
              <a:rPr kumimoji="1" lang="en-US" altLang="zh-CN" sz="2000" b="1">
                <a:latin typeface="Times New Roman" pitchFamily="18" charset="0"/>
              </a:rPr>
              <a:t>&gt;= </a:t>
            </a:r>
            <a:r>
              <a:rPr kumimoji="1" lang="en-US" altLang="zh-CN" sz="2000" b="1" dirty="0">
                <a:latin typeface="Times New Roman" pitchFamily="18" charset="0"/>
              </a:rPr>
              <a:t>1 &amp;&amp; change; --</a:t>
            </a:r>
            <a:r>
              <a:rPr kumimoji="1" lang="en-US" altLang="zh-CN" sz="2000" b="1" i="1" dirty="0" err="1">
                <a:latin typeface="Times New Roman" pitchFamily="18" charset="0"/>
              </a:rPr>
              <a:t>i</a:t>
            </a:r>
            <a:r>
              <a:rPr kumimoji="1" lang="en-US" altLang="zh-CN" sz="2000" b="1" dirty="0">
                <a:latin typeface="Times New Roman" pitchFamily="18" charset="0"/>
              </a:rPr>
              <a:t>)</a:t>
            </a:r>
          </a:p>
          <a:p>
            <a:pPr>
              <a:lnSpc>
                <a:spcPct val="90000"/>
              </a:lnSpc>
              <a:spcBef>
                <a:spcPct val="20000"/>
              </a:spcBef>
              <a:buClr>
                <a:schemeClr val="accent2"/>
              </a:buClr>
              <a:buSzPct val="80000"/>
              <a:buFont typeface="Wingdings" pitchFamily="2" charset="2"/>
              <a:buNone/>
            </a:pPr>
            <a:r>
              <a:rPr kumimoji="1" lang="en-US" altLang="zh-CN" sz="2000" b="1" dirty="0">
                <a:latin typeface="Times New Roman" pitchFamily="18" charset="0"/>
              </a:rPr>
              <a:t>            change = false;</a:t>
            </a:r>
          </a:p>
          <a:p>
            <a:pPr>
              <a:lnSpc>
                <a:spcPct val="90000"/>
              </a:lnSpc>
              <a:spcBef>
                <a:spcPct val="20000"/>
              </a:spcBef>
              <a:buClr>
                <a:schemeClr val="accent2"/>
              </a:buClr>
              <a:buSzPct val="80000"/>
              <a:buFont typeface="Wingdings" pitchFamily="2" charset="2"/>
              <a:buNone/>
            </a:pPr>
            <a:r>
              <a:rPr kumimoji="1" lang="en-US" altLang="zh-CN" sz="2000" b="1" dirty="0">
                <a:latin typeface="Times New Roman" pitchFamily="18" charset="0"/>
              </a:rPr>
              <a:t>             for ( </a:t>
            </a:r>
            <a:r>
              <a:rPr kumimoji="1" lang="en-US" altLang="zh-CN" sz="2000" b="1" i="1" dirty="0">
                <a:latin typeface="Times New Roman" pitchFamily="18" charset="0"/>
              </a:rPr>
              <a:t>j </a:t>
            </a:r>
            <a:r>
              <a:rPr kumimoji="1" lang="en-US" altLang="zh-CN" sz="2000" b="1" dirty="0">
                <a:latin typeface="Times New Roman" pitchFamily="18" charset="0"/>
              </a:rPr>
              <a:t>= 0;  </a:t>
            </a:r>
            <a:r>
              <a:rPr kumimoji="1" lang="en-US" altLang="zh-CN" sz="2000" b="1" i="1" dirty="0">
                <a:latin typeface="Times New Roman" pitchFamily="18" charset="0"/>
              </a:rPr>
              <a:t>j </a:t>
            </a:r>
            <a:r>
              <a:rPr kumimoji="1" lang="en-US" altLang="zh-CN" sz="2000" b="1" dirty="0">
                <a:latin typeface="Times New Roman" pitchFamily="18" charset="0"/>
              </a:rPr>
              <a:t>&lt; </a:t>
            </a:r>
            <a:r>
              <a:rPr kumimoji="1" lang="en-US" altLang="zh-CN" sz="2000" b="1" i="1" dirty="0" err="1">
                <a:latin typeface="Times New Roman" pitchFamily="18" charset="0"/>
              </a:rPr>
              <a:t>i</a:t>
            </a:r>
            <a:r>
              <a:rPr kumimoji="1" lang="en-US" altLang="zh-CN" sz="2000" b="1" dirty="0">
                <a:latin typeface="Times New Roman" pitchFamily="18" charset="0"/>
              </a:rPr>
              <a:t>; ++</a:t>
            </a:r>
            <a:r>
              <a:rPr kumimoji="1" lang="en-US" altLang="zh-CN" sz="2000" b="1" i="1" dirty="0">
                <a:latin typeface="Times New Roman" pitchFamily="18" charset="0"/>
              </a:rPr>
              <a:t>j</a:t>
            </a:r>
            <a:r>
              <a:rPr kumimoji="1" lang="en-US" altLang="zh-CN" sz="2000" b="1" dirty="0">
                <a:latin typeface="Times New Roman" pitchFamily="18" charset="0"/>
              </a:rPr>
              <a:t>)</a:t>
            </a:r>
          </a:p>
          <a:p>
            <a:pPr>
              <a:lnSpc>
                <a:spcPct val="90000"/>
              </a:lnSpc>
              <a:spcBef>
                <a:spcPct val="20000"/>
              </a:spcBef>
              <a:buClr>
                <a:schemeClr val="accent2"/>
              </a:buClr>
              <a:buSzPct val="80000"/>
              <a:buFont typeface="Wingdings" pitchFamily="2" charset="2"/>
              <a:buNone/>
            </a:pPr>
            <a:r>
              <a:rPr kumimoji="1" lang="en-US" altLang="zh-CN" sz="2000" b="1" dirty="0">
                <a:latin typeface="Times New Roman" pitchFamily="18" charset="0"/>
              </a:rPr>
              <a:t>                 if (</a:t>
            </a:r>
            <a:r>
              <a:rPr kumimoji="1" lang="en-US" altLang="zh-CN" sz="2000" b="1" i="1" dirty="0">
                <a:latin typeface="Times New Roman" pitchFamily="18" charset="0"/>
              </a:rPr>
              <a:t>a</a:t>
            </a:r>
            <a:r>
              <a:rPr kumimoji="1" lang="en-US" altLang="zh-CN" sz="2000" b="1" dirty="0">
                <a:latin typeface="Times New Roman" pitchFamily="18" charset="0"/>
              </a:rPr>
              <a:t>[ </a:t>
            </a:r>
            <a:r>
              <a:rPr kumimoji="1" lang="en-US" altLang="zh-CN" sz="2000" b="1" i="1" dirty="0">
                <a:latin typeface="Times New Roman" pitchFamily="18" charset="0"/>
              </a:rPr>
              <a:t>j</a:t>
            </a:r>
            <a:r>
              <a:rPr kumimoji="1" lang="en-US" altLang="zh-CN" sz="2000" b="1" dirty="0">
                <a:latin typeface="Times New Roman" pitchFamily="18" charset="0"/>
              </a:rPr>
              <a:t>] &gt; </a:t>
            </a:r>
            <a:r>
              <a:rPr kumimoji="1" lang="en-US" altLang="zh-CN" sz="2000" b="1" i="1" dirty="0">
                <a:latin typeface="Times New Roman" pitchFamily="18" charset="0"/>
              </a:rPr>
              <a:t>a</a:t>
            </a:r>
            <a:r>
              <a:rPr kumimoji="1" lang="en-US" altLang="zh-CN" sz="2000" b="1" dirty="0">
                <a:latin typeface="Times New Roman" pitchFamily="18" charset="0"/>
              </a:rPr>
              <a:t>[ </a:t>
            </a:r>
            <a:r>
              <a:rPr kumimoji="1" lang="en-US" altLang="zh-CN" sz="2000" b="1" i="1" dirty="0">
                <a:latin typeface="Times New Roman" pitchFamily="18" charset="0"/>
              </a:rPr>
              <a:t>j </a:t>
            </a:r>
            <a:r>
              <a:rPr kumimoji="1" lang="en-US" altLang="zh-CN" sz="2000" b="1" dirty="0">
                <a:latin typeface="Times New Roman" pitchFamily="18" charset="0"/>
              </a:rPr>
              <a:t>+1]) {</a:t>
            </a:r>
            <a:r>
              <a:rPr kumimoji="1" lang="en-US" altLang="zh-CN" sz="2000" b="1" i="1" dirty="0">
                <a:solidFill>
                  <a:srgbClr val="FF3300"/>
                </a:solidFill>
                <a:effectLst>
                  <a:outerShdw blurRad="38100" dist="38100" dir="2700000" algn="tl">
                    <a:srgbClr val="000000"/>
                  </a:outerShdw>
                </a:effectLst>
                <a:latin typeface="Times New Roman" pitchFamily="18" charset="0"/>
              </a:rPr>
              <a:t>a</a:t>
            </a:r>
            <a:r>
              <a:rPr kumimoji="1" lang="en-US" altLang="zh-CN" sz="2000" b="1" dirty="0">
                <a:solidFill>
                  <a:srgbClr val="FF3300"/>
                </a:solidFill>
                <a:effectLst>
                  <a:outerShdw blurRad="38100" dist="38100" dir="2700000" algn="tl">
                    <a:srgbClr val="000000"/>
                  </a:outerShdw>
                </a:effectLst>
                <a:latin typeface="Times New Roman" pitchFamily="18" charset="0"/>
              </a:rPr>
              <a:t>[ </a:t>
            </a:r>
            <a:r>
              <a:rPr kumimoji="1" lang="en-US" altLang="zh-CN" sz="2000" b="1" i="1" dirty="0">
                <a:solidFill>
                  <a:srgbClr val="FF3300"/>
                </a:solidFill>
                <a:effectLst>
                  <a:outerShdw blurRad="38100" dist="38100" dir="2700000" algn="tl">
                    <a:srgbClr val="000000"/>
                  </a:outerShdw>
                </a:effectLst>
                <a:latin typeface="Times New Roman" pitchFamily="18" charset="0"/>
              </a:rPr>
              <a:t>j</a:t>
            </a:r>
            <a:r>
              <a:rPr kumimoji="1" lang="en-US" altLang="zh-CN" sz="2000" b="1" dirty="0">
                <a:solidFill>
                  <a:srgbClr val="FF3300"/>
                </a:solidFill>
                <a:effectLst>
                  <a:outerShdw blurRad="38100" dist="38100" dir="2700000" algn="tl">
                    <a:srgbClr val="000000"/>
                  </a:outerShdw>
                </a:effectLst>
                <a:latin typeface="Times New Roman" pitchFamily="18" charset="0"/>
              </a:rPr>
              <a:t>]←→</a:t>
            </a:r>
            <a:r>
              <a:rPr kumimoji="1" lang="en-US" altLang="zh-CN" sz="2000" b="1" i="1" dirty="0">
                <a:solidFill>
                  <a:srgbClr val="FF3300"/>
                </a:solidFill>
                <a:effectLst>
                  <a:outerShdw blurRad="38100" dist="38100" dir="2700000" algn="tl">
                    <a:srgbClr val="000000"/>
                  </a:outerShdw>
                </a:effectLst>
                <a:latin typeface="Times New Roman" pitchFamily="18" charset="0"/>
              </a:rPr>
              <a:t>a</a:t>
            </a:r>
            <a:r>
              <a:rPr kumimoji="1" lang="en-US" altLang="zh-CN" sz="2000" b="1" dirty="0">
                <a:solidFill>
                  <a:srgbClr val="FF3300"/>
                </a:solidFill>
                <a:effectLst>
                  <a:outerShdw blurRad="38100" dist="38100" dir="2700000" algn="tl">
                    <a:srgbClr val="000000"/>
                  </a:outerShdw>
                </a:effectLst>
                <a:latin typeface="Times New Roman" pitchFamily="18" charset="0"/>
              </a:rPr>
              <a:t>[ </a:t>
            </a:r>
            <a:r>
              <a:rPr kumimoji="1" lang="en-US" altLang="zh-CN" sz="2000" b="1" i="1" dirty="0">
                <a:solidFill>
                  <a:srgbClr val="FF3300"/>
                </a:solidFill>
                <a:effectLst>
                  <a:outerShdw blurRad="38100" dist="38100" dir="2700000" algn="tl">
                    <a:srgbClr val="000000"/>
                  </a:outerShdw>
                </a:effectLst>
                <a:latin typeface="Times New Roman" pitchFamily="18" charset="0"/>
              </a:rPr>
              <a:t>j </a:t>
            </a:r>
            <a:r>
              <a:rPr kumimoji="1" lang="en-US" altLang="zh-CN" sz="2000" b="1" dirty="0">
                <a:solidFill>
                  <a:srgbClr val="FF3300"/>
                </a:solidFill>
                <a:effectLst>
                  <a:outerShdw blurRad="38100" dist="38100" dir="2700000" algn="tl">
                    <a:srgbClr val="000000"/>
                  </a:outerShdw>
                </a:effectLst>
                <a:latin typeface="Times New Roman" pitchFamily="18" charset="0"/>
              </a:rPr>
              <a:t>+1];  change = TURE</a:t>
            </a:r>
            <a:r>
              <a:rPr kumimoji="1" lang="en-US" altLang="zh-CN" sz="2000" b="1" dirty="0">
                <a:latin typeface="Times New Roman" pitchFamily="18" charset="0"/>
              </a:rPr>
              <a:t>} </a:t>
            </a:r>
          </a:p>
          <a:p>
            <a:pPr>
              <a:lnSpc>
                <a:spcPct val="90000"/>
              </a:lnSpc>
              <a:spcBef>
                <a:spcPct val="20000"/>
              </a:spcBef>
              <a:buClr>
                <a:schemeClr val="accent2"/>
              </a:buClr>
              <a:buSzPct val="80000"/>
              <a:buFont typeface="Wingdings" pitchFamily="2" charset="2"/>
              <a:buNone/>
            </a:pPr>
            <a:r>
              <a:rPr kumimoji="1" lang="en-US" altLang="zh-CN" sz="2000" b="1" dirty="0">
                <a:latin typeface="Times New Roman" pitchFamily="18" charset="0"/>
              </a:rPr>
              <a:t> }// bubble-sort</a:t>
            </a:r>
          </a:p>
        </p:txBody>
      </p:sp>
      <p:sp>
        <p:nvSpPr>
          <p:cNvPr id="5" name="Text Box 5"/>
          <p:cNvSpPr txBox="1">
            <a:spLocks noChangeArrowheads="1"/>
          </p:cNvSpPr>
          <p:nvPr/>
        </p:nvSpPr>
        <p:spPr bwMode="auto">
          <a:xfrm>
            <a:off x="1693863" y="5924550"/>
            <a:ext cx="8489950" cy="457200"/>
          </a:xfrm>
          <a:prstGeom prst="rect">
            <a:avLst/>
          </a:prstGeom>
          <a:noFill/>
          <a:ln w="9525">
            <a:noFill/>
            <a:miter lim="800000"/>
            <a:headEnd/>
            <a:tailEnd/>
          </a:ln>
          <a:effectLst/>
        </p:spPr>
        <p:txBody>
          <a:bodyPr wrap="none">
            <a:spAutoFit/>
          </a:bodyPr>
          <a:lstStyle/>
          <a:p>
            <a:r>
              <a:rPr kumimoji="1" lang="en-US" altLang="zh-CN" sz="2400" b="1" dirty="0">
                <a:latin typeface="Times New Roman" pitchFamily="18" charset="0"/>
                <a:ea typeface="华文新魏" pitchFamily="2" charset="-122"/>
              </a:rPr>
              <a:t>        </a:t>
            </a:r>
            <a:r>
              <a:rPr kumimoji="1" lang="zh-CN" altLang="en-US" sz="2400" b="1" dirty="0">
                <a:latin typeface="Times New Roman" pitchFamily="18" charset="0"/>
                <a:ea typeface="华文新魏" pitchFamily="2" charset="-122"/>
              </a:rPr>
              <a:t>在本课程中讨论的时间复杂度，均指最坏的时间复杂度。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p:cNvSpPr txBox="1">
            <a:spLocks noChangeArrowheads="1"/>
          </p:cNvSpPr>
          <p:nvPr/>
        </p:nvSpPr>
        <p:spPr bwMode="auto">
          <a:xfrm>
            <a:off x="1600201" y="549276"/>
            <a:ext cx="3031599" cy="461665"/>
          </a:xfrm>
          <a:prstGeom prst="rect">
            <a:avLst/>
          </a:prstGeom>
          <a:noFill/>
          <a:ln w="9525">
            <a:noFill/>
            <a:miter lim="800000"/>
            <a:headEnd/>
            <a:tailEnd/>
          </a:ln>
          <a:effectLst/>
        </p:spPr>
        <p:txBody>
          <a:bodyPr wrap="none">
            <a:spAutoFit/>
          </a:bodyPr>
          <a:lstStyle/>
          <a:p>
            <a:r>
              <a:rPr kumimoji="1" lang="zh-CN" altLang="en-US" sz="2400" b="1" dirty="0">
                <a:solidFill>
                  <a:srgbClr val="0000FF"/>
                </a:solidFill>
                <a:latin typeface="Times New Roman" pitchFamily="18" charset="0"/>
                <a:ea typeface="华文中宋" pitchFamily="2" charset="-122"/>
              </a:rPr>
              <a:t>算法的存储空间需求 </a:t>
            </a:r>
          </a:p>
        </p:txBody>
      </p:sp>
      <p:sp>
        <p:nvSpPr>
          <p:cNvPr id="38917" name="Text Box 5"/>
          <p:cNvSpPr txBox="1">
            <a:spLocks noChangeArrowheads="1"/>
          </p:cNvSpPr>
          <p:nvPr/>
        </p:nvSpPr>
        <p:spPr bwMode="auto">
          <a:xfrm>
            <a:off x="1600200" y="3384550"/>
            <a:ext cx="3308350" cy="457200"/>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ea typeface="华文中宋" pitchFamily="2" charset="-122"/>
              </a:rPr>
              <a:t>一个算法所需存储空间 </a:t>
            </a:r>
          </a:p>
        </p:txBody>
      </p:sp>
      <p:sp>
        <p:nvSpPr>
          <p:cNvPr id="38919" name="Rectangle 7"/>
          <p:cNvSpPr>
            <a:spLocks noChangeArrowheads="1"/>
          </p:cNvSpPr>
          <p:nvPr/>
        </p:nvSpPr>
        <p:spPr bwMode="auto">
          <a:xfrm>
            <a:off x="4953000" y="2647950"/>
            <a:ext cx="5518150" cy="1735138"/>
          </a:xfrm>
          <a:prstGeom prst="rect">
            <a:avLst/>
          </a:prstGeom>
          <a:noFill/>
          <a:ln w="9525">
            <a:noFill/>
            <a:miter lim="800000"/>
            <a:headEnd/>
            <a:tailEnd/>
          </a:ln>
          <a:effectLst/>
        </p:spPr>
        <p:txBody>
          <a:bodyPr wrap="none">
            <a:spAutoFit/>
          </a:bodyPr>
          <a:lstStyle/>
          <a:p>
            <a:pPr>
              <a:lnSpc>
                <a:spcPct val="150000"/>
              </a:lnSpc>
            </a:pPr>
            <a:r>
              <a:rPr kumimoji="1" lang="zh-CN" altLang="en-US" sz="2400" b="1">
                <a:latin typeface="Times New Roman" pitchFamily="18" charset="0"/>
                <a:ea typeface="华文中宋" pitchFamily="2" charset="-122"/>
              </a:rPr>
              <a:t>算法本身的存储空间 </a:t>
            </a:r>
            <a:br>
              <a:rPr kumimoji="1" lang="zh-CN" altLang="en-US" sz="2400" b="1">
                <a:latin typeface="Times New Roman" pitchFamily="18" charset="0"/>
                <a:ea typeface="华文中宋" pitchFamily="2" charset="-122"/>
              </a:rPr>
            </a:br>
            <a:r>
              <a:rPr kumimoji="1" lang="zh-CN" altLang="en-US" sz="2400" b="1">
                <a:latin typeface="Times New Roman" pitchFamily="18" charset="0"/>
                <a:ea typeface="华文中宋" pitchFamily="2" charset="-122"/>
              </a:rPr>
              <a:t>输入数据的存储空间 </a:t>
            </a:r>
            <a:br>
              <a:rPr kumimoji="1" lang="zh-CN" altLang="en-US" sz="2400" b="1">
                <a:latin typeface="Times New Roman" pitchFamily="18" charset="0"/>
                <a:ea typeface="华文中宋" pitchFamily="2" charset="-122"/>
              </a:rPr>
            </a:br>
            <a:r>
              <a:rPr kumimoji="1" lang="zh-CN" altLang="en-US" sz="2400" b="1">
                <a:solidFill>
                  <a:srgbClr val="0000FF"/>
                </a:solidFill>
                <a:latin typeface="Times New Roman" pitchFamily="18" charset="0"/>
                <a:ea typeface="华文中宋" pitchFamily="2" charset="-122"/>
              </a:rPr>
              <a:t>算法在运行过程中临时占用的存储空间  </a:t>
            </a:r>
          </a:p>
        </p:txBody>
      </p:sp>
      <p:sp>
        <p:nvSpPr>
          <p:cNvPr id="38920" name="AutoShape 8"/>
          <p:cNvSpPr>
            <a:spLocks/>
          </p:cNvSpPr>
          <p:nvPr/>
        </p:nvSpPr>
        <p:spPr bwMode="auto">
          <a:xfrm>
            <a:off x="4800601" y="3000376"/>
            <a:ext cx="142875" cy="1249363"/>
          </a:xfrm>
          <a:prstGeom prst="leftBrace">
            <a:avLst>
              <a:gd name="adj1" fmla="val 72870"/>
              <a:gd name="adj2" fmla="val 50000"/>
            </a:avLst>
          </a:prstGeom>
          <a:noFill/>
          <a:ln w="12700">
            <a:solidFill>
              <a:schemeClr val="tx1"/>
            </a:solidFill>
            <a:round/>
            <a:headEnd/>
            <a:tailEnd/>
          </a:ln>
          <a:effectLst/>
        </p:spPr>
        <p:txBody>
          <a:bodyPr wrap="none" anchor="ctr"/>
          <a:lstStyle/>
          <a:p>
            <a:endParaRPr lang="zh-CN" altLang="en-US"/>
          </a:p>
        </p:txBody>
      </p:sp>
      <p:sp>
        <p:nvSpPr>
          <p:cNvPr id="38922" name="Text Box 10"/>
          <p:cNvSpPr txBox="1">
            <a:spLocks noChangeArrowheads="1"/>
          </p:cNvSpPr>
          <p:nvPr/>
        </p:nvSpPr>
        <p:spPr bwMode="auto">
          <a:xfrm>
            <a:off x="1600200" y="4419600"/>
            <a:ext cx="8879354" cy="1134734"/>
          </a:xfrm>
          <a:prstGeom prst="rect">
            <a:avLst/>
          </a:prstGeom>
          <a:noFill/>
          <a:ln w="9525">
            <a:noFill/>
            <a:miter lim="800000"/>
            <a:headEnd/>
            <a:tailEnd/>
          </a:ln>
          <a:effectLst/>
        </p:spPr>
        <p:txBody>
          <a:bodyPr wrap="none">
            <a:spAutoFit/>
          </a:bodyPr>
          <a:lstStyle/>
          <a:p>
            <a:pPr>
              <a:lnSpc>
                <a:spcPct val="150000"/>
              </a:lnSpc>
            </a:pPr>
            <a:r>
              <a:rPr kumimoji="1" lang="en-US" altLang="zh-CN" sz="2400" b="1">
                <a:latin typeface="Times New Roman" pitchFamily="18" charset="0"/>
                <a:ea typeface="华文中宋" pitchFamily="2" charset="-122"/>
              </a:rPr>
              <a:t>        </a:t>
            </a:r>
            <a:r>
              <a:rPr kumimoji="1" lang="zh-CN" altLang="en-US" sz="2400" b="1">
                <a:latin typeface="Times New Roman" pitchFamily="18" charset="0"/>
                <a:ea typeface="华文中宋" pitchFamily="2" charset="-122"/>
              </a:rPr>
              <a:t>若所需临时空间不随问题规模的大小而改变，则称此算法为 </a:t>
            </a:r>
          </a:p>
          <a:p>
            <a:pPr>
              <a:lnSpc>
                <a:spcPct val="150000"/>
              </a:lnSpc>
            </a:pPr>
            <a:r>
              <a:rPr kumimoji="1" lang="zh-CN" altLang="en-US" sz="2400" b="1">
                <a:solidFill>
                  <a:srgbClr val="FF3300"/>
                </a:solidFill>
                <a:effectLst>
                  <a:outerShdw blurRad="38100" dist="38100" dir="2700000" algn="tl">
                    <a:srgbClr val="000000"/>
                  </a:outerShdw>
                </a:effectLst>
                <a:latin typeface="Times New Roman" pitchFamily="18" charset="0"/>
                <a:ea typeface="华文中宋" pitchFamily="2" charset="-122"/>
              </a:rPr>
              <a:t>原地工作</a:t>
            </a:r>
            <a:r>
              <a:rPr kumimoji="1" lang="zh-CN" altLang="en-US" sz="2400" b="1">
                <a:latin typeface="Times New Roman" pitchFamily="18" charset="0"/>
                <a:ea typeface="华文中宋" pitchFamily="2" charset="-122"/>
              </a:rPr>
              <a:t>。</a:t>
            </a:r>
          </a:p>
        </p:txBody>
      </p:sp>
      <p:sp>
        <p:nvSpPr>
          <p:cNvPr id="38923" name="Text Box 11"/>
          <p:cNvSpPr txBox="1">
            <a:spLocks noChangeArrowheads="1"/>
          </p:cNvSpPr>
          <p:nvPr/>
        </p:nvSpPr>
        <p:spPr bwMode="auto">
          <a:xfrm>
            <a:off x="1600200" y="5780088"/>
            <a:ext cx="8794750" cy="457200"/>
          </a:xfrm>
          <a:prstGeom prst="rect">
            <a:avLst/>
          </a:prstGeom>
          <a:noFill/>
          <a:ln w="9525">
            <a:noFill/>
            <a:miter lim="800000"/>
            <a:headEnd/>
            <a:tailEnd/>
          </a:ln>
          <a:effectLst/>
        </p:spPr>
        <p:txBody>
          <a:bodyPr wrap="none">
            <a:spAutoFit/>
          </a:bodyPr>
          <a:lstStyle/>
          <a:p>
            <a:r>
              <a:rPr kumimoji="1" lang="en-US" altLang="zh-CN" sz="2400" b="1">
                <a:latin typeface="Times New Roman" pitchFamily="18" charset="0"/>
                <a:ea typeface="华文中宋" pitchFamily="2" charset="-122"/>
              </a:rPr>
              <a:t>        </a:t>
            </a:r>
            <a:r>
              <a:rPr kumimoji="1" lang="zh-CN" altLang="en-US" sz="2400" b="1">
                <a:latin typeface="Times New Roman" pitchFamily="18" charset="0"/>
                <a:ea typeface="华文中宋" pitchFamily="2" charset="-122"/>
              </a:rPr>
              <a:t>若所需存储量依赖于特定的输入，则通常按最坏情况考虑。 </a:t>
            </a:r>
          </a:p>
        </p:txBody>
      </p:sp>
      <p:sp>
        <p:nvSpPr>
          <p:cNvPr id="38926" name="Rectangle 14"/>
          <p:cNvSpPr>
            <a:spLocks noChangeArrowheads="1"/>
          </p:cNvSpPr>
          <p:nvPr/>
        </p:nvSpPr>
        <p:spPr bwMode="auto">
          <a:xfrm>
            <a:off x="10069514" y="6427788"/>
            <a:ext cx="490537" cy="457200"/>
          </a:xfrm>
          <a:prstGeom prst="rect">
            <a:avLst/>
          </a:prstGeom>
          <a:noFill/>
          <a:ln w="9525">
            <a:noFill/>
            <a:miter lim="800000"/>
            <a:headEnd/>
            <a:tailEnd/>
          </a:ln>
          <a:effectLst/>
        </p:spPr>
        <p:txBody>
          <a:bodyPr wrap="none">
            <a:spAutoFit/>
          </a:bodyPr>
          <a:lstStyle/>
          <a:p>
            <a:r>
              <a:rPr kumimoji="1" lang="en-US" altLang="zh-CN" sz="2400" b="1">
                <a:solidFill>
                  <a:srgbClr val="FF3300"/>
                </a:solidFill>
                <a:effectLst>
                  <a:outerShdw blurRad="38100" dist="38100" dir="2700000" algn="tl">
                    <a:srgbClr val="000000"/>
                  </a:outerShdw>
                </a:effectLst>
                <a:latin typeface="Times New Roman" pitchFamily="18" charset="0"/>
              </a:rPr>
              <a:t>▲</a:t>
            </a:r>
          </a:p>
        </p:txBody>
      </p:sp>
      <p:sp>
        <p:nvSpPr>
          <p:cNvPr id="38916" name="Text Box 4"/>
          <p:cNvSpPr txBox="1">
            <a:spLocks noChangeArrowheads="1"/>
          </p:cNvSpPr>
          <p:nvPr/>
        </p:nvSpPr>
        <p:spPr bwMode="auto">
          <a:xfrm>
            <a:off x="1622426" y="1031876"/>
            <a:ext cx="7370763" cy="1662113"/>
          </a:xfrm>
          <a:prstGeom prst="rect">
            <a:avLst/>
          </a:prstGeom>
          <a:noFill/>
          <a:ln w="9525">
            <a:noFill/>
            <a:miter lim="800000"/>
            <a:headEnd/>
            <a:tailEnd/>
          </a:ln>
          <a:effectLst/>
        </p:spPr>
        <p:txBody>
          <a:bodyPr wrap="none">
            <a:spAutoFit/>
          </a:bodyPr>
          <a:lstStyle/>
          <a:p>
            <a:pPr>
              <a:lnSpc>
                <a:spcPct val="130000"/>
              </a:lnSpc>
              <a:spcBef>
                <a:spcPct val="20000"/>
              </a:spcBef>
              <a:buClr>
                <a:schemeClr val="accent2"/>
              </a:buClr>
              <a:buSzPct val="80000"/>
              <a:buFont typeface="Wingdings" pitchFamily="2" charset="2"/>
              <a:buNone/>
            </a:pPr>
            <a:r>
              <a:rPr kumimoji="1" lang="en-US" altLang="zh-CN" sz="2400" b="1">
                <a:latin typeface="Times New Roman" pitchFamily="18" charset="0"/>
                <a:ea typeface="华文中宋" pitchFamily="2" charset="-122"/>
              </a:rPr>
              <a:t>        </a:t>
            </a:r>
            <a:r>
              <a:rPr kumimoji="1" lang="zh-CN" altLang="en-US" sz="2400" b="1">
                <a:solidFill>
                  <a:srgbClr val="0000FF"/>
                </a:solidFill>
                <a:latin typeface="Times New Roman" pitchFamily="18" charset="0"/>
                <a:ea typeface="华文中宋" pitchFamily="2" charset="-122"/>
              </a:rPr>
              <a:t>空间复杂度</a:t>
            </a:r>
            <a:r>
              <a:rPr kumimoji="1" lang="zh-CN" altLang="en-US" sz="2400" b="1">
                <a:latin typeface="Times New Roman" pitchFamily="18" charset="0"/>
                <a:ea typeface="华文中宋" pitchFamily="2" charset="-122"/>
              </a:rPr>
              <a:t>：</a:t>
            </a:r>
            <a:r>
              <a:rPr kumimoji="1" lang="zh-CN" altLang="en-US" sz="2400" b="1">
                <a:latin typeface="Times New Roman" pitchFamily="18" charset="0"/>
              </a:rPr>
              <a:t>算法所需存储空间的度量，记作： </a:t>
            </a:r>
            <a:r>
              <a:rPr kumimoji="1" lang="zh-CN" altLang="en-US" sz="2400" b="1">
                <a:latin typeface="Times New Roman" pitchFamily="18" charset="0"/>
                <a:ea typeface="华文中宋" pitchFamily="2" charset="-122"/>
              </a:rPr>
              <a:t> </a:t>
            </a:r>
          </a:p>
          <a:p>
            <a:pPr>
              <a:lnSpc>
                <a:spcPct val="130000"/>
              </a:lnSpc>
              <a:spcBef>
                <a:spcPct val="20000"/>
              </a:spcBef>
              <a:buClr>
                <a:schemeClr val="accent2"/>
              </a:buClr>
              <a:buSzPct val="80000"/>
              <a:buFont typeface="Wingdings" pitchFamily="2" charset="2"/>
              <a:buNone/>
            </a:pPr>
            <a:r>
              <a:rPr kumimoji="1" lang="zh-CN" altLang="en-US" sz="2400" b="1">
                <a:latin typeface="Times New Roman" pitchFamily="18" charset="0"/>
                <a:ea typeface="华文中宋" pitchFamily="2" charset="-122"/>
              </a:rPr>
              <a:t>                                 </a:t>
            </a:r>
            <a:r>
              <a:rPr kumimoji="1" lang="en-US" altLang="zh-CN" sz="2400" b="1" i="1">
                <a:latin typeface="Times New Roman" pitchFamily="18" charset="0"/>
                <a:ea typeface="华文中宋" pitchFamily="2" charset="-122"/>
              </a:rPr>
              <a:t>S</a:t>
            </a:r>
            <a:r>
              <a:rPr kumimoji="1" lang="en-US" altLang="zh-CN" sz="2400" b="1">
                <a:latin typeface="Times New Roman" pitchFamily="18" charset="0"/>
                <a:ea typeface="华文中宋" pitchFamily="2" charset="-122"/>
              </a:rPr>
              <a:t>(</a:t>
            </a:r>
            <a:r>
              <a:rPr kumimoji="1" lang="en-US" altLang="zh-CN" sz="2400" b="1" i="1">
                <a:latin typeface="Times New Roman" pitchFamily="18" charset="0"/>
                <a:ea typeface="华文中宋" pitchFamily="2" charset="-122"/>
              </a:rPr>
              <a:t>n</a:t>
            </a:r>
            <a:r>
              <a:rPr kumimoji="1" lang="en-US" altLang="zh-CN" sz="2400" b="1">
                <a:latin typeface="Times New Roman" pitchFamily="18" charset="0"/>
                <a:ea typeface="华文中宋" pitchFamily="2" charset="-122"/>
              </a:rPr>
              <a:t>)=</a:t>
            </a:r>
            <a:r>
              <a:rPr kumimoji="1" lang="en-US" altLang="zh-CN" sz="2400" b="1" i="1">
                <a:latin typeface="Times New Roman" pitchFamily="18" charset="0"/>
                <a:ea typeface="华文中宋" pitchFamily="2" charset="-122"/>
              </a:rPr>
              <a:t>O</a:t>
            </a:r>
            <a:r>
              <a:rPr kumimoji="1" lang="en-US" altLang="zh-CN" sz="2400" b="1">
                <a:latin typeface="Times New Roman" pitchFamily="18" charset="0"/>
                <a:ea typeface="华文中宋" pitchFamily="2" charset="-122"/>
              </a:rPr>
              <a:t>( </a:t>
            </a:r>
            <a:r>
              <a:rPr kumimoji="1" lang="en-US" altLang="zh-CN" sz="2400" b="1" i="1">
                <a:latin typeface="Times New Roman" pitchFamily="18" charset="0"/>
                <a:ea typeface="华文中宋" pitchFamily="2" charset="-122"/>
              </a:rPr>
              <a:t>f</a:t>
            </a:r>
            <a:r>
              <a:rPr kumimoji="1" lang="en-US" altLang="zh-CN" sz="2400" b="1">
                <a:latin typeface="Times New Roman" pitchFamily="18" charset="0"/>
                <a:ea typeface="华文中宋" pitchFamily="2" charset="-122"/>
              </a:rPr>
              <a:t>(</a:t>
            </a:r>
            <a:r>
              <a:rPr kumimoji="1" lang="en-US" altLang="zh-CN" sz="2400" b="1" i="1">
                <a:latin typeface="Times New Roman" pitchFamily="18" charset="0"/>
                <a:ea typeface="华文中宋" pitchFamily="2" charset="-122"/>
              </a:rPr>
              <a:t>n</a:t>
            </a:r>
            <a:r>
              <a:rPr kumimoji="1" lang="en-US" altLang="zh-CN" sz="2400" b="1">
                <a:latin typeface="Times New Roman" pitchFamily="18" charset="0"/>
                <a:ea typeface="华文中宋" pitchFamily="2" charset="-122"/>
              </a:rPr>
              <a:t>) )            </a:t>
            </a:r>
          </a:p>
          <a:p>
            <a:pPr>
              <a:lnSpc>
                <a:spcPct val="130000"/>
              </a:lnSpc>
              <a:spcBef>
                <a:spcPct val="20000"/>
              </a:spcBef>
              <a:buClr>
                <a:schemeClr val="accent2"/>
              </a:buClr>
              <a:buSzPct val="80000"/>
              <a:buFont typeface="Wingdings" pitchFamily="2" charset="2"/>
              <a:buNone/>
            </a:pPr>
            <a:r>
              <a:rPr kumimoji="1" lang="zh-CN" altLang="en-US" sz="2400" b="1">
                <a:latin typeface="Times New Roman" pitchFamily="18" charset="0"/>
              </a:rPr>
              <a:t>其中 </a:t>
            </a:r>
            <a:r>
              <a:rPr kumimoji="1" lang="en-US" altLang="zh-CN" sz="2400" b="1" i="1">
                <a:latin typeface="Times New Roman" pitchFamily="18" charset="0"/>
              </a:rPr>
              <a:t>n </a:t>
            </a:r>
            <a:r>
              <a:rPr kumimoji="1" lang="zh-CN" altLang="en-US" sz="2400" b="1">
                <a:latin typeface="Times New Roman" pitchFamily="18" charset="0"/>
              </a:rPr>
              <a:t>为问题的规模。</a:t>
            </a:r>
          </a:p>
        </p:txBody>
      </p:sp>
      <p:sp>
        <p:nvSpPr>
          <p:cNvPr id="38925" name="Text Box 13"/>
          <p:cNvSpPr txBox="1">
            <a:spLocks noChangeArrowheads="1"/>
          </p:cNvSpPr>
          <p:nvPr/>
        </p:nvSpPr>
        <p:spPr bwMode="auto">
          <a:xfrm>
            <a:off x="1847528" y="387548"/>
            <a:ext cx="8532812" cy="2465388"/>
          </a:xfrm>
          <a:prstGeom prst="rect">
            <a:avLst/>
          </a:prstGeom>
          <a:solidFill>
            <a:srgbClr val="FFFFCC"/>
          </a:solidFill>
          <a:ln w="9525">
            <a:noFill/>
            <a:miter lim="800000"/>
            <a:headEnd/>
            <a:tailEnd/>
          </a:ln>
          <a:effectLst/>
        </p:spPr>
        <p:txBody>
          <a:bodyPr wrap="none">
            <a:spAutoFit/>
          </a:bodyPr>
          <a:lstStyle/>
          <a:p>
            <a:pPr>
              <a:lnSpc>
                <a:spcPct val="130000"/>
              </a:lnSpc>
            </a:pPr>
            <a:r>
              <a:rPr kumimoji="1" lang="en-US" altLang="zh-CN" sz="2400" b="1" dirty="0">
                <a:latin typeface="Times New Roman" pitchFamily="18" charset="0"/>
              </a:rPr>
              <a:t>        </a:t>
            </a:r>
            <a:r>
              <a:rPr kumimoji="1" lang="zh-CN" altLang="en-US" sz="2400" b="1" dirty="0">
                <a:latin typeface="Times New Roman" pitchFamily="18" charset="0"/>
              </a:rPr>
              <a:t>程序代码本身所占空间对不同算法通常不会有数量级之差 </a:t>
            </a:r>
          </a:p>
          <a:p>
            <a:pPr>
              <a:lnSpc>
                <a:spcPct val="130000"/>
              </a:lnSpc>
            </a:pPr>
            <a:r>
              <a:rPr kumimoji="1" lang="zh-CN" altLang="en-US" sz="2400" b="1" dirty="0">
                <a:latin typeface="Times New Roman" pitchFamily="18" charset="0"/>
              </a:rPr>
              <a:t>别，因此在比较算法时可以不加考虑；算法的输入数据量和问 </a:t>
            </a:r>
          </a:p>
          <a:p>
            <a:pPr>
              <a:lnSpc>
                <a:spcPct val="130000"/>
              </a:lnSpc>
            </a:pPr>
            <a:r>
              <a:rPr kumimoji="1" lang="zh-CN" altLang="en-US" sz="2400" b="1" dirty="0">
                <a:latin typeface="Times New Roman" pitchFamily="18" charset="0"/>
              </a:rPr>
              <a:t>题规模有关，若输入数据所占空间只取决于问题本身，和算法 </a:t>
            </a:r>
          </a:p>
          <a:p>
            <a:pPr>
              <a:lnSpc>
                <a:spcPct val="130000"/>
              </a:lnSpc>
            </a:pPr>
            <a:r>
              <a:rPr kumimoji="1" lang="zh-CN" altLang="en-US" sz="2400" b="1" dirty="0">
                <a:latin typeface="Times New Roman" pitchFamily="18" charset="0"/>
              </a:rPr>
              <a:t>无关，则在比较算法时也可以不加考虑；由此只需要分析除输 </a:t>
            </a:r>
          </a:p>
          <a:p>
            <a:pPr>
              <a:lnSpc>
                <a:spcPct val="130000"/>
              </a:lnSpc>
            </a:pPr>
            <a:r>
              <a:rPr kumimoji="1" lang="zh-CN" altLang="en-US" sz="2400" b="1" dirty="0">
                <a:latin typeface="Times New Roman" pitchFamily="18" charset="0"/>
              </a:rPr>
              <a:t>入和程序之外的额外空间。  </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blinds(vertical)">
                                      <p:cBhvr>
                                        <p:cTn id="7" dur="500"/>
                                        <p:tgtEl>
                                          <p:spTgt spid="389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7"/>
                                        </p:tgtEl>
                                        <p:attrNameLst>
                                          <p:attrName>style.visibility</p:attrName>
                                        </p:attrNameLst>
                                      </p:cBhvr>
                                      <p:to>
                                        <p:strVal val="visible"/>
                                      </p:to>
                                    </p:set>
                                    <p:animEffect transition="in" filter="wipe(left)">
                                      <p:cBhvr>
                                        <p:cTn id="12" dur="500"/>
                                        <p:tgtEl>
                                          <p:spTgt spid="3891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8920"/>
                                        </p:tgtEl>
                                        <p:attrNameLst>
                                          <p:attrName>style.visibility</p:attrName>
                                        </p:attrNameLst>
                                      </p:cBhvr>
                                      <p:to>
                                        <p:strVal val="visible"/>
                                      </p:to>
                                    </p:set>
                                    <p:animEffect transition="in" filter="barn(outHorizontal)">
                                      <p:cBhvr>
                                        <p:cTn id="17" dur="500"/>
                                        <p:tgtEl>
                                          <p:spTgt spid="3892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8919"/>
                                        </p:tgtEl>
                                        <p:attrNameLst>
                                          <p:attrName>style.visibility</p:attrName>
                                        </p:attrNameLst>
                                      </p:cBhvr>
                                      <p:to>
                                        <p:strVal val="visible"/>
                                      </p:to>
                                    </p:set>
                                    <p:animEffect transition="in" filter="wipe(left)">
                                      <p:cBhvr>
                                        <p:cTn id="21" dur="500"/>
                                        <p:tgtEl>
                                          <p:spTgt spid="3891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0" fill="hold" grpId="0" nodeType="clickEffect">
                                  <p:stCondLst>
                                    <p:cond delay="0"/>
                                  </p:stCondLst>
                                  <p:childTnLst>
                                    <p:set>
                                      <p:cBhvr>
                                        <p:cTn id="25" dur="1" fill="hold">
                                          <p:stCondLst>
                                            <p:cond delay="0"/>
                                          </p:stCondLst>
                                        </p:cTn>
                                        <p:tgtEl>
                                          <p:spTgt spid="38925"/>
                                        </p:tgtEl>
                                        <p:attrNameLst>
                                          <p:attrName>style.visibility</p:attrName>
                                        </p:attrNameLst>
                                      </p:cBhvr>
                                      <p:to>
                                        <p:strVal val="visible"/>
                                      </p:to>
                                    </p:set>
                                    <p:anim calcmode="lin" valueType="num">
                                      <p:cBhvr>
                                        <p:cTn id="26" dur="1000" fill="hold"/>
                                        <p:tgtEl>
                                          <p:spTgt spid="38925"/>
                                        </p:tgtEl>
                                        <p:attrNameLst>
                                          <p:attrName>ppt_w</p:attrName>
                                        </p:attrNameLst>
                                      </p:cBhvr>
                                      <p:tavLst>
                                        <p:tav tm="0">
                                          <p:val>
                                            <p:fltVal val="0"/>
                                          </p:val>
                                        </p:tav>
                                        <p:tav tm="100000">
                                          <p:val>
                                            <p:strVal val="#ppt_w"/>
                                          </p:val>
                                        </p:tav>
                                      </p:tavLst>
                                    </p:anim>
                                    <p:anim calcmode="lin" valueType="num">
                                      <p:cBhvr>
                                        <p:cTn id="27" dur="1000" fill="hold"/>
                                        <p:tgtEl>
                                          <p:spTgt spid="38925"/>
                                        </p:tgtEl>
                                        <p:attrNameLst>
                                          <p:attrName>ppt_h</p:attrName>
                                        </p:attrNameLst>
                                      </p:cBhvr>
                                      <p:tavLst>
                                        <p:tav tm="0">
                                          <p:val>
                                            <p:fltVal val="0"/>
                                          </p:val>
                                        </p:tav>
                                        <p:tav tm="100000">
                                          <p:val>
                                            <p:strVal val="#ppt_h"/>
                                          </p:val>
                                        </p:tav>
                                      </p:tavLst>
                                    </p:anim>
                                    <p:animEffect transition="in" filter="fade">
                                      <p:cBhvr>
                                        <p:cTn id="28" dur="1000"/>
                                        <p:tgtEl>
                                          <p:spTgt spid="38925"/>
                                        </p:tgtEl>
                                      </p:cBhvr>
                                    </p:animEffect>
                                  </p:childTnLst>
                                  <p:subTnLst>
                                    <p:set>
                                      <p:cBhvr override="childStyle">
                                        <p:cTn dur="1" fill="hold" display="0" masterRel="nextClick" afterEffect="1"/>
                                        <p:tgtEl>
                                          <p:spTgt spid="38925"/>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38922"/>
                                        </p:tgtEl>
                                        <p:attrNameLst>
                                          <p:attrName>style.visibility</p:attrName>
                                        </p:attrNameLst>
                                      </p:cBhvr>
                                      <p:to>
                                        <p:strVal val="visible"/>
                                      </p:to>
                                    </p:set>
                                    <p:animEffect transition="in" filter="blinds(vertical)">
                                      <p:cBhvr>
                                        <p:cTn id="33" dur="500"/>
                                        <p:tgtEl>
                                          <p:spTgt spid="38922"/>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8923"/>
                                        </p:tgtEl>
                                        <p:attrNameLst>
                                          <p:attrName>style.visibility</p:attrName>
                                        </p:attrNameLst>
                                      </p:cBhvr>
                                      <p:to>
                                        <p:strVal val="visible"/>
                                      </p:to>
                                    </p:set>
                                    <p:anim calcmode="lin" valueType="num">
                                      <p:cBhvr additive="base">
                                        <p:cTn id="38" dur="500" fill="hold"/>
                                        <p:tgtEl>
                                          <p:spTgt spid="38923"/>
                                        </p:tgtEl>
                                        <p:attrNameLst>
                                          <p:attrName>ppt_x</p:attrName>
                                        </p:attrNameLst>
                                      </p:cBhvr>
                                      <p:tavLst>
                                        <p:tav tm="0">
                                          <p:val>
                                            <p:strVal val="#ppt_x"/>
                                          </p:val>
                                        </p:tav>
                                        <p:tav tm="100000">
                                          <p:val>
                                            <p:strVal val="#ppt_x"/>
                                          </p:val>
                                        </p:tav>
                                      </p:tavLst>
                                    </p:anim>
                                    <p:anim calcmode="lin" valueType="num">
                                      <p:cBhvr additive="base">
                                        <p:cTn id="39" dur="500" fill="hold"/>
                                        <p:tgtEl>
                                          <p:spTgt spid="389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P spid="38919" grpId="0" autoUpdateAnimBg="0"/>
      <p:bldP spid="38920" grpId="0" animBg="1"/>
      <p:bldP spid="38922" grpId="0" autoUpdateAnimBg="0"/>
      <p:bldP spid="38923" grpId="0" autoUpdateAnimBg="0"/>
      <p:bldP spid="38916" grpId="0" autoUpdateAnimBg="0"/>
      <p:bldP spid="3892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1" name="Rectangle 3"/>
          <p:cNvSpPr>
            <a:spLocks noGrp="1" noChangeArrowheads="1"/>
          </p:cNvSpPr>
          <p:nvPr>
            <p:ph type="body" idx="1"/>
          </p:nvPr>
        </p:nvSpPr>
        <p:spPr>
          <a:xfrm>
            <a:off x="1846263" y="188914"/>
            <a:ext cx="8642350" cy="5818187"/>
          </a:xfrm>
        </p:spPr>
        <p:txBody>
          <a:bodyPr>
            <a:normAutofit lnSpcReduction="10000"/>
          </a:bodyPr>
          <a:lstStyle/>
          <a:p>
            <a:pPr>
              <a:lnSpc>
                <a:spcPct val="80000"/>
              </a:lnSpc>
              <a:buFont typeface="Wingdings" pitchFamily="2" charset="2"/>
              <a:buNone/>
            </a:pPr>
            <a:endParaRPr lang="en-US" altLang="zh-CN" sz="2800" dirty="0"/>
          </a:p>
          <a:p>
            <a:pPr marL="0" indent="0">
              <a:lnSpc>
                <a:spcPct val="80000"/>
              </a:lnSpc>
              <a:buNone/>
            </a:pPr>
            <a:r>
              <a:rPr lang="en-US" altLang="zh-CN" sz="2800" dirty="0"/>
              <a:t>    float </a:t>
            </a:r>
            <a:r>
              <a:rPr lang="en-US" altLang="zh-CN" sz="2800" dirty="0" err="1"/>
              <a:t>abc</a:t>
            </a:r>
            <a:r>
              <a:rPr lang="en-US" altLang="zh-CN" sz="2800" dirty="0"/>
              <a:t> ( float a, float b, float c )</a:t>
            </a:r>
          </a:p>
          <a:p>
            <a:pPr marL="0" indent="0">
              <a:lnSpc>
                <a:spcPct val="80000"/>
              </a:lnSpc>
              <a:buNone/>
            </a:pPr>
            <a:r>
              <a:rPr lang="en-US" altLang="zh-CN" sz="2800" dirty="0"/>
              <a:t>    {</a:t>
            </a:r>
          </a:p>
          <a:p>
            <a:pPr marL="0" indent="0">
              <a:lnSpc>
                <a:spcPct val="80000"/>
              </a:lnSpc>
              <a:buNone/>
            </a:pPr>
            <a:r>
              <a:rPr lang="en-US" altLang="zh-CN" sz="2800" dirty="0"/>
              <a:t>   	 return a + b + b * c;</a:t>
            </a:r>
          </a:p>
          <a:p>
            <a:pPr marL="0" indent="0">
              <a:lnSpc>
                <a:spcPct val="80000"/>
              </a:lnSpc>
              <a:buNone/>
            </a:pPr>
            <a:r>
              <a:rPr lang="en-US" altLang="zh-CN" sz="2800" dirty="0"/>
              <a:t>    }</a:t>
            </a:r>
          </a:p>
          <a:p>
            <a:pPr>
              <a:lnSpc>
                <a:spcPct val="80000"/>
              </a:lnSpc>
              <a:buFont typeface="Wingdings" pitchFamily="2" charset="2"/>
              <a:buChar char="q"/>
            </a:pPr>
            <a:endParaRPr lang="en-US" altLang="zh-CN" sz="2800" dirty="0"/>
          </a:p>
          <a:p>
            <a:pPr>
              <a:lnSpc>
                <a:spcPct val="80000"/>
              </a:lnSpc>
              <a:buFont typeface="Wingdings" pitchFamily="2" charset="2"/>
              <a:buNone/>
            </a:pPr>
            <a:endParaRPr lang="en-US" altLang="zh-CN" sz="2800" dirty="0"/>
          </a:p>
          <a:p>
            <a:pPr marL="0" indent="0">
              <a:lnSpc>
                <a:spcPct val="80000"/>
              </a:lnSpc>
              <a:buNone/>
            </a:pPr>
            <a:r>
              <a:rPr lang="en-US" altLang="zh-CN" sz="2800" dirty="0"/>
              <a:t>    float sum ( float list [ ], </a:t>
            </a:r>
            <a:r>
              <a:rPr lang="en-US" altLang="zh-CN" sz="2800" dirty="0" err="1"/>
              <a:t>int</a:t>
            </a:r>
            <a:r>
              <a:rPr lang="en-US" altLang="zh-CN" sz="2800" dirty="0"/>
              <a:t> n )</a:t>
            </a:r>
          </a:p>
          <a:p>
            <a:pPr marL="0" indent="0">
              <a:lnSpc>
                <a:spcPct val="80000"/>
              </a:lnSpc>
              <a:buNone/>
            </a:pPr>
            <a:r>
              <a:rPr lang="en-US" altLang="zh-CN" sz="2800" dirty="0"/>
              <a:t>    {</a:t>
            </a:r>
          </a:p>
          <a:p>
            <a:pPr marL="0" indent="0">
              <a:lnSpc>
                <a:spcPct val="80000"/>
              </a:lnSpc>
              <a:buNone/>
            </a:pPr>
            <a:r>
              <a:rPr lang="en-US" altLang="zh-CN" sz="2800" dirty="0"/>
              <a:t> 	float </a:t>
            </a:r>
            <a:r>
              <a:rPr lang="en-US" altLang="zh-CN" sz="2800" dirty="0" err="1"/>
              <a:t>tempsum</a:t>
            </a:r>
            <a:r>
              <a:rPr lang="en-US" altLang="zh-CN" sz="2800" dirty="0"/>
              <a:t> = 0;</a:t>
            </a:r>
          </a:p>
          <a:p>
            <a:pPr marL="0" indent="0">
              <a:lnSpc>
                <a:spcPct val="80000"/>
              </a:lnSpc>
              <a:buNone/>
            </a:pPr>
            <a:r>
              <a:rPr lang="en-US" altLang="zh-CN" sz="2800" dirty="0"/>
              <a:t>	for( int i = 0; i &lt; n; i++ )	   </a:t>
            </a:r>
          </a:p>
          <a:p>
            <a:pPr marL="0" indent="0">
              <a:lnSpc>
                <a:spcPct val="80000"/>
              </a:lnSpc>
              <a:buNone/>
            </a:pPr>
            <a:r>
              <a:rPr lang="en-US" altLang="zh-CN" sz="2800" dirty="0"/>
              <a:t>                  </a:t>
            </a:r>
            <a:r>
              <a:rPr lang="en-US" altLang="zh-CN" sz="2800" dirty="0" err="1"/>
              <a:t>tempsum</a:t>
            </a:r>
            <a:r>
              <a:rPr lang="en-US" altLang="zh-CN" sz="2800" dirty="0"/>
              <a:t> += list[ i ];</a:t>
            </a:r>
          </a:p>
          <a:p>
            <a:pPr marL="0" indent="0">
              <a:lnSpc>
                <a:spcPct val="80000"/>
              </a:lnSpc>
              <a:buNone/>
            </a:pPr>
            <a:r>
              <a:rPr lang="en-US" altLang="zh-CN" sz="2800" dirty="0"/>
              <a:t> 	return </a:t>
            </a:r>
            <a:r>
              <a:rPr lang="en-US" altLang="zh-CN" sz="2800" dirty="0" err="1"/>
              <a:t>tempsum</a:t>
            </a:r>
            <a:r>
              <a:rPr lang="en-US" altLang="zh-CN" sz="2800" dirty="0"/>
              <a:t>;</a:t>
            </a:r>
          </a:p>
          <a:p>
            <a:pPr marL="0" indent="0">
              <a:lnSpc>
                <a:spcPct val="80000"/>
              </a:lnSpc>
              <a:buNone/>
            </a:pPr>
            <a:r>
              <a:rPr lang="en-US" altLang="zh-CN" sz="2800" dirty="0"/>
              <a:t>    }</a:t>
            </a:r>
          </a:p>
          <a:p>
            <a:pPr>
              <a:lnSpc>
                <a:spcPct val="80000"/>
              </a:lnSpc>
              <a:buFont typeface="Wingdings" pitchFamily="2" charset="2"/>
              <a:buChar char="q"/>
            </a:pPr>
            <a:endParaRPr lang="en-US" altLang="zh-CN" sz="2800"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3"/>
          <p:cNvSpPr>
            <a:spLocks noGrp="1" noChangeArrowheads="1"/>
          </p:cNvSpPr>
          <p:nvPr>
            <p:ph type="body" idx="1"/>
          </p:nvPr>
        </p:nvSpPr>
        <p:spPr>
          <a:xfrm>
            <a:off x="1847850" y="404814"/>
            <a:ext cx="8642350" cy="5818187"/>
          </a:xfrm>
        </p:spPr>
        <p:txBody>
          <a:bodyPr/>
          <a:lstStyle/>
          <a:p>
            <a:pPr>
              <a:buFont typeface="Wingdings" pitchFamily="2" charset="2"/>
              <a:buNone/>
            </a:pPr>
            <a:endParaRPr lang="en-US" altLang="zh-CN" dirty="0"/>
          </a:p>
          <a:p>
            <a:pPr marL="0" indent="0">
              <a:buNone/>
            </a:pPr>
            <a:r>
              <a:rPr lang="en-US" altLang="zh-CN" dirty="0"/>
              <a:t>float </a:t>
            </a:r>
            <a:r>
              <a:rPr lang="en-US" altLang="zh-CN" dirty="0" err="1"/>
              <a:t>rsum</a:t>
            </a:r>
            <a:r>
              <a:rPr lang="en-US" altLang="zh-CN" dirty="0"/>
              <a:t> ( float list [ ], </a:t>
            </a:r>
            <a:r>
              <a:rPr lang="en-US" altLang="zh-CN" dirty="0" err="1"/>
              <a:t>int</a:t>
            </a:r>
            <a:r>
              <a:rPr lang="en-US" altLang="zh-CN" dirty="0"/>
              <a:t> n )</a:t>
            </a:r>
          </a:p>
          <a:p>
            <a:pPr marL="0" indent="0">
              <a:buNone/>
            </a:pPr>
            <a:r>
              <a:rPr lang="en-US" altLang="zh-CN" dirty="0"/>
              <a:t>{</a:t>
            </a:r>
          </a:p>
          <a:p>
            <a:pPr marL="0" indent="0">
              <a:buNone/>
            </a:pPr>
            <a:r>
              <a:rPr lang="en-US" altLang="zh-CN" dirty="0"/>
              <a:t>	if(n == 0) return 0;</a:t>
            </a:r>
          </a:p>
          <a:p>
            <a:pPr>
              <a:buFont typeface="Wingdings" pitchFamily="2" charset="2"/>
              <a:buChar char="q"/>
            </a:pPr>
            <a:endParaRPr lang="en-US" altLang="zh-CN" dirty="0"/>
          </a:p>
          <a:p>
            <a:pPr marL="0" indent="0">
              <a:buNone/>
            </a:pPr>
            <a:r>
              <a:rPr lang="en-US" altLang="zh-CN" dirty="0"/>
              <a:t>	 return </a:t>
            </a:r>
            <a:r>
              <a:rPr lang="en-US" altLang="zh-CN" dirty="0" err="1"/>
              <a:t>rsum</a:t>
            </a:r>
            <a:r>
              <a:rPr lang="en-US" altLang="zh-CN" dirty="0"/>
              <a:t>( list, n-1 ) + list[n-1];</a:t>
            </a:r>
          </a:p>
          <a:p>
            <a:pPr marL="0" indent="0">
              <a:buNone/>
            </a:pPr>
            <a:r>
              <a:rPr lang="en-US" altLang="zh-CN" dirty="0"/>
              <a:t>}</a:t>
            </a:r>
          </a:p>
          <a:p>
            <a:pPr>
              <a:buFont typeface="Wingdings" pitchFamily="2" charset="2"/>
              <a:buChar char="q"/>
            </a:pPr>
            <a:endParaRPr lang="en-US" altLang="zh-CN"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
          <p:cNvGrpSpPr>
            <a:grpSpLocks/>
          </p:cNvGrpSpPr>
          <p:nvPr/>
        </p:nvGrpSpPr>
        <p:grpSpPr bwMode="auto">
          <a:xfrm>
            <a:off x="4727575" y="1216025"/>
            <a:ext cx="3232150" cy="457200"/>
            <a:chOff x="2381" y="1418"/>
            <a:chExt cx="2036" cy="288"/>
          </a:xfrm>
        </p:grpSpPr>
        <p:sp>
          <p:nvSpPr>
            <p:cNvPr id="59405" name="Text Box 13"/>
            <p:cNvSpPr txBox="1">
              <a:spLocks noChangeArrowheads="1"/>
            </p:cNvSpPr>
            <p:nvPr/>
          </p:nvSpPr>
          <p:spPr bwMode="auto">
            <a:xfrm>
              <a:off x="2550" y="1434"/>
              <a:ext cx="1756" cy="250"/>
            </a:xfrm>
            <a:prstGeom prst="rect">
              <a:avLst/>
            </a:prstGeom>
            <a:noFill/>
            <a:ln w="9525">
              <a:noFill/>
              <a:miter lim="800000"/>
              <a:headEnd/>
              <a:tailEnd/>
            </a:ln>
            <a:effectLst/>
          </p:spPr>
          <p:txBody>
            <a:bodyPr wrap="none">
              <a:spAutoFit/>
            </a:bodyPr>
            <a:lstStyle/>
            <a:p>
              <a:r>
                <a:rPr kumimoji="1" lang="zh-CN" altLang="en-US" sz="2000" b="1">
                  <a:latin typeface="Times New Roman" pitchFamily="18" charset="0"/>
                  <a:ea typeface="华文新魏" pitchFamily="2" charset="-122"/>
                </a:rPr>
                <a:t>性质相同的构成的集合 </a:t>
              </a:r>
            </a:p>
          </p:txBody>
        </p:sp>
        <p:sp>
          <p:nvSpPr>
            <p:cNvPr id="59406" name="Rectangle 14"/>
            <p:cNvSpPr>
              <a:spLocks noChangeArrowheads="1"/>
            </p:cNvSpPr>
            <p:nvPr/>
          </p:nvSpPr>
          <p:spPr bwMode="auto">
            <a:xfrm>
              <a:off x="2381" y="1418"/>
              <a:ext cx="2036" cy="288"/>
            </a:xfrm>
            <a:prstGeom prst="rect">
              <a:avLst/>
            </a:prstGeom>
            <a:noFill/>
            <a:ln w="9525">
              <a:noFill/>
              <a:miter lim="800000"/>
              <a:headEnd/>
              <a:tailEnd/>
            </a:ln>
            <a:effectLst/>
          </p:spPr>
          <p:txBody>
            <a:bodyPr wrap="none">
              <a:spAutoFit/>
            </a:bodyPr>
            <a:lstStyle/>
            <a:p>
              <a:r>
                <a:rPr kumimoji="1" lang="en-US" altLang="zh-CN" sz="2400" b="1">
                  <a:latin typeface="Times New Roman" pitchFamily="18" charset="0"/>
                </a:rPr>
                <a:t>____________________</a:t>
              </a:r>
            </a:p>
          </p:txBody>
        </p:sp>
      </p:grpSp>
      <p:sp>
        <p:nvSpPr>
          <p:cNvPr id="59396" name="Text Box 4"/>
          <p:cNvSpPr txBox="1">
            <a:spLocks noChangeArrowheads="1"/>
          </p:cNvSpPr>
          <p:nvPr/>
        </p:nvSpPr>
        <p:spPr bwMode="auto">
          <a:xfrm>
            <a:off x="2567609" y="549275"/>
            <a:ext cx="7705105" cy="465448"/>
          </a:xfrm>
          <a:prstGeom prst="rect">
            <a:avLst/>
          </a:prstGeom>
          <a:noFill/>
          <a:ln w="9525">
            <a:noFill/>
            <a:miter lim="800000"/>
            <a:headEnd/>
            <a:tailEnd/>
          </a:ln>
          <a:effectLst/>
        </p:spPr>
        <p:txBody>
          <a:bodyPr wrap="square">
            <a:spAutoFit/>
          </a:bodyPr>
          <a:lstStyle/>
          <a:p>
            <a:pPr>
              <a:lnSpc>
                <a:spcPct val="110000"/>
              </a:lnSpc>
            </a:pPr>
            <a:r>
              <a:rPr kumimoji="1" lang="zh-CN" altLang="en-US" sz="2400" b="1" dirty="0">
                <a:latin typeface="Times New Roman" pitchFamily="18" charset="0"/>
              </a:rPr>
              <a:t>本章是为以后各章讨论的内容作基本知识的准备。 </a:t>
            </a:r>
          </a:p>
        </p:txBody>
      </p:sp>
      <p:sp>
        <p:nvSpPr>
          <p:cNvPr id="59397" name="Text Box 5"/>
          <p:cNvSpPr txBox="1">
            <a:spLocks noChangeArrowheads="1"/>
          </p:cNvSpPr>
          <p:nvPr/>
        </p:nvSpPr>
        <p:spPr bwMode="auto">
          <a:xfrm>
            <a:off x="1635125" y="522289"/>
            <a:ext cx="1306768" cy="470129"/>
          </a:xfrm>
          <a:prstGeom prst="rect">
            <a:avLst/>
          </a:prstGeom>
          <a:noFill/>
          <a:ln w="9525">
            <a:noFill/>
            <a:miter lim="800000"/>
            <a:headEnd/>
            <a:tailEnd/>
          </a:ln>
          <a:effectLst/>
        </p:spPr>
        <p:txBody>
          <a:bodyPr wrap="none">
            <a:spAutoFit/>
          </a:bodyPr>
          <a:lstStyle/>
          <a:p>
            <a:pPr>
              <a:lnSpc>
                <a:spcPct val="110000"/>
              </a:lnSpc>
            </a:pPr>
            <a:r>
              <a:rPr kumimoji="1" lang="zh-CN" altLang="en-US" sz="2400" b="1" dirty="0">
                <a:latin typeface="华文中宋" pitchFamily="2" charset="-122"/>
                <a:ea typeface="华文中宋" pitchFamily="2" charset="-122"/>
              </a:rPr>
              <a:t>小结：  </a:t>
            </a:r>
          </a:p>
        </p:txBody>
      </p:sp>
      <p:sp>
        <p:nvSpPr>
          <p:cNvPr id="59398" name="Text Box 6"/>
          <p:cNvSpPr txBox="1">
            <a:spLocks noChangeArrowheads="1"/>
          </p:cNvSpPr>
          <p:nvPr/>
        </p:nvSpPr>
        <p:spPr bwMode="auto">
          <a:xfrm>
            <a:off x="1631951" y="1098550"/>
            <a:ext cx="880369" cy="548548"/>
          </a:xfrm>
          <a:prstGeom prst="rect">
            <a:avLst/>
          </a:prstGeom>
          <a:noFill/>
          <a:ln w="9525">
            <a:solidFill>
              <a:srgbClr val="000000">
                <a:alpha val="0"/>
              </a:srgbClr>
            </a:solidFill>
            <a:miter lim="800000"/>
            <a:headEnd/>
            <a:tailEnd/>
          </a:ln>
          <a:effectLst/>
        </p:spPr>
        <p:txBody>
          <a:bodyPr wrap="none">
            <a:spAutoFit/>
          </a:bodyPr>
          <a:lstStyle/>
          <a:p>
            <a:pPr>
              <a:lnSpc>
                <a:spcPct val="140000"/>
              </a:lnSpc>
            </a:pPr>
            <a:r>
              <a:rPr kumimoji="1" lang="zh-CN" altLang="en-US" sz="2400" b="1">
                <a:solidFill>
                  <a:srgbClr val="FF3300"/>
                </a:solidFill>
                <a:effectLst>
                  <a:outerShdw blurRad="38100" dist="38100" dir="2700000" algn="tl">
                    <a:srgbClr val="000000"/>
                  </a:outerShdw>
                </a:effectLst>
                <a:latin typeface="Times New Roman" pitchFamily="18" charset="0"/>
              </a:rPr>
              <a:t>数据</a:t>
            </a:r>
            <a:r>
              <a:rPr kumimoji="1" lang="zh-CN" altLang="en-US" sz="2400" b="1">
                <a:solidFill>
                  <a:srgbClr val="0000FF"/>
                </a:solidFill>
                <a:latin typeface="Times New Roman" pitchFamily="18" charset="0"/>
              </a:rPr>
              <a:t> </a:t>
            </a:r>
            <a:endParaRPr kumimoji="1" lang="zh-CN" altLang="en-US" sz="2400" b="1">
              <a:latin typeface="Times New Roman" pitchFamily="18" charset="0"/>
            </a:endParaRPr>
          </a:p>
        </p:txBody>
      </p:sp>
      <p:sp>
        <p:nvSpPr>
          <p:cNvPr id="59401" name="Rectangle 9"/>
          <p:cNvSpPr>
            <a:spLocks noChangeArrowheads="1"/>
          </p:cNvSpPr>
          <p:nvPr/>
        </p:nvSpPr>
        <p:spPr bwMode="auto">
          <a:xfrm>
            <a:off x="3457575" y="1217613"/>
            <a:ext cx="1485900"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数据元素 </a:t>
            </a:r>
          </a:p>
        </p:txBody>
      </p:sp>
      <p:grpSp>
        <p:nvGrpSpPr>
          <p:cNvPr id="3" name="Group 11"/>
          <p:cNvGrpSpPr>
            <a:grpSpLocks/>
          </p:cNvGrpSpPr>
          <p:nvPr/>
        </p:nvGrpSpPr>
        <p:grpSpPr bwMode="auto">
          <a:xfrm>
            <a:off x="2351088" y="1217613"/>
            <a:ext cx="1250950" cy="457200"/>
            <a:chOff x="3560" y="1373"/>
            <a:chExt cx="788" cy="288"/>
          </a:xfrm>
        </p:grpSpPr>
        <p:sp>
          <p:nvSpPr>
            <p:cNvPr id="59400" name="Text Box 8"/>
            <p:cNvSpPr txBox="1">
              <a:spLocks noChangeArrowheads="1"/>
            </p:cNvSpPr>
            <p:nvPr/>
          </p:nvSpPr>
          <p:spPr bwMode="auto">
            <a:xfrm>
              <a:off x="3729" y="1394"/>
              <a:ext cx="436" cy="250"/>
            </a:xfrm>
            <a:prstGeom prst="rect">
              <a:avLst/>
            </a:prstGeom>
            <a:noFill/>
            <a:ln w="9525">
              <a:noFill/>
              <a:miter lim="800000"/>
              <a:headEnd/>
              <a:tailEnd/>
            </a:ln>
            <a:effectLst/>
          </p:spPr>
          <p:txBody>
            <a:bodyPr wrap="none">
              <a:spAutoFit/>
            </a:bodyPr>
            <a:lstStyle/>
            <a:p>
              <a:r>
                <a:rPr kumimoji="1" lang="zh-CN" altLang="en-US" sz="2000" b="1">
                  <a:latin typeface="Times New Roman" pitchFamily="18" charset="0"/>
                  <a:ea typeface="华文新魏" pitchFamily="2" charset="-122"/>
                </a:rPr>
                <a:t>个体</a:t>
              </a:r>
            </a:p>
          </p:txBody>
        </p:sp>
        <p:sp>
          <p:nvSpPr>
            <p:cNvPr id="59402" name="Rectangle 10"/>
            <p:cNvSpPr>
              <a:spLocks noChangeArrowheads="1"/>
            </p:cNvSpPr>
            <p:nvPr/>
          </p:nvSpPr>
          <p:spPr bwMode="auto">
            <a:xfrm>
              <a:off x="3560" y="1373"/>
              <a:ext cx="788" cy="288"/>
            </a:xfrm>
            <a:prstGeom prst="rect">
              <a:avLst/>
            </a:prstGeom>
            <a:noFill/>
            <a:ln w="9525">
              <a:noFill/>
              <a:miter lim="800000"/>
              <a:headEnd/>
              <a:tailEnd/>
            </a:ln>
            <a:effectLst/>
          </p:spPr>
          <p:txBody>
            <a:bodyPr wrap="none">
              <a:spAutoFit/>
            </a:bodyPr>
            <a:lstStyle/>
            <a:p>
              <a:r>
                <a:rPr kumimoji="1" lang="en-US" altLang="zh-CN" sz="2400" b="1">
                  <a:latin typeface="Times New Roman" pitchFamily="18" charset="0"/>
                </a:rPr>
                <a:t>_______</a:t>
              </a:r>
            </a:p>
          </p:txBody>
        </p:sp>
      </p:grpSp>
      <p:sp>
        <p:nvSpPr>
          <p:cNvPr id="59408" name="Rectangle 16"/>
          <p:cNvSpPr>
            <a:spLocks noChangeArrowheads="1"/>
          </p:cNvSpPr>
          <p:nvPr/>
        </p:nvSpPr>
        <p:spPr bwMode="auto">
          <a:xfrm>
            <a:off x="7824788" y="1216025"/>
            <a:ext cx="1485900"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数据对象 </a:t>
            </a:r>
          </a:p>
        </p:txBody>
      </p:sp>
      <p:sp>
        <p:nvSpPr>
          <p:cNvPr id="59409" name="Line 17"/>
          <p:cNvSpPr>
            <a:spLocks noChangeShapeType="1"/>
          </p:cNvSpPr>
          <p:nvPr/>
        </p:nvSpPr>
        <p:spPr bwMode="auto">
          <a:xfrm>
            <a:off x="8543925" y="1628775"/>
            <a:ext cx="0" cy="865188"/>
          </a:xfrm>
          <a:prstGeom prst="line">
            <a:avLst/>
          </a:prstGeom>
          <a:noFill/>
          <a:ln w="19050">
            <a:solidFill>
              <a:schemeClr val="tx1"/>
            </a:solidFill>
            <a:round/>
            <a:headEnd/>
            <a:tailEnd/>
          </a:ln>
          <a:effectLst/>
        </p:spPr>
        <p:txBody>
          <a:bodyPr/>
          <a:lstStyle/>
          <a:p>
            <a:endParaRPr lang="zh-CN" altLang="en-US"/>
          </a:p>
        </p:txBody>
      </p:sp>
      <p:sp>
        <p:nvSpPr>
          <p:cNvPr id="59410" name="Line 18"/>
          <p:cNvSpPr>
            <a:spLocks noChangeShapeType="1"/>
          </p:cNvSpPr>
          <p:nvPr/>
        </p:nvSpPr>
        <p:spPr bwMode="auto">
          <a:xfrm flipH="1">
            <a:off x="6815139" y="2492375"/>
            <a:ext cx="1728787" cy="0"/>
          </a:xfrm>
          <a:prstGeom prst="line">
            <a:avLst/>
          </a:prstGeom>
          <a:noFill/>
          <a:ln w="19050">
            <a:solidFill>
              <a:schemeClr val="tx1"/>
            </a:solidFill>
            <a:round/>
            <a:headEnd/>
            <a:tailEnd/>
          </a:ln>
          <a:effectLst/>
        </p:spPr>
        <p:txBody>
          <a:bodyPr/>
          <a:lstStyle/>
          <a:p>
            <a:endParaRPr lang="zh-CN" altLang="en-US"/>
          </a:p>
        </p:txBody>
      </p:sp>
      <p:sp>
        <p:nvSpPr>
          <p:cNvPr id="59411" name="Text Box 19"/>
          <p:cNvSpPr txBox="1">
            <a:spLocks noChangeArrowheads="1"/>
          </p:cNvSpPr>
          <p:nvPr/>
        </p:nvSpPr>
        <p:spPr bwMode="auto">
          <a:xfrm>
            <a:off x="6815138" y="2133601"/>
            <a:ext cx="1770062" cy="701675"/>
          </a:xfrm>
          <a:prstGeom prst="rect">
            <a:avLst/>
          </a:prstGeom>
          <a:noFill/>
          <a:ln w="9525">
            <a:noFill/>
            <a:miter lim="800000"/>
            <a:headEnd/>
            <a:tailEnd/>
          </a:ln>
          <a:effectLst/>
        </p:spPr>
        <p:txBody>
          <a:bodyPr wrap="none">
            <a:spAutoFit/>
          </a:bodyPr>
          <a:lstStyle/>
          <a:p>
            <a:r>
              <a:rPr kumimoji="1" lang="zh-CN" altLang="en-US" sz="2000" b="1">
                <a:latin typeface="华文新魏" pitchFamily="2" charset="-122"/>
                <a:ea typeface="华文新魏" pitchFamily="2" charset="-122"/>
              </a:rPr>
              <a:t>加上数据元素 </a:t>
            </a:r>
          </a:p>
          <a:p>
            <a:r>
              <a:rPr kumimoji="1" lang="zh-CN" altLang="en-US" sz="2000" b="1">
                <a:latin typeface="华文新魏" pitchFamily="2" charset="-122"/>
                <a:ea typeface="华文新魏" pitchFamily="2" charset="-122"/>
              </a:rPr>
              <a:t>  之间的关系 </a:t>
            </a:r>
          </a:p>
        </p:txBody>
      </p:sp>
      <p:sp>
        <p:nvSpPr>
          <p:cNvPr id="59412" name="Rectangle 20"/>
          <p:cNvSpPr>
            <a:spLocks noChangeArrowheads="1"/>
          </p:cNvSpPr>
          <p:nvPr/>
        </p:nvSpPr>
        <p:spPr bwMode="auto">
          <a:xfrm>
            <a:off x="5375275" y="2205038"/>
            <a:ext cx="1485900"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数据结构 </a:t>
            </a:r>
          </a:p>
        </p:txBody>
      </p:sp>
      <p:grpSp>
        <p:nvGrpSpPr>
          <p:cNvPr id="4" name="Group 51"/>
          <p:cNvGrpSpPr>
            <a:grpSpLocks/>
          </p:cNvGrpSpPr>
          <p:nvPr/>
        </p:nvGrpSpPr>
        <p:grpSpPr bwMode="auto">
          <a:xfrm>
            <a:off x="3287713" y="2165351"/>
            <a:ext cx="2089150" cy="396875"/>
            <a:chOff x="1111" y="1364"/>
            <a:chExt cx="1316" cy="250"/>
          </a:xfrm>
        </p:grpSpPr>
        <p:sp>
          <p:nvSpPr>
            <p:cNvPr id="59413" name="Rectangle 21"/>
            <p:cNvSpPr>
              <a:spLocks noChangeArrowheads="1"/>
            </p:cNvSpPr>
            <p:nvPr/>
          </p:nvSpPr>
          <p:spPr bwMode="auto">
            <a:xfrm>
              <a:off x="1151" y="1364"/>
              <a:ext cx="1275" cy="250"/>
            </a:xfrm>
            <a:prstGeom prst="rect">
              <a:avLst/>
            </a:prstGeom>
            <a:noFill/>
            <a:ln w="9525">
              <a:noFill/>
              <a:miter lim="800000"/>
              <a:headEnd/>
              <a:tailEnd/>
            </a:ln>
            <a:effectLst/>
          </p:spPr>
          <p:txBody>
            <a:bodyPr wrap="none">
              <a:spAutoFit/>
            </a:bodyPr>
            <a:lstStyle/>
            <a:p>
              <a:r>
                <a:rPr kumimoji="1" lang="zh-CN" altLang="en-US" sz="2000" b="1">
                  <a:latin typeface="华文新魏" pitchFamily="2" charset="-122"/>
                  <a:ea typeface="华文新魏" pitchFamily="2" charset="-122"/>
                </a:rPr>
                <a:t>由关系不同分类 </a:t>
              </a:r>
            </a:p>
          </p:txBody>
        </p:sp>
        <p:sp>
          <p:nvSpPr>
            <p:cNvPr id="59414" name="Line 22"/>
            <p:cNvSpPr>
              <a:spLocks noChangeShapeType="1"/>
            </p:cNvSpPr>
            <p:nvPr/>
          </p:nvSpPr>
          <p:spPr bwMode="auto">
            <a:xfrm flipH="1">
              <a:off x="1111" y="1590"/>
              <a:ext cx="1316" cy="0"/>
            </a:xfrm>
            <a:prstGeom prst="line">
              <a:avLst/>
            </a:prstGeom>
            <a:noFill/>
            <a:ln w="19050">
              <a:solidFill>
                <a:schemeClr val="tx1"/>
              </a:solidFill>
              <a:round/>
              <a:headEnd/>
              <a:tailEnd/>
            </a:ln>
            <a:effectLst/>
          </p:spPr>
          <p:txBody>
            <a:bodyPr/>
            <a:lstStyle/>
            <a:p>
              <a:endParaRPr lang="zh-CN" altLang="en-US"/>
            </a:p>
          </p:txBody>
        </p:sp>
      </p:grpSp>
      <p:sp>
        <p:nvSpPr>
          <p:cNvPr id="59415" name="AutoShape 23"/>
          <p:cNvSpPr>
            <a:spLocks/>
          </p:cNvSpPr>
          <p:nvPr/>
        </p:nvSpPr>
        <p:spPr bwMode="auto">
          <a:xfrm>
            <a:off x="3071813" y="1931988"/>
            <a:ext cx="152400" cy="1223962"/>
          </a:xfrm>
          <a:prstGeom prst="rightBrace">
            <a:avLst>
              <a:gd name="adj1" fmla="val 66927"/>
              <a:gd name="adj2" fmla="val 50000"/>
            </a:avLst>
          </a:prstGeom>
          <a:noFill/>
          <a:ln w="9525">
            <a:solidFill>
              <a:schemeClr val="tx1"/>
            </a:solidFill>
            <a:round/>
            <a:headEnd/>
            <a:tailEnd/>
          </a:ln>
          <a:effectLst/>
        </p:spPr>
        <p:txBody>
          <a:bodyPr wrap="none" anchor="ctr"/>
          <a:lstStyle/>
          <a:p>
            <a:endParaRPr lang="zh-CN" altLang="en-US"/>
          </a:p>
        </p:txBody>
      </p:sp>
      <p:sp>
        <p:nvSpPr>
          <p:cNvPr id="59416" name="Rectangle 24"/>
          <p:cNvSpPr>
            <a:spLocks noChangeArrowheads="1"/>
          </p:cNvSpPr>
          <p:nvPr/>
        </p:nvSpPr>
        <p:spPr bwMode="auto">
          <a:xfrm>
            <a:off x="1631950" y="1746250"/>
            <a:ext cx="1499128" cy="1569660"/>
          </a:xfrm>
          <a:prstGeom prst="rect">
            <a:avLst/>
          </a:prstGeom>
          <a:noFill/>
          <a:ln w="9525">
            <a:noFill/>
            <a:miter lim="800000"/>
            <a:headEnd/>
            <a:tailEnd/>
          </a:ln>
          <a:effectLst/>
        </p:spPr>
        <p:txBody>
          <a:bodyPr wrap="none">
            <a:spAutoFit/>
          </a:bodyPr>
          <a:lstStyle/>
          <a:p>
            <a:r>
              <a:rPr kumimoji="1" lang="zh-CN" altLang="en-US" sz="2400" b="1">
                <a:solidFill>
                  <a:srgbClr val="0000FF"/>
                </a:solidFill>
                <a:latin typeface="Times New Roman" pitchFamily="18" charset="0"/>
              </a:rPr>
              <a:t>集合结构 </a:t>
            </a:r>
          </a:p>
          <a:p>
            <a:r>
              <a:rPr kumimoji="1" lang="zh-CN" altLang="en-US" sz="2400" b="1">
                <a:solidFill>
                  <a:srgbClr val="0000FF"/>
                </a:solidFill>
                <a:latin typeface="Times New Roman" pitchFamily="18" charset="0"/>
              </a:rPr>
              <a:t>线性结构 </a:t>
            </a:r>
          </a:p>
          <a:p>
            <a:r>
              <a:rPr kumimoji="1" lang="zh-CN" altLang="en-US" sz="2400" b="1">
                <a:solidFill>
                  <a:srgbClr val="0000FF"/>
                </a:solidFill>
                <a:latin typeface="Times New Roman" pitchFamily="18" charset="0"/>
              </a:rPr>
              <a:t>树形结构 </a:t>
            </a:r>
          </a:p>
          <a:p>
            <a:r>
              <a:rPr kumimoji="1" lang="zh-CN" altLang="en-US" sz="2400" b="1">
                <a:solidFill>
                  <a:srgbClr val="0000FF"/>
                </a:solidFill>
                <a:latin typeface="Times New Roman" pitchFamily="18" charset="0"/>
              </a:rPr>
              <a:t>图状结构 </a:t>
            </a:r>
          </a:p>
        </p:txBody>
      </p:sp>
      <p:grpSp>
        <p:nvGrpSpPr>
          <p:cNvPr id="5" name="Group 52"/>
          <p:cNvGrpSpPr>
            <a:grpSpLocks/>
          </p:cNvGrpSpPr>
          <p:nvPr/>
        </p:nvGrpSpPr>
        <p:grpSpPr bwMode="auto">
          <a:xfrm>
            <a:off x="5126038" y="2682875"/>
            <a:ext cx="760412" cy="1295400"/>
            <a:chOff x="2269" y="1690"/>
            <a:chExt cx="479" cy="816"/>
          </a:xfrm>
        </p:grpSpPr>
        <p:sp>
          <p:nvSpPr>
            <p:cNvPr id="59417" name="Line 25"/>
            <p:cNvSpPr>
              <a:spLocks noChangeShapeType="1"/>
            </p:cNvSpPr>
            <p:nvPr/>
          </p:nvSpPr>
          <p:spPr bwMode="auto">
            <a:xfrm>
              <a:off x="2698" y="1690"/>
              <a:ext cx="0" cy="816"/>
            </a:xfrm>
            <a:prstGeom prst="line">
              <a:avLst/>
            </a:prstGeom>
            <a:noFill/>
            <a:ln w="19050">
              <a:solidFill>
                <a:schemeClr val="tx1"/>
              </a:solidFill>
              <a:round/>
              <a:headEnd/>
              <a:tailEnd/>
            </a:ln>
            <a:effectLst/>
          </p:spPr>
          <p:txBody>
            <a:bodyPr/>
            <a:lstStyle/>
            <a:p>
              <a:endParaRPr lang="zh-CN" altLang="en-US"/>
            </a:p>
          </p:txBody>
        </p:sp>
        <p:sp>
          <p:nvSpPr>
            <p:cNvPr id="59418" name="Text Box 26"/>
            <p:cNvSpPr txBox="1">
              <a:spLocks noChangeArrowheads="1"/>
            </p:cNvSpPr>
            <p:nvPr/>
          </p:nvSpPr>
          <p:spPr bwMode="auto">
            <a:xfrm>
              <a:off x="2269" y="1884"/>
              <a:ext cx="479" cy="409"/>
            </a:xfrm>
            <a:prstGeom prst="rect">
              <a:avLst/>
            </a:prstGeom>
            <a:noFill/>
            <a:ln w="9525">
              <a:noFill/>
              <a:miter lim="800000"/>
              <a:headEnd/>
              <a:tailEnd/>
            </a:ln>
            <a:effectLst/>
          </p:spPr>
          <p:txBody>
            <a:bodyPr wrap="none">
              <a:spAutoFit/>
            </a:bodyPr>
            <a:lstStyle/>
            <a:p>
              <a:pPr>
                <a:lnSpc>
                  <a:spcPct val="90000"/>
                </a:lnSpc>
              </a:pPr>
              <a:r>
                <a:rPr kumimoji="1" lang="zh-CN" altLang="en-US" sz="2000" b="1">
                  <a:latin typeface="华文新魏" pitchFamily="2" charset="-122"/>
                  <a:ea typeface="华文新魏" pitchFamily="2" charset="-122"/>
                </a:rPr>
                <a:t>加上 </a:t>
              </a:r>
            </a:p>
            <a:p>
              <a:pPr>
                <a:lnSpc>
                  <a:spcPct val="90000"/>
                </a:lnSpc>
              </a:pPr>
              <a:r>
                <a:rPr kumimoji="1" lang="zh-CN" altLang="en-US" sz="2000" b="1">
                  <a:latin typeface="华文新魏" pitchFamily="2" charset="-122"/>
                  <a:ea typeface="华文新魏" pitchFamily="2" charset="-122"/>
                </a:rPr>
                <a:t>操作 </a:t>
              </a:r>
            </a:p>
          </p:txBody>
        </p:sp>
      </p:grpSp>
      <p:sp>
        <p:nvSpPr>
          <p:cNvPr id="59419" name="Rectangle 27"/>
          <p:cNvSpPr>
            <a:spLocks noChangeArrowheads="1"/>
          </p:cNvSpPr>
          <p:nvPr/>
        </p:nvSpPr>
        <p:spPr bwMode="auto">
          <a:xfrm>
            <a:off x="3186114" y="3736975"/>
            <a:ext cx="2098675"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抽象数据类型 </a:t>
            </a:r>
          </a:p>
        </p:txBody>
      </p:sp>
      <p:sp>
        <p:nvSpPr>
          <p:cNvPr id="59420" name="Rectangle 28"/>
          <p:cNvSpPr>
            <a:spLocks noChangeArrowheads="1"/>
          </p:cNvSpPr>
          <p:nvPr/>
        </p:nvSpPr>
        <p:spPr bwMode="auto">
          <a:xfrm>
            <a:off x="1631951" y="3367089"/>
            <a:ext cx="1565275" cy="1200329"/>
          </a:xfrm>
          <a:prstGeom prst="rect">
            <a:avLst/>
          </a:prstGeom>
          <a:noFill/>
          <a:ln w="9525">
            <a:noFill/>
            <a:miter lim="800000"/>
            <a:headEnd/>
            <a:tailEnd/>
          </a:ln>
          <a:effectLst/>
        </p:spPr>
        <p:txBody>
          <a:bodyPr>
            <a:spAutoFit/>
          </a:bodyPr>
          <a:lstStyle/>
          <a:p>
            <a:r>
              <a:rPr kumimoji="1" lang="zh-CN" altLang="en-US" sz="2400" b="1">
                <a:solidFill>
                  <a:srgbClr val="0000FF"/>
                </a:solidFill>
                <a:latin typeface="Times New Roman" pitchFamily="18" charset="0"/>
              </a:rPr>
              <a:t>数据对象 </a:t>
            </a:r>
          </a:p>
          <a:p>
            <a:r>
              <a:rPr kumimoji="1" lang="zh-CN" altLang="en-US" sz="2400" b="1">
                <a:solidFill>
                  <a:srgbClr val="0000FF"/>
                </a:solidFill>
                <a:latin typeface="Times New Roman" pitchFamily="18" charset="0"/>
              </a:rPr>
              <a:t>数据关系 </a:t>
            </a:r>
          </a:p>
          <a:p>
            <a:r>
              <a:rPr kumimoji="1" lang="zh-CN" altLang="en-US" sz="2400" b="1">
                <a:solidFill>
                  <a:srgbClr val="0000FF"/>
                </a:solidFill>
                <a:latin typeface="Times New Roman" pitchFamily="18" charset="0"/>
              </a:rPr>
              <a:t>基本操作 </a:t>
            </a:r>
          </a:p>
        </p:txBody>
      </p:sp>
      <p:sp>
        <p:nvSpPr>
          <p:cNvPr id="59421" name="AutoShape 29"/>
          <p:cNvSpPr>
            <a:spLocks/>
          </p:cNvSpPr>
          <p:nvPr/>
        </p:nvSpPr>
        <p:spPr bwMode="auto">
          <a:xfrm>
            <a:off x="3071813" y="3546475"/>
            <a:ext cx="144462" cy="863600"/>
          </a:xfrm>
          <a:prstGeom prst="rightBrace">
            <a:avLst>
              <a:gd name="adj1" fmla="val 49817"/>
              <a:gd name="adj2" fmla="val 50000"/>
            </a:avLst>
          </a:prstGeom>
          <a:noFill/>
          <a:ln w="9525">
            <a:solidFill>
              <a:schemeClr val="tx1"/>
            </a:solidFill>
            <a:round/>
            <a:headEnd/>
            <a:tailEnd/>
          </a:ln>
          <a:effectLst/>
        </p:spPr>
        <p:txBody>
          <a:bodyPr wrap="none" anchor="ctr"/>
          <a:lstStyle/>
          <a:p>
            <a:endParaRPr lang="zh-CN" altLang="en-US"/>
          </a:p>
        </p:txBody>
      </p:sp>
      <p:sp>
        <p:nvSpPr>
          <p:cNvPr id="59423" name="Line 31"/>
          <p:cNvSpPr>
            <a:spLocks noChangeShapeType="1"/>
          </p:cNvSpPr>
          <p:nvPr/>
        </p:nvSpPr>
        <p:spPr bwMode="auto">
          <a:xfrm flipH="1">
            <a:off x="5159375" y="3978275"/>
            <a:ext cx="647700" cy="0"/>
          </a:xfrm>
          <a:prstGeom prst="line">
            <a:avLst/>
          </a:prstGeom>
          <a:noFill/>
          <a:ln w="19050">
            <a:solidFill>
              <a:schemeClr val="tx1"/>
            </a:solidFill>
            <a:round/>
            <a:headEnd/>
            <a:tailEnd/>
          </a:ln>
          <a:effectLst/>
        </p:spPr>
        <p:txBody>
          <a:bodyPr/>
          <a:lstStyle/>
          <a:p>
            <a:endParaRPr lang="zh-CN" altLang="en-US"/>
          </a:p>
        </p:txBody>
      </p:sp>
      <p:grpSp>
        <p:nvGrpSpPr>
          <p:cNvPr id="6" name="Group 53"/>
          <p:cNvGrpSpPr>
            <a:grpSpLocks/>
          </p:cNvGrpSpPr>
          <p:nvPr/>
        </p:nvGrpSpPr>
        <p:grpSpPr bwMode="auto">
          <a:xfrm>
            <a:off x="6350001" y="2682875"/>
            <a:ext cx="760413" cy="1295400"/>
            <a:chOff x="3040" y="1690"/>
            <a:chExt cx="479" cy="816"/>
          </a:xfrm>
        </p:grpSpPr>
        <p:sp>
          <p:nvSpPr>
            <p:cNvPr id="59424" name="Line 32"/>
            <p:cNvSpPr>
              <a:spLocks noChangeShapeType="1"/>
            </p:cNvSpPr>
            <p:nvPr/>
          </p:nvSpPr>
          <p:spPr bwMode="auto">
            <a:xfrm>
              <a:off x="3061" y="1690"/>
              <a:ext cx="0" cy="816"/>
            </a:xfrm>
            <a:prstGeom prst="line">
              <a:avLst/>
            </a:prstGeom>
            <a:noFill/>
            <a:ln w="19050">
              <a:solidFill>
                <a:schemeClr val="tx1"/>
              </a:solidFill>
              <a:round/>
              <a:headEnd/>
              <a:tailEnd/>
            </a:ln>
            <a:effectLst/>
          </p:spPr>
          <p:txBody>
            <a:bodyPr/>
            <a:lstStyle/>
            <a:p>
              <a:endParaRPr lang="zh-CN" altLang="en-US"/>
            </a:p>
          </p:txBody>
        </p:sp>
        <p:sp>
          <p:nvSpPr>
            <p:cNvPr id="59425" name="Text Box 33"/>
            <p:cNvSpPr txBox="1">
              <a:spLocks noChangeArrowheads="1"/>
            </p:cNvSpPr>
            <p:nvPr/>
          </p:nvSpPr>
          <p:spPr bwMode="auto">
            <a:xfrm>
              <a:off x="3040" y="1793"/>
              <a:ext cx="479" cy="583"/>
            </a:xfrm>
            <a:prstGeom prst="rect">
              <a:avLst/>
            </a:prstGeom>
            <a:noFill/>
            <a:ln w="9525">
              <a:noFill/>
              <a:miter lim="800000"/>
              <a:headEnd/>
              <a:tailEnd/>
            </a:ln>
            <a:effectLst/>
          </p:spPr>
          <p:txBody>
            <a:bodyPr wrap="none">
              <a:spAutoFit/>
            </a:bodyPr>
            <a:lstStyle/>
            <a:p>
              <a:pPr>
                <a:lnSpc>
                  <a:spcPct val="90000"/>
                </a:lnSpc>
              </a:pPr>
              <a:r>
                <a:rPr kumimoji="1" lang="zh-CN" altLang="en-US" sz="2000" b="1">
                  <a:latin typeface="华文新魏" pitchFamily="2" charset="-122"/>
                  <a:ea typeface="华文新魏" pitchFamily="2" charset="-122"/>
                </a:rPr>
                <a:t>映像 </a:t>
              </a:r>
            </a:p>
            <a:p>
              <a:pPr>
                <a:lnSpc>
                  <a:spcPct val="90000"/>
                </a:lnSpc>
              </a:pPr>
              <a:r>
                <a:rPr kumimoji="1" lang="zh-CN" altLang="en-US" sz="2000" b="1">
                  <a:latin typeface="华文新魏" pitchFamily="2" charset="-122"/>
                  <a:ea typeface="华文新魏" pitchFamily="2" charset="-122"/>
                </a:rPr>
                <a:t>  到 </a:t>
              </a:r>
            </a:p>
            <a:p>
              <a:pPr>
                <a:lnSpc>
                  <a:spcPct val="90000"/>
                </a:lnSpc>
              </a:pPr>
              <a:r>
                <a:rPr kumimoji="1" lang="zh-CN" altLang="en-US" sz="2000" b="1">
                  <a:latin typeface="华文新魏" pitchFamily="2" charset="-122"/>
                  <a:ea typeface="华文新魏" pitchFamily="2" charset="-122"/>
                </a:rPr>
                <a:t>内存 </a:t>
              </a:r>
            </a:p>
          </p:txBody>
        </p:sp>
      </p:grpSp>
      <p:sp>
        <p:nvSpPr>
          <p:cNvPr id="59426" name="Line 34"/>
          <p:cNvSpPr>
            <a:spLocks noChangeShapeType="1"/>
          </p:cNvSpPr>
          <p:nvPr/>
        </p:nvSpPr>
        <p:spPr bwMode="auto">
          <a:xfrm flipH="1">
            <a:off x="6383338" y="3978275"/>
            <a:ext cx="647700" cy="0"/>
          </a:xfrm>
          <a:prstGeom prst="line">
            <a:avLst/>
          </a:prstGeom>
          <a:noFill/>
          <a:ln w="19050">
            <a:solidFill>
              <a:schemeClr val="tx1"/>
            </a:solidFill>
            <a:round/>
            <a:headEnd/>
            <a:tailEnd/>
          </a:ln>
          <a:effectLst/>
        </p:spPr>
        <p:txBody>
          <a:bodyPr/>
          <a:lstStyle/>
          <a:p>
            <a:endParaRPr lang="zh-CN" altLang="en-US"/>
          </a:p>
        </p:txBody>
      </p:sp>
      <p:sp>
        <p:nvSpPr>
          <p:cNvPr id="59428" name="Rectangle 36"/>
          <p:cNvSpPr>
            <a:spLocks noChangeArrowheads="1"/>
          </p:cNvSpPr>
          <p:nvPr/>
        </p:nvSpPr>
        <p:spPr bwMode="auto">
          <a:xfrm>
            <a:off x="6989763" y="3711575"/>
            <a:ext cx="1485900"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存储结构 </a:t>
            </a:r>
          </a:p>
        </p:txBody>
      </p:sp>
      <p:sp>
        <p:nvSpPr>
          <p:cNvPr id="59429" name="AutoShape 37"/>
          <p:cNvSpPr>
            <a:spLocks/>
          </p:cNvSpPr>
          <p:nvPr/>
        </p:nvSpPr>
        <p:spPr bwMode="auto">
          <a:xfrm flipH="1">
            <a:off x="8399463" y="3619500"/>
            <a:ext cx="144462" cy="647700"/>
          </a:xfrm>
          <a:prstGeom prst="rightBrace">
            <a:avLst>
              <a:gd name="adj1" fmla="val 37363"/>
              <a:gd name="adj2" fmla="val 50000"/>
            </a:avLst>
          </a:prstGeom>
          <a:noFill/>
          <a:ln w="9525">
            <a:solidFill>
              <a:schemeClr val="tx1"/>
            </a:solidFill>
            <a:round/>
            <a:headEnd/>
            <a:tailEnd/>
          </a:ln>
          <a:effectLst/>
        </p:spPr>
        <p:txBody>
          <a:bodyPr wrap="none" anchor="ctr"/>
          <a:lstStyle/>
          <a:p>
            <a:endParaRPr lang="zh-CN" altLang="en-US"/>
          </a:p>
        </p:txBody>
      </p:sp>
      <p:sp>
        <p:nvSpPr>
          <p:cNvPr id="59430" name="Rectangle 38"/>
          <p:cNvSpPr>
            <a:spLocks noChangeArrowheads="1"/>
          </p:cNvSpPr>
          <p:nvPr/>
        </p:nvSpPr>
        <p:spPr bwMode="auto">
          <a:xfrm>
            <a:off x="8537575" y="3357563"/>
            <a:ext cx="1485900"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顺序结构 </a:t>
            </a:r>
          </a:p>
        </p:txBody>
      </p:sp>
      <p:sp>
        <p:nvSpPr>
          <p:cNvPr id="59431" name="Rectangle 39"/>
          <p:cNvSpPr>
            <a:spLocks noChangeArrowheads="1"/>
          </p:cNvSpPr>
          <p:nvPr/>
        </p:nvSpPr>
        <p:spPr bwMode="auto">
          <a:xfrm>
            <a:off x="8543925" y="4051300"/>
            <a:ext cx="1485900"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链式结构 </a:t>
            </a:r>
          </a:p>
        </p:txBody>
      </p:sp>
      <p:sp>
        <p:nvSpPr>
          <p:cNvPr id="59432" name="Rectangle 40"/>
          <p:cNvSpPr>
            <a:spLocks noChangeArrowheads="1"/>
          </p:cNvSpPr>
          <p:nvPr/>
        </p:nvSpPr>
        <p:spPr bwMode="auto">
          <a:xfrm>
            <a:off x="1631951" y="4941888"/>
            <a:ext cx="873125"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算法 </a:t>
            </a:r>
          </a:p>
        </p:txBody>
      </p:sp>
      <p:sp>
        <p:nvSpPr>
          <p:cNvPr id="59433" name="Rectangle 41"/>
          <p:cNvSpPr>
            <a:spLocks noChangeArrowheads="1"/>
          </p:cNvSpPr>
          <p:nvPr/>
        </p:nvSpPr>
        <p:spPr bwMode="auto">
          <a:xfrm>
            <a:off x="2495550" y="4705350"/>
            <a:ext cx="6553200" cy="457200"/>
          </a:xfrm>
          <a:prstGeom prst="rect">
            <a:avLst/>
          </a:prstGeom>
          <a:noFill/>
          <a:ln w="9525">
            <a:noFill/>
            <a:miter lim="800000"/>
            <a:headEnd/>
            <a:tailEnd/>
          </a:ln>
          <a:effectLst/>
        </p:spPr>
        <p:txBody>
          <a:bodyPr>
            <a:spAutoFit/>
          </a:bodyPr>
          <a:lstStyle/>
          <a:p>
            <a:r>
              <a:rPr kumimoji="1" lang="zh-CN" altLang="en-US" sz="2400" b="1">
                <a:latin typeface="Times New Roman" pitchFamily="18" charset="0"/>
              </a:rPr>
              <a:t>特性：</a:t>
            </a:r>
            <a:r>
              <a:rPr kumimoji="1" lang="zh-CN" altLang="en-US" sz="2400" b="1">
                <a:solidFill>
                  <a:srgbClr val="0000FF"/>
                </a:solidFill>
                <a:latin typeface="Times New Roman" pitchFamily="18" charset="0"/>
              </a:rPr>
              <a:t>有穷性、确定性、可行性、输入、输出 </a:t>
            </a:r>
          </a:p>
        </p:txBody>
      </p:sp>
      <p:sp>
        <p:nvSpPr>
          <p:cNvPr id="59434" name="Rectangle 42"/>
          <p:cNvSpPr>
            <a:spLocks noChangeArrowheads="1"/>
          </p:cNvSpPr>
          <p:nvPr/>
        </p:nvSpPr>
        <p:spPr bwMode="auto">
          <a:xfrm>
            <a:off x="2495550" y="5203825"/>
            <a:ext cx="7920038" cy="457200"/>
          </a:xfrm>
          <a:prstGeom prst="rect">
            <a:avLst/>
          </a:prstGeom>
          <a:noFill/>
          <a:ln w="9525">
            <a:noFill/>
            <a:miter lim="800000"/>
            <a:headEnd/>
            <a:tailEnd/>
          </a:ln>
          <a:effectLst/>
        </p:spPr>
        <p:txBody>
          <a:bodyPr wrap="none">
            <a:spAutoFit/>
          </a:bodyPr>
          <a:lstStyle/>
          <a:p>
            <a:r>
              <a:rPr kumimoji="1" lang="zh-CN" altLang="en-US" sz="2400" b="1">
                <a:latin typeface="Times New Roman" pitchFamily="18" charset="0"/>
              </a:rPr>
              <a:t>衡量标准：</a:t>
            </a:r>
            <a:r>
              <a:rPr kumimoji="1" lang="zh-CN" altLang="en-US" sz="2400" b="1">
                <a:solidFill>
                  <a:srgbClr val="0000FF"/>
                </a:solidFill>
                <a:latin typeface="Times New Roman" pitchFamily="18" charset="0"/>
              </a:rPr>
              <a:t>正确性、可读性、健壮性、效率、存储量需求 </a:t>
            </a:r>
          </a:p>
        </p:txBody>
      </p:sp>
      <p:sp>
        <p:nvSpPr>
          <p:cNvPr id="59436" name="AutoShape 44"/>
          <p:cNvSpPr>
            <a:spLocks/>
          </p:cNvSpPr>
          <p:nvPr/>
        </p:nvSpPr>
        <p:spPr bwMode="auto">
          <a:xfrm flipH="1">
            <a:off x="2422526" y="4848225"/>
            <a:ext cx="144463" cy="647700"/>
          </a:xfrm>
          <a:prstGeom prst="rightBrace">
            <a:avLst>
              <a:gd name="adj1" fmla="val 37363"/>
              <a:gd name="adj2" fmla="val 50000"/>
            </a:avLst>
          </a:prstGeom>
          <a:noFill/>
          <a:ln w="9525">
            <a:solidFill>
              <a:schemeClr val="tx1"/>
            </a:solidFill>
            <a:round/>
            <a:headEnd/>
            <a:tailEnd/>
          </a:ln>
          <a:effectLst/>
        </p:spPr>
        <p:txBody>
          <a:bodyPr wrap="none" anchor="ctr"/>
          <a:lstStyle/>
          <a:p>
            <a:endParaRPr lang="zh-CN" altLang="en-US"/>
          </a:p>
        </p:txBody>
      </p:sp>
      <p:sp>
        <p:nvSpPr>
          <p:cNvPr id="59437" name="Rectangle 45"/>
          <p:cNvSpPr>
            <a:spLocks noChangeArrowheads="1"/>
          </p:cNvSpPr>
          <p:nvPr/>
        </p:nvSpPr>
        <p:spPr bwMode="auto">
          <a:xfrm>
            <a:off x="5238750" y="5846763"/>
            <a:ext cx="1792288"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时间复杂度 </a:t>
            </a:r>
          </a:p>
        </p:txBody>
      </p:sp>
      <p:sp>
        <p:nvSpPr>
          <p:cNvPr id="59438" name="Line 46"/>
          <p:cNvSpPr>
            <a:spLocks noChangeShapeType="1"/>
          </p:cNvSpPr>
          <p:nvPr/>
        </p:nvSpPr>
        <p:spPr bwMode="auto">
          <a:xfrm>
            <a:off x="8112125" y="5589589"/>
            <a:ext cx="0" cy="549275"/>
          </a:xfrm>
          <a:prstGeom prst="line">
            <a:avLst/>
          </a:prstGeom>
          <a:noFill/>
          <a:ln w="19050">
            <a:solidFill>
              <a:schemeClr val="tx1"/>
            </a:solidFill>
            <a:round/>
            <a:headEnd/>
            <a:tailEnd/>
          </a:ln>
          <a:effectLst/>
        </p:spPr>
        <p:txBody>
          <a:bodyPr/>
          <a:lstStyle/>
          <a:p>
            <a:endParaRPr lang="zh-CN" altLang="en-US"/>
          </a:p>
        </p:txBody>
      </p:sp>
      <p:sp>
        <p:nvSpPr>
          <p:cNvPr id="59439" name="Line 47"/>
          <p:cNvSpPr>
            <a:spLocks noChangeShapeType="1"/>
          </p:cNvSpPr>
          <p:nvPr/>
        </p:nvSpPr>
        <p:spPr bwMode="auto">
          <a:xfrm flipH="1">
            <a:off x="6888163" y="6138863"/>
            <a:ext cx="1223962" cy="0"/>
          </a:xfrm>
          <a:prstGeom prst="line">
            <a:avLst/>
          </a:prstGeom>
          <a:noFill/>
          <a:ln w="19050">
            <a:solidFill>
              <a:schemeClr val="tx1"/>
            </a:solidFill>
            <a:round/>
            <a:headEnd/>
            <a:tailEnd/>
          </a:ln>
          <a:effectLst/>
        </p:spPr>
        <p:txBody>
          <a:bodyPr/>
          <a:lstStyle/>
          <a:p>
            <a:endParaRPr lang="zh-CN" altLang="en-US"/>
          </a:p>
        </p:txBody>
      </p:sp>
      <p:sp>
        <p:nvSpPr>
          <p:cNvPr id="59440" name="Rectangle 48"/>
          <p:cNvSpPr>
            <a:spLocks noChangeArrowheads="1"/>
          </p:cNvSpPr>
          <p:nvPr/>
        </p:nvSpPr>
        <p:spPr bwMode="auto">
          <a:xfrm>
            <a:off x="8628064" y="5872163"/>
            <a:ext cx="1792287" cy="457200"/>
          </a:xfrm>
          <a:prstGeom prst="rect">
            <a:avLst/>
          </a:prstGeom>
          <a:noFill/>
          <a:ln w="9525">
            <a:noFill/>
            <a:miter lim="800000"/>
            <a:headEnd/>
            <a:tailEnd/>
          </a:ln>
          <a:effectLst/>
        </p:spPr>
        <p:txBody>
          <a:bodyPr wrap="none">
            <a:spAutoFit/>
          </a:bodyPr>
          <a:lstStyle/>
          <a:p>
            <a:r>
              <a:rPr kumimoji="1" lang="zh-CN" altLang="en-US" sz="2400" b="1">
                <a:solidFill>
                  <a:srgbClr val="FF3300"/>
                </a:solidFill>
                <a:effectLst>
                  <a:outerShdw blurRad="38100" dist="38100" dir="2700000" algn="tl">
                    <a:srgbClr val="000000"/>
                  </a:outerShdw>
                </a:effectLst>
                <a:latin typeface="Times New Roman" pitchFamily="18" charset="0"/>
              </a:rPr>
              <a:t>空间复杂度 </a:t>
            </a:r>
          </a:p>
        </p:txBody>
      </p:sp>
      <p:sp>
        <p:nvSpPr>
          <p:cNvPr id="59441" name="Line 49"/>
          <p:cNvSpPr>
            <a:spLocks noChangeShapeType="1"/>
          </p:cNvSpPr>
          <p:nvPr/>
        </p:nvSpPr>
        <p:spPr bwMode="auto">
          <a:xfrm>
            <a:off x="9474200" y="5661025"/>
            <a:ext cx="0" cy="261938"/>
          </a:xfrm>
          <a:prstGeom prst="line">
            <a:avLst/>
          </a:prstGeom>
          <a:noFill/>
          <a:ln w="19050">
            <a:solidFill>
              <a:schemeClr val="tx1"/>
            </a:solidFill>
            <a:round/>
            <a:headEnd/>
            <a:tailEnd/>
          </a:ln>
          <a:effectLst/>
        </p:spPr>
        <p:txBody>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8"/>
                                        </p:tgtEl>
                                        <p:attrNameLst>
                                          <p:attrName>style.visibility</p:attrName>
                                        </p:attrNameLst>
                                      </p:cBhvr>
                                      <p:to>
                                        <p:strVal val="visible"/>
                                      </p:to>
                                    </p:set>
                                    <p:animEffect transition="in" filter="wipe(left)">
                                      <p:cBhvr>
                                        <p:cTn id="7" dur="500"/>
                                        <p:tgtEl>
                                          <p:spTgt spid="593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401"/>
                                        </p:tgtEl>
                                        <p:attrNameLst>
                                          <p:attrName>style.visibility</p:attrName>
                                        </p:attrNameLst>
                                      </p:cBhvr>
                                      <p:to>
                                        <p:strVal val="visible"/>
                                      </p:to>
                                    </p:set>
                                    <p:animEffect transition="in" filter="wipe(left)">
                                      <p:cBhvr>
                                        <p:cTn id="17" dur="500"/>
                                        <p:tgtEl>
                                          <p:spTgt spid="594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408"/>
                                        </p:tgtEl>
                                        <p:attrNameLst>
                                          <p:attrName>style.visibility</p:attrName>
                                        </p:attrNameLst>
                                      </p:cBhvr>
                                      <p:to>
                                        <p:strVal val="visible"/>
                                      </p:to>
                                    </p:set>
                                    <p:animEffect transition="in" filter="wipe(left)">
                                      <p:cBhvr>
                                        <p:cTn id="27" dur="500"/>
                                        <p:tgtEl>
                                          <p:spTgt spid="5940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9409"/>
                                        </p:tgtEl>
                                        <p:attrNameLst>
                                          <p:attrName>style.visibility</p:attrName>
                                        </p:attrNameLst>
                                      </p:cBhvr>
                                      <p:to>
                                        <p:strVal val="visible"/>
                                      </p:to>
                                    </p:set>
                                    <p:animEffect transition="in" filter="wipe(up)">
                                      <p:cBhvr>
                                        <p:cTn id="32" dur="500"/>
                                        <p:tgtEl>
                                          <p:spTgt spid="59409"/>
                                        </p:tgtEl>
                                      </p:cBhvr>
                                    </p:animEffect>
                                  </p:childTnLst>
                                </p:cTn>
                              </p:par>
                            </p:childTnLst>
                          </p:cTn>
                        </p:par>
                        <p:par>
                          <p:cTn id="33" fill="hold">
                            <p:stCondLst>
                              <p:cond delay="500"/>
                            </p:stCondLst>
                            <p:childTnLst>
                              <p:par>
                                <p:cTn id="34" presetID="22" presetClass="entr" presetSubtype="2" fill="hold" grpId="0" nodeType="afterEffect">
                                  <p:stCondLst>
                                    <p:cond delay="0"/>
                                  </p:stCondLst>
                                  <p:childTnLst>
                                    <p:set>
                                      <p:cBhvr>
                                        <p:cTn id="35" dur="1" fill="hold">
                                          <p:stCondLst>
                                            <p:cond delay="0"/>
                                          </p:stCondLst>
                                        </p:cTn>
                                        <p:tgtEl>
                                          <p:spTgt spid="59410"/>
                                        </p:tgtEl>
                                        <p:attrNameLst>
                                          <p:attrName>style.visibility</p:attrName>
                                        </p:attrNameLst>
                                      </p:cBhvr>
                                      <p:to>
                                        <p:strVal val="visible"/>
                                      </p:to>
                                    </p:set>
                                    <p:animEffect transition="in" filter="wipe(right)">
                                      <p:cBhvr>
                                        <p:cTn id="36" dur="500"/>
                                        <p:tgtEl>
                                          <p:spTgt spid="59410"/>
                                        </p:tgtEl>
                                      </p:cBhvr>
                                    </p:animEffect>
                                  </p:childTnLst>
                                </p:cTn>
                              </p:par>
                            </p:childTnLst>
                          </p:cTn>
                        </p:par>
                        <p:par>
                          <p:cTn id="37" fill="hold">
                            <p:stCondLst>
                              <p:cond delay="1000"/>
                            </p:stCondLst>
                            <p:childTnLst>
                              <p:par>
                                <p:cTn id="38" presetID="17" presetClass="entr" presetSubtype="10" fill="hold" grpId="0" nodeType="afterEffect">
                                  <p:stCondLst>
                                    <p:cond delay="0"/>
                                  </p:stCondLst>
                                  <p:childTnLst>
                                    <p:set>
                                      <p:cBhvr>
                                        <p:cTn id="39" dur="1" fill="hold">
                                          <p:stCondLst>
                                            <p:cond delay="0"/>
                                          </p:stCondLst>
                                        </p:cTn>
                                        <p:tgtEl>
                                          <p:spTgt spid="59411"/>
                                        </p:tgtEl>
                                        <p:attrNameLst>
                                          <p:attrName>style.visibility</p:attrName>
                                        </p:attrNameLst>
                                      </p:cBhvr>
                                      <p:to>
                                        <p:strVal val="visible"/>
                                      </p:to>
                                    </p:set>
                                    <p:anim calcmode="lin" valueType="num">
                                      <p:cBhvr>
                                        <p:cTn id="40" dur="500" fill="hold"/>
                                        <p:tgtEl>
                                          <p:spTgt spid="59411"/>
                                        </p:tgtEl>
                                        <p:attrNameLst>
                                          <p:attrName>ppt_w</p:attrName>
                                        </p:attrNameLst>
                                      </p:cBhvr>
                                      <p:tavLst>
                                        <p:tav tm="0">
                                          <p:val>
                                            <p:fltVal val="0"/>
                                          </p:val>
                                        </p:tav>
                                        <p:tav tm="100000">
                                          <p:val>
                                            <p:strVal val="#ppt_w"/>
                                          </p:val>
                                        </p:tav>
                                      </p:tavLst>
                                    </p:anim>
                                    <p:anim calcmode="lin" valueType="num">
                                      <p:cBhvr>
                                        <p:cTn id="41" dur="500" fill="hold"/>
                                        <p:tgtEl>
                                          <p:spTgt spid="59411"/>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7" presetClass="entr" presetSubtype="10" fill="hold" grpId="0" nodeType="clickEffect">
                                  <p:stCondLst>
                                    <p:cond delay="0"/>
                                  </p:stCondLst>
                                  <p:childTnLst>
                                    <p:set>
                                      <p:cBhvr>
                                        <p:cTn id="45" dur="1" fill="hold">
                                          <p:stCondLst>
                                            <p:cond delay="0"/>
                                          </p:stCondLst>
                                        </p:cTn>
                                        <p:tgtEl>
                                          <p:spTgt spid="59412"/>
                                        </p:tgtEl>
                                        <p:attrNameLst>
                                          <p:attrName>style.visibility</p:attrName>
                                        </p:attrNameLst>
                                      </p:cBhvr>
                                      <p:to>
                                        <p:strVal val="visible"/>
                                      </p:to>
                                    </p:set>
                                    <p:anim calcmode="lin" valueType="num">
                                      <p:cBhvr>
                                        <p:cTn id="46" dur="500" fill="hold"/>
                                        <p:tgtEl>
                                          <p:spTgt spid="59412"/>
                                        </p:tgtEl>
                                        <p:attrNameLst>
                                          <p:attrName>ppt_w</p:attrName>
                                        </p:attrNameLst>
                                      </p:cBhvr>
                                      <p:tavLst>
                                        <p:tav tm="0">
                                          <p:val>
                                            <p:fltVal val="0"/>
                                          </p:val>
                                        </p:tav>
                                        <p:tav tm="100000">
                                          <p:val>
                                            <p:strVal val="#ppt_w"/>
                                          </p:val>
                                        </p:tav>
                                      </p:tavLst>
                                    </p:anim>
                                    <p:anim calcmode="lin" valueType="num">
                                      <p:cBhvr>
                                        <p:cTn id="47" dur="500" fill="hold"/>
                                        <p:tgtEl>
                                          <p:spTgt spid="59412"/>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10"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 calcmode="lin" valueType="num">
                                      <p:cBhvr>
                                        <p:cTn id="52" dur="500" fill="hold"/>
                                        <p:tgtEl>
                                          <p:spTgt spid="4"/>
                                        </p:tgtEl>
                                        <p:attrNameLst>
                                          <p:attrName>ppt_w</p:attrName>
                                        </p:attrNameLst>
                                      </p:cBhvr>
                                      <p:tavLst>
                                        <p:tav tm="0">
                                          <p:val>
                                            <p:fltVal val="0"/>
                                          </p:val>
                                        </p:tav>
                                        <p:tav tm="100000">
                                          <p:val>
                                            <p:strVal val="#ppt_w"/>
                                          </p:val>
                                        </p:tav>
                                      </p:tavLst>
                                    </p:anim>
                                    <p:anim calcmode="lin" valueType="num">
                                      <p:cBhvr>
                                        <p:cTn id="53" dur="500" fill="hold"/>
                                        <p:tgtEl>
                                          <p:spTgt spid="4"/>
                                        </p:tgtEl>
                                        <p:attrNameLst>
                                          <p:attrName>ppt_h</p:attrName>
                                        </p:attrNameLst>
                                      </p:cBhvr>
                                      <p:tavLst>
                                        <p:tav tm="0">
                                          <p:val>
                                            <p:strVal val="#ppt_h"/>
                                          </p:val>
                                        </p:tav>
                                        <p:tav tm="100000">
                                          <p:val>
                                            <p:strVal val="#ppt_h"/>
                                          </p:val>
                                        </p:tav>
                                      </p:tavLst>
                                    </p:anim>
                                  </p:childTnLst>
                                </p:cTn>
                              </p:par>
                            </p:childTnLst>
                          </p:cTn>
                        </p:par>
                        <p:par>
                          <p:cTn id="54" fill="hold">
                            <p:stCondLst>
                              <p:cond delay="500"/>
                            </p:stCondLst>
                            <p:childTnLst>
                              <p:par>
                                <p:cTn id="55" presetID="16" presetClass="entr" presetSubtype="42" fill="hold" grpId="0" nodeType="afterEffect">
                                  <p:stCondLst>
                                    <p:cond delay="0"/>
                                  </p:stCondLst>
                                  <p:childTnLst>
                                    <p:set>
                                      <p:cBhvr>
                                        <p:cTn id="56" dur="1" fill="hold">
                                          <p:stCondLst>
                                            <p:cond delay="0"/>
                                          </p:stCondLst>
                                        </p:cTn>
                                        <p:tgtEl>
                                          <p:spTgt spid="59415"/>
                                        </p:tgtEl>
                                        <p:attrNameLst>
                                          <p:attrName>style.visibility</p:attrName>
                                        </p:attrNameLst>
                                      </p:cBhvr>
                                      <p:to>
                                        <p:strVal val="visible"/>
                                      </p:to>
                                    </p:set>
                                    <p:animEffect transition="in" filter="barn(outHorizontal)">
                                      <p:cBhvr>
                                        <p:cTn id="57" dur="500"/>
                                        <p:tgtEl>
                                          <p:spTgt spid="59415"/>
                                        </p:tgtEl>
                                      </p:cBhvr>
                                    </p:animEffect>
                                  </p:childTnLst>
                                </p:cTn>
                              </p:par>
                            </p:childTnLst>
                          </p:cTn>
                        </p:par>
                      </p:childTnLst>
                    </p:cTn>
                  </p:par>
                  <p:par>
                    <p:cTn id="58" fill="hold">
                      <p:stCondLst>
                        <p:cond delay="indefinite"/>
                      </p:stCondLst>
                      <p:childTnLst>
                        <p:par>
                          <p:cTn id="59" fill="hold">
                            <p:stCondLst>
                              <p:cond delay="0"/>
                            </p:stCondLst>
                            <p:childTnLst>
                              <p:par>
                                <p:cTn id="60" presetID="17" presetClass="entr" presetSubtype="2" fill="hold" grpId="0" nodeType="clickEffect">
                                  <p:stCondLst>
                                    <p:cond delay="0"/>
                                  </p:stCondLst>
                                  <p:childTnLst>
                                    <p:set>
                                      <p:cBhvr>
                                        <p:cTn id="61" dur="1" fill="hold">
                                          <p:stCondLst>
                                            <p:cond delay="0"/>
                                          </p:stCondLst>
                                        </p:cTn>
                                        <p:tgtEl>
                                          <p:spTgt spid="59416"/>
                                        </p:tgtEl>
                                        <p:attrNameLst>
                                          <p:attrName>style.visibility</p:attrName>
                                        </p:attrNameLst>
                                      </p:cBhvr>
                                      <p:to>
                                        <p:strVal val="visible"/>
                                      </p:to>
                                    </p:set>
                                    <p:anim calcmode="lin" valueType="num">
                                      <p:cBhvr>
                                        <p:cTn id="62" dur="500" fill="hold"/>
                                        <p:tgtEl>
                                          <p:spTgt spid="59416"/>
                                        </p:tgtEl>
                                        <p:attrNameLst>
                                          <p:attrName>ppt_x</p:attrName>
                                        </p:attrNameLst>
                                      </p:cBhvr>
                                      <p:tavLst>
                                        <p:tav tm="0">
                                          <p:val>
                                            <p:strVal val="#ppt_x+#ppt_w/2"/>
                                          </p:val>
                                        </p:tav>
                                        <p:tav tm="100000">
                                          <p:val>
                                            <p:strVal val="#ppt_x"/>
                                          </p:val>
                                        </p:tav>
                                      </p:tavLst>
                                    </p:anim>
                                    <p:anim calcmode="lin" valueType="num">
                                      <p:cBhvr>
                                        <p:cTn id="63" dur="500" fill="hold"/>
                                        <p:tgtEl>
                                          <p:spTgt spid="59416"/>
                                        </p:tgtEl>
                                        <p:attrNameLst>
                                          <p:attrName>ppt_y</p:attrName>
                                        </p:attrNameLst>
                                      </p:cBhvr>
                                      <p:tavLst>
                                        <p:tav tm="0">
                                          <p:val>
                                            <p:strVal val="#ppt_y"/>
                                          </p:val>
                                        </p:tav>
                                        <p:tav tm="100000">
                                          <p:val>
                                            <p:strVal val="#ppt_y"/>
                                          </p:val>
                                        </p:tav>
                                      </p:tavLst>
                                    </p:anim>
                                    <p:anim calcmode="lin" valueType="num">
                                      <p:cBhvr>
                                        <p:cTn id="64" dur="500" fill="hold"/>
                                        <p:tgtEl>
                                          <p:spTgt spid="59416"/>
                                        </p:tgtEl>
                                        <p:attrNameLst>
                                          <p:attrName>ppt_w</p:attrName>
                                        </p:attrNameLst>
                                      </p:cBhvr>
                                      <p:tavLst>
                                        <p:tav tm="0">
                                          <p:val>
                                            <p:fltVal val="0"/>
                                          </p:val>
                                        </p:tav>
                                        <p:tav tm="100000">
                                          <p:val>
                                            <p:strVal val="#ppt_w"/>
                                          </p:val>
                                        </p:tav>
                                      </p:tavLst>
                                    </p:anim>
                                    <p:anim calcmode="lin" valueType="num">
                                      <p:cBhvr>
                                        <p:cTn id="65" dur="500" fill="hold"/>
                                        <p:tgtEl>
                                          <p:spTgt spid="59416"/>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wipe(up)">
                                      <p:cBhvr>
                                        <p:cTn id="70" dur="500"/>
                                        <p:tgtEl>
                                          <p:spTgt spid="5"/>
                                        </p:tgtEl>
                                      </p:cBhvr>
                                    </p:animEffect>
                                  </p:childTnLst>
                                </p:cTn>
                              </p:par>
                            </p:childTnLst>
                          </p:cTn>
                        </p:par>
                        <p:par>
                          <p:cTn id="71" fill="hold">
                            <p:stCondLst>
                              <p:cond delay="500"/>
                            </p:stCondLst>
                            <p:childTnLst>
                              <p:par>
                                <p:cTn id="72" presetID="22" presetClass="entr" presetSubtype="2" fill="hold" grpId="0" nodeType="afterEffect">
                                  <p:stCondLst>
                                    <p:cond delay="0"/>
                                  </p:stCondLst>
                                  <p:childTnLst>
                                    <p:set>
                                      <p:cBhvr>
                                        <p:cTn id="73" dur="1" fill="hold">
                                          <p:stCondLst>
                                            <p:cond delay="0"/>
                                          </p:stCondLst>
                                        </p:cTn>
                                        <p:tgtEl>
                                          <p:spTgt spid="59423"/>
                                        </p:tgtEl>
                                        <p:attrNameLst>
                                          <p:attrName>style.visibility</p:attrName>
                                        </p:attrNameLst>
                                      </p:cBhvr>
                                      <p:to>
                                        <p:strVal val="visible"/>
                                      </p:to>
                                    </p:set>
                                    <p:animEffect transition="in" filter="wipe(right)">
                                      <p:cBhvr>
                                        <p:cTn id="74" dur="500"/>
                                        <p:tgtEl>
                                          <p:spTgt spid="59423"/>
                                        </p:tgtEl>
                                      </p:cBhvr>
                                    </p:animEffect>
                                  </p:childTnLst>
                                </p:cTn>
                              </p:par>
                            </p:childTnLst>
                          </p:cTn>
                        </p:par>
                      </p:childTnLst>
                    </p:cTn>
                  </p:par>
                  <p:par>
                    <p:cTn id="75" fill="hold">
                      <p:stCondLst>
                        <p:cond delay="indefinite"/>
                      </p:stCondLst>
                      <p:childTnLst>
                        <p:par>
                          <p:cTn id="76" fill="hold">
                            <p:stCondLst>
                              <p:cond delay="0"/>
                            </p:stCondLst>
                            <p:childTnLst>
                              <p:par>
                                <p:cTn id="77" presetID="17" presetClass="entr" presetSubtype="10" fill="hold" grpId="0" nodeType="clickEffect">
                                  <p:stCondLst>
                                    <p:cond delay="0"/>
                                  </p:stCondLst>
                                  <p:childTnLst>
                                    <p:set>
                                      <p:cBhvr>
                                        <p:cTn id="78" dur="1" fill="hold">
                                          <p:stCondLst>
                                            <p:cond delay="0"/>
                                          </p:stCondLst>
                                        </p:cTn>
                                        <p:tgtEl>
                                          <p:spTgt spid="59419"/>
                                        </p:tgtEl>
                                        <p:attrNameLst>
                                          <p:attrName>style.visibility</p:attrName>
                                        </p:attrNameLst>
                                      </p:cBhvr>
                                      <p:to>
                                        <p:strVal val="visible"/>
                                      </p:to>
                                    </p:set>
                                    <p:anim calcmode="lin" valueType="num">
                                      <p:cBhvr>
                                        <p:cTn id="79" dur="500" fill="hold"/>
                                        <p:tgtEl>
                                          <p:spTgt spid="59419"/>
                                        </p:tgtEl>
                                        <p:attrNameLst>
                                          <p:attrName>ppt_w</p:attrName>
                                        </p:attrNameLst>
                                      </p:cBhvr>
                                      <p:tavLst>
                                        <p:tav tm="0">
                                          <p:val>
                                            <p:fltVal val="0"/>
                                          </p:val>
                                        </p:tav>
                                        <p:tav tm="100000">
                                          <p:val>
                                            <p:strVal val="#ppt_w"/>
                                          </p:val>
                                        </p:tav>
                                      </p:tavLst>
                                    </p:anim>
                                    <p:anim calcmode="lin" valueType="num">
                                      <p:cBhvr>
                                        <p:cTn id="80" dur="500" fill="hold"/>
                                        <p:tgtEl>
                                          <p:spTgt spid="59419"/>
                                        </p:tgtEl>
                                        <p:attrNameLst>
                                          <p:attrName>ppt_h</p:attrName>
                                        </p:attrNameLst>
                                      </p:cBhvr>
                                      <p:tavLst>
                                        <p:tav tm="0">
                                          <p:val>
                                            <p:strVal val="#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16" presetClass="entr" presetSubtype="42" fill="hold" grpId="0" nodeType="clickEffect">
                                  <p:stCondLst>
                                    <p:cond delay="0"/>
                                  </p:stCondLst>
                                  <p:childTnLst>
                                    <p:set>
                                      <p:cBhvr>
                                        <p:cTn id="84" dur="1" fill="hold">
                                          <p:stCondLst>
                                            <p:cond delay="0"/>
                                          </p:stCondLst>
                                        </p:cTn>
                                        <p:tgtEl>
                                          <p:spTgt spid="59421"/>
                                        </p:tgtEl>
                                        <p:attrNameLst>
                                          <p:attrName>style.visibility</p:attrName>
                                        </p:attrNameLst>
                                      </p:cBhvr>
                                      <p:to>
                                        <p:strVal val="visible"/>
                                      </p:to>
                                    </p:set>
                                    <p:animEffect transition="in" filter="barn(outHorizontal)">
                                      <p:cBhvr>
                                        <p:cTn id="85" dur="500"/>
                                        <p:tgtEl>
                                          <p:spTgt spid="59421"/>
                                        </p:tgtEl>
                                      </p:cBhvr>
                                    </p:animEffect>
                                  </p:childTnLst>
                                </p:cTn>
                              </p:par>
                            </p:childTnLst>
                          </p:cTn>
                        </p:par>
                      </p:childTnLst>
                    </p:cTn>
                  </p:par>
                  <p:par>
                    <p:cTn id="86" fill="hold">
                      <p:stCondLst>
                        <p:cond delay="indefinite"/>
                      </p:stCondLst>
                      <p:childTnLst>
                        <p:par>
                          <p:cTn id="87" fill="hold">
                            <p:stCondLst>
                              <p:cond delay="0"/>
                            </p:stCondLst>
                            <p:childTnLst>
                              <p:par>
                                <p:cTn id="88" presetID="17" presetClass="entr" presetSubtype="2" fill="hold" grpId="0" nodeType="clickEffect">
                                  <p:stCondLst>
                                    <p:cond delay="0"/>
                                  </p:stCondLst>
                                  <p:childTnLst>
                                    <p:set>
                                      <p:cBhvr>
                                        <p:cTn id="89" dur="1" fill="hold">
                                          <p:stCondLst>
                                            <p:cond delay="0"/>
                                          </p:stCondLst>
                                        </p:cTn>
                                        <p:tgtEl>
                                          <p:spTgt spid="59420"/>
                                        </p:tgtEl>
                                        <p:attrNameLst>
                                          <p:attrName>style.visibility</p:attrName>
                                        </p:attrNameLst>
                                      </p:cBhvr>
                                      <p:to>
                                        <p:strVal val="visible"/>
                                      </p:to>
                                    </p:set>
                                    <p:anim calcmode="lin" valueType="num">
                                      <p:cBhvr>
                                        <p:cTn id="90" dur="500" fill="hold"/>
                                        <p:tgtEl>
                                          <p:spTgt spid="59420"/>
                                        </p:tgtEl>
                                        <p:attrNameLst>
                                          <p:attrName>ppt_x</p:attrName>
                                        </p:attrNameLst>
                                      </p:cBhvr>
                                      <p:tavLst>
                                        <p:tav tm="0">
                                          <p:val>
                                            <p:strVal val="#ppt_x+#ppt_w/2"/>
                                          </p:val>
                                        </p:tav>
                                        <p:tav tm="100000">
                                          <p:val>
                                            <p:strVal val="#ppt_x"/>
                                          </p:val>
                                        </p:tav>
                                      </p:tavLst>
                                    </p:anim>
                                    <p:anim calcmode="lin" valueType="num">
                                      <p:cBhvr>
                                        <p:cTn id="91" dur="500" fill="hold"/>
                                        <p:tgtEl>
                                          <p:spTgt spid="59420"/>
                                        </p:tgtEl>
                                        <p:attrNameLst>
                                          <p:attrName>ppt_y</p:attrName>
                                        </p:attrNameLst>
                                      </p:cBhvr>
                                      <p:tavLst>
                                        <p:tav tm="0">
                                          <p:val>
                                            <p:strVal val="#ppt_y"/>
                                          </p:val>
                                        </p:tav>
                                        <p:tav tm="100000">
                                          <p:val>
                                            <p:strVal val="#ppt_y"/>
                                          </p:val>
                                        </p:tav>
                                      </p:tavLst>
                                    </p:anim>
                                    <p:anim calcmode="lin" valueType="num">
                                      <p:cBhvr>
                                        <p:cTn id="92" dur="500" fill="hold"/>
                                        <p:tgtEl>
                                          <p:spTgt spid="59420"/>
                                        </p:tgtEl>
                                        <p:attrNameLst>
                                          <p:attrName>ppt_w</p:attrName>
                                        </p:attrNameLst>
                                      </p:cBhvr>
                                      <p:tavLst>
                                        <p:tav tm="0">
                                          <p:val>
                                            <p:fltVal val="0"/>
                                          </p:val>
                                        </p:tav>
                                        <p:tav tm="100000">
                                          <p:val>
                                            <p:strVal val="#ppt_w"/>
                                          </p:val>
                                        </p:tav>
                                      </p:tavLst>
                                    </p:anim>
                                    <p:anim calcmode="lin" valueType="num">
                                      <p:cBhvr>
                                        <p:cTn id="93" dur="500" fill="hold"/>
                                        <p:tgtEl>
                                          <p:spTgt spid="59420"/>
                                        </p:tgtEl>
                                        <p:attrNameLst>
                                          <p:attrName>ppt_h</p:attrName>
                                        </p:attrNameLst>
                                      </p:cBhvr>
                                      <p:tavLst>
                                        <p:tav tm="0">
                                          <p:val>
                                            <p:strVal val="#ppt_h"/>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nodeType="clickEffect">
                                  <p:stCondLst>
                                    <p:cond delay="0"/>
                                  </p:stCondLst>
                                  <p:childTnLst>
                                    <p:set>
                                      <p:cBhvr>
                                        <p:cTn id="97" dur="1" fill="hold">
                                          <p:stCondLst>
                                            <p:cond delay="0"/>
                                          </p:stCondLst>
                                        </p:cTn>
                                        <p:tgtEl>
                                          <p:spTgt spid="6"/>
                                        </p:tgtEl>
                                        <p:attrNameLst>
                                          <p:attrName>style.visibility</p:attrName>
                                        </p:attrNameLst>
                                      </p:cBhvr>
                                      <p:to>
                                        <p:strVal val="visible"/>
                                      </p:to>
                                    </p:set>
                                    <p:animEffect transition="in" filter="wipe(up)">
                                      <p:cBhvr>
                                        <p:cTn id="98" dur="500"/>
                                        <p:tgtEl>
                                          <p:spTgt spid="6"/>
                                        </p:tgtEl>
                                      </p:cBhvr>
                                    </p:animEffect>
                                  </p:childTnLst>
                                </p:cTn>
                              </p:par>
                            </p:childTnLst>
                          </p:cTn>
                        </p:par>
                        <p:par>
                          <p:cTn id="99" fill="hold">
                            <p:stCondLst>
                              <p:cond delay="500"/>
                            </p:stCondLst>
                            <p:childTnLst>
                              <p:par>
                                <p:cTn id="100" presetID="22" presetClass="entr" presetSubtype="8" fill="hold" grpId="0" nodeType="afterEffect">
                                  <p:stCondLst>
                                    <p:cond delay="0"/>
                                  </p:stCondLst>
                                  <p:childTnLst>
                                    <p:set>
                                      <p:cBhvr>
                                        <p:cTn id="101" dur="1" fill="hold">
                                          <p:stCondLst>
                                            <p:cond delay="0"/>
                                          </p:stCondLst>
                                        </p:cTn>
                                        <p:tgtEl>
                                          <p:spTgt spid="59426"/>
                                        </p:tgtEl>
                                        <p:attrNameLst>
                                          <p:attrName>style.visibility</p:attrName>
                                        </p:attrNameLst>
                                      </p:cBhvr>
                                      <p:to>
                                        <p:strVal val="visible"/>
                                      </p:to>
                                    </p:set>
                                    <p:animEffect transition="in" filter="wipe(left)">
                                      <p:cBhvr>
                                        <p:cTn id="102" dur="500"/>
                                        <p:tgtEl>
                                          <p:spTgt spid="5942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59428"/>
                                        </p:tgtEl>
                                        <p:attrNameLst>
                                          <p:attrName>style.visibility</p:attrName>
                                        </p:attrNameLst>
                                      </p:cBhvr>
                                      <p:to>
                                        <p:strVal val="visible"/>
                                      </p:to>
                                    </p:set>
                                    <p:animEffect transition="in" filter="wipe(left)">
                                      <p:cBhvr>
                                        <p:cTn id="107" dur="500"/>
                                        <p:tgtEl>
                                          <p:spTgt spid="59428"/>
                                        </p:tgtEl>
                                      </p:cBhvr>
                                    </p:animEffect>
                                  </p:childTnLst>
                                </p:cTn>
                              </p:par>
                            </p:childTnLst>
                          </p:cTn>
                        </p:par>
                      </p:childTnLst>
                    </p:cTn>
                  </p:par>
                  <p:par>
                    <p:cTn id="108" fill="hold">
                      <p:stCondLst>
                        <p:cond delay="indefinite"/>
                      </p:stCondLst>
                      <p:childTnLst>
                        <p:par>
                          <p:cTn id="109" fill="hold">
                            <p:stCondLst>
                              <p:cond delay="0"/>
                            </p:stCondLst>
                            <p:childTnLst>
                              <p:par>
                                <p:cTn id="110" presetID="16" presetClass="entr" presetSubtype="42" fill="hold" grpId="0" nodeType="clickEffect">
                                  <p:stCondLst>
                                    <p:cond delay="0"/>
                                  </p:stCondLst>
                                  <p:childTnLst>
                                    <p:set>
                                      <p:cBhvr>
                                        <p:cTn id="111" dur="1" fill="hold">
                                          <p:stCondLst>
                                            <p:cond delay="0"/>
                                          </p:stCondLst>
                                        </p:cTn>
                                        <p:tgtEl>
                                          <p:spTgt spid="59429"/>
                                        </p:tgtEl>
                                        <p:attrNameLst>
                                          <p:attrName>style.visibility</p:attrName>
                                        </p:attrNameLst>
                                      </p:cBhvr>
                                      <p:to>
                                        <p:strVal val="visible"/>
                                      </p:to>
                                    </p:set>
                                    <p:animEffect transition="in" filter="barn(outHorizontal)">
                                      <p:cBhvr>
                                        <p:cTn id="112" dur="500"/>
                                        <p:tgtEl>
                                          <p:spTgt spid="59429"/>
                                        </p:tgtEl>
                                      </p:cBhvr>
                                    </p:animEffect>
                                  </p:childTnLst>
                                </p:cTn>
                              </p:par>
                            </p:childTnLst>
                          </p:cTn>
                        </p:par>
                      </p:childTnLst>
                    </p:cTn>
                  </p:par>
                  <p:par>
                    <p:cTn id="113" fill="hold">
                      <p:stCondLst>
                        <p:cond delay="indefinite"/>
                      </p:stCondLst>
                      <p:childTnLst>
                        <p:par>
                          <p:cTn id="114" fill="hold">
                            <p:stCondLst>
                              <p:cond delay="0"/>
                            </p:stCondLst>
                            <p:childTnLst>
                              <p:par>
                                <p:cTn id="115" presetID="17" presetClass="entr" presetSubtype="8" fill="hold" grpId="0" nodeType="clickEffect">
                                  <p:stCondLst>
                                    <p:cond delay="0"/>
                                  </p:stCondLst>
                                  <p:childTnLst>
                                    <p:set>
                                      <p:cBhvr>
                                        <p:cTn id="116" dur="1" fill="hold">
                                          <p:stCondLst>
                                            <p:cond delay="0"/>
                                          </p:stCondLst>
                                        </p:cTn>
                                        <p:tgtEl>
                                          <p:spTgt spid="59430"/>
                                        </p:tgtEl>
                                        <p:attrNameLst>
                                          <p:attrName>style.visibility</p:attrName>
                                        </p:attrNameLst>
                                      </p:cBhvr>
                                      <p:to>
                                        <p:strVal val="visible"/>
                                      </p:to>
                                    </p:set>
                                    <p:anim calcmode="lin" valueType="num">
                                      <p:cBhvr>
                                        <p:cTn id="117" dur="500" fill="hold"/>
                                        <p:tgtEl>
                                          <p:spTgt spid="59430"/>
                                        </p:tgtEl>
                                        <p:attrNameLst>
                                          <p:attrName>ppt_x</p:attrName>
                                        </p:attrNameLst>
                                      </p:cBhvr>
                                      <p:tavLst>
                                        <p:tav tm="0">
                                          <p:val>
                                            <p:strVal val="#ppt_x-#ppt_w/2"/>
                                          </p:val>
                                        </p:tav>
                                        <p:tav tm="100000">
                                          <p:val>
                                            <p:strVal val="#ppt_x"/>
                                          </p:val>
                                        </p:tav>
                                      </p:tavLst>
                                    </p:anim>
                                    <p:anim calcmode="lin" valueType="num">
                                      <p:cBhvr>
                                        <p:cTn id="118" dur="500" fill="hold"/>
                                        <p:tgtEl>
                                          <p:spTgt spid="59430"/>
                                        </p:tgtEl>
                                        <p:attrNameLst>
                                          <p:attrName>ppt_y</p:attrName>
                                        </p:attrNameLst>
                                      </p:cBhvr>
                                      <p:tavLst>
                                        <p:tav tm="0">
                                          <p:val>
                                            <p:strVal val="#ppt_y"/>
                                          </p:val>
                                        </p:tav>
                                        <p:tav tm="100000">
                                          <p:val>
                                            <p:strVal val="#ppt_y"/>
                                          </p:val>
                                        </p:tav>
                                      </p:tavLst>
                                    </p:anim>
                                    <p:anim calcmode="lin" valueType="num">
                                      <p:cBhvr>
                                        <p:cTn id="119" dur="500" fill="hold"/>
                                        <p:tgtEl>
                                          <p:spTgt spid="59430"/>
                                        </p:tgtEl>
                                        <p:attrNameLst>
                                          <p:attrName>ppt_w</p:attrName>
                                        </p:attrNameLst>
                                      </p:cBhvr>
                                      <p:tavLst>
                                        <p:tav tm="0">
                                          <p:val>
                                            <p:fltVal val="0"/>
                                          </p:val>
                                        </p:tav>
                                        <p:tav tm="100000">
                                          <p:val>
                                            <p:strVal val="#ppt_w"/>
                                          </p:val>
                                        </p:tav>
                                      </p:tavLst>
                                    </p:anim>
                                    <p:anim calcmode="lin" valueType="num">
                                      <p:cBhvr>
                                        <p:cTn id="120" dur="500" fill="hold"/>
                                        <p:tgtEl>
                                          <p:spTgt spid="59430"/>
                                        </p:tgtEl>
                                        <p:attrNameLst>
                                          <p:attrName>ppt_h</p:attrName>
                                        </p:attrNameLst>
                                      </p:cBhvr>
                                      <p:tavLst>
                                        <p:tav tm="0">
                                          <p:val>
                                            <p:strVal val="#ppt_h"/>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17" presetClass="entr" presetSubtype="8" fill="hold" grpId="0" nodeType="clickEffect">
                                  <p:stCondLst>
                                    <p:cond delay="0"/>
                                  </p:stCondLst>
                                  <p:childTnLst>
                                    <p:set>
                                      <p:cBhvr>
                                        <p:cTn id="124" dur="1" fill="hold">
                                          <p:stCondLst>
                                            <p:cond delay="0"/>
                                          </p:stCondLst>
                                        </p:cTn>
                                        <p:tgtEl>
                                          <p:spTgt spid="59431"/>
                                        </p:tgtEl>
                                        <p:attrNameLst>
                                          <p:attrName>style.visibility</p:attrName>
                                        </p:attrNameLst>
                                      </p:cBhvr>
                                      <p:to>
                                        <p:strVal val="visible"/>
                                      </p:to>
                                    </p:set>
                                    <p:anim calcmode="lin" valueType="num">
                                      <p:cBhvr>
                                        <p:cTn id="125" dur="500" fill="hold"/>
                                        <p:tgtEl>
                                          <p:spTgt spid="59431"/>
                                        </p:tgtEl>
                                        <p:attrNameLst>
                                          <p:attrName>ppt_x</p:attrName>
                                        </p:attrNameLst>
                                      </p:cBhvr>
                                      <p:tavLst>
                                        <p:tav tm="0">
                                          <p:val>
                                            <p:strVal val="#ppt_x-#ppt_w/2"/>
                                          </p:val>
                                        </p:tav>
                                        <p:tav tm="100000">
                                          <p:val>
                                            <p:strVal val="#ppt_x"/>
                                          </p:val>
                                        </p:tav>
                                      </p:tavLst>
                                    </p:anim>
                                    <p:anim calcmode="lin" valueType="num">
                                      <p:cBhvr>
                                        <p:cTn id="126" dur="500" fill="hold"/>
                                        <p:tgtEl>
                                          <p:spTgt spid="59431"/>
                                        </p:tgtEl>
                                        <p:attrNameLst>
                                          <p:attrName>ppt_y</p:attrName>
                                        </p:attrNameLst>
                                      </p:cBhvr>
                                      <p:tavLst>
                                        <p:tav tm="0">
                                          <p:val>
                                            <p:strVal val="#ppt_y"/>
                                          </p:val>
                                        </p:tav>
                                        <p:tav tm="100000">
                                          <p:val>
                                            <p:strVal val="#ppt_y"/>
                                          </p:val>
                                        </p:tav>
                                      </p:tavLst>
                                    </p:anim>
                                    <p:anim calcmode="lin" valueType="num">
                                      <p:cBhvr>
                                        <p:cTn id="127" dur="500" fill="hold"/>
                                        <p:tgtEl>
                                          <p:spTgt spid="59431"/>
                                        </p:tgtEl>
                                        <p:attrNameLst>
                                          <p:attrName>ppt_w</p:attrName>
                                        </p:attrNameLst>
                                      </p:cBhvr>
                                      <p:tavLst>
                                        <p:tav tm="0">
                                          <p:val>
                                            <p:fltVal val="0"/>
                                          </p:val>
                                        </p:tav>
                                        <p:tav tm="100000">
                                          <p:val>
                                            <p:strVal val="#ppt_w"/>
                                          </p:val>
                                        </p:tav>
                                      </p:tavLst>
                                    </p:anim>
                                    <p:anim calcmode="lin" valueType="num">
                                      <p:cBhvr>
                                        <p:cTn id="128" dur="500" fill="hold"/>
                                        <p:tgtEl>
                                          <p:spTgt spid="59431"/>
                                        </p:tgtEl>
                                        <p:attrNameLst>
                                          <p:attrName>ppt_h</p:attrName>
                                        </p:attrNameLst>
                                      </p:cBhvr>
                                      <p:tavLst>
                                        <p:tav tm="0">
                                          <p:val>
                                            <p:strVal val="#ppt_h"/>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17" presetClass="entr" presetSubtype="10" fill="hold" grpId="0" nodeType="clickEffect">
                                  <p:stCondLst>
                                    <p:cond delay="0"/>
                                  </p:stCondLst>
                                  <p:childTnLst>
                                    <p:set>
                                      <p:cBhvr>
                                        <p:cTn id="132" dur="1" fill="hold">
                                          <p:stCondLst>
                                            <p:cond delay="0"/>
                                          </p:stCondLst>
                                        </p:cTn>
                                        <p:tgtEl>
                                          <p:spTgt spid="59432"/>
                                        </p:tgtEl>
                                        <p:attrNameLst>
                                          <p:attrName>style.visibility</p:attrName>
                                        </p:attrNameLst>
                                      </p:cBhvr>
                                      <p:to>
                                        <p:strVal val="visible"/>
                                      </p:to>
                                    </p:set>
                                    <p:anim calcmode="lin" valueType="num">
                                      <p:cBhvr>
                                        <p:cTn id="133" dur="500" fill="hold"/>
                                        <p:tgtEl>
                                          <p:spTgt spid="59432"/>
                                        </p:tgtEl>
                                        <p:attrNameLst>
                                          <p:attrName>ppt_w</p:attrName>
                                        </p:attrNameLst>
                                      </p:cBhvr>
                                      <p:tavLst>
                                        <p:tav tm="0">
                                          <p:val>
                                            <p:fltVal val="0"/>
                                          </p:val>
                                        </p:tav>
                                        <p:tav tm="100000">
                                          <p:val>
                                            <p:strVal val="#ppt_w"/>
                                          </p:val>
                                        </p:tav>
                                      </p:tavLst>
                                    </p:anim>
                                    <p:anim calcmode="lin" valueType="num">
                                      <p:cBhvr>
                                        <p:cTn id="134" dur="500" fill="hold"/>
                                        <p:tgtEl>
                                          <p:spTgt spid="59432"/>
                                        </p:tgtEl>
                                        <p:attrNameLst>
                                          <p:attrName>ppt_h</p:attrName>
                                        </p:attrNameLst>
                                      </p:cBhvr>
                                      <p:tavLst>
                                        <p:tav tm="0">
                                          <p:val>
                                            <p:strVal val="#ppt_h"/>
                                          </p:val>
                                        </p:tav>
                                        <p:tav tm="100000">
                                          <p:val>
                                            <p:strVal val="#ppt_h"/>
                                          </p:val>
                                        </p:tav>
                                      </p:tavLst>
                                    </p:anim>
                                  </p:childTnLst>
                                </p:cTn>
                              </p:par>
                            </p:childTnLst>
                          </p:cTn>
                        </p:par>
                      </p:childTnLst>
                    </p:cTn>
                  </p:par>
                  <p:par>
                    <p:cTn id="135" fill="hold">
                      <p:stCondLst>
                        <p:cond delay="indefinite"/>
                      </p:stCondLst>
                      <p:childTnLst>
                        <p:par>
                          <p:cTn id="136" fill="hold">
                            <p:stCondLst>
                              <p:cond delay="0"/>
                            </p:stCondLst>
                            <p:childTnLst>
                              <p:par>
                                <p:cTn id="137" presetID="16" presetClass="entr" presetSubtype="42" fill="hold" grpId="0" nodeType="clickEffect">
                                  <p:stCondLst>
                                    <p:cond delay="0"/>
                                  </p:stCondLst>
                                  <p:childTnLst>
                                    <p:set>
                                      <p:cBhvr>
                                        <p:cTn id="138" dur="1" fill="hold">
                                          <p:stCondLst>
                                            <p:cond delay="0"/>
                                          </p:stCondLst>
                                        </p:cTn>
                                        <p:tgtEl>
                                          <p:spTgt spid="59436"/>
                                        </p:tgtEl>
                                        <p:attrNameLst>
                                          <p:attrName>style.visibility</p:attrName>
                                        </p:attrNameLst>
                                      </p:cBhvr>
                                      <p:to>
                                        <p:strVal val="visible"/>
                                      </p:to>
                                    </p:set>
                                    <p:animEffect transition="in" filter="barn(outHorizontal)">
                                      <p:cBhvr>
                                        <p:cTn id="139" dur="500"/>
                                        <p:tgtEl>
                                          <p:spTgt spid="59436"/>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59433"/>
                                        </p:tgtEl>
                                        <p:attrNameLst>
                                          <p:attrName>style.visibility</p:attrName>
                                        </p:attrNameLst>
                                      </p:cBhvr>
                                      <p:to>
                                        <p:strVal val="visible"/>
                                      </p:to>
                                    </p:set>
                                    <p:animEffect transition="in" filter="wipe(left)">
                                      <p:cBhvr>
                                        <p:cTn id="144" dur="500"/>
                                        <p:tgtEl>
                                          <p:spTgt spid="59433"/>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59434"/>
                                        </p:tgtEl>
                                        <p:attrNameLst>
                                          <p:attrName>style.visibility</p:attrName>
                                        </p:attrNameLst>
                                      </p:cBhvr>
                                      <p:to>
                                        <p:strVal val="visible"/>
                                      </p:to>
                                    </p:set>
                                    <p:animEffect transition="in" filter="wipe(left)">
                                      <p:cBhvr>
                                        <p:cTn id="149" dur="500"/>
                                        <p:tgtEl>
                                          <p:spTgt spid="59434"/>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1" fill="hold" grpId="0" nodeType="clickEffect">
                                  <p:stCondLst>
                                    <p:cond delay="0"/>
                                  </p:stCondLst>
                                  <p:childTnLst>
                                    <p:set>
                                      <p:cBhvr>
                                        <p:cTn id="153" dur="1" fill="hold">
                                          <p:stCondLst>
                                            <p:cond delay="0"/>
                                          </p:stCondLst>
                                        </p:cTn>
                                        <p:tgtEl>
                                          <p:spTgt spid="59438"/>
                                        </p:tgtEl>
                                        <p:attrNameLst>
                                          <p:attrName>style.visibility</p:attrName>
                                        </p:attrNameLst>
                                      </p:cBhvr>
                                      <p:to>
                                        <p:strVal val="visible"/>
                                      </p:to>
                                    </p:set>
                                    <p:animEffect transition="in" filter="wipe(up)">
                                      <p:cBhvr>
                                        <p:cTn id="154" dur="500"/>
                                        <p:tgtEl>
                                          <p:spTgt spid="59438"/>
                                        </p:tgtEl>
                                      </p:cBhvr>
                                    </p:animEffect>
                                  </p:childTnLst>
                                </p:cTn>
                              </p:par>
                            </p:childTnLst>
                          </p:cTn>
                        </p:par>
                        <p:par>
                          <p:cTn id="155" fill="hold">
                            <p:stCondLst>
                              <p:cond delay="500"/>
                            </p:stCondLst>
                            <p:childTnLst>
                              <p:par>
                                <p:cTn id="156" presetID="22" presetClass="entr" presetSubtype="2" fill="hold" grpId="0" nodeType="afterEffect">
                                  <p:stCondLst>
                                    <p:cond delay="0"/>
                                  </p:stCondLst>
                                  <p:childTnLst>
                                    <p:set>
                                      <p:cBhvr>
                                        <p:cTn id="157" dur="1" fill="hold">
                                          <p:stCondLst>
                                            <p:cond delay="0"/>
                                          </p:stCondLst>
                                        </p:cTn>
                                        <p:tgtEl>
                                          <p:spTgt spid="59439"/>
                                        </p:tgtEl>
                                        <p:attrNameLst>
                                          <p:attrName>style.visibility</p:attrName>
                                        </p:attrNameLst>
                                      </p:cBhvr>
                                      <p:to>
                                        <p:strVal val="visible"/>
                                      </p:to>
                                    </p:set>
                                    <p:animEffect transition="in" filter="wipe(right)">
                                      <p:cBhvr>
                                        <p:cTn id="158" dur="500"/>
                                        <p:tgtEl>
                                          <p:spTgt spid="59439"/>
                                        </p:tgtEl>
                                      </p:cBhvr>
                                    </p:animEffect>
                                  </p:childTnLst>
                                </p:cTn>
                              </p:par>
                            </p:childTnLst>
                          </p:cTn>
                        </p:par>
                      </p:childTnLst>
                    </p:cTn>
                  </p:par>
                  <p:par>
                    <p:cTn id="159" fill="hold">
                      <p:stCondLst>
                        <p:cond delay="indefinite"/>
                      </p:stCondLst>
                      <p:childTnLst>
                        <p:par>
                          <p:cTn id="160" fill="hold">
                            <p:stCondLst>
                              <p:cond delay="0"/>
                            </p:stCondLst>
                            <p:childTnLst>
                              <p:par>
                                <p:cTn id="161" presetID="17" presetClass="entr" presetSubtype="10" fill="hold" grpId="0" nodeType="clickEffect">
                                  <p:stCondLst>
                                    <p:cond delay="0"/>
                                  </p:stCondLst>
                                  <p:childTnLst>
                                    <p:set>
                                      <p:cBhvr>
                                        <p:cTn id="162" dur="1" fill="hold">
                                          <p:stCondLst>
                                            <p:cond delay="0"/>
                                          </p:stCondLst>
                                        </p:cTn>
                                        <p:tgtEl>
                                          <p:spTgt spid="59437"/>
                                        </p:tgtEl>
                                        <p:attrNameLst>
                                          <p:attrName>style.visibility</p:attrName>
                                        </p:attrNameLst>
                                      </p:cBhvr>
                                      <p:to>
                                        <p:strVal val="visible"/>
                                      </p:to>
                                    </p:set>
                                    <p:anim calcmode="lin" valueType="num">
                                      <p:cBhvr>
                                        <p:cTn id="163" dur="500" fill="hold"/>
                                        <p:tgtEl>
                                          <p:spTgt spid="59437"/>
                                        </p:tgtEl>
                                        <p:attrNameLst>
                                          <p:attrName>ppt_w</p:attrName>
                                        </p:attrNameLst>
                                      </p:cBhvr>
                                      <p:tavLst>
                                        <p:tav tm="0">
                                          <p:val>
                                            <p:fltVal val="0"/>
                                          </p:val>
                                        </p:tav>
                                        <p:tav tm="100000">
                                          <p:val>
                                            <p:strVal val="#ppt_w"/>
                                          </p:val>
                                        </p:tav>
                                      </p:tavLst>
                                    </p:anim>
                                    <p:anim calcmode="lin" valueType="num">
                                      <p:cBhvr>
                                        <p:cTn id="164" dur="500" fill="hold"/>
                                        <p:tgtEl>
                                          <p:spTgt spid="59437"/>
                                        </p:tgtEl>
                                        <p:attrNameLst>
                                          <p:attrName>ppt_h</p:attrName>
                                        </p:attrNameLst>
                                      </p:cBhvr>
                                      <p:tavLst>
                                        <p:tav tm="0">
                                          <p:val>
                                            <p:strVal val="#ppt_h"/>
                                          </p:val>
                                        </p:tav>
                                        <p:tav tm="100000">
                                          <p:val>
                                            <p:strVal val="#ppt_h"/>
                                          </p:val>
                                        </p:tav>
                                      </p:tavLst>
                                    </p:anim>
                                  </p:childTnLst>
                                </p:cTn>
                              </p:par>
                            </p:childTnLst>
                          </p:cTn>
                        </p:par>
                      </p:childTnLst>
                    </p:cTn>
                  </p:par>
                  <p:par>
                    <p:cTn id="165" fill="hold">
                      <p:stCondLst>
                        <p:cond delay="indefinite"/>
                      </p:stCondLst>
                      <p:childTnLst>
                        <p:par>
                          <p:cTn id="166" fill="hold">
                            <p:stCondLst>
                              <p:cond delay="0"/>
                            </p:stCondLst>
                            <p:childTnLst>
                              <p:par>
                                <p:cTn id="167" presetID="22" presetClass="entr" presetSubtype="1" fill="hold" grpId="0" nodeType="clickEffect">
                                  <p:stCondLst>
                                    <p:cond delay="0"/>
                                  </p:stCondLst>
                                  <p:childTnLst>
                                    <p:set>
                                      <p:cBhvr>
                                        <p:cTn id="168" dur="1" fill="hold">
                                          <p:stCondLst>
                                            <p:cond delay="0"/>
                                          </p:stCondLst>
                                        </p:cTn>
                                        <p:tgtEl>
                                          <p:spTgt spid="59441"/>
                                        </p:tgtEl>
                                        <p:attrNameLst>
                                          <p:attrName>style.visibility</p:attrName>
                                        </p:attrNameLst>
                                      </p:cBhvr>
                                      <p:to>
                                        <p:strVal val="visible"/>
                                      </p:to>
                                    </p:set>
                                    <p:animEffect transition="in" filter="wipe(up)">
                                      <p:cBhvr>
                                        <p:cTn id="169" dur="500"/>
                                        <p:tgtEl>
                                          <p:spTgt spid="59441"/>
                                        </p:tgtEl>
                                      </p:cBhvr>
                                    </p:animEffect>
                                  </p:childTnLst>
                                </p:cTn>
                              </p:par>
                            </p:childTnLst>
                          </p:cTn>
                        </p:par>
                      </p:childTnLst>
                    </p:cTn>
                  </p:par>
                  <p:par>
                    <p:cTn id="170" fill="hold">
                      <p:stCondLst>
                        <p:cond delay="indefinite"/>
                      </p:stCondLst>
                      <p:childTnLst>
                        <p:par>
                          <p:cTn id="171" fill="hold">
                            <p:stCondLst>
                              <p:cond delay="0"/>
                            </p:stCondLst>
                            <p:childTnLst>
                              <p:par>
                                <p:cTn id="172" presetID="17" presetClass="entr" presetSubtype="10" fill="hold" grpId="0" nodeType="clickEffect">
                                  <p:stCondLst>
                                    <p:cond delay="0"/>
                                  </p:stCondLst>
                                  <p:childTnLst>
                                    <p:set>
                                      <p:cBhvr>
                                        <p:cTn id="173" dur="1" fill="hold">
                                          <p:stCondLst>
                                            <p:cond delay="0"/>
                                          </p:stCondLst>
                                        </p:cTn>
                                        <p:tgtEl>
                                          <p:spTgt spid="59440"/>
                                        </p:tgtEl>
                                        <p:attrNameLst>
                                          <p:attrName>style.visibility</p:attrName>
                                        </p:attrNameLst>
                                      </p:cBhvr>
                                      <p:to>
                                        <p:strVal val="visible"/>
                                      </p:to>
                                    </p:set>
                                    <p:anim calcmode="lin" valueType="num">
                                      <p:cBhvr>
                                        <p:cTn id="174" dur="500" fill="hold"/>
                                        <p:tgtEl>
                                          <p:spTgt spid="59440"/>
                                        </p:tgtEl>
                                        <p:attrNameLst>
                                          <p:attrName>ppt_w</p:attrName>
                                        </p:attrNameLst>
                                      </p:cBhvr>
                                      <p:tavLst>
                                        <p:tav tm="0">
                                          <p:val>
                                            <p:fltVal val="0"/>
                                          </p:val>
                                        </p:tav>
                                        <p:tav tm="100000">
                                          <p:val>
                                            <p:strVal val="#ppt_w"/>
                                          </p:val>
                                        </p:tav>
                                      </p:tavLst>
                                    </p:anim>
                                    <p:anim calcmode="lin" valueType="num">
                                      <p:cBhvr>
                                        <p:cTn id="175" dur="500" fill="hold"/>
                                        <p:tgtEl>
                                          <p:spTgt spid="5944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8" grpId="0" animBg="1"/>
      <p:bldP spid="59401" grpId="0"/>
      <p:bldP spid="59408" grpId="0"/>
      <p:bldP spid="59409" grpId="0" animBg="1"/>
      <p:bldP spid="59410" grpId="0" animBg="1"/>
      <p:bldP spid="59411" grpId="0"/>
      <p:bldP spid="59412" grpId="0"/>
      <p:bldP spid="59415" grpId="0" animBg="1"/>
      <p:bldP spid="59416" grpId="0"/>
      <p:bldP spid="59419" grpId="0"/>
      <p:bldP spid="59420" grpId="0"/>
      <p:bldP spid="59421" grpId="0" animBg="1"/>
      <p:bldP spid="59423" grpId="0" animBg="1"/>
      <p:bldP spid="59426" grpId="0" animBg="1"/>
      <p:bldP spid="59428" grpId="0"/>
      <p:bldP spid="59429" grpId="0" animBg="1"/>
      <p:bldP spid="59430" grpId="0"/>
      <p:bldP spid="59431" grpId="0"/>
      <p:bldP spid="59432" grpId="0"/>
      <p:bldP spid="59433" grpId="0"/>
      <p:bldP spid="59434" grpId="0"/>
      <p:bldP spid="59436" grpId="0" animBg="1"/>
      <p:bldP spid="59437" grpId="0"/>
      <p:bldP spid="59438" grpId="0" animBg="1"/>
      <p:bldP spid="59439" grpId="0" animBg="1"/>
      <p:bldP spid="59440" grpId="0"/>
      <p:bldP spid="5944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idx="1"/>
          </p:nvPr>
        </p:nvSpPr>
        <p:spPr>
          <a:xfrm>
            <a:off x="1981200" y="1484784"/>
            <a:ext cx="8229600" cy="5069160"/>
          </a:xfrm>
        </p:spPr>
        <p:txBody>
          <a:bodyPr>
            <a:normAutofit fontScale="85000" lnSpcReduction="20000"/>
          </a:bodyPr>
          <a:lstStyle/>
          <a:p>
            <a:pPr>
              <a:lnSpc>
                <a:spcPct val="120000"/>
              </a:lnSpc>
            </a:pPr>
            <a:r>
              <a:rPr lang="zh-CN" altLang="en-US" kern="0" dirty="0"/>
              <a:t>什么是数据、数据结构</a:t>
            </a:r>
            <a:r>
              <a:rPr lang="en-US" altLang="zh-CN" kern="0" dirty="0"/>
              <a:t>?</a:t>
            </a:r>
          </a:p>
          <a:p>
            <a:pPr>
              <a:lnSpc>
                <a:spcPct val="120000"/>
              </a:lnSpc>
            </a:pPr>
            <a:r>
              <a:rPr lang="zh-CN" altLang="en-US" kern="0" dirty="0"/>
              <a:t>本书主要研究哪几种数据结构？</a:t>
            </a:r>
            <a:endParaRPr lang="en-US" altLang="zh-CN" kern="0" dirty="0"/>
          </a:p>
          <a:p>
            <a:pPr>
              <a:lnSpc>
                <a:spcPct val="120000"/>
              </a:lnSpc>
            </a:pPr>
            <a:r>
              <a:rPr lang="zh-CN" altLang="en-US" kern="0" dirty="0"/>
              <a:t>什么是数据结构、逻辑结构、物理结构？</a:t>
            </a:r>
          </a:p>
          <a:p>
            <a:pPr>
              <a:lnSpc>
                <a:spcPct val="120000"/>
              </a:lnSpc>
            </a:pPr>
            <a:r>
              <a:rPr lang="zh-CN" altLang="en-US" kern="0" dirty="0"/>
              <a:t>什么是数据对象、数据元素、数据项，及其之间的关系</a:t>
            </a:r>
            <a:r>
              <a:rPr lang="en-US" altLang="zh-CN" kern="0" dirty="0"/>
              <a:t>?</a:t>
            </a:r>
          </a:p>
          <a:p>
            <a:pPr>
              <a:lnSpc>
                <a:spcPct val="120000"/>
              </a:lnSpc>
            </a:pPr>
            <a:r>
              <a:rPr lang="zh-CN" altLang="en-US" kern="0" dirty="0"/>
              <a:t>什么是数据类型、抽象数据类型</a:t>
            </a:r>
            <a:r>
              <a:rPr lang="en-US" altLang="zh-CN" kern="0" dirty="0"/>
              <a:t>? </a:t>
            </a:r>
          </a:p>
          <a:p>
            <a:pPr>
              <a:lnSpc>
                <a:spcPct val="120000"/>
              </a:lnSpc>
            </a:pPr>
            <a:r>
              <a:rPr lang="zh-CN" altLang="en-US" kern="0" dirty="0"/>
              <a:t>抽象数据类型的结构、表示、实现。</a:t>
            </a:r>
            <a:endParaRPr lang="en-US" altLang="zh-CN" kern="0" dirty="0"/>
          </a:p>
          <a:p>
            <a:pPr>
              <a:lnSpc>
                <a:spcPct val="120000"/>
              </a:lnSpc>
            </a:pPr>
            <a:r>
              <a:rPr lang="zh-CN" altLang="en-US" kern="0" dirty="0"/>
              <a:t>什么是算法</a:t>
            </a:r>
            <a:r>
              <a:rPr lang="en-US" altLang="zh-CN" dirty="0"/>
              <a:t>(</a:t>
            </a:r>
            <a:r>
              <a:rPr lang="zh-CN" altLang="en-US" dirty="0"/>
              <a:t>基本结构</a:t>
            </a:r>
            <a:r>
              <a:rPr lang="en-US" altLang="zh-CN" dirty="0"/>
              <a:t>)</a:t>
            </a:r>
            <a:r>
              <a:rPr lang="zh-CN" altLang="en-US" kern="0" dirty="0"/>
              <a:t>、算法有哪几个重要特性、 算法设计的要求是什么、算法的时间复杂度如何度量</a:t>
            </a:r>
            <a:r>
              <a:rPr lang="en-US" altLang="zh-CN" kern="0" dirty="0"/>
              <a:t>?</a:t>
            </a:r>
          </a:p>
          <a:p>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7" name="WordArt 4"/>
          <p:cNvSpPr>
            <a:spLocks noChangeArrowheads="1" noChangeShapeType="1" noTextEdit="1"/>
          </p:cNvSpPr>
          <p:nvPr/>
        </p:nvSpPr>
        <p:spPr bwMode="gray">
          <a:xfrm>
            <a:off x="3287688" y="2883024"/>
            <a:ext cx="5562600" cy="762000"/>
          </a:xfrm>
          <a:prstGeom prst="rect">
            <a:avLst/>
          </a:prstGeom>
        </p:spPr>
        <p:txBody>
          <a:bodyPr wrap="none" fromWordArt="1">
            <a:prstTxWarp prst="textDeflate">
              <a:avLst>
                <a:gd name="adj" fmla="val 0"/>
              </a:avLst>
            </a:prstTxWarp>
          </a:bodyPr>
          <a:lstStyle/>
          <a:p>
            <a:pPr algn="ctr"/>
            <a:r>
              <a:rPr lang="en-US" altLang="zh-CN" sz="3600" b="1" kern="10" dirty="0">
                <a:ln w="19050">
                  <a:solidFill>
                    <a:schemeClr val="bg1"/>
                  </a:solidFill>
                  <a:round/>
                  <a:headEnd/>
                  <a:tailEnd/>
                </a:ln>
                <a:gradFill rotWithShape="1">
                  <a:gsLst>
                    <a:gs pos="0">
                      <a:schemeClr val="accent1"/>
                    </a:gs>
                    <a:gs pos="100000">
                      <a:schemeClr val="hlink"/>
                    </a:gs>
                  </a:gsLst>
                  <a:lin ang="0" scaled="1"/>
                </a:gradFill>
                <a:effectLst>
                  <a:outerShdw dist="63500" dir="2212194" algn="ctr" rotWithShape="0">
                    <a:schemeClr val="tx1">
                      <a:alpha val="50000"/>
                    </a:schemeClr>
                  </a:outerShdw>
                </a:effectLst>
                <a:latin typeface="Arial"/>
                <a:cs typeface="Arial"/>
              </a:rPr>
              <a:t>Thank You !</a:t>
            </a:r>
            <a:endParaRPr lang="zh-CN" altLang="en-US" sz="3600" b="1" kern="10" dirty="0">
              <a:ln w="19050">
                <a:solidFill>
                  <a:schemeClr val="bg1"/>
                </a:solidFill>
                <a:round/>
                <a:headEnd/>
                <a:tailEnd/>
              </a:ln>
              <a:gradFill rotWithShape="1">
                <a:gsLst>
                  <a:gs pos="0">
                    <a:schemeClr val="accent1"/>
                  </a:gs>
                  <a:gs pos="100000">
                    <a:schemeClr val="hlink"/>
                  </a:gs>
                </a:gsLst>
                <a:lin ang="0" scaled="1"/>
              </a:gradFill>
              <a:effectLst>
                <a:outerShdw dist="63500" dir="2212194" algn="ctr" rotWithShape="0">
                  <a:schemeClr val="tx1">
                    <a:alpha val="50000"/>
                  </a:schemeClr>
                </a:outerShdw>
              </a:effectLst>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3889</TotalTime>
  <Words>4150</Words>
  <Application>Microsoft Office PowerPoint</Application>
  <PresentationFormat>宽屏</PresentationFormat>
  <Paragraphs>503</Paragraphs>
  <Slides>47</Slides>
  <Notes>19</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47</vt:i4>
      </vt:variant>
    </vt:vector>
  </HeadingPairs>
  <TitlesOfParts>
    <vt:vector size="63" baseType="lpstr">
      <vt:lpstr>华文新魏</vt:lpstr>
      <vt:lpstr>华文行楷</vt:lpstr>
      <vt:lpstr>华文中宋</vt:lpstr>
      <vt:lpstr>楷体_GB2312</vt:lpstr>
      <vt:lpstr>隶书</vt:lpstr>
      <vt:lpstr>宋体</vt:lpstr>
      <vt:lpstr>Arial</vt:lpstr>
      <vt:lpstr>Calibri</vt:lpstr>
      <vt:lpstr>Cambria Math</vt:lpstr>
      <vt:lpstr>Tahoma</vt:lpstr>
      <vt:lpstr>Times New Roman</vt:lpstr>
      <vt:lpstr>Wingdings</vt:lpstr>
      <vt:lpstr>Office 主题</vt:lpstr>
      <vt:lpstr>Visio</vt:lpstr>
      <vt:lpstr>公式</vt:lpstr>
      <vt:lpstr>VISIO</vt:lpstr>
      <vt:lpstr>PowerPoint 演示文稿</vt:lpstr>
      <vt:lpstr>PowerPoint 演示文稿</vt:lpstr>
      <vt:lpstr>PowerPoint 演示文稿</vt:lpstr>
      <vt:lpstr>课程安排及要求</vt:lpstr>
      <vt:lpstr>课程安排及要求（续）</vt:lpstr>
      <vt:lpstr>软件设计与开发人员</vt:lpstr>
      <vt:lpstr>PowerPoint 演示文稿</vt:lpstr>
      <vt:lpstr>PowerPoint 演示文稿</vt:lpstr>
      <vt:lpstr>PowerPoint 演示文稿</vt:lpstr>
      <vt:lpstr>本课程组织结构</vt:lpstr>
      <vt:lpstr>PowerPoint 演示文稿</vt:lpstr>
      <vt:lpstr>基本概念和术语</vt:lpstr>
      <vt:lpstr>基本概念和术语</vt:lpstr>
      <vt:lpstr>PowerPoint 演示文稿</vt:lpstr>
      <vt:lpstr>关系、关联的表示--用序偶表示</vt:lpstr>
      <vt:lpstr>基本概念和术语(续)</vt:lpstr>
      <vt:lpstr>基本概念和术语(续)</vt:lpstr>
      <vt:lpstr>基本概念和术语(续)</vt:lpstr>
      <vt:lpstr>PowerPoint 演示文稿</vt:lpstr>
      <vt:lpstr>PowerPoint 演示文稿</vt:lpstr>
      <vt:lpstr>ADT的定义</vt:lpstr>
      <vt:lpstr>一个例子---二元组的定义</vt:lpstr>
      <vt:lpstr>类C语言简介</vt:lpstr>
      <vt:lpstr>抽象数据类型的表示</vt:lpstr>
      <vt:lpstr>抽象数据类型的实现</vt:lpstr>
      <vt:lpstr>思考</vt:lpstr>
      <vt:lpstr>抽象数据类型矩形的定义</vt:lpstr>
      <vt:lpstr>矩形抽象数据类型的表示   </vt:lpstr>
      <vt:lpstr>矩形ADT的实现</vt:lpstr>
      <vt:lpstr>ADT小结</vt:lpstr>
      <vt:lpstr>PowerPoint 演示文稿</vt:lpstr>
      <vt:lpstr>算法---是对特定问题求解步骤的一种描述，它是指令的有限序列，其中每一条指令表示一个或多个操作。</vt:lpstr>
      <vt:lpstr>PowerPoint 演示文稿</vt:lpstr>
      <vt:lpstr>算法的表现形式</vt:lpstr>
      <vt:lpstr>算法效率的度量</vt:lpstr>
      <vt:lpstr>PowerPoint 演示文稿</vt:lpstr>
      <vt:lpstr>PowerPoint 演示文稿</vt:lpstr>
      <vt:lpstr>f(n)的求法</vt:lpstr>
      <vt:lpstr>PowerPoint 演示文稿</vt:lpstr>
      <vt:lpstr>常见函数的增长率</vt:lpstr>
      <vt:lpstr>时间复杂度的三种具体情况</vt:lpstr>
      <vt:lpstr>PowerPoint 演示文稿</vt:lpstr>
      <vt:lpstr>PowerPoint 演示文稿</vt:lpstr>
      <vt:lpstr>PowerPoint 演示文稿</vt:lpstr>
      <vt:lpstr>PowerPoint 演示文稿</vt:lpstr>
      <vt:lpstr>小结</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润资 陈</cp:lastModifiedBy>
  <cp:revision>347</cp:revision>
  <dcterms:created xsi:type="dcterms:W3CDTF">2010-01-05T06:25:07Z</dcterms:created>
  <dcterms:modified xsi:type="dcterms:W3CDTF">2023-09-12T06:10:28Z</dcterms:modified>
</cp:coreProperties>
</file>