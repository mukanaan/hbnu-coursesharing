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av" ContentType="audio/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7"/>
  </p:notesMasterIdLst>
  <p:sldIdLst>
    <p:sldId id="301" r:id="rId2"/>
    <p:sldId id="340" r:id="rId3"/>
    <p:sldId id="339" r:id="rId4"/>
    <p:sldId id="312" r:id="rId5"/>
    <p:sldId id="347" r:id="rId6"/>
    <p:sldId id="341" r:id="rId7"/>
    <p:sldId id="281" r:id="rId8"/>
    <p:sldId id="329" r:id="rId9"/>
    <p:sldId id="282" r:id="rId10"/>
    <p:sldId id="331" r:id="rId11"/>
    <p:sldId id="342" r:id="rId12"/>
    <p:sldId id="283" r:id="rId13"/>
    <p:sldId id="257" r:id="rId14"/>
    <p:sldId id="262" r:id="rId15"/>
    <p:sldId id="263" r:id="rId16"/>
    <p:sldId id="323" r:id="rId17"/>
    <p:sldId id="265" r:id="rId18"/>
    <p:sldId id="330" r:id="rId19"/>
    <p:sldId id="264" r:id="rId20"/>
    <p:sldId id="267" r:id="rId21"/>
    <p:sldId id="332" r:id="rId22"/>
    <p:sldId id="333" r:id="rId23"/>
    <p:sldId id="324" r:id="rId24"/>
    <p:sldId id="268" r:id="rId25"/>
    <p:sldId id="325" r:id="rId26"/>
    <p:sldId id="269" r:id="rId27"/>
    <p:sldId id="345" r:id="rId28"/>
    <p:sldId id="343" r:id="rId29"/>
    <p:sldId id="271" r:id="rId30"/>
    <p:sldId id="272" r:id="rId31"/>
    <p:sldId id="313" r:id="rId32"/>
    <p:sldId id="303" r:id="rId33"/>
    <p:sldId id="273" r:id="rId34"/>
    <p:sldId id="346" r:id="rId35"/>
    <p:sldId id="344" r:id="rId36"/>
    <p:sldId id="274" r:id="rId37"/>
    <p:sldId id="275" r:id="rId38"/>
    <p:sldId id="307" r:id="rId39"/>
    <p:sldId id="310" r:id="rId40"/>
    <p:sldId id="309" r:id="rId41"/>
    <p:sldId id="311" r:id="rId42"/>
    <p:sldId id="327" r:id="rId43"/>
    <p:sldId id="276" r:id="rId44"/>
    <p:sldId id="277" r:id="rId45"/>
    <p:sldId id="285" r:id="rId46"/>
    <p:sldId id="326" r:id="rId47"/>
    <p:sldId id="286" r:id="rId48"/>
    <p:sldId id="315" r:id="rId49"/>
    <p:sldId id="348" r:id="rId50"/>
    <p:sldId id="317" r:id="rId51"/>
    <p:sldId id="318" r:id="rId52"/>
    <p:sldId id="334" r:id="rId53"/>
    <p:sldId id="335" r:id="rId54"/>
    <p:sldId id="336" r:id="rId55"/>
    <p:sldId id="305" r:id="rId56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itchFamily="18" charset="0"/>
        <a:ea typeface="楷体_GB2312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itchFamily="18" charset="0"/>
        <a:ea typeface="楷体_GB2312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itchFamily="18" charset="0"/>
        <a:ea typeface="楷体_GB2312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itchFamily="18" charset="0"/>
        <a:ea typeface="楷体_GB2312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itchFamily="18" charset="0"/>
        <a:ea typeface="楷体_GB2312" pitchFamily="49" charset="-122"/>
        <a:cs typeface="+mn-cs"/>
      </a:defRPr>
    </a:lvl5pPr>
    <a:lvl6pPr marL="2286000" algn="l" defTabSz="914400" rtl="0" eaLnBrk="1" latinLnBrk="0" hangingPunct="1">
      <a:defRPr kumimoji="1" sz="2400" b="1" kern="1200">
        <a:solidFill>
          <a:schemeClr val="tx1"/>
        </a:solidFill>
        <a:latin typeface="Times New Roman" pitchFamily="18" charset="0"/>
        <a:ea typeface="楷体_GB2312" pitchFamily="49" charset="-122"/>
        <a:cs typeface="+mn-cs"/>
      </a:defRPr>
    </a:lvl6pPr>
    <a:lvl7pPr marL="2743200" algn="l" defTabSz="914400" rtl="0" eaLnBrk="1" latinLnBrk="0" hangingPunct="1">
      <a:defRPr kumimoji="1" sz="2400" b="1" kern="1200">
        <a:solidFill>
          <a:schemeClr val="tx1"/>
        </a:solidFill>
        <a:latin typeface="Times New Roman" pitchFamily="18" charset="0"/>
        <a:ea typeface="楷体_GB2312" pitchFamily="49" charset="-122"/>
        <a:cs typeface="+mn-cs"/>
      </a:defRPr>
    </a:lvl7pPr>
    <a:lvl8pPr marL="3200400" algn="l" defTabSz="914400" rtl="0" eaLnBrk="1" latinLnBrk="0" hangingPunct="1">
      <a:defRPr kumimoji="1" sz="2400" b="1" kern="1200">
        <a:solidFill>
          <a:schemeClr val="tx1"/>
        </a:solidFill>
        <a:latin typeface="Times New Roman" pitchFamily="18" charset="0"/>
        <a:ea typeface="楷体_GB2312" pitchFamily="49" charset="-122"/>
        <a:cs typeface="+mn-cs"/>
      </a:defRPr>
    </a:lvl8pPr>
    <a:lvl9pPr marL="3657600" algn="l" defTabSz="914400" rtl="0" eaLnBrk="1" latinLnBrk="0" hangingPunct="1">
      <a:defRPr kumimoji="1" sz="2400" b="1" kern="1200">
        <a:solidFill>
          <a:schemeClr val="tx1"/>
        </a:solidFill>
        <a:latin typeface="Times New Roman" pitchFamily="18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FF3300"/>
    <a:srgbClr val="FFFF99"/>
    <a:srgbClr val="FFFFCC"/>
    <a:srgbClr val="0000FF"/>
    <a:srgbClr val="33CC33"/>
    <a:srgbClr val="FF00FF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01" autoAdjust="0"/>
    <p:restoredTop sz="94625" autoAdjust="0"/>
  </p:normalViewPr>
  <p:slideViewPr>
    <p:cSldViewPr>
      <p:cViewPr varScale="1">
        <p:scale>
          <a:sx n="81" d="100"/>
          <a:sy n="81" d="100"/>
        </p:scale>
        <p:origin x="950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61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42.xml"/><Relationship Id="rId2" Type="http://schemas.openxmlformats.org/officeDocument/2006/relationships/slide" Target="slides/slide41.xml"/><Relationship Id="rId1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ea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ea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901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901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01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ea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901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ea typeface="宋体" pitchFamily="2" charset="-122"/>
              </a:defRPr>
            </a:lvl1pPr>
          </a:lstStyle>
          <a:p>
            <a:fld id="{313692A1-CA84-415F-88F7-6189654B365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384996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4497538-C09C-40E4-8A1C-C8D1A56BE5A6}" type="slidenum">
              <a:rPr lang="en-US" altLang="zh-CN"/>
              <a:pPr/>
              <a:t>1</a:t>
            </a:fld>
            <a:endParaRPr lang="en-US" altLang="zh-CN"/>
          </a:p>
        </p:txBody>
      </p:sp>
      <p:sp>
        <p:nvSpPr>
          <p:cNvPr id="91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49ED074-7443-482E-AA02-7D8F640C8C42}" type="slidenum">
              <a:rPr lang="en-US" altLang="zh-CN"/>
              <a:pPr/>
              <a:t>4</a:t>
            </a:fld>
            <a:endParaRPr lang="en-US" altLang="zh-CN"/>
          </a:p>
        </p:txBody>
      </p:sp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99020EC-EA48-49C0-92BF-33DBDAEF19A3}" type="slidenum">
              <a:rPr lang="en-US" altLang="zh-CN"/>
              <a:pPr/>
              <a:t>7</a:t>
            </a:fld>
            <a:endParaRPr lang="en-US" altLang="zh-CN"/>
          </a:p>
        </p:txBody>
      </p:sp>
      <p:sp>
        <p:nvSpPr>
          <p:cNvPr id="9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49033FA-DE3B-4E03-B16F-47A068FE8431}" type="slidenum">
              <a:rPr lang="en-US" altLang="zh-CN"/>
              <a:pPr/>
              <a:t>8</a:t>
            </a:fld>
            <a:endParaRPr lang="en-US" altLang="zh-CN"/>
          </a:p>
        </p:txBody>
      </p:sp>
      <p:sp>
        <p:nvSpPr>
          <p:cNvPr id="137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37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3F6D4AA-A643-4149-BE98-E4916B98AF61}" type="slidenum">
              <a:rPr lang="en-US" altLang="zh-CN"/>
              <a:pPr/>
              <a:t>9</a:t>
            </a:fld>
            <a:endParaRPr lang="en-US" altLang="zh-CN"/>
          </a:p>
        </p:txBody>
      </p:sp>
      <p:sp>
        <p:nvSpPr>
          <p:cNvPr id="97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EBC4FB6-E694-4B1C-8B82-CCB390A48FBD}" type="slidenum">
              <a:rPr lang="en-US" altLang="zh-CN"/>
              <a:pPr/>
              <a:t>10</a:t>
            </a:fld>
            <a:endParaRPr lang="en-US" altLang="zh-CN"/>
          </a:p>
        </p:txBody>
      </p:sp>
      <p:sp>
        <p:nvSpPr>
          <p:cNvPr id="142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41BCF33-3357-464D-AF34-F754DFC199A2}" type="slidenum">
              <a:rPr lang="en-US" altLang="zh-CN"/>
              <a:pPr/>
              <a:t>12</a:t>
            </a:fld>
            <a:endParaRPr lang="en-US" altLang="zh-CN"/>
          </a:p>
        </p:txBody>
      </p:sp>
      <p:sp>
        <p:nvSpPr>
          <p:cNvPr id="98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3076D9C-CFE8-4A23-9C5E-FDDDB55D2A87}" type="slidenum">
              <a:rPr lang="en-US" altLang="zh-CN"/>
              <a:pPr/>
              <a:t>13</a:t>
            </a:fld>
            <a:endParaRPr lang="en-US" altLang="zh-CN"/>
          </a:p>
        </p:txBody>
      </p:sp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05CE646-5295-41F9-8C7D-DA4D1994BCDB}" type="slidenum">
              <a:rPr lang="en-US" altLang="zh-CN"/>
              <a:pPr/>
              <a:t>14</a:t>
            </a:fld>
            <a:endParaRPr lang="en-US" altLang="zh-CN"/>
          </a:p>
        </p:txBody>
      </p:sp>
      <p:sp>
        <p:nvSpPr>
          <p:cNvPr id="100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EC19AB2-8055-41DF-B6AB-C5E6B79F4163}" type="slidenum">
              <a:rPr lang="en-US" altLang="zh-CN"/>
              <a:pPr/>
              <a:t>15</a:t>
            </a:fld>
            <a:endParaRPr lang="en-US" altLang="zh-CN"/>
          </a:p>
        </p:txBody>
      </p:sp>
      <p:sp>
        <p:nvSpPr>
          <p:cNvPr id="101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90AAEA0-844D-4A74-B945-B014A3F9DF56}" type="slidenum">
              <a:rPr lang="en-US" altLang="zh-CN"/>
              <a:pPr/>
              <a:t>16</a:t>
            </a:fld>
            <a:endParaRPr lang="en-US" altLang="zh-CN"/>
          </a:p>
        </p:txBody>
      </p:sp>
      <p:sp>
        <p:nvSpPr>
          <p:cNvPr id="102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FF7D781-0B65-4F28-BAD7-CC7841A5E295}" type="slidenum">
              <a:rPr lang="en-US" altLang="zh-CN"/>
              <a:pPr/>
              <a:t>17</a:t>
            </a:fld>
            <a:endParaRPr lang="en-US" altLang="zh-CN"/>
          </a:p>
        </p:txBody>
      </p:sp>
      <p:sp>
        <p:nvSpPr>
          <p:cNvPr id="103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71E1DDA-FE5C-40E2-9980-5F74F29A9E18}" type="slidenum">
              <a:rPr lang="en-US" altLang="zh-CN"/>
              <a:pPr/>
              <a:t>18</a:t>
            </a:fld>
            <a:endParaRPr lang="en-US" altLang="zh-CN"/>
          </a:p>
        </p:txBody>
      </p:sp>
      <p:sp>
        <p:nvSpPr>
          <p:cNvPr id="139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39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963FC90-BE42-484B-900F-1CD3E9710C7B}" type="slidenum">
              <a:rPr lang="en-US" altLang="zh-CN"/>
              <a:pPr/>
              <a:t>19</a:t>
            </a:fld>
            <a:endParaRPr lang="en-US" altLang="zh-CN"/>
          </a:p>
        </p:txBody>
      </p:sp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9B2B1AC-E8BF-4A50-A790-C6D93E4C233C}" type="slidenum">
              <a:rPr lang="en-US" altLang="zh-CN"/>
              <a:pPr/>
              <a:t>20</a:t>
            </a:fld>
            <a:endParaRPr lang="en-US" altLang="zh-CN"/>
          </a:p>
        </p:txBody>
      </p:sp>
      <p:sp>
        <p:nvSpPr>
          <p:cNvPr id="10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E9FC30E-D62A-45E2-87F3-189AE098F58D}" type="slidenum">
              <a:rPr lang="en-US" altLang="zh-CN"/>
              <a:pPr/>
              <a:t>21</a:t>
            </a:fld>
            <a:endParaRPr lang="en-US" altLang="zh-CN"/>
          </a:p>
        </p:txBody>
      </p:sp>
      <p:sp>
        <p:nvSpPr>
          <p:cNvPr id="145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45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3D14FA0-ACAE-4249-9B5B-E03694C70BBC}" type="slidenum">
              <a:rPr lang="en-US" altLang="zh-CN"/>
              <a:pPr/>
              <a:t>22</a:t>
            </a:fld>
            <a:endParaRPr lang="en-US" altLang="zh-CN"/>
          </a:p>
        </p:txBody>
      </p:sp>
      <p:sp>
        <p:nvSpPr>
          <p:cNvPr id="146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46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37F020E-F4A8-45A3-B970-6B506D223A2C}" type="slidenum">
              <a:rPr lang="en-US" altLang="zh-CN"/>
              <a:pPr/>
              <a:t>23</a:t>
            </a:fld>
            <a:endParaRPr lang="en-US" altLang="zh-CN"/>
          </a:p>
        </p:txBody>
      </p:sp>
      <p:sp>
        <p:nvSpPr>
          <p:cNvPr id="106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C,b,d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4E2435A-6DD3-40C6-B959-DF60026A548F}" type="slidenum">
              <a:rPr lang="en-US" altLang="zh-CN"/>
              <a:pPr/>
              <a:t>24</a:t>
            </a:fld>
            <a:endParaRPr lang="en-US" altLang="zh-CN"/>
          </a:p>
        </p:txBody>
      </p:sp>
      <p:sp>
        <p:nvSpPr>
          <p:cNvPr id="107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D134538-9254-4FFE-9734-2FC94A1DEAFA}" type="slidenum">
              <a:rPr lang="en-US" altLang="zh-CN"/>
              <a:pPr/>
              <a:t>25</a:t>
            </a:fld>
            <a:endParaRPr lang="en-US" altLang="zh-CN"/>
          </a:p>
        </p:txBody>
      </p:sp>
      <p:sp>
        <p:nvSpPr>
          <p:cNvPr id="10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CF99DC1-8218-41FD-955F-9D0582104FDA}" type="slidenum">
              <a:rPr lang="en-US" altLang="zh-CN"/>
              <a:pPr/>
              <a:t>26</a:t>
            </a:fld>
            <a:endParaRPr lang="en-US" altLang="zh-CN"/>
          </a:p>
        </p:txBody>
      </p:sp>
      <p:sp>
        <p:nvSpPr>
          <p:cNvPr id="109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69F9D35-61AC-4CF6-86AF-F274E168412F}" type="slidenum">
              <a:rPr lang="en-US" altLang="zh-CN"/>
              <a:pPr/>
              <a:t>29</a:t>
            </a:fld>
            <a:endParaRPr lang="en-US" altLang="zh-CN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1A88F05-F5B0-46F9-924A-1B3C695115E8}" type="slidenum">
              <a:rPr lang="en-US" altLang="zh-CN"/>
              <a:pPr/>
              <a:t>30</a:t>
            </a:fld>
            <a:endParaRPr lang="en-US" altLang="zh-CN"/>
          </a:p>
        </p:txBody>
      </p:sp>
      <p:sp>
        <p:nvSpPr>
          <p:cNvPr id="11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B3D9667-F51A-4D24-B490-51A0F8B2D559}" type="slidenum">
              <a:rPr lang="en-US" altLang="zh-CN"/>
              <a:pPr/>
              <a:t>31</a:t>
            </a:fld>
            <a:endParaRPr lang="en-US" altLang="zh-CN"/>
          </a:p>
        </p:txBody>
      </p:sp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D93BE10-FFD5-4F7A-A69D-D9B07549B1CF}" type="slidenum">
              <a:rPr lang="en-US" altLang="zh-CN"/>
              <a:pPr/>
              <a:t>32</a:t>
            </a:fld>
            <a:endParaRPr lang="en-US" altLang="zh-CN"/>
          </a:p>
        </p:txBody>
      </p:sp>
      <p:sp>
        <p:nvSpPr>
          <p:cNvPr id="113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365F9A2-E534-4D95-AB50-A882A914B8A5}" type="slidenum">
              <a:rPr lang="en-US" altLang="zh-CN"/>
              <a:pPr/>
              <a:t>33</a:t>
            </a:fld>
            <a:endParaRPr lang="en-US" altLang="zh-CN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C848AB8-118F-477D-A72A-7242E4B25B74}" type="slidenum">
              <a:rPr lang="en-US" altLang="zh-CN"/>
              <a:pPr/>
              <a:t>36</a:t>
            </a:fld>
            <a:endParaRPr lang="en-US" altLang="zh-CN"/>
          </a:p>
        </p:txBody>
      </p:sp>
      <p:sp>
        <p:nvSpPr>
          <p:cNvPr id="115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5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5947A1E-748B-4759-BE88-CA49F88BB9CD}" type="slidenum">
              <a:rPr lang="en-US" altLang="zh-CN"/>
              <a:pPr/>
              <a:t>37</a:t>
            </a:fld>
            <a:endParaRPr lang="en-US" altLang="zh-CN"/>
          </a:p>
        </p:txBody>
      </p:sp>
      <p:sp>
        <p:nvSpPr>
          <p:cNvPr id="116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0833AFE-EEC1-412C-821A-03DB1912E409}" type="slidenum">
              <a:rPr lang="en-US" altLang="zh-CN"/>
              <a:pPr/>
              <a:t>38</a:t>
            </a:fld>
            <a:endParaRPr lang="en-US" altLang="zh-CN"/>
          </a:p>
        </p:txBody>
      </p:sp>
      <p:sp>
        <p:nvSpPr>
          <p:cNvPr id="117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7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3B713FD-D859-4819-A655-3F94134E78EB}" type="slidenum">
              <a:rPr lang="en-US" altLang="zh-CN"/>
              <a:pPr/>
              <a:t>39</a:t>
            </a:fld>
            <a:endParaRPr lang="en-US" altLang="zh-CN"/>
          </a:p>
        </p:txBody>
      </p:sp>
      <p:sp>
        <p:nvSpPr>
          <p:cNvPr id="118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674237B-2351-4A48-A3E4-F8AA357CB82D}" type="slidenum">
              <a:rPr lang="en-US" altLang="zh-CN"/>
              <a:pPr/>
              <a:t>40</a:t>
            </a:fld>
            <a:endParaRPr lang="en-US" altLang="zh-CN"/>
          </a:p>
        </p:txBody>
      </p:sp>
      <p:sp>
        <p:nvSpPr>
          <p:cNvPr id="119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9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8341121-CF12-4A18-A482-18EFD2222B94}" type="slidenum">
              <a:rPr lang="en-US" altLang="zh-CN"/>
              <a:pPr/>
              <a:t>41</a:t>
            </a:fld>
            <a:endParaRPr lang="en-US" altLang="zh-CN"/>
          </a:p>
        </p:txBody>
      </p:sp>
      <p:sp>
        <p:nvSpPr>
          <p:cNvPr id="120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FD24CF2-C5B9-428B-B8C0-5981218B342B}" type="slidenum">
              <a:rPr lang="en-US" altLang="zh-CN"/>
              <a:pPr/>
              <a:t>42</a:t>
            </a:fld>
            <a:endParaRPr lang="en-US" altLang="zh-CN"/>
          </a:p>
        </p:txBody>
      </p:sp>
      <p:sp>
        <p:nvSpPr>
          <p:cNvPr id="121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后进先出</a:t>
            </a:r>
            <a:r>
              <a:rPr lang="zh-CN" altLang="en-US" baseline="0" dirty="0"/>
              <a:t> 先进先出</a:t>
            </a:r>
            <a:endParaRPr lang="en-US" altLang="zh-CN" baseline="0" dirty="0"/>
          </a:p>
          <a:p>
            <a:r>
              <a:rPr lang="zh-CN" altLang="en-US" baseline="0" dirty="0"/>
              <a:t>线性 任意 栈顶 队尾 队头</a:t>
            </a:r>
            <a:endParaRPr lang="en-US" altLang="zh-CN" baseline="0" dirty="0"/>
          </a:p>
          <a:p>
            <a:r>
              <a:rPr lang="en-US" altLang="zh-CN" baseline="0" dirty="0"/>
              <a:t>4</a:t>
            </a:r>
          </a:p>
          <a:p>
            <a:r>
              <a:rPr lang="en-US" altLang="zh-CN" baseline="0" dirty="0"/>
              <a:t>b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8EB132C-2D00-40E7-8177-437E706E7C3D}" type="slidenum">
              <a:rPr lang="en-US" altLang="zh-CN"/>
              <a:pPr/>
              <a:t>43</a:t>
            </a:fld>
            <a:endParaRPr lang="en-US" altLang="zh-CN"/>
          </a:p>
        </p:txBody>
      </p:sp>
      <p:sp>
        <p:nvSpPr>
          <p:cNvPr id="122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22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B471577-FA83-441E-8F3E-5D2A69252814}" type="slidenum">
              <a:rPr lang="en-US" altLang="zh-CN"/>
              <a:pPr/>
              <a:t>44</a:t>
            </a:fld>
            <a:endParaRPr lang="en-US" altLang="zh-CN"/>
          </a:p>
        </p:txBody>
      </p:sp>
      <p:sp>
        <p:nvSpPr>
          <p:cNvPr id="123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35650EF-53DA-497B-8D33-438364678394}" type="slidenum">
              <a:rPr lang="en-US" altLang="zh-CN"/>
              <a:pPr/>
              <a:t>45</a:t>
            </a:fld>
            <a:endParaRPr lang="en-US" altLang="zh-CN"/>
          </a:p>
        </p:txBody>
      </p:sp>
      <p:sp>
        <p:nvSpPr>
          <p:cNvPr id="124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24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D5DF676-72C2-4A95-8498-7DE5C42A8055}" type="slidenum">
              <a:rPr lang="en-US" altLang="zh-CN"/>
              <a:pPr/>
              <a:t>46</a:t>
            </a:fld>
            <a:endParaRPr lang="en-US" altLang="zh-CN"/>
          </a:p>
        </p:txBody>
      </p:sp>
      <p:sp>
        <p:nvSpPr>
          <p:cNvPr id="125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7B00CD9-BE29-4C36-9B83-DF2E614EAECB}" type="slidenum">
              <a:rPr lang="en-US" altLang="zh-CN"/>
              <a:pPr/>
              <a:t>47</a:t>
            </a:fld>
            <a:endParaRPr lang="en-US" altLang="zh-CN"/>
          </a:p>
        </p:txBody>
      </p:sp>
      <p:sp>
        <p:nvSpPr>
          <p:cNvPr id="1269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269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9394393-337E-440A-BF10-09962D9E6600}" type="slidenum">
              <a:rPr lang="en-US" altLang="zh-CN"/>
              <a:pPr/>
              <a:t>48</a:t>
            </a:fld>
            <a:endParaRPr lang="en-US" altLang="zh-CN"/>
          </a:p>
        </p:txBody>
      </p:sp>
      <p:sp>
        <p:nvSpPr>
          <p:cNvPr id="128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28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BA823EF-1396-40E3-98CB-D475876263A8}" type="slidenum">
              <a:rPr lang="en-US" altLang="zh-CN"/>
              <a:pPr/>
              <a:t>49</a:t>
            </a:fld>
            <a:endParaRPr lang="en-US" altLang="zh-CN"/>
          </a:p>
        </p:txBody>
      </p:sp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34B1B30-3A2C-4F46-A10B-9C1562034D18}" type="slidenum">
              <a:rPr lang="en-US" altLang="zh-CN"/>
              <a:pPr/>
              <a:t>50</a:t>
            </a:fld>
            <a:endParaRPr lang="en-US" altLang="zh-CN"/>
          </a:p>
        </p:txBody>
      </p:sp>
      <p:sp>
        <p:nvSpPr>
          <p:cNvPr id="130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30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8C99D6C-1DFF-4C1E-AF87-CB371BF33612}" type="slidenum">
              <a:rPr lang="en-US" altLang="zh-CN"/>
              <a:pPr/>
              <a:t>51</a:t>
            </a:fld>
            <a:endParaRPr lang="en-US" altLang="zh-CN"/>
          </a:p>
        </p:txBody>
      </p:sp>
      <p:sp>
        <p:nvSpPr>
          <p:cNvPr id="1310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31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D355B28-1FA0-4861-8C61-657F161CF6D8}" type="slidenum">
              <a:rPr lang="en-US" altLang="zh-CN"/>
              <a:pPr/>
              <a:t>52</a:t>
            </a:fld>
            <a:endParaRPr lang="en-US" altLang="zh-CN"/>
          </a:p>
        </p:txBody>
      </p:sp>
      <p:sp>
        <p:nvSpPr>
          <p:cNvPr id="148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48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16E61C5-44CC-4EF0-A772-DBA5F808A2D8}" type="slidenum">
              <a:rPr lang="en-US" altLang="zh-CN"/>
              <a:pPr/>
              <a:t>53</a:t>
            </a:fld>
            <a:endParaRPr lang="en-US" altLang="zh-CN"/>
          </a:p>
        </p:txBody>
      </p:sp>
      <p:sp>
        <p:nvSpPr>
          <p:cNvPr id="150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0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412E3E1-5C77-43F9-A263-077E7C27A225}" type="slidenum">
              <a:rPr lang="en-US" altLang="zh-CN"/>
              <a:pPr/>
              <a:t>54</a:t>
            </a:fld>
            <a:endParaRPr lang="en-US" altLang="zh-CN"/>
          </a:p>
        </p:txBody>
      </p:sp>
      <p:sp>
        <p:nvSpPr>
          <p:cNvPr id="152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2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57FC6EF-D614-4D1C-B490-FCCEA8EEFD48}" type="slidenum">
              <a:rPr lang="en-US" altLang="zh-CN"/>
              <a:pPr/>
              <a:t>55</a:t>
            </a:fld>
            <a:endParaRPr lang="en-US" altLang="zh-CN"/>
          </a:p>
        </p:txBody>
      </p:sp>
      <p:sp>
        <p:nvSpPr>
          <p:cNvPr id="133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33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</a:t>
            </a:r>
          </a:p>
          <a:p>
            <a:r>
              <a:rPr lang="en-US" altLang="zh-CN"/>
              <a:t>D</a:t>
            </a:r>
            <a:endParaRPr lang="zh-CN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7" descr="蓝色砂纸"/>
          <p:cNvSpPr>
            <a:spLocks noChangeArrowheads="1"/>
          </p:cNvSpPr>
          <p:nvPr userDrawn="1"/>
        </p:nvSpPr>
        <p:spPr bwMode="auto">
          <a:xfrm>
            <a:off x="0" y="0"/>
            <a:ext cx="12192000" cy="381000"/>
          </a:xfrm>
          <a:prstGeom prst="rect">
            <a:avLst/>
          </a:prstGeom>
          <a:blipFill dpi="0" rotWithShape="0">
            <a:blip r:embed="rId13" cstate="print"/>
            <a:srcRect/>
            <a:tile tx="0" ty="0" sx="100000" sy="100000" flip="none" algn="tl"/>
          </a:blipFill>
          <a:ln w="9525">
            <a:noFill/>
            <a:miter lim="800000"/>
            <a:headEnd/>
            <a:tailEnd/>
          </a:ln>
          <a:effectLst/>
        </p:spPr>
        <p:txBody>
          <a:bodyPr wrap="none" lIns="91416" tIns="45710" rIns="91416" bIns="45710" anchor="ctr"/>
          <a:lstStyle/>
          <a:p>
            <a:r>
              <a:rPr lang="zh-CN" altLang="en-US" sz="2400" dirty="0">
                <a:solidFill>
                  <a:srgbClr val="0066FF"/>
                </a:solidFill>
                <a:ea typeface="隶书" pitchFamily="49" charset="-122"/>
              </a:rPr>
              <a:t>数据结构</a:t>
            </a:r>
            <a:r>
              <a:rPr lang="zh-CN" altLang="en-US" sz="2400" dirty="0">
                <a:ea typeface="隶书" pitchFamily="49" charset="-122"/>
              </a:rPr>
              <a:t>                                                                       </a:t>
            </a:r>
            <a:r>
              <a:rPr lang="zh-CN" altLang="en-US" sz="2400" dirty="0">
                <a:solidFill>
                  <a:srgbClr val="FF3300"/>
                </a:solidFill>
                <a:ea typeface="隶书" pitchFamily="49" charset="-122"/>
              </a:rPr>
              <a:t>第三章  栈和队列 </a:t>
            </a:r>
          </a:p>
        </p:txBody>
      </p:sp>
      <p:sp>
        <p:nvSpPr>
          <p:cNvPr id="1032" name="Rectangle 8"/>
          <p:cNvSpPr>
            <a:spLocks noChangeArrowheads="1"/>
          </p:cNvSpPr>
          <p:nvPr userDrawn="1"/>
        </p:nvSpPr>
        <p:spPr bwMode="auto">
          <a:xfrm>
            <a:off x="0" y="6553200"/>
            <a:ext cx="12192000" cy="304800"/>
          </a:xfrm>
          <a:prstGeom prst="rect">
            <a:avLst/>
          </a:prstGeom>
          <a:blipFill dpi="0" rotWithShape="0">
            <a:blip r:embed="rId13" cstate="print"/>
            <a:srcRect/>
            <a:tile tx="0" ty="0" sx="100000" sy="100000" flip="none" algn="tl"/>
          </a:blipFill>
          <a:ln w="9525">
            <a:noFill/>
            <a:miter lim="800000"/>
            <a:headEnd/>
            <a:tailEnd/>
          </a:ln>
          <a:effectLst/>
        </p:spPr>
        <p:txBody>
          <a:bodyPr wrap="none" lIns="91416" tIns="45710" rIns="91416" bIns="45710" anchor="ctr"/>
          <a:lstStyle/>
          <a:p>
            <a:pPr algn="ctr"/>
            <a:r>
              <a:rPr lang="zh-CN" altLang="en-US" sz="1800" b="0" dirty="0"/>
              <a:t>河北师范大学软件学院  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w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2927648" y="3068961"/>
            <a:ext cx="6336704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kumimoji="0" lang="zh-CN" altLang="en-US" sz="3600" dirty="0"/>
              <a:t>栈和队列</a:t>
            </a:r>
            <a:r>
              <a:rPr kumimoji="0" lang="en-US" altLang="zh-CN" sz="4800" dirty="0"/>
              <a:t>-- </a:t>
            </a:r>
            <a:r>
              <a:rPr kumimoji="0" lang="en-US" altLang="zh-CN" sz="3600" i="1" dirty="0"/>
              <a:t>Stacks &amp; Queues</a:t>
            </a:r>
          </a:p>
          <a:p>
            <a:endParaRPr kumimoji="0" lang="en-US" altLang="zh-CN" sz="3600" i="1" dirty="0"/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4583734" y="2196154"/>
            <a:ext cx="259238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3200" dirty="0">
                <a:solidFill>
                  <a:srgbClr val="0000CC"/>
                </a:solidFill>
              </a:rPr>
              <a:t>DS—</a:t>
            </a:r>
            <a:r>
              <a:rPr lang="zh-CN" altLang="en-US" sz="3200" dirty="0">
                <a:solidFill>
                  <a:srgbClr val="0000CC"/>
                </a:solidFill>
              </a:rPr>
              <a:t>第三章</a:t>
            </a:r>
          </a:p>
        </p:txBody>
      </p:sp>
    </p:spTree>
  </p:cSld>
  <p:clrMapOvr>
    <a:masterClrMapping/>
  </p:clrMapOvr>
  <p:transition spd="slow"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自选图形 3"/>
          <p:cNvSpPr>
            <a:spLocks noChangeArrowheads="1"/>
          </p:cNvSpPr>
          <p:nvPr/>
        </p:nvSpPr>
        <p:spPr bwMode="ltGray">
          <a:xfrm rot="5400000">
            <a:off x="-898526" y="1367878"/>
            <a:ext cx="4824413" cy="4770438"/>
          </a:xfrm>
          <a:custGeom>
            <a:avLst/>
            <a:gdLst>
              <a:gd name="G0" fmla="+- 10478 0 0"/>
              <a:gd name="G1" fmla="+- -11739500 0 0"/>
              <a:gd name="G2" fmla="+- 0 0 -11739500"/>
              <a:gd name="T0" fmla="*/ 0 256 1"/>
              <a:gd name="T1" fmla="*/ 180 256 1"/>
              <a:gd name="G3" fmla="+- -11739500 T0 T1"/>
              <a:gd name="T2" fmla="*/ 0 256 1"/>
              <a:gd name="T3" fmla="*/ 90 256 1"/>
              <a:gd name="G4" fmla="+- -11739500 T2 T3"/>
              <a:gd name="G5" fmla="*/ G4 2 1"/>
              <a:gd name="T4" fmla="*/ 90 256 1"/>
              <a:gd name="T5" fmla="*/ 0 256 1"/>
              <a:gd name="G6" fmla="+- -11739500 T4 T5"/>
              <a:gd name="G7" fmla="*/ G6 2 1"/>
              <a:gd name="G8" fmla="abs -11739500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478"/>
              <a:gd name="G18" fmla="*/ 10478 1 2"/>
              <a:gd name="G19" fmla="+- G18 5400 0"/>
              <a:gd name="G20" fmla="cos G19 -11739500"/>
              <a:gd name="G21" fmla="sin G19 -11739500"/>
              <a:gd name="G22" fmla="+- G20 10800 0"/>
              <a:gd name="G23" fmla="+- G21 10800 0"/>
              <a:gd name="G24" fmla="+- 10800 0 G20"/>
              <a:gd name="G25" fmla="+- 10478 10800 0"/>
              <a:gd name="G26" fmla="?: G9 G17 G25"/>
              <a:gd name="G27" fmla="?: G9 0 21600"/>
              <a:gd name="G28" fmla="cos 10800 -11739500"/>
              <a:gd name="G29" fmla="sin 10800 -11739500"/>
              <a:gd name="G30" fmla="sin 10478 -11739500"/>
              <a:gd name="G31" fmla="+- G28 10800 0"/>
              <a:gd name="G32" fmla="+- G29 10800 0"/>
              <a:gd name="G33" fmla="+- G30 10800 0"/>
              <a:gd name="G34" fmla="?: G4 0 G31"/>
              <a:gd name="G35" fmla="?: -11739500 G34 0"/>
              <a:gd name="G36" fmla="?: G6 G35 G31"/>
              <a:gd name="G37" fmla="+- 21600 0 G36"/>
              <a:gd name="G38" fmla="?: G4 0 G33"/>
              <a:gd name="G39" fmla="?: -11739500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162 w 21600"/>
              <a:gd name="T15" fmla="*/ 10638 h 21600"/>
              <a:gd name="T16" fmla="*/ 10800 w 21600"/>
              <a:gd name="T17" fmla="*/ 322 h 21600"/>
              <a:gd name="T18" fmla="*/ 21438 w 21600"/>
              <a:gd name="T19" fmla="*/ 10638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 rotWithShape="1">
            <a:gsLst>
              <a:gs pos="0">
                <a:schemeClr val="bg2">
                  <a:gamma/>
                  <a:tint val="45490"/>
                  <a:invGamma/>
                </a:schemeClr>
              </a:gs>
              <a:gs pos="50000">
                <a:schemeClr val="bg2"/>
              </a:gs>
              <a:gs pos="100000">
                <a:schemeClr val="bg2">
                  <a:gamma/>
                  <a:tint val="45490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6200" dir="10800000" kx="-3284103" algn="b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+mn-ea"/>
            </a:endParaRPr>
          </a:p>
        </p:txBody>
      </p:sp>
      <p:sp>
        <p:nvSpPr>
          <p:cNvPr id="5" name="自选图形 4"/>
          <p:cNvSpPr>
            <a:spLocks noChangeArrowheads="1"/>
          </p:cNvSpPr>
          <p:nvPr/>
        </p:nvSpPr>
        <p:spPr bwMode="ltGray">
          <a:xfrm rot="5400000" flipH="1">
            <a:off x="-492918" y="1803647"/>
            <a:ext cx="4032250" cy="3929063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771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10744" y="10800"/>
                </a:lnTo>
                <a:close/>
              </a:path>
            </a:pathLst>
          </a:custGeom>
          <a:solidFill>
            <a:schemeClr val="accent1">
              <a:alpha val="36078"/>
            </a:schemeClr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自选图形 5"/>
          <p:cNvSpPr>
            <a:spLocks noChangeArrowheads="1"/>
          </p:cNvSpPr>
          <p:nvPr/>
        </p:nvSpPr>
        <p:spPr bwMode="gray">
          <a:xfrm>
            <a:off x="3346451" y="4992140"/>
            <a:ext cx="462121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dirty="0"/>
              <a:t>队列的表示和实现</a:t>
            </a:r>
          </a:p>
        </p:txBody>
      </p:sp>
      <p:sp>
        <p:nvSpPr>
          <p:cNvPr id="7" name="自选图形 6"/>
          <p:cNvSpPr>
            <a:spLocks noChangeArrowheads="1"/>
          </p:cNvSpPr>
          <p:nvPr/>
        </p:nvSpPr>
        <p:spPr bwMode="gray">
          <a:xfrm>
            <a:off x="3841750" y="4165053"/>
            <a:ext cx="4775200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dirty="0"/>
              <a:t>队列的定义及逻辑特性</a:t>
            </a:r>
          </a:p>
        </p:txBody>
      </p:sp>
      <p:sp>
        <p:nvSpPr>
          <p:cNvPr id="8" name="自选图形 7"/>
          <p:cNvSpPr>
            <a:spLocks noChangeArrowheads="1"/>
          </p:cNvSpPr>
          <p:nvPr/>
        </p:nvSpPr>
        <p:spPr bwMode="gray">
          <a:xfrm>
            <a:off x="3962400" y="3352253"/>
            <a:ext cx="4654550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dirty="0"/>
              <a:t>栈的应用、与递归的关系</a:t>
            </a:r>
          </a:p>
        </p:txBody>
      </p:sp>
      <p:sp>
        <p:nvSpPr>
          <p:cNvPr id="9" name="自选图形 8"/>
          <p:cNvSpPr>
            <a:spLocks noChangeArrowheads="1"/>
          </p:cNvSpPr>
          <p:nvPr/>
        </p:nvSpPr>
        <p:spPr bwMode="gray">
          <a:xfrm>
            <a:off x="3810000" y="2483890"/>
            <a:ext cx="4662488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dirty="0"/>
              <a:t>栈的表示和实现</a:t>
            </a:r>
          </a:p>
        </p:txBody>
      </p:sp>
      <p:sp>
        <p:nvSpPr>
          <p:cNvPr id="10" name="自选图形 9"/>
          <p:cNvSpPr>
            <a:spLocks noChangeArrowheads="1"/>
          </p:cNvSpPr>
          <p:nvPr/>
        </p:nvSpPr>
        <p:spPr bwMode="gray">
          <a:xfrm>
            <a:off x="3289301" y="1713953"/>
            <a:ext cx="467836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dirty="0"/>
              <a:t>栈的定义及逻辑特性</a:t>
            </a:r>
          </a:p>
        </p:txBody>
      </p:sp>
      <p:grpSp>
        <p:nvGrpSpPr>
          <p:cNvPr id="2" name="组合 10"/>
          <p:cNvGrpSpPr>
            <a:grpSpLocks/>
          </p:cNvGrpSpPr>
          <p:nvPr/>
        </p:nvGrpSpPr>
        <p:grpSpPr bwMode="auto">
          <a:xfrm>
            <a:off x="2971800" y="1668855"/>
            <a:ext cx="381000" cy="649233"/>
            <a:chOff x="2078" y="1112"/>
            <a:chExt cx="1615" cy="2752"/>
          </a:xfrm>
        </p:grpSpPr>
        <p:sp>
          <p:nvSpPr>
            <p:cNvPr id="12" name="椭圆 11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椭圆 12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椭圆 13"/>
            <p:cNvSpPr>
              <a:spLocks noChangeArrowheads="1"/>
            </p:cNvSpPr>
            <p:nvPr/>
          </p:nvSpPr>
          <p:spPr bwMode="gray">
            <a:xfrm>
              <a:off x="2253" y="1112"/>
              <a:ext cx="1101" cy="2752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15" name="椭圆 14"/>
            <p:cNvSpPr>
              <a:spLocks noChangeArrowheads="1"/>
            </p:cNvSpPr>
            <p:nvPr/>
          </p:nvSpPr>
          <p:spPr bwMode="gray">
            <a:xfrm>
              <a:off x="2254" y="1112"/>
              <a:ext cx="1101" cy="2752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" name="椭圆 15"/>
            <p:cNvSpPr>
              <a:spLocks noChangeArrowheads="1"/>
            </p:cNvSpPr>
            <p:nvPr/>
          </p:nvSpPr>
          <p:spPr bwMode="gray">
            <a:xfrm>
              <a:off x="2334" y="1112"/>
              <a:ext cx="1097" cy="2752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17" name="椭圆 16"/>
            <p:cNvSpPr>
              <a:spLocks noChangeArrowheads="1"/>
            </p:cNvSpPr>
            <p:nvPr/>
          </p:nvSpPr>
          <p:spPr bwMode="gray">
            <a:xfrm>
              <a:off x="2337" y="1112"/>
              <a:ext cx="1096" cy="2752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rgbClr val="7C63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" name="组合 17"/>
          <p:cNvGrpSpPr>
            <a:grpSpLocks/>
          </p:cNvGrpSpPr>
          <p:nvPr/>
        </p:nvGrpSpPr>
        <p:grpSpPr bwMode="auto">
          <a:xfrm>
            <a:off x="3505200" y="2456255"/>
            <a:ext cx="381000" cy="649233"/>
            <a:chOff x="2078" y="1112"/>
            <a:chExt cx="1615" cy="2752"/>
          </a:xfrm>
        </p:grpSpPr>
        <p:sp>
          <p:nvSpPr>
            <p:cNvPr id="19" name="椭圆 18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椭圆 19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椭圆 20"/>
            <p:cNvSpPr>
              <a:spLocks noChangeArrowheads="1"/>
            </p:cNvSpPr>
            <p:nvPr/>
          </p:nvSpPr>
          <p:spPr bwMode="gray">
            <a:xfrm>
              <a:off x="2253" y="1112"/>
              <a:ext cx="1101" cy="2752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22" name="椭圆 21"/>
            <p:cNvSpPr>
              <a:spLocks noChangeArrowheads="1"/>
            </p:cNvSpPr>
            <p:nvPr/>
          </p:nvSpPr>
          <p:spPr bwMode="gray">
            <a:xfrm>
              <a:off x="2254" y="1112"/>
              <a:ext cx="1101" cy="2752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3" name="椭圆 22"/>
            <p:cNvSpPr>
              <a:spLocks noChangeArrowheads="1"/>
            </p:cNvSpPr>
            <p:nvPr/>
          </p:nvSpPr>
          <p:spPr bwMode="gray">
            <a:xfrm>
              <a:off x="2334" y="1112"/>
              <a:ext cx="1097" cy="2752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24" name="椭圆 23"/>
            <p:cNvSpPr>
              <a:spLocks noChangeArrowheads="1"/>
            </p:cNvSpPr>
            <p:nvPr/>
          </p:nvSpPr>
          <p:spPr bwMode="gray">
            <a:xfrm>
              <a:off x="2337" y="1112"/>
              <a:ext cx="1096" cy="2752"/>
            </a:xfrm>
            <a:prstGeom prst="ellipse">
              <a:avLst/>
            </a:prstGeom>
            <a:gradFill rotWithShape="1">
              <a:gsLst>
                <a:gs pos="0">
                  <a:srgbClr val="48BE67"/>
                </a:gs>
                <a:gs pos="100000">
                  <a:srgbClr val="235C32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1" name="组合 24"/>
          <p:cNvGrpSpPr>
            <a:grpSpLocks/>
          </p:cNvGrpSpPr>
          <p:nvPr/>
        </p:nvGrpSpPr>
        <p:grpSpPr bwMode="auto">
          <a:xfrm>
            <a:off x="3657600" y="3294455"/>
            <a:ext cx="381000" cy="649233"/>
            <a:chOff x="2078" y="1112"/>
            <a:chExt cx="1615" cy="2752"/>
          </a:xfrm>
        </p:grpSpPr>
        <p:sp>
          <p:nvSpPr>
            <p:cNvPr id="26" name="椭圆 25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椭圆 26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椭圆 27"/>
            <p:cNvSpPr>
              <a:spLocks noChangeArrowheads="1"/>
            </p:cNvSpPr>
            <p:nvPr/>
          </p:nvSpPr>
          <p:spPr bwMode="gray">
            <a:xfrm>
              <a:off x="2253" y="1112"/>
              <a:ext cx="1101" cy="2752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29" name="椭圆 28"/>
            <p:cNvSpPr>
              <a:spLocks noChangeArrowheads="1"/>
            </p:cNvSpPr>
            <p:nvPr/>
          </p:nvSpPr>
          <p:spPr bwMode="gray">
            <a:xfrm>
              <a:off x="2254" y="1112"/>
              <a:ext cx="1101" cy="2752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0F5368"/>
                </a:gs>
              </a:gsLst>
              <a:lin ang="54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" name="椭圆 29"/>
            <p:cNvSpPr>
              <a:spLocks noChangeArrowheads="1"/>
            </p:cNvSpPr>
            <p:nvPr/>
          </p:nvSpPr>
          <p:spPr bwMode="gray">
            <a:xfrm>
              <a:off x="2334" y="1112"/>
              <a:ext cx="1097" cy="2752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31" name="椭圆 30"/>
            <p:cNvSpPr>
              <a:spLocks noChangeArrowheads="1"/>
            </p:cNvSpPr>
            <p:nvPr/>
          </p:nvSpPr>
          <p:spPr bwMode="gray">
            <a:xfrm>
              <a:off x="2337" y="1112"/>
              <a:ext cx="1096" cy="2752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10576D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8" name="组合 31"/>
          <p:cNvGrpSpPr>
            <a:grpSpLocks/>
          </p:cNvGrpSpPr>
          <p:nvPr/>
        </p:nvGrpSpPr>
        <p:grpSpPr bwMode="auto">
          <a:xfrm>
            <a:off x="3505200" y="4132655"/>
            <a:ext cx="381000" cy="649233"/>
            <a:chOff x="2078" y="1112"/>
            <a:chExt cx="1615" cy="2752"/>
          </a:xfrm>
        </p:grpSpPr>
        <p:sp>
          <p:nvSpPr>
            <p:cNvPr id="33" name="椭圆 32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椭圆 33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椭圆 34"/>
            <p:cNvSpPr>
              <a:spLocks noChangeArrowheads="1"/>
            </p:cNvSpPr>
            <p:nvPr/>
          </p:nvSpPr>
          <p:spPr bwMode="gray">
            <a:xfrm>
              <a:off x="2253" y="1112"/>
              <a:ext cx="1101" cy="2752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36" name="椭圆 35"/>
            <p:cNvSpPr>
              <a:spLocks noChangeArrowheads="1"/>
            </p:cNvSpPr>
            <p:nvPr/>
          </p:nvSpPr>
          <p:spPr bwMode="gray">
            <a:xfrm>
              <a:off x="2254" y="1112"/>
              <a:ext cx="1101" cy="2752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8D67E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7" name="椭圆 36"/>
            <p:cNvSpPr>
              <a:spLocks noChangeArrowheads="1"/>
            </p:cNvSpPr>
            <p:nvPr/>
          </p:nvSpPr>
          <p:spPr bwMode="gray">
            <a:xfrm>
              <a:off x="2334" y="1112"/>
              <a:ext cx="1097" cy="2752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38" name="椭圆 37"/>
            <p:cNvSpPr>
              <a:spLocks noChangeArrowheads="1"/>
            </p:cNvSpPr>
            <p:nvPr/>
          </p:nvSpPr>
          <p:spPr bwMode="gray">
            <a:xfrm>
              <a:off x="2337" y="1112"/>
              <a:ext cx="1096" cy="2752"/>
            </a:xfrm>
            <a:prstGeom prst="ellipse">
              <a:avLst/>
            </a:prstGeom>
            <a:gradFill rotWithShape="1">
              <a:gsLst>
                <a:gs pos="0">
                  <a:srgbClr val="8D67E1"/>
                </a:gs>
                <a:gs pos="100000">
                  <a:srgbClr val="45326D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5" name="组合 38"/>
          <p:cNvGrpSpPr>
            <a:grpSpLocks/>
          </p:cNvGrpSpPr>
          <p:nvPr/>
        </p:nvGrpSpPr>
        <p:grpSpPr bwMode="auto">
          <a:xfrm>
            <a:off x="3048000" y="4907355"/>
            <a:ext cx="355600" cy="649233"/>
            <a:chOff x="2078" y="1112"/>
            <a:chExt cx="1615" cy="2752"/>
          </a:xfrm>
        </p:grpSpPr>
        <p:sp>
          <p:nvSpPr>
            <p:cNvPr id="40" name="椭圆 39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" name="椭圆 40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" name="椭圆 41"/>
            <p:cNvSpPr>
              <a:spLocks noChangeArrowheads="1"/>
            </p:cNvSpPr>
            <p:nvPr/>
          </p:nvSpPr>
          <p:spPr bwMode="gray">
            <a:xfrm>
              <a:off x="2251" y="1112"/>
              <a:ext cx="1180" cy="2752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43" name="椭圆 42"/>
            <p:cNvSpPr>
              <a:spLocks noChangeArrowheads="1"/>
            </p:cNvSpPr>
            <p:nvPr/>
          </p:nvSpPr>
          <p:spPr bwMode="gray">
            <a:xfrm>
              <a:off x="2254" y="1112"/>
              <a:ext cx="1180" cy="2752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" name="椭圆 43"/>
            <p:cNvSpPr>
              <a:spLocks noChangeArrowheads="1"/>
            </p:cNvSpPr>
            <p:nvPr/>
          </p:nvSpPr>
          <p:spPr bwMode="gray">
            <a:xfrm>
              <a:off x="2338" y="1112"/>
              <a:ext cx="1096" cy="2752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45" name="椭圆 44"/>
            <p:cNvSpPr>
              <a:spLocks noChangeArrowheads="1"/>
            </p:cNvSpPr>
            <p:nvPr/>
          </p:nvSpPr>
          <p:spPr bwMode="gray">
            <a:xfrm>
              <a:off x="2337" y="1112"/>
              <a:ext cx="1096" cy="2752"/>
            </a:xfrm>
            <a:prstGeom prst="ellipse">
              <a:avLst/>
            </a:prstGeom>
            <a:gradFill rotWithShape="1">
              <a:gsLst>
                <a:gs pos="0">
                  <a:srgbClr val="E35E23"/>
                </a:gs>
                <a:gs pos="100000">
                  <a:srgbClr val="6E2E1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自选图形 3"/>
          <p:cNvSpPr>
            <a:spLocks noChangeArrowheads="1"/>
          </p:cNvSpPr>
          <p:nvPr/>
        </p:nvSpPr>
        <p:spPr bwMode="ltGray">
          <a:xfrm rot="5400000">
            <a:off x="-898526" y="1367878"/>
            <a:ext cx="4824413" cy="4770438"/>
          </a:xfrm>
          <a:custGeom>
            <a:avLst/>
            <a:gdLst>
              <a:gd name="G0" fmla="+- 10478 0 0"/>
              <a:gd name="G1" fmla="+- -11739500 0 0"/>
              <a:gd name="G2" fmla="+- 0 0 -11739500"/>
              <a:gd name="T0" fmla="*/ 0 256 1"/>
              <a:gd name="T1" fmla="*/ 180 256 1"/>
              <a:gd name="G3" fmla="+- -11739500 T0 T1"/>
              <a:gd name="T2" fmla="*/ 0 256 1"/>
              <a:gd name="T3" fmla="*/ 90 256 1"/>
              <a:gd name="G4" fmla="+- -11739500 T2 T3"/>
              <a:gd name="G5" fmla="*/ G4 2 1"/>
              <a:gd name="T4" fmla="*/ 90 256 1"/>
              <a:gd name="T5" fmla="*/ 0 256 1"/>
              <a:gd name="G6" fmla="+- -11739500 T4 T5"/>
              <a:gd name="G7" fmla="*/ G6 2 1"/>
              <a:gd name="G8" fmla="abs -11739500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478"/>
              <a:gd name="G18" fmla="*/ 10478 1 2"/>
              <a:gd name="G19" fmla="+- G18 5400 0"/>
              <a:gd name="G20" fmla="cos G19 -11739500"/>
              <a:gd name="G21" fmla="sin G19 -11739500"/>
              <a:gd name="G22" fmla="+- G20 10800 0"/>
              <a:gd name="G23" fmla="+- G21 10800 0"/>
              <a:gd name="G24" fmla="+- 10800 0 G20"/>
              <a:gd name="G25" fmla="+- 10478 10800 0"/>
              <a:gd name="G26" fmla="?: G9 G17 G25"/>
              <a:gd name="G27" fmla="?: G9 0 21600"/>
              <a:gd name="G28" fmla="cos 10800 -11739500"/>
              <a:gd name="G29" fmla="sin 10800 -11739500"/>
              <a:gd name="G30" fmla="sin 10478 -11739500"/>
              <a:gd name="G31" fmla="+- G28 10800 0"/>
              <a:gd name="G32" fmla="+- G29 10800 0"/>
              <a:gd name="G33" fmla="+- G30 10800 0"/>
              <a:gd name="G34" fmla="?: G4 0 G31"/>
              <a:gd name="G35" fmla="?: -11739500 G34 0"/>
              <a:gd name="G36" fmla="?: G6 G35 G31"/>
              <a:gd name="G37" fmla="+- 21600 0 G36"/>
              <a:gd name="G38" fmla="?: G4 0 G33"/>
              <a:gd name="G39" fmla="?: -11739500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162 w 21600"/>
              <a:gd name="T15" fmla="*/ 10638 h 21600"/>
              <a:gd name="T16" fmla="*/ 10800 w 21600"/>
              <a:gd name="T17" fmla="*/ 322 h 21600"/>
              <a:gd name="T18" fmla="*/ 21438 w 21600"/>
              <a:gd name="T19" fmla="*/ 10638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 rotWithShape="1">
            <a:gsLst>
              <a:gs pos="0">
                <a:schemeClr val="bg2">
                  <a:gamma/>
                  <a:tint val="45490"/>
                  <a:invGamma/>
                </a:schemeClr>
              </a:gs>
              <a:gs pos="50000">
                <a:schemeClr val="bg2"/>
              </a:gs>
              <a:gs pos="100000">
                <a:schemeClr val="bg2">
                  <a:gamma/>
                  <a:tint val="45490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6200" dir="10800000" kx="-3284103" algn="b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+mn-ea"/>
            </a:endParaRPr>
          </a:p>
        </p:txBody>
      </p:sp>
      <p:sp>
        <p:nvSpPr>
          <p:cNvPr id="5" name="自选图形 4"/>
          <p:cNvSpPr>
            <a:spLocks noChangeArrowheads="1"/>
          </p:cNvSpPr>
          <p:nvPr/>
        </p:nvSpPr>
        <p:spPr bwMode="ltGray">
          <a:xfrm rot="5400000" flipH="1">
            <a:off x="-492918" y="1803647"/>
            <a:ext cx="4032250" cy="3929063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771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10744" y="10800"/>
                </a:lnTo>
                <a:close/>
              </a:path>
            </a:pathLst>
          </a:custGeom>
          <a:solidFill>
            <a:schemeClr val="accent1">
              <a:alpha val="36078"/>
            </a:schemeClr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自选图形 5"/>
          <p:cNvSpPr>
            <a:spLocks noChangeArrowheads="1"/>
          </p:cNvSpPr>
          <p:nvPr/>
        </p:nvSpPr>
        <p:spPr bwMode="gray">
          <a:xfrm>
            <a:off x="3346451" y="4992140"/>
            <a:ext cx="462121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dirty="0"/>
              <a:t>队列的表示和实现 </a:t>
            </a:r>
          </a:p>
        </p:txBody>
      </p:sp>
      <p:sp>
        <p:nvSpPr>
          <p:cNvPr id="7" name="自选图形 6"/>
          <p:cNvSpPr>
            <a:spLocks noChangeArrowheads="1"/>
          </p:cNvSpPr>
          <p:nvPr/>
        </p:nvSpPr>
        <p:spPr bwMode="gray">
          <a:xfrm>
            <a:off x="3841750" y="4165053"/>
            <a:ext cx="4775200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dirty="0"/>
              <a:t>队列的定义及其</a:t>
            </a:r>
            <a:r>
              <a:rPr lang="en-US" altLang="zh-CN" dirty="0"/>
              <a:t>ADT</a:t>
            </a:r>
            <a:r>
              <a:rPr lang="zh-CN" altLang="en-US" dirty="0"/>
              <a:t>定义</a:t>
            </a:r>
          </a:p>
        </p:txBody>
      </p:sp>
      <p:sp>
        <p:nvSpPr>
          <p:cNvPr id="8" name="自选图形 7"/>
          <p:cNvSpPr>
            <a:spLocks noChangeArrowheads="1"/>
          </p:cNvSpPr>
          <p:nvPr/>
        </p:nvSpPr>
        <p:spPr bwMode="gray">
          <a:xfrm>
            <a:off x="3962400" y="3352253"/>
            <a:ext cx="4654550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dirty="0"/>
              <a:t>栈的应用、与递归的关系</a:t>
            </a:r>
          </a:p>
        </p:txBody>
      </p:sp>
      <p:sp>
        <p:nvSpPr>
          <p:cNvPr id="9" name="自选图形 8"/>
          <p:cNvSpPr>
            <a:spLocks noChangeArrowheads="1"/>
          </p:cNvSpPr>
          <p:nvPr/>
        </p:nvSpPr>
        <p:spPr bwMode="gray">
          <a:xfrm>
            <a:off x="3810000" y="2483890"/>
            <a:ext cx="4662488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dirty="0"/>
              <a:t>栈的表示和实现</a:t>
            </a:r>
          </a:p>
        </p:txBody>
      </p:sp>
      <p:sp>
        <p:nvSpPr>
          <p:cNvPr id="10" name="自选图形 9"/>
          <p:cNvSpPr>
            <a:spLocks noChangeArrowheads="1"/>
          </p:cNvSpPr>
          <p:nvPr/>
        </p:nvSpPr>
        <p:spPr bwMode="gray">
          <a:xfrm>
            <a:off x="3289301" y="1713953"/>
            <a:ext cx="467836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dirty="0"/>
              <a:t>栈的定义及其</a:t>
            </a:r>
            <a:r>
              <a:rPr lang="en-US" altLang="zh-CN" dirty="0"/>
              <a:t>ADT</a:t>
            </a:r>
            <a:r>
              <a:rPr lang="zh-CN" altLang="en-US" dirty="0"/>
              <a:t>定义</a:t>
            </a:r>
          </a:p>
        </p:txBody>
      </p:sp>
      <p:grpSp>
        <p:nvGrpSpPr>
          <p:cNvPr id="2" name="组合 10"/>
          <p:cNvGrpSpPr>
            <a:grpSpLocks/>
          </p:cNvGrpSpPr>
          <p:nvPr/>
        </p:nvGrpSpPr>
        <p:grpSpPr bwMode="auto">
          <a:xfrm>
            <a:off x="2971800" y="1668855"/>
            <a:ext cx="381000" cy="649233"/>
            <a:chOff x="2078" y="1112"/>
            <a:chExt cx="1615" cy="2752"/>
          </a:xfrm>
        </p:grpSpPr>
        <p:sp>
          <p:nvSpPr>
            <p:cNvPr id="12" name="椭圆 11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椭圆 12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椭圆 13"/>
            <p:cNvSpPr>
              <a:spLocks noChangeArrowheads="1"/>
            </p:cNvSpPr>
            <p:nvPr/>
          </p:nvSpPr>
          <p:spPr bwMode="gray">
            <a:xfrm>
              <a:off x="2253" y="1112"/>
              <a:ext cx="1101" cy="2752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15" name="椭圆 14"/>
            <p:cNvSpPr>
              <a:spLocks noChangeArrowheads="1"/>
            </p:cNvSpPr>
            <p:nvPr/>
          </p:nvSpPr>
          <p:spPr bwMode="gray">
            <a:xfrm>
              <a:off x="2254" y="1112"/>
              <a:ext cx="1101" cy="2752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" name="椭圆 15"/>
            <p:cNvSpPr>
              <a:spLocks noChangeArrowheads="1"/>
            </p:cNvSpPr>
            <p:nvPr/>
          </p:nvSpPr>
          <p:spPr bwMode="gray">
            <a:xfrm>
              <a:off x="2334" y="1112"/>
              <a:ext cx="1097" cy="2752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17" name="椭圆 16"/>
            <p:cNvSpPr>
              <a:spLocks noChangeArrowheads="1"/>
            </p:cNvSpPr>
            <p:nvPr/>
          </p:nvSpPr>
          <p:spPr bwMode="gray">
            <a:xfrm>
              <a:off x="2337" y="1112"/>
              <a:ext cx="1096" cy="2752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rgbClr val="7C63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" name="组合 17"/>
          <p:cNvGrpSpPr>
            <a:grpSpLocks/>
          </p:cNvGrpSpPr>
          <p:nvPr/>
        </p:nvGrpSpPr>
        <p:grpSpPr bwMode="auto">
          <a:xfrm>
            <a:off x="3505200" y="2456255"/>
            <a:ext cx="381000" cy="649233"/>
            <a:chOff x="2078" y="1112"/>
            <a:chExt cx="1615" cy="2752"/>
          </a:xfrm>
        </p:grpSpPr>
        <p:sp>
          <p:nvSpPr>
            <p:cNvPr id="19" name="椭圆 18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椭圆 19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椭圆 20"/>
            <p:cNvSpPr>
              <a:spLocks noChangeArrowheads="1"/>
            </p:cNvSpPr>
            <p:nvPr/>
          </p:nvSpPr>
          <p:spPr bwMode="gray">
            <a:xfrm>
              <a:off x="2253" y="1112"/>
              <a:ext cx="1101" cy="2752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22" name="椭圆 21"/>
            <p:cNvSpPr>
              <a:spLocks noChangeArrowheads="1"/>
            </p:cNvSpPr>
            <p:nvPr/>
          </p:nvSpPr>
          <p:spPr bwMode="gray">
            <a:xfrm>
              <a:off x="2254" y="1112"/>
              <a:ext cx="1101" cy="2752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3" name="椭圆 22"/>
            <p:cNvSpPr>
              <a:spLocks noChangeArrowheads="1"/>
            </p:cNvSpPr>
            <p:nvPr/>
          </p:nvSpPr>
          <p:spPr bwMode="gray">
            <a:xfrm>
              <a:off x="2334" y="1112"/>
              <a:ext cx="1097" cy="2752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24" name="椭圆 23"/>
            <p:cNvSpPr>
              <a:spLocks noChangeArrowheads="1"/>
            </p:cNvSpPr>
            <p:nvPr/>
          </p:nvSpPr>
          <p:spPr bwMode="gray">
            <a:xfrm>
              <a:off x="2337" y="1112"/>
              <a:ext cx="1096" cy="2752"/>
            </a:xfrm>
            <a:prstGeom prst="ellipse">
              <a:avLst/>
            </a:prstGeom>
            <a:gradFill rotWithShape="1">
              <a:gsLst>
                <a:gs pos="0">
                  <a:srgbClr val="48BE67"/>
                </a:gs>
                <a:gs pos="100000">
                  <a:srgbClr val="235C32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1" name="组合 24"/>
          <p:cNvGrpSpPr>
            <a:grpSpLocks/>
          </p:cNvGrpSpPr>
          <p:nvPr/>
        </p:nvGrpSpPr>
        <p:grpSpPr bwMode="auto">
          <a:xfrm>
            <a:off x="3657600" y="3294455"/>
            <a:ext cx="381000" cy="649233"/>
            <a:chOff x="2078" y="1112"/>
            <a:chExt cx="1615" cy="2752"/>
          </a:xfrm>
        </p:grpSpPr>
        <p:sp>
          <p:nvSpPr>
            <p:cNvPr id="26" name="椭圆 25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椭圆 26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椭圆 27"/>
            <p:cNvSpPr>
              <a:spLocks noChangeArrowheads="1"/>
            </p:cNvSpPr>
            <p:nvPr/>
          </p:nvSpPr>
          <p:spPr bwMode="gray">
            <a:xfrm>
              <a:off x="2253" y="1112"/>
              <a:ext cx="1101" cy="2752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29" name="椭圆 28"/>
            <p:cNvSpPr>
              <a:spLocks noChangeArrowheads="1"/>
            </p:cNvSpPr>
            <p:nvPr/>
          </p:nvSpPr>
          <p:spPr bwMode="gray">
            <a:xfrm>
              <a:off x="2254" y="1112"/>
              <a:ext cx="1101" cy="2752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0F5368"/>
                </a:gs>
              </a:gsLst>
              <a:lin ang="54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" name="椭圆 29"/>
            <p:cNvSpPr>
              <a:spLocks noChangeArrowheads="1"/>
            </p:cNvSpPr>
            <p:nvPr/>
          </p:nvSpPr>
          <p:spPr bwMode="gray">
            <a:xfrm>
              <a:off x="2334" y="1112"/>
              <a:ext cx="1097" cy="2752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31" name="椭圆 30"/>
            <p:cNvSpPr>
              <a:spLocks noChangeArrowheads="1"/>
            </p:cNvSpPr>
            <p:nvPr/>
          </p:nvSpPr>
          <p:spPr bwMode="gray">
            <a:xfrm>
              <a:off x="2337" y="1112"/>
              <a:ext cx="1096" cy="2752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10576D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8" name="组合 31"/>
          <p:cNvGrpSpPr>
            <a:grpSpLocks/>
          </p:cNvGrpSpPr>
          <p:nvPr/>
        </p:nvGrpSpPr>
        <p:grpSpPr bwMode="auto">
          <a:xfrm>
            <a:off x="3505200" y="4132655"/>
            <a:ext cx="381000" cy="649233"/>
            <a:chOff x="2078" y="1112"/>
            <a:chExt cx="1615" cy="2752"/>
          </a:xfrm>
        </p:grpSpPr>
        <p:sp>
          <p:nvSpPr>
            <p:cNvPr id="33" name="椭圆 32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椭圆 33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椭圆 34"/>
            <p:cNvSpPr>
              <a:spLocks noChangeArrowheads="1"/>
            </p:cNvSpPr>
            <p:nvPr/>
          </p:nvSpPr>
          <p:spPr bwMode="gray">
            <a:xfrm>
              <a:off x="2253" y="1112"/>
              <a:ext cx="1101" cy="2752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36" name="椭圆 35"/>
            <p:cNvSpPr>
              <a:spLocks noChangeArrowheads="1"/>
            </p:cNvSpPr>
            <p:nvPr/>
          </p:nvSpPr>
          <p:spPr bwMode="gray">
            <a:xfrm>
              <a:off x="2254" y="1112"/>
              <a:ext cx="1101" cy="2752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8D67E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7" name="椭圆 36"/>
            <p:cNvSpPr>
              <a:spLocks noChangeArrowheads="1"/>
            </p:cNvSpPr>
            <p:nvPr/>
          </p:nvSpPr>
          <p:spPr bwMode="gray">
            <a:xfrm>
              <a:off x="2334" y="1112"/>
              <a:ext cx="1097" cy="2752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38" name="椭圆 37"/>
            <p:cNvSpPr>
              <a:spLocks noChangeArrowheads="1"/>
            </p:cNvSpPr>
            <p:nvPr/>
          </p:nvSpPr>
          <p:spPr bwMode="gray">
            <a:xfrm>
              <a:off x="2337" y="1112"/>
              <a:ext cx="1096" cy="2752"/>
            </a:xfrm>
            <a:prstGeom prst="ellipse">
              <a:avLst/>
            </a:prstGeom>
            <a:gradFill rotWithShape="1">
              <a:gsLst>
                <a:gs pos="0">
                  <a:srgbClr val="8D67E1"/>
                </a:gs>
                <a:gs pos="100000">
                  <a:srgbClr val="45326D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5" name="组合 38"/>
          <p:cNvGrpSpPr>
            <a:grpSpLocks/>
          </p:cNvGrpSpPr>
          <p:nvPr/>
        </p:nvGrpSpPr>
        <p:grpSpPr bwMode="auto">
          <a:xfrm>
            <a:off x="3048000" y="4907355"/>
            <a:ext cx="355600" cy="649233"/>
            <a:chOff x="2078" y="1112"/>
            <a:chExt cx="1615" cy="2752"/>
          </a:xfrm>
        </p:grpSpPr>
        <p:sp>
          <p:nvSpPr>
            <p:cNvPr id="40" name="椭圆 39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" name="椭圆 40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" name="椭圆 41"/>
            <p:cNvSpPr>
              <a:spLocks noChangeArrowheads="1"/>
            </p:cNvSpPr>
            <p:nvPr/>
          </p:nvSpPr>
          <p:spPr bwMode="gray">
            <a:xfrm>
              <a:off x="2251" y="1112"/>
              <a:ext cx="1180" cy="2752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43" name="椭圆 42"/>
            <p:cNvSpPr>
              <a:spLocks noChangeArrowheads="1"/>
            </p:cNvSpPr>
            <p:nvPr/>
          </p:nvSpPr>
          <p:spPr bwMode="gray">
            <a:xfrm>
              <a:off x="2254" y="1112"/>
              <a:ext cx="1180" cy="2752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" name="椭圆 43"/>
            <p:cNvSpPr>
              <a:spLocks noChangeArrowheads="1"/>
            </p:cNvSpPr>
            <p:nvPr/>
          </p:nvSpPr>
          <p:spPr bwMode="gray">
            <a:xfrm>
              <a:off x="2338" y="1112"/>
              <a:ext cx="1096" cy="2752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45" name="椭圆 44"/>
            <p:cNvSpPr>
              <a:spLocks noChangeArrowheads="1"/>
            </p:cNvSpPr>
            <p:nvPr/>
          </p:nvSpPr>
          <p:spPr bwMode="gray">
            <a:xfrm>
              <a:off x="2337" y="1112"/>
              <a:ext cx="1096" cy="2752"/>
            </a:xfrm>
            <a:prstGeom prst="ellipse">
              <a:avLst/>
            </a:prstGeom>
            <a:gradFill rotWithShape="1">
              <a:gsLst>
                <a:gs pos="0">
                  <a:srgbClr val="E35E23"/>
                </a:gs>
                <a:gs pos="100000">
                  <a:srgbClr val="6E2E1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46" name="自选图形 45"/>
          <p:cNvSpPr>
            <a:spLocks noChangeArrowheads="1"/>
          </p:cNvSpPr>
          <p:nvPr/>
        </p:nvSpPr>
        <p:spPr bwMode="gray">
          <a:xfrm>
            <a:off x="8040216" y="1755602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" name="自选图形 46"/>
          <p:cNvSpPr>
            <a:spLocks noChangeArrowheads="1"/>
          </p:cNvSpPr>
          <p:nvPr/>
        </p:nvSpPr>
        <p:spPr bwMode="gray">
          <a:xfrm>
            <a:off x="8472016" y="1755602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" name="自选图形 47"/>
          <p:cNvSpPr>
            <a:spLocks noChangeArrowheads="1"/>
          </p:cNvSpPr>
          <p:nvPr/>
        </p:nvSpPr>
        <p:spPr bwMode="gray">
          <a:xfrm>
            <a:off x="8903816" y="1755602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8" name="AutoShape 4"/>
          <p:cNvSpPr>
            <a:spLocks noChangeArrowheads="1"/>
          </p:cNvSpPr>
          <p:nvPr/>
        </p:nvSpPr>
        <p:spPr bwMode="auto">
          <a:xfrm>
            <a:off x="5553001" y="5239668"/>
            <a:ext cx="304800" cy="381000"/>
          </a:xfrm>
          <a:prstGeom prst="roundRect">
            <a:avLst>
              <a:gd name="adj" fmla="val 16667"/>
            </a:avLst>
          </a:prstGeom>
          <a:solidFill>
            <a:srgbClr val="FF00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09" name="AutoShape 5"/>
          <p:cNvSpPr>
            <a:spLocks noChangeArrowheads="1"/>
          </p:cNvSpPr>
          <p:nvPr/>
        </p:nvSpPr>
        <p:spPr bwMode="auto">
          <a:xfrm>
            <a:off x="5553001" y="3334668"/>
            <a:ext cx="304800" cy="3810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10" name="Rectangle 6"/>
          <p:cNvSpPr>
            <a:spLocks noChangeArrowheads="1"/>
          </p:cNvSpPr>
          <p:nvPr/>
        </p:nvSpPr>
        <p:spPr bwMode="auto">
          <a:xfrm>
            <a:off x="4987851" y="1277268"/>
            <a:ext cx="5213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zh-CN" altLang="en-US" dirty="0">
                <a:ea typeface="华文中宋" pitchFamily="2" charset="-122"/>
              </a:rPr>
              <a:t>限定仅在表尾进行插入或删除操作</a:t>
            </a:r>
            <a:r>
              <a:rPr lang="zh-CN" altLang="en-US" dirty="0">
                <a:ea typeface="华文中宋" pitchFamily="2" charset="-122"/>
              </a:rPr>
              <a:t>。  </a:t>
            </a:r>
          </a:p>
        </p:txBody>
      </p:sp>
      <p:sp>
        <p:nvSpPr>
          <p:cNvPr id="72713" name="Rectangle 9"/>
          <p:cNvSpPr>
            <a:spLocks noChangeArrowheads="1"/>
          </p:cNvSpPr>
          <p:nvPr/>
        </p:nvSpPr>
        <p:spPr bwMode="auto">
          <a:xfrm>
            <a:off x="2279576" y="764704"/>
            <a:ext cx="20764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Tx/>
              <a:buBlip>
                <a:blip r:embed="rId3"/>
              </a:buBlip>
            </a:pPr>
            <a:r>
              <a:rPr lang="en-US" altLang="zh-CN" dirty="0">
                <a:ea typeface="华文中宋" pitchFamily="2" charset="-122"/>
              </a:rPr>
              <a:t>   </a:t>
            </a:r>
            <a:r>
              <a:rPr lang="zh-CN" altLang="en-US" dirty="0">
                <a:ea typeface="华文中宋" pitchFamily="2" charset="-122"/>
              </a:rPr>
              <a:t>栈的定义   </a:t>
            </a:r>
          </a:p>
        </p:txBody>
      </p:sp>
      <p:grpSp>
        <p:nvGrpSpPr>
          <p:cNvPr id="72714" name="Group 10"/>
          <p:cNvGrpSpPr>
            <a:grpSpLocks/>
          </p:cNvGrpSpPr>
          <p:nvPr/>
        </p:nvGrpSpPr>
        <p:grpSpPr bwMode="auto">
          <a:xfrm>
            <a:off x="5019602" y="3029868"/>
            <a:ext cx="1501775" cy="2608262"/>
            <a:chOff x="2256" y="2256"/>
            <a:chExt cx="946" cy="1643"/>
          </a:xfrm>
        </p:grpSpPr>
        <p:sp>
          <p:nvSpPr>
            <p:cNvPr id="72715" name="Rectangle 11"/>
            <p:cNvSpPr>
              <a:spLocks noChangeArrowheads="1"/>
            </p:cNvSpPr>
            <p:nvPr/>
          </p:nvSpPr>
          <p:spPr bwMode="auto">
            <a:xfrm>
              <a:off x="2256" y="3612"/>
              <a:ext cx="864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n-US" altLang="zh-CN" i="1">
                  <a:ea typeface="宋体" pitchFamily="2" charset="-122"/>
                </a:rPr>
                <a:t>      a</a:t>
              </a:r>
              <a:r>
                <a:rPr lang="en-US" altLang="zh-CN" baseline="-18000">
                  <a:ea typeface="宋体" pitchFamily="2" charset="-122"/>
                </a:rPr>
                <a:t>1</a:t>
              </a:r>
            </a:p>
          </p:txBody>
        </p:sp>
        <p:sp>
          <p:nvSpPr>
            <p:cNvPr id="72716" name="Rectangle 12"/>
            <p:cNvSpPr>
              <a:spLocks noChangeArrowheads="1"/>
            </p:cNvSpPr>
            <p:nvPr/>
          </p:nvSpPr>
          <p:spPr bwMode="auto">
            <a:xfrm>
              <a:off x="2256" y="3325"/>
              <a:ext cx="864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n-US" altLang="zh-CN" i="1">
                  <a:ea typeface="宋体" pitchFamily="2" charset="-122"/>
                </a:rPr>
                <a:t>      a</a:t>
              </a:r>
              <a:r>
                <a:rPr lang="en-US" altLang="zh-CN" baseline="-18000">
                  <a:ea typeface="宋体" pitchFamily="2" charset="-122"/>
                </a:rPr>
                <a:t>2</a:t>
              </a:r>
            </a:p>
          </p:txBody>
        </p:sp>
        <p:sp>
          <p:nvSpPr>
            <p:cNvPr id="72717" name="Rectangle 13"/>
            <p:cNvSpPr>
              <a:spLocks noChangeArrowheads="1"/>
            </p:cNvSpPr>
            <p:nvPr/>
          </p:nvSpPr>
          <p:spPr bwMode="auto">
            <a:xfrm>
              <a:off x="2256" y="2974"/>
              <a:ext cx="864" cy="3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</a:pPr>
              <a:endParaRPr lang="zh-CN" altLang="zh-CN" i="1">
                <a:ea typeface="宋体" pitchFamily="2" charset="-122"/>
              </a:endParaRPr>
            </a:p>
          </p:txBody>
        </p:sp>
        <p:sp>
          <p:nvSpPr>
            <p:cNvPr id="72718" name="Rectangle 14"/>
            <p:cNvSpPr>
              <a:spLocks noChangeArrowheads="1"/>
            </p:cNvSpPr>
            <p:nvPr/>
          </p:nvSpPr>
          <p:spPr bwMode="auto">
            <a:xfrm>
              <a:off x="2256" y="2687"/>
              <a:ext cx="864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n-US" altLang="zh-CN" i="1">
                  <a:ea typeface="宋体" pitchFamily="2" charset="-122"/>
                </a:rPr>
                <a:t>      a</a:t>
              </a:r>
              <a:r>
                <a:rPr lang="en-US" altLang="zh-CN" i="1" baseline="-25000">
                  <a:ea typeface="宋体" pitchFamily="2" charset="-122"/>
                </a:rPr>
                <a:t>n</a:t>
              </a:r>
              <a:r>
                <a:rPr lang="en-US" altLang="zh-CN" baseline="-25000">
                  <a:ea typeface="宋体" pitchFamily="2" charset="-122"/>
                </a:rPr>
                <a:t>-1</a:t>
              </a:r>
            </a:p>
          </p:txBody>
        </p:sp>
        <p:sp>
          <p:nvSpPr>
            <p:cNvPr id="72719" name="Rectangle 15"/>
            <p:cNvSpPr>
              <a:spLocks noChangeArrowheads="1"/>
            </p:cNvSpPr>
            <p:nvPr/>
          </p:nvSpPr>
          <p:spPr bwMode="auto">
            <a:xfrm>
              <a:off x="2256" y="2400"/>
              <a:ext cx="864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n-US" altLang="zh-CN" i="1">
                  <a:ea typeface="宋体" pitchFamily="2" charset="-122"/>
                </a:rPr>
                <a:t>      a</a:t>
              </a:r>
              <a:r>
                <a:rPr lang="en-US" altLang="zh-CN" i="1" baseline="-25000">
                  <a:ea typeface="宋体" pitchFamily="2" charset="-122"/>
                </a:rPr>
                <a:t>n</a:t>
              </a:r>
            </a:p>
          </p:txBody>
        </p:sp>
        <p:sp>
          <p:nvSpPr>
            <p:cNvPr id="72720" name="Line 16"/>
            <p:cNvSpPr>
              <a:spLocks noChangeShapeType="1"/>
            </p:cNvSpPr>
            <p:nvPr/>
          </p:nvSpPr>
          <p:spPr bwMode="auto">
            <a:xfrm>
              <a:off x="2256" y="2400"/>
              <a:ext cx="864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721" name="Line 17"/>
            <p:cNvSpPr>
              <a:spLocks noChangeShapeType="1"/>
            </p:cNvSpPr>
            <p:nvPr/>
          </p:nvSpPr>
          <p:spPr bwMode="auto">
            <a:xfrm>
              <a:off x="2256" y="2687"/>
              <a:ext cx="8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722" name="Line 18"/>
            <p:cNvSpPr>
              <a:spLocks noChangeShapeType="1"/>
            </p:cNvSpPr>
            <p:nvPr/>
          </p:nvSpPr>
          <p:spPr bwMode="auto">
            <a:xfrm>
              <a:off x="2256" y="2974"/>
              <a:ext cx="8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723" name="Line 19"/>
            <p:cNvSpPr>
              <a:spLocks noChangeShapeType="1"/>
            </p:cNvSpPr>
            <p:nvPr/>
          </p:nvSpPr>
          <p:spPr bwMode="auto">
            <a:xfrm>
              <a:off x="2256" y="3325"/>
              <a:ext cx="8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724" name="Line 20"/>
            <p:cNvSpPr>
              <a:spLocks noChangeShapeType="1"/>
            </p:cNvSpPr>
            <p:nvPr/>
          </p:nvSpPr>
          <p:spPr bwMode="auto">
            <a:xfrm>
              <a:off x="2256" y="3612"/>
              <a:ext cx="8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725" name="Line 21"/>
            <p:cNvSpPr>
              <a:spLocks noChangeShapeType="1"/>
            </p:cNvSpPr>
            <p:nvPr/>
          </p:nvSpPr>
          <p:spPr bwMode="auto">
            <a:xfrm>
              <a:off x="2256" y="3899"/>
              <a:ext cx="864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726" name="Line 22"/>
            <p:cNvSpPr>
              <a:spLocks noChangeShapeType="1"/>
            </p:cNvSpPr>
            <p:nvPr/>
          </p:nvSpPr>
          <p:spPr bwMode="auto">
            <a:xfrm>
              <a:off x="2256" y="2400"/>
              <a:ext cx="0" cy="149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727" name="Line 23"/>
            <p:cNvSpPr>
              <a:spLocks noChangeShapeType="1"/>
            </p:cNvSpPr>
            <p:nvPr/>
          </p:nvSpPr>
          <p:spPr bwMode="auto">
            <a:xfrm>
              <a:off x="3120" y="2400"/>
              <a:ext cx="0" cy="149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728" name="Text Box 24"/>
            <p:cNvSpPr txBox="1">
              <a:spLocks noChangeArrowheads="1"/>
            </p:cNvSpPr>
            <p:nvPr/>
          </p:nvSpPr>
          <p:spPr bwMode="auto">
            <a:xfrm>
              <a:off x="2544" y="2976"/>
              <a:ext cx="65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… </a:t>
              </a:r>
            </a:p>
          </p:txBody>
        </p:sp>
        <p:sp>
          <p:nvSpPr>
            <p:cNvPr id="72729" name="Line 25"/>
            <p:cNvSpPr>
              <a:spLocks noChangeShapeType="1"/>
            </p:cNvSpPr>
            <p:nvPr/>
          </p:nvSpPr>
          <p:spPr bwMode="auto">
            <a:xfrm>
              <a:off x="2256" y="225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730" name="Line 26"/>
            <p:cNvSpPr>
              <a:spLocks noChangeShapeType="1"/>
            </p:cNvSpPr>
            <p:nvPr/>
          </p:nvSpPr>
          <p:spPr bwMode="auto">
            <a:xfrm>
              <a:off x="3120" y="2256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72731" name="Line 27"/>
          <p:cNvSpPr>
            <a:spLocks noChangeShapeType="1"/>
          </p:cNvSpPr>
          <p:nvPr/>
        </p:nvSpPr>
        <p:spPr bwMode="auto">
          <a:xfrm>
            <a:off x="4410001" y="5392068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72732" name="Line 28"/>
          <p:cNvSpPr>
            <a:spLocks noChangeShapeType="1"/>
          </p:cNvSpPr>
          <p:nvPr/>
        </p:nvSpPr>
        <p:spPr bwMode="auto">
          <a:xfrm>
            <a:off x="4410001" y="3487068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72733" name="Text Box 29"/>
          <p:cNvSpPr txBox="1">
            <a:spLocks noChangeArrowheads="1"/>
          </p:cNvSpPr>
          <p:nvPr/>
        </p:nvSpPr>
        <p:spPr bwMode="auto">
          <a:xfrm>
            <a:off x="3616251" y="3182268"/>
            <a:ext cx="1022350" cy="8015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栈顶</a:t>
            </a:r>
          </a:p>
          <a:p>
            <a:pPr>
              <a:lnSpc>
                <a:spcPct val="30000"/>
              </a:lnSpc>
              <a:spcBef>
                <a:spcPct val="50000"/>
              </a:spcBef>
            </a:pPr>
            <a:r>
              <a:rPr lang="en-US" altLang="zh-CN"/>
              <a:t>(top)</a:t>
            </a:r>
          </a:p>
        </p:txBody>
      </p:sp>
      <p:sp>
        <p:nvSpPr>
          <p:cNvPr id="72734" name="Text Box 30"/>
          <p:cNvSpPr txBox="1">
            <a:spLocks noChangeArrowheads="1"/>
          </p:cNvSpPr>
          <p:nvPr/>
        </p:nvSpPr>
        <p:spPr bwMode="auto">
          <a:xfrm>
            <a:off x="3571801" y="5163468"/>
            <a:ext cx="1447800" cy="8015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/>
              <a:t> </a:t>
            </a:r>
            <a:r>
              <a:rPr lang="zh-CN" altLang="en-US"/>
              <a:t>栈底</a:t>
            </a:r>
          </a:p>
          <a:p>
            <a:pPr>
              <a:lnSpc>
                <a:spcPct val="70000"/>
              </a:lnSpc>
              <a:spcBef>
                <a:spcPct val="20000"/>
              </a:spcBef>
            </a:pPr>
            <a:r>
              <a:rPr lang="en-US" altLang="zh-CN"/>
              <a:t>(bottom)</a:t>
            </a:r>
          </a:p>
        </p:txBody>
      </p:sp>
      <p:sp>
        <p:nvSpPr>
          <p:cNvPr id="72735" name="Text Box 31"/>
          <p:cNvSpPr txBox="1">
            <a:spLocks noChangeArrowheads="1"/>
          </p:cNvSpPr>
          <p:nvPr/>
        </p:nvSpPr>
        <p:spPr bwMode="auto">
          <a:xfrm>
            <a:off x="3800401" y="2572668"/>
            <a:ext cx="869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/>
              <a:t>出栈 </a:t>
            </a:r>
          </a:p>
        </p:txBody>
      </p:sp>
      <p:sp>
        <p:nvSpPr>
          <p:cNvPr id="72736" name="Text Box 32"/>
          <p:cNvSpPr txBox="1">
            <a:spLocks noChangeArrowheads="1"/>
          </p:cNvSpPr>
          <p:nvPr/>
        </p:nvSpPr>
        <p:spPr bwMode="auto">
          <a:xfrm>
            <a:off x="6696001" y="2572668"/>
            <a:ext cx="869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/>
              <a:t>进栈 </a:t>
            </a:r>
          </a:p>
        </p:txBody>
      </p:sp>
      <p:sp>
        <p:nvSpPr>
          <p:cNvPr id="72737" name="Line 33"/>
          <p:cNvSpPr>
            <a:spLocks noChangeShapeType="1"/>
          </p:cNvSpPr>
          <p:nvPr/>
        </p:nvSpPr>
        <p:spPr bwMode="auto">
          <a:xfrm>
            <a:off x="5934001" y="5468268"/>
            <a:ext cx="838200" cy="0"/>
          </a:xfrm>
          <a:prstGeom prst="line">
            <a:avLst/>
          </a:prstGeom>
          <a:noFill/>
          <a:ln w="12700">
            <a:solidFill>
              <a:srgbClr val="0000FF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72738" name="Text Box 34"/>
          <p:cNvSpPr txBox="1">
            <a:spLocks noChangeArrowheads="1"/>
          </p:cNvSpPr>
          <p:nvPr/>
        </p:nvSpPr>
        <p:spPr bwMode="auto">
          <a:xfrm>
            <a:off x="6696001" y="5239668"/>
            <a:ext cx="167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>
                <a:solidFill>
                  <a:srgbClr val="0000FF"/>
                </a:solidFill>
              </a:rPr>
              <a:t> </a:t>
            </a:r>
            <a:r>
              <a:rPr lang="zh-CN" altLang="en-US">
                <a:solidFill>
                  <a:srgbClr val="0000FF"/>
                </a:solidFill>
              </a:rPr>
              <a:t>栈底元素 </a:t>
            </a:r>
          </a:p>
        </p:txBody>
      </p:sp>
      <p:sp>
        <p:nvSpPr>
          <p:cNvPr id="72739" name="Line 35"/>
          <p:cNvSpPr>
            <a:spLocks noChangeShapeType="1"/>
          </p:cNvSpPr>
          <p:nvPr/>
        </p:nvSpPr>
        <p:spPr bwMode="auto">
          <a:xfrm>
            <a:off x="5934001" y="3487068"/>
            <a:ext cx="838200" cy="0"/>
          </a:xfrm>
          <a:prstGeom prst="line">
            <a:avLst/>
          </a:prstGeom>
          <a:noFill/>
          <a:ln w="12700">
            <a:solidFill>
              <a:srgbClr val="FF3300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72740" name="Text Box 36"/>
          <p:cNvSpPr txBox="1">
            <a:spLocks noChangeArrowheads="1"/>
          </p:cNvSpPr>
          <p:nvPr/>
        </p:nvSpPr>
        <p:spPr bwMode="auto">
          <a:xfrm>
            <a:off x="6696001" y="3258468"/>
            <a:ext cx="167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>
                <a:solidFill>
                  <a:srgbClr val="FF3300"/>
                </a:solidFill>
              </a:rPr>
              <a:t> </a:t>
            </a:r>
            <a:r>
              <a:rPr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栈顶元素</a:t>
            </a:r>
            <a:r>
              <a:rPr lang="zh-CN" altLang="en-US">
                <a:solidFill>
                  <a:srgbClr val="FF3300"/>
                </a:solidFill>
              </a:rPr>
              <a:t> </a:t>
            </a:r>
          </a:p>
        </p:txBody>
      </p:sp>
      <p:sp>
        <p:nvSpPr>
          <p:cNvPr id="72741" name="Rectangle 37"/>
          <p:cNvSpPr>
            <a:spLocks noChangeArrowheads="1"/>
          </p:cNvSpPr>
          <p:nvPr/>
        </p:nvSpPr>
        <p:spPr bwMode="auto">
          <a:xfrm>
            <a:off x="2971726" y="1582068"/>
            <a:ext cx="1860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栈：</a:t>
            </a:r>
            <a:r>
              <a:rPr kumimoji="0" lang="zh-CN" altLang="en-US">
                <a:ea typeface="华文中宋" pitchFamily="2" charset="-122"/>
              </a:rPr>
              <a:t>线性表</a:t>
            </a:r>
            <a:r>
              <a:rPr lang="zh-CN" altLang="en-US">
                <a:ea typeface="华文中宋" pitchFamily="2" charset="-122"/>
              </a:rPr>
              <a:t>  </a:t>
            </a:r>
          </a:p>
        </p:txBody>
      </p:sp>
      <p:sp>
        <p:nvSpPr>
          <p:cNvPr id="72742" name="Rectangle 38"/>
          <p:cNvSpPr>
            <a:spLocks noChangeArrowheads="1"/>
          </p:cNvSpPr>
          <p:nvPr/>
        </p:nvSpPr>
        <p:spPr bwMode="auto">
          <a:xfrm>
            <a:off x="4943402" y="1963068"/>
            <a:ext cx="35702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zh-CN" altLang="en-US">
                <a:ea typeface="华文中宋" pitchFamily="2" charset="-122"/>
              </a:rPr>
              <a:t>后进先出 </a:t>
            </a:r>
            <a:r>
              <a:rPr kumimoji="0" lang="en-US" altLang="zh-CN">
                <a:ea typeface="华文中宋" pitchFamily="2" charset="-122"/>
              </a:rPr>
              <a:t>(LIFO</a:t>
            </a:r>
            <a:r>
              <a:rPr kumimoji="0" lang="zh-CN" altLang="en-US">
                <a:ea typeface="华文中宋" pitchFamily="2" charset="-122"/>
              </a:rPr>
              <a:t>结构</a:t>
            </a:r>
            <a:r>
              <a:rPr kumimoji="0" lang="en-US" altLang="zh-CN">
                <a:ea typeface="华文中宋" pitchFamily="2" charset="-122"/>
              </a:rPr>
              <a:t>)</a:t>
            </a:r>
            <a:r>
              <a:rPr lang="zh-CN" altLang="en-US">
                <a:ea typeface="华文中宋" pitchFamily="2" charset="-122"/>
              </a:rPr>
              <a:t>。   </a:t>
            </a:r>
          </a:p>
        </p:txBody>
      </p:sp>
      <p:sp>
        <p:nvSpPr>
          <p:cNvPr id="72743" name="AutoShape 39"/>
          <p:cNvSpPr>
            <a:spLocks/>
          </p:cNvSpPr>
          <p:nvPr/>
        </p:nvSpPr>
        <p:spPr bwMode="auto">
          <a:xfrm>
            <a:off x="4791001" y="1505868"/>
            <a:ext cx="152400" cy="685800"/>
          </a:xfrm>
          <a:prstGeom prst="leftBrace">
            <a:avLst>
              <a:gd name="adj1" fmla="val 375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44" name="AutoShape 40"/>
          <p:cNvSpPr>
            <a:spLocks noChangeArrowheads="1"/>
          </p:cNvSpPr>
          <p:nvPr/>
        </p:nvSpPr>
        <p:spPr bwMode="auto">
          <a:xfrm rot="-19798138" flipH="1" flipV="1">
            <a:off x="4524301" y="2636169"/>
            <a:ext cx="990600" cy="352425"/>
          </a:xfrm>
          <a:prstGeom prst="curvedUpArrow">
            <a:avLst>
              <a:gd name="adj1" fmla="val 56216"/>
              <a:gd name="adj2" fmla="val 112432"/>
              <a:gd name="adj3" fmla="val 33333"/>
            </a:avLst>
          </a:prstGeom>
          <a:solidFill>
            <a:srgbClr val="FF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45" name="AutoShape 41"/>
          <p:cNvSpPr>
            <a:spLocks noChangeArrowheads="1"/>
          </p:cNvSpPr>
          <p:nvPr/>
        </p:nvSpPr>
        <p:spPr bwMode="auto">
          <a:xfrm rot="-23802239" flipH="1" flipV="1">
            <a:off x="5705401" y="2677444"/>
            <a:ext cx="990600" cy="352425"/>
          </a:xfrm>
          <a:prstGeom prst="curvedUpArrow">
            <a:avLst>
              <a:gd name="adj1" fmla="val 56216"/>
              <a:gd name="adj2" fmla="val 112432"/>
              <a:gd name="adj3" fmla="val 33333"/>
            </a:avLst>
          </a:prstGeom>
          <a:solidFill>
            <a:srgbClr val="FF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slow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2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2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2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2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72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72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72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2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5" dur="500"/>
                                        <p:tgtEl>
                                          <p:spTgt spid="72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72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72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72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72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8" dur="500"/>
                                        <p:tgtEl>
                                          <p:spTgt spid="72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72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72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1" dur="500"/>
                                        <p:tgtEl>
                                          <p:spTgt spid="72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72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000"/>
                            </p:stCondLst>
                            <p:childTnLst>
                              <p:par>
                                <p:cTn id="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72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8" grpId="0" animBg="1"/>
      <p:bldP spid="72709" grpId="0" animBg="1"/>
      <p:bldP spid="72710" grpId="0" autoUpdateAnimBg="0"/>
      <p:bldP spid="72731" grpId="0" animBg="1"/>
      <p:bldP spid="72732" grpId="0" animBg="1"/>
      <p:bldP spid="72733" grpId="0" autoUpdateAnimBg="0"/>
      <p:bldP spid="72734" grpId="0" autoUpdateAnimBg="0"/>
      <p:bldP spid="72735" grpId="0" autoUpdateAnimBg="0"/>
      <p:bldP spid="72736" grpId="0" autoUpdateAnimBg="0"/>
      <p:bldP spid="72737" grpId="0" animBg="1"/>
      <p:bldP spid="72738" grpId="0" autoUpdateAnimBg="0"/>
      <p:bldP spid="72739" grpId="0" animBg="1"/>
      <p:bldP spid="72740" grpId="0" autoUpdateAnimBg="0"/>
      <p:bldP spid="72741" grpId="0" autoUpdateAnimBg="0"/>
      <p:bldP spid="72742" grpId="0" autoUpdateAnimBg="0"/>
      <p:bldP spid="72743" grpId="0" animBg="1"/>
      <p:bldP spid="72744" grpId="0" animBg="1"/>
      <p:bldP spid="7274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ChangeArrowheads="1"/>
          </p:cNvSpPr>
          <p:nvPr/>
        </p:nvSpPr>
        <p:spPr bwMode="auto">
          <a:xfrm>
            <a:off x="2279577" y="764705"/>
            <a:ext cx="274947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dirty="0">
                <a:ea typeface="华文中宋" pitchFamily="2" charset="-122"/>
              </a:rPr>
              <a:t>练习</a:t>
            </a:r>
            <a:r>
              <a:rPr lang="en-US" altLang="zh-CN" dirty="0">
                <a:ea typeface="华文中宋" pitchFamily="2" charset="-122"/>
              </a:rPr>
              <a:t>:</a:t>
            </a:r>
            <a:r>
              <a:rPr lang="zh-CN" altLang="en-US" dirty="0">
                <a:ea typeface="华文中宋" pitchFamily="2" charset="-122"/>
              </a:rPr>
              <a:t>栈的逻辑特性</a:t>
            </a:r>
          </a:p>
        </p:txBody>
      </p:sp>
      <p:sp>
        <p:nvSpPr>
          <p:cNvPr id="3" name="矩形 2"/>
          <p:cNvSpPr/>
          <p:nvPr/>
        </p:nvSpPr>
        <p:spPr>
          <a:xfrm>
            <a:off x="2279576" y="1676773"/>
            <a:ext cx="804664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dirty="0"/>
              <a:t>【例</a:t>
            </a:r>
            <a:r>
              <a:rPr lang="en-US" altLang="zh-CN" dirty="0"/>
              <a:t>1</a:t>
            </a:r>
            <a:r>
              <a:rPr lang="zh-CN" altLang="zh-CN" dirty="0"/>
              <a:t>】、设输入序列</a:t>
            </a:r>
            <a:r>
              <a:rPr lang="en-US" altLang="zh-CN" dirty="0"/>
              <a:t>1</a:t>
            </a:r>
            <a:r>
              <a:rPr lang="zh-CN" altLang="zh-CN" dirty="0"/>
              <a:t>、</a:t>
            </a:r>
            <a:r>
              <a:rPr lang="en-US" altLang="zh-CN" dirty="0"/>
              <a:t>2</a:t>
            </a:r>
            <a:r>
              <a:rPr lang="zh-CN" altLang="zh-CN" dirty="0"/>
              <a:t>、</a:t>
            </a:r>
            <a:r>
              <a:rPr lang="en-US" altLang="zh-CN" dirty="0"/>
              <a:t>3</a:t>
            </a:r>
            <a:r>
              <a:rPr lang="zh-CN" altLang="zh-CN" dirty="0"/>
              <a:t>、</a:t>
            </a:r>
            <a:r>
              <a:rPr lang="en-US" altLang="zh-CN" dirty="0"/>
              <a:t>4</a:t>
            </a:r>
            <a:r>
              <a:rPr lang="zh-CN" altLang="zh-CN" dirty="0"/>
              <a:t>，则下述序列中（ ）不可能是出栈序列。【中科院中国科技大学</a:t>
            </a:r>
            <a:r>
              <a:rPr lang="en-US" altLang="zh-CN" dirty="0"/>
              <a:t>2005</a:t>
            </a:r>
            <a:r>
              <a:rPr lang="zh-CN" altLang="zh-CN" dirty="0"/>
              <a:t>】</a:t>
            </a:r>
          </a:p>
          <a:p>
            <a:r>
              <a:rPr lang="en-US" altLang="zh-CN" dirty="0"/>
              <a:t>A. 1</a:t>
            </a:r>
            <a:r>
              <a:rPr lang="zh-CN" altLang="zh-CN" dirty="0"/>
              <a:t>、</a:t>
            </a:r>
            <a:r>
              <a:rPr lang="en-US" altLang="zh-CN" dirty="0"/>
              <a:t>2</a:t>
            </a:r>
            <a:r>
              <a:rPr lang="zh-CN" altLang="zh-CN" dirty="0"/>
              <a:t>、</a:t>
            </a:r>
            <a:r>
              <a:rPr lang="en-US" altLang="zh-CN" dirty="0"/>
              <a:t>3</a:t>
            </a:r>
            <a:r>
              <a:rPr lang="zh-CN" altLang="zh-CN" dirty="0"/>
              <a:t>、</a:t>
            </a:r>
            <a:r>
              <a:rPr lang="en-US" altLang="zh-CN" dirty="0"/>
              <a:t>4                      B. 4</a:t>
            </a:r>
            <a:r>
              <a:rPr lang="zh-CN" altLang="zh-CN" dirty="0"/>
              <a:t>、</a:t>
            </a:r>
            <a:r>
              <a:rPr lang="en-US" altLang="zh-CN" dirty="0"/>
              <a:t> 3</a:t>
            </a:r>
            <a:r>
              <a:rPr lang="zh-CN" altLang="zh-CN" dirty="0"/>
              <a:t>、</a:t>
            </a:r>
            <a:r>
              <a:rPr lang="en-US" altLang="zh-CN" dirty="0"/>
              <a:t>2</a:t>
            </a:r>
            <a:r>
              <a:rPr lang="zh-CN" altLang="zh-CN" dirty="0"/>
              <a:t>、</a:t>
            </a:r>
            <a:r>
              <a:rPr lang="en-US" altLang="zh-CN" dirty="0"/>
              <a:t>1</a:t>
            </a:r>
            <a:endParaRPr lang="zh-CN" altLang="zh-CN" dirty="0"/>
          </a:p>
          <a:p>
            <a:r>
              <a:rPr lang="en-US" altLang="zh-CN" dirty="0"/>
              <a:t>C. 1</a:t>
            </a:r>
            <a:r>
              <a:rPr lang="zh-CN" altLang="zh-CN" dirty="0"/>
              <a:t>、</a:t>
            </a:r>
            <a:r>
              <a:rPr lang="en-US" altLang="zh-CN" dirty="0"/>
              <a:t>3</a:t>
            </a:r>
            <a:r>
              <a:rPr lang="zh-CN" altLang="zh-CN" dirty="0"/>
              <a:t>、</a:t>
            </a:r>
            <a:r>
              <a:rPr lang="en-US" altLang="zh-CN" dirty="0"/>
              <a:t>4</a:t>
            </a:r>
            <a:r>
              <a:rPr lang="zh-CN" altLang="zh-CN" dirty="0"/>
              <a:t>、</a:t>
            </a:r>
            <a:r>
              <a:rPr lang="en-US" altLang="zh-CN" dirty="0"/>
              <a:t>2                      D.</a:t>
            </a:r>
            <a:r>
              <a:rPr lang="zh-CN" altLang="zh-CN" dirty="0"/>
              <a:t>４、</a:t>
            </a:r>
            <a:r>
              <a:rPr lang="en-US" altLang="zh-CN" dirty="0"/>
              <a:t>1</a:t>
            </a:r>
            <a:r>
              <a:rPr lang="zh-CN" altLang="zh-CN" dirty="0"/>
              <a:t>、</a:t>
            </a:r>
            <a:r>
              <a:rPr lang="en-US" altLang="zh-CN" dirty="0"/>
              <a:t>2</a:t>
            </a:r>
            <a:r>
              <a:rPr lang="zh-CN" altLang="zh-CN" dirty="0"/>
              <a:t>、</a:t>
            </a:r>
            <a:r>
              <a:rPr lang="en-US" altLang="zh-CN" dirty="0"/>
              <a:t>3</a:t>
            </a:r>
            <a:endParaRPr lang="zh-CN" altLang="zh-CN" dirty="0"/>
          </a:p>
        </p:txBody>
      </p:sp>
      <p:sp>
        <p:nvSpPr>
          <p:cNvPr id="4" name="圆角矩形 3"/>
          <p:cNvSpPr/>
          <p:nvPr/>
        </p:nvSpPr>
        <p:spPr bwMode="auto">
          <a:xfrm>
            <a:off x="2423592" y="3789040"/>
            <a:ext cx="1584176" cy="504056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zh-CN" dirty="0"/>
              <a:t>答案：Ｄ</a:t>
            </a:r>
            <a:r>
              <a:rPr lang="en-US" altLang="zh-CN" dirty="0"/>
              <a:t>.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2146210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自选图形 3"/>
          <p:cNvSpPr>
            <a:spLocks noChangeArrowheads="1"/>
          </p:cNvSpPr>
          <p:nvPr/>
        </p:nvSpPr>
        <p:spPr bwMode="ltGray">
          <a:xfrm rot="5400000">
            <a:off x="-898526" y="1367878"/>
            <a:ext cx="4824413" cy="4770438"/>
          </a:xfrm>
          <a:custGeom>
            <a:avLst/>
            <a:gdLst>
              <a:gd name="G0" fmla="+- 10478 0 0"/>
              <a:gd name="G1" fmla="+- -11739500 0 0"/>
              <a:gd name="G2" fmla="+- 0 0 -11739500"/>
              <a:gd name="T0" fmla="*/ 0 256 1"/>
              <a:gd name="T1" fmla="*/ 180 256 1"/>
              <a:gd name="G3" fmla="+- -11739500 T0 T1"/>
              <a:gd name="T2" fmla="*/ 0 256 1"/>
              <a:gd name="T3" fmla="*/ 90 256 1"/>
              <a:gd name="G4" fmla="+- -11739500 T2 T3"/>
              <a:gd name="G5" fmla="*/ G4 2 1"/>
              <a:gd name="T4" fmla="*/ 90 256 1"/>
              <a:gd name="T5" fmla="*/ 0 256 1"/>
              <a:gd name="G6" fmla="+- -11739500 T4 T5"/>
              <a:gd name="G7" fmla="*/ G6 2 1"/>
              <a:gd name="G8" fmla="abs -11739500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478"/>
              <a:gd name="G18" fmla="*/ 10478 1 2"/>
              <a:gd name="G19" fmla="+- G18 5400 0"/>
              <a:gd name="G20" fmla="cos G19 -11739500"/>
              <a:gd name="G21" fmla="sin G19 -11739500"/>
              <a:gd name="G22" fmla="+- G20 10800 0"/>
              <a:gd name="G23" fmla="+- G21 10800 0"/>
              <a:gd name="G24" fmla="+- 10800 0 G20"/>
              <a:gd name="G25" fmla="+- 10478 10800 0"/>
              <a:gd name="G26" fmla="?: G9 G17 G25"/>
              <a:gd name="G27" fmla="?: G9 0 21600"/>
              <a:gd name="G28" fmla="cos 10800 -11739500"/>
              <a:gd name="G29" fmla="sin 10800 -11739500"/>
              <a:gd name="G30" fmla="sin 10478 -11739500"/>
              <a:gd name="G31" fmla="+- G28 10800 0"/>
              <a:gd name="G32" fmla="+- G29 10800 0"/>
              <a:gd name="G33" fmla="+- G30 10800 0"/>
              <a:gd name="G34" fmla="?: G4 0 G31"/>
              <a:gd name="G35" fmla="?: -11739500 G34 0"/>
              <a:gd name="G36" fmla="?: G6 G35 G31"/>
              <a:gd name="G37" fmla="+- 21600 0 G36"/>
              <a:gd name="G38" fmla="?: G4 0 G33"/>
              <a:gd name="G39" fmla="?: -11739500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162 w 21600"/>
              <a:gd name="T15" fmla="*/ 10638 h 21600"/>
              <a:gd name="T16" fmla="*/ 10800 w 21600"/>
              <a:gd name="T17" fmla="*/ 322 h 21600"/>
              <a:gd name="T18" fmla="*/ 21438 w 21600"/>
              <a:gd name="T19" fmla="*/ 10638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 rotWithShape="1">
            <a:gsLst>
              <a:gs pos="0">
                <a:schemeClr val="bg2">
                  <a:gamma/>
                  <a:tint val="45490"/>
                  <a:invGamma/>
                </a:schemeClr>
              </a:gs>
              <a:gs pos="50000">
                <a:schemeClr val="bg2"/>
              </a:gs>
              <a:gs pos="100000">
                <a:schemeClr val="bg2">
                  <a:gamma/>
                  <a:tint val="45490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6200" dir="10800000" kx="-3284103" algn="b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+mn-ea"/>
            </a:endParaRPr>
          </a:p>
        </p:txBody>
      </p:sp>
      <p:sp>
        <p:nvSpPr>
          <p:cNvPr id="5" name="自选图形 4"/>
          <p:cNvSpPr>
            <a:spLocks noChangeArrowheads="1"/>
          </p:cNvSpPr>
          <p:nvPr/>
        </p:nvSpPr>
        <p:spPr bwMode="ltGray">
          <a:xfrm rot="5400000" flipH="1">
            <a:off x="-492918" y="1803647"/>
            <a:ext cx="4032250" cy="3929063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771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10744" y="10800"/>
                </a:lnTo>
                <a:close/>
              </a:path>
            </a:pathLst>
          </a:custGeom>
          <a:solidFill>
            <a:schemeClr val="accent1">
              <a:alpha val="36078"/>
            </a:schemeClr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自选图形 5"/>
          <p:cNvSpPr>
            <a:spLocks noChangeArrowheads="1"/>
          </p:cNvSpPr>
          <p:nvPr/>
        </p:nvSpPr>
        <p:spPr bwMode="gray">
          <a:xfrm>
            <a:off x="3346451" y="4992140"/>
            <a:ext cx="462121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dirty="0"/>
              <a:t>队列的表示和实现</a:t>
            </a:r>
          </a:p>
        </p:txBody>
      </p:sp>
      <p:sp>
        <p:nvSpPr>
          <p:cNvPr id="7" name="自选图形 6"/>
          <p:cNvSpPr>
            <a:spLocks noChangeArrowheads="1"/>
          </p:cNvSpPr>
          <p:nvPr/>
        </p:nvSpPr>
        <p:spPr bwMode="gray">
          <a:xfrm>
            <a:off x="3841750" y="4165053"/>
            <a:ext cx="4775200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dirty="0"/>
              <a:t>队列的定义及其</a:t>
            </a:r>
            <a:r>
              <a:rPr lang="en-US" altLang="zh-CN" dirty="0"/>
              <a:t>ADT</a:t>
            </a:r>
            <a:r>
              <a:rPr lang="zh-CN" altLang="en-US" dirty="0"/>
              <a:t>定义</a:t>
            </a:r>
          </a:p>
        </p:txBody>
      </p:sp>
      <p:sp>
        <p:nvSpPr>
          <p:cNvPr id="8" name="自选图形 7"/>
          <p:cNvSpPr>
            <a:spLocks noChangeArrowheads="1"/>
          </p:cNvSpPr>
          <p:nvPr/>
        </p:nvSpPr>
        <p:spPr bwMode="gray">
          <a:xfrm>
            <a:off x="3962400" y="3352253"/>
            <a:ext cx="4654550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dirty="0"/>
              <a:t>栈的应用、与递归的关系</a:t>
            </a:r>
          </a:p>
        </p:txBody>
      </p:sp>
      <p:sp>
        <p:nvSpPr>
          <p:cNvPr id="9" name="自选图形 8"/>
          <p:cNvSpPr>
            <a:spLocks noChangeArrowheads="1"/>
          </p:cNvSpPr>
          <p:nvPr/>
        </p:nvSpPr>
        <p:spPr bwMode="gray">
          <a:xfrm>
            <a:off x="3810000" y="2483890"/>
            <a:ext cx="4662488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dirty="0"/>
              <a:t>栈的表示和实现</a:t>
            </a:r>
          </a:p>
        </p:txBody>
      </p:sp>
      <p:sp>
        <p:nvSpPr>
          <p:cNvPr id="10" name="自选图形 9"/>
          <p:cNvSpPr>
            <a:spLocks noChangeArrowheads="1"/>
          </p:cNvSpPr>
          <p:nvPr/>
        </p:nvSpPr>
        <p:spPr bwMode="gray">
          <a:xfrm>
            <a:off x="3289301" y="1713953"/>
            <a:ext cx="467836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dirty="0"/>
              <a:t>栈的定义及其</a:t>
            </a:r>
            <a:r>
              <a:rPr lang="en-US" altLang="zh-CN" dirty="0"/>
              <a:t>ADT</a:t>
            </a:r>
            <a:r>
              <a:rPr lang="zh-CN" altLang="en-US" dirty="0"/>
              <a:t>定义</a:t>
            </a:r>
          </a:p>
        </p:txBody>
      </p:sp>
      <p:grpSp>
        <p:nvGrpSpPr>
          <p:cNvPr id="2" name="组合 10"/>
          <p:cNvGrpSpPr>
            <a:grpSpLocks/>
          </p:cNvGrpSpPr>
          <p:nvPr/>
        </p:nvGrpSpPr>
        <p:grpSpPr bwMode="auto">
          <a:xfrm>
            <a:off x="2971800" y="1668855"/>
            <a:ext cx="381000" cy="649233"/>
            <a:chOff x="2078" y="1112"/>
            <a:chExt cx="1615" cy="2752"/>
          </a:xfrm>
        </p:grpSpPr>
        <p:sp>
          <p:nvSpPr>
            <p:cNvPr id="12" name="椭圆 11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椭圆 12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椭圆 13"/>
            <p:cNvSpPr>
              <a:spLocks noChangeArrowheads="1"/>
            </p:cNvSpPr>
            <p:nvPr/>
          </p:nvSpPr>
          <p:spPr bwMode="gray">
            <a:xfrm>
              <a:off x="2253" y="1112"/>
              <a:ext cx="1101" cy="2752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15" name="椭圆 14"/>
            <p:cNvSpPr>
              <a:spLocks noChangeArrowheads="1"/>
            </p:cNvSpPr>
            <p:nvPr/>
          </p:nvSpPr>
          <p:spPr bwMode="gray">
            <a:xfrm>
              <a:off x="2254" y="1112"/>
              <a:ext cx="1101" cy="2752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" name="椭圆 15"/>
            <p:cNvSpPr>
              <a:spLocks noChangeArrowheads="1"/>
            </p:cNvSpPr>
            <p:nvPr/>
          </p:nvSpPr>
          <p:spPr bwMode="gray">
            <a:xfrm>
              <a:off x="2334" y="1112"/>
              <a:ext cx="1097" cy="2752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17" name="椭圆 16"/>
            <p:cNvSpPr>
              <a:spLocks noChangeArrowheads="1"/>
            </p:cNvSpPr>
            <p:nvPr/>
          </p:nvSpPr>
          <p:spPr bwMode="gray">
            <a:xfrm>
              <a:off x="2337" y="1112"/>
              <a:ext cx="1096" cy="2752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rgbClr val="7C63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" name="组合 17"/>
          <p:cNvGrpSpPr>
            <a:grpSpLocks/>
          </p:cNvGrpSpPr>
          <p:nvPr/>
        </p:nvGrpSpPr>
        <p:grpSpPr bwMode="auto">
          <a:xfrm>
            <a:off x="3505200" y="2456255"/>
            <a:ext cx="381000" cy="649233"/>
            <a:chOff x="2078" y="1112"/>
            <a:chExt cx="1615" cy="2752"/>
          </a:xfrm>
        </p:grpSpPr>
        <p:sp>
          <p:nvSpPr>
            <p:cNvPr id="19" name="椭圆 18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椭圆 19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椭圆 20"/>
            <p:cNvSpPr>
              <a:spLocks noChangeArrowheads="1"/>
            </p:cNvSpPr>
            <p:nvPr/>
          </p:nvSpPr>
          <p:spPr bwMode="gray">
            <a:xfrm>
              <a:off x="2253" y="1112"/>
              <a:ext cx="1101" cy="2752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22" name="椭圆 21"/>
            <p:cNvSpPr>
              <a:spLocks noChangeArrowheads="1"/>
            </p:cNvSpPr>
            <p:nvPr/>
          </p:nvSpPr>
          <p:spPr bwMode="gray">
            <a:xfrm>
              <a:off x="2254" y="1112"/>
              <a:ext cx="1101" cy="2752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3" name="椭圆 22"/>
            <p:cNvSpPr>
              <a:spLocks noChangeArrowheads="1"/>
            </p:cNvSpPr>
            <p:nvPr/>
          </p:nvSpPr>
          <p:spPr bwMode="gray">
            <a:xfrm>
              <a:off x="2334" y="1112"/>
              <a:ext cx="1097" cy="2752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24" name="椭圆 23"/>
            <p:cNvSpPr>
              <a:spLocks noChangeArrowheads="1"/>
            </p:cNvSpPr>
            <p:nvPr/>
          </p:nvSpPr>
          <p:spPr bwMode="gray">
            <a:xfrm>
              <a:off x="2337" y="1112"/>
              <a:ext cx="1096" cy="2752"/>
            </a:xfrm>
            <a:prstGeom prst="ellipse">
              <a:avLst/>
            </a:prstGeom>
            <a:gradFill rotWithShape="1">
              <a:gsLst>
                <a:gs pos="0">
                  <a:srgbClr val="48BE67"/>
                </a:gs>
                <a:gs pos="100000">
                  <a:srgbClr val="235C32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1" name="组合 24"/>
          <p:cNvGrpSpPr>
            <a:grpSpLocks/>
          </p:cNvGrpSpPr>
          <p:nvPr/>
        </p:nvGrpSpPr>
        <p:grpSpPr bwMode="auto">
          <a:xfrm>
            <a:off x="3657600" y="3294455"/>
            <a:ext cx="381000" cy="649233"/>
            <a:chOff x="2078" y="1112"/>
            <a:chExt cx="1615" cy="2752"/>
          </a:xfrm>
        </p:grpSpPr>
        <p:sp>
          <p:nvSpPr>
            <p:cNvPr id="26" name="椭圆 25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椭圆 26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椭圆 27"/>
            <p:cNvSpPr>
              <a:spLocks noChangeArrowheads="1"/>
            </p:cNvSpPr>
            <p:nvPr/>
          </p:nvSpPr>
          <p:spPr bwMode="gray">
            <a:xfrm>
              <a:off x="2253" y="1112"/>
              <a:ext cx="1101" cy="2752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29" name="椭圆 28"/>
            <p:cNvSpPr>
              <a:spLocks noChangeArrowheads="1"/>
            </p:cNvSpPr>
            <p:nvPr/>
          </p:nvSpPr>
          <p:spPr bwMode="gray">
            <a:xfrm>
              <a:off x="2254" y="1112"/>
              <a:ext cx="1101" cy="2752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0F5368"/>
                </a:gs>
              </a:gsLst>
              <a:lin ang="54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" name="椭圆 29"/>
            <p:cNvSpPr>
              <a:spLocks noChangeArrowheads="1"/>
            </p:cNvSpPr>
            <p:nvPr/>
          </p:nvSpPr>
          <p:spPr bwMode="gray">
            <a:xfrm>
              <a:off x="2334" y="1112"/>
              <a:ext cx="1097" cy="2752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31" name="椭圆 30"/>
            <p:cNvSpPr>
              <a:spLocks noChangeArrowheads="1"/>
            </p:cNvSpPr>
            <p:nvPr/>
          </p:nvSpPr>
          <p:spPr bwMode="gray">
            <a:xfrm>
              <a:off x="2337" y="1112"/>
              <a:ext cx="1096" cy="2752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10576D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8" name="组合 31"/>
          <p:cNvGrpSpPr>
            <a:grpSpLocks/>
          </p:cNvGrpSpPr>
          <p:nvPr/>
        </p:nvGrpSpPr>
        <p:grpSpPr bwMode="auto">
          <a:xfrm>
            <a:off x="3505200" y="4132655"/>
            <a:ext cx="381000" cy="649233"/>
            <a:chOff x="2078" y="1112"/>
            <a:chExt cx="1615" cy="2752"/>
          </a:xfrm>
        </p:grpSpPr>
        <p:sp>
          <p:nvSpPr>
            <p:cNvPr id="33" name="椭圆 32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椭圆 33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椭圆 34"/>
            <p:cNvSpPr>
              <a:spLocks noChangeArrowheads="1"/>
            </p:cNvSpPr>
            <p:nvPr/>
          </p:nvSpPr>
          <p:spPr bwMode="gray">
            <a:xfrm>
              <a:off x="2253" y="1112"/>
              <a:ext cx="1101" cy="2752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36" name="椭圆 35"/>
            <p:cNvSpPr>
              <a:spLocks noChangeArrowheads="1"/>
            </p:cNvSpPr>
            <p:nvPr/>
          </p:nvSpPr>
          <p:spPr bwMode="gray">
            <a:xfrm>
              <a:off x="2254" y="1112"/>
              <a:ext cx="1101" cy="2752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8D67E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7" name="椭圆 36"/>
            <p:cNvSpPr>
              <a:spLocks noChangeArrowheads="1"/>
            </p:cNvSpPr>
            <p:nvPr/>
          </p:nvSpPr>
          <p:spPr bwMode="gray">
            <a:xfrm>
              <a:off x="2334" y="1112"/>
              <a:ext cx="1097" cy="2752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38" name="椭圆 37"/>
            <p:cNvSpPr>
              <a:spLocks noChangeArrowheads="1"/>
            </p:cNvSpPr>
            <p:nvPr/>
          </p:nvSpPr>
          <p:spPr bwMode="gray">
            <a:xfrm>
              <a:off x="2337" y="1112"/>
              <a:ext cx="1096" cy="2752"/>
            </a:xfrm>
            <a:prstGeom prst="ellipse">
              <a:avLst/>
            </a:prstGeom>
            <a:gradFill rotWithShape="1">
              <a:gsLst>
                <a:gs pos="0">
                  <a:srgbClr val="8D67E1"/>
                </a:gs>
                <a:gs pos="100000">
                  <a:srgbClr val="45326D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5" name="组合 38"/>
          <p:cNvGrpSpPr>
            <a:grpSpLocks/>
          </p:cNvGrpSpPr>
          <p:nvPr/>
        </p:nvGrpSpPr>
        <p:grpSpPr bwMode="auto">
          <a:xfrm>
            <a:off x="3048000" y="4907355"/>
            <a:ext cx="355600" cy="649233"/>
            <a:chOff x="2078" y="1112"/>
            <a:chExt cx="1615" cy="2752"/>
          </a:xfrm>
        </p:grpSpPr>
        <p:sp>
          <p:nvSpPr>
            <p:cNvPr id="40" name="椭圆 39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" name="椭圆 40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" name="椭圆 41"/>
            <p:cNvSpPr>
              <a:spLocks noChangeArrowheads="1"/>
            </p:cNvSpPr>
            <p:nvPr/>
          </p:nvSpPr>
          <p:spPr bwMode="gray">
            <a:xfrm>
              <a:off x="2251" y="1112"/>
              <a:ext cx="1180" cy="2752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43" name="椭圆 42"/>
            <p:cNvSpPr>
              <a:spLocks noChangeArrowheads="1"/>
            </p:cNvSpPr>
            <p:nvPr/>
          </p:nvSpPr>
          <p:spPr bwMode="gray">
            <a:xfrm>
              <a:off x="2254" y="1112"/>
              <a:ext cx="1180" cy="2752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" name="椭圆 43"/>
            <p:cNvSpPr>
              <a:spLocks noChangeArrowheads="1"/>
            </p:cNvSpPr>
            <p:nvPr/>
          </p:nvSpPr>
          <p:spPr bwMode="gray">
            <a:xfrm>
              <a:off x="2338" y="1112"/>
              <a:ext cx="1096" cy="2752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45" name="椭圆 44"/>
            <p:cNvSpPr>
              <a:spLocks noChangeArrowheads="1"/>
            </p:cNvSpPr>
            <p:nvPr/>
          </p:nvSpPr>
          <p:spPr bwMode="gray">
            <a:xfrm>
              <a:off x="2337" y="1112"/>
              <a:ext cx="1096" cy="2752"/>
            </a:xfrm>
            <a:prstGeom prst="ellipse">
              <a:avLst/>
            </a:prstGeom>
            <a:gradFill rotWithShape="1">
              <a:gsLst>
                <a:gs pos="0">
                  <a:srgbClr val="E35E23"/>
                </a:gs>
                <a:gs pos="100000">
                  <a:srgbClr val="6E2E1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46" name="自选图形 45"/>
          <p:cNvSpPr>
            <a:spLocks noChangeArrowheads="1"/>
          </p:cNvSpPr>
          <p:nvPr/>
        </p:nvSpPr>
        <p:spPr bwMode="gray">
          <a:xfrm>
            <a:off x="8465002" y="2507934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" name="自选图形 46"/>
          <p:cNvSpPr>
            <a:spLocks noChangeArrowheads="1"/>
          </p:cNvSpPr>
          <p:nvPr/>
        </p:nvSpPr>
        <p:spPr bwMode="gray">
          <a:xfrm>
            <a:off x="8896802" y="2507934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" name="自选图形 47"/>
          <p:cNvSpPr>
            <a:spLocks noChangeArrowheads="1"/>
          </p:cNvSpPr>
          <p:nvPr/>
        </p:nvSpPr>
        <p:spPr bwMode="gray">
          <a:xfrm>
            <a:off x="9328602" y="2507934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41" name="Text Box 93"/>
          <p:cNvSpPr txBox="1">
            <a:spLocks noChangeArrowheads="1"/>
          </p:cNvSpPr>
          <p:nvPr/>
        </p:nvSpPr>
        <p:spPr bwMode="auto">
          <a:xfrm>
            <a:off x="2351088" y="908720"/>
            <a:ext cx="1708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Tx/>
              <a:buBlip>
                <a:blip r:embed="rId3"/>
              </a:buBlip>
            </a:pPr>
            <a:r>
              <a:rPr lang="en-US" altLang="zh-CN" dirty="0">
                <a:latin typeface="华文中宋" pitchFamily="2" charset="-122"/>
                <a:ea typeface="华文中宋" pitchFamily="2" charset="-122"/>
              </a:rPr>
              <a:t>   </a:t>
            </a:r>
            <a:r>
              <a:rPr lang="zh-CN" altLang="en-US" dirty="0">
                <a:latin typeface="华文中宋" pitchFamily="2" charset="-122"/>
                <a:ea typeface="华文中宋" pitchFamily="2" charset="-122"/>
              </a:rPr>
              <a:t>顺序栈 </a:t>
            </a:r>
          </a:p>
        </p:txBody>
      </p:sp>
      <p:sp>
        <p:nvSpPr>
          <p:cNvPr id="27742" name="Text Box 94"/>
          <p:cNvSpPr txBox="1">
            <a:spLocks noChangeArrowheads="1"/>
          </p:cNvSpPr>
          <p:nvPr/>
        </p:nvSpPr>
        <p:spPr bwMode="auto">
          <a:xfrm>
            <a:off x="2351089" y="1556793"/>
            <a:ext cx="7614585" cy="16435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dirty="0">
                <a:solidFill>
                  <a:srgbClr val="0000FF"/>
                </a:solidFill>
                <a:ea typeface="华文中宋" pitchFamily="2" charset="-122"/>
              </a:rPr>
              <a:t>      </a:t>
            </a:r>
            <a:r>
              <a:rPr lang="zh-CN" altLang="en-US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顺序栈：</a:t>
            </a:r>
            <a:r>
              <a:rPr lang="zh-CN" altLang="en-US" dirty="0"/>
              <a:t>利用一组地址连续的存储单元依次存放自 </a:t>
            </a:r>
          </a:p>
          <a:p>
            <a:pPr>
              <a:lnSpc>
                <a:spcPct val="140000"/>
              </a:lnSpc>
            </a:pPr>
            <a:r>
              <a:rPr lang="zh-CN" altLang="en-US" dirty="0"/>
              <a:t>栈底到栈顶的数据元素，同时附设指针 </a:t>
            </a:r>
            <a:r>
              <a:rPr lang="en-US" altLang="zh-CN" dirty="0"/>
              <a:t>top </a:t>
            </a:r>
            <a:r>
              <a:rPr lang="zh-CN" altLang="en-US" dirty="0"/>
              <a:t>指示栈顶元 </a:t>
            </a:r>
          </a:p>
          <a:p>
            <a:pPr>
              <a:lnSpc>
                <a:spcPct val="140000"/>
              </a:lnSpc>
            </a:pPr>
            <a:r>
              <a:rPr lang="zh-CN" altLang="en-US" dirty="0"/>
              <a:t>素在顺序栈中的位置。</a:t>
            </a:r>
            <a:r>
              <a:rPr lang="zh-CN" altLang="en-US" dirty="0">
                <a:ea typeface="华文中宋" pitchFamily="2" charset="-122"/>
              </a:rPr>
              <a:t>  </a:t>
            </a:r>
            <a:endParaRPr lang="zh-CN" altLang="en-US" dirty="0">
              <a:solidFill>
                <a:srgbClr val="0000FF"/>
              </a:solidFill>
              <a:ea typeface="华文中宋" pitchFamily="2" charset="-122"/>
            </a:endParaRPr>
          </a:p>
        </p:txBody>
      </p:sp>
      <p:grpSp>
        <p:nvGrpSpPr>
          <p:cNvPr id="27911" name="Group 263"/>
          <p:cNvGrpSpPr>
            <a:grpSpLocks/>
          </p:cNvGrpSpPr>
          <p:nvPr/>
        </p:nvGrpSpPr>
        <p:grpSpPr bwMode="auto">
          <a:xfrm>
            <a:off x="5143500" y="3994150"/>
            <a:ext cx="1143000" cy="1905000"/>
            <a:chOff x="4128" y="768"/>
            <a:chExt cx="720" cy="1200"/>
          </a:xfrm>
        </p:grpSpPr>
        <p:sp>
          <p:nvSpPr>
            <p:cNvPr id="27864" name="Line 216"/>
            <p:cNvSpPr>
              <a:spLocks noChangeShapeType="1"/>
            </p:cNvSpPr>
            <p:nvPr/>
          </p:nvSpPr>
          <p:spPr bwMode="auto">
            <a:xfrm>
              <a:off x="4128" y="768"/>
              <a:ext cx="0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865" name="Line 217"/>
            <p:cNvSpPr>
              <a:spLocks noChangeShapeType="1"/>
            </p:cNvSpPr>
            <p:nvPr/>
          </p:nvSpPr>
          <p:spPr bwMode="auto">
            <a:xfrm>
              <a:off x="4848" y="768"/>
              <a:ext cx="0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866" name="Line 218"/>
            <p:cNvSpPr>
              <a:spLocks noChangeShapeType="1"/>
            </p:cNvSpPr>
            <p:nvPr/>
          </p:nvSpPr>
          <p:spPr bwMode="auto">
            <a:xfrm>
              <a:off x="4128" y="76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867" name="Line 219"/>
            <p:cNvSpPr>
              <a:spLocks noChangeShapeType="1"/>
            </p:cNvSpPr>
            <p:nvPr/>
          </p:nvSpPr>
          <p:spPr bwMode="auto">
            <a:xfrm>
              <a:off x="4128" y="100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868" name="Line 220"/>
            <p:cNvSpPr>
              <a:spLocks noChangeShapeType="1"/>
            </p:cNvSpPr>
            <p:nvPr/>
          </p:nvSpPr>
          <p:spPr bwMode="auto">
            <a:xfrm>
              <a:off x="4128" y="124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870" name="Line 222"/>
            <p:cNvSpPr>
              <a:spLocks noChangeShapeType="1"/>
            </p:cNvSpPr>
            <p:nvPr/>
          </p:nvSpPr>
          <p:spPr bwMode="auto">
            <a:xfrm>
              <a:off x="4128" y="148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871" name="Line 223"/>
            <p:cNvSpPr>
              <a:spLocks noChangeShapeType="1"/>
            </p:cNvSpPr>
            <p:nvPr/>
          </p:nvSpPr>
          <p:spPr bwMode="auto">
            <a:xfrm>
              <a:off x="4128" y="172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872" name="Line 224"/>
            <p:cNvSpPr>
              <a:spLocks noChangeShapeType="1"/>
            </p:cNvSpPr>
            <p:nvPr/>
          </p:nvSpPr>
          <p:spPr bwMode="auto">
            <a:xfrm>
              <a:off x="4128" y="196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7913" name="Group 265"/>
          <p:cNvGrpSpPr>
            <a:grpSpLocks/>
          </p:cNvGrpSpPr>
          <p:nvPr/>
        </p:nvGrpSpPr>
        <p:grpSpPr bwMode="auto">
          <a:xfrm>
            <a:off x="4227513" y="5213350"/>
            <a:ext cx="838200" cy="457200"/>
            <a:chOff x="3600" y="1505"/>
            <a:chExt cx="528" cy="288"/>
          </a:xfrm>
        </p:grpSpPr>
        <p:sp>
          <p:nvSpPr>
            <p:cNvPr id="27873" name="Line 225"/>
            <p:cNvSpPr>
              <a:spLocks noChangeShapeType="1"/>
            </p:cNvSpPr>
            <p:nvPr/>
          </p:nvSpPr>
          <p:spPr bwMode="auto">
            <a:xfrm>
              <a:off x="3648" y="1793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875" name="Text Box 227"/>
            <p:cNvSpPr txBox="1">
              <a:spLocks noChangeArrowheads="1"/>
            </p:cNvSpPr>
            <p:nvPr/>
          </p:nvSpPr>
          <p:spPr bwMode="auto">
            <a:xfrm>
              <a:off x="3600" y="1505"/>
              <a:ext cx="43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top </a:t>
              </a:r>
            </a:p>
          </p:txBody>
        </p:sp>
      </p:grpSp>
      <p:grpSp>
        <p:nvGrpSpPr>
          <p:cNvPr id="27912" name="Group 264"/>
          <p:cNvGrpSpPr>
            <a:grpSpLocks/>
          </p:cNvGrpSpPr>
          <p:nvPr/>
        </p:nvGrpSpPr>
        <p:grpSpPr bwMode="auto">
          <a:xfrm>
            <a:off x="4227513" y="5746750"/>
            <a:ext cx="838200" cy="457200"/>
            <a:chOff x="3600" y="1872"/>
            <a:chExt cx="528" cy="288"/>
          </a:xfrm>
        </p:grpSpPr>
        <p:sp>
          <p:nvSpPr>
            <p:cNvPr id="27874" name="Line 226"/>
            <p:cNvSpPr>
              <a:spLocks noChangeShapeType="1"/>
            </p:cNvSpPr>
            <p:nvPr/>
          </p:nvSpPr>
          <p:spPr bwMode="auto">
            <a:xfrm>
              <a:off x="3648" y="1920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876" name="Text Box 228"/>
            <p:cNvSpPr txBox="1">
              <a:spLocks noChangeArrowheads="1"/>
            </p:cNvSpPr>
            <p:nvPr/>
          </p:nvSpPr>
          <p:spPr bwMode="auto">
            <a:xfrm>
              <a:off x="3600" y="1872"/>
              <a:ext cx="52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base </a:t>
              </a:r>
            </a:p>
          </p:txBody>
        </p:sp>
      </p:grpSp>
      <p:sp>
        <p:nvSpPr>
          <p:cNvPr id="27917" name="Text Box 269"/>
          <p:cNvSpPr txBox="1">
            <a:spLocks noChangeArrowheads="1"/>
          </p:cNvSpPr>
          <p:nvPr/>
        </p:nvSpPr>
        <p:spPr bwMode="auto">
          <a:xfrm>
            <a:off x="5518151" y="5518151"/>
            <a:ext cx="481013" cy="38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/>
              <a:t>A </a:t>
            </a:r>
          </a:p>
        </p:txBody>
      </p:sp>
      <p:sp useBgFill="1">
        <p:nvSpPr>
          <p:cNvPr id="27918" name="Rectangle 270"/>
          <p:cNvSpPr>
            <a:spLocks noChangeArrowheads="1"/>
          </p:cNvSpPr>
          <p:nvPr/>
        </p:nvSpPr>
        <p:spPr bwMode="auto">
          <a:xfrm>
            <a:off x="4227513" y="5289550"/>
            <a:ext cx="838200" cy="45720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7914" name="Group 266"/>
          <p:cNvGrpSpPr>
            <a:grpSpLocks/>
          </p:cNvGrpSpPr>
          <p:nvPr/>
        </p:nvGrpSpPr>
        <p:grpSpPr bwMode="auto">
          <a:xfrm>
            <a:off x="4227513" y="4832350"/>
            <a:ext cx="838200" cy="457200"/>
            <a:chOff x="3600" y="1505"/>
            <a:chExt cx="528" cy="288"/>
          </a:xfrm>
        </p:grpSpPr>
        <p:sp>
          <p:nvSpPr>
            <p:cNvPr id="27915" name="Line 267"/>
            <p:cNvSpPr>
              <a:spLocks noChangeShapeType="1"/>
            </p:cNvSpPr>
            <p:nvPr/>
          </p:nvSpPr>
          <p:spPr bwMode="auto">
            <a:xfrm>
              <a:off x="3648" y="1793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916" name="Text Box 268"/>
            <p:cNvSpPr txBox="1">
              <a:spLocks noChangeArrowheads="1"/>
            </p:cNvSpPr>
            <p:nvPr/>
          </p:nvSpPr>
          <p:spPr bwMode="auto">
            <a:xfrm>
              <a:off x="3600" y="1505"/>
              <a:ext cx="43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top </a:t>
              </a:r>
            </a:p>
          </p:txBody>
        </p:sp>
      </p:grpSp>
      <p:sp>
        <p:nvSpPr>
          <p:cNvPr id="27920" name="Text Box 272"/>
          <p:cNvSpPr txBox="1">
            <a:spLocks noChangeArrowheads="1"/>
          </p:cNvSpPr>
          <p:nvPr/>
        </p:nvSpPr>
        <p:spPr bwMode="auto">
          <a:xfrm>
            <a:off x="5518150" y="5137151"/>
            <a:ext cx="463550" cy="38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/>
              <a:t>B </a:t>
            </a:r>
          </a:p>
        </p:txBody>
      </p:sp>
      <p:sp useBgFill="1">
        <p:nvSpPr>
          <p:cNvPr id="27924" name="Rectangle 276"/>
          <p:cNvSpPr>
            <a:spLocks noChangeArrowheads="1"/>
          </p:cNvSpPr>
          <p:nvPr/>
        </p:nvSpPr>
        <p:spPr bwMode="auto">
          <a:xfrm>
            <a:off x="4227513" y="4908550"/>
            <a:ext cx="838200" cy="45720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7921" name="Group 273"/>
          <p:cNvGrpSpPr>
            <a:grpSpLocks/>
          </p:cNvGrpSpPr>
          <p:nvPr/>
        </p:nvGrpSpPr>
        <p:grpSpPr bwMode="auto">
          <a:xfrm>
            <a:off x="4227513" y="4451350"/>
            <a:ext cx="838200" cy="457200"/>
            <a:chOff x="3600" y="1505"/>
            <a:chExt cx="528" cy="288"/>
          </a:xfrm>
        </p:grpSpPr>
        <p:sp>
          <p:nvSpPr>
            <p:cNvPr id="27922" name="Line 274"/>
            <p:cNvSpPr>
              <a:spLocks noChangeShapeType="1"/>
            </p:cNvSpPr>
            <p:nvPr/>
          </p:nvSpPr>
          <p:spPr bwMode="auto">
            <a:xfrm>
              <a:off x="3648" y="1793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923" name="Text Box 275"/>
            <p:cNvSpPr txBox="1">
              <a:spLocks noChangeArrowheads="1"/>
            </p:cNvSpPr>
            <p:nvPr/>
          </p:nvSpPr>
          <p:spPr bwMode="auto">
            <a:xfrm>
              <a:off x="3600" y="1505"/>
              <a:ext cx="43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top </a:t>
              </a:r>
            </a:p>
          </p:txBody>
        </p:sp>
      </p:grpSp>
      <p:sp>
        <p:nvSpPr>
          <p:cNvPr id="27925" name="Text Box 277"/>
          <p:cNvSpPr txBox="1">
            <a:spLocks noChangeArrowheads="1"/>
          </p:cNvSpPr>
          <p:nvPr/>
        </p:nvSpPr>
        <p:spPr bwMode="auto">
          <a:xfrm>
            <a:off x="5518151" y="4756151"/>
            <a:ext cx="481013" cy="38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/>
              <a:t>C </a:t>
            </a:r>
          </a:p>
        </p:txBody>
      </p:sp>
      <p:sp useBgFill="1">
        <p:nvSpPr>
          <p:cNvPr id="27929" name="Rectangle 281"/>
          <p:cNvSpPr>
            <a:spLocks noChangeArrowheads="1"/>
          </p:cNvSpPr>
          <p:nvPr/>
        </p:nvSpPr>
        <p:spPr bwMode="auto">
          <a:xfrm>
            <a:off x="4227513" y="4527550"/>
            <a:ext cx="838200" cy="45720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7926" name="Group 278"/>
          <p:cNvGrpSpPr>
            <a:grpSpLocks/>
          </p:cNvGrpSpPr>
          <p:nvPr/>
        </p:nvGrpSpPr>
        <p:grpSpPr bwMode="auto">
          <a:xfrm>
            <a:off x="4227513" y="4070350"/>
            <a:ext cx="838200" cy="457200"/>
            <a:chOff x="3600" y="1505"/>
            <a:chExt cx="528" cy="288"/>
          </a:xfrm>
        </p:grpSpPr>
        <p:sp>
          <p:nvSpPr>
            <p:cNvPr id="27927" name="Line 279"/>
            <p:cNvSpPr>
              <a:spLocks noChangeShapeType="1"/>
            </p:cNvSpPr>
            <p:nvPr/>
          </p:nvSpPr>
          <p:spPr bwMode="auto">
            <a:xfrm>
              <a:off x="3648" y="1793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928" name="Text Box 280"/>
            <p:cNvSpPr txBox="1">
              <a:spLocks noChangeArrowheads="1"/>
            </p:cNvSpPr>
            <p:nvPr/>
          </p:nvSpPr>
          <p:spPr bwMode="auto">
            <a:xfrm>
              <a:off x="3600" y="1505"/>
              <a:ext cx="43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top </a:t>
              </a:r>
            </a:p>
          </p:txBody>
        </p:sp>
      </p:grpSp>
      <p:sp>
        <p:nvSpPr>
          <p:cNvPr id="27930" name="Text Box 282"/>
          <p:cNvSpPr txBox="1">
            <a:spLocks noChangeArrowheads="1"/>
          </p:cNvSpPr>
          <p:nvPr/>
        </p:nvSpPr>
        <p:spPr bwMode="auto">
          <a:xfrm>
            <a:off x="5518151" y="4375151"/>
            <a:ext cx="481013" cy="38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/>
              <a:t>D </a:t>
            </a:r>
          </a:p>
        </p:txBody>
      </p:sp>
      <p:sp useBgFill="1">
        <p:nvSpPr>
          <p:cNvPr id="27934" name="Rectangle 286"/>
          <p:cNvSpPr>
            <a:spLocks noChangeArrowheads="1"/>
          </p:cNvSpPr>
          <p:nvPr/>
        </p:nvSpPr>
        <p:spPr bwMode="auto">
          <a:xfrm>
            <a:off x="4227513" y="4146550"/>
            <a:ext cx="838200" cy="45720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zh-CN" altLang="zh-CN" sz="3600"/>
          </a:p>
        </p:txBody>
      </p:sp>
      <p:grpSp>
        <p:nvGrpSpPr>
          <p:cNvPr id="27931" name="Group 283"/>
          <p:cNvGrpSpPr>
            <a:grpSpLocks/>
          </p:cNvGrpSpPr>
          <p:nvPr/>
        </p:nvGrpSpPr>
        <p:grpSpPr bwMode="auto">
          <a:xfrm>
            <a:off x="4227513" y="3689350"/>
            <a:ext cx="838200" cy="457200"/>
            <a:chOff x="3600" y="1505"/>
            <a:chExt cx="528" cy="288"/>
          </a:xfrm>
        </p:grpSpPr>
        <p:sp>
          <p:nvSpPr>
            <p:cNvPr id="27932" name="Line 284"/>
            <p:cNvSpPr>
              <a:spLocks noChangeShapeType="1"/>
            </p:cNvSpPr>
            <p:nvPr/>
          </p:nvSpPr>
          <p:spPr bwMode="auto">
            <a:xfrm>
              <a:off x="3648" y="1793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933" name="Text Box 285"/>
            <p:cNvSpPr txBox="1">
              <a:spLocks noChangeArrowheads="1"/>
            </p:cNvSpPr>
            <p:nvPr/>
          </p:nvSpPr>
          <p:spPr bwMode="auto">
            <a:xfrm>
              <a:off x="3600" y="1505"/>
              <a:ext cx="43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top </a:t>
              </a:r>
            </a:p>
          </p:txBody>
        </p:sp>
      </p:grpSp>
      <p:sp>
        <p:nvSpPr>
          <p:cNvPr id="27935" name="Text Box 287"/>
          <p:cNvSpPr txBox="1">
            <a:spLocks noChangeArrowheads="1"/>
          </p:cNvSpPr>
          <p:nvPr/>
        </p:nvSpPr>
        <p:spPr bwMode="auto">
          <a:xfrm>
            <a:off x="5518150" y="3994151"/>
            <a:ext cx="463550" cy="38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/>
              <a:t>E </a:t>
            </a:r>
          </a:p>
        </p:txBody>
      </p:sp>
      <p:sp useBgFill="1">
        <p:nvSpPr>
          <p:cNvPr id="27940" name="Rectangle 292"/>
          <p:cNvSpPr>
            <a:spLocks noChangeArrowheads="1"/>
          </p:cNvSpPr>
          <p:nvPr/>
        </p:nvSpPr>
        <p:spPr bwMode="auto">
          <a:xfrm>
            <a:off x="4227513" y="3765550"/>
            <a:ext cx="838200" cy="45720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zh-CN" altLang="zh-CN" sz="3600"/>
          </a:p>
        </p:txBody>
      </p:sp>
      <p:grpSp>
        <p:nvGrpSpPr>
          <p:cNvPr id="27937" name="Group 289"/>
          <p:cNvGrpSpPr>
            <a:grpSpLocks/>
          </p:cNvGrpSpPr>
          <p:nvPr/>
        </p:nvGrpSpPr>
        <p:grpSpPr bwMode="auto">
          <a:xfrm>
            <a:off x="4227513" y="3308350"/>
            <a:ext cx="838200" cy="457200"/>
            <a:chOff x="3600" y="1505"/>
            <a:chExt cx="528" cy="288"/>
          </a:xfrm>
        </p:grpSpPr>
        <p:sp>
          <p:nvSpPr>
            <p:cNvPr id="27938" name="Line 290"/>
            <p:cNvSpPr>
              <a:spLocks noChangeShapeType="1"/>
            </p:cNvSpPr>
            <p:nvPr/>
          </p:nvSpPr>
          <p:spPr bwMode="auto">
            <a:xfrm>
              <a:off x="3648" y="1793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939" name="Text Box 291"/>
            <p:cNvSpPr txBox="1">
              <a:spLocks noChangeArrowheads="1"/>
            </p:cNvSpPr>
            <p:nvPr/>
          </p:nvSpPr>
          <p:spPr bwMode="auto">
            <a:xfrm>
              <a:off x="3600" y="1505"/>
              <a:ext cx="43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top </a:t>
              </a:r>
            </a:p>
          </p:txBody>
        </p:sp>
      </p:grpSp>
      <p:sp>
        <p:nvSpPr>
          <p:cNvPr id="27942" name="Text Box 294"/>
          <p:cNvSpPr txBox="1">
            <a:spLocks noChangeArrowheads="1"/>
          </p:cNvSpPr>
          <p:nvPr/>
        </p:nvSpPr>
        <p:spPr bwMode="auto">
          <a:xfrm>
            <a:off x="6688139" y="3841751"/>
            <a:ext cx="2108269" cy="2062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32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空栈</a:t>
            </a:r>
            <a:r>
              <a:rPr lang="zh-CN" altLang="en-US" sz="3200">
                <a:latin typeface="隶书" pitchFamily="49" charset="-122"/>
                <a:ea typeface="隶书" pitchFamily="49" charset="-122"/>
              </a:rPr>
              <a:t> </a:t>
            </a:r>
          </a:p>
          <a:p>
            <a:r>
              <a:rPr lang="zh-CN" altLang="en-US"/>
              <a:t>若再进行元 </a:t>
            </a:r>
          </a:p>
          <a:p>
            <a:r>
              <a:rPr lang="zh-CN" altLang="en-US"/>
              <a:t>素“出栈”操 </a:t>
            </a:r>
          </a:p>
          <a:p>
            <a:r>
              <a:rPr lang="zh-CN" altLang="en-US"/>
              <a:t>作，将产生 </a:t>
            </a:r>
          </a:p>
          <a:p>
            <a:r>
              <a:rPr lang="zh-CN" altLang="en-US"/>
              <a:t>“</a:t>
            </a:r>
            <a:r>
              <a:rPr lang="zh-CN" altLang="en-US">
                <a:solidFill>
                  <a:srgbClr val="0000FF"/>
                </a:solidFill>
              </a:rPr>
              <a:t>下溢</a:t>
            </a:r>
            <a:r>
              <a:rPr lang="zh-CN" altLang="en-US"/>
              <a:t>”。</a:t>
            </a:r>
            <a:r>
              <a:rPr lang="zh-CN" altLang="en-US">
                <a:latin typeface="华文中宋" pitchFamily="2" charset="-122"/>
                <a:ea typeface="华文中宋" pitchFamily="2" charset="-122"/>
              </a:rPr>
              <a:t>  </a:t>
            </a:r>
          </a:p>
        </p:txBody>
      </p:sp>
      <p:sp useBgFill="1">
        <p:nvSpPr>
          <p:cNvPr id="27944" name="Rectangle 296"/>
          <p:cNvSpPr>
            <a:spLocks noChangeArrowheads="1"/>
          </p:cNvSpPr>
          <p:nvPr/>
        </p:nvSpPr>
        <p:spPr bwMode="auto">
          <a:xfrm>
            <a:off x="5541963" y="4029076"/>
            <a:ext cx="304800" cy="269875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7945" name="Group 297"/>
          <p:cNvGrpSpPr>
            <a:grpSpLocks/>
          </p:cNvGrpSpPr>
          <p:nvPr/>
        </p:nvGrpSpPr>
        <p:grpSpPr bwMode="auto">
          <a:xfrm>
            <a:off x="4227513" y="3689350"/>
            <a:ext cx="838200" cy="457200"/>
            <a:chOff x="3600" y="1505"/>
            <a:chExt cx="528" cy="288"/>
          </a:xfrm>
        </p:grpSpPr>
        <p:sp useBgFill="1">
          <p:nvSpPr>
            <p:cNvPr id="27946" name="Line 298"/>
            <p:cNvSpPr>
              <a:spLocks noChangeShapeType="1"/>
            </p:cNvSpPr>
            <p:nvPr/>
          </p:nvSpPr>
          <p:spPr bwMode="auto">
            <a:xfrm>
              <a:off x="3648" y="1793"/>
              <a:ext cx="480" cy="0"/>
            </a:xfrm>
            <a:prstGeom prst="line">
              <a:avLst/>
            </a:prstGeom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27947" name="Text Box 299"/>
            <p:cNvSpPr txBox="1">
              <a:spLocks noChangeArrowheads="1"/>
            </p:cNvSpPr>
            <p:nvPr/>
          </p:nvSpPr>
          <p:spPr bwMode="auto">
            <a:xfrm>
              <a:off x="3600" y="1505"/>
              <a:ext cx="431" cy="288"/>
            </a:xfrm>
            <a:prstGeom prst="rect">
              <a:avLst/>
            </a:prstGeom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top </a:t>
              </a:r>
            </a:p>
          </p:txBody>
        </p:sp>
      </p:grpSp>
      <p:sp useBgFill="1">
        <p:nvSpPr>
          <p:cNvPr id="27948" name="Rectangle 300"/>
          <p:cNvSpPr>
            <a:spLocks noChangeArrowheads="1"/>
          </p:cNvSpPr>
          <p:nvPr/>
        </p:nvSpPr>
        <p:spPr bwMode="auto">
          <a:xfrm>
            <a:off x="4151313" y="3308350"/>
            <a:ext cx="990600" cy="53340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950" name="Text Box 302"/>
          <p:cNvSpPr txBox="1">
            <a:spLocks noChangeArrowheads="1"/>
          </p:cNvSpPr>
          <p:nvPr/>
        </p:nvSpPr>
        <p:spPr bwMode="auto">
          <a:xfrm>
            <a:off x="6662739" y="3833814"/>
            <a:ext cx="2108269" cy="208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32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栈满</a:t>
            </a:r>
            <a:r>
              <a:rPr lang="zh-CN" altLang="en-US" sz="3200">
                <a:solidFill>
                  <a:srgbClr val="FF3300"/>
                </a:solidFill>
                <a:latin typeface="隶书" pitchFamily="49" charset="-122"/>
                <a:ea typeface="隶书" pitchFamily="49" charset="-122"/>
              </a:rPr>
              <a:t> </a:t>
            </a:r>
          </a:p>
          <a:p>
            <a:r>
              <a:rPr lang="zh-CN" altLang="en-US"/>
              <a:t>若再进行元 </a:t>
            </a:r>
          </a:p>
          <a:p>
            <a:r>
              <a:rPr lang="zh-CN" altLang="en-US"/>
              <a:t>素“入栈”操 </a:t>
            </a:r>
          </a:p>
          <a:p>
            <a:r>
              <a:rPr lang="zh-CN" altLang="en-US"/>
              <a:t>作，将产生 </a:t>
            </a:r>
          </a:p>
          <a:p>
            <a:pPr>
              <a:lnSpc>
                <a:spcPct val="80000"/>
              </a:lnSpc>
            </a:pPr>
            <a:r>
              <a:rPr lang="zh-CN" altLang="en-US"/>
              <a:t>“</a:t>
            </a:r>
            <a:r>
              <a:rPr lang="zh-CN" altLang="en-US">
                <a:solidFill>
                  <a:srgbClr val="0000FF"/>
                </a:solidFill>
              </a:rPr>
              <a:t>上溢</a:t>
            </a:r>
            <a:r>
              <a:rPr lang="zh-CN" altLang="en-US"/>
              <a:t>”。</a:t>
            </a:r>
            <a:r>
              <a:rPr lang="zh-CN" altLang="en-US">
                <a:latin typeface="华文中宋" pitchFamily="2" charset="-122"/>
                <a:ea typeface="华文中宋" pitchFamily="2" charset="-122"/>
              </a:rPr>
              <a:t> </a:t>
            </a:r>
            <a:r>
              <a:rPr lang="zh-CN" altLang="en-US" sz="3200">
                <a:solidFill>
                  <a:srgbClr val="FF3300"/>
                </a:solidFill>
                <a:latin typeface="隶书" pitchFamily="49" charset="-122"/>
                <a:ea typeface="隶书" pitchFamily="49" charset="-122"/>
              </a:rPr>
              <a:t> </a:t>
            </a:r>
          </a:p>
        </p:txBody>
      </p:sp>
    </p:spTree>
  </p:cSld>
  <p:clrMapOvr>
    <a:masterClrMapping/>
  </p:clrMapOvr>
  <p:transition spd="slow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7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79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79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79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79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7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7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5" dur="500"/>
                                        <p:tgtEl>
                                          <p:spTgt spid="279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7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7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7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27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7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27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27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27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27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27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27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"/>
                            </p:stCondLst>
                            <p:childTnLst>
                              <p:par>
                                <p:cTn id="8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27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27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27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000"/>
                            </p:stCondLst>
                            <p:childTnLst>
                              <p:par>
                                <p:cTn id="9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27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05" dur="500"/>
                                        <p:tgtEl>
                                          <p:spTgt spid="279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27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500"/>
                            </p:stCondLst>
                            <p:childTnLst>
                              <p:par>
                                <p:cTn id="1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500"/>
                                        <p:tgtEl>
                                          <p:spTgt spid="27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27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741" grpId="0" autoUpdateAnimBg="0"/>
      <p:bldP spid="27742" grpId="0" autoUpdateAnimBg="0"/>
      <p:bldP spid="27917" grpId="0" autoUpdateAnimBg="0"/>
      <p:bldP spid="27918" grpId="0" animBg="1"/>
      <p:bldP spid="27920" grpId="0" autoUpdateAnimBg="0"/>
      <p:bldP spid="27924" grpId="0" animBg="1"/>
      <p:bldP spid="27925" grpId="0" autoUpdateAnimBg="0"/>
      <p:bldP spid="27929" grpId="0" animBg="1"/>
      <p:bldP spid="27930" grpId="0" autoUpdateAnimBg="0"/>
      <p:bldP spid="27934" grpId="0" animBg="1" autoUpdateAnimBg="0"/>
      <p:bldP spid="27935" grpId="0" autoUpdateAnimBg="0"/>
      <p:bldP spid="27940" grpId="0" animBg="1" autoUpdateAnimBg="0"/>
      <p:bldP spid="27942" grpId="0" autoUpdateAnimBg="0"/>
      <p:bldP spid="27944" grpId="0" animBg="1"/>
      <p:bldP spid="27948" grpId="0" animBg="1"/>
      <p:bldP spid="27950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2" name="Text Box 4"/>
          <p:cNvSpPr txBox="1">
            <a:spLocks noChangeArrowheads="1"/>
          </p:cNvSpPr>
          <p:nvPr/>
        </p:nvSpPr>
        <p:spPr bwMode="auto">
          <a:xfrm>
            <a:off x="2105026" y="620714"/>
            <a:ext cx="8094663" cy="4948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90000"/>
              </a:lnSpc>
            </a:pPr>
            <a:r>
              <a:rPr lang="en-US" altLang="zh-CN">
                <a:ea typeface="华文新魏" pitchFamily="2" charset="-122"/>
              </a:rPr>
              <a:t>#define LIST_INIT_SIZE 100    </a:t>
            </a:r>
            <a:r>
              <a:rPr lang="en-US" altLang="zh-CN" sz="2000">
                <a:ea typeface="华文新魏" pitchFamily="2" charset="-122"/>
              </a:rPr>
              <a:t>// </a:t>
            </a:r>
            <a:r>
              <a:rPr lang="zh-CN" altLang="en-US" sz="2000">
                <a:ea typeface="华文新魏" pitchFamily="2" charset="-122"/>
              </a:rPr>
              <a:t>线性表存储空间的初始分配量</a:t>
            </a:r>
            <a:r>
              <a:rPr lang="zh-CN" altLang="en-US">
                <a:ea typeface="华文新魏" pitchFamily="2" charset="-122"/>
              </a:rPr>
              <a:t>  </a:t>
            </a:r>
            <a:br>
              <a:rPr lang="zh-CN" altLang="en-US">
                <a:ea typeface="华文新魏" pitchFamily="2" charset="-122"/>
              </a:rPr>
            </a:br>
            <a:r>
              <a:rPr lang="en-US" altLang="zh-CN">
                <a:ea typeface="华文新魏" pitchFamily="2" charset="-122"/>
              </a:rPr>
              <a:t>#define LISTINCREMENT 10   </a:t>
            </a:r>
            <a:r>
              <a:rPr lang="en-US" altLang="zh-CN" sz="2000">
                <a:ea typeface="华文新魏" pitchFamily="2" charset="-122"/>
              </a:rPr>
              <a:t>// </a:t>
            </a:r>
            <a:r>
              <a:rPr lang="zh-CN" altLang="en-US" sz="2000">
                <a:ea typeface="华文新魏" pitchFamily="2" charset="-122"/>
              </a:rPr>
              <a:t>线性表存储空间的分配增量</a:t>
            </a:r>
            <a:br>
              <a:rPr lang="zh-CN" altLang="en-US">
                <a:ea typeface="华文新魏" pitchFamily="2" charset="-122"/>
              </a:rPr>
            </a:br>
            <a:r>
              <a:rPr lang="en-US" altLang="zh-CN">
                <a:ea typeface="华文新魏" pitchFamily="2" charset="-122"/>
              </a:rPr>
              <a:t>typedef struct {</a:t>
            </a:r>
            <a:br>
              <a:rPr lang="en-US" altLang="zh-CN">
                <a:ea typeface="华文新魏" pitchFamily="2" charset="-122"/>
              </a:rPr>
            </a:br>
            <a:r>
              <a:rPr lang="en-US" altLang="zh-CN">
                <a:ea typeface="华文新魏" pitchFamily="2" charset="-122"/>
              </a:rPr>
              <a:t>     ElemType  *elem;   </a:t>
            </a:r>
            <a:r>
              <a:rPr lang="en-US" altLang="zh-CN" sz="2000">
                <a:ea typeface="华文新魏" pitchFamily="2" charset="-122"/>
              </a:rPr>
              <a:t>// </a:t>
            </a:r>
            <a:r>
              <a:rPr lang="zh-CN" altLang="en-US" sz="2000">
                <a:ea typeface="华文新魏" pitchFamily="2" charset="-122"/>
              </a:rPr>
              <a:t>数组指针，指示线性表的基地址</a:t>
            </a:r>
            <a:br>
              <a:rPr lang="zh-CN" altLang="en-US" sz="2000">
                <a:ea typeface="华文新魏" pitchFamily="2" charset="-122"/>
              </a:rPr>
            </a:br>
            <a:r>
              <a:rPr lang="zh-CN" altLang="en-US">
                <a:ea typeface="华文新魏" pitchFamily="2" charset="-122"/>
              </a:rPr>
              <a:t>     </a:t>
            </a:r>
            <a:r>
              <a:rPr lang="en-US" altLang="zh-CN">
                <a:ea typeface="华文新魏" pitchFamily="2" charset="-122"/>
              </a:rPr>
              <a:t>int length;   </a:t>
            </a:r>
            <a:r>
              <a:rPr lang="en-US" altLang="zh-CN" sz="2000">
                <a:ea typeface="华文新魏" pitchFamily="2" charset="-122"/>
              </a:rPr>
              <a:t>// </a:t>
            </a:r>
            <a:r>
              <a:rPr lang="zh-CN" altLang="en-US" sz="2000">
                <a:ea typeface="华文新魏" pitchFamily="2" charset="-122"/>
              </a:rPr>
              <a:t>当前长度</a:t>
            </a:r>
            <a:br>
              <a:rPr lang="zh-CN" altLang="en-US">
                <a:ea typeface="华文新魏" pitchFamily="2" charset="-122"/>
              </a:rPr>
            </a:br>
            <a:r>
              <a:rPr lang="zh-CN" altLang="en-US">
                <a:ea typeface="华文新魏" pitchFamily="2" charset="-122"/>
              </a:rPr>
              <a:t>     </a:t>
            </a:r>
            <a:r>
              <a:rPr lang="en-US" altLang="zh-CN">
                <a:ea typeface="华文新魏" pitchFamily="2" charset="-122"/>
              </a:rPr>
              <a:t>int listsize;  </a:t>
            </a:r>
            <a:r>
              <a:rPr lang="en-US" altLang="zh-CN" sz="2000">
                <a:ea typeface="华文新魏" pitchFamily="2" charset="-122"/>
              </a:rPr>
              <a:t>// </a:t>
            </a:r>
            <a:r>
              <a:rPr lang="zh-CN" altLang="en-US" sz="2000">
                <a:ea typeface="华文新魏" pitchFamily="2" charset="-122"/>
              </a:rPr>
              <a:t>当前分配的存储容量</a:t>
            </a:r>
            <a:r>
              <a:rPr lang="en-US" altLang="zh-CN" sz="2000">
                <a:ea typeface="华文新魏" pitchFamily="2" charset="-122"/>
              </a:rPr>
              <a:t>(</a:t>
            </a:r>
            <a:r>
              <a:rPr lang="zh-CN" altLang="en-US" sz="2000">
                <a:ea typeface="华文新魏" pitchFamily="2" charset="-122"/>
              </a:rPr>
              <a:t>以</a:t>
            </a:r>
            <a:r>
              <a:rPr lang="en-US" altLang="zh-CN" sz="2000">
                <a:ea typeface="华文新魏" pitchFamily="2" charset="-122"/>
              </a:rPr>
              <a:t>sizeof(ElemType)</a:t>
            </a:r>
            <a:r>
              <a:rPr lang="zh-CN" altLang="en-US" sz="2000">
                <a:ea typeface="华文新魏" pitchFamily="2" charset="-122"/>
              </a:rPr>
              <a:t>为单位</a:t>
            </a:r>
            <a:r>
              <a:rPr lang="en-US" altLang="zh-CN" sz="2000">
                <a:ea typeface="华文新魏" pitchFamily="2" charset="-122"/>
              </a:rPr>
              <a:t>)</a:t>
            </a:r>
            <a:r>
              <a:rPr lang="en-US" altLang="zh-CN">
                <a:ea typeface="华文新魏" pitchFamily="2" charset="-122"/>
              </a:rPr>
              <a:t> </a:t>
            </a:r>
            <a:br>
              <a:rPr lang="en-US" altLang="zh-CN">
                <a:ea typeface="华文新魏" pitchFamily="2" charset="-122"/>
              </a:rPr>
            </a:br>
            <a:r>
              <a:rPr lang="en-US" altLang="zh-CN">
                <a:ea typeface="华文新魏" pitchFamily="2" charset="-122"/>
              </a:rPr>
              <a:t>} SqList;  </a:t>
            </a:r>
          </a:p>
        </p:txBody>
      </p:sp>
      <p:sp useBgFill="1">
        <p:nvSpPr>
          <p:cNvPr id="135176" name="Rectangle 8"/>
          <p:cNvSpPr>
            <a:spLocks noChangeArrowheads="1"/>
          </p:cNvSpPr>
          <p:nvPr/>
        </p:nvSpPr>
        <p:spPr bwMode="auto">
          <a:xfrm>
            <a:off x="2278063" y="2997200"/>
            <a:ext cx="7423150" cy="38100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>
                <a:solidFill>
                  <a:srgbClr val="0000FF"/>
                </a:solidFill>
              </a:rPr>
              <a:t>SelemType *base; </a:t>
            </a:r>
            <a:r>
              <a:rPr lang="en-US" altLang="zh-CN" sz="2000">
                <a:solidFill>
                  <a:srgbClr val="0000FF"/>
                </a:solidFill>
                <a:ea typeface="华文新魏" pitchFamily="2" charset="-122"/>
              </a:rPr>
              <a:t>// </a:t>
            </a:r>
            <a:r>
              <a:rPr lang="zh-CN" altLang="en-US" sz="2000">
                <a:solidFill>
                  <a:srgbClr val="0000FF"/>
                </a:solidFill>
                <a:latin typeface="华文新魏" pitchFamily="2" charset="-122"/>
                <a:ea typeface="华文新魏" pitchFamily="2" charset="-122"/>
              </a:rPr>
              <a:t>栈底指针，它始终指向栈底的位置。</a:t>
            </a:r>
            <a:r>
              <a:rPr lang="zh-CN" altLang="en-US">
                <a:solidFill>
                  <a:srgbClr val="0000FF"/>
                </a:solidFill>
                <a:latin typeface="华文新魏" pitchFamily="2" charset="-122"/>
                <a:ea typeface="华文新魏" pitchFamily="2" charset="-122"/>
              </a:rPr>
              <a:t>  </a:t>
            </a:r>
            <a:endParaRPr lang="zh-CN" altLang="en-US">
              <a:solidFill>
                <a:srgbClr val="0000FF"/>
              </a:solidFill>
            </a:endParaRPr>
          </a:p>
        </p:txBody>
      </p:sp>
      <p:sp useBgFill="1">
        <p:nvSpPr>
          <p:cNvPr id="135177" name="Rectangle 9"/>
          <p:cNvSpPr>
            <a:spLocks noChangeArrowheads="1"/>
          </p:cNvSpPr>
          <p:nvPr/>
        </p:nvSpPr>
        <p:spPr bwMode="auto">
          <a:xfrm>
            <a:off x="2484439" y="3717925"/>
            <a:ext cx="4619625" cy="38100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60000"/>
              </a:lnSpc>
            </a:pPr>
            <a:r>
              <a:rPr lang="en-US" altLang="zh-CN">
                <a:solidFill>
                  <a:srgbClr val="0000FF"/>
                </a:solidFill>
              </a:rPr>
              <a:t>SelemType *top;  </a:t>
            </a:r>
            <a:r>
              <a:rPr lang="en-US" altLang="zh-CN" sz="2000">
                <a:solidFill>
                  <a:srgbClr val="0000FF"/>
                </a:solidFill>
              </a:rPr>
              <a:t>// </a:t>
            </a:r>
            <a:r>
              <a:rPr lang="zh-CN" altLang="en-US" sz="2000">
                <a:solidFill>
                  <a:srgbClr val="0000FF"/>
                </a:solidFill>
                <a:ea typeface="华文新魏" pitchFamily="2" charset="-122"/>
              </a:rPr>
              <a:t>栈顶指针。</a:t>
            </a:r>
          </a:p>
        </p:txBody>
      </p:sp>
      <p:sp useBgFill="1">
        <p:nvSpPr>
          <p:cNvPr id="135178" name="Rectangle 10"/>
          <p:cNvSpPr>
            <a:spLocks noChangeArrowheads="1"/>
          </p:cNvSpPr>
          <p:nvPr/>
        </p:nvSpPr>
        <p:spPr bwMode="auto">
          <a:xfrm>
            <a:off x="2495550" y="4340225"/>
            <a:ext cx="7416800" cy="45720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>
                <a:solidFill>
                  <a:srgbClr val="0000FF"/>
                </a:solidFill>
                <a:ea typeface="华文新魏" pitchFamily="2" charset="-122"/>
              </a:rPr>
              <a:t>int stacksize;  </a:t>
            </a:r>
            <a:r>
              <a:rPr lang="en-US" altLang="zh-CN" sz="2000">
                <a:solidFill>
                  <a:srgbClr val="0000FF"/>
                </a:solidFill>
                <a:ea typeface="华文新魏" pitchFamily="2" charset="-122"/>
              </a:rPr>
              <a:t>// </a:t>
            </a:r>
            <a:r>
              <a:rPr lang="zh-CN" altLang="en-US" sz="2000">
                <a:solidFill>
                  <a:srgbClr val="0000FF"/>
                </a:solidFill>
                <a:ea typeface="华文新魏" pitchFamily="2" charset="-122"/>
              </a:rPr>
              <a:t>当前分配的栈可使用的最大存储容量。</a:t>
            </a:r>
            <a:r>
              <a:rPr lang="zh-CN" altLang="en-US">
                <a:solidFill>
                  <a:srgbClr val="0000FF"/>
                </a:solidFill>
                <a:ea typeface="华文新魏" pitchFamily="2" charset="-122"/>
              </a:rPr>
              <a:t>  </a:t>
            </a:r>
          </a:p>
        </p:txBody>
      </p:sp>
      <p:sp useBgFill="1">
        <p:nvSpPr>
          <p:cNvPr id="135179" name="Rectangle 11"/>
          <p:cNvSpPr>
            <a:spLocks noChangeArrowheads="1"/>
          </p:cNvSpPr>
          <p:nvPr/>
        </p:nvSpPr>
        <p:spPr bwMode="auto">
          <a:xfrm>
            <a:off x="2332038" y="5086350"/>
            <a:ext cx="1828800" cy="38100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>
                <a:solidFill>
                  <a:srgbClr val="0000FF"/>
                </a:solidFill>
              </a:rPr>
              <a:t>Sqstack; </a:t>
            </a:r>
          </a:p>
        </p:txBody>
      </p:sp>
      <p:sp>
        <p:nvSpPr>
          <p:cNvPr id="135220" name="Text Box 52"/>
          <p:cNvSpPr txBox="1">
            <a:spLocks noChangeArrowheads="1"/>
          </p:cNvSpPr>
          <p:nvPr/>
        </p:nvSpPr>
        <p:spPr bwMode="auto">
          <a:xfrm>
            <a:off x="2066925" y="5780088"/>
            <a:ext cx="64849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注：</a:t>
            </a:r>
            <a:r>
              <a:rPr lang="en-US" altLang="zh-CN"/>
              <a:t>base </a:t>
            </a:r>
            <a:r>
              <a:rPr lang="zh-CN" altLang="en-US"/>
              <a:t>的值为 </a:t>
            </a:r>
            <a:r>
              <a:rPr lang="en-US" altLang="zh-CN"/>
              <a:t>NULL</a:t>
            </a:r>
            <a:r>
              <a:rPr lang="zh-CN" altLang="en-US"/>
              <a:t>，表明栈结构不存在。 </a:t>
            </a:r>
            <a:r>
              <a:rPr lang="zh-CN" altLang="en-US">
                <a:solidFill>
                  <a:srgbClr val="FF3300"/>
                </a:solidFill>
              </a:rPr>
              <a:t> </a:t>
            </a:r>
          </a:p>
        </p:txBody>
      </p:sp>
      <p:sp useBgFill="1">
        <p:nvSpPr>
          <p:cNvPr id="135228" name="Text Box 60"/>
          <p:cNvSpPr txBox="1">
            <a:spLocks noChangeArrowheads="1"/>
          </p:cNvSpPr>
          <p:nvPr/>
        </p:nvSpPr>
        <p:spPr bwMode="auto">
          <a:xfrm>
            <a:off x="2135189" y="909639"/>
            <a:ext cx="7985125" cy="384175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>
                <a:solidFill>
                  <a:srgbClr val="0000FF"/>
                </a:solidFill>
              </a:rPr>
              <a:t>#define STACK_INIT_SIZE 100    </a:t>
            </a:r>
            <a:r>
              <a:rPr lang="en-US" altLang="zh-CN" sz="2000">
                <a:solidFill>
                  <a:srgbClr val="0000FF"/>
                </a:solidFill>
              </a:rPr>
              <a:t>// </a:t>
            </a:r>
            <a:r>
              <a:rPr lang="zh-CN" altLang="en-US" sz="2000">
                <a:solidFill>
                  <a:srgbClr val="0000FF"/>
                </a:solidFill>
                <a:ea typeface="华文新魏" pitchFamily="2" charset="-122"/>
              </a:rPr>
              <a:t>栈存储空间的初始分配量</a:t>
            </a:r>
            <a:r>
              <a:rPr lang="zh-CN" altLang="en-US">
                <a:solidFill>
                  <a:srgbClr val="0000FF"/>
                </a:solidFill>
              </a:rPr>
              <a:t>   </a:t>
            </a:r>
          </a:p>
        </p:txBody>
      </p:sp>
      <p:sp useBgFill="1">
        <p:nvSpPr>
          <p:cNvPr id="135229" name="Text Box 61"/>
          <p:cNvSpPr txBox="1">
            <a:spLocks noChangeArrowheads="1"/>
          </p:cNvSpPr>
          <p:nvPr/>
        </p:nvSpPr>
        <p:spPr bwMode="auto">
          <a:xfrm>
            <a:off x="2133600" y="1557338"/>
            <a:ext cx="8032750" cy="45720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0000FF"/>
                </a:solidFill>
              </a:rPr>
              <a:t>#define STACKINCREMENT 10   </a:t>
            </a:r>
            <a:r>
              <a:rPr lang="en-US" altLang="zh-CN" sz="2000">
                <a:solidFill>
                  <a:srgbClr val="0000FF"/>
                </a:solidFill>
              </a:rPr>
              <a:t>// </a:t>
            </a:r>
            <a:r>
              <a:rPr lang="zh-CN" altLang="en-US" sz="2000">
                <a:solidFill>
                  <a:srgbClr val="0000FF"/>
                </a:solidFill>
                <a:latin typeface="华文新魏" pitchFamily="2" charset="-122"/>
                <a:ea typeface="华文新魏" pitchFamily="2" charset="-122"/>
              </a:rPr>
              <a:t>栈存储空间的分配增量</a:t>
            </a:r>
            <a:r>
              <a:rPr lang="zh-CN" altLang="en-US">
                <a:solidFill>
                  <a:srgbClr val="0000FF"/>
                </a:solidFill>
                <a:latin typeface="华文新魏" pitchFamily="2" charset="-122"/>
                <a:ea typeface="华文新魏" pitchFamily="2" charset="-122"/>
              </a:rPr>
              <a:t>       </a:t>
            </a:r>
          </a:p>
        </p:txBody>
      </p:sp>
      <p:sp>
        <p:nvSpPr>
          <p:cNvPr id="10" name="矩形 9"/>
          <p:cNvSpPr/>
          <p:nvPr/>
        </p:nvSpPr>
        <p:spPr bwMode="auto">
          <a:xfrm>
            <a:off x="8616280" y="5301208"/>
            <a:ext cx="1944216" cy="936104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dirty="0"/>
              <a:t>书上基本操作的实现</a:t>
            </a:r>
          </a:p>
        </p:txBody>
      </p:sp>
    </p:spTree>
  </p:cSld>
  <p:clrMapOvr>
    <a:masterClrMapping/>
  </p:clrMapOvr>
  <p:transition spd="slow">
    <p:spli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35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35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35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35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35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35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35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176" grpId="0" animBg="1" autoUpdateAnimBg="0"/>
      <p:bldP spid="135177" grpId="0" animBg="1" autoUpdateAnimBg="0"/>
      <p:bldP spid="135178" grpId="0" animBg="1" autoUpdateAnimBg="0"/>
      <p:bldP spid="135179" grpId="0" animBg="1" autoUpdateAnimBg="0"/>
      <p:bldP spid="135220" grpId="0" autoUpdateAnimBg="0"/>
      <p:bldP spid="135228" grpId="0" animBg="1"/>
      <p:bldP spid="135229" grpId="0" animBg="1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37" name="Rectangle 165"/>
          <p:cNvSpPr>
            <a:spLocks noChangeArrowheads="1"/>
          </p:cNvSpPr>
          <p:nvPr/>
        </p:nvSpPr>
        <p:spPr bwMode="auto">
          <a:xfrm>
            <a:off x="2111376" y="2590800"/>
            <a:ext cx="2328863" cy="381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834" name="Rectangle 162"/>
          <p:cNvSpPr>
            <a:spLocks noChangeArrowheads="1"/>
          </p:cNvSpPr>
          <p:nvPr/>
        </p:nvSpPr>
        <p:spPr bwMode="auto">
          <a:xfrm>
            <a:off x="2263775" y="5105400"/>
            <a:ext cx="2133600" cy="381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832" name="Rectangle 160"/>
          <p:cNvSpPr>
            <a:spLocks noChangeArrowheads="1"/>
          </p:cNvSpPr>
          <p:nvPr/>
        </p:nvSpPr>
        <p:spPr bwMode="auto">
          <a:xfrm>
            <a:off x="2263775" y="5105400"/>
            <a:ext cx="2133600" cy="381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824" name="Rectangle 152"/>
          <p:cNvSpPr>
            <a:spLocks noChangeArrowheads="1"/>
          </p:cNvSpPr>
          <p:nvPr/>
        </p:nvSpPr>
        <p:spPr bwMode="auto">
          <a:xfrm>
            <a:off x="2263775" y="5486400"/>
            <a:ext cx="1143000" cy="381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823" name="Rectangle 151"/>
          <p:cNvSpPr>
            <a:spLocks noChangeArrowheads="1"/>
          </p:cNvSpPr>
          <p:nvPr/>
        </p:nvSpPr>
        <p:spPr bwMode="auto">
          <a:xfrm>
            <a:off x="2111375" y="4724400"/>
            <a:ext cx="1828800" cy="381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818" name="Rectangle 146"/>
          <p:cNvSpPr>
            <a:spLocks noChangeArrowheads="1"/>
          </p:cNvSpPr>
          <p:nvPr/>
        </p:nvSpPr>
        <p:spPr bwMode="auto">
          <a:xfrm>
            <a:off x="2263775" y="5486400"/>
            <a:ext cx="1143000" cy="381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817" name="Rectangle 145"/>
          <p:cNvSpPr>
            <a:spLocks noChangeArrowheads="1"/>
          </p:cNvSpPr>
          <p:nvPr/>
        </p:nvSpPr>
        <p:spPr bwMode="auto">
          <a:xfrm>
            <a:off x="2035175" y="4038600"/>
            <a:ext cx="838200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814" name="Rectangle 142"/>
          <p:cNvSpPr>
            <a:spLocks noChangeArrowheads="1"/>
          </p:cNvSpPr>
          <p:nvPr/>
        </p:nvSpPr>
        <p:spPr bwMode="auto">
          <a:xfrm>
            <a:off x="2111375" y="4724400"/>
            <a:ext cx="1828800" cy="381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813" name="Rectangle 141"/>
          <p:cNvSpPr>
            <a:spLocks noChangeArrowheads="1"/>
          </p:cNvSpPr>
          <p:nvPr/>
        </p:nvSpPr>
        <p:spPr bwMode="auto">
          <a:xfrm>
            <a:off x="2035175" y="4343400"/>
            <a:ext cx="2057400" cy="381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806" name="Rectangle 134"/>
          <p:cNvSpPr>
            <a:spLocks noChangeArrowheads="1"/>
          </p:cNvSpPr>
          <p:nvPr/>
        </p:nvSpPr>
        <p:spPr bwMode="auto">
          <a:xfrm>
            <a:off x="2339975" y="3276600"/>
            <a:ext cx="990600" cy="381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805" name="Rectangle 133"/>
          <p:cNvSpPr>
            <a:spLocks noChangeArrowheads="1"/>
          </p:cNvSpPr>
          <p:nvPr/>
        </p:nvSpPr>
        <p:spPr bwMode="auto">
          <a:xfrm>
            <a:off x="2339975" y="2895600"/>
            <a:ext cx="3505200" cy="381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802" name="Rectangle 130"/>
          <p:cNvSpPr>
            <a:spLocks noChangeArrowheads="1"/>
          </p:cNvSpPr>
          <p:nvPr/>
        </p:nvSpPr>
        <p:spPr bwMode="auto">
          <a:xfrm>
            <a:off x="2339975" y="3276600"/>
            <a:ext cx="990600" cy="381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801" name="Rectangle 129"/>
          <p:cNvSpPr>
            <a:spLocks noChangeArrowheads="1"/>
          </p:cNvSpPr>
          <p:nvPr/>
        </p:nvSpPr>
        <p:spPr bwMode="auto">
          <a:xfrm>
            <a:off x="2339975" y="2895600"/>
            <a:ext cx="3505200" cy="381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800" name="Rectangle 128"/>
          <p:cNvSpPr>
            <a:spLocks noChangeArrowheads="1"/>
          </p:cNvSpPr>
          <p:nvPr/>
        </p:nvSpPr>
        <p:spPr bwMode="auto">
          <a:xfrm>
            <a:off x="2111376" y="2590800"/>
            <a:ext cx="2328863" cy="381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799" name="Rectangle 127"/>
          <p:cNvSpPr>
            <a:spLocks noChangeArrowheads="1"/>
          </p:cNvSpPr>
          <p:nvPr/>
        </p:nvSpPr>
        <p:spPr bwMode="auto">
          <a:xfrm>
            <a:off x="2111375" y="2209800"/>
            <a:ext cx="1371600" cy="381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798" name="Rectangle 126"/>
          <p:cNvSpPr>
            <a:spLocks noChangeArrowheads="1"/>
          </p:cNvSpPr>
          <p:nvPr/>
        </p:nvSpPr>
        <p:spPr bwMode="auto">
          <a:xfrm>
            <a:off x="2111375" y="1828800"/>
            <a:ext cx="2057400" cy="381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765" name="Text Box 93"/>
          <p:cNvSpPr txBox="1">
            <a:spLocks noChangeArrowheads="1"/>
          </p:cNvSpPr>
          <p:nvPr/>
        </p:nvSpPr>
        <p:spPr bwMode="auto">
          <a:xfrm>
            <a:off x="1806575" y="533400"/>
            <a:ext cx="5060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Tx/>
              <a:buBlip>
                <a:blip r:embed="rId4"/>
              </a:buBlip>
            </a:pPr>
            <a:r>
              <a:rPr lang="en-US" altLang="zh-CN">
                <a:latin typeface="华文中宋" pitchFamily="2" charset="-122"/>
                <a:ea typeface="华文中宋" pitchFamily="2" charset="-122"/>
              </a:rPr>
              <a:t>   </a:t>
            </a:r>
            <a:r>
              <a:rPr lang="zh-CN" altLang="en-US">
                <a:latin typeface="华文中宋" pitchFamily="2" charset="-122"/>
                <a:ea typeface="华文中宋" pitchFamily="2" charset="-122"/>
              </a:rPr>
              <a:t>栈的基本操作在顺序栈中的实现 </a:t>
            </a:r>
          </a:p>
        </p:txBody>
      </p:sp>
      <p:sp>
        <p:nvSpPr>
          <p:cNvPr id="28766" name="Text Box 94"/>
          <p:cNvSpPr txBox="1">
            <a:spLocks noChangeArrowheads="1"/>
          </p:cNvSpPr>
          <p:nvPr/>
        </p:nvSpPr>
        <p:spPr bwMode="auto">
          <a:xfrm>
            <a:off x="1806576" y="1031876"/>
            <a:ext cx="4198585" cy="5262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dirty="0"/>
              <a:t>#define </a:t>
            </a:r>
            <a:r>
              <a:rPr lang="en-US" altLang="zh-CN" dirty="0" err="1"/>
              <a:t>maxs</a:t>
            </a:r>
            <a:r>
              <a:rPr lang="en-US" altLang="zh-CN" dirty="0"/>
              <a:t> 9;</a:t>
            </a:r>
          </a:p>
          <a:p>
            <a:r>
              <a:rPr lang="en-US" altLang="zh-CN" dirty="0"/>
              <a:t>main() </a:t>
            </a:r>
          </a:p>
          <a:p>
            <a:r>
              <a:rPr lang="en-US" altLang="zh-CN" dirty="0"/>
              <a:t>{ </a:t>
            </a:r>
            <a:r>
              <a:rPr lang="en-US" altLang="zh-CN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int</a:t>
            </a:r>
            <a:r>
              <a:rPr lang="en-US" altLang="zh-CN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stack[</a:t>
            </a:r>
            <a:r>
              <a:rPr lang="en-US" altLang="zh-CN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maxs</a:t>
            </a:r>
            <a:r>
              <a:rPr lang="en-US" altLang="zh-CN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]; </a:t>
            </a:r>
          </a:p>
          <a:p>
            <a:r>
              <a:rPr lang="en-US" altLang="zh-CN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</a:t>
            </a:r>
            <a:r>
              <a:rPr lang="en-US" altLang="zh-CN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int</a:t>
            </a:r>
            <a:r>
              <a:rPr lang="en-US" altLang="zh-CN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top=0;</a:t>
            </a:r>
          </a:p>
          <a:p>
            <a:r>
              <a:rPr lang="en-US" altLang="zh-CN" dirty="0"/>
              <a:t>   </a:t>
            </a:r>
            <a:r>
              <a:rPr lang="en-US" altLang="zh-CN" dirty="0">
                <a:solidFill>
                  <a:srgbClr val="0000FF"/>
                </a:solidFill>
              </a:rPr>
              <a:t>while(top&lt;</a:t>
            </a:r>
            <a:r>
              <a:rPr lang="en-US" altLang="zh-CN" dirty="0" err="1">
                <a:solidFill>
                  <a:srgbClr val="0000FF"/>
                </a:solidFill>
              </a:rPr>
              <a:t>maxs</a:t>
            </a:r>
            <a:r>
              <a:rPr lang="en-US" altLang="zh-CN" dirty="0">
                <a:solidFill>
                  <a:srgbClr val="0000FF"/>
                </a:solidFill>
              </a:rPr>
              <a:t>)</a:t>
            </a:r>
          </a:p>
          <a:p>
            <a:r>
              <a:rPr lang="en-US" altLang="zh-CN" dirty="0">
                <a:solidFill>
                  <a:srgbClr val="0000FF"/>
                </a:solidFill>
              </a:rPr>
              <a:t>   {  </a:t>
            </a:r>
            <a:r>
              <a:rPr lang="en-US" altLang="zh-CN" dirty="0" err="1">
                <a:solidFill>
                  <a:srgbClr val="0000FF"/>
                </a:solidFill>
              </a:rPr>
              <a:t>scanf</a:t>
            </a:r>
            <a:r>
              <a:rPr lang="en-US" altLang="zh-CN" dirty="0">
                <a:solidFill>
                  <a:srgbClr val="0000FF"/>
                </a:solidFill>
              </a:rPr>
              <a:t>(“%</a:t>
            </a:r>
            <a:r>
              <a:rPr lang="en-US" altLang="zh-CN" dirty="0" err="1">
                <a:solidFill>
                  <a:srgbClr val="0000FF"/>
                </a:solidFill>
              </a:rPr>
              <a:t>d”,&amp;stack</a:t>
            </a:r>
            <a:r>
              <a:rPr lang="en-US" altLang="zh-CN" dirty="0">
                <a:solidFill>
                  <a:srgbClr val="0000FF"/>
                </a:solidFill>
              </a:rPr>
              <a:t>[top]); </a:t>
            </a:r>
          </a:p>
          <a:p>
            <a:r>
              <a:rPr lang="en-US" altLang="zh-CN" dirty="0">
                <a:solidFill>
                  <a:srgbClr val="0000FF"/>
                </a:solidFill>
              </a:rPr>
              <a:t>       top++;</a:t>
            </a:r>
          </a:p>
          <a:p>
            <a:r>
              <a:rPr lang="en-US" altLang="zh-CN" dirty="0">
                <a:solidFill>
                  <a:srgbClr val="0000FF"/>
                </a:solidFill>
              </a:rPr>
              <a:t>    }</a:t>
            </a:r>
          </a:p>
          <a:p>
            <a:r>
              <a:rPr lang="en-US" altLang="zh-CN" dirty="0">
                <a:solidFill>
                  <a:srgbClr val="0000FF"/>
                </a:solidFill>
              </a:rPr>
              <a:t>   </a:t>
            </a:r>
            <a:r>
              <a:rPr lang="en-US" altLang="zh-CN" dirty="0" err="1">
                <a:solidFill>
                  <a:srgbClr val="9900CC"/>
                </a:solidFill>
              </a:rPr>
              <a:t>int</a:t>
            </a:r>
            <a:r>
              <a:rPr lang="en-US" altLang="zh-CN" dirty="0">
                <a:solidFill>
                  <a:srgbClr val="9900CC"/>
                </a:solidFill>
              </a:rPr>
              <a:t> e;</a:t>
            </a:r>
          </a:p>
          <a:p>
            <a:r>
              <a:rPr lang="en-US" altLang="zh-CN" dirty="0">
                <a:solidFill>
                  <a:srgbClr val="9900CC"/>
                </a:solidFill>
              </a:rPr>
              <a:t>   e=stack[top-1];</a:t>
            </a:r>
            <a:r>
              <a:rPr lang="en-US" altLang="zh-CN" dirty="0"/>
              <a:t>  </a:t>
            </a:r>
          </a:p>
          <a:p>
            <a:r>
              <a:rPr lang="en-US" altLang="zh-CN" dirty="0"/>
              <a:t>   while(top&gt;0)</a:t>
            </a:r>
          </a:p>
          <a:p>
            <a:r>
              <a:rPr lang="en-US" altLang="zh-CN" dirty="0"/>
              <a:t>      e=stack[top-1];  </a:t>
            </a:r>
          </a:p>
          <a:p>
            <a:r>
              <a:rPr lang="en-US" altLang="zh-CN" dirty="0"/>
              <a:t>      top-=1;</a:t>
            </a:r>
          </a:p>
          <a:p>
            <a:r>
              <a:rPr lang="en-US" altLang="zh-CN" dirty="0"/>
              <a:t>}</a:t>
            </a:r>
          </a:p>
        </p:txBody>
      </p:sp>
      <p:sp>
        <p:nvSpPr>
          <p:cNvPr id="28767" name="AutoShape 95"/>
          <p:cNvSpPr>
            <a:spLocks/>
          </p:cNvSpPr>
          <p:nvPr/>
        </p:nvSpPr>
        <p:spPr bwMode="auto">
          <a:xfrm>
            <a:off x="4244975" y="1981200"/>
            <a:ext cx="152400" cy="457200"/>
          </a:xfrm>
          <a:prstGeom prst="rightBrace">
            <a:avLst>
              <a:gd name="adj1" fmla="val 25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768" name="Text Box 96"/>
          <p:cNvSpPr txBox="1">
            <a:spLocks noChangeArrowheads="1"/>
          </p:cNvSpPr>
          <p:nvPr/>
        </p:nvSpPr>
        <p:spPr bwMode="auto">
          <a:xfrm>
            <a:off x="4397376" y="1981200"/>
            <a:ext cx="14636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InitStack </a:t>
            </a:r>
          </a:p>
        </p:txBody>
      </p:sp>
      <p:sp>
        <p:nvSpPr>
          <p:cNvPr id="28769" name="AutoShape 97"/>
          <p:cNvSpPr>
            <a:spLocks/>
          </p:cNvSpPr>
          <p:nvPr/>
        </p:nvSpPr>
        <p:spPr bwMode="auto">
          <a:xfrm>
            <a:off x="5921375" y="2667000"/>
            <a:ext cx="152400" cy="1143000"/>
          </a:xfrm>
          <a:prstGeom prst="rightBrace">
            <a:avLst>
              <a:gd name="adj1" fmla="val 625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770" name="Text Box 98"/>
          <p:cNvSpPr txBox="1">
            <a:spLocks noChangeArrowheads="1"/>
          </p:cNvSpPr>
          <p:nvPr/>
        </p:nvSpPr>
        <p:spPr bwMode="auto">
          <a:xfrm>
            <a:off x="6073776" y="2971800"/>
            <a:ext cx="9048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Push </a:t>
            </a:r>
          </a:p>
        </p:txBody>
      </p:sp>
      <p:sp>
        <p:nvSpPr>
          <p:cNvPr id="28771" name="AutoShape 99"/>
          <p:cNvSpPr>
            <a:spLocks/>
          </p:cNvSpPr>
          <p:nvPr/>
        </p:nvSpPr>
        <p:spPr bwMode="auto">
          <a:xfrm>
            <a:off x="4205289" y="4114800"/>
            <a:ext cx="115887" cy="609600"/>
          </a:xfrm>
          <a:prstGeom prst="rightBrace">
            <a:avLst>
              <a:gd name="adj1" fmla="val 43836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772" name="Text Box 100"/>
          <p:cNvSpPr txBox="1">
            <a:spLocks noChangeArrowheads="1"/>
          </p:cNvSpPr>
          <p:nvPr/>
        </p:nvSpPr>
        <p:spPr bwMode="auto">
          <a:xfrm>
            <a:off x="4619625" y="5105400"/>
            <a:ext cx="768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Pop </a:t>
            </a:r>
          </a:p>
        </p:txBody>
      </p:sp>
      <p:grpSp>
        <p:nvGrpSpPr>
          <p:cNvPr id="28803" name="Group 131"/>
          <p:cNvGrpSpPr>
            <a:grpSpLocks/>
          </p:cNvGrpSpPr>
          <p:nvPr/>
        </p:nvGrpSpPr>
        <p:grpSpPr bwMode="auto">
          <a:xfrm>
            <a:off x="8196263" y="990600"/>
            <a:ext cx="914400" cy="3429000"/>
            <a:chOff x="4032" y="624"/>
            <a:chExt cx="576" cy="2160"/>
          </a:xfrm>
        </p:grpSpPr>
        <p:sp>
          <p:nvSpPr>
            <p:cNvPr id="28773" name="Line 101"/>
            <p:cNvSpPr>
              <a:spLocks noChangeShapeType="1"/>
            </p:cNvSpPr>
            <p:nvPr/>
          </p:nvSpPr>
          <p:spPr bwMode="auto">
            <a:xfrm>
              <a:off x="4032" y="624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74" name="Line 102"/>
            <p:cNvSpPr>
              <a:spLocks noChangeShapeType="1"/>
            </p:cNvSpPr>
            <p:nvPr/>
          </p:nvSpPr>
          <p:spPr bwMode="auto">
            <a:xfrm>
              <a:off x="4032" y="816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75" name="Line 103"/>
            <p:cNvSpPr>
              <a:spLocks noChangeShapeType="1"/>
            </p:cNvSpPr>
            <p:nvPr/>
          </p:nvSpPr>
          <p:spPr bwMode="auto">
            <a:xfrm>
              <a:off x="4032" y="1008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76" name="Line 104"/>
            <p:cNvSpPr>
              <a:spLocks noChangeShapeType="1"/>
            </p:cNvSpPr>
            <p:nvPr/>
          </p:nvSpPr>
          <p:spPr bwMode="auto">
            <a:xfrm>
              <a:off x="4032" y="1200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77" name="Line 105"/>
            <p:cNvSpPr>
              <a:spLocks noChangeShapeType="1"/>
            </p:cNvSpPr>
            <p:nvPr/>
          </p:nvSpPr>
          <p:spPr bwMode="auto">
            <a:xfrm>
              <a:off x="4032" y="1392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78" name="Line 106"/>
            <p:cNvSpPr>
              <a:spLocks noChangeShapeType="1"/>
            </p:cNvSpPr>
            <p:nvPr/>
          </p:nvSpPr>
          <p:spPr bwMode="auto">
            <a:xfrm>
              <a:off x="4032" y="1584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79" name="Line 107"/>
            <p:cNvSpPr>
              <a:spLocks noChangeShapeType="1"/>
            </p:cNvSpPr>
            <p:nvPr/>
          </p:nvSpPr>
          <p:spPr bwMode="auto">
            <a:xfrm>
              <a:off x="4032" y="1776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80" name="Line 108"/>
            <p:cNvSpPr>
              <a:spLocks noChangeShapeType="1"/>
            </p:cNvSpPr>
            <p:nvPr/>
          </p:nvSpPr>
          <p:spPr bwMode="auto">
            <a:xfrm>
              <a:off x="4032" y="1968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81" name="Line 109"/>
            <p:cNvSpPr>
              <a:spLocks noChangeShapeType="1"/>
            </p:cNvSpPr>
            <p:nvPr/>
          </p:nvSpPr>
          <p:spPr bwMode="auto">
            <a:xfrm>
              <a:off x="4032" y="2160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82" name="Line 110"/>
            <p:cNvSpPr>
              <a:spLocks noChangeShapeType="1"/>
            </p:cNvSpPr>
            <p:nvPr/>
          </p:nvSpPr>
          <p:spPr bwMode="auto">
            <a:xfrm>
              <a:off x="4032" y="2352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85" name="Line 113"/>
            <p:cNvSpPr>
              <a:spLocks noChangeShapeType="1"/>
            </p:cNvSpPr>
            <p:nvPr/>
          </p:nvSpPr>
          <p:spPr bwMode="auto">
            <a:xfrm>
              <a:off x="4032" y="624"/>
              <a:ext cx="0" cy="21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86" name="Line 114"/>
            <p:cNvSpPr>
              <a:spLocks noChangeShapeType="1"/>
            </p:cNvSpPr>
            <p:nvPr/>
          </p:nvSpPr>
          <p:spPr bwMode="auto">
            <a:xfrm>
              <a:off x="4608" y="624"/>
              <a:ext cx="0" cy="21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8791" name="Group 119"/>
          <p:cNvGrpSpPr>
            <a:grpSpLocks/>
          </p:cNvGrpSpPr>
          <p:nvPr/>
        </p:nvGrpSpPr>
        <p:grpSpPr bwMode="auto">
          <a:xfrm>
            <a:off x="7292975" y="3089276"/>
            <a:ext cx="838200" cy="492125"/>
            <a:chOff x="3504" y="1946"/>
            <a:chExt cx="528" cy="310"/>
          </a:xfrm>
        </p:grpSpPr>
        <p:sp>
          <p:nvSpPr>
            <p:cNvPr id="28787" name="Line 115"/>
            <p:cNvSpPr>
              <a:spLocks noChangeShapeType="1"/>
            </p:cNvSpPr>
            <p:nvPr/>
          </p:nvSpPr>
          <p:spPr bwMode="auto">
            <a:xfrm>
              <a:off x="3504" y="2256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88" name="Text Box 116"/>
            <p:cNvSpPr txBox="1">
              <a:spLocks noChangeArrowheads="1"/>
            </p:cNvSpPr>
            <p:nvPr/>
          </p:nvSpPr>
          <p:spPr bwMode="auto">
            <a:xfrm>
              <a:off x="3542" y="1946"/>
              <a:ext cx="43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top </a:t>
              </a:r>
            </a:p>
          </p:txBody>
        </p:sp>
      </p:grpSp>
      <p:sp>
        <p:nvSpPr>
          <p:cNvPr id="28789" name="Text Box 117"/>
          <p:cNvSpPr txBox="1">
            <a:spLocks noChangeArrowheads="1"/>
          </p:cNvSpPr>
          <p:nvPr/>
        </p:nvSpPr>
        <p:spPr bwMode="auto">
          <a:xfrm>
            <a:off x="8482013" y="3352800"/>
            <a:ext cx="412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1 </a:t>
            </a:r>
          </a:p>
        </p:txBody>
      </p:sp>
      <p:sp>
        <p:nvSpPr>
          <p:cNvPr id="28790" name="Text Box 118"/>
          <p:cNvSpPr txBox="1">
            <a:spLocks noChangeArrowheads="1"/>
          </p:cNvSpPr>
          <p:nvPr/>
        </p:nvSpPr>
        <p:spPr bwMode="auto">
          <a:xfrm>
            <a:off x="8501063" y="3043238"/>
            <a:ext cx="412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2 </a:t>
            </a:r>
          </a:p>
        </p:txBody>
      </p:sp>
      <p:sp useBgFill="1">
        <p:nvSpPr>
          <p:cNvPr id="28804" name="Rectangle 132"/>
          <p:cNvSpPr>
            <a:spLocks noChangeArrowheads="1"/>
          </p:cNvSpPr>
          <p:nvPr/>
        </p:nvSpPr>
        <p:spPr bwMode="auto">
          <a:xfrm>
            <a:off x="7216775" y="3200400"/>
            <a:ext cx="914400" cy="68580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8792" name="Group 120"/>
          <p:cNvGrpSpPr>
            <a:grpSpLocks/>
          </p:cNvGrpSpPr>
          <p:nvPr/>
        </p:nvGrpSpPr>
        <p:grpSpPr bwMode="auto">
          <a:xfrm>
            <a:off x="7292975" y="2784476"/>
            <a:ext cx="838200" cy="492125"/>
            <a:chOff x="3504" y="1946"/>
            <a:chExt cx="528" cy="310"/>
          </a:xfrm>
        </p:grpSpPr>
        <p:sp>
          <p:nvSpPr>
            <p:cNvPr id="28793" name="Line 121"/>
            <p:cNvSpPr>
              <a:spLocks noChangeShapeType="1"/>
            </p:cNvSpPr>
            <p:nvPr/>
          </p:nvSpPr>
          <p:spPr bwMode="auto">
            <a:xfrm>
              <a:off x="3504" y="2256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94" name="Text Box 122"/>
            <p:cNvSpPr txBox="1">
              <a:spLocks noChangeArrowheads="1"/>
            </p:cNvSpPr>
            <p:nvPr/>
          </p:nvSpPr>
          <p:spPr bwMode="auto">
            <a:xfrm>
              <a:off x="3542" y="1946"/>
              <a:ext cx="43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top </a:t>
              </a:r>
            </a:p>
          </p:txBody>
        </p:sp>
      </p:grpSp>
      <p:sp useBgFill="1">
        <p:nvSpPr>
          <p:cNvPr id="28807" name="Rectangle 135"/>
          <p:cNvSpPr>
            <a:spLocks noChangeArrowheads="1"/>
          </p:cNvSpPr>
          <p:nvPr/>
        </p:nvSpPr>
        <p:spPr bwMode="auto">
          <a:xfrm>
            <a:off x="7216775" y="2895600"/>
            <a:ext cx="914400" cy="68580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8795" name="Group 123"/>
          <p:cNvGrpSpPr>
            <a:grpSpLocks/>
          </p:cNvGrpSpPr>
          <p:nvPr/>
        </p:nvGrpSpPr>
        <p:grpSpPr bwMode="auto">
          <a:xfrm>
            <a:off x="7292975" y="2479676"/>
            <a:ext cx="838200" cy="492125"/>
            <a:chOff x="3504" y="1946"/>
            <a:chExt cx="528" cy="310"/>
          </a:xfrm>
        </p:grpSpPr>
        <p:sp>
          <p:nvSpPr>
            <p:cNvPr id="28796" name="Line 124"/>
            <p:cNvSpPr>
              <a:spLocks noChangeShapeType="1"/>
            </p:cNvSpPr>
            <p:nvPr/>
          </p:nvSpPr>
          <p:spPr bwMode="auto">
            <a:xfrm>
              <a:off x="3504" y="2256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97" name="Text Box 125"/>
            <p:cNvSpPr txBox="1">
              <a:spLocks noChangeArrowheads="1"/>
            </p:cNvSpPr>
            <p:nvPr/>
          </p:nvSpPr>
          <p:spPr bwMode="auto">
            <a:xfrm>
              <a:off x="3542" y="1946"/>
              <a:ext cx="43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top </a:t>
              </a:r>
            </a:p>
          </p:txBody>
        </p:sp>
      </p:grpSp>
      <p:sp useBgFill="1">
        <p:nvSpPr>
          <p:cNvPr id="28809" name="Rectangle 137"/>
          <p:cNvSpPr>
            <a:spLocks noChangeArrowheads="1"/>
          </p:cNvSpPr>
          <p:nvPr/>
        </p:nvSpPr>
        <p:spPr bwMode="auto">
          <a:xfrm>
            <a:off x="7216775" y="2590800"/>
            <a:ext cx="914400" cy="68580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8810" name="Group 138"/>
          <p:cNvGrpSpPr>
            <a:grpSpLocks/>
          </p:cNvGrpSpPr>
          <p:nvPr/>
        </p:nvGrpSpPr>
        <p:grpSpPr bwMode="auto">
          <a:xfrm>
            <a:off x="7292975" y="2784476"/>
            <a:ext cx="838200" cy="492125"/>
            <a:chOff x="3504" y="1946"/>
            <a:chExt cx="528" cy="310"/>
          </a:xfrm>
        </p:grpSpPr>
        <p:sp useBgFill="1">
          <p:nvSpPr>
            <p:cNvPr id="28811" name="Line 139"/>
            <p:cNvSpPr>
              <a:spLocks noChangeShapeType="1"/>
            </p:cNvSpPr>
            <p:nvPr/>
          </p:nvSpPr>
          <p:spPr bwMode="auto">
            <a:xfrm>
              <a:off x="3504" y="2256"/>
              <a:ext cx="528" cy="0"/>
            </a:xfrm>
            <a:prstGeom prst="line">
              <a:avLst/>
            </a:prstGeom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28812" name="Text Box 140"/>
            <p:cNvSpPr txBox="1">
              <a:spLocks noChangeArrowheads="1"/>
            </p:cNvSpPr>
            <p:nvPr/>
          </p:nvSpPr>
          <p:spPr bwMode="auto">
            <a:xfrm>
              <a:off x="3542" y="1946"/>
              <a:ext cx="431" cy="288"/>
            </a:xfrm>
            <a:prstGeom prst="rect">
              <a:avLst/>
            </a:prstGeom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top </a:t>
              </a:r>
            </a:p>
          </p:txBody>
        </p:sp>
      </p:grpSp>
      <p:sp>
        <p:nvSpPr>
          <p:cNvPr id="28815" name="Rectangle 143"/>
          <p:cNvSpPr>
            <a:spLocks noChangeArrowheads="1"/>
          </p:cNvSpPr>
          <p:nvPr/>
        </p:nvSpPr>
        <p:spPr bwMode="auto">
          <a:xfrm>
            <a:off x="9578975" y="2819400"/>
            <a:ext cx="8382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816" name="Text Box 144"/>
          <p:cNvSpPr txBox="1">
            <a:spLocks noChangeArrowheads="1"/>
          </p:cNvSpPr>
          <p:nvPr/>
        </p:nvSpPr>
        <p:spPr bwMode="auto">
          <a:xfrm>
            <a:off x="9852025" y="2743200"/>
            <a:ext cx="412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2 </a:t>
            </a:r>
          </a:p>
        </p:txBody>
      </p:sp>
      <p:sp useBgFill="1">
        <p:nvSpPr>
          <p:cNvPr id="28822" name="Rectangle 150"/>
          <p:cNvSpPr>
            <a:spLocks noChangeArrowheads="1"/>
          </p:cNvSpPr>
          <p:nvPr/>
        </p:nvSpPr>
        <p:spPr bwMode="auto">
          <a:xfrm>
            <a:off x="7216775" y="2819400"/>
            <a:ext cx="914400" cy="68580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8819" name="Group 147"/>
          <p:cNvGrpSpPr>
            <a:grpSpLocks/>
          </p:cNvGrpSpPr>
          <p:nvPr/>
        </p:nvGrpSpPr>
        <p:grpSpPr bwMode="auto">
          <a:xfrm>
            <a:off x="7292975" y="3089276"/>
            <a:ext cx="838200" cy="492125"/>
            <a:chOff x="3504" y="1946"/>
            <a:chExt cx="528" cy="310"/>
          </a:xfrm>
        </p:grpSpPr>
        <p:sp useBgFill="1">
          <p:nvSpPr>
            <p:cNvPr id="28820" name="Line 148"/>
            <p:cNvSpPr>
              <a:spLocks noChangeShapeType="1"/>
            </p:cNvSpPr>
            <p:nvPr/>
          </p:nvSpPr>
          <p:spPr bwMode="auto">
            <a:xfrm>
              <a:off x="3504" y="2256"/>
              <a:ext cx="528" cy="0"/>
            </a:xfrm>
            <a:prstGeom prst="line">
              <a:avLst/>
            </a:prstGeom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28821" name="Text Box 149"/>
            <p:cNvSpPr txBox="1">
              <a:spLocks noChangeArrowheads="1"/>
            </p:cNvSpPr>
            <p:nvPr/>
          </p:nvSpPr>
          <p:spPr bwMode="auto">
            <a:xfrm>
              <a:off x="3542" y="1946"/>
              <a:ext cx="431" cy="288"/>
            </a:xfrm>
            <a:prstGeom prst="rect">
              <a:avLst/>
            </a:prstGeom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top </a:t>
              </a:r>
            </a:p>
          </p:txBody>
        </p:sp>
      </p:grpSp>
      <p:sp>
        <p:nvSpPr>
          <p:cNvPr id="28829" name="Text Box 157"/>
          <p:cNvSpPr txBox="1">
            <a:spLocks noChangeArrowheads="1"/>
          </p:cNvSpPr>
          <p:nvPr/>
        </p:nvSpPr>
        <p:spPr bwMode="auto">
          <a:xfrm>
            <a:off x="4397375" y="4191000"/>
            <a:ext cx="12588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GetTop </a:t>
            </a:r>
          </a:p>
        </p:txBody>
      </p:sp>
      <p:sp>
        <p:nvSpPr>
          <p:cNvPr id="28830" name="AutoShape 158"/>
          <p:cNvSpPr>
            <a:spLocks/>
          </p:cNvSpPr>
          <p:nvPr/>
        </p:nvSpPr>
        <p:spPr bwMode="auto">
          <a:xfrm>
            <a:off x="4397375" y="4876800"/>
            <a:ext cx="152400" cy="9144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833" name="Text Box 161"/>
          <p:cNvSpPr txBox="1">
            <a:spLocks noChangeArrowheads="1"/>
          </p:cNvSpPr>
          <p:nvPr/>
        </p:nvSpPr>
        <p:spPr bwMode="auto">
          <a:xfrm>
            <a:off x="9852025" y="2743200"/>
            <a:ext cx="412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2 </a:t>
            </a:r>
          </a:p>
        </p:txBody>
      </p:sp>
      <p:sp useBgFill="1">
        <p:nvSpPr>
          <p:cNvPr id="28836" name="Rectangle 164"/>
          <p:cNvSpPr>
            <a:spLocks noChangeArrowheads="1"/>
          </p:cNvSpPr>
          <p:nvPr/>
        </p:nvSpPr>
        <p:spPr bwMode="auto">
          <a:xfrm>
            <a:off x="9883775" y="2860675"/>
            <a:ext cx="228600" cy="22860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835" name="Text Box 163"/>
          <p:cNvSpPr txBox="1">
            <a:spLocks noChangeArrowheads="1"/>
          </p:cNvSpPr>
          <p:nvPr/>
        </p:nvSpPr>
        <p:spPr bwMode="auto">
          <a:xfrm>
            <a:off x="9883775" y="2743200"/>
            <a:ext cx="412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1 </a:t>
            </a:r>
          </a:p>
        </p:txBody>
      </p:sp>
      <p:sp useBgFill="1">
        <p:nvSpPr>
          <p:cNvPr id="28838" name="Rectangle 166"/>
          <p:cNvSpPr>
            <a:spLocks noChangeArrowheads="1"/>
          </p:cNvSpPr>
          <p:nvPr/>
        </p:nvSpPr>
        <p:spPr bwMode="auto">
          <a:xfrm>
            <a:off x="8534401" y="3141664"/>
            <a:ext cx="288925" cy="287337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 useBgFill="1">
        <p:nvSpPr>
          <p:cNvPr id="28839" name="Rectangle 167"/>
          <p:cNvSpPr>
            <a:spLocks noChangeArrowheads="1"/>
          </p:cNvSpPr>
          <p:nvPr/>
        </p:nvSpPr>
        <p:spPr bwMode="auto">
          <a:xfrm>
            <a:off x="8534401" y="3482976"/>
            <a:ext cx="288925" cy="233363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843" name="Text Box 171"/>
          <p:cNvSpPr txBox="1">
            <a:spLocks noChangeArrowheads="1"/>
          </p:cNvSpPr>
          <p:nvPr/>
        </p:nvSpPr>
        <p:spPr bwMode="auto">
          <a:xfrm>
            <a:off x="1703389" y="2581275"/>
            <a:ext cx="8626475" cy="287020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000"/>
              <a:t>Status InitStack (SqStack &amp;S) { </a:t>
            </a:r>
          </a:p>
          <a:p>
            <a:pPr>
              <a:lnSpc>
                <a:spcPct val="130000"/>
              </a:lnSpc>
            </a:pPr>
            <a:r>
              <a:rPr lang="en-US" altLang="zh-CN" sz="2000"/>
              <a:t>    S.base = (SElemType * )malloc(STACK_INIT_SIZE * sizeof(SElemtype));  </a:t>
            </a:r>
          </a:p>
          <a:p>
            <a:pPr>
              <a:lnSpc>
                <a:spcPct val="130000"/>
              </a:lnSpc>
            </a:pPr>
            <a:r>
              <a:rPr lang="en-US" altLang="zh-CN" sz="2000"/>
              <a:t>    if (!S.base) exit (OVERFLOW); </a:t>
            </a:r>
          </a:p>
          <a:p>
            <a:pPr>
              <a:lnSpc>
                <a:spcPct val="130000"/>
              </a:lnSpc>
            </a:pPr>
            <a:r>
              <a:rPr lang="en-US" altLang="zh-CN" sz="2000"/>
              <a:t>    S.top = S.base; </a:t>
            </a:r>
          </a:p>
          <a:p>
            <a:pPr>
              <a:lnSpc>
                <a:spcPct val="130000"/>
              </a:lnSpc>
            </a:pPr>
            <a:r>
              <a:rPr lang="en-US" altLang="zh-CN" sz="2000"/>
              <a:t>    S.stacksize = STACK_INIT_SIZE; </a:t>
            </a:r>
          </a:p>
          <a:p>
            <a:pPr>
              <a:lnSpc>
                <a:spcPct val="130000"/>
              </a:lnSpc>
            </a:pPr>
            <a:r>
              <a:rPr lang="en-US" altLang="zh-CN" sz="2000"/>
              <a:t>    return OK; </a:t>
            </a:r>
          </a:p>
          <a:p>
            <a:pPr>
              <a:lnSpc>
                <a:spcPct val="130000"/>
              </a:lnSpc>
            </a:pPr>
            <a:r>
              <a:rPr lang="en-US" altLang="zh-CN" sz="2000"/>
              <a:t>} // InitStack</a:t>
            </a:r>
          </a:p>
        </p:txBody>
      </p:sp>
      <p:sp>
        <p:nvSpPr>
          <p:cNvPr id="28844" name="Text Box 172"/>
          <p:cNvSpPr txBox="1">
            <a:spLocks noChangeArrowheads="1"/>
          </p:cNvSpPr>
          <p:nvPr/>
        </p:nvSpPr>
        <p:spPr bwMode="auto">
          <a:xfrm>
            <a:off x="1758950" y="3716338"/>
            <a:ext cx="8195064" cy="2862322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dirty="0"/>
              <a:t>Status Push (</a:t>
            </a:r>
            <a:r>
              <a:rPr lang="en-US" altLang="zh-CN" sz="2000" dirty="0" err="1"/>
              <a:t>SqStack</a:t>
            </a:r>
            <a:r>
              <a:rPr lang="en-US" altLang="zh-CN" sz="2000" dirty="0"/>
              <a:t> &amp;S, </a:t>
            </a:r>
            <a:r>
              <a:rPr lang="en-US" altLang="zh-CN" sz="2000" dirty="0" err="1"/>
              <a:t>SElemType</a:t>
            </a:r>
            <a:r>
              <a:rPr lang="en-US" altLang="zh-CN" sz="2000" dirty="0"/>
              <a:t> e) { </a:t>
            </a:r>
          </a:p>
          <a:p>
            <a:r>
              <a:rPr lang="en-US" altLang="zh-CN" sz="2000" dirty="0"/>
              <a:t>    if (</a:t>
            </a:r>
            <a:r>
              <a:rPr lang="en-US" altLang="zh-CN" sz="2000" dirty="0" err="1"/>
              <a:t>S.top</a:t>
            </a:r>
            <a:r>
              <a:rPr lang="en-US" altLang="zh-CN" sz="2000" dirty="0"/>
              <a:t> - </a:t>
            </a:r>
            <a:r>
              <a:rPr lang="en-US" altLang="zh-CN" sz="2000" dirty="0" err="1"/>
              <a:t>S.base</a:t>
            </a:r>
            <a:r>
              <a:rPr lang="en-US" altLang="zh-CN" sz="2000" dirty="0"/>
              <a:t> &gt;= </a:t>
            </a:r>
            <a:r>
              <a:rPr lang="en-US" altLang="zh-CN" sz="2000" dirty="0" err="1"/>
              <a:t>S.stacksize</a:t>
            </a:r>
            <a:r>
              <a:rPr lang="en-US" altLang="zh-CN" sz="2000" dirty="0"/>
              <a:t>) { </a:t>
            </a:r>
          </a:p>
          <a:p>
            <a:r>
              <a:rPr lang="en-US" altLang="zh-CN" sz="2000" dirty="0"/>
              <a:t>       </a:t>
            </a:r>
            <a:r>
              <a:rPr lang="en-US" altLang="zh-CN" sz="2000" dirty="0" err="1"/>
              <a:t>S.base</a:t>
            </a:r>
            <a:r>
              <a:rPr lang="en-US" altLang="zh-CN" sz="2000" dirty="0"/>
              <a:t> = (</a:t>
            </a:r>
            <a:r>
              <a:rPr lang="en-US" altLang="zh-CN" sz="2000" dirty="0" err="1"/>
              <a:t>SElemType</a:t>
            </a:r>
            <a:r>
              <a:rPr lang="en-US" altLang="zh-CN" sz="2000" dirty="0"/>
              <a:t> * )</a:t>
            </a:r>
            <a:r>
              <a:rPr lang="en-US" altLang="zh-CN" sz="2000" dirty="0" err="1"/>
              <a:t>realloc</a:t>
            </a:r>
            <a:r>
              <a:rPr lang="en-US" altLang="zh-CN" sz="2000" dirty="0"/>
              <a:t>(</a:t>
            </a:r>
            <a:r>
              <a:rPr lang="en-US" altLang="zh-CN" sz="2000" dirty="0" err="1"/>
              <a:t>S.base</a:t>
            </a:r>
            <a:r>
              <a:rPr lang="en-US" altLang="zh-CN" sz="2000" dirty="0"/>
              <a:t>, </a:t>
            </a:r>
          </a:p>
          <a:p>
            <a:r>
              <a:rPr lang="en-US" altLang="zh-CN" sz="2000" dirty="0"/>
              <a:t>                      (</a:t>
            </a:r>
            <a:r>
              <a:rPr lang="en-US" altLang="zh-CN" sz="2000" dirty="0" err="1"/>
              <a:t>S.stacksize</a:t>
            </a:r>
            <a:r>
              <a:rPr lang="en-US" altLang="zh-CN" sz="2000" dirty="0"/>
              <a:t> </a:t>
            </a:r>
            <a:r>
              <a:rPr lang="en-US" altLang="zh-CN" sz="2000"/>
              <a:t>+ STACKINCREMENT) </a:t>
            </a:r>
            <a:r>
              <a:rPr lang="en-US" altLang="zh-CN" sz="2000" dirty="0"/>
              <a:t>* </a:t>
            </a:r>
            <a:r>
              <a:rPr lang="en-US" altLang="zh-CN" sz="2000" dirty="0" err="1"/>
              <a:t>sizeof</a:t>
            </a:r>
            <a:r>
              <a:rPr lang="en-US" altLang="zh-CN" sz="2000" dirty="0"/>
              <a:t>(</a:t>
            </a:r>
            <a:r>
              <a:rPr lang="en-US" altLang="zh-CN" sz="2000" dirty="0" err="1"/>
              <a:t>SElemtype</a:t>
            </a:r>
            <a:r>
              <a:rPr lang="en-US" altLang="zh-CN" sz="2000" dirty="0"/>
              <a:t>));  </a:t>
            </a:r>
          </a:p>
          <a:p>
            <a:r>
              <a:rPr lang="en-US" altLang="zh-CN" sz="2000" dirty="0"/>
              <a:t>       if (!</a:t>
            </a:r>
            <a:r>
              <a:rPr lang="en-US" altLang="zh-CN" sz="2000" dirty="0" err="1"/>
              <a:t>S.base</a:t>
            </a:r>
            <a:r>
              <a:rPr lang="en-US" altLang="zh-CN" sz="2000" dirty="0"/>
              <a:t>) exit (OVERFLOW); </a:t>
            </a:r>
          </a:p>
          <a:p>
            <a:r>
              <a:rPr lang="en-US" altLang="zh-CN" sz="2000" dirty="0"/>
              <a:t>       </a:t>
            </a:r>
            <a:r>
              <a:rPr lang="en-US" altLang="zh-CN" sz="2000" dirty="0" err="1"/>
              <a:t>S.top</a:t>
            </a:r>
            <a:r>
              <a:rPr lang="en-US" altLang="zh-CN" sz="2000" dirty="0"/>
              <a:t> = </a:t>
            </a:r>
            <a:r>
              <a:rPr lang="en-US" altLang="zh-CN" sz="2000" dirty="0" err="1"/>
              <a:t>S.base</a:t>
            </a:r>
            <a:r>
              <a:rPr lang="en-US" altLang="zh-CN" sz="2000" dirty="0"/>
              <a:t> + </a:t>
            </a:r>
            <a:r>
              <a:rPr lang="en-US" altLang="zh-CN" sz="2000" dirty="0" err="1"/>
              <a:t>S.stacksize</a:t>
            </a:r>
            <a:r>
              <a:rPr lang="en-US" altLang="zh-CN" sz="2000" dirty="0"/>
              <a:t>; </a:t>
            </a:r>
          </a:p>
          <a:p>
            <a:r>
              <a:rPr lang="en-US" altLang="zh-CN" sz="2000" dirty="0"/>
              <a:t>       </a:t>
            </a:r>
            <a:r>
              <a:rPr lang="en-US" altLang="zh-CN" sz="2000" dirty="0" err="1"/>
              <a:t>S.stacksize</a:t>
            </a:r>
            <a:r>
              <a:rPr lang="en-US" altLang="zh-CN" sz="2000" dirty="0"/>
              <a:t> += STACKINCREMENT; } </a:t>
            </a:r>
          </a:p>
          <a:p>
            <a:r>
              <a:rPr lang="en-US" altLang="zh-CN" sz="2000" dirty="0"/>
              <a:t>    * </a:t>
            </a:r>
            <a:r>
              <a:rPr lang="en-US" altLang="zh-CN" sz="2000" dirty="0" err="1"/>
              <a:t>S.top</a:t>
            </a:r>
            <a:r>
              <a:rPr lang="en-US" altLang="zh-CN" sz="2000" dirty="0"/>
              <a:t> ++ = e;          return OK; </a:t>
            </a:r>
          </a:p>
          <a:p>
            <a:r>
              <a:rPr lang="en-US" altLang="zh-CN" sz="2000" dirty="0"/>
              <a:t>} // Push </a:t>
            </a:r>
          </a:p>
        </p:txBody>
      </p:sp>
      <p:sp>
        <p:nvSpPr>
          <p:cNvPr id="28845" name="Text Box 173"/>
          <p:cNvSpPr txBox="1">
            <a:spLocks noChangeArrowheads="1"/>
          </p:cNvSpPr>
          <p:nvPr/>
        </p:nvSpPr>
        <p:spPr bwMode="auto">
          <a:xfrm>
            <a:off x="1774826" y="2349501"/>
            <a:ext cx="5078413" cy="1616075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/>
              <a:t>Status GetTop (SqStack S, SElemType &amp;e) { </a:t>
            </a:r>
          </a:p>
          <a:p>
            <a:r>
              <a:rPr lang="en-US" altLang="zh-CN" sz="2000"/>
              <a:t>    if (S.top == S.base) return ERROR;  </a:t>
            </a:r>
          </a:p>
          <a:p>
            <a:r>
              <a:rPr lang="en-US" altLang="zh-CN" sz="2000"/>
              <a:t>    e = *(S.top – 1); </a:t>
            </a:r>
          </a:p>
          <a:p>
            <a:r>
              <a:rPr lang="en-US" altLang="zh-CN" sz="2000"/>
              <a:t>    return OK; </a:t>
            </a:r>
          </a:p>
          <a:p>
            <a:r>
              <a:rPr lang="en-US" altLang="zh-CN" sz="2000"/>
              <a:t>} // GetTop </a:t>
            </a:r>
          </a:p>
        </p:txBody>
      </p:sp>
      <p:sp>
        <p:nvSpPr>
          <p:cNvPr id="28846" name="Text Box 174"/>
          <p:cNvSpPr txBox="1">
            <a:spLocks noChangeArrowheads="1"/>
          </p:cNvSpPr>
          <p:nvPr/>
        </p:nvSpPr>
        <p:spPr bwMode="auto">
          <a:xfrm>
            <a:off x="1812926" y="3108326"/>
            <a:ext cx="4881563" cy="1616075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/>
              <a:t>Status Pop (SqStack &amp;S, SElemType &amp;e) { </a:t>
            </a:r>
          </a:p>
          <a:p>
            <a:r>
              <a:rPr lang="en-US" altLang="zh-CN" sz="2000"/>
              <a:t>    if (S.top == S.base) return ERROR;  </a:t>
            </a:r>
          </a:p>
          <a:p>
            <a:r>
              <a:rPr lang="en-US" altLang="zh-CN" sz="2000"/>
              <a:t>    e = * -- S.top; </a:t>
            </a:r>
          </a:p>
          <a:p>
            <a:r>
              <a:rPr lang="en-US" altLang="zh-CN" sz="2000"/>
              <a:t>    return OK; </a:t>
            </a:r>
          </a:p>
          <a:p>
            <a:r>
              <a:rPr lang="en-US" altLang="zh-CN" sz="2000"/>
              <a:t>} // Pop </a:t>
            </a:r>
          </a:p>
        </p:txBody>
      </p:sp>
    </p:spTree>
  </p:cSld>
  <p:clrMapOvr>
    <a:masterClrMapping/>
  </p:clrMapOvr>
  <p:transition spd="slow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7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7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87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87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" dur="1000"/>
                                        <p:tgtEl>
                                          <p:spTgt spid="2879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8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5" dur="1000"/>
                                        <p:tgtEl>
                                          <p:spTgt spid="287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8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5" dur="500"/>
                                        <p:tgtEl>
                                          <p:spTgt spid="28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8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4" dur="1000"/>
                                        <p:tgtEl>
                                          <p:spTgt spid="288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9" dur="1000"/>
                                        <p:tgtEl>
                                          <p:spTgt spid="2880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4" dur="1000"/>
                                        <p:tgtEl>
                                          <p:spTgt spid="2880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87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87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87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87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7" dur="1000"/>
                                        <p:tgtEl>
                                          <p:spTgt spid="288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28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28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1" dur="1000"/>
                                        <p:tgtEl>
                                          <p:spTgt spid="288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6" dur="1000"/>
                                        <p:tgtEl>
                                          <p:spTgt spid="288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287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87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87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87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9" dur="1000"/>
                                        <p:tgtEl>
                                          <p:spTgt spid="2880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28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"/>
                            </p:stCondLst>
                            <p:childTnLst>
                              <p:par>
                                <p:cTn id="10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28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13" dur="500"/>
                                        <p:tgtEl>
                                          <p:spTgt spid="28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00"/>
                            </p:stCondLst>
                            <p:childTnLst>
                              <p:par>
                                <p:cTn id="1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28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1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22" dur="2000"/>
                                        <p:tgtEl>
                                          <p:spTgt spid="288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7" dur="1000"/>
                                        <p:tgtEl>
                                          <p:spTgt spid="288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2" dur="1000"/>
                                        <p:tgtEl>
                                          <p:spTgt spid="28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7" dur="1000"/>
                                        <p:tgtEl>
                                          <p:spTgt spid="288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288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288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288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288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50" dur="500"/>
                                        <p:tgtEl>
                                          <p:spTgt spid="28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500"/>
                            </p:stCondLst>
                            <p:childTnLst>
                              <p:par>
                                <p:cTn id="1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28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1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9" dur="1000"/>
                                        <p:tgtEl>
                                          <p:spTgt spid="288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4" dur="1000"/>
                                        <p:tgtEl>
                                          <p:spTgt spid="288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9" dur="1000"/>
                                        <p:tgtEl>
                                          <p:spTgt spid="288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288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288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1000" fill="hold"/>
                                        <p:tgtEl>
                                          <p:spTgt spid="288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1000" fill="hold"/>
                                        <p:tgtEl>
                                          <p:spTgt spid="288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82" dur="1000"/>
                                        <p:tgtEl>
                                          <p:spTgt spid="288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7" dur="500"/>
                                        <p:tgtEl>
                                          <p:spTgt spid="28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500"/>
                            </p:stCondLst>
                            <p:childTnLst>
                              <p:par>
                                <p:cTn id="18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1" dur="500"/>
                                        <p:tgtEl>
                                          <p:spTgt spid="28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1000"/>
                            </p:stCondLst>
                            <p:childTnLst>
                              <p:par>
                                <p:cTn id="193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5" dur="500"/>
                                        <p:tgtEl>
                                          <p:spTgt spid="28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00" dur="1000"/>
                                        <p:tgtEl>
                                          <p:spTgt spid="288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05" dur="1000"/>
                                        <p:tgtEl>
                                          <p:spTgt spid="288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0" fill="hold">
                            <p:stCondLst>
                              <p:cond delay="500"/>
                            </p:stCondLst>
                            <p:childTnLst>
                              <p:par>
                                <p:cTn id="211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3" dur="1000" fill="hold"/>
                                        <p:tgtEl>
                                          <p:spTgt spid="288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1000" fill="hold"/>
                                        <p:tgtEl>
                                          <p:spTgt spid="288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1000" fill="hold"/>
                                        <p:tgtEl>
                                          <p:spTgt spid="288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6" dur="1000" fill="hold"/>
                                        <p:tgtEl>
                                          <p:spTgt spid="288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1" dur="1000"/>
                                        <p:tgtEl>
                                          <p:spTgt spid="288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6" dur="500"/>
                                        <p:tgtEl>
                                          <p:spTgt spid="28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7" fill="hold">
                            <p:stCondLst>
                              <p:cond delay="500"/>
                            </p:stCondLst>
                            <p:childTnLst>
                              <p:par>
                                <p:cTn id="2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0" dur="500"/>
                                        <p:tgtEl>
                                          <p:spTgt spid="28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1" fill="hold">
                            <p:stCondLst>
                              <p:cond delay="1000"/>
                            </p:stCondLst>
                            <p:childTnLst>
                              <p:par>
                                <p:cTn id="232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4" dur="500"/>
                                        <p:tgtEl>
                                          <p:spTgt spid="28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39" dur="500"/>
                                        <p:tgtEl>
                                          <p:spTgt spid="28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" fill="hold">
                            <p:stCondLst>
                              <p:cond delay="500"/>
                            </p:stCondLst>
                            <p:childTnLst>
                              <p:par>
                                <p:cTn id="2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3" dur="500"/>
                                        <p:tgtEl>
                                          <p:spTgt spid="28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248" dur="2000"/>
                                        <p:tgtEl>
                                          <p:spTgt spid="288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837" grpId="0" animBg="1"/>
      <p:bldP spid="28834" grpId="0" animBg="1"/>
      <p:bldP spid="28832" grpId="0" animBg="1"/>
      <p:bldP spid="28824" grpId="0" animBg="1"/>
      <p:bldP spid="28823" grpId="0" animBg="1"/>
      <p:bldP spid="28818" grpId="0" animBg="1"/>
      <p:bldP spid="28817" grpId="0" animBg="1"/>
      <p:bldP spid="28814" grpId="0" animBg="1"/>
      <p:bldP spid="28813" grpId="0" animBg="1"/>
      <p:bldP spid="28806" grpId="0" animBg="1"/>
      <p:bldP spid="28805" grpId="0" animBg="1"/>
      <p:bldP spid="28802" grpId="0" animBg="1"/>
      <p:bldP spid="28801" grpId="0" animBg="1"/>
      <p:bldP spid="28800" grpId="0" animBg="1"/>
      <p:bldP spid="28799" grpId="0" animBg="1"/>
      <p:bldP spid="28798" grpId="0" animBg="1"/>
      <p:bldP spid="28766" grpId="0" autoUpdateAnimBg="0"/>
      <p:bldP spid="28767" grpId="0" animBg="1"/>
      <p:bldP spid="28768" grpId="0" autoUpdateAnimBg="0"/>
      <p:bldP spid="28769" grpId="0" animBg="1"/>
      <p:bldP spid="28770" grpId="0" autoUpdateAnimBg="0"/>
      <p:bldP spid="28771" grpId="0" animBg="1"/>
      <p:bldP spid="28772" grpId="0" autoUpdateAnimBg="0"/>
      <p:bldP spid="28789" grpId="0" autoUpdateAnimBg="0"/>
      <p:bldP spid="28790" grpId="0" autoUpdateAnimBg="0"/>
      <p:bldP spid="28804" grpId="0" animBg="1"/>
      <p:bldP spid="28807" grpId="0" animBg="1"/>
      <p:bldP spid="28809" grpId="0" animBg="1"/>
      <p:bldP spid="28815" grpId="0" animBg="1"/>
      <p:bldP spid="28816" grpId="0" autoUpdateAnimBg="0"/>
      <p:bldP spid="28822" grpId="0" animBg="1"/>
      <p:bldP spid="28829" grpId="0" autoUpdateAnimBg="0"/>
      <p:bldP spid="28830" grpId="0" animBg="1"/>
      <p:bldP spid="28833" grpId="0" autoUpdateAnimBg="0"/>
      <p:bldP spid="28836" grpId="0" animBg="1"/>
      <p:bldP spid="28835" grpId="0" autoUpdateAnimBg="0"/>
      <p:bldP spid="28838" grpId="0" animBg="1"/>
      <p:bldP spid="28839" grpId="0" animBg="1"/>
      <p:bldP spid="28843" grpId="0" animBg="1"/>
      <p:bldP spid="28844" grpId="1" animBg="1"/>
      <p:bldP spid="28845" grpId="1" animBg="1"/>
      <p:bldP spid="2884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6" name="Line 4"/>
          <p:cNvSpPr>
            <a:spLocks noChangeShapeType="1"/>
          </p:cNvSpPr>
          <p:nvPr/>
        </p:nvSpPr>
        <p:spPr bwMode="auto">
          <a:xfrm>
            <a:off x="4314825" y="27813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317" name="Line 5"/>
          <p:cNvSpPr>
            <a:spLocks noChangeShapeType="1"/>
          </p:cNvSpPr>
          <p:nvPr/>
        </p:nvSpPr>
        <p:spPr bwMode="auto">
          <a:xfrm>
            <a:off x="4314826" y="2781300"/>
            <a:ext cx="10017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318" name="Line 6"/>
          <p:cNvSpPr>
            <a:spLocks noChangeShapeType="1"/>
          </p:cNvSpPr>
          <p:nvPr/>
        </p:nvSpPr>
        <p:spPr bwMode="auto">
          <a:xfrm>
            <a:off x="4813300" y="27813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319" name="Line 7"/>
          <p:cNvSpPr>
            <a:spLocks noChangeShapeType="1"/>
          </p:cNvSpPr>
          <p:nvPr/>
        </p:nvSpPr>
        <p:spPr bwMode="auto">
          <a:xfrm>
            <a:off x="5316538" y="27813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320" name="Line 8"/>
          <p:cNvSpPr>
            <a:spLocks noChangeShapeType="1"/>
          </p:cNvSpPr>
          <p:nvPr/>
        </p:nvSpPr>
        <p:spPr bwMode="auto">
          <a:xfrm>
            <a:off x="4314826" y="3467100"/>
            <a:ext cx="10017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331" name="Line 19"/>
          <p:cNvSpPr>
            <a:spLocks noChangeShapeType="1"/>
          </p:cNvSpPr>
          <p:nvPr/>
        </p:nvSpPr>
        <p:spPr bwMode="auto">
          <a:xfrm>
            <a:off x="3805239" y="3094038"/>
            <a:ext cx="50958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332" name="Line 20"/>
          <p:cNvSpPr>
            <a:spLocks noChangeShapeType="1"/>
          </p:cNvSpPr>
          <p:nvPr/>
        </p:nvSpPr>
        <p:spPr bwMode="auto">
          <a:xfrm>
            <a:off x="5100638" y="3094038"/>
            <a:ext cx="60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333" name="Line 21"/>
          <p:cNvSpPr>
            <a:spLocks noChangeShapeType="1"/>
          </p:cNvSpPr>
          <p:nvPr/>
        </p:nvSpPr>
        <p:spPr bwMode="auto">
          <a:xfrm>
            <a:off x="6469063" y="3094038"/>
            <a:ext cx="60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334" name="Line 22"/>
          <p:cNvSpPr>
            <a:spLocks noChangeShapeType="1"/>
          </p:cNvSpPr>
          <p:nvPr/>
        </p:nvSpPr>
        <p:spPr bwMode="auto">
          <a:xfrm>
            <a:off x="7550150" y="3094038"/>
            <a:ext cx="60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336" name="Text Box 24"/>
          <p:cNvSpPr txBox="1">
            <a:spLocks noChangeArrowheads="1"/>
          </p:cNvSpPr>
          <p:nvPr/>
        </p:nvSpPr>
        <p:spPr bwMode="auto">
          <a:xfrm>
            <a:off x="2424113" y="2827338"/>
            <a:ext cx="14097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dirty="0"/>
              <a:t>栈顶指针</a:t>
            </a:r>
          </a:p>
        </p:txBody>
      </p:sp>
      <p:sp>
        <p:nvSpPr>
          <p:cNvPr id="141337" name="Text Box 25"/>
          <p:cNvSpPr txBox="1">
            <a:spLocks noChangeArrowheads="1"/>
          </p:cNvSpPr>
          <p:nvPr/>
        </p:nvSpPr>
        <p:spPr bwMode="auto">
          <a:xfrm>
            <a:off x="5314950" y="1265239"/>
            <a:ext cx="99695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3200">
                <a:ea typeface="华文中宋" pitchFamily="2" charset="-122"/>
              </a:rPr>
              <a:t>链栈</a:t>
            </a:r>
          </a:p>
        </p:txBody>
      </p:sp>
      <p:sp>
        <p:nvSpPr>
          <p:cNvPr id="141341" name="Text Box 29"/>
          <p:cNvSpPr txBox="1">
            <a:spLocks noChangeArrowheads="1"/>
          </p:cNvSpPr>
          <p:nvPr/>
        </p:nvSpPr>
        <p:spPr bwMode="auto">
          <a:xfrm>
            <a:off x="4381500" y="2882900"/>
            <a:ext cx="488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0" i="1">
                <a:ea typeface="宋体" pitchFamily="2" charset="-122"/>
              </a:rPr>
              <a:t>a</a:t>
            </a:r>
            <a:r>
              <a:rPr lang="en-US" altLang="zh-CN" b="0" i="1" baseline="-25000">
                <a:ea typeface="宋体" pitchFamily="2" charset="-122"/>
              </a:rPr>
              <a:t>n </a:t>
            </a:r>
            <a:endParaRPr lang="en-US" altLang="zh-CN" b="0" i="1">
              <a:ea typeface="宋体" pitchFamily="2" charset="-122"/>
            </a:endParaRPr>
          </a:p>
        </p:txBody>
      </p:sp>
      <p:sp>
        <p:nvSpPr>
          <p:cNvPr id="141342" name="Comment 30"/>
          <p:cNvSpPr>
            <a:spLocks noChangeArrowheads="1"/>
          </p:cNvSpPr>
          <p:nvPr/>
        </p:nvSpPr>
        <p:spPr bwMode="auto">
          <a:xfrm>
            <a:off x="3640138" y="4437063"/>
            <a:ext cx="3968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>
                <a:latin typeface="华文中宋" pitchFamily="2" charset="-122"/>
                <a:ea typeface="华文中宋" pitchFamily="2" charset="-122"/>
              </a:rPr>
              <a:t>注意</a:t>
            </a:r>
            <a:r>
              <a:rPr kumimoji="0" lang="en-US" altLang="zh-CN">
                <a:latin typeface="华文中宋" pitchFamily="2" charset="-122"/>
                <a:ea typeface="华文中宋" pitchFamily="2" charset="-122"/>
              </a:rPr>
              <a:t>:  </a:t>
            </a:r>
            <a:r>
              <a:rPr kumimoji="0" lang="zh-CN" altLang="en-US">
                <a:latin typeface="楷体_GB2312" pitchFamily="49" charset="-122"/>
              </a:rPr>
              <a:t>链栈中指针的方向 </a:t>
            </a:r>
            <a:endParaRPr lang="zh-CN" altLang="en-US" b="0">
              <a:latin typeface="楷体_GB2312" pitchFamily="49" charset="-122"/>
            </a:endParaRPr>
          </a:p>
        </p:txBody>
      </p:sp>
      <p:sp>
        <p:nvSpPr>
          <p:cNvPr id="141343" name="AutoShape 31"/>
          <p:cNvSpPr>
            <a:spLocks noChangeArrowheads="1"/>
          </p:cNvSpPr>
          <p:nvPr/>
        </p:nvSpPr>
        <p:spPr bwMode="auto">
          <a:xfrm>
            <a:off x="5359400" y="3598863"/>
            <a:ext cx="304800" cy="838200"/>
          </a:xfrm>
          <a:prstGeom prst="upArrow">
            <a:avLst>
              <a:gd name="adj1" fmla="val 50000"/>
              <a:gd name="adj2" fmla="val 68750"/>
            </a:avLst>
          </a:prstGeom>
          <a:solidFill>
            <a:srgbClr val="FF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141345" name="Line 33"/>
          <p:cNvSpPr>
            <a:spLocks noChangeShapeType="1"/>
          </p:cNvSpPr>
          <p:nvPr/>
        </p:nvSpPr>
        <p:spPr bwMode="auto">
          <a:xfrm>
            <a:off x="5716588" y="27813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346" name="Line 34"/>
          <p:cNvSpPr>
            <a:spLocks noChangeShapeType="1"/>
          </p:cNvSpPr>
          <p:nvPr/>
        </p:nvSpPr>
        <p:spPr bwMode="auto">
          <a:xfrm>
            <a:off x="5716588" y="2781300"/>
            <a:ext cx="10017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347" name="Line 35"/>
          <p:cNvSpPr>
            <a:spLocks noChangeShapeType="1"/>
          </p:cNvSpPr>
          <p:nvPr/>
        </p:nvSpPr>
        <p:spPr bwMode="auto">
          <a:xfrm>
            <a:off x="6215063" y="27813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348" name="Line 36"/>
          <p:cNvSpPr>
            <a:spLocks noChangeShapeType="1"/>
          </p:cNvSpPr>
          <p:nvPr/>
        </p:nvSpPr>
        <p:spPr bwMode="auto">
          <a:xfrm>
            <a:off x="6718300" y="27813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349" name="Line 37"/>
          <p:cNvSpPr>
            <a:spLocks noChangeShapeType="1"/>
          </p:cNvSpPr>
          <p:nvPr/>
        </p:nvSpPr>
        <p:spPr bwMode="auto">
          <a:xfrm>
            <a:off x="5716588" y="3467100"/>
            <a:ext cx="10017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350" name="Text Box 38"/>
          <p:cNvSpPr txBox="1">
            <a:spLocks noChangeArrowheads="1"/>
          </p:cNvSpPr>
          <p:nvPr/>
        </p:nvSpPr>
        <p:spPr bwMode="auto">
          <a:xfrm>
            <a:off x="5645151" y="2882900"/>
            <a:ext cx="6588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0" i="1">
                <a:ea typeface="宋体" pitchFamily="2" charset="-122"/>
              </a:rPr>
              <a:t>a</a:t>
            </a:r>
            <a:r>
              <a:rPr lang="en-US" altLang="zh-CN" b="0" i="1" baseline="-25000">
                <a:ea typeface="宋体" pitchFamily="2" charset="-122"/>
              </a:rPr>
              <a:t>n</a:t>
            </a:r>
            <a:r>
              <a:rPr lang="en-US" altLang="zh-CN" b="0" baseline="-25000">
                <a:ea typeface="宋体" pitchFamily="2" charset="-122"/>
              </a:rPr>
              <a:t>-1 </a:t>
            </a:r>
            <a:endParaRPr lang="en-US" altLang="zh-CN" b="0">
              <a:ea typeface="宋体" pitchFamily="2" charset="-122"/>
            </a:endParaRPr>
          </a:p>
        </p:txBody>
      </p:sp>
      <p:sp>
        <p:nvSpPr>
          <p:cNvPr id="141351" name="Line 39"/>
          <p:cNvSpPr>
            <a:spLocks noChangeShapeType="1"/>
          </p:cNvSpPr>
          <p:nvPr/>
        </p:nvSpPr>
        <p:spPr bwMode="auto">
          <a:xfrm>
            <a:off x="8166100" y="27813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352" name="Line 40"/>
          <p:cNvSpPr>
            <a:spLocks noChangeShapeType="1"/>
          </p:cNvSpPr>
          <p:nvPr/>
        </p:nvSpPr>
        <p:spPr bwMode="auto">
          <a:xfrm>
            <a:off x="8166101" y="2781300"/>
            <a:ext cx="10017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353" name="Line 41"/>
          <p:cNvSpPr>
            <a:spLocks noChangeShapeType="1"/>
          </p:cNvSpPr>
          <p:nvPr/>
        </p:nvSpPr>
        <p:spPr bwMode="auto">
          <a:xfrm>
            <a:off x="8664575" y="27813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354" name="Line 42"/>
          <p:cNvSpPr>
            <a:spLocks noChangeShapeType="1"/>
          </p:cNvSpPr>
          <p:nvPr/>
        </p:nvSpPr>
        <p:spPr bwMode="auto">
          <a:xfrm>
            <a:off x="9167813" y="27813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355" name="Line 43"/>
          <p:cNvSpPr>
            <a:spLocks noChangeShapeType="1"/>
          </p:cNvSpPr>
          <p:nvPr/>
        </p:nvSpPr>
        <p:spPr bwMode="auto">
          <a:xfrm>
            <a:off x="8166101" y="3467100"/>
            <a:ext cx="10017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356" name="Text Box 44"/>
          <p:cNvSpPr txBox="1">
            <a:spLocks noChangeArrowheads="1"/>
          </p:cNvSpPr>
          <p:nvPr/>
        </p:nvSpPr>
        <p:spPr bwMode="auto">
          <a:xfrm>
            <a:off x="8232775" y="2882900"/>
            <a:ext cx="488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0" i="1">
                <a:ea typeface="宋体" pitchFamily="2" charset="-122"/>
              </a:rPr>
              <a:t>a</a:t>
            </a:r>
            <a:r>
              <a:rPr lang="en-US" altLang="zh-CN" b="0" baseline="-25000">
                <a:ea typeface="宋体" pitchFamily="2" charset="-122"/>
              </a:rPr>
              <a:t>1 </a:t>
            </a:r>
            <a:endParaRPr lang="en-US" altLang="zh-CN" b="0">
              <a:ea typeface="宋体" pitchFamily="2" charset="-122"/>
            </a:endParaRPr>
          </a:p>
        </p:txBody>
      </p:sp>
      <p:sp>
        <p:nvSpPr>
          <p:cNvPr id="141357" name="Text Box 45"/>
          <p:cNvSpPr txBox="1">
            <a:spLocks noChangeArrowheads="1"/>
          </p:cNvSpPr>
          <p:nvPr/>
        </p:nvSpPr>
        <p:spPr bwMode="auto">
          <a:xfrm>
            <a:off x="7056438" y="2794000"/>
            <a:ext cx="565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… </a:t>
            </a:r>
          </a:p>
        </p:txBody>
      </p:sp>
      <p:sp>
        <p:nvSpPr>
          <p:cNvPr id="141358" name="Text Box 46"/>
          <p:cNvSpPr txBox="1">
            <a:spLocks noChangeArrowheads="1"/>
          </p:cNvSpPr>
          <p:nvPr/>
        </p:nvSpPr>
        <p:spPr bwMode="auto">
          <a:xfrm>
            <a:off x="8753475" y="3009900"/>
            <a:ext cx="438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^ </a:t>
            </a:r>
          </a:p>
        </p:txBody>
      </p:sp>
      <p:sp>
        <p:nvSpPr>
          <p:cNvPr id="141359" name="Rectangle 47"/>
          <p:cNvSpPr>
            <a:spLocks noChangeArrowheads="1"/>
          </p:cNvSpPr>
          <p:nvPr/>
        </p:nvSpPr>
        <p:spPr bwMode="auto">
          <a:xfrm>
            <a:off x="10069513" y="6683375"/>
            <a:ext cx="489236" cy="2484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30000"/>
              </a:lnSpc>
            </a:pPr>
            <a:r>
              <a:rPr lang="en-US" altLang="zh-CN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▲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1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1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13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1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13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1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13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13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13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13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13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13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13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13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13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13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13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13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13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13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13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13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413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1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13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13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413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413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413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413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13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413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413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41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413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413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413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413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413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413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413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413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413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413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1413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413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413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413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413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413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1413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1413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1413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1413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316" grpId="0" animBg="1"/>
      <p:bldP spid="141317" grpId="0" animBg="1"/>
      <p:bldP spid="141318" grpId="0" animBg="1"/>
      <p:bldP spid="141319" grpId="0" animBg="1"/>
      <p:bldP spid="141320" grpId="0" animBg="1"/>
      <p:bldP spid="141331" grpId="0" animBg="1"/>
      <p:bldP spid="141332" grpId="0" animBg="1"/>
      <p:bldP spid="141333" grpId="0" animBg="1"/>
      <p:bldP spid="141334" grpId="0" animBg="1"/>
      <p:bldP spid="141336" grpId="0"/>
      <p:bldP spid="141341" grpId="0"/>
      <p:bldP spid="14134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自选图形 3"/>
          <p:cNvSpPr>
            <a:spLocks noChangeArrowheads="1"/>
          </p:cNvSpPr>
          <p:nvPr/>
        </p:nvSpPr>
        <p:spPr bwMode="ltGray">
          <a:xfrm rot="5400000">
            <a:off x="-898526" y="1367878"/>
            <a:ext cx="4824413" cy="4770438"/>
          </a:xfrm>
          <a:custGeom>
            <a:avLst/>
            <a:gdLst>
              <a:gd name="G0" fmla="+- 10478 0 0"/>
              <a:gd name="G1" fmla="+- -11739500 0 0"/>
              <a:gd name="G2" fmla="+- 0 0 -11739500"/>
              <a:gd name="T0" fmla="*/ 0 256 1"/>
              <a:gd name="T1" fmla="*/ 180 256 1"/>
              <a:gd name="G3" fmla="+- -11739500 T0 T1"/>
              <a:gd name="T2" fmla="*/ 0 256 1"/>
              <a:gd name="T3" fmla="*/ 90 256 1"/>
              <a:gd name="G4" fmla="+- -11739500 T2 T3"/>
              <a:gd name="G5" fmla="*/ G4 2 1"/>
              <a:gd name="T4" fmla="*/ 90 256 1"/>
              <a:gd name="T5" fmla="*/ 0 256 1"/>
              <a:gd name="G6" fmla="+- -11739500 T4 T5"/>
              <a:gd name="G7" fmla="*/ G6 2 1"/>
              <a:gd name="G8" fmla="abs -11739500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478"/>
              <a:gd name="G18" fmla="*/ 10478 1 2"/>
              <a:gd name="G19" fmla="+- G18 5400 0"/>
              <a:gd name="G20" fmla="cos G19 -11739500"/>
              <a:gd name="G21" fmla="sin G19 -11739500"/>
              <a:gd name="G22" fmla="+- G20 10800 0"/>
              <a:gd name="G23" fmla="+- G21 10800 0"/>
              <a:gd name="G24" fmla="+- 10800 0 G20"/>
              <a:gd name="G25" fmla="+- 10478 10800 0"/>
              <a:gd name="G26" fmla="?: G9 G17 G25"/>
              <a:gd name="G27" fmla="?: G9 0 21600"/>
              <a:gd name="G28" fmla="cos 10800 -11739500"/>
              <a:gd name="G29" fmla="sin 10800 -11739500"/>
              <a:gd name="G30" fmla="sin 10478 -11739500"/>
              <a:gd name="G31" fmla="+- G28 10800 0"/>
              <a:gd name="G32" fmla="+- G29 10800 0"/>
              <a:gd name="G33" fmla="+- G30 10800 0"/>
              <a:gd name="G34" fmla="?: G4 0 G31"/>
              <a:gd name="G35" fmla="?: -11739500 G34 0"/>
              <a:gd name="G36" fmla="?: G6 G35 G31"/>
              <a:gd name="G37" fmla="+- 21600 0 G36"/>
              <a:gd name="G38" fmla="?: G4 0 G33"/>
              <a:gd name="G39" fmla="?: -11739500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162 w 21600"/>
              <a:gd name="T15" fmla="*/ 10638 h 21600"/>
              <a:gd name="T16" fmla="*/ 10800 w 21600"/>
              <a:gd name="T17" fmla="*/ 322 h 21600"/>
              <a:gd name="T18" fmla="*/ 21438 w 21600"/>
              <a:gd name="T19" fmla="*/ 10638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 rotWithShape="1">
            <a:gsLst>
              <a:gs pos="0">
                <a:schemeClr val="bg2">
                  <a:gamma/>
                  <a:tint val="45490"/>
                  <a:invGamma/>
                </a:schemeClr>
              </a:gs>
              <a:gs pos="50000">
                <a:schemeClr val="bg2"/>
              </a:gs>
              <a:gs pos="100000">
                <a:schemeClr val="bg2">
                  <a:gamma/>
                  <a:tint val="45490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6200" dir="10800000" kx="-3284103" algn="b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+mn-ea"/>
            </a:endParaRPr>
          </a:p>
        </p:txBody>
      </p:sp>
      <p:sp>
        <p:nvSpPr>
          <p:cNvPr id="5" name="自选图形 4"/>
          <p:cNvSpPr>
            <a:spLocks noChangeArrowheads="1"/>
          </p:cNvSpPr>
          <p:nvPr/>
        </p:nvSpPr>
        <p:spPr bwMode="ltGray">
          <a:xfrm rot="5400000" flipH="1">
            <a:off x="-492918" y="1803647"/>
            <a:ext cx="4032250" cy="3929063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771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10744" y="10800"/>
                </a:lnTo>
                <a:close/>
              </a:path>
            </a:pathLst>
          </a:custGeom>
          <a:solidFill>
            <a:schemeClr val="accent1">
              <a:alpha val="36078"/>
            </a:schemeClr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自选图形 5"/>
          <p:cNvSpPr>
            <a:spLocks noChangeArrowheads="1"/>
          </p:cNvSpPr>
          <p:nvPr/>
        </p:nvSpPr>
        <p:spPr bwMode="gray">
          <a:xfrm>
            <a:off x="3346451" y="4992140"/>
            <a:ext cx="462121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dirty="0"/>
              <a:t>队列的表示和实现</a:t>
            </a:r>
          </a:p>
        </p:txBody>
      </p:sp>
      <p:sp>
        <p:nvSpPr>
          <p:cNvPr id="7" name="自选图形 6"/>
          <p:cNvSpPr>
            <a:spLocks noChangeArrowheads="1"/>
          </p:cNvSpPr>
          <p:nvPr/>
        </p:nvSpPr>
        <p:spPr bwMode="gray">
          <a:xfrm>
            <a:off x="3841750" y="4165053"/>
            <a:ext cx="4775200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dirty="0"/>
              <a:t>队列的定义及其</a:t>
            </a:r>
            <a:r>
              <a:rPr lang="en-US" altLang="zh-CN" dirty="0"/>
              <a:t>ADT</a:t>
            </a:r>
            <a:r>
              <a:rPr lang="zh-CN" altLang="en-US" dirty="0"/>
              <a:t>定义</a:t>
            </a:r>
          </a:p>
        </p:txBody>
      </p:sp>
      <p:sp>
        <p:nvSpPr>
          <p:cNvPr id="8" name="自选图形 7"/>
          <p:cNvSpPr>
            <a:spLocks noChangeArrowheads="1"/>
          </p:cNvSpPr>
          <p:nvPr/>
        </p:nvSpPr>
        <p:spPr bwMode="gray">
          <a:xfrm>
            <a:off x="3962400" y="3352253"/>
            <a:ext cx="4654550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dirty="0"/>
              <a:t>栈的应用、与递归的关系</a:t>
            </a:r>
          </a:p>
        </p:txBody>
      </p:sp>
      <p:sp>
        <p:nvSpPr>
          <p:cNvPr id="9" name="自选图形 8"/>
          <p:cNvSpPr>
            <a:spLocks noChangeArrowheads="1"/>
          </p:cNvSpPr>
          <p:nvPr/>
        </p:nvSpPr>
        <p:spPr bwMode="gray">
          <a:xfrm>
            <a:off x="3810000" y="2483890"/>
            <a:ext cx="4662488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dirty="0"/>
              <a:t>栈的表示和实现</a:t>
            </a:r>
          </a:p>
        </p:txBody>
      </p:sp>
      <p:sp>
        <p:nvSpPr>
          <p:cNvPr id="10" name="自选图形 9"/>
          <p:cNvSpPr>
            <a:spLocks noChangeArrowheads="1"/>
          </p:cNvSpPr>
          <p:nvPr/>
        </p:nvSpPr>
        <p:spPr bwMode="gray">
          <a:xfrm>
            <a:off x="3289301" y="1713953"/>
            <a:ext cx="467836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dirty="0"/>
              <a:t>栈的定义及其</a:t>
            </a:r>
            <a:r>
              <a:rPr lang="en-US" altLang="zh-CN" dirty="0"/>
              <a:t>ADT</a:t>
            </a:r>
            <a:r>
              <a:rPr lang="zh-CN" altLang="en-US" dirty="0"/>
              <a:t>定义</a:t>
            </a:r>
          </a:p>
        </p:txBody>
      </p:sp>
      <p:grpSp>
        <p:nvGrpSpPr>
          <p:cNvPr id="2" name="组合 10"/>
          <p:cNvGrpSpPr>
            <a:grpSpLocks/>
          </p:cNvGrpSpPr>
          <p:nvPr/>
        </p:nvGrpSpPr>
        <p:grpSpPr bwMode="auto">
          <a:xfrm>
            <a:off x="2971800" y="1668855"/>
            <a:ext cx="381000" cy="649233"/>
            <a:chOff x="2078" y="1112"/>
            <a:chExt cx="1615" cy="2752"/>
          </a:xfrm>
        </p:grpSpPr>
        <p:sp>
          <p:nvSpPr>
            <p:cNvPr id="12" name="椭圆 11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椭圆 12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椭圆 13"/>
            <p:cNvSpPr>
              <a:spLocks noChangeArrowheads="1"/>
            </p:cNvSpPr>
            <p:nvPr/>
          </p:nvSpPr>
          <p:spPr bwMode="gray">
            <a:xfrm>
              <a:off x="2253" y="1112"/>
              <a:ext cx="1101" cy="2752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15" name="椭圆 14"/>
            <p:cNvSpPr>
              <a:spLocks noChangeArrowheads="1"/>
            </p:cNvSpPr>
            <p:nvPr/>
          </p:nvSpPr>
          <p:spPr bwMode="gray">
            <a:xfrm>
              <a:off x="2254" y="1112"/>
              <a:ext cx="1101" cy="2752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" name="椭圆 15"/>
            <p:cNvSpPr>
              <a:spLocks noChangeArrowheads="1"/>
            </p:cNvSpPr>
            <p:nvPr/>
          </p:nvSpPr>
          <p:spPr bwMode="gray">
            <a:xfrm>
              <a:off x="2334" y="1112"/>
              <a:ext cx="1097" cy="2752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17" name="椭圆 16"/>
            <p:cNvSpPr>
              <a:spLocks noChangeArrowheads="1"/>
            </p:cNvSpPr>
            <p:nvPr/>
          </p:nvSpPr>
          <p:spPr bwMode="gray">
            <a:xfrm>
              <a:off x="2337" y="1112"/>
              <a:ext cx="1096" cy="2752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rgbClr val="7C63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" name="组合 17"/>
          <p:cNvGrpSpPr>
            <a:grpSpLocks/>
          </p:cNvGrpSpPr>
          <p:nvPr/>
        </p:nvGrpSpPr>
        <p:grpSpPr bwMode="auto">
          <a:xfrm>
            <a:off x="3505200" y="2456255"/>
            <a:ext cx="381000" cy="649233"/>
            <a:chOff x="2078" y="1112"/>
            <a:chExt cx="1615" cy="2752"/>
          </a:xfrm>
        </p:grpSpPr>
        <p:sp>
          <p:nvSpPr>
            <p:cNvPr id="19" name="椭圆 18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椭圆 19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椭圆 20"/>
            <p:cNvSpPr>
              <a:spLocks noChangeArrowheads="1"/>
            </p:cNvSpPr>
            <p:nvPr/>
          </p:nvSpPr>
          <p:spPr bwMode="gray">
            <a:xfrm>
              <a:off x="2253" y="1112"/>
              <a:ext cx="1101" cy="2752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22" name="椭圆 21"/>
            <p:cNvSpPr>
              <a:spLocks noChangeArrowheads="1"/>
            </p:cNvSpPr>
            <p:nvPr/>
          </p:nvSpPr>
          <p:spPr bwMode="gray">
            <a:xfrm>
              <a:off x="2254" y="1112"/>
              <a:ext cx="1101" cy="2752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3" name="椭圆 22"/>
            <p:cNvSpPr>
              <a:spLocks noChangeArrowheads="1"/>
            </p:cNvSpPr>
            <p:nvPr/>
          </p:nvSpPr>
          <p:spPr bwMode="gray">
            <a:xfrm>
              <a:off x="2334" y="1112"/>
              <a:ext cx="1097" cy="2752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24" name="椭圆 23"/>
            <p:cNvSpPr>
              <a:spLocks noChangeArrowheads="1"/>
            </p:cNvSpPr>
            <p:nvPr/>
          </p:nvSpPr>
          <p:spPr bwMode="gray">
            <a:xfrm>
              <a:off x="2337" y="1112"/>
              <a:ext cx="1096" cy="2752"/>
            </a:xfrm>
            <a:prstGeom prst="ellipse">
              <a:avLst/>
            </a:prstGeom>
            <a:gradFill rotWithShape="1">
              <a:gsLst>
                <a:gs pos="0">
                  <a:srgbClr val="48BE67"/>
                </a:gs>
                <a:gs pos="100000">
                  <a:srgbClr val="235C32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1" name="组合 24"/>
          <p:cNvGrpSpPr>
            <a:grpSpLocks/>
          </p:cNvGrpSpPr>
          <p:nvPr/>
        </p:nvGrpSpPr>
        <p:grpSpPr bwMode="auto">
          <a:xfrm>
            <a:off x="3657600" y="3294455"/>
            <a:ext cx="381000" cy="649233"/>
            <a:chOff x="2078" y="1112"/>
            <a:chExt cx="1615" cy="2752"/>
          </a:xfrm>
        </p:grpSpPr>
        <p:sp>
          <p:nvSpPr>
            <p:cNvPr id="26" name="椭圆 25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椭圆 26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椭圆 27"/>
            <p:cNvSpPr>
              <a:spLocks noChangeArrowheads="1"/>
            </p:cNvSpPr>
            <p:nvPr/>
          </p:nvSpPr>
          <p:spPr bwMode="gray">
            <a:xfrm>
              <a:off x="2253" y="1112"/>
              <a:ext cx="1101" cy="2752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29" name="椭圆 28"/>
            <p:cNvSpPr>
              <a:spLocks noChangeArrowheads="1"/>
            </p:cNvSpPr>
            <p:nvPr/>
          </p:nvSpPr>
          <p:spPr bwMode="gray">
            <a:xfrm>
              <a:off x="2254" y="1112"/>
              <a:ext cx="1101" cy="2752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0F5368"/>
                </a:gs>
              </a:gsLst>
              <a:lin ang="54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" name="椭圆 29"/>
            <p:cNvSpPr>
              <a:spLocks noChangeArrowheads="1"/>
            </p:cNvSpPr>
            <p:nvPr/>
          </p:nvSpPr>
          <p:spPr bwMode="gray">
            <a:xfrm>
              <a:off x="2334" y="1112"/>
              <a:ext cx="1097" cy="2752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31" name="椭圆 30"/>
            <p:cNvSpPr>
              <a:spLocks noChangeArrowheads="1"/>
            </p:cNvSpPr>
            <p:nvPr/>
          </p:nvSpPr>
          <p:spPr bwMode="gray">
            <a:xfrm>
              <a:off x="2337" y="1112"/>
              <a:ext cx="1096" cy="2752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10576D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8" name="组合 31"/>
          <p:cNvGrpSpPr>
            <a:grpSpLocks/>
          </p:cNvGrpSpPr>
          <p:nvPr/>
        </p:nvGrpSpPr>
        <p:grpSpPr bwMode="auto">
          <a:xfrm>
            <a:off x="3505200" y="4132655"/>
            <a:ext cx="381000" cy="649233"/>
            <a:chOff x="2078" y="1112"/>
            <a:chExt cx="1615" cy="2752"/>
          </a:xfrm>
        </p:grpSpPr>
        <p:sp>
          <p:nvSpPr>
            <p:cNvPr id="33" name="椭圆 32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椭圆 33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椭圆 34"/>
            <p:cNvSpPr>
              <a:spLocks noChangeArrowheads="1"/>
            </p:cNvSpPr>
            <p:nvPr/>
          </p:nvSpPr>
          <p:spPr bwMode="gray">
            <a:xfrm>
              <a:off x="2253" y="1112"/>
              <a:ext cx="1101" cy="2752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36" name="椭圆 35"/>
            <p:cNvSpPr>
              <a:spLocks noChangeArrowheads="1"/>
            </p:cNvSpPr>
            <p:nvPr/>
          </p:nvSpPr>
          <p:spPr bwMode="gray">
            <a:xfrm>
              <a:off x="2254" y="1112"/>
              <a:ext cx="1101" cy="2752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8D67E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7" name="椭圆 36"/>
            <p:cNvSpPr>
              <a:spLocks noChangeArrowheads="1"/>
            </p:cNvSpPr>
            <p:nvPr/>
          </p:nvSpPr>
          <p:spPr bwMode="gray">
            <a:xfrm>
              <a:off x="2334" y="1112"/>
              <a:ext cx="1097" cy="2752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38" name="椭圆 37"/>
            <p:cNvSpPr>
              <a:spLocks noChangeArrowheads="1"/>
            </p:cNvSpPr>
            <p:nvPr/>
          </p:nvSpPr>
          <p:spPr bwMode="gray">
            <a:xfrm>
              <a:off x="2337" y="1112"/>
              <a:ext cx="1096" cy="2752"/>
            </a:xfrm>
            <a:prstGeom prst="ellipse">
              <a:avLst/>
            </a:prstGeom>
            <a:gradFill rotWithShape="1">
              <a:gsLst>
                <a:gs pos="0">
                  <a:srgbClr val="8D67E1"/>
                </a:gs>
                <a:gs pos="100000">
                  <a:srgbClr val="45326D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5" name="组合 38"/>
          <p:cNvGrpSpPr>
            <a:grpSpLocks/>
          </p:cNvGrpSpPr>
          <p:nvPr/>
        </p:nvGrpSpPr>
        <p:grpSpPr bwMode="auto">
          <a:xfrm>
            <a:off x="3048000" y="4907355"/>
            <a:ext cx="355600" cy="649233"/>
            <a:chOff x="2078" y="1112"/>
            <a:chExt cx="1615" cy="2752"/>
          </a:xfrm>
        </p:grpSpPr>
        <p:sp>
          <p:nvSpPr>
            <p:cNvPr id="40" name="椭圆 39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" name="椭圆 40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" name="椭圆 41"/>
            <p:cNvSpPr>
              <a:spLocks noChangeArrowheads="1"/>
            </p:cNvSpPr>
            <p:nvPr/>
          </p:nvSpPr>
          <p:spPr bwMode="gray">
            <a:xfrm>
              <a:off x="2251" y="1112"/>
              <a:ext cx="1180" cy="2752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43" name="椭圆 42"/>
            <p:cNvSpPr>
              <a:spLocks noChangeArrowheads="1"/>
            </p:cNvSpPr>
            <p:nvPr/>
          </p:nvSpPr>
          <p:spPr bwMode="gray">
            <a:xfrm>
              <a:off x="2254" y="1112"/>
              <a:ext cx="1180" cy="2752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" name="椭圆 43"/>
            <p:cNvSpPr>
              <a:spLocks noChangeArrowheads="1"/>
            </p:cNvSpPr>
            <p:nvPr/>
          </p:nvSpPr>
          <p:spPr bwMode="gray">
            <a:xfrm>
              <a:off x="2338" y="1112"/>
              <a:ext cx="1096" cy="2752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45" name="椭圆 44"/>
            <p:cNvSpPr>
              <a:spLocks noChangeArrowheads="1"/>
            </p:cNvSpPr>
            <p:nvPr/>
          </p:nvSpPr>
          <p:spPr bwMode="gray">
            <a:xfrm>
              <a:off x="2337" y="1112"/>
              <a:ext cx="1096" cy="2752"/>
            </a:xfrm>
            <a:prstGeom prst="ellipse">
              <a:avLst/>
            </a:prstGeom>
            <a:gradFill rotWithShape="1">
              <a:gsLst>
                <a:gs pos="0">
                  <a:srgbClr val="E35E23"/>
                </a:gs>
                <a:gs pos="100000">
                  <a:srgbClr val="6E2E1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46" name="自选图形 45"/>
          <p:cNvSpPr>
            <a:spLocks noChangeArrowheads="1"/>
          </p:cNvSpPr>
          <p:nvPr/>
        </p:nvSpPr>
        <p:spPr bwMode="gray">
          <a:xfrm>
            <a:off x="8622270" y="3383497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" name="自选图形 46"/>
          <p:cNvSpPr>
            <a:spLocks noChangeArrowheads="1"/>
          </p:cNvSpPr>
          <p:nvPr/>
        </p:nvSpPr>
        <p:spPr bwMode="gray">
          <a:xfrm>
            <a:off x="9054070" y="3383497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" name="自选图形 47"/>
          <p:cNvSpPr>
            <a:spLocks noChangeArrowheads="1"/>
          </p:cNvSpPr>
          <p:nvPr/>
        </p:nvSpPr>
        <p:spPr bwMode="gray">
          <a:xfrm>
            <a:off x="9485870" y="3383497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23" name="Rectangle 27"/>
          <p:cNvSpPr>
            <a:spLocks noChangeArrowheads="1"/>
          </p:cNvSpPr>
          <p:nvPr/>
        </p:nvSpPr>
        <p:spPr bwMode="auto">
          <a:xfrm>
            <a:off x="2124075" y="908720"/>
            <a:ext cx="2546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dirty="0">
                <a:ea typeface="华文中宋" pitchFamily="2" charset="-122"/>
              </a:rPr>
              <a:t>3.2.1    </a:t>
            </a:r>
            <a:r>
              <a:rPr lang="zh-CN" altLang="en-US" dirty="0">
                <a:ea typeface="华文中宋" pitchFamily="2" charset="-122"/>
              </a:rPr>
              <a:t>数制转换   </a:t>
            </a:r>
          </a:p>
        </p:txBody>
      </p:sp>
      <p:sp>
        <p:nvSpPr>
          <p:cNvPr id="29724" name="Text Box 28"/>
          <p:cNvSpPr txBox="1">
            <a:spLocks noChangeArrowheads="1"/>
          </p:cNvSpPr>
          <p:nvPr/>
        </p:nvSpPr>
        <p:spPr bwMode="auto">
          <a:xfrm>
            <a:off x="2147888" y="1592709"/>
            <a:ext cx="7880350" cy="191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</a:pPr>
            <a:r>
              <a:rPr kumimoji="0" lang="en-US" altLang="zh-CN"/>
              <a:t>        </a:t>
            </a:r>
            <a:r>
              <a:rPr kumimoji="0" lang="zh-CN" altLang="en-US"/>
              <a:t>十进制数 </a:t>
            </a:r>
            <a:r>
              <a:rPr kumimoji="0" lang="en-US" altLang="zh-CN" i="1"/>
              <a:t>N</a:t>
            </a:r>
            <a:r>
              <a:rPr kumimoji="0" lang="en-US" altLang="zh-CN"/>
              <a:t> </a:t>
            </a:r>
            <a:r>
              <a:rPr kumimoji="0" lang="zh-CN" altLang="en-US"/>
              <a:t>和其他 </a:t>
            </a:r>
            <a:r>
              <a:rPr kumimoji="0" lang="en-US" altLang="zh-CN" i="1"/>
              <a:t>d </a:t>
            </a:r>
            <a:r>
              <a:rPr kumimoji="0" lang="en-US" altLang="zh-CN"/>
              <a:t> </a:t>
            </a:r>
            <a:r>
              <a:rPr kumimoji="0" lang="zh-CN" altLang="en-US"/>
              <a:t>进制数 </a:t>
            </a:r>
            <a:r>
              <a:rPr kumimoji="0" lang="en-US" altLang="zh-CN" i="1"/>
              <a:t>M</a:t>
            </a:r>
            <a:r>
              <a:rPr kumimoji="0" lang="en-US" altLang="zh-CN"/>
              <a:t> </a:t>
            </a:r>
            <a:r>
              <a:rPr kumimoji="0" lang="zh-CN" altLang="en-US"/>
              <a:t>的转换是计算机实现 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</a:pPr>
            <a:r>
              <a:rPr kumimoji="0" lang="zh-CN" altLang="en-US"/>
              <a:t>计算的基本问题，其解决方法很多，其中一个简单算法是 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</a:pPr>
            <a:r>
              <a:rPr kumimoji="0" lang="zh-CN" altLang="en-US"/>
              <a:t>逐次除以基数 </a:t>
            </a:r>
            <a:r>
              <a:rPr kumimoji="0" lang="en-US" altLang="zh-CN" i="1"/>
              <a:t>d</a:t>
            </a:r>
            <a:r>
              <a:rPr kumimoji="0" lang="en-US" altLang="zh-CN"/>
              <a:t> </a:t>
            </a:r>
            <a:r>
              <a:rPr kumimoji="0" lang="zh-CN" altLang="en-US"/>
              <a:t>取余法，它基于下列原理：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</a:pPr>
            <a:r>
              <a:rPr kumimoji="0" lang="zh-CN" altLang="en-US"/>
              <a:t>                        </a:t>
            </a:r>
            <a:r>
              <a:rPr kumimoji="0" lang="en-US" altLang="zh-CN" i="1"/>
              <a:t>N </a:t>
            </a:r>
            <a:r>
              <a:rPr kumimoji="0" lang="en-US" altLang="zh-CN"/>
              <a:t>= (</a:t>
            </a:r>
            <a:r>
              <a:rPr kumimoji="0" lang="en-US" altLang="zh-CN" i="1"/>
              <a:t>N</a:t>
            </a:r>
            <a:r>
              <a:rPr kumimoji="0" lang="en-US" altLang="zh-CN"/>
              <a:t> div </a:t>
            </a:r>
            <a:r>
              <a:rPr kumimoji="0" lang="en-US" altLang="zh-CN" i="1"/>
              <a:t>d </a:t>
            </a:r>
            <a:r>
              <a:rPr kumimoji="0" lang="en-US" altLang="zh-CN"/>
              <a:t>)*</a:t>
            </a:r>
            <a:r>
              <a:rPr kumimoji="0" lang="en-US" altLang="zh-CN" i="1"/>
              <a:t>d </a:t>
            </a:r>
            <a:r>
              <a:rPr kumimoji="0" lang="en-US" altLang="zh-CN"/>
              <a:t>+ </a:t>
            </a:r>
            <a:r>
              <a:rPr kumimoji="0" lang="en-US" altLang="zh-CN" i="1"/>
              <a:t>N</a:t>
            </a:r>
            <a:r>
              <a:rPr kumimoji="0" lang="en-US" altLang="zh-CN"/>
              <a:t> mod </a:t>
            </a:r>
            <a:r>
              <a:rPr kumimoji="0" lang="en-US" altLang="zh-CN" i="1"/>
              <a:t>d </a:t>
            </a:r>
            <a:endParaRPr lang="en-US" altLang="zh-CN"/>
          </a:p>
        </p:txBody>
      </p:sp>
      <p:sp>
        <p:nvSpPr>
          <p:cNvPr id="29725" name="Text Box 29"/>
          <p:cNvSpPr txBox="1">
            <a:spLocks noChangeArrowheads="1"/>
          </p:cNvSpPr>
          <p:nvPr/>
        </p:nvSpPr>
        <p:spPr bwMode="auto">
          <a:xfrm>
            <a:off x="2124076" y="3645347"/>
            <a:ext cx="8220075" cy="2392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</a:pPr>
            <a:r>
              <a:rPr kumimoji="0" lang="en-US" altLang="zh-CN"/>
              <a:t>        </a:t>
            </a:r>
            <a:r>
              <a:rPr kumimoji="0" lang="zh-CN" altLang="en-US">
                <a:solidFill>
                  <a:srgbClr val="0000FF"/>
                </a:solidFill>
                <a:ea typeface="华文中宋" pitchFamily="2" charset="-122"/>
              </a:rPr>
              <a:t>具体作法为：</a:t>
            </a:r>
            <a:r>
              <a:rPr kumimoji="0" lang="zh-CN" altLang="en-US"/>
              <a:t>首先用 </a:t>
            </a:r>
            <a:r>
              <a:rPr kumimoji="0" lang="en-US" altLang="zh-CN" i="1"/>
              <a:t>N</a:t>
            </a:r>
            <a:r>
              <a:rPr kumimoji="0" lang="en-US" altLang="zh-CN"/>
              <a:t> </a:t>
            </a:r>
            <a:r>
              <a:rPr kumimoji="0" lang="zh-CN" altLang="en-US"/>
              <a:t>除以 </a:t>
            </a:r>
            <a:r>
              <a:rPr kumimoji="0" lang="en-US" altLang="zh-CN" i="1"/>
              <a:t>d</a:t>
            </a:r>
            <a:r>
              <a:rPr kumimoji="0" lang="zh-CN" altLang="en-US"/>
              <a:t>，得到的余数是 </a:t>
            </a:r>
            <a:r>
              <a:rPr kumimoji="0" lang="en-US" altLang="zh-CN" i="1"/>
              <a:t>d</a:t>
            </a:r>
            <a:r>
              <a:rPr kumimoji="0" lang="en-US" altLang="zh-CN"/>
              <a:t> </a:t>
            </a:r>
            <a:r>
              <a:rPr kumimoji="0" lang="zh-CN" altLang="en-US"/>
              <a:t>进制 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</a:pPr>
            <a:r>
              <a:rPr kumimoji="0" lang="zh-CN" altLang="en-US"/>
              <a:t>数  </a:t>
            </a:r>
            <a:r>
              <a:rPr kumimoji="0" lang="en-US" altLang="zh-CN" i="1"/>
              <a:t>M  </a:t>
            </a:r>
            <a:r>
              <a:rPr kumimoji="0" lang="zh-CN" altLang="en-US"/>
              <a:t>的最低位  </a:t>
            </a:r>
            <a:r>
              <a:rPr kumimoji="0" lang="en-US" altLang="zh-CN" i="1"/>
              <a:t>M</a:t>
            </a:r>
            <a:r>
              <a:rPr kumimoji="0" lang="en-US" altLang="zh-CN" baseline="-25000"/>
              <a:t>0</a:t>
            </a:r>
            <a:r>
              <a:rPr kumimoji="0" lang="zh-CN" altLang="en-US"/>
              <a:t>，  接着以前一步得到的商作为被除数， 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</a:pPr>
            <a:r>
              <a:rPr kumimoji="0" lang="zh-CN" altLang="en-US"/>
              <a:t>再除以 </a:t>
            </a:r>
            <a:r>
              <a:rPr kumimoji="0" lang="en-US" altLang="zh-CN" i="1"/>
              <a:t>d</a:t>
            </a:r>
            <a:r>
              <a:rPr kumimoji="0" lang="zh-CN" altLang="en-US"/>
              <a:t>，得到的余数是 </a:t>
            </a:r>
            <a:r>
              <a:rPr kumimoji="0" lang="en-US" altLang="zh-CN" i="1"/>
              <a:t>d</a:t>
            </a:r>
            <a:r>
              <a:rPr kumimoji="0" lang="en-US" altLang="zh-CN"/>
              <a:t>  </a:t>
            </a:r>
            <a:r>
              <a:rPr kumimoji="0" lang="zh-CN" altLang="en-US"/>
              <a:t>进制数 </a:t>
            </a:r>
            <a:r>
              <a:rPr kumimoji="0" lang="en-US" altLang="zh-CN" i="1"/>
              <a:t>M</a:t>
            </a:r>
            <a:r>
              <a:rPr kumimoji="0" lang="en-US" altLang="zh-CN"/>
              <a:t> </a:t>
            </a:r>
            <a:r>
              <a:rPr kumimoji="0" lang="zh-CN" altLang="en-US"/>
              <a:t>的次最低位 </a:t>
            </a:r>
            <a:r>
              <a:rPr kumimoji="0" lang="en-US" altLang="zh-CN" i="1"/>
              <a:t>M</a:t>
            </a:r>
            <a:r>
              <a:rPr kumimoji="0" lang="en-US" altLang="zh-CN" baseline="-25000"/>
              <a:t>1</a:t>
            </a:r>
            <a:r>
              <a:rPr kumimoji="0" lang="zh-CN" altLang="en-US"/>
              <a:t>，依 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</a:pPr>
            <a:r>
              <a:rPr kumimoji="0" lang="zh-CN" altLang="en-US"/>
              <a:t>次类推，直到商为 </a:t>
            </a:r>
            <a:r>
              <a:rPr kumimoji="0" lang="en-US" altLang="zh-CN"/>
              <a:t>0 </a:t>
            </a:r>
            <a:r>
              <a:rPr kumimoji="0" lang="zh-CN" altLang="en-US"/>
              <a:t>时得到的余数是 </a:t>
            </a:r>
            <a:r>
              <a:rPr kumimoji="0" lang="en-US" altLang="zh-CN" i="1"/>
              <a:t>M</a:t>
            </a:r>
            <a:r>
              <a:rPr kumimoji="0" lang="en-US" altLang="zh-CN"/>
              <a:t> </a:t>
            </a:r>
            <a:r>
              <a:rPr kumimoji="0" lang="zh-CN" altLang="en-US"/>
              <a:t>的最高位 </a:t>
            </a:r>
            <a:r>
              <a:rPr kumimoji="0" lang="en-US" altLang="zh-CN" i="1"/>
              <a:t>M</a:t>
            </a:r>
            <a:r>
              <a:rPr kumimoji="0" lang="en-US" altLang="zh-CN" i="1" baseline="-25000"/>
              <a:t>s</a:t>
            </a:r>
            <a:r>
              <a:rPr kumimoji="0" lang="zh-CN" altLang="en-US"/>
              <a:t>（假 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</a:pPr>
            <a:r>
              <a:rPr kumimoji="0" lang="zh-CN" altLang="en-US"/>
              <a:t>定 </a:t>
            </a:r>
            <a:r>
              <a:rPr kumimoji="0" lang="en-US" altLang="zh-CN" i="1"/>
              <a:t>M</a:t>
            </a:r>
            <a:r>
              <a:rPr kumimoji="0" lang="en-US" altLang="zh-CN"/>
              <a:t> </a:t>
            </a:r>
            <a:r>
              <a:rPr kumimoji="0" lang="zh-CN" altLang="en-US"/>
              <a:t>共有 </a:t>
            </a:r>
            <a:r>
              <a:rPr kumimoji="0" lang="en-US" altLang="zh-CN" i="1"/>
              <a:t>s</a:t>
            </a:r>
            <a:r>
              <a:rPr kumimoji="0" lang="en-US" altLang="zh-CN"/>
              <a:t> +1 </a:t>
            </a:r>
            <a:r>
              <a:rPr kumimoji="0" lang="zh-CN" altLang="en-US"/>
              <a:t>位）。 </a:t>
            </a:r>
          </a:p>
        </p:txBody>
      </p:sp>
    </p:spTree>
  </p:cSld>
  <p:clrMapOvr>
    <a:masterClrMapping/>
  </p:clrMapOvr>
  <p:transition spd="slow"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9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9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24" grpId="0" autoUpdateAnimBg="0"/>
      <p:bldP spid="29725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Text Box 17"/>
          <p:cNvSpPr txBox="1">
            <a:spLocks noChangeArrowheads="1"/>
          </p:cNvSpPr>
          <p:nvPr/>
        </p:nvSpPr>
        <p:spPr bwMode="auto">
          <a:xfrm>
            <a:off x="2566988" y="981076"/>
            <a:ext cx="5925020" cy="4977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</a:pPr>
            <a:r>
              <a:rPr kumimoji="0" lang="zh-CN" altLang="en-US">
                <a:ea typeface="华文中宋" pitchFamily="2" charset="-122"/>
              </a:rPr>
              <a:t>例：</a:t>
            </a:r>
            <a:r>
              <a:rPr kumimoji="0" lang="zh-CN" altLang="en-US"/>
              <a:t> </a:t>
            </a:r>
            <a:r>
              <a:rPr kumimoji="0" lang="en-US" altLang="zh-CN"/>
              <a:t>(1348)</a:t>
            </a:r>
            <a:r>
              <a:rPr kumimoji="0" lang="en-US" altLang="zh-CN" baseline="-25000"/>
              <a:t>10</a:t>
            </a:r>
            <a:r>
              <a:rPr kumimoji="0" lang="en-US" altLang="zh-CN"/>
              <a:t>=(2504)</a:t>
            </a:r>
            <a:r>
              <a:rPr kumimoji="0" lang="en-US" altLang="zh-CN" baseline="-25000"/>
              <a:t>8</a:t>
            </a:r>
            <a:r>
              <a:rPr kumimoji="0" lang="zh-CN" altLang="en-US"/>
              <a:t>，其运算过程如下：  </a:t>
            </a:r>
            <a:endParaRPr lang="zh-CN" altLang="en-US"/>
          </a:p>
        </p:txBody>
      </p:sp>
      <p:sp>
        <p:nvSpPr>
          <p:cNvPr id="3091" name="Rectangle 19"/>
          <p:cNvSpPr>
            <a:spLocks noChangeArrowheads="1"/>
          </p:cNvSpPr>
          <p:nvPr/>
        </p:nvSpPr>
        <p:spPr bwMode="auto">
          <a:xfrm>
            <a:off x="3883025" y="2097088"/>
            <a:ext cx="4876800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lnSpc>
                <a:spcPct val="160000"/>
              </a:lnSpc>
              <a:spcBef>
                <a:spcPct val="20000"/>
              </a:spcBef>
            </a:pPr>
            <a:r>
              <a:rPr lang="en-US" altLang="zh-CN">
                <a:ea typeface="宋体" pitchFamily="2" charset="-122"/>
              </a:rPr>
              <a:t>      </a:t>
            </a:r>
            <a:r>
              <a:rPr lang="en-US" altLang="zh-CN" i="1">
                <a:ea typeface="宋体" pitchFamily="2" charset="-122"/>
              </a:rPr>
              <a:t>N</a:t>
            </a:r>
            <a:r>
              <a:rPr lang="en-US" altLang="zh-CN">
                <a:ea typeface="宋体" pitchFamily="2" charset="-122"/>
              </a:rPr>
              <a:t>        </a:t>
            </a:r>
            <a:r>
              <a:rPr lang="en-US" altLang="zh-CN" i="1">
                <a:ea typeface="宋体" pitchFamily="2" charset="-122"/>
              </a:rPr>
              <a:t>N</a:t>
            </a:r>
            <a:r>
              <a:rPr lang="en-US" altLang="zh-CN">
                <a:ea typeface="宋体" pitchFamily="2" charset="-122"/>
              </a:rPr>
              <a:t> div 8     </a:t>
            </a:r>
            <a:r>
              <a:rPr lang="en-US" altLang="zh-CN" i="1">
                <a:ea typeface="宋体" pitchFamily="2" charset="-122"/>
              </a:rPr>
              <a:t>N</a:t>
            </a:r>
            <a:r>
              <a:rPr lang="en-US" altLang="zh-CN">
                <a:ea typeface="宋体" pitchFamily="2" charset="-122"/>
              </a:rPr>
              <a:t> mod 8</a:t>
            </a:r>
          </a:p>
          <a:p>
            <a:pPr marL="342900" indent="-342900">
              <a:lnSpc>
                <a:spcPct val="160000"/>
              </a:lnSpc>
              <a:spcBef>
                <a:spcPct val="20000"/>
              </a:spcBef>
            </a:pPr>
            <a:r>
              <a:rPr lang="en-US" altLang="zh-CN">
                <a:ea typeface="宋体" pitchFamily="2" charset="-122"/>
              </a:rPr>
              <a:t>   1348         168             4</a:t>
            </a:r>
          </a:p>
          <a:p>
            <a:pPr marL="342900" indent="-342900">
              <a:lnSpc>
                <a:spcPct val="160000"/>
              </a:lnSpc>
              <a:spcBef>
                <a:spcPct val="20000"/>
              </a:spcBef>
            </a:pPr>
            <a:r>
              <a:rPr lang="en-US" altLang="zh-CN">
                <a:ea typeface="宋体" pitchFamily="2" charset="-122"/>
              </a:rPr>
              <a:t>     168           21             0</a:t>
            </a:r>
          </a:p>
          <a:p>
            <a:pPr marL="342900" indent="-342900">
              <a:lnSpc>
                <a:spcPct val="160000"/>
              </a:lnSpc>
              <a:spcBef>
                <a:spcPct val="20000"/>
              </a:spcBef>
            </a:pPr>
            <a:r>
              <a:rPr lang="en-US" altLang="zh-CN">
                <a:ea typeface="宋体" pitchFamily="2" charset="-122"/>
              </a:rPr>
              <a:t>       21             2             5</a:t>
            </a:r>
          </a:p>
          <a:p>
            <a:pPr marL="342900" indent="-342900">
              <a:lnSpc>
                <a:spcPct val="160000"/>
              </a:lnSpc>
              <a:spcBef>
                <a:spcPct val="20000"/>
              </a:spcBef>
            </a:pPr>
            <a:r>
              <a:rPr lang="en-US" altLang="zh-CN">
                <a:ea typeface="宋体" pitchFamily="2" charset="-122"/>
              </a:rPr>
              <a:t>         2             0             2</a:t>
            </a:r>
          </a:p>
        </p:txBody>
      </p:sp>
      <p:grpSp>
        <p:nvGrpSpPr>
          <p:cNvPr id="3114" name="Group 42"/>
          <p:cNvGrpSpPr>
            <a:grpSpLocks/>
          </p:cNvGrpSpPr>
          <p:nvPr/>
        </p:nvGrpSpPr>
        <p:grpSpPr bwMode="auto">
          <a:xfrm>
            <a:off x="3443291" y="2924175"/>
            <a:ext cx="569913" cy="2376488"/>
            <a:chOff x="1209" y="1842"/>
            <a:chExt cx="359" cy="1497"/>
          </a:xfrm>
        </p:grpSpPr>
        <p:sp>
          <p:nvSpPr>
            <p:cNvPr id="3110" name="Line 38"/>
            <p:cNvSpPr>
              <a:spLocks noChangeShapeType="1"/>
            </p:cNvSpPr>
            <p:nvPr/>
          </p:nvSpPr>
          <p:spPr bwMode="auto">
            <a:xfrm>
              <a:off x="1519" y="1842"/>
              <a:ext cx="0" cy="14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11" name="Text Box 39"/>
            <p:cNvSpPr txBox="1">
              <a:spLocks noChangeArrowheads="1"/>
            </p:cNvSpPr>
            <p:nvPr/>
          </p:nvSpPr>
          <p:spPr bwMode="auto">
            <a:xfrm>
              <a:off x="1209" y="2024"/>
              <a:ext cx="359" cy="9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>
                  <a:solidFill>
                    <a:srgbClr val="0000FF"/>
                  </a:solidFill>
                </a:rPr>
                <a:t>计 </a:t>
              </a:r>
            </a:p>
            <a:p>
              <a:r>
                <a:rPr lang="zh-CN" altLang="en-US">
                  <a:solidFill>
                    <a:srgbClr val="0000FF"/>
                  </a:solidFill>
                </a:rPr>
                <a:t>算 </a:t>
              </a:r>
            </a:p>
            <a:p>
              <a:r>
                <a:rPr lang="zh-CN" altLang="en-US">
                  <a:solidFill>
                    <a:srgbClr val="0000FF"/>
                  </a:solidFill>
                </a:rPr>
                <a:t>顺 </a:t>
              </a:r>
            </a:p>
            <a:p>
              <a:r>
                <a:rPr lang="zh-CN" altLang="en-US">
                  <a:solidFill>
                    <a:srgbClr val="0000FF"/>
                  </a:solidFill>
                </a:rPr>
                <a:t>序 </a:t>
              </a:r>
            </a:p>
          </p:txBody>
        </p:sp>
      </p:grpSp>
      <p:grpSp>
        <p:nvGrpSpPr>
          <p:cNvPr id="3115" name="Group 43"/>
          <p:cNvGrpSpPr>
            <a:grpSpLocks/>
          </p:cNvGrpSpPr>
          <p:nvPr/>
        </p:nvGrpSpPr>
        <p:grpSpPr bwMode="auto">
          <a:xfrm>
            <a:off x="7464430" y="2924176"/>
            <a:ext cx="581026" cy="2449513"/>
            <a:chOff x="3742" y="1842"/>
            <a:chExt cx="366" cy="1543"/>
          </a:xfrm>
        </p:grpSpPr>
        <p:sp>
          <p:nvSpPr>
            <p:cNvPr id="3112" name="Line 40"/>
            <p:cNvSpPr>
              <a:spLocks noChangeShapeType="1"/>
            </p:cNvSpPr>
            <p:nvPr/>
          </p:nvSpPr>
          <p:spPr bwMode="auto">
            <a:xfrm flipV="1">
              <a:off x="3742" y="1842"/>
              <a:ext cx="0" cy="15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13" name="Text Box 41"/>
            <p:cNvSpPr txBox="1">
              <a:spLocks noChangeArrowheads="1"/>
            </p:cNvSpPr>
            <p:nvPr/>
          </p:nvSpPr>
          <p:spPr bwMode="auto">
            <a:xfrm>
              <a:off x="3749" y="2024"/>
              <a:ext cx="359" cy="9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>
                  <a:solidFill>
                    <a:srgbClr val="0000FF"/>
                  </a:solidFill>
                </a:rPr>
                <a:t>输 </a:t>
              </a:r>
            </a:p>
            <a:p>
              <a:r>
                <a:rPr lang="zh-CN" altLang="en-US">
                  <a:solidFill>
                    <a:srgbClr val="0000FF"/>
                  </a:solidFill>
                </a:rPr>
                <a:t>出 </a:t>
              </a:r>
            </a:p>
            <a:p>
              <a:r>
                <a:rPr lang="zh-CN" altLang="en-US">
                  <a:solidFill>
                    <a:srgbClr val="0000FF"/>
                  </a:solidFill>
                </a:rPr>
                <a:t>顺 </a:t>
              </a:r>
            </a:p>
            <a:p>
              <a:r>
                <a:rPr lang="zh-CN" altLang="en-US">
                  <a:solidFill>
                    <a:srgbClr val="0000FF"/>
                  </a:solidFill>
                </a:rPr>
                <a:t>序 </a:t>
              </a:r>
            </a:p>
          </p:txBody>
        </p:sp>
      </p:grpSp>
    </p:spTree>
  </p:cSld>
  <p:clrMapOvr>
    <a:masterClrMapping/>
  </p:clrMapOvr>
  <p:transition spd="slow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91" grpId="0" uiExpand="1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0" name="Rectangle 178"/>
          <p:cNvSpPr>
            <a:spLocks noChangeArrowheads="1"/>
          </p:cNvSpPr>
          <p:nvPr/>
        </p:nvSpPr>
        <p:spPr bwMode="auto">
          <a:xfrm>
            <a:off x="2351088" y="2349500"/>
            <a:ext cx="1008062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64" name="Rectangle 172"/>
          <p:cNvSpPr>
            <a:spLocks noChangeArrowheads="1"/>
          </p:cNvSpPr>
          <p:nvPr/>
        </p:nvSpPr>
        <p:spPr bwMode="auto">
          <a:xfrm>
            <a:off x="2427288" y="4903788"/>
            <a:ext cx="3854450" cy="685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58" name="Rectangle 166"/>
          <p:cNvSpPr>
            <a:spLocks noChangeArrowheads="1"/>
          </p:cNvSpPr>
          <p:nvPr/>
        </p:nvSpPr>
        <p:spPr bwMode="auto">
          <a:xfrm>
            <a:off x="2655888" y="4171950"/>
            <a:ext cx="1066800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56" name="Rectangle 164"/>
          <p:cNvSpPr>
            <a:spLocks noChangeArrowheads="1"/>
          </p:cNvSpPr>
          <p:nvPr/>
        </p:nvSpPr>
        <p:spPr bwMode="auto">
          <a:xfrm>
            <a:off x="2640013" y="3832225"/>
            <a:ext cx="1066800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55" name="Rectangle 163"/>
          <p:cNvSpPr>
            <a:spLocks noChangeArrowheads="1"/>
          </p:cNvSpPr>
          <p:nvPr/>
        </p:nvSpPr>
        <p:spPr bwMode="auto">
          <a:xfrm>
            <a:off x="2579688" y="3455988"/>
            <a:ext cx="2362200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49" name="Rectangle 157"/>
          <p:cNvSpPr>
            <a:spLocks noChangeArrowheads="1"/>
          </p:cNvSpPr>
          <p:nvPr/>
        </p:nvSpPr>
        <p:spPr bwMode="auto">
          <a:xfrm>
            <a:off x="2655888" y="4171950"/>
            <a:ext cx="1066800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47" name="Rectangle 155"/>
          <p:cNvSpPr>
            <a:spLocks noChangeArrowheads="1"/>
          </p:cNvSpPr>
          <p:nvPr/>
        </p:nvSpPr>
        <p:spPr bwMode="auto">
          <a:xfrm>
            <a:off x="2640013" y="3832225"/>
            <a:ext cx="1066800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46" name="Rectangle 154"/>
          <p:cNvSpPr>
            <a:spLocks noChangeArrowheads="1"/>
          </p:cNvSpPr>
          <p:nvPr/>
        </p:nvSpPr>
        <p:spPr bwMode="auto">
          <a:xfrm>
            <a:off x="2579688" y="3455988"/>
            <a:ext cx="2362200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40" name="Rectangle 148"/>
          <p:cNvSpPr>
            <a:spLocks noChangeArrowheads="1"/>
          </p:cNvSpPr>
          <p:nvPr/>
        </p:nvSpPr>
        <p:spPr bwMode="auto">
          <a:xfrm>
            <a:off x="2655888" y="4175125"/>
            <a:ext cx="990600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38" name="Rectangle 146"/>
          <p:cNvSpPr>
            <a:spLocks noChangeArrowheads="1"/>
          </p:cNvSpPr>
          <p:nvPr/>
        </p:nvSpPr>
        <p:spPr bwMode="auto">
          <a:xfrm>
            <a:off x="2640013" y="3832225"/>
            <a:ext cx="1066800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37" name="Rectangle 145"/>
          <p:cNvSpPr>
            <a:spLocks noChangeArrowheads="1"/>
          </p:cNvSpPr>
          <p:nvPr/>
        </p:nvSpPr>
        <p:spPr bwMode="auto">
          <a:xfrm>
            <a:off x="2655888" y="3455988"/>
            <a:ext cx="2286000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29" name="Rectangle 137"/>
          <p:cNvSpPr>
            <a:spLocks noChangeArrowheads="1"/>
          </p:cNvSpPr>
          <p:nvPr/>
        </p:nvSpPr>
        <p:spPr bwMode="auto">
          <a:xfrm>
            <a:off x="2655888" y="4175125"/>
            <a:ext cx="990600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27" name="Rectangle 135"/>
          <p:cNvSpPr>
            <a:spLocks noChangeArrowheads="1"/>
          </p:cNvSpPr>
          <p:nvPr/>
        </p:nvSpPr>
        <p:spPr bwMode="auto">
          <a:xfrm>
            <a:off x="2640013" y="3832225"/>
            <a:ext cx="1066800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22" name="Rectangle 130"/>
          <p:cNvSpPr>
            <a:spLocks noChangeArrowheads="1"/>
          </p:cNvSpPr>
          <p:nvPr/>
        </p:nvSpPr>
        <p:spPr bwMode="auto">
          <a:xfrm>
            <a:off x="2655888" y="3455988"/>
            <a:ext cx="2286000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20" name="Rectangle 128"/>
          <p:cNvSpPr>
            <a:spLocks noChangeArrowheads="1"/>
          </p:cNvSpPr>
          <p:nvPr/>
        </p:nvSpPr>
        <p:spPr bwMode="auto">
          <a:xfrm>
            <a:off x="2351088" y="2714625"/>
            <a:ext cx="2305050" cy="3063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19" name="Rectangle 127"/>
          <p:cNvSpPr>
            <a:spLocks noChangeArrowheads="1"/>
          </p:cNvSpPr>
          <p:nvPr/>
        </p:nvSpPr>
        <p:spPr bwMode="auto">
          <a:xfrm>
            <a:off x="2351088" y="2000250"/>
            <a:ext cx="1441450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02" name="Rectangle 110"/>
          <p:cNvSpPr>
            <a:spLocks noChangeArrowheads="1"/>
          </p:cNvSpPr>
          <p:nvPr/>
        </p:nvSpPr>
        <p:spPr bwMode="auto">
          <a:xfrm>
            <a:off x="2351088" y="1655763"/>
            <a:ext cx="1676400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8334" name="Group 142"/>
          <p:cNvGrpSpPr>
            <a:grpSpLocks/>
          </p:cNvGrpSpPr>
          <p:nvPr/>
        </p:nvGrpSpPr>
        <p:grpSpPr bwMode="auto">
          <a:xfrm>
            <a:off x="7786688" y="1990725"/>
            <a:ext cx="1981200" cy="2590800"/>
            <a:chOff x="3360" y="1248"/>
            <a:chExt cx="1248" cy="1632"/>
          </a:xfrm>
        </p:grpSpPr>
        <p:sp>
          <p:nvSpPr>
            <p:cNvPr id="8304" name="Line 112"/>
            <p:cNvSpPr>
              <a:spLocks noChangeShapeType="1"/>
            </p:cNvSpPr>
            <p:nvPr/>
          </p:nvSpPr>
          <p:spPr bwMode="auto">
            <a:xfrm>
              <a:off x="3360" y="1248"/>
              <a:ext cx="0" cy="16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05" name="Line 113"/>
            <p:cNvSpPr>
              <a:spLocks noChangeShapeType="1"/>
            </p:cNvSpPr>
            <p:nvPr/>
          </p:nvSpPr>
          <p:spPr bwMode="auto">
            <a:xfrm>
              <a:off x="4608" y="1248"/>
              <a:ext cx="0" cy="16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06" name="Line 114"/>
            <p:cNvSpPr>
              <a:spLocks noChangeShapeType="1"/>
            </p:cNvSpPr>
            <p:nvPr/>
          </p:nvSpPr>
          <p:spPr bwMode="auto">
            <a:xfrm>
              <a:off x="3360" y="1248"/>
              <a:ext cx="12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08" name="Line 116"/>
            <p:cNvSpPr>
              <a:spLocks noChangeShapeType="1"/>
            </p:cNvSpPr>
            <p:nvPr/>
          </p:nvSpPr>
          <p:spPr bwMode="auto">
            <a:xfrm>
              <a:off x="3360" y="1584"/>
              <a:ext cx="12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09" name="Line 117"/>
            <p:cNvSpPr>
              <a:spLocks noChangeShapeType="1"/>
            </p:cNvSpPr>
            <p:nvPr/>
          </p:nvSpPr>
          <p:spPr bwMode="auto">
            <a:xfrm>
              <a:off x="3360" y="1920"/>
              <a:ext cx="12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10" name="Line 118"/>
            <p:cNvSpPr>
              <a:spLocks noChangeShapeType="1"/>
            </p:cNvSpPr>
            <p:nvPr/>
          </p:nvSpPr>
          <p:spPr bwMode="auto">
            <a:xfrm>
              <a:off x="3360" y="2256"/>
              <a:ext cx="12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11" name="Line 119"/>
            <p:cNvSpPr>
              <a:spLocks noChangeShapeType="1"/>
            </p:cNvSpPr>
            <p:nvPr/>
          </p:nvSpPr>
          <p:spPr bwMode="auto">
            <a:xfrm>
              <a:off x="3360" y="2592"/>
              <a:ext cx="12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312" name="Group 120"/>
          <p:cNvGrpSpPr>
            <a:grpSpLocks/>
          </p:cNvGrpSpPr>
          <p:nvPr/>
        </p:nvGrpSpPr>
        <p:grpSpPr bwMode="auto">
          <a:xfrm>
            <a:off x="6567488" y="3971925"/>
            <a:ext cx="1192212" cy="457200"/>
            <a:chOff x="96" y="3168"/>
            <a:chExt cx="751" cy="288"/>
          </a:xfrm>
        </p:grpSpPr>
        <p:sp>
          <p:nvSpPr>
            <p:cNvPr id="8313" name="Line 121"/>
            <p:cNvSpPr>
              <a:spLocks noChangeShapeType="1"/>
            </p:cNvSpPr>
            <p:nvPr/>
          </p:nvSpPr>
          <p:spPr bwMode="auto">
            <a:xfrm>
              <a:off x="144" y="3168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14" name="Text Box 122"/>
            <p:cNvSpPr txBox="1">
              <a:spLocks noChangeArrowheads="1"/>
            </p:cNvSpPr>
            <p:nvPr/>
          </p:nvSpPr>
          <p:spPr bwMode="auto">
            <a:xfrm>
              <a:off x="96" y="3168"/>
              <a:ext cx="75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bottom </a:t>
              </a:r>
            </a:p>
          </p:txBody>
        </p:sp>
      </p:grpSp>
      <p:grpSp>
        <p:nvGrpSpPr>
          <p:cNvPr id="8315" name="Group 123"/>
          <p:cNvGrpSpPr>
            <a:grpSpLocks/>
          </p:cNvGrpSpPr>
          <p:nvPr/>
        </p:nvGrpSpPr>
        <p:grpSpPr bwMode="auto">
          <a:xfrm>
            <a:off x="6567488" y="3362325"/>
            <a:ext cx="1143000" cy="457200"/>
            <a:chOff x="96" y="2784"/>
            <a:chExt cx="720" cy="288"/>
          </a:xfrm>
        </p:grpSpPr>
        <p:sp>
          <p:nvSpPr>
            <p:cNvPr id="8316" name="Line 124"/>
            <p:cNvSpPr>
              <a:spLocks noChangeShapeType="1"/>
            </p:cNvSpPr>
            <p:nvPr/>
          </p:nvSpPr>
          <p:spPr bwMode="auto">
            <a:xfrm>
              <a:off x="144" y="3072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17" name="Text Box 125"/>
            <p:cNvSpPr txBox="1">
              <a:spLocks noChangeArrowheads="1"/>
            </p:cNvSpPr>
            <p:nvPr/>
          </p:nvSpPr>
          <p:spPr bwMode="auto">
            <a:xfrm>
              <a:off x="96" y="2784"/>
              <a:ext cx="43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top </a:t>
              </a:r>
            </a:p>
          </p:txBody>
        </p:sp>
      </p:grpSp>
      <p:sp>
        <p:nvSpPr>
          <p:cNvPr id="8318" name="Rectangle 126"/>
          <p:cNvSpPr>
            <a:spLocks noChangeArrowheads="1"/>
          </p:cNvSpPr>
          <p:nvPr/>
        </p:nvSpPr>
        <p:spPr bwMode="auto">
          <a:xfrm>
            <a:off x="8193088" y="955675"/>
            <a:ext cx="1143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/>
              <a:t>  </a:t>
            </a:r>
          </a:p>
        </p:txBody>
      </p:sp>
      <p:sp>
        <p:nvSpPr>
          <p:cNvPr id="8323" name="Text Box 131"/>
          <p:cNvSpPr txBox="1">
            <a:spLocks noChangeArrowheads="1"/>
          </p:cNvSpPr>
          <p:nvPr/>
        </p:nvSpPr>
        <p:spPr bwMode="auto">
          <a:xfrm>
            <a:off x="8631238" y="3605213"/>
            <a:ext cx="4508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800"/>
              <a:t>4 </a:t>
            </a:r>
          </a:p>
        </p:txBody>
      </p:sp>
      <p:sp>
        <p:nvSpPr>
          <p:cNvPr id="8324" name="Text Box 132"/>
          <p:cNvSpPr txBox="1">
            <a:spLocks noChangeArrowheads="1"/>
          </p:cNvSpPr>
          <p:nvPr/>
        </p:nvSpPr>
        <p:spPr bwMode="auto">
          <a:xfrm>
            <a:off x="8631238" y="3057526"/>
            <a:ext cx="4508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800"/>
              <a:t>0 </a:t>
            </a:r>
          </a:p>
        </p:txBody>
      </p:sp>
      <p:sp>
        <p:nvSpPr>
          <p:cNvPr id="8325" name="Text Box 133"/>
          <p:cNvSpPr txBox="1">
            <a:spLocks noChangeArrowheads="1"/>
          </p:cNvSpPr>
          <p:nvPr/>
        </p:nvSpPr>
        <p:spPr bwMode="auto">
          <a:xfrm>
            <a:off x="8631238" y="2524126"/>
            <a:ext cx="4508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800"/>
              <a:t>5 </a:t>
            </a:r>
          </a:p>
        </p:txBody>
      </p:sp>
      <p:sp>
        <p:nvSpPr>
          <p:cNvPr id="8326" name="Text Box 134"/>
          <p:cNvSpPr txBox="1">
            <a:spLocks noChangeArrowheads="1"/>
          </p:cNvSpPr>
          <p:nvPr/>
        </p:nvSpPr>
        <p:spPr bwMode="auto">
          <a:xfrm>
            <a:off x="8631238" y="1990726"/>
            <a:ext cx="4508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800"/>
              <a:t>2 </a:t>
            </a:r>
          </a:p>
        </p:txBody>
      </p:sp>
      <p:grpSp>
        <p:nvGrpSpPr>
          <p:cNvPr id="8330" name="Group 138"/>
          <p:cNvGrpSpPr>
            <a:grpSpLocks/>
          </p:cNvGrpSpPr>
          <p:nvPr/>
        </p:nvGrpSpPr>
        <p:grpSpPr bwMode="auto">
          <a:xfrm>
            <a:off x="6567488" y="2828925"/>
            <a:ext cx="1143000" cy="457200"/>
            <a:chOff x="96" y="2784"/>
            <a:chExt cx="720" cy="288"/>
          </a:xfrm>
        </p:grpSpPr>
        <p:sp>
          <p:nvSpPr>
            <p:cNvPr id="8331" name="Line 139"/>
            <p:cNvSpPr>
              <a:spLocks noChangeShapeType="1"/>
            </p:cNvSpPr>
            <p:nvPr/>
          </p:nvSpPr>
          <p:spPr bwMode="auto">
            <a:xfrm>
              <a:off x="144" y="3072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32" name="Text Box 140"/>
            <p:cNvSpPr txBox="1">
              <a:spLocks noChangeArrowheads="1"/>
            </p:cNvSpPr>
            <p:nvPr/>
          </p:nvSpPr>
          <p:spPr bwMode="auto">
            <a:xfrm>
              <a:off x="96" y="2784"/>
              <a:ext cx="43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top </a:t>
              </a:r>
            </a:p>
          </p:txBody>
        </p:sp>
      </p:grpSp>
      <p:sp useBgFill="1">
        <p:nvSpPr>
          <p:cNvPr id="8333" name="Rectangle 141"/>
          <p:cNvSpPr>
            <a:spLocks noChangeArrowheads="1"/>
          </p:cNvSpPr>
          <p:nvPr/>
        </p:nvSpPr>
        <p:spPr bwMode="auto">
          <a:xfrm>
            <a:off x="6567488" y="3438525"/>
            <a:ext cx="1143000" cy="45720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35" name="Text Box 143"/>
          <p:cNvSpPr txBox="1">
            <a:spLocks noChangeArrowheads="1"/>
          </p:cNvSpPr>
          <p:nvPr/>
        </p:nvSpPr>
        <p:spPr bwMode="auto">
          <a:xfrm>
            <a:off x="8345488" y="952500"/>
            <a:ext cx="869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1348 </a:t>
            </a:r>
          </a:p>
        </p:txBody>
      </p:sp>
      <p:sp>
        <p:nvSpPr>
          <p:cNvPr id="8328" name="Rectangle 136"/>
          <p:cNvSpPr>
            <a:spLocks noChangeArrowheads="1"/>
          </p:cNvSpPr>
          <p:nvPr/>
        </p:nvSpPr>
        <p:spPr bwMode="auto">
          <a:xfrm>
            <a:off x="8193088" y="955675"/>
            <a:ext cx="1143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/>
              <a:t> 168 </a:t>
            </a:r>
          </a:p>
        </p:txBody>
      </p:sp>
      <p:sp>
        <p:nvSpPr>
          <p:cNvPr id="8300" name="Text Box 108"/>
          <p:cNvSpPr txBox="1">
            <a:spLocks noChangeArrowheads="1"/>
          </p:cNvSpPr>
          <p:nvPr/>
        </p:nvSpPr>
        <p:spPr bwMode="auto">
          <a:xfrm>
            <a:off x="2122489" y="817564"/>
            <a:ext cx="4301177" cy="5262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void</a:t>
            </a:r>
            <a:r>
              <a:rPr lang="en-US" altLang="zh-CN" b="0"/>
              <a:t> </a:t>
            </a:r>
            <a:r>
              <a:rPr lang="en-US" altLang="zh-CN"/>
              <a:t>conversion</a:t>
            </a:r>
            <a:r>
              <a:rPr lang="en-US" altLang="zh-CN" b="0"/>
              <a:t> </a:t>
            </a:r>
            <a:r>
              <a:rPr lang="en-US" altLang="zh-CN"/>
              <a:t>() </a:t>
            </a:r>
          </a:p>
          <a:p>
            <a:r>
              <a:rPr lang="en-US" altLang="zh-CN"/>
              <a:t>{ </a:t>
            </a:r>
          </a:p>
          <a:p>
            <a:r>
              <a:rPr lang="en-US" altLang="zh-CN"/>
              <a:t>   int stack[4]; </a:t>
            </a:r>
          </a:p>
          <a:p>
            <a:r>
              <a:rPr lang="en-US" altLang="zh-CN"/>
              <a:t>   int top=0; </a:t>
            </a:r>
          </a:p>
          <a:p>
            <a:r>
              <a:rPr lang="en-US" altLang="zh-CN"/>
              <a:t>   int N; </a:t>
            </a:r>
          </a:p>
          <a:p>
            <a:r>
              <a:rPr lang="en-US" altLang="zh-CN"/>
              <a:t>   scanf(“%d”, N); </a:t>
            </a:r>
          </a:p>
          <a:p>
            <a:r>
              <a:rPr lang="en-US" altLang="zh-CN"/>
              <a:t>   while (N) {</a:t>
            </a:r>
          </a:p>
          <a:p>
            <a:r>
              <a:rPr lang="en-US" altLang="zh-CN"/>
              <a:t>      stack[top]=N%8; </a:t>
            </a:r>
          </a:p>
          <a:p>
            <a:r>
              <a:rPr lang="en-US" altLang="zh-CN"/>
              <a:t>      top++; </a:t>
            </a:r>
          </a:p>
          <a:p>
            <a:r>
              <a:rPr lang="en-US" altLang="zh-CN"/>
              <a:t>      N=N/8; </a:t>
            </a:r>
          </a:p>
          <a:p>
            <a:r>
              <a:rPr lang="en-US" altLang="zh-CN"/>
              <a:t>   } </a:t>
            </a:r>
          </a:p>
          <a:p>
            <a:r>
              <a:rPr lang="en-US" altLang="zh-CN"/>
              <a:t>   for(top=top-1; top&gt;=0; top--) </a:t>
            </a:r>
          </a:p>
          <a:p>
            <a:r>
              <a:rPr lang="en-US" altLang="zh-CN"/>
              <a:t>        printf(“%d”,stack[top]); </a:t>
            </a:r>
          </a:p>
          <a:p>
            <a:r>
              <a:rPr lang="en-US" altLang="zh-CN"/>
              <a:t>} </a:t>
            </a:r>
          </a:p>
        </p:txBody>
      </p:sp>
      <p:sp>
        <p:nvSpPr>
          <p:cNvPr id="8339" name="Rectangle 147"/>
          <p:cNvSpPr>
            <a:spLocks noChangeArrowheads="1"/>
          </p:cNvSpPr>
          <p:nvPr/>
        </p:nvSpPr>
        <p:spPr bwMode="auto">
          <a:xfrm>
            <a:off x="8193088" y="955675"/>
            <a:ext cx="1143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/>
              <a:t> 21 </a:t>
            </a:r>
          </a:p>
        </p:txBody>
      </p:sp>
      <p:grpSp>
        <p:nvGrpSpPr>
          <p:cNvPr id="8341" name="Group 149"/>
          <p:cNvGrpSpPr>
            <a:grpSpLocks/>
          </p:cNvGrpSpPr>
          <p:nvPr/>
        </p:nvGrpSpPr>
        <p:grpSpPr bwMode="auto">
          <a:xfrm>
            <a:off x="6567488" y="2219325"/>
            <a:ext cx="1143000" cy="457200"/>
            <a:chOff x="96" y="2784"/>
            <a:chExt cx="720" cy="288"/>
          </a:xfrm>
        </p:grpSpPr>
        <p:sp>
          <p:nvSpPr>
            <p:cNvPr id="8342" name="Line 150"/>
            <p:cNvSpPr>
              <a:spLocks noChangeShapeType="1"/>
            </p:cNvSpPr>
            <p:nvPr/>
          </p:nvSpPr>
          <p:spPr bwMode="auto">
            <a:xfrm>
              <a:off x="144" y="3072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43" name="Text Box 151"/>
            <p:cNvSpPr txBox="1">
              <a:spLocks noChangeArrowheads="1"/>
            </p:cNvSpPr>
            <p:nvPr/>
          </p:nvSpPr>
          <p:spPr bwMode="auto">
            <a:xfrm>
              <a:off x="96" y="2784"/>
              <a:ext cx="43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top </a:t>
              </a:r>
            </a:p>
          </p:txBody>
        </p:sp>
      </p:grpSp>
      <p:sp useBgFill="1">
        <p:nvSpPr>
          <p:cNvPr id="8344" name="Rectangle 152"/>
          <p:cNvSpPr>
            <a:spLocks noChangeArrowheads="1"/>
          </p:cNvSpPr>
          <p:nvPr/>
        </p:nvSpPr>
        <p:spPr bwMode="auto">
          <a:xfrm>
            <a:off x="6567488" y="2905125"/>
            <a:ext cx="1143000" cy="45720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48" name="Rectangle 156"/>
          <p:cNvSpPr>
            <a:spLocks noChangeArrowheads="1"/>
          </p:cNvSpPr>
          <p:nvPr/>
        </p:nvSpPr>
        <p:spPr bwMode="auto">
          <a:xfrm>
            <a:off x="8193088" y="955675"/>
            <a:ext cx="1143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/>
              <a:t> 2 </a:t>
            </a:r>
          </a:p>
        </p:txBody>
      </p:sp>
      <p:grpSp>
        <p:nvGrpSpPr>
          <p:cNvPr id="8350" name="Group 158"/>
          <p:cNvGrpSpPr>
            <a:grpSpLocks/>
          </p:cNvGrpSpPr>
          <p:nvPr/>
        </p:nvGrpSpPr>
        <p:grpSpPr bwMode="auto">
          <a:xfrm>
            <a:off x="6567488" y="1762125"/>
            <a:ext cx="1143000" cy="457200"/>
            <a:chOff x="96" y="2784"/>
            <a:chExt cx="720" cy="288"/>
          </a:xfrm>
        </p:grpSpPr>
        <p:sp>
          <p:nvSpPr>
            <p:cNvPr id="8351" name="Line 159"/>
            <p:cNvSpPr>
              <a:spLocks noChangeShapeType="1"/>
            </p:cNvSpPr>
            <p:nvPr/>
          </p:nvSpPr>
          <p:spPr bwMode="auto">
            <a:xfrm>
              <a:off x="144" y="3072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52" name="Text Box 160"/>
            <p:cNvSpPr txBox="1">
              <a:spLocks noChangeArrowheads="1"/>
            </p:cNvSpPr>
            <p:nvPr/>
          </p:nvSpPr>
          <p:spPr bwMode="auto">
            <a:xfrm>
              <a:off x="96" y="2784"/>
              <a:ext cx="43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top </a:t>
              </a:r>
            </a:p>
          </p:txBody>
        </p:sp>
      </p:grpSp>
      <p:sp useBgFill="1">
        <p:nvSpPr>
          <p:cNvPr id="8353" name="Rectangle 161"/>
          <p:cNvSpPr>
            <a:spLocks noChangeArrowheads="1"/>
          </p:cNvSpPr>
          <p:nvPr/>
        </p:nvSpPr>
        <p:spPr bwMode="auto">
          <a:xfrm>
            <a:off x="6567488" y="2295525"/>
            <a:ext cx="1143000" cy="45720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57" name="Rectangle 165"/>
          <p:cNvSpPr>
            <a:spLocks noChangeArrowheads="1"/>
          </p:cNvSpPr>
          <p:nvPr/>
        </p:nvSpPr>
        <p:spPr bwMode="auto">
          <a:xfrm>
            <a:off x="8193088" y="955675"/>
            <a:ext cx="1143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/>
              <a:t> 0 </a:t>
            </a:r>
          </a:p>
        </p:txBody>
      </p:sp>
      <p:grpSp>
        <p:nvGrpSpPr>
          <p:cNvPr id="8359" name="Group 167"/>
          <p:cNvGrpSpPr>
            <a:grpSpLocks/>
          </p:cNvGrpSpPr>
          <p:nvPr/>
        </p:nvGrpSpPr>
        <p:grpSpPr bwMode="auto">
          <a:xfrm>
            <a:off x="6567488" y="1228725"/>
            <a:ext cx="1143000" cy="457200"/>
            <a:chOff x="96" y="2784"/>
            <a:chExt cx="720" cy="288"/>
          </a:xfrm>
        </p:grpSpPr>
        <p:sp>
          <p:nvSpPr>
            <p:cNvPr id="8360" name="Line 168"/>
            <p:cNvSpPr>
              <a:spLocks noChangeShapeType="1"/>
            </p:cNvSpPr>
            <p:nvPr/>
          </p:nvSpPr>
          <p:spPr bwMode="auto">
            <a:xfrm>
              <a:off x="144" y="3072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61" name="Text Box 169"/>
            <p:cNvSpPr txBox="1">
              <a:spLocks noChangeArrowheads="1"/>
            </p:cNvSpPr>
            <p:nvPr/>
          </p:nvSpPr>
          <p:spPr bwMode="auto">
            <a:xfrm>
              <a:off x="96" y="2784"/>
              <a:ext cx="43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top </a:t>
              </a:r>
            </a:p>
          </p:txBody>
        </p:sp>
      </p:grpSp>
      <p:sp useBgFill="1">
        <p:nvSpPr>
          <p:cNvPr id="8362" name="Rectangle 170"/>
          <p:cNvSpPr>
            <a:spLocks noChangeArrowheads="1"/>
          </p:cNvSpPr>
          <p:nvPr/>
        </p:nvSpPr>
        <p:spPr bwMode="auto">
          <a:xfrm>
            <a:off x="6567488" y="1838325"/>
            <a:ext cx="1143000" cy="45720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65" name="Text Box 173"/>
          <p:cNvSpPr txBox="1">
            <a:spLocks noChangeArrowheads="1"/>
          </p:cNvSpPr>
          <p:nvPr/>
        </p:nvSpPr>
        <p:spPr bwMode="auto">
          <a:xfrm>
            <a:off x="7835900" y="4948238"/>
            <a:ext cx="12128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3600"/>
              <a:t>2504 </a:t>
            </a:r>
          </a:p>
        </p:txBody>
      </p:sp>
      <p:sp>
        <p:nvSpPr>
          <p:cNvPr id="8366" name="AutoShape 174"/>
          <p:cNvSpPr>
            <a:spLocks noChangeArrowheads="1"/>
          </p:cNvSpPr>
          <p:nvPr/>
        </p:nvSpPr>
        <p:spPr bwMode="auto">
          <a:xfrm>
            <a:off x="6381750" y="5056189"/>
            <a:ext cx="1371600" cy="485775"/>
          </a:xfrm>
          <a:prstGeom prst="notchedRightArrow">
            <a:avLst>
              <a:gd name="adj1" fmla="val 50000"/>
              <a:gd name="adj2" fmla="val 70588"/>
            </a:avLst>
          </a:prstGeom>
          <a:solidFill>
            <a:srgbClr val="FF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68" name="AutoShape 176"/>
          <p:cNvSpPr>
            <a:spLocks/>
          </p:cNvSpPr>
          <p:nvPr/>
        </p:nvSpPr>
        <p:spPr bwMode="auto">
          <a:xfrm>
            <a:off x="4151313" y="1700213"/>
            <a:ext cx="144462" cy="576262"/>
          </a:xfrm>
          <a:prstGeom prst="rightBrace">
            <a:avLst>
              <a:gd name="adj1" fmla="val 3324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69" name="Text Box 177"/>
          <p:cNvSpPr txBox="1">
            <a:spLocks noChangeArrowheads="1"/>
          </p:cNvSpPr>
          <p:nvPr/>
        </p:nvSpPr>
        <p:spPr bwMode="auto">
          <a:xfrm>
            <a:off x="4348164" y="1720850"/>
            <a:ext cx="18367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0000FF"/>
                </a:solidFill>
              </a:rPr>
              <a:t>InitStack(S) </a:t>
            </a:r>
          </a:p>
        </p:txBody>
      </p:sp>
      <p:sp>
        <p:nvSpPr>
          <p:cNvPr id="8371" name="AutoShape 179"/>
          <p:cNvSpPr>
            <a:spLocks/>
          </p:cNvSpPr>
          <p:nvPr/>
        </p:nvSpPr>
        <p:spPr bwMode="auto">
          <a:xfrm>
            <a:off x="5070476" y="3500438"/>
            <a:ext cx="144463" cy="576262"/>
          </a:xfrm>
          <a:prstGeom prst="rightBrace">
            <a:avLst>
              <a:gd name="adj1" fmla="val 3324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72" name="Text Box 180"/>
          <p:cNvSpPr txBox="1">
            <a:spLocks noChangeArrowheads="1"/>
          </p:cNvSpPr>
          <p:nvPr/>
        </p:nvSpPr>
        <p:spPr bwMode="auto">
          <a:xfrm>
            <a:off x="5267326" y="3521075"/>
            <a:ext cx="21256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0000FF"/>
                </a:solidFill>
              </a:rPr>
              <a:t>Push(S, N%S) </a:t>
            </a:r>
          </a:p>
        </p:txBody>
      </p:sp>
      <p:sp useBgFill="1">
        <p:nvSpPr>
          <p:cNvPr id="8373" name="Text Box 181"/>
          <p:cNvSpPr txBox="1">
            <a:spLocks noChangeArrowheads="1"/>
          </p:cNvSpPr>
          <p:nvPr/>
        </p:nvSpPr>
        <p:spPr bwMode="auto">
          <a:xfrm>
            <a:off x="6383338" y="4829175"/>
            <a:ext cx="3563796" cy="156966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0000FF"/>
                </a:solidFill>
              </a:rPr>
              <a:t>While (!Stackempty(S)) { </a:t>
            </a:r>
          </a:p>
          <a:p>
            <a:r>
              <a:rPr lang="en-US" altLang="zh-CN">
                <a:solidFill>
                  <a:srgbClr val="0000FF"/>
                </a:solidFill>
              </a:rPr>
              <a:t>      Pop(S, e); </a:t>
            </a:r>
          </a:p>
          <a:p>
            <a:r>
              <a:rPr lang="en-US" altLang="zh-CN">
                <a:solidFill>
                  <a:srgbClr val="0000FF"/>
                </a:solidFill>
              </a:rPr>
              <a:t>      printf(“%d”, e);  </a:t>
            </a:r>
          </a:p>
          <a:p>
            <a:r>
              <a:rPr lang="en-US" altLang="zh-CN">
                <a:solidFill>
                  <a:srgbClr val="0000FF"/>
                </a:solidFill>
              </a:rPr>
              <a:t>} </a:t>
            </a:r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3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3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3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83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3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8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3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9" dur="500"/>
                                        <p:tgtEl>
                                          <p:spTgt spid="8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8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837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3" dur="500"/>
                                        <p:tgtEl>
                                          <p:spTgt spid="8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83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8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83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8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83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8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8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83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7" dur="500"/>
                                        <p:tgtEl>
                                          <p:spTgt spid="8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83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7" dur="500"/>
                                        <p:tgtEl>
                                          <p:spTgt spid="8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83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8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00"/>
                            </p:stCondLst>
                            <p:childTnLst>
                              <p:par>
                                <p:cTn id="11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8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83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1" dur="500"/>
                                        <p:tgtEl>
                                          <p:spTgt spid="8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83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41" dur="500"/>
                                        <p:tgtEl>
                                          <p:spTgt spid="8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83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1" dur="500"/>
                                        <p:tgtEl>
                                          <p:spTgt spid="8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500"/>
                            </p:stCondLst>
                            <p:childTnLst>
                              <p:par>
                                <p:cTn id="15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5" dur="500"/>
                                        <p:tgtEl>
                                          <p:spTgt spid="8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83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5" dur="500"/>
                                        <p:tgtEl>
                                          <p:spTgt spid="8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835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5" dur="500"/>
                                        <p:tgtEl>
                                          <p:spTgt spid="8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500"/>
                                        <p:tgtEl>
                                          <p:spTgt spid="835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5" dur="500"/>
                                        <p:tgtEl>
                                          <p:spTgt spid="8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500"/>
                            </p:stCondLst>
                            <p:childTnLst>
                              <p:par>
                                <p:cTn id="18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9" dur="500"/>
                                        <p:tgtEl>
                                          <p:spTgt spid="8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4" dur="500"/>
                                        <p:tgtEl>
                                          <p:spTgt spid="83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99" dur="500"/>
                                        <p:tgtEl>
                                          <p:spTgt spid="8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04" dur="500"/>
                                        <p:tgtEl>
                                          <p:spTgt spid="8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500"/>
                            </p:stCondLst>
                            <p:childTnLst>
                              <p:par>
                                <p:cTn id="20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8" dur="500"/>
                                        <p:tgtEl>
                                          <p:spTgt spid="8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3" dur="500"/>
                                        <p:tgtEl>
                                          <p:spTgt spid="836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8" dur="500"/>
                                        <p:tgtEl>
                                          <p:spTgt spid="8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>
                            <p:stCondLst>
                              <p:cond delay="500"/>
                            </p:stCondLst>
                            <p:childTnLst>
                              <p:par>
                                <p:cTn id="2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2" dur="500"/>
                                        <p:tgtEl>
                                          <p:spTgt spid="8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7" dur="500" fill="hold"/>
                                        <p:tgtEl>
                                          <p:spTgt spid="83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8" dur="500" fill="hold"/>
                                        <p:tgtEl>
                                          <p:spTgt spid="83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70" grpId="0" animBg="1"/>
      <p:bldP spid="8364" grpId="0" animBg="1"/>
      <p:bldP spid="8358" grpId="0" animBg="1"/>
      <p:bldP spid="8356" grpId="0" animBg="1"/>
      <p:bldP spid="8355" grpId="0" animBg="1"/>
      <p:bldP spid="8349" grpId="0" animBg="1"/>
      <p:bldP spid="8347" grpId="0" animBg="1"/>
      <p:bldP spid="8346" grpId="0" animBg="1"/>
      <p:bldP spid="8340" grpId="0" animBg="1"/>
      <p:bldP spid="8338" grpId="0" animBg="1"/>
      <p:bldP spid="8337" grpId="0" animBg="1"/>
      <p:bldP spid="8329" grpId="0" animBg="1"/>
      <p:bldP spid="8327" grpId="0" animBg="1"/>
      <p:bldP spid="8322" grpId="0" animBg="1"/>
      <p:bldP spid="8320" grpId="0" animBg="1"/>
      <p:bldP spid="8319" grpId="0" animBg="1"/>
      <p:bldP spid="8302" grpId="0" animBg="1"/>
      <p:bldP spid="8318" grpId="0" animBg="1" autoUpdateAnimBg="0"/>
      <p:bldP spid="8323" grpId="0" autoUpdateAnimBg="0"/>
      <p:bldP spid="8324" grpId="0" autoUpdateAnimBg="0"/>
      <p:bldP spid="8325" grpId="0" autoUpdateAnimBg="0"/>
      <p:bldP spid="8326" grpId="0" autoUpdateAnimBg="0"/>
      <p:bldP spid="8333" grpId="0" animBg="1"/>
      <p:bldP spid="8335" grpId="0" autoUpdateAnimBg="0"/>
      <p:bldP spid="8328" grpId="0" animBg="1" autoUpdateAnimBg="0"/>
      <p:bldP spid="8300" grpId="0" autoUpdateAnimBg="0"/>
      <p:bldP spid="8339" grpId="0" animBg="1" autoUpdateAnimBg="0"/>
      <p:bldP spid="8344" grpId="0" animBg="1"/>
      <p:bldP spid="8348" grpId="0" animBg="1" autoUpdateAnimBg="0"/>
      <p:bldP spid="8353" grpId="0" animBg="1"/>
      <p:bldP spid="8357" grpId="0" animBg="1" autoUpdateAnimBg="0"/>
      <p:bldP spid="8362" grpId="0" animBg="1"/>
      <p:bldP spid="8365" grpId="0" autoUpdateAnimBg="0"/>
      <p:bldP spid="8366" grpId="0" animBg="1"/>
      <p:bldP spid="8368" grpId="0" animBg="1"/>
      <p:bldP spid="8369" grpId="0"/>
      <p:bldP spid="8371" grpId="0" animBg="1"/>
      <p:bldP spid="8372" grpId="0"/>
      <p:bldP spid="837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5" name="Rectangle 159"/>
          <p:cNvSpPr>
            <a:spLocks noChangeArrowheads="1"/>
          </p:cNvSpPr>
          <p:nvPr/>
        </p:nvSpPr>
        <p:spPr bwMode="auto">
          <a:xfrm>
            <a:off x="2887663" y="2738438"/>
            <a:ext cx="152400" cy="3810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76" name="Rectangle 160"/>
          <p:cNvSpPr>
            <a:spLocks noChangeArrowheads="1"/>
          </p:cNvSpPr>
          <p:nvPr/>
        </p:nvSpPr>
        <p:spPr bwMode="auto">
          <a:xfrm>
            <a:off x="3116263" y="2738438"/>
            <a:ext cx="152400" cy="381000"/>
          </a:xfrm>
          <a:prstGeom prst="rect">
            <a:avLst/>
          </a:prstGeom>
          <a:solidFill>
            <a:srgbClr val="FF66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77" name="Rectangle 161"/>
          <p:cNvSpPr>
            <a:spLocks noChangeArrowheads="1"/>
          </p:cNvSpPr>
          <p:nvPr/>
        </p:nvSpPr>
        <p:spPr bwMode="auto">
          <a:xfrm>
            <a:off x="3344863" y="2738438"/>
            <a:ext cx="152400" cy="381000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78" name="Rectangle 162"/>
          <p:cNvSpPr>
            <a:spLocks noChangeArrowheads="1"/>
          </p:cNvSpPr>
          <p:nvPr/>
        </p:nvSpPr>
        <p:spPr bwMode="auto">
          <a:xfrm>
            <a:off x="3573463" y="2738438"/>
            <a:ext cx="152400" cy="381000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79" name="Rectangle 163"/>
          <p:cNvSpPr>
            <a:spLocks noChangeArrowheads="1"/>
          </p:cNvSpPr>
          <p:nvPr/>
        </p:nvSpPr>
        <p:spPr bwMode="auto">
          <a:xfrm>
            <a:off x="3802063" y="2738438"/>
            <a:ext cx="152400" cy="381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80" name="Rectangle 164"/>
          <p:cNvSpPr>
            <a:spLocks noChangeArrowheads="1"/>
          </p:cNvSpPr>
          <p:nvPr/>
        </p:nvSpPr>
        <p:spPr bwMode="auto">
          <a:xfrm>
            <a:off x="4030663" y="2738438"/>
            <a:ext cx="152400" cy="381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81" name="Rectangle 165"/>
          <p:cNvSpPr>
            <a:spLocks noChangeArrowheads="1"/>
          </p:cNvSpPr>
          <p:nvPr/>
        </p:nvSpPr>
        <p:spPr bwMode="auto">
          <a:xfrm>
            <a:off x="4259263" y="2738438"/>
            <a:ext cx="152400" cy="381000"/>
          </a:xfrm>
          <a:prstGeom prst="rect">
            <a:avLst/>
          </a:prstGeom>
          <a:solidFill>
            <a:srgbClr val="FF66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82" name="Rectangle 166"/>
          <p:cNvSpPr>
            <a:spLocks noChangeArrowheads="1"/>
          </p:cNvSpPr>
          <p:nvPr/>
        </p:nvSpPr>
        <p:spPr bwMode="auto">
          <a:xfrm>
            <a:off x="4487863" y="2738438"/>
            <a:ext cx="152400" cy="3810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83" name="Text Box 167"/>
          <p:cNvSpPr txBox="1">
            <a:spLocks noChangeArrowheads="1"/>
          </p:cNvSpPr>
          <p:nvPr/>
        </p:nvSpPr>
        <p:spPr bwMode="auto">
          <a:xfrm>
            <a:off x="2128838" y="749300"/>
            <a:ext cx="3232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</a:pPr>
            <a:r>
              <a:rPr kumimoji="0" lang="en-US" altLang="zh-CN">
                <a:ea typeface="华文中宋" pitchFamily="2" charset="-122"/>
              </a:rPr>
              <a:t>3.2.2   </a:t>
            </a:r>
            <a:r>
              <a:rPr kumimoji="0" lang="zh-CN" altLang="en-US">
                <a:ea typeface="华文中宋" pitchFamily="2" charset="-122"/>
              </a:rPr>
              <a:t>括号匹配的检验 </a:t>
            </a:r>
          </a:p>
        </p:txBody>
      </p:sp>
      <p:sp>
        <p:nvSpPr>
          <p:cNvPr id="9384" name="Text Box 168"/>
          <p:cNvSpPr txBox="1">
            <a:spLocks noChangeArrowheads="1"/>
          </p:cNvSpPr>
          <p:nvPr/>
        </p:nvSpPr>
        <p:spPr bwMode="auto">
          <a:xfrm>
            <a:off x="2103438" y="1377951"/>
            <a:ext cx="7916862" cy="1114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</a:pPr>
            <a:r>
              <a:rPr kumimoji="0" lang="en-US" altLang="zh-CN"/>
              <a:t>        </a:t>
            </a:r>
            <a:r>
              <a:rPr kumimoji="0" lang="zh-CN" altLang="en-US"/>
              <a:t>假设表达式中允许括号嵌套，则检验括号是否匹配的 </a:t>
            </a:r>
          </a:p>
          <a:p>
            <a:pPr>
              <a:lnSpc>
                <a:spcPct val="130000"/>
              </a:lnSpc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</a:pPr>
            <a:r>
              <a:rPr kumimoji="0" lang="zh-CN" altLang="en-US"/>
              <a:t>方法可用“</a:t>
            </a:r>
            <a:r>
              <a:rPr kumimoji="0" lang="zh-CN" altLang="en-US">
                <a:solidFill>
                  <a:srgbClr val="0000FF"/>
                </a:solidFill>
              </a:rPr>
              <a:t>期待的急迫程度</a:t>
            </a:r>
            <a:r>
              <a:rPr kumimoji="0" lang="zh-CN" altLang="en-US"/>
              <a:t>”这个概念来描述。 </a:t>
            </a:r>
            <a:endParaRPr lang="zh-CN" altLang="en-US"/>
          </a:p>
        </p:txBody>
      </p:sp>
      <p:sp>
        <p:nvSpPr>
          <p:cNvPr id="9386" name="Text Box 170"/>
          <p:cNvSpPr txBox="1">
            <a:spLocks noChangeArrowheads="1"/>
          </p:cNvSpPr>
          <p:nvPr/>
        </p:nvSpPr>
        <p:spPr bwMode="auto">
          <a:xfrm>
            <a:off x="2125663" y="2662238"/>
            <a:ext cx="2647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ea typeface="华文中宋" pitchFamily="2" charset="-122"/>
              </a:rPr>
              <a:t>例：</a:t>
            </a:r>
            <a:r>
              <a:rPr lang="zh-CN" altLang="en-US"/>
              <a:t> </a:t>
            </a:r>
            <a:r>
              <a:rPr lang="en-US" altLang="zh-CN"/>
              <a:t>[ </a:t>
            </a:r>
            <a:r>
              <a:rPr lang="en-US" altLang="zh-CN" baseline="-25000"/>
              <a:t> </a:t>
            </a:r>
            <a:r>
              <a:rPr lang="en-US" altLang="zh-CN"/>
              <a:t>( </a:t>
            </a:r>
            <a:r>
              <a:rPr lang="en-US" altLang="zh-CN" baseline="-25000"/>
              <a:t> </a:t>
            </a:r>
            <a:r>
              <a:rPr lang="en-US" altLang="zh-CN"/>
              <a:t>[ </a:t>
            </a:r>
            <a:r>
              <a:rPr lang="en-US" altLang="zh-CN" baseline="-25000"/>
              <a:t> </a:t>
            </a:r>
            <a:r>
              <a:rPr lang="en-US" altLang="zh-CN"/>
              <a:t>] </a:t>
            </a:r>
            <a:r>
              <a:rPr lang="en-US" altLang="zh-CN" baseline="-25000"/>
              <a:t> </a:t>
            </a:r>
            <a:r>
              <a:rPr lang="en-US" altLang="zh-CN"/>
              <a:t>[ </a:t>
            </a:r>
            <a:r>
              <a:rPr lang="en-US" altLang="zh-CN" baseline="-25000"/>
              <a:t> </a:t>
            </a:r>
            <a:r>
              <a:rPr lang="en-US" altLang="zh-CN"/>
              <a:t>] </a:t>
            </a:r>
            <a:r>
              <a:rPr lang="en-US" altLang="zh-CN" baseline="-25000"/>
              <a:t> </a:t>
            </a:r>
            <a:r>
              <a:rPr lang="en-US" altLang="zh-CN"/>
              <a:t>) </a:t>
            </a:r>
            <a:r>
              <a:rPr lang="en-US" altLang="zh-CN" baseline="-25000"/>
              <a:t> </a:t>
            </a:r>
            <a:r>
              <a:rPr lang="en-US" altLang="zh-CN"/>
              <a:t>] </a:t>
            </a:r>
          </a:p>
        </p:txBody>
      </p:sp>
      <p:sp>
        <p:nvSpPr>
          <p:cNvPr id="9387" name="Text Box 171"/>
          <p:cNvSpPr txBox="1">
            <a:spLocks noChangeArrowheads="1"/>
          </p:cNvSpPr>
          <p:nvPr/>
        </p:nvSpPr>
        <p:spPr bwMode="auto">
          <a:xfrm>
            <a:off x="2779713" y="3043238"/>
            <a:ext cx="2012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1 2 3 4 5 6 7 8 </a:t>
            </a:r>
          </a:p>
        </p:txBody>
      </p:sp>
      <p:grpSp>
        <p:nvGrpSpPr>
          <p:cNvPr id="9388" name="Group 172"/>
          <p:cNvGrpSpPr>
            <a:grpSpLocks/>
          </p:cNvGrpSpPr>
          <p:nvPr/>
        </p:nvGrpSpPr>
        <p:grpSpPr bwMode="auto">
          <a:xfrm>
            <a:off x="3302000" y="3808413"/>
            <a:ext cx="1981200" cy="2057400"/>
            <a:chOff x="816" y="2016"/>
            <a:chExt cx="480" cy="1296"/>
          </a:xfrm>
        </p:grpSpPr>
        <p:sp>
          <p:nvSpPr>
            <p:cNvPr id="9389" name="Line 173"/>
            <p:cNvSpPr>
              <a:spLocks noChangeShapeType="1"/>
            </p:cNvSpPr>
            <p:nvPr/>
          </p:nvSpPr>
          <p:spPr bwMode="auto">
            <a:xfrm>
              <a:off x="816" y="2016"/>
              <a:ext cx="0" cy="12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90" name="Line 174"/>
            <p:cNvSpPr>
              <a:spLocks noChangeShapeType="1"/>
            </p:cNvSpPr>
            <p:nvPr/>
          </p:nvSpPr>
          <p:spPr bwMode="auto">
            <a:xfrm>
              <a:off x="1296" y="2016"/>
              <a:ext cx="0" cy="12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91" name="Line 175"/>
            <p:cNvSpPr>
              <a:spLocks noChangeShapeType="1"/>
            </p:cNvSpPr>
            <p:nvPr/>
          </p:nvSpPr>
          <p:spPr bwMode="auto">
            <a:xfrm>
              <a:off x="816" y="2016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92" name="Line 176"/>
            <p:cNvSpPr>
              <a:spLocks noChangeShapeType="1"/>
            </p:cNvSpPr>
            <p:nvPr/>
          </p:nvSpPr>
          <p:spPr bwMode="auto">
            <a:xfrm>
              <a:off x="816" y="2256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93" name="Line 177"/>
            <p:cNvSpPr>
              <a:spLocks noChangeShapeType="1"/>
            </p:cNvSpPr>
            <p:nvPr/>
          </p:nvSpPr>
          <p:spPr bwMode="auto">
            <a:xfrm>
              <a:off x="816" y="2496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94" name="Line 178"/>
            <p:cNvSpPr>
              <a:spLocks noChangeShapeType="1"/>
            </p:cNvSpPr>
            <p:nvPr/>
          </p:nvSpPr>
          <p:spPr bwMode="auto">
            <a:xfrm>
              <a:off x="816" y="2736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95" name="Line 179"/>
            <p:cNvSpPr>
              <a:spLocks noChangeShapeType="1"/>
            </p:cNvSpPr>
            <p:nvPr/>
          </p:nvSpPr>
          <p:spPr bwMode="auto">
            <a:xfrm>
              <a:off x="816" y="2976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96" name="Line 180"/>
            <p:cNvSpPr>
              <a:spLocks noChangeShapeType="1"/>
            </p:cNvSpPr>
            <p:nvPr/>
          </p:nvSpPr>
          <p:spPr bwMode="auto">
            <a:xfrm>
              <a:off x="816" y="3216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397" name="Group 181"/>
          <p:cNvGrpSpPr>
            <a:grpSpLocks/>
          </p:cNvGrpSpPr>
          <p:nvPr/>
        </p:nvGrpSpPr>
        <p:grpSpPr bwMode="auto">
          <a:xfrm>
            <a:off x="2082801" y="5637213"/>
            <a:ext cx="1192213" cy="457200"/>
            <a:chOff x="96" y="3168"/>
            <a:chExt cx="751" cy="288"/>
          </a:xfrm>
        </p:grpSpPr>
        <p:sp>
          <p:nvSpPr>
            <p:cNvPr id="9398" name="Line 182"/>
            <p:cNvSpPr>
              <a:spLocks noChangeShapeType="1"/>
            </p:cNvSpPr>
            <p:nvPr/>
          </p:nvSpPr>
          <p:spPr bwMode="auto">
            <a:xfrm>
              <a:off x="144" y="3168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99" name="Text Box 183"/>
            <p:cNvSpPr txBox="1">
              <a:spLocks noChangeArrowheads="1"/>
            </p:cNvSpPr>
            <p:nvPr/>
          </p:nvSpPr>
          <p:spPr bwMode="auto">
            <a:xfrm>
              <a:off x="96" y="3168"/>
              <a:ext cx="75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bottom </a:t>
              </a:r>
            </a:p>
          </p:txBody>
        </p:sp>
      </p:grpSp>
      <p:grpSp>
        <p:nvGrpSpPr>
          <p:cNvPr id="9400" name="Group 184"/>
          <p:cNvGrpSpPr>
            <a:grpSpLocks/>
          </p:cNvGrpSpPr>
          <p:nvPr/>
        </p:nvGrpSpPr>
        <p:grpSpPr bwMode="auto">
          <a:xfrm>
            <a:off x="2082800" y="5027613"/>
            <a:ext cx="1143000" cy="457200"/>
            <a:chOff x="96" y="2784"/>
            <a:chExt cx="720" cy="288"/>
          </a:xfrm>
        </p:grpSpPr>
        <p:sp>
          <p:nvSpPr>
            <p:cNvPr id="9401" name="Line 185"/>
            <p:cNvSpPr>
              <a:spLocks noChangeShapeType="1"/>
            </p:cNvSpPr>
            <p:nvPr/>
          </p:nvSpPr>
          <p:spPr bwMode="auto">
            <a:xfrm>
              <a:off x="144" y="3072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02" name="Text Box 186"/>
            <p:cNvSpPr txBox="1">
              <a:spLocks noChangeArrowheads="1"/>
            </p:cNvSpPr>
            <p:nvPr/>
          </p:nvSpPr>
          <p:spPr bwMode="auto">
            <a:xfrm>
              <a:off x="96" y="2784"/>
              <a:ext cx="43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top </a:t>
              </a:r>
            </a:p>
          </p:txBody>
        </p:sp>
      </p:grpSp>
      <p:sp>
        <p:nvSpPr>
          <p:cNvPr id="9403" name="Text Box 187"/>
          <p:cNvSpPr txBox="1">
            <a:spLocks noChangeArrowheads="1"/>
          </p:cNvSpPr>
          <p:nvPr/>
        </p:nvSpPr>
        <p:spPr bwMode="auto">
          <a:xfrm>
            <a:off x="4083050" y="5256213"/>
            <a:ext cx="438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 [ </a:t>
            </a:r>
          </a:p>
        </p:txBody>
      </p:sp>
      <p:sp>
        <p:nvSpPr>
          <p:cNvPr id="9404" name="Text Box 188"/>
          <p:cNvSpPr txBox="1">
            <a:spLocks noChangeArrowheads="1"/>
          </p:cNvSpPr>
          <p:nvPr/>
        </p:nvSpPr>
        <p:spPr bwMode="auto">
          <a:xfrm>
            <a:off x="4083050" y="4875213"/>
            <a:ext cx="438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 ( </a:t>
            </a:r>
          </a:p>
        </p:txBody>
      </p:sp>
      <p:sp>
        <p:nvSpPr>
          <p:cNvPr id="9405" name="Text Box 189"/>
          <p:cNvSpPr txBox="1">
            <a:spLocks noChangeArrowheads="1"/>
          </p:cNvSpPr>
          <p:nvPr/>
        </p:nvSpPr>
        <p:spPr bwMode="auto">
          <a:xfrm>
            <a:off x="4083050" y="4494213"/>
            <a:ext cx="438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 [ </a:t>
            </a:r>
          </a:p>
        </p:txBody>
      </p:sp>
      <p:grpSp>
        <p:nvGrpSpPr>
          <p:cNvPr id="9406" name="Group 190"/>
          <p:cNvGrpSpPr>
            <a:grpSpLocks/>
          </p:cNvGrpSpPr>
          <p:nvPr/>
        </p:nvGrpSpPr>
        <p:grpSpPr bwMode="auto">
          <a:xfrm>
            <a:off x="2082800" y="4646613"/>
            <a:ext cx="1143000" cy="457200"/>
            <a:chOff x="96" y="2784"/>
            <a:chExt cx="720" cy="288"/>
          </a:xfrm>
        </p:grpSpPr>
        <p:sp>
          <p:nvSpPr>
            <p:cNvPr id="9407" name="Line 191"/>
            <p:cNvSpPr>
              <a:spLocks noChangeShapeType="1"/>
            </p:cNvSpPr>
            <p:nvPr/>
          </p:nvSpPr>
          <p:spPr bwMode="auto">
            <a:xfrm>
              <a:off x="144" y="3072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08" name="Text Box 192"/>
            <p:cNvSpPr txBox="1">
              <a:spLocks noChangeArrowheads="1"/>
            </p:cNvSpPr>
            <p:nvPr/>
          </p:nvSpPr>
          <p:spPr bwMode="auto">
            <a:xfrm>
              <a:off x="96" y="2784"/>
              <a:ext cx="43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top </a:t>
              </a:r>
            </a:p>
          </p:txBody>
        </p:sp>
      </p:grpSp>
      <p:grpSp>
        <p:nvGrpSpPr>
          <p:cNvPr id="9409" name="Group 193"/>
          <p:cNvGrpSpPr>
            <a:grpSpLocks/>
          </p:cNvGrpSpPr>
          <p:nvPr/>
        </p:nvGrpSpPr>
        <p:grpSpPr bwMode="auto">
          <a:xfrm>
            <a:off x="2082800" y="4265613"/>
            <a:ext cx="1143000" cy="457200"/>
            <a:chOff x="96" y="2784"/>
            <a:chExt cx="720" cy="288"/>
          </a:xfrm>
        </p:grpSpPr>
        <p:sp>
          <p:nvSpPr>
            <p:cNvPr id="9410" name="Line 194"/>
            <p:cNvSpPr>
              <a:spLocks noChangeShapeType="1"/>
            </p:cNvSpPr>
            <p:nvPr/>
          </p:nvSpPr>
          <p:spPr bwMode="auto">
            <a:xfrm>
              <a:off x="144" y="3072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11" name="Text Box 195"/>
            <p:cNvSpPr txBox="1">
              <a:spLocks noChangeArrowheads="1"/>
            </p:cNvSpPr>
            <p:nvPr/>
          </p:nvSpPr>
          <p:spPr bwMode="auto">
            <a:xfrm>
              <a:off x="96" y="2784"/>
              <a:ext cx="43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top </a:t>
              </a:r>
            </a:p>
          </p:txBody>
        </p:sp>
      </p:grpSp>
      <p:sp useBgFill="1">
        <p:nvSpPr>
          <p:cNvPr id="9412" name="Rectangle 196"/>
          <p:cNvSpPr>
            <a:spLocks noChangeArrowheads="1"/>
          </p:cNvSpPr>
          <p:nvPr/>
        </p:nvSpPr>
        <p:spPr bwMode="auto">
          <a:xfrm>
            <a:off x="2006600" y="5141913"/>
            <a:ext cx="1219200" cy="417512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 useBgFill="1">
        <p:nvSpPr>
          <p:cNvPr id="9413" name="Rectangle 197"/>
          <p:cNvSpPr>
            <a:spLocks noChangeArrowheads="1"/>
          </p:cNvSpPr>
          <p:nvPr/>
        </p:nvSpPr>
        <p:spPr bwMode="auto">
          <a:xfrm>
            <a:off x="2006600" y="4762501"/>
            <a:ext cx="1219200" cy="417513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 useBgFill="1">
        <p:nvSpPr>
          <p:cNvPr id="9414" name="Rectangle 198"/>
          <p:cNvSpPr>
            <a:spLocks noChangeArrowheads="1"/>
          </p:cNvSpPr>
          <p:nvPr/>
        </p:nvSpPr>
        <p:spPr bwMode="auto">
          <a:xfrm>
            <a:off x="2006600" y="4381501"/>
            <a:ext cx="1219200" cy="417513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9415" name="Group 199"/>
          <p:cNvGrpSpPr>
            <a:grpSpLocks/>
          </p:cNvGrpSpPr>
          <p:nvPr/>
        </p:nvGrpSpPr>
        <p:grpSpPr bwMode="auto">
          <a:xfrm>
            <a:off x="2082800" y="3884613"/>
            <a:ext cx="1143000" cy="457200"/>
            <a:chOff x="96" y="2784"/>
            <a:chExt cx="720" cy="288"/>
          </a:xfrm>
        </p:grpSpPr>
        <p:sp>
          <p:nvSpPr>
            <p:cNvPr id="9416" name="Line 200"/>
            <p:cNvSpPr>
              <a:spLocks noChangeShapeType="1"/>
            </p:cNvSpPr>
            <p:nvPr/>
          </p:nvSpPr>
          <p:spPr bwMode="auto">
            <a:xfrm>
              <a:off x="144" y="3072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17" name="Text Box 201"/>
            <p:cNvSpPr txBox="1">
              <a:spLocks noChangeArrowheads="1"/>
            </p:cNvSpPr>
            <p:nvPr/>
          </p:nvSpPr>
          <p:spPr bwMode="auto">
            <a:xfrm>
              <a:off x="96" y="2784"/>
              <a:ext cx="43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top </a:t>
              </a:r>
            </a:p>
          </p:txBody>
        </p:sp>
      </p:grpSp>
      <p:grpSp>
        <p:nvGrpSpPr>
          <p:cNvPr id="9418" name="Group 202"/>
          <p:cNvGrpSpPr>
            <a:grpSpLocks/>
          </p:cNvGrpSpPr>
          <p:nvPr/>
        </p:nvGrpSpPr>
        <p:grpSpPr bwMode="auto">
          <a:xfrm>
            <a:off x="2082800" y="4265613"/>
            <a:ext cx="1143000" cy="457200"/>
            <a:chOff x="96" y="2784"/>
            <a:chExt cx="720" cy="288"/>
          </a:xfrm>
        </p:grpSpPr>
        <p:sp>
          <p:nvSpPr>
            <p:cNvPr id="9419" name="Line 203"/>
            <p:cNvSpPr>
              <a:spLocks noChangeShapeType="1"/>
            </p:cNvSpPr>
            <p:nvPr/>
          </p:nvSpPr>
          <p:spPr bwMode="auto">
            <a:xfrm>
              <a:off x="144" y="3072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0" name="Text Box 204"/>
            <p:cNvSpPr txBox="1">
              <a:spLocks noChangeArrowheads="1"/>
            </p:cNvSpPr>
            <p:nvPr/>
          </p:nvSpPr>
          <p:spPr bwMode="auto">
            <a:xfrm>
              <a:off x="96" y="2784"/>
              <a:ext cx="43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top </a:t>
              </a:r>
            </a:p>
          </p:txBody>
        </p:sp>
      </p:grpSp>
      <p:sp useBgFill="1">
        <p:nvSpPr>
          <p:cNvPr id="9421" name="Rectangle 205"/>
          <p:cNvSpPr>
            <a:spLocks noChangeArrowheads="1"/>
          </p:cNvSpPr>
          <p:nvPr/>
        </p:nvSpPr>
        <p:spPr bwMode="auto">
          <a:xfrm>
            <a:off x="2006600" y="3960813"/>
            <a:ext cx="1219200" cy="417512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 useBgFill="1">
        <p:nvSpPr>
          <p:cNvPr id="9422" name="Rectangle 206"/>
          <p:cNvSpPr>
            <a:spLocks noChangeArrowheads="1"/>
          </p:cNvSpPr>
          <p:nvPr/>
        </p:nvSpPr>
        <p:spPr bwMode="auto">
          <a:xfrm>
            <a:off x="1997075" y="4341813"/>
            <a:ext cx="1219200" cy="417512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9423" name="Group 207"/>
          <p:cNvGrpSpPr>
            <a:grpSpLocks/>
          </p:cNvGrpSpPr>
          <p:nvPr/>
        </p:nvGrpSpPr>
        <p:grpSpPr bwMode="auto">
          <a:xfrm>
            <a:off x="2082800" y="3884613"/>
            <a:ext cx="1143000" cy="457200"/>
            <a:chOff x="96" y="2784"/>
            <a:chExt cx="720" cy="288"/>
          </a:xfrm>
        </p:grpSpPr>
        <p:sp useBgFill="1">
          <p:nvSpPr>
            <p:cNvPr id="9424" name="Line 208"/>
            <p:cNvSpPr>
              <a:spLocks noChangeShapeType="1"/>
            </p:cNvSpPr>
            <p:nvPr/>
          </p:nvSpPr>
          <p:spPr bwMode="auto">
            <a:xfrm>
              <a:off x="144" y="3072"/>
              <a:ext cx="672" cy="0"/>
            </a:xfrm>
            <a:prstGeom prst="line">
              <a:avLst/>
            </a:prstGeom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9425" name="Text Box 209"/>
            <p:cNvSpPr txBox="1">
              <a:spLocks noChangeArrowheads="1"/>
            </p:cNvSpPr>
            <p:nvPr/>
          </p:nvSpPr>
          <p:spPr bwMode="auto">
            <a:xfrm>
              <a:off x="96" y="2784"/>
              <a:ext cx="431" cy="288"/>
            </a:xfrm>
            <a:prstGeom prst="rect">
              <a:avLst/>
            </a:prstGeom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top </a:t>
              </a:r>
            </a:p>
          </p:txBody>
        </p:sp>
      </p:grpSp>
      <p:sp useBgFill="1">
        <p:nvSpPr>
          <p:cNvPr id="9426" name="Rectangle 210"/>
          <p:cNvSpPr>
            <a:spLocks noChangeArrowheads="1"/>
          </p:cNvSpPr>
          <p:nvPr/>
        </p:nvSpPr>
        <p:spPr bwMode="auto">
          <a:xfrm>
            <a:off x="2006600" y="4000501"/>
            <a:ext cx="1219200" cy="417513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9427" name="Group 211"/>
          <p:cNvGrpSpPr>
            <a:grpSpLocks/>
          </p:cNvGrpSpPr>
          <p:nvPr/>
        </p:nvGrpSpPr>
        <p:grpSpPr bwMode="auto">
          <a:xfrm>
            <a:off x="2082800" y="4265613"/>
            <a:ext cx="1143000" cy="457200"/>
            <a:chOff x="96" y="2784"/>
            <a:chExt cx="720" cy="288"/>
          </a:xfrm>
        </p:grpSpPr>
        <p:sp>
          <p:nvSpPr>
            <p:cNvPr id="9428" name="Line 212"/>
            <p:cNvSpPr>
              <a:spLocks noChangeShapeType="1"/>
            </p:cNvSpPr>
            <p:nvPr/>
          </p:nvSpPr>
          <p:spPr bwMode="auto">
            <a:xfrm>
              <a:off x="144" y="3072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9" name="Text Box 213"/>
            <p:cNvSpPr txBox="1">
              <a:spLocks noChangeArrowheads="1"/>
            </p:cNvSpPr>
            <p:nvPr/>
          </p:nvSpPr>
          <p:spPr bwMode="auto">
            <a:xfrm>
              <a:off x="96" y="2784"/>
              <a:ext cx="43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top </a:t>
              </a:r>
            </a:p>
          </p:txBody>
        </p:sp>
      </p:grpSp>
      <p:grpSp>
        <p:nvGrpSpPr>
          <p:cNvPr id="9430" name="Group 214"/>
          <p:cNvGrpSpPr>
            <a:grpSpLocks/>
          </p:cNvGrpSpPr>
          <p:nvPr/>
        </p:nvGrpSpPr>
        <p:grpSpPr bwMode="auto">
          <a:xfrm>
            <a:off x="2082800" y="4646613"/>
            <a:ext cx="1143000" cy="457200"/>
            <a:chOff x="96" y="2784"/>
            <a:chExt cx="720" cy="288"/>
          </a:xfrm>
        </p:grpSpPr>
        <p:sp>
          <p:nvSpPr>
            <p:cNvPr id="9431" name="Line 215"/>
            <p:cNvSpPr>
              <a:spLocks noChangeShapeType="1"/>
            </p:cNvSpPr>
            <p:nvPr/>
          </p:nvSpPr>
          <p:spPr bwMode="auto">
            <a:xfrm>
              <a:off x="144" y="3072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32" name="Text Box 216"/>
            <p:cNvSpPr txBox="1">
              <a:spLocks noChangeArrowheads="1"/>
            </p:cNvSpPr>
            <p:nvPr/>
          </p:nvSpPr>
          <p:spPr bwMode="auto">
            <a:xfrm>
              <a:off x="96" y="2784"/>
              <a:ext cx="43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top </a:t>
              </a:r>
            </a:p>
          </p:txBody>
        </p:sp>
      </p:grpSp>
      <p:sp useBgFill="1">
        <p:nvSpPr>
          <p:cNvPr id="9433" name="Rectangle 217"/>
          <p:cNvSpPr>
            <a:spLocks noChangeArrowheads="1"/>
          </p:cNvSpPr>
          <p:nvPr/>
        </p:nvSpPr>
        <p:spPr bwMode="auto">
          <a:xfrm>
            <a:off x="1992313" y="4341813"/>
            <a:ext cx="1219200" cy="417512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9434" name="Group 218"/>
          <p:cNvGrpSpPr>
            <a:grpSpLocks/>
          </p:cNvGrpSpPr>
          <p:nvPr/>
        </p:nvGrpSpPr>
        <p:grpSpPr bwMode="auto">
          <a:xfrm>
            <a:off x="2082800" y="5027613"/>
            <a:ext cx="1143000" cy="457200"/>
            <a:chOff x="96" y="2784"/>
            <a:chExt cx="720" cy="288"/>
          </a:xfrm>
        </p:grpSpPr>
        <p:sp>
          <p:nvSpPr>
            <p:cNvPr id="9435" name="Line 219"/>
            <p:cNvSpPr>
              <a:spLocks noChangeShapeType="1"/>
            </p:cNvSpPr>
            <p:nvPr/>
          </p:nvSpPr>
          <p:spPr bwMode="auto">
            <a:xfrm>
              <a:off x="144" y="3072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36" name="Text Box 220"/>
            <p:cNvSpPr txBox="1">
              <a:spLocks noChangeArrowheads="1"/>
            </p:cNvSpPr>
            <p:nvPr/>
          </p:nvSpPr>
          <p:spPr bwMode="auto">
            <a:xfrm>
              <a:off x="96" y="2784"/>
              <a:ext cx="43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top </a:t>
              </a:r>
            </a:p>
          </p:txBody>
        </p:sp>
      </p:grpSp>
      <p:sp useBgFill="1">
        <p:nvSpPr>
          <p:cNvPr id="9437" name="Rectangle 221"/>
          <p:cNvSpPr>
            <a:spLocks noChangeArrowheads="1"/>
          </p:cNvSpPr>
          <p:nvPr/>
        </p:nvSpPr>
        <p:spPr bwMode="auto">
          <a:xfrm>
            <a:off x="2006600" y="4722813"/>
            <a:ext cx="1219200" cy="417512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 useBgFill="1">
        <p:nvSpPr>
          <p:cNvPr id="9438" name="Rectangle 222"/>
          <p:cNvSpPr>
            <a:spLocks noChangeArrowheads="1"/>
          </p:cNvSpPr>
          <p:nvPr/>
        </p:nvSpPr>
        <p:spPr bwMode="auto">
          <a:xfrm>
            <a:off x="4159250" y="4608514"/>
            <a:ext cx="228600" cy="301625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39" name="Text Box 223"/>
          <p:cNvSpPr txBox="1">
            <a:spLocks noChangeArrowheads="1"/>
          </p:cNvSpPr>
          <p:nvPr/>
        </p:nvSpPr>
        <p:spPr bwMode="auto">
          <a:xfrm>
            <a:off x="4083050" y="4468813"/>
            <a:ext cx="438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 [ </a:t>
            </a:r>
          </a:p>
        </p:txBody>
      </p:sp>
      <p:sp useBgFill="1">
        <p:nvSpPr>
          <p:cNvPr id="9440" name="Rectangle 224"/>
          <p:cNvSpPr>
            <a:spLocks noChangeArrowheads="1"/>
          </p:cNvSpPr>
          <p:nvPr/>
        </p:nvSpPr>
        <p:spPr bwMode="auto">
          <a:xfrm>
            <a:off x="4152900" y="4598989"/>
            <a:ext cx="228600" cy="301625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 useBgFill="1">
        <p:nvSpPr>
          <p:cNvPr id="9441" name="Rectangle 225"/>
          <p:cNvSpPr>
            <a:spLocks noChangeArrowheads="1"/>
          </p:cNvSpPr>
          <p:nvPr/>
        </p:nvSpPr>
        <p:spPr bwMode="auto">
          <a:xfrm>
            <a:off x="4159250" y="4973639"/>
            <a:ext cx="228600" cy="301625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 useBgFill="1">
        <p:nvSpPr>
          <p:cNvPr id="9442" name="Rectangle 226"/>
          <p:cNvSpPr>
            <a:spLocks noChangeArrowheads="1"/>
          </p:cNvSpPr>
          <p:nvPr/>
        </p:nvSpPr>
        <p:spPr bwMode="auto">
          <a:xfrm>
            <a:off x="4159250" y="5370514"/>
            <a:ext cx="228600" cy="301625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43" name="Rectangle 227"/>
          <p:cNvSpPr>
            <a:spLocks noChangeArrowheads="1"/>
          </p:cNvSpPr>
          <p:nvPr/>
        </p:nvSpPr>
        <p:spPr bwMode="auto">
          <a:xfrm>
            <a:off x="5448301" y="3070226"/>
            <a:ext cx="4043363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lnSpc>
                <a:spcPct val="90000"/>
              </a:lnSpc>
            </a:pPr>
            <a:r>
              <a:rPr lang="zh-CN" altLang="en-US">
                <a:latin typeface="华文中宋" pitchFamily="2" charset="-122"/>
                <a:ea typeface="华文中宋" pitchFamily="2" charset="-122"/>
              </a:rPr>
              <a:t>可能出现的</a:t>
            </a:r>
            <a:r>
              <a:rPr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中宋" pitchFamily="2" charset="-122"/>
                <a:ea typeface="华文中宋" pitchFamily="2" charset="-122"/>
              </a:rPr>
              <a:t>不匹配</a:t>
            </a:r>
            <a:r>
              <a:rPr lang="zh-CN" altLang="en-US">
                <a:latin typeface="华文中宋" pitchFamily="2" charset="-122"/>
                <a:ea typeface="华文中宋" pitchFamily="2" charset="-122"/>
              </a:rPr>
              <a:t>的情况： </a:t>
            </a:r>
          </a:p>
        </p:txBody>
      </p:sp>
      <p:sp>
        <p:nvSpPr>
          <p:cNvPr id="9444" name="Rectangle 228"/>
          <p:cNvSpPr>
            <a:spLocks noChangeArrowheads="1"/>
          </p:cNvSpPr>
          <p:nvPr/>
        </p:nvSpPr>
        <p:spPr bwMode="auto">
          <a:xfrm>
            <a:off x="5465763" y="3756025"/>
            <a:ext cx="4889500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zh-CN" altLang="en-US"/>
              <a:t>盼来的右括号</a:t>
            </a:r>
            <a:r>
              <a:rPr lang="zh-CN" altLang="en-US">
                <a:solidFill>
                  <a:srgbClr val="0000FF"/>
                </a:solidFill>
              </a:rPr>
              <a:t>不是所“期待”</a:t>
            </a:r>
            <a:r>
              <a:rPr lang="zh-CN" altLang="en-US"/>
              <a:t>的； </a:t>
            </a:r>
          </a:p>
        </p:txBody>
      </p:sp>
      <p:sp>
        <p:nvSpPr>
          <p:cNvPr id="9445" name="Rectangle 229"/>
          <p:cNvSpPr>
            <a:spLocks noChangeArrowheads="1"/>
          </p:cNvSpPr>
          <p:nvPr/>
        </p:nvSpPr>
        <p:spPr bwMode="auto">
          <a:xfrm>
            <a:off x="5459413" y="4365626"/>
            <a:ext cx="3598862" cy="792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zh-CN" altLang="en-US"/>
              <a:t>到来的是</a:t>
            </a:r>
            <a:r>
              <a:rPr lang="zh-CN" altLang="en-US">
                <a:solidFill>
                  <a:srgbClr val="0000FF"/>
                </a:solidFill>
              </a:rPr>
              <a:t>“不速之客”  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zh-CN" altLang="en-US">
                <a:solidFill>
                  <a:srgbClr val="0000FF"/>
                </a:solidFill>
              </a:rPr>
              <a:t>              （</a:t>
            </a:r>
            <a:r>
              <a:rPr lang="zh-CN" altLang="en-US">
                <a:solidFill>
                  <a:srgbClr val="0000FF"/>
                </a:solidFill>
                <a:ea typeface="华文新魏" pitchFamily="2" charset="-122"/>
              </a:rPr>
              <a:t>右括号多</a:t>
            </a:r>
            <a:r>
              <a:rPr lang="zh-CN" altLang="en-US">
                <a:solidFill>
                  <a:srgbClr val="0000FF"/>
                </a:solidFill>
              </a:rPr>
              <a:t>）</a:t>
            </a:r>
            <a:r>
              <a:rPr lang="zh-CN" altLang="en-US"/>
              <a:t>； </a:t>
            </a:r>
          </a:p>
        </p:txBody>
      </p:sp>
      <p:sp>
        <p:nvSpPr>
          <p:cNvPr id="9446" name="Rectangle 230"/>
          <p:cNvSpPr>
            <a:spLocks noChangeArrowheads="1"/>
          </p:cNvSpPr>
          <p:nvPr/>
        </p:nvSpPr>
        <p:spPr bwMode="auto">
          <a:xfrm>
            <a:off x="5457826" y="5373688"/>
            <a:ext cx="5040313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zh-CN" altLang="en-US"/>
              <a:t>到结束也未盼来</a:t>
            </a:r>
            <a:r>
              <a:rPr lang="zh-CN" altLang="en-US">
                <a:solidFill>
                  <a:srgbClr val="0000FF"/>
                </a:solidFill>
              </a:rPr>
              <a:t>所“期待”</a:t>
            </a:r>
            <a:r>
              <a:rPr lang="zh-CN" altLang="en-US"/>
              <a:t>的括号 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zh-CN" altLang="en-US"/>
              <a:t>                             （</a:t>
            </a:r>
            <a:r>
              <a:rPr lang="zh-CN" altLang="en-US">
                <a:solidFill>
                  <a:srgbClr val="0000FF"/>
                </a:solidFill>
                <a:ea typeface="华文新魏" pitchFamily="2" charset="-122"/>
              </a:rPr>
              <a:t>左括号多</a:t>
            </a:r>
            <a:r>
              <a:rPr lang="zh-CN" altLang="en-US"/>
              <a:t>）。 </a:t>
            </a:r>
          </a:p>
        </p:txBody>
      </p:sp>
    </p:spTree>
  </p:cSld>
  <p:clrMapOvr>
    <a:masterClrMapping/>
  </p:clrMapOvr>
  <p:transition spd="slow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9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9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4" dur="500"/>
                                        <p:tgtEl>
                                          <p:spTgt spid="9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9" dur="500"/>
                                        <p:tgtEl>
                                          <p:spTgt spid="9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9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9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2" dur="500"/>
                                        <p:tgtEl>
                                          <p:spTgt spid="9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7" dur="500"/>
                                        <p:tgtEl>
                                          <p:spTgt spid="9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9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9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0" dur="500"/>
                                        <p:tgtEl>
                                          <p:spTgt spid="9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5" dur="500"/>
                                        <p:tgtEl>
                                          <p:spTgt spid="9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9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000"/>
                            </p:stCondLst>
                            <p:childTnLst>
                              <p:par>
                                <p:cTn id="8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9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88" dur="500"/>
                                        <p:tgtEl>
                                          <p:spTgt spid="9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93" dur="500"/>
                                        <p:tgtEl>
                                          <p:spTgt spid="9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9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000"/>
                            </p:stCondLst>
                            <p:childTnLst>
                              <p:par>
                                <p:cTn id="9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9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06" dur="500"/>
                                        <p:tgtEl>
                                          <p:spTgt spid="9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11" dur="500"/>
                                        <p:tgtEl>
                                          <p:spTgt spid="9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9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9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4" dur="500"/>
                                        <p:tgtEl>
                                          <p:spTgt spid="9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9" dur="500"/>
                                        <p:tgtEl>
                                          <p:spTgt spid="9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500"/>
                            </p:stCondLst>
                            <p:childTnLst>
                              <p:par>
                                <p:cTn id="1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9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1000"/>
                            </p:stCondLst>
                            <p:childTnLst>
                              <p:par>
                                <p:cTn id="1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7" dur="500"/>
                                        <p:tgtEl>
                                          <p:spTgt spid="9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42" dur="500"/>
                                        <p:tgtEl>
                                          <p:spTgt spid="9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47" dur="500"/>
                                        <p:tgtEl>
                                          <p:spTgt spid="9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500"/>
                            </p:stCondLst>
                            <p:childTnLst>
                              <p:par>
                                <p:cTn id="1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1" dur="500"/>
                                        <p:tgtEl>
                                          <p:spTgt spid="9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1000"/>
                            </p:stCondLst>
                            <p:childTnLst>
                              <p:par>
                                <p:cTn id="15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5" dur="500"/>
                                        <p:tgtEl>
                                          <p:spTgt spid="9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60" dur="500"/>
                                        <p:tgtEl>
                                          <p:spTgt spid="9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65" dur="500"/>
                                        <p:tgtEl>
                                          <p:spTgt spid="9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500"/>
                            </p:stCondLst>
                            <p:childTnLst>
                              <p:par>
                                <p:cTn id="16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9" dur="500"/>
                                        <p:tgtEl>
                                          <p:spTgt spid="9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1000"/>
                            </p:stCondLst>
                            <p:childTnLst>
                              <p:par>
                                <p:cTn id="17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3" dur="500"/>
                                        <p:tgtEl>
                                          <p:spTgt spid="9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1000"/>
                                        <p:tgtEl>
                                          <p:spTgt spid="9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1000"/>
                                        <p:tgtEl>
                                          <p:spTgt spid="94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8" dur="1000"/>
                                        <p:tgtEl>
                                          <p:spTgt spid="94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1000"/>
                                        <p:tgtEl>
                                          <p:spTgt spid="94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8" dur="1000"/>
                                        <p:tgtEl>
                                          <p:spTgt spid="94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3" dur="1000"/>
                                        <p:tgtEl>
                                          <p:spTgt spid="94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75" grpId="0" animBg="1"/>
      <p:bldP spid="9376" grpId="0" animBg="1"/>
      <p:bldP spid="9377" grpId="0" animBg="1"/>
      <p:bldP spid="9378" grpId="0" animBg="1"/>
      <p:bldP spid="9379" grpId="0" animBg="1"/>
      <p:bldP spid="9380" grpId="0" animBg="1"/>
      <p:bldP spid="9381" grpId="0" animBg="1"/>
      <p:bldP spid="9382" grpId="0" animBg="1"/>
      <p:bldP spid="9384" grpId="0" autoUpdateAnimBg="0"/>
      <p:bldP spid="9386" grpId="0" autoUpdateAnimBg="0"/>
      <p:bldP spid="9387" grpId="0" autoUpdateAnimBg="0"/>
      <p:bldP spid="9403" grpId="0" autoUpdateAnimBg="0"/>
      <p:bldP spid="9404" grpId="0" autoUpdateAnimBg="0"/>
      <p:bldP spid="9405" grpId="0" autoUpdateAnimBg="0"/>
      <p:bldP spid="9412" grpId="0" animBg="1"/>
      <p:bldP spid="9413" grpId="0" animBg="1"/>
      <p:bldP spid="9414" grpId="0" animBg="1"/>
      <p:bldP spid="9421" grpId="0" animBg="1"/>
      <p:bldP spid="9422" grpId="0" animBg="1"/>
      <p:bldP spid="9426" grpId="0" animBg="1"/>
      <p:bldP spid="9433" grpId="0" animBg="1"/>
      <p:bldP spid="9437" grpId="0" animBg="1"/>
      <p:bldP spid="9438" grpId="0" animBg="1"/>
      <p:bldP spid="9439" grpId="0" autoUpdateAnimBg="0"/>
      <p:bldP spid="9440" grpId="0" animBg="1"/>
      <p:bldP spid="9441" grpId="0" animBg="1"/>
      <p:bldP spid="9442" grpId="0" animBg="1"/>
      <p:bldP spid="9443" grpId="0" autoUpdateAnimBg="0"/>
      <p:bldP spid="9444" grpId="0" build="p" autoUpdateAnimBg="0"/>
      <p:bldP spid="9445" grpId="0" build="p" autoUpdateAnimBg="0"/>
      <p:bldP spid="9446" grpId="0" build="p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6" name="Text Box 4"/>
          <p:cNvSpPr txBox="1">
            <a:spLocks noChangeArrowheads="1"/>
          </p:cNvSpPr>
          <p:nvPr/>
        </p:nvSpPr>
        <p:spPr bwMode="auto">
          <a:xfrm>
            <a:off x="2724151" y="593725"/>
            <a:ext cx="29384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zh-CN">
                <a:ea typeface="华文中宋" pitchFamily="2" charset="-122"/>
              </a:rPr>
              <a:t>算法的设计思想：</a:t>
            </a:r>
            <a:endParaRPr lang="zh-CN" altLang="en-US">
              <a:latin typeface="楷体_GB2312" pitchFamily="49" charset="-122"/>
              <a:ea typeface="华文中宋" pitchFamily="2" charset="-122"/>
            </a:endParaRPr>
          </a:p>
        </p:txBody>
      </p:sp>
      <p:sp>
        <p:nvSpPr>
          <p:cNvPr id="84997" name="Text Box 5"/>
          <p:cNvSpPr txBox="1">
            <a:spLocks noChangeArrowheads="1"/>
          </p:cNvSpPr>
          <p:nvPr/>
        </p:nvSpPr>
        <p:spPr bwMode="auto">
          <a:xfrm>
            <a:off x="2784475" y="1225550"/>
            <a:ext cx="41671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zh-CN"/>
              <a:t>1</a:t>
            </a:r>
            <a:r>
              <a:rPr lang="zh-CN" altLang="zh-CN">
                <a:latin typeface="楷体_GB2312" pitchFamily="49" charset="-122"/>
              </a:rPr>
              <a:t>）凡出现</a:t>
            </a:r>
            <a:r>
              <a:rPr lang="zh-CN" altLang="zh-CN">
                <a:solidFill>
                  <a:srgbClr val="0000FF"/>
                </a:solidFill>
                <a:latin typeface="楷体_GB2312" pitchFamily="49" charset="-122"/>
              </a:rPr>
              <a:t>左括号</a:t>
            </a:r>
            <a:r>
              <a:rPr lang="zh-CN" altLang="zh-CN">
                <a:latin typeface="楷体_GB2312" pitchFamily="49" charset="-122"/>
              </a:rPr>
              <a:t>，则</a:t>
            </a:r>
            <a:r>
              <a:rPr lang="zh-CN" altLang="zh-CN">
                <a:solidFill>
                  <a:srgbClr val="0000FF"/>
                </a:solidFill>
                <a:latin typeface="楷体_GB2312" pitchFamily="49" charset="-122"/>
              </a:rPr>
              <a:t>进栈</a:t>
            </a:r>
            <a:r>
              <a:rPr lang="zh-CN" altLang="zh-CN">
                <a:latin typeface="楷体_GB2312" pitchFamily="49" charset="-122"/>
              </a:rPr>
              <a:t>；</a:t>
            </a:r>
            <a:r>
              <a:rPr lang="zh-CN" altLang="en-US">
                <a:latin typeface="楷体_GB2312" pitchFamily="49" charset="-122"/>
              </a:rPr>
              <a:t> </a:t>
            </a:r>
            <a:endParaRPr lang="zh-CN" altLang="zh-CN">
              <a:latin typeface="楷体_GB2312" pitchFamily="49" charset="-122"/>
            </a:endParaRPr>
          </a:p>
        </p:txBody>
      </p:sp>
      <p:sp>
        <p:nvSpPr>
          <p:cNvPr id="84998" name="Text Box 6"/>
          <p:cNvSpPr txBox="1">
            <a:spLocks noChangeArrowheads="1"/>
          </p:cNvSpPr>
          <p:nvPr/>
        </p:nvSpPr>
        <p:spPr bwMode="auto">
          <a:xfrm>
            <a:off x="2782888" y="1728789"/>
            <a:ext cx="6337300" cy="2720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zh-CN"/>
              <a:t>2</a:t>
            </a:r>
            <a:r>
              <a:rPr lang="zh-CN" altLang="zh-CN">
                <a:latin typeface="楷体_GB2312" pitchFamily="49" charset="-122"/>
              </a:rPr>
              <a:t>）凡出现右括号，首先检查栈是否空。</a:t>
            </a:r>
            <a:r>
              <a:rPr lang="zh-CN" altLang="en-US">
                <a:latin typeface="楷体_GB2312" pitchFamily="49" charset="-122"/>
              </a:rPr>
              <a:t> </a:t>
            </a:r>
          </a:p>
          <a:p>
            <a:pPr>
              <a:lnSpc>
                <a:spcPct val="140000"/>
              </a:lnSpc>
            </a:pPr>
            <a:r>
              <a:rPr lang="zh-CN" altLang="en-US">
                <a:latin typeface="楷体_GB2312" pitchFamily="49" charset="-122"/>
              </a:rPr>
              <a:t>  </a:t>
            </a:r>
            <a:r>
              <a:rPr lang="zh-CN" altLang="zh-CN">
                <a:latin typeface="楷体_GB2312" pitchFamily="49" charset="-122"/>
              </a:rPr>
              <a:t> 若栈空，则表明该</a:t>
            </a:r>
            <a:r>
              <a:rPr lang="zh-CN" altLang="zh-CN">
                <a:latin typeface="Times New Roman"/>
              </a:rPr>
              <a:t>“</a:t>
            </a:r>
            <a:r>
              <a:rPr lang="zh-CN" altLang="zh-CN">
                <a:latin typeface="楷体_GB2312" pitchFamily="49" charset="-122"/>
              </a:rPr>
              <a:t>右括号</a:t>
            </a:r>
            <a:r>
              <a:rPr lang="zh-CN" altLang="zh-CN">
                <a:latin typeface="Times New Roman"/>
              </a:rPr>
              <a:t>”</a:t>
            </a:r>
            <a:r>
              <a:rPr lang="zh-CN" altLang="zh-CN">
                <a:latin typeface="楷体_GB2312" pitchFamily="49" charset="-122"/>
              </a:rPr>
              <a:t>多余；</a:t>
            </a:r>
            <a:r>
              <a:rPr lang="zh-CN" altLang="en-US">
                <a:latin typeface="楷体_GB2312" pitchFamily="49" charset="-122"/>
              </a:rPr>
              <a:t> </a:t>
            </a:r>
          </a:p>
          <a:p>
            <a:pPr>
              <a:lnSpc>
                <a:spcPct val="140000"/>
              </a:lnSpc>
            </a:pPr>
            <a:r>
              <a:rPr lang="zh-CN" altLang="en-US">
                <a:latin typeface="楷体_GB2312" pitchFamily="49" charset="-122"/>
              </a:rPr>
              <a:t>   </a:t>
            </a:r>
            <a:r>
              <a:rPr lang="zh-CN" altLang="zh-CN">
                <a:latin typeface="楷体_GB2312" pitchFamily="49" charset="-122"/>
              </a:rPr>
              <a:t>否则和栈顶元素比较，</a:t>
            </a:r>
            <a:r>
              <a:rPr lang="zh-CN" altLang="en-US">
                <a:latin typeface="楷体_GB2312" pitchFamily="49" charset="-122"/>
              </a:rPr>
              <a:t> </a:t>
            </a:r>
          </a:p>
          <a:p>
            <a:pPr>
              <a:lnSpc>
                <a:spcPct val="160000"/>
              </a:lnSpc>
            </a:pPr>
            <a:r>
              <a:rPr lang="zh-CN" altLang="zh-CN">
                <a:latin typeface="楷体_GB2312" pitchFamily="49" charset="-122"/>
              </a:rPr>
              <a:t>     若相匹配，则</a:t>
            </a:r>
            <a:r>
              <a:rPr lang="zh-CN" altLang="zh-CN">
                <a:latin typeface="Times New Roman"/>
              </a:rPr>
              <a:t>“</a:t>
            </a:r>
            <a:r>
              <a:rPr lang="zh-CN" altLang="zh-CN">
                <a:latin typeface="楷体_GB2312" pitchFamily="49" charset="-122"/>
              </a:rPr>
              <a:t>左括号出栈</a:t>
            </a:r>
            <a:r>
              <a:rPr lang="zh-CN" altLang="zh-CN">
                <a:latin typeface="Times New Roman"/>
              </a:rPr>
              <a:t>”</a:t>
            </a:r>
            <a:r>
              <a:rPr lang="zh-CN" altLang="zh-CN">
                <a:latin typeface="楷体_GB2312" pitchFamily="49" charset="-122"/>
              </a:rPr>
              <a:t>，</a:t>
            </a:r>
            <a:r>
              <a:rPr lang="zh-CN" altLang="en-US">
                <a:latin typeface="楷体_GB2312" pitchFamily="49" charset="-122"/>
              </a:rPr>
              <a:t> </a:t>
            </a:r>
          </a:p>
          <a:p>
            <a:pPr>
              <a:lnSpc>
                <a:spcPct val="140000"/>
              </a:lnSpc>
            </a:pPr>
            <a:r>
              <a:rPr lang="zh-CN" altLang="zh-CN">
                <a:latin typeface="楷体_GB2312" pitchFamily="49" charset="-122"/>
              </a:rPr>
              <a:t>     否则表明不匹配。</a:t>
            </a:r>
            <a:r>
              <a:rPr lang="zh-CN" altLang="en-US">
                <a:latin typeface="楷体_GB2312" pitchFamily="49" charset="-122"/>
              </a:rPr>
              <a:t> </a:t>
            </a:r>
            <a:endParaRPr lang="zh-CN" altLang="zh-CN">
              <a:latin typeface="楷体_GB2312" pitchFamily="49" charset="-122"/>
            </a:endParaRPr>
          </a:p>
        </p:txBody>
      </p:sp>
      <p:sp>
        <p:nvSpPr>
          <p:cNvPr id="84999" name="Text Box 7"/>
          <p:cNvSpPr txBox="1">
            <a:spLocks noChangeArrowheads="1"/>
          </p:cNvSpPr>
          <p:nvPr/>
        </p:nvSpPr>
        <p:spPr bwMode="auto">
          <a:xfrm>
            <a:off x="2779713" y="4495800"/>
            <a:ext cx="5474576" cy="16151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zh-CN"/>
              <a:t>3</a:t>
            </a:r>
            <a:r>
              <a:rPr lang="zh-CN" altLang="zh-CN">
                <a:latin typeface="楷体_GB2312" pitchFamily="49" charset="-122"/>
              </a:rPr>
              <a:t>）表达式检验结束时，</a:t>
            </a:r>
            <a:r>
              <a:rPr lang="zh-CN" altLang="en-US">
                <a:latin typeface="楷体_GB2312" pitchFamily="49" charset="-122"/>
              </a:rPr>
              <a:t> </a:t>
            </a:r>
          </a:p>
          <a:p>
            <a:pPr>
              <a:lnSpc>
                <a:spcPct val="140000"/>
              </a:lnSpc>
            </a:pPr>
            <a:r>
              <a:rPr lang="zh-CN" altLang="zh-CN">
                <a:latin typeface="楷体_GB2312" pitchFamily="49" charset="-122"/>
              </a:rPr>
              <a:t>   若栈空，则表明表达式中匹配正确，</a:t>
            </a:r>
            <a:r>
              <a:rPr lang="zh-CN" altLang="en-US">
                <a:latin typeface="楷体_GB2312" pitchFamily="49" charset="-122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zh-CN" altLang="zh-CN">
                <a:latin typeface="楷体_GB2312" pitchFamily="49" charset="-122"/>
              </a:rPr>
              <a:t>   否则表明</a:t>
            </a:r>
            <a:r>
              <a:rPr lang="zh-CN" altLang="zh-CN">
                <a:latin typeface="Times New Roman"/>
              </a:rPr>
              <a:t>“</a:t>
            </a:r>
            <a:r>
              <a:rPr lang="zh-CN" altLang="zh-CN">
                <a:latin typeface="楷体_GB2312" pitchFamily="49" charset="-122"/>
              </a:rPr>
              <a:t>左括号</a:t>
            </a:r>
            <a:r>
              <a:rPr lang="zh-CN" altLang="zh-CN">
                <a:latin typeface="Times New Roman"/>
              </a:rPr>
              <a:t>”</a:t>
            </a:r>
            <a:r>
              <a:rPr lang="zh-CN" altLang="zh-CN">
                <a:latin typeface="楷体_GB2312" pitchFamily="49" charset="-122"/>
              </a:rPr>
              <a:t>有多余的。</a:t>
            </a:r>
            <a:r>
              <a:rPr lang="zh-CN" altLang="en-US">
                <a:latin typeface="楷体_GB2312" pitchFamily="49" charset="-122"/>
              </a:rPr>
              <a:t> </a:t>
            </a:r>
          </a:p>
        </p:txBody>
      </p:sp>
    </p:spTree>
  </p:cSld>
  <p:clrMapOvr>
    <a:masterClrMapping/>
  </p:clrMapOvr>
  <p:transition spd="slow"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4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49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49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4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49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49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7" grpId="0" autoUpdateAnimBg="0"/>
      <p:bldP spid="84998" grpId="0" autoUpdateAnimBg="0"/>
      <p:bldP spid="84999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7" name="Text Box 93"/>
          <p:cNvSpPr txBox="1">
            <a:spLocks noChangeArrowheads="1"/>
          </p:cNvSpPr>
          <p:nvPr/>
        </p:nvSpPr>
        <p:spPr bwMode="auto">
          <a:xfrm>
            <a:off x="2201863" y="457200"/>
            <a:ext cx="2698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</a:pPr>
            <a:r>
              <a:rPr kumimoji="0" lang="en-US" altLang="zh-CN">
                <a:ea typeface="华文中宋" pitchFamily="2" charset="-122"/>
              </a:rPr>
              <a:t>3.2.3   </a:t>
            </a:r>
            <a:r>
              <a:rPr kumimoji="0" lang="zh-CN" altLang="en-US">
                <a:ea typeface="华文中宋" pitchFamily="2" charset="-122"/>
              </a:rPr>
              <a:t>行编辑程序  </a:t>
            </a:r>
          </a:p>
        </p:txBody>
      </p:sp>
      <p:sp>
        <p:nvSpPr>
          <p:cNvPr id="11358" name="Text Box 94"/>
          <p:cNvSpPr txBox="1">
            <a:spLocks noChangeArrowheads="1"/>
          </p:cNvSpPr>
          <p:nvPr/>
        </p:nvSpPr>
        <p:spPr bwMode="auto">
          <a:xfrm>
            <a:off x="2176463" y="949325"/>
            <a:ext cx="7880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</a:pPr>
            <a:r>
              <a:rPr kumimoji="0"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功能：</a:t>
            </a:r>
            <a:r>
              <a:rPr kumimoji="0" lang="zh-CN" altLang="en-US"/>
              <a:t>接受用户从终端输入的数据并存入用户的数据区。</a:t>
            </a:r>
            <a:r>
              <a:rPr kumimoji="0" lang="zh-CN" altLang="en-US">
                <a:ea typeface="华文中宋" pitchFamily="2" charset="-122"/>
              </a:rPr>
              <a:t> </a:t>
            </a:r>
            <a:endParaRPr lang="zh-CN" altLang="en-US">
              <a:ea typeface="华文中宋" pitchFamily="2" charset="-122"/>
            </a:endParaRPr>
          </a:p>
        </p:txBody>
      </p:sp>
      <p:grpSp>
        <p:nvGrpSpPr>
          <p:cNvPr id="11362" name="Group 98"/>
          <p:cNvGrpSpPr>
            <a:grpSpLocks/>
          </p:cNvGrpSpPr>
          <p:nvPr/>
        </p:nvGrpSpPr>
        <p:grpSpPr bwMode="auto">
          <a:xfrm>
            <a:off x="7067550" y="4073525"/>
            <a:ext cx="1981200" cy="2057400"/>
            <a:chOff x="816" y="2016"/>
            <a:chExt cx="480" cy="1296"/>
          </a:xfrm>
        </p:grpSpPr>
        <p:sp>
          <p:nvSpPr>
            <p:cNvPr id="11363" name="Line 99"/>
            <p:cNvSpPr>
              <a:spLocks noChangeShapeType="1"/>
            </p:cNvSpPr>
            <p:nvPr/>
          </p:nvSpPr>
          <p:spPr bwMode="auto">
            <a:xfrm>
              <a:off x="816" y="2016"/>
              <a:ext cx="0" cy="12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64" name="Line 100"/>
            <p:cNvSpPr>
              <a:spLocks noChangeShapeType="1"/>
            </p:cNvSpPr>
            <p:nvPr/>
          </p:nvSpPr>
          <p:spPr bwMode="auto">
            <a:xfrm>
              <a:off x="1296" y="2016"/>
              <a:ext cx="0" cy="12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65" name="Line 101"/>
            <p:cNvSpPr>
              <a:spLocks noChangeShapeType="1"/>
            </p:cNvSpPr>
            <p:nvPr/>
          </p:nvSpPr>
          <p:spPr bwMode="auto">
            <a:xfrm>
              <a:off x="816" y="2016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66" name="Line 102"/>
            <p:cNvSpPr>
              <a:spLocks noChangeShapeType="1"/>
            </p:cNvSpPr>
            <p:nvPr/>
          </p:nvSpPr>
          <p:spPr bwMode="auto">
            <a:xfrm>
              <a:off x="816" y="2256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67" name="Line 103"/>
            <p:cNvSpPr>
              <a:spLocks noChangeShapeType="1"/>
            </p:cNvSpPr>
            <p:nvPr/>
          </p:nvSpPr>
          <p:spPr bwMode="auto">
            <a:xfrm>
              <a:off x="816" y="2496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68" name="Line 104"/>
            <p:cNvSpPr>
              <a:spLocks noChangeShapeType="1"/>
            </p:cNvSpPr>
            <p:nvPr/>
          </p:nvSpPr>
          <p:spPr bwMode="auto">
            <a:xfrm>
              <a:off x="816" y="2736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69" name="Line 105"/>
            <p:cNvSpPr>
              <a:spLocks noChangeShapeType="1"/>
            </p:cNvSpPr>
            <p:nvPr/>
          </p:nvSpPr>
          <p:spPr bwMode="auto">
            <a:xfrm>
              <a:off x="816" y="2976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70" name="Line 106"/>
            <p:cNvSpPr>
              <a:spLocks noChangeShapeType="1"/>
            </p:cNvSpPr>
            <p:nvPr/>
          </p:nvSpPr>
          <p:spPr bwMode="auto">
            <a:xfrm>
              <a:off x="816" y="3216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371" name="Group 107"/>
          <p:cNvGrpSpPr>
            <a:grpSpLocks/>
          </p:cNvGrpSpPr>
          <p:nvPr/>
        </p:nvGrpSpPr>
        <p:grpSpPr bwMode="auto">
          <a:xfrm>
            <a:off x="5848351" y="5902325"/>
            <a:ext cx="1192213" cy="457200"/>
            <a:chOff x="96" y="3168"/>
            <a:chExt cx="751" cy="288"/>
          </a:xfrm>
        </p:grpSpPr>
        <p:sp>
          <p:nvSpPr>
            <p:cNvPr id="11372" name="Line 108"/>
            <p:cNvSpPr>
              <a:spLocks noChangeShapeType="1"/>
            </p:cNvSpPr>
            <p:nvPr/>
          </p:nvSpPr>
          <p:spPr bwMode="auto">
            <a:xfrm>
              <a:off x="144" y="3168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73" name="Text Box 109"/>
            <p:cNvSpPr txBox="1">
              <a:spLocks noChangeArrowheads="1"/>
            </p:cNvSpPr>
            <p:nvPr/>
          </p:nvSpPr>
          <p:spPr bwMode="auto">
            <a:xfrm>
              <a:off x="96" y="3168"/>
              <a:ext cx="75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bottom </a:t>
              </a:r>
            </a:p>
          </p:txBody>
        </p:sp>
      </p:grpSp>
      <p:grpSp>
        <p:nvGrpSpPr>
          <p:cNvPr id="11404" name="Group 140"/>
          <p:cNvGrpSpPr>
            <a:grpSpLocks/>
          </p:cNvGrpSpPr>
          <p:nvPr/>
        </p:nvGrpSpPr>
        <p:grpSpPr bwMode="auto">
          <a:xfrm>
            <a:off x="5835650" y="4911725"/>
            <a:ext cx="1143000" cy="457200"/>
            <a:chOff x="96" y="2784"/>
            <a:chExt cx="720" cy="288"/>
          </a:xfrm>
        </p:grpSpPr>
        <p:sp useBgFill="1">
          <p:nvSpPr>
            <p:cNvPr id="11405" name="Line 141"/>
            <p:cNvSpPr>
              <a:spLocks noChangeShapeType="1"/>
            </p:cNvSpPr>
            <p:nvPr/>
          </p:nvSpPr>
          <p:spPr bwMode="auto">
            <a:xfrm>
              <a:off x="144" y="3072"/>
              <a:ext cx="672" cy="0"/>
            </a:xfrm>
            <a:prstGeom prst="line">
              <a:avLst/>
            </a:prstGeom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11406" name="Text Box 142"/>
            <p:cNvSpPr txBox="1">
              <a:spLocks noChangeArrowheads="1"/>
            </p:cNvSpPr>
            <p:nvPr/>
          </p:nvSpPr>
          <p:spPr bwMode="auto">
            <a:xfrm>
              <a:off x="96" y="2784"/>
              <a:ext cx="431" cy="288"/>
            </a:xfrm>
            <a:prstGeom prst="rect">
              <a:avLst/>
            </a:prstGeom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top </a:t>
              </a:r>
            </a:p>
          </p:txBody>
        </p:sp>
      </p:grpSp>
      <p:grpSp>
        <p:nvGrpSpPr>
          <p:cNvPr id="11401" name="Group 137"/>
          <p:cNvGrpSpPr>
            <a:grpSpLocks/>
          </p:cNvGrpSpPr>
          <p:nvPr/>
        </p:nvGrpSpPr>
        <p:grpSpPr bwMode="auto">
          <a:xfrm>
            <a:off x="5835650" y="4556125"/>
            <a:ext cx="1143000" cy="457200"/>
            <a:chOff x="96" y="2784"/>
            <a:chExt cx="720" cy="288"/>
          </a:xfrm>
        </p:grpSpPr>
        <p:sp useBgFill="1">
          <p:nvSpPr>
            <p:cNvPr id="11402" name="Line 138"/>
            <p:cNvSpPr>
              <a:spLocks noChangeShapeType="1"/>
            </p:cNvSpPr>
            <p:nvPr/>
          </p:nvSpPr>
          <p:spPr bwMode="auto">
            <a:xfrm>
              <a:off x="144" y="3072"/>
              <a:ext cx="672" cy="0"/>
            </a:xfrm>
            <a:prstGeom prst="line">
              <a:avLst/>
            </a:prstGeom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03" name="Text Box 139"/>
            <p:cNvSpPr txBox="1">
              <a:spLocks noChangeArrowheads="1"/>
            </p:cNvSpPr>
            <p:nvPr/>
          </p:nvSpPr>
          <p:spPr bwMode="auto">
            <a:xfrm>
              <a:off x="96" y="2784"/>
              <a:ext cx="43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top </a:t>
              </a:r>
            </a:p>
          </p:txBody>
        </p:sp>
      </p:grpSp>
      <p:grpSp>
        <p:nvGrpSpPr>
          <p:cNvPr id="11456" name="Group 192"/>
          <p:cNvGrpSpPr>
            <a:grpSpLocks/>
          </p:cNvGrpSpPr>
          <p:nvPr/>
        </p:nvGrpSpPr>
        <p:grpSpPr bwMode="auto">
          <a:xfrm>
            <a:off x="5835650" y="5292725"/>
            <a:ext cx="1143000" cy="457200"/>
            <a:chOff x="4609" y="3334"/>
            <a:chExt cx="720" cy="288"/>
          </a:xfrm>
        </p:grpSpPr>
        <p:sp useBgFill="1">
          <p:nvSpPr>
            <p:cNvPr id="11409" name="Line 145"/>
            <p:cNvSpPr>
              <a:spLocks noChangeShapeType="1"/>
            </p:cNvSpPr>
            <p:nvPr/>
          </p:nvSpPr>
          <p:spPr bwMode="auto">
            <a:xfrm>
              <a:off x="4657" y="3622"/>
              <a:ext cx="672" cy="0"/>
            </a:xfrm>
            <a:prstGeom prst="line">
              <a:avLst/>
            </a:prstGeom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10" name="Text Box 146"/>
            <p:cNvSpPr txBox="1">
              <a:spLocks noChangeArrowheads="1"/>
            </p:cNvSpPr>
            <p:nvPr/>
          </p:nvSpPr>
          <p:spPr bwMode="auto">
            <a:xfrm>
              <a:off x="4609" y="3334"/>
              <a:ext cx="43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top </a:t>
              </a:r>
            </a:p>
          </p:txBody>
        </p:sp>
      </p:grpSp>
      <p:sp>
        <p:nvSpPr>
          <p:cNvPr id="11417" name="Text Box 153"/>
          <p:cNvSpPr txBox="1">
            <a:spLocks noChangeArrowheads="1"/>
          </p:cNvSpPr>
          <p:nvPr/>
        </p:nvSpPr>
        <p:spPr bwMode="auto">
          <a:xfrm>
            <a:off x="3073400" y="1406525"/>
            <a:ext cx="6661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</a:pPr>
            <a:r>
              <a:rPr kumimoji="0" lang="zh-CN" altLang="en-US"/>
              <a:t>接受一个字符即存入数据区。</a:t>
            </a:r>
            <a:r>
              <a:rPr kumimoji="0" lang="zh-CN" altLang="en-US">
                <a:ea typeface="华文中宋" pitchFamily="2" charset="-122"/>
              </a:rPr>
              <a:t>（</a:t>
            </a:r>
            <a:r>
              <a:rPr kumimoji="0"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差</a:t>
            </a:r>
            <a:r>
              <a:rPr kumimoji="0" lang="zh-CN" altLang="en-US">
                <a:ea typeface="华文中宋" pitchFamily="2" charset="-122"/>
              </a:rPr>
              <a:t>！难纠错。） </a:t>
            </a:r>
            <a:endParaRPr lang="zh-CN" altLang="en-US">
              <a:ea typeface="华文中宋" pitchFamily="2" charset="-122"/>
            </a:endParaRPr>
          </a:p>
        </p:txBody>
      </p:sp>
      <p:sp>
        <p:nvSpPr>
          <p:cNvPr id="11418" name="Text Box 154"/>
          <p:cNvSpPr txBox="1">
            <a:spLocks noChangeArrowheads="1"/>
          </p:cNvSpPr>
          <p:nvPr/>
        </p:nvSpPr>
        <p:spPr bwMode="auto">
          <a:xfrm>
            <a:off x="3073400" y="1863726"/>
            <a:ext cx="6801862" cy="904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</a:pPr>
            <a:r>
              <a:rPr kumimoji="0" lang="zh-CN" altLang="en-US"/>
              <a:t>设一个输入缓冲区，接受完一行字符后再存入用 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</a:pPr>
            <a:r>
              <a:rPr kumimoji="0" lang="zh-CN" altLang="en-US"/>
              <a:t>户的数据区。                    </a:t>
            </a:r>
            <a:r>
              <a:rPr kumimoji="0" lang="zh-CN" altLang="en-US">
                <a:ea typeface="华文中宋" pitchFamily="2" charset="-122"/>
              </a:rPr>
              <a:t>（</a:t>
            </a:r>
            <a:r>
              <a:rPr kumimoji="0"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好</a:t>
            </a:r>
            <a:r>
              <a:rPr kumimoji="0" lang="zh-CN" altLang="en-US">
                <a:ea typeface="华文中宋" pitchFamily="2" charset="-122"/>
              </a:rPr>
              <a:t>！可及时纠错。）  </a:t>
            </a:r>
            <a:endParaRPr lang="zh-CN" altLang="en-US">
              <a:ea typeface="华文中宋" pitchFamily="2" charset="-122"/>
            </a:endParaRPr>
          </a:p>
        </p:txBody>
      </p:sp>
      <p:sp>
        <p:nvSpPr>
          <p:cNvPr id="11419" name="Text Box 155"/>
          <p:cNvSpPr txBox="1">
            <a:spLocks noChangeArrowheads="1"/>
          </p:cNvSpPr>
          <p:nvPr/>
        </p:nvSpPr>
        <p:spPr bwMode="auto">
          <a:xfrm>
            <a:off x="2176463" y="1635125"/>
            <a:ext cx="869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</a:pPr>
            <a:r>
              <a:rPr kumimoji="0"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做法</a:t>
            </a:r>
            <a:r>
              <a:rPr kumimoji="0" lang="zh-CN" altLang="en-US">
                <a:solidFill>
                  <a:srgbClr val="FF3300"/>
                </a:solidFill>
                <a:ea typeface="华文中宋" pitchFamily="2" charset="-122"/>
              </a:rPr>
              <a:t> </a:t>
            </a:r>
            <a:endParaRPr lang="zh-CN" altLang="en-US">
              <a:ea typeface="华文中宋" pitchFamily="2" charset="-122"/>
            </a:endParaRPr>
          </a:p>
        </p:txBody>
      </p:sp>
      <p:sp>
        <p:nvSpPr>
          <p:cNvPr id="11420" name="AutoShape 156"/>
          <p:cNvSpPr>
            <a:spLocks/>
          </p:cNvSpPr>
          <p:nvPr/>
        </p:nvSpPr>
        <p:spPr bwMode="auto">
          <a:xfrm>
            <a:off x="2938463" y="1558925"/>
            <a:ext cx="152400" cy="609600"/>
          </a:xfrm>
          <a:prstGeom prst="leftBrace">
            <a:avLst>
              <a:gd name="adj1" fmla="val 333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421" name="Text Box 157"/>
          <p:cNvSpPr txBox="1">
            <a:spLocks noChangeArrowheads="1"/>
          </p:cNvSpPr>
          <p:nvPr/>
        </p:nvSpPr>
        <p:spPr bwMode="auto">
          <a:xfrm>
            <a:off x="2176463" y="3006725"/>
            <a:ext cx="1479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</a:pPr>
            <a:r>
              <a:rPr kumimoji="0"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纠错办法 </a:t>
            </a:r>
            <a:endParaRPr lang="zh-CN" altLang="en-US">
              <a:effectLst>
                <a:outerShdw blurRad="38100" dist="38100" dir="2700000" algn="tl">
                  <a:srgbClr val="FFFFFF"/>
                </a:outerShdw>
              </a:effectLst>
              <a:ea typeface="华文中宋" pitchFamily="2" charset="-122"/>
            </a:endParaRPr>
          </a:p>
        </p:txBody>
      </p:sp>
      <p:sp>
        <p:nvSpPr>
          <p:cNvPr id="11422" name="Text Box 158"/>
          <p:cNvSpPr txBox="1">
            <a:spLocks noChangeArrowheads="1"/>
          </p:cNvSpPr>
          <p:nvPr/>
        </p:nvSpPr>
        <p:spPr bwMode="auto">
          <a:xfrm>
            <a:off x="3673475" y="2778125"/>
            <a:ext cx="4984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</a:pPr>
            <a:r>
              <a:rPr kumimoji="0" lang="en-US" altLang="zh-CN">
                <a:solidFill>
                  <a:srgbClr val="0000FF"/>
                </a:solidFill>
                <a:ea typeface="华文中宋" pitchFamily="2" charset="-122"/>
              </a:rPr>
              <a:t> #</a:t>
            </a:r>
            <a:r>
              <a:rPr kumimoji="0" lang="en-US" altLang="zh-CN">
                <a:ea typeface="华文中宋" pitchFamily="2" charset="-122"/>
              </a:rPr>
              <a:t>   </a:t>
            </a:r>
            <a:r>
              <a:rPr kumimoji="0" lang="zh-CN" altLang="en-US"/>
              <a:t>退格符，表示前一个字符无效。</a:t>
            </a:r>
            <a:r>
              <a:rPr kumimoji="0" lang="zh-CN" altLang="en-US">
                <a:ea typeface="华文中宋" pitchFamily="2" charset="-122"/>
              </a:rPr>
              <a:t> </a:t>
            </a:r>
            <a:endParaRPr lang="zh-CN" altLang="en-US">
              <a:ea typeface="华文中宋" pitchFamily="2" charset="-122"/>
            </a:endParaRPr>
          </a:p>
        </p:txBody>
      </p:sp>
      <p:sp>
        <p:nvSpPr>
          <p:cNvPr id="11424" name="Text Box 160"/>
          <p:cNvSpPr txBox="1">
            <a:spLocks noChangeArrowheads="1"/>
          </p:cNvSpPr>
          <p:nvPr/>
        </p:nvSpPr>
        <p:spPr bwMode="auto">
          <a:xfrm>
            <a:off x="3678238" y="3235325"/>
            <a:ext cx="49641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</a:pPr>
            <a:r>
              <a:rPr kumimoji="0" lang="en-US" altLang="zh-CN">
                <a:solidFill>
                  <a:srgbClr val="0000FF"/>
                </a:solidFill>
                <a:ea typeface="华文中宋" pitchFamily="2" charset="-122"/>
              </a:rPr>
              <a:t>@</a:t>
            </a:r>
            <a:r>
              <a:rPr kumimoji="0" lang="en-US" altLang="zh-CN">
                <a:ea typeface="华文中宋" pitchFamily="2" charset="-122"/>
              </a:rPr>
              <a:t>  </a:t>
            </a:r>
            <a:r>
              <a:rPr kumimoji="0" lang="zh-CN" altLang="en-US"/>
              <a:t>退行符，表示整行字符均无效。</a:t>
            </a:r>
            <a:r>
              <a:rPr kumimoji="0" lang="zh-CN" altLang="en-US">
                <a:ea typeface="华文中宋" pitchFamily="2" charset="-122"/>
              </a:rPr>
              <a:t> </a:t>
            </a:r>
            <a:endParaRPr lang="zh-CN" altLang="en-US">
              <a:ea typeface="华文中宋" pitchFamily="2" charset="-122"/>
            </a:endParaRPr>
          </a:p>
        </p:txBody>
      </p:sp>
      <p:sp>
        <p:nvSpPr>
          <p:cNvPr id="11425" name="AutoShape 161"/>
          <p:cNvSpPr>
            <a:spLocks/>
          </p:cNvSpPr>
          <p:nvPr/>
        </p:nvSpPr>
        <p:spPr bwMode="auto">
          <a:xfrm>
            <a:off x="3548063" y="2930525"/>
            <a:ext cx="152400" cy="609600"/>
          </a:xfrm>
          <a:prstGeom prst="leftBrace">
            <a:avLst>
              <a:gd name="adj1" fmla="val 333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426" name="Text Box 162"/>
          <p:cNvSpPr txBox="1">
            <a:spLocks noChangeArrowheads="1"/>
          </p:cNvSpPr>
          <p:nvPr/>
        </p:nvSpPr>
        <p:spPr bwMode="auto">
          <a:xfrm>
            <a:off x="2419351" y="3810001"/>
            <a:ext cx="2954655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ea typeface="华文中宋" pitchFamily="2" charset="-122"/>
              </a:rPr>
              <a:t>例：</a:t>
            </a:r>
            <a:r>
              <a:rPr lang="zh-CN" altLang="en-US"/>
              <a:t>接受的字符为：</a:t>
            </a:r>
          </a:p>
          <a:p>
            <a:r>
              <a:rPr lang="zh-CN" altLang="en-US"/>
              <a:t>        </a:t>
            </a:r>
            <a:r>
              <a:rPr lang="en-US" altLang="zh-CN"/>
              <a:t>whli##ile  </a:t>
            </a:r>
          </a:p>
          <a:p>
            <a:r>
              <a:rPr lang="en-US" altLang="zh-CN" b="0"/>
              <a:t>        outch</a:t>
            </a:r>
            <a:r>
              <a:rPr lang="en-US" altLang="zh-CN"/>
              <a:t>@putch </a:t>
            </a:r>
          </a:p>
        </p:txBody>
      </p:sp>
      <p:sp>
        <p:nvSpPr>
          <p:cNvPr id="11427" name="Text Box 163"/>
          <p:cNvSpPr txBox="1">
            <a:spLocks noChangeArrowheads="1"/>
          </p:cNvSpPr>
          <p:nvPr/>
        </p:nvSpPr>
        <p:spPr bwMode="auto">
          <a:xfrm>
            <a:off x="2419351" y="4964114"/>
            <a:ext cx="2954655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        </a:t>
            </a:r>
            <a:r>
              <a:rPr lang="zh-CN" altLang="en-US"/>
              <a:t>实际有效的为：</a:t>
            </a:r>
          </a:p>
          <a:p>
            <a:r>
              <a:rPr lang="zh-CN" altLang="en-US"/>
              <a:t>        </a:t>
            </a:r>
            <a:r>
              <a:rPr lang="en-US" altLang="zh-CN"/>
              <a:t>while  </a:t>
            </a:r>
          </a:p>
          <a:p>
            <a:r>
              <a:rPr lang="en-US" altLang="zh-CN"/>
              <a:t>        putch </a:t>
            </a:r>
          </a:p>
        </p:txBody>
      </p:sp>
      <p:sp>
        <p:nvSpPr>
          <p:cNvPr id="11429" name="Text Box 165"/>
          <p:cNvSpPr txBox="1">
            <a:spLocks noChangeArrowheads="1"/>
          </p:cNvSpPr>
          <p:nvPr/>
        </p:nvSpPr>
        <p:spPr bwMode="auto">
          <a:xfrm>
            <a:off x="7867651" y="5562600"/>
            <a:ext cx="481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w </a:t>
            </a:r>
          </a:p>
        </p:txBody>
      </p:sp>
      <p:sp useBgFill="1">
        <p:nvSpPr>
          <p:cNvPr id="11386" name="Rectangle 122"/>
          <p:cNvSpPr>
            <a:spLocks noChangeArrowheads="1"/>
          </p:cNvSpPr>
          <p:nvPr/>
        </p:nvSpPr>
        <p:spPr bwMode="auto">
          <a:xfrm>
            <a:off x="5762625" y="5408613"/>
            <a:ext cx="1219200" cy="417512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 useBgFill="1">
        <p:nvSpPr>
          <p:cNvPr id="11387" name="Rectangle 123"/>
          <p:cNvSpPr>
            <a:spLocks noChangeArrowheads="1"/>
          </p:cNvSpPr>
          <p:nvPr/>
        </p:nvSpPr>
        <p:spPr bwMode="auto">
          <a:xfrm>
            <a:off x="5762625" y="5027613"/>
            <a:ext cx="1219200" cy="417512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430" name="Text Box 166"/>
          <p:cNvSpPr txBox="1">
            <a:spLocks noChangeArrowheads="1"/>
          </p:cNvSpPr>
          <p:nvPr/>
        </p:nvSpPr>
        <p:spPr bwMode="auto">
          <a:xfrm>
            <a:off x="7867651" y="5140325"/>
            <a:ext cx="4302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h </a:t>
            </a:r>
          </a:p>
        </p:txBody>
      </p:sp>
      <p:sp>
        <p:nvSpPr>
          <p:cNvPr id="11431" name="Text Box 167"/>
          <p:cNvSpPr txBox="1">
            <a:spLocks noChangeArrowheads="1"/>
          </p:cNvSpPr>
          <p:nvPr/>
        </p:nvSpPr>
        <p:spPr bwMode="auto">
          <a:xfrm>
            <a:off x="7881939" y="4759325"/>
            <a:ext cx="3444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l </a:t>
            </a:r>
          </a:p>
        </p:txBody>
      </p:sp>
      <p:sp useBgFill="1">
        <p:nvSpPr>
          <p:cNvPr id="11396" name="Rectangle 132"/>
          <p:cNvSpPr>
            <a:spLocks noChangeArrowheads="1"/>
          </p:cNvSpPr>
          <p:nvPr/>
        </p:nvSpPr>
        <p:spPr bwMode="auto">
          <a:xfrm>
            <a:off x="5767388" y="4606926"/>
            <a:ext cx="1219200" cy="417513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1397" name="Group 133"/>
          <p:cNvGrpSpPr>
            <a:grpSpLocks/>
          </p:cNvGrpSpPr>
          <p:nvPr/>
        </p:nvGrpSpPr>
        <p:grpSpPr bwMode="auto">
          <a:xfrm>
            <a:off x="5835650" y="4149725"/>
            <a:ext cx="1143000" cy="457200"/>
            <a:chOff x="96" y="2784"/>
            <a:chExt cx="720" cy="288"/>
          </a:xfrm>
        </p:grpSpPr>
        <p:sp useBgFill="1">
          <p:nvSpPr>
            <p:cNvPr id="11398" name="Line 134"/>
            <p:cNvSpPr>
              <a:spLocks noChangeShapeType="1"/>
            </p:cNvSpPr>
            <p:nvPr/>
          </p:nvSpPr>
          <p:spPr bwMode="auto">
            <a:xfrm>
              <a:off x="144" y="3072"/>
              <a:ext cx="672" cy="0"/>
            </a:xfrm>
            <a:prstGeom prst="line">
              <a:avLst/>
            </a:prstGeom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99" name="Text Box 135"/>
            <p:cNvSpPr txBox="1">
              <a:spLocks noChangeArrowheads="1"/>
            </p:cNvSpPr>
            <p:nvPr/>
          </p:nvSpPr>
          <p:spPr bwMode="auto">
            <a:xfrm>
              <a:off x="96" y="2784"/>
              <a:ext cx="43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top </a:t>
              </a:r>
            </a:p>
          </p:txBody>
        </p:sp>
      </p:grpSp>
      <p:sp useBgFill="1">
        <p:nvSpPr>
          <p:cNvPr id="11395" name="Rectangle 131"/>
          <p:cNvSpPr>
            <a:spLocks noChangeArrowheads="1"/>
          </p:cNvSpPr>
          <p:nvPr/>
        </p:nvSpPr>
        <p:spPr bwMode="auto">
          <a:xfrm>
            <a:off x="5762625" y="4225926"/>
            <a:ext cx="1219200" cy="417513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432" name="Text Box 168"/>
          <p:cNvSpPr txBox="1">
            <a:spLocks noChangeArrowheads="1"/>
          </p:cNvSpPr>
          <p:nvPr/>
        </p:nvSpPr>
        <p:spPr bwMode="auto">
          <a:xfrm>
            <a:off x="7905750" y="4378325"/>
            <a:ext cx="3444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i </a:t>
            </a:r>
          </a:p>
        </p:txBody>
      </p:sp>
      <p:grpSp>
        <p:nvGrpSpPr>
          <p:cNvPr id="11433" name="Group 169"/>
          <p:cNvGrpSpPr>
            <a:grpSpLocks/>
          </p:cNvGrpSpPr>
          <p:nvPr/>
        </p:nvGrpSpPr>
        <p:grpSpPr bwMode="auto">
          <a:xfrm>
            <a:off x="5835650" y="3768725"/>
            <a:ext cx="1143000" cy="457200"/>
            <a:chOff x="96" y="2784"/>
            <a:chExt cx="720" cy="288"/>
          </a:xfrm>
        </p:grpSpPr>
        <p:sp useBgFill="1">
          <p:nvSpPr>
            <p:cNvPr id="11434" name="Line 170"/>
            <p:cNvSpPr>
              <a:spLocks noChangeShapeType="1"/>
            </p:cNvSpPr>
            <p:nvPr/>
          </p:nvSpPr>
          <p:spPr bwMode="auto">
            <a:xfrm>
              <a:off x="144" y="3072"/>
              <a:ext cx="672" cy="0"/>
            </a:xfrm>
            <a:prstGeom prst="line">
              <a:avLst/>
            </a:prstGeom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35" name="Text Box 171"/>
            <p:cNvSpPr txBox="1">
              <a:spLocks noChangeArrowheads="1"/>
            </p:cNvSpPr>
            <p:nvPr/>
          </p:nvSpPr>
          <p:spPr bwMode="auto">
            <a:xfrm>
              <a:off x="96" y="2784"/>
              <a:ext cx="43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top </a:t>
              </a:r>
            </a:p>
          </p:txBody>
        </p:sp>
      </p:grpSp>
      <p:grpSp>
        <p:nvGrpSpPr>
          <p:cNvPr id="11437" name="Group 173"/>
          <p:cNvGrpSpPr>
            <a:grpSpLocks/>
          </p:cNvGrpSpPr>
          <p:nvPr/>
        </p:nvGrpSpPr>
        <p:grpSpPr bwMode="auto">
          <a:xfrm>
            <a:off x="5835650" y="4149725"/>
            <a:ext cx="1143000" cy="457200"/>
            <a:chOff x="96" y="2784"/>
            <a:chExt cx="720" cy="288"/>
          </a:xfrm>
        </p:grpSpPr>
        <p:sp useBgFill="1">
          <p:nvSpPr>
            <p:cNvPr id="11438" name="Line 174"/>
            <p:cNvSpPr>
              <a:spLocks noChangeShapeType="1"/>
            </p:cNvSpPr>
            <p:nvPr/>
          </p:nvSpPr>
          <p:spPr bwMode="auto">
            <a:xfrm>
              <a:off x="144" y="3072"/>
              <a:ext cx="672" cy="0"/>
            </a:xfrm>
            <a:prstGeom prst="line">
              <a:avLst/>
            </a:prstGeom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39" name="Text Box 175"/>
            <p:cNvSpPr txBox="1">
              <a:spLocks noChangeArrowheads="1"/>
            </p:cNvSpPr>
            <p:nvPr/>
          </p:nvSpPr>
          <p:spPr bwMode="auto">
            <a:xfrm>
              <a:off x="96" y="2784"/>
              <a:ext cx="43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top </a:t>
              </a:r>
            </a:p>
          </p:txBody>
        </p:sp>
      </p:grpSp>
      <p:sp useBgFill="1">
        <p:nvSpPr>
          <p:cNvPr id="11440" name="Rectangle 176"/>
          <p:cNvSpPr>
            <a:spLocks noChangeArrowheads="1"/>
          </p:cNvSpPr>
          <p:nvPr/>
        </p:nvSpPr>
        <p:spPr bwMode="auto">
          <a:xfrm>
            <a:off x="5762625" y="3884613"/>
            <a:ext cx="1219200" cy="417512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 useBgFill="1">
        <p:nvSpPr>
          <p:cNvPr id="11414" name="Rectangle 150"/>
          <p:cNvSpPr>
            <a:spLocks noChangeArrowheads="1"/>
          </p:cNvSpPr>
          <p:nvPr/>
        </p:nvSpPr>
        <p:spPr bwMode="auto">
          <a:xfrm>
            <a:off x="7905750" y="4494214"/>
            <a:ext cx="228600" cy="301625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 useBgFill="1">
        <p:nvSpPr>
          <p:cNvPr id="11441" name="Rectangle 177"/>
          <p:cNvSpPr>
            <a:spLocks noChangeArrowheads="1"/>
          </p:cNvSpPr>
          <p:nvPr/>
        </p:nvSpPr>
        <p:spPr bwMode="auto">
          <a:xfrm>
            <a:off x="7905750" y="4875214"/>
            <a:ext cx="228600" cy="301625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1442" name="Group 178"/>
          <p:cNvGrpSpPr>
            <a:grpSpLocks/>
          </p:cNvGrpSpPr>
          <p:nvPr/>
        </p:nvGrpSpPr>
        <p:grpSpPr bwMode="auto">
          <a:xfrm>
            <a:off x="5835650" y="4530725"/>
            <a:ext cx="1143000" cy="457200"/>
            <a:chOff x="96" y="2784"/>
            <a:chExt cx="720" cy="288"/>
          </a:xfrm>
        </p:grpSpPr>
        <p:sp useBgFill="1">
          <p:nvSpPr>
            <p:cNvPr id="11443" name="Line 179"/>
            <p:cNvSpPr>
              <a:spLocks noChangeShapeType="1"/>
            </p:cNvSpPr>
            <p:nvPr/>
          </p:nvSpPr>
          <p:spPr bwMode="auto">
            <a:xfrm>
              <a:off x="144" y="3072"/>
              <a:ext cx="672" cy="0"/>
            </a:xfrm>
            <a:prstGeom prst="line">
              <a:avLst/>
            </a:prstGeom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44" name="Text Box 180"/>
            <p:cNvSpPr txBox="1">
              <a:spLocks noChangeArrowheads="1"/>
            </p:cNvSpPr>
            <p:nvPr/>
          </p:nvSpPr>
          <p:spPr bwMode="auto">
            <a:xfrm>
              <a:off x="96" y="2784"/>
              <a:ext cx="43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top </a:t>
              </a:r>
            </a:p>
          </p:txBody>
        </p:sp>
      </p:grpSp>
      <p:sp useBgFill="1">
        <p:nvSpPr>
          <p:cNvPr id="11445" name="Rectangle 181"/>
          <p:cNvSpPr>
            <a:spLocks noChangeArrowheads="1"/>
          </p:cNvSpPr>
          <p:nvPr/>
        </p:nvSpPr>
        <p:spPr bwMode="auto">
          <a:xfrm>
            <a:off x="5762625" y="4225926"/>
            <a:ext cx="1219200" cy="417513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446" name="Text Box 182"/>
          <p:cNvSpPr txBox="1">
            <a:spLocks noChangeArrowheads="1"/>
          </p:cNvSpPr>
          <p:nvPr/>
        </p:nvSpPr>
        <p:spPr bwMode="auto">
          <a:xfrm>
            <a:off x="7851775" y="4759325"/>
            <a:ext cx="3444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i </a:t>
            </a:r>
          </a:p>
        </p:txBody>
      </p:sp>
      <p:grpSp>
        <p:nvGrpSpPr>
          <p:cNvPr id="11447" name="Group 183"/>
          <p:cNvGrpSpPr>
            <a:grpSpLocks/>
          </p:cNvGrpSpPr>
          <p:nvPr/>
        </p:nvGrpSpPr>
        <p:grpSpPr bwMode="auto">
          <a:xfrm>
            <a:off x="5835650" y="4149725"/>
            <a:ext cx="1143000" cy="457200"/>
            <a:chOff x="96" y="2784"/>
            <a:chExt cx="720" cy="288"/>
          </a:xfrm>
        </p:grpSpPr>
        <p:sp useBgFill="1">
          <p:nvSpPr>
            <p:cNvPr id="11448" name="Line 184"/>
            <p:cNvSpPr>
              <a:spLocks noChangeShapeType="1"/>
            </p:cNvSpPr>
            <p:nvPr/>
          </p:nvSpPr>
          <p:spPr bwMode="auto">
            <a:xfrm>
              <a:off x="144" y="3072"/>
              <a:ext cx="672" cy="0"/>
            </a:xfrm>
            <a:prstGeom prst="line">
              <a:avLst/>
            </a:prstGeom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49" name="Text Box 185"/>
            <p:cNvSpPr txBox="1">
              <a:spLocks noChangeArrowheads="1"/>
            </p:cNvSpPr>
            <p:nvPr/>
          </p:nvSpPr>
          <p:spPr bwMode="auto">
            <a:xfrm>
              <a:off x="96" y="2784"/>
              <a:ext cx="43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top </a:t>
              </a:r>
            </a:p>
          </p:txBody>
        </p:sp>
      </p:grpSp>
      <p:sp useBgFill="1">
        <p:nvSpPr>
          <p:cNvPr id="11450" name="Rectangle 186"/>
          <p:cNvSpPr>
            <a:spLocks noChangeArrowheads="1"/>
          </p:cNvSpPr>
          <p:nvPr/>
        </p:nvSpPr>
        <p:spPr bwMode="auto">
          <a:xfrm>
            <a:off x="5762625" y="4667251"/>
            <a:ext cx="1219200" cy="417513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451" name="Text Box 187"/>
          <p:cNvSpPr txBox="1">
            <a:spLocks noChangeArrowheads="1"/>
          </p:cNvSpPr>
          <p:nvPr/>
        </p:nvSpPr>
        <p:spPr bwMode="auto">
          <a:xfrm>
            <a:off x="7859714" y="4378325"/>
            <a:ext cx="3444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l </a:t>
            </a:r>
          </a:p>
        </p:txBody>
      </p:sp>
      <p:sp useBgFill="1">
        <p:nvSpPr>
          <p:cNvPr id="11455" name="Rectangle 191"/>
          <p:cNvSpPr>
            <a:spLocks noChangeArrowheads="1"/>
          </p:cNvSpPr>
          <p:nvPr/>
        </p:nvSpPr>
        <p:spPr bwMode="auto">
          <a:xfrm>
            <a:off x="5762625" y="4306888"/>
            <a:ext cx="1219200" cy="417512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457" name="Text Box 193"/>
          <p:cNvSpPr txBox="1">
            <a:spLocks noChangeArrowheads="1"/>
          </p:cNvSpPr>
          <p:nvPr/>
        </p:nvSpPr>
        <p:spPr bwMode="auto">
          <a:xfrm>
            <a:off x="7839075" y="4005263"/>
            <a:ext cx="3952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en-US" altLang="zh-CN"/>
              <a:t>e </a:t>
            </a:r>
            <a:endParaRPr lang="en-US" altLang="zh-CN"/>
          </a:p>
        </p:txBody>
      </p:sp>
      <p:grpSp>
        <p:nvGrpSpPr>
          <p:cNvPr id="11459" name="Group 195"/>
          <p:cNvGrpSpPr>
            <a:grpSpLocks/>
          </p:cNvGrpSpPr>
          <p:nvPr/>
        </p:nvGrpSpPr>
        <p:grpSpPr bwMode="auto">
          <a:xfrm>
            <a:off x="5880100" y="3429000"/>
            <a:ext cx="1143000" cy="457200"/>
            <a:chOff x="96" y="2784"/>
            <a:chExt cx="720" cy="288"/>
          </a:xfrm>
        </p:grpSpPr>
        <p:sp>
          <p:nvSpPr>
            <p:cNvPr id="11460" name="Line 196"/>
            <p:cNvSpPr>
              <a:spLocks noChangeShapeType="1"/>
            </p:cNvSpPr>
            <p:nvPr/>
          </p:nvSpPr>
          <p:spPr bwMode="auto">
            <a:xfrm>
              <a:off x="144" y="3072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61" name="Text Box 197"/>
            <p:cNvSpPr txBox="1">
              <a:spLocks noChangeArrowheads="1"/>
            </p:cNvSpPr>
            <p:nvPr/>
          </p:nvSpPr>
          <p:spPr bwMode="auto">
            <a:xfrm>
              <a:off x="96" y="2784"/>
              <a:ext cx="43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top </a:t>
              </a:r>
            </a:p>
          </p:txBody>
        </p:sp>
      </p:grpSp>
      <p:grpSp>
        <p:nvGrpSpPr>
          <p:cNvPr id="11452" name="Group 188"/>
          <p:cNvGrpSpPr>
            <a:grpSpLocks/>
          </p:cNvGrpSpPr>
          <p:nvPr/>
        </p:nvGrpSpPr>
        <p:grpSpPr bwMode="auto">
          <a:xfrm>
            <a:off x="5835650" y="3789363"/>
            <a:ext cx="1143000" cy="457200"/>
            <a:chOff x="96" y="2784"/>
            <a:chExt cx="720" cy="288"/>
          </a:xfrm>
        </p:grpSpPr>
        <p:sp>
          <p:nvSpPr>
            <p:cNvPr id="11453" name="Line 189"/>
            <p:cNvSpPr>
              <a:spLocks noChangeShapeType="1"/>
            </p:cNvSpPr>
            <p:nvPr/>
          </p:nvSpPr>
          <p:spPr bwMode="auto">
            <a:xfrm>
              <a:off x="144" y="3072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54" name="Text Box 190"/>
            <p:cNvSpPr txBox="1">
              <a:spLocks noChangeArrowheads="1"/>
            </p:cNvSpPr>
            <p:nvPr/>
          </p:nvSpPr>
          <p:spPr bwMode="auto">
            <a:xfrm>
              <a:off x="96" y="2784"/>
              <a:ext cx="43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top </a:t>
              </a:r>
            </a:p>
          </p:txBody>
        </p:sp>
      </p:grpSp>
      <p:sp useBgFill="1">
        <p:nvSpPr>
          <p:cNvPr id="11458" name="Rectangle 194"/>
          <p:cNvSpPr>
            <a:spLocks noChangeArrowheads="1"/>
          </p:cNvSpPr>
          <p:nvPr/>
        </p:nvSpPr>
        <p:spPr bwMode="auto">
          <a:xfrm>
            <a:off x="5808663" y="3933826"/>
            <a:ext cx="1219200" cy="417513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slow">
    <p:spli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1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1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" dur="500"/>
                                        <p:tgtEl>
                                          <p:spTgt spid="11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11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11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11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7" dur="500"/>
                                        <p:tgtEl>
                                          <p:spTgt spid="11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2" dur="500"/>
                                        <p:tgtEl>
                                          <p:spTgt spid="11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7" dur="500"/>
                                        <p:tgtEl>
                                          <p:spTgt spid="11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1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7" dur="500"/>
                                        <p:tgtEl>
                                          <p:spTgt spid="11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1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1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1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11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11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000"/>
                            </p:stCondLst>
                            <p:childTnLst>
                              <p:par>
                                <p:cTn id="8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11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11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11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000"/>
                            </p:stCondLst>
                            <p:childTnLst>
                              <p:par>
                                <p:cTn id="9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11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11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11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000"/>
                            </p:stCondLst>
                            <p:childTnLst>
                              <p:par>
                                <p:cTn id="10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11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11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500"/>
                            </p:stCondLst>
                            <p:childTnLst>
                              <p:par>
                                <p:cTn id="11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500"/>
                                        <p:tgtEl>
                                          <p:spTgt spid="11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1000"/>
                            </p:stCondLst>
                            <p:childTnLst>
                              <p:par>
                                <p:cTn id="12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11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7" dur="500"/>
                                        <p:tgtEl>
                                          <p:spTgt spid="11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00"/>
                            </p:stCondLst>
                            <p:childTnLst>
                              <p:par>
                                <p:cTn id="1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1" dur="500"/>
                                        <p:tgtEl>
                                          <p:spTgt spid="11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5" dur="500"/>
                                        <p:tgtEl>
                                          <p:spTgt spid="11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40" dur="500"/>
                                        <p:tgtEl>
                                          <p:spTgt spid="11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500"/>
                            </p:stCondLst>
                            <p:childTnLst>
                              <p:par>
                                <p:cTn id="14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4" dur="500"/>
                                        <p:tgtEl>
                                          <p:spTgt spid="11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1000"/>
                            </p:stCondLst>
                            <p:childTnLst>
                              <p:par>
                                <p:cTn id="14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8" dur="500"/>
                                        <p:tgtEl>
                                          <p:spTgt spid="11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3" dur="500"/>
                                        <p:tgtEl>
                                          <p:spTgt spid="11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500"/>
                            </p:stCondLst>
                            <p:childTnLst>
                              <p:par>
                                <p:cTn id="15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7" dur="500"/>
                                        <p:tgtEl>
                                          <p:spTgt spid="11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1000"/>
                            </p:stCondLst>
                            <p:childTnLst>
                              <p:par>
                                <p:cTn id="15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1" dur="500"/>
                                        <p:tgtEl>
                                          <p:spTgt spid="11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6" dur="500"/>
                                        <p:tgtEl>
                                          <p:spTgt spid="11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500"/>
                            </p:stCondLst>
                            <p:childTnLst>
                              <p:par>
                                <p:cTn id="16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0" dur="500"/>
                                        <p:tgtEl>
                                          <p:spTgt spid="11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1000"/>
                            </p:stCondLst>
                            <p:childTnLst>
                              <p:par>
                                <p:cTn id="17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4" dur="500"/>
                                        <p:tgtEl>
                                          <p:spTgt spid="11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9" dur="500"/>
                                        <p:tgtEl>
                                          <p:spTgt spid="11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500"/>
                            </p:stCondLst>
                            <p:childTnLst>
                              <p:par>
                                <p:cTn id="18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3" dur="500"/>
                                        <p:tgtEl>
                                          <p:spTgt spid="11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1000"/>
                            </p:stCondLst>
                            <p:childTnLst>
                              <p:par>
                                <p:cTn id="18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7" dur="500"/>
                                        <p:tgtEl>
                                          <p:spTgt spid="11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58" grpId="0" autoUpdateAnimBg="0"/>
      <p:bldP spid="11417" grpId="0" autoUpdateAnimBg="0"/>
      <p:bldP spid="11418" grpId="0" autoUpdateAnimBg="0"/>
      <p:bldP spid="11419" grpId="0" autoUpdateAnimBg="0"/>
      <p:bldP spid="11420" grpId="0" animBg="1"/>
      <p:bldP spid="11421" grpId="0" autoUpdateAnimBg="0"/>
      <p:bldP spid="11422" grpId="0" autoUpdateAnimBg="0"/>
      <p:bldP spid="11424" grpId="0" autoUpdateAnimBg="0"/>
      <p:bldP spid="11425" grpId="0" animBg="1"/>
      <p:bldP spid="11426" grpId="0" autoUpdateAnimBg="0"/>
      <p:bldP spid="11427" grpId="0" autoUpdateAnimBg="0"/>
      <p:bldP spid="11429" grpId="0" autoUpdateAnimBg="0"/>
      <p:bldP spid="11386" grpId="0" animBg="1"/>
      <p:bldP spid="11387" grpId="0" animBg="1"/>
      <p:bldP spid="11430" grpId="0" autoUpdateAnimBg="0"/>
      <p:bldP spid="11431" grpId="0" autoUpdateAnimBg="0"/>
      <p:bldP spid="11396" grpId="0" animBg="1"/>
      <p:bldP spid="11395" grpId="0" animBg="1"/>
      <p:bldP spid="11432" grpId="0" autoUpdateAnimBg="0"/>
      <p:bldP spid="11440" grpId="0" animBg="1"/>
      <p:bldP spid="11414" grpId="0" animBg="1"/>
      <p:bldP spid="11441" grpId="0" animBg="1"/>
      <p:bldP spid="11445" grpId="0" animBg="1"/>
      <p:bldP spid="11446" grpId="0" autoUpdateAnimBg="0"/>
      <p:bldP spid="11450" grpId="0" animBg="1"/>
      <p:bldP spid="11451" grpId="0" autoUpdateAnimBg="0"/>
      <p:bldP spid="11455" grpId="0" animBg="1"/>
      <p:bldP spid="11457" grpId="0" autoUpdateAnimBg="0"/>
      <p:bldP spid="1145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4" name="Text Box 4"/>
          <p:cNvSpPr txBox="1">
            <a:spLocks noChangeArrowheads="1"/>
          </p:cNvSpPr>
          <p:nvPr/>
        </p:nvSpPr>
        <p:spPr bwMode="auto">
          <a:xfrm>
            <a:off x="2251076" y="504826"/>
            <a:ext cx="7494359" cy="60755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lnSpc>
                <a:spcPct val="90000"/>
              </a:lnSpc>
            </a:pPr>
            <a:r>
              <a:rPr lang="en-US" altLang="zh-CN"/>
              <a:t>void LineEdit( ) { </a:t>
            </a:r>
          </a:p>
          <a:p>
            <a:pPr eaLnBrk="0" hangingPunct="0">
              <a:lnSpc>
                <a:spcPct val="90000"/>
              </a:lnSpc>
            </a:pPr>
            <a:r>
              <a:rPr lang="en-US" altLang="zh-CN"/>
              <a:t>   InitStack(S); </a:t>
            </a:r>
          </a:p>
          <a:p>
            <a:pPr eaLnBrk="0" hangingPunct="0">
              <a:lnSpc>
                <a:spcPct val="90000"/>
              </a:lnSpc>
            </a:pPr>
            <a:r>
              <a:rPr lang="en-US" altLang="zh-CN"/>
              <a:t>   ch=getchar(); </a:t>
            </a:r>
          </a:p>
          <a:p>
            <a:pPr eaLnBrk="0" hangingPunct="0">
              <a:lnSpc>
                <a:spcPct val="90000"/>
              </a:lnSpc>
            </a:pPr>
            <a:r>
              <a:rPr lang="en-US" altLang="zh-CN"/>
              <a:t>   while (ch != EOF) { //EOF</a:t>
            </a:r>
            <a:r>
              <a:rPr lang="zh-CN" altLang="en-US"/>
              <a:t>为全文结束符  </a:t>
            </a:r>
          </a:p>
          <a:p>
            <a:pPr eaLnBrk="0" hangingPunct="0">
              <a:lnSpc>
                <a:spcPct val="90000"/>
              </a:lnSpc>
            </a:pPr>
            <a:r>
              <a:rPr lang="zh-CN" altLang="en-US"/>
              <a:t>      </a:t>
            </a:r>
            <a:r>
              <a:rPr lang="en-US" altLang="zh-CN"/>
              <a:t>while (ch != EOF &amp;&amp; ch != '\n') { </a:t>
            </a:r>
          </a:p>
          <a:p>
            <a:pPr eaLnBrk="0" hangingPunct="0">
              <a:lnSpc>
                <a:spcPct val="90000"/>
              </a:lnSpc>
            </a:pPr>
            <a:r>
              <a:rPr lang="en-US" altLang="zh-CN"/>
              <a:t>         switch (ch) { </a:t>
            </a:r>
          </a:p>
          <a:p>
            <a:pPr eaLnBrk="0" hangingPunct="0">
              <a:lnSpc>
                <a:spcPct val="90000"/>
              </a:lnSpc>
            </a:pPr>
            <a:r>
              <a:rPr lang="en-US" altLang="zh-CN"/>
              <a:t>            case '#' : Pop(S, c); break; </a:t>
            </a:r>
          </a:p>
          <a:p>
            <a:pPr eaLnBrk="0" hangingPunct="0">
              <a:lnSpc>
                <a:spcPct val="90000"/>
              </a:lnSpc>
            </a:pPr>
            <a:r>
              <a:rPr lang="en-US" altLang="zh-CN"/>
              <a:t>            case ‘@’: ClearStack(S); break;  // </a:t>
            </a:r>
            <a:r>
              <a:rPr lang="zh-CN" altLang="en-US"/>
              <a:t>重置</a:t>
            </a:r>
            <a:r>
              <a:rPr lang="en-US" altLang="zh-CN"/>
              <a:t>S</a:t>
            </a:r>
            <a:r>
              <a:rPr lang="zh-CN" altLang="en-US"/>
              <a:t>为空栈 </a:t>
            </a:r>
          </a:p>
          <a:p>
            <a:pPr eaLnBrk="0" hangingPunct="0">
              <a:lnSpc>
                <a:spcPct val="90000"/>
              </a:lnSpc>
            </a:pPr>
            <a:r>
              <a:rPr lang="zh-CN" altLang="en-US"/>
              <a:t>            </a:t>
            </a:r>
            <a:r>
              <a:rPr lang="en-US" altLang="zh-CN"/>
              <a:t>default : Push(S, ch);  break;  </a:t>
            </a:r>
          </a:p>
          <a:p>
            <a:pPr eaLnBrk="0" hangingPunct="0">
              <a:lnSpc>
                <a:spcPct val="90000"/>
              </a:lnSpc>
            </a:pPr>
            <a:r>
              <a:rPr lang="en-US" altLang="zh-CN"/>
              <a:t>         } </a:t>
            </a:r>
          </a:p>
          <a:p>
            <a:pPr eaLnBrk="0" hangingPunct="0">
              <a:lnSpc>
                <a:spcPct val="90000"/>
              </a:lnSpc>
            </a:pPr>
            <a:r>
              <a:rPr lang="en-US" altLang="zh-CN"/>
              <a:t>         ch = getchar();  // </a:t>
            </a:r>
            <a:r>
              <a:rPr lang="zh-CN" altLang="en-US"/>
              <a:t>从终端接收下一个字符 </a:t>
            </a:r>
          </a:p>
          <a:p>
            <a:pPr eaLnBrk="0" hangingPunct="0">
              <a:lnSpc>
                <a:spcPct val="90000"/>
              </a:lnSpc>
            </a:pPr>
            <a:r>
              <a:rPr lang="zh-CN" altLang="en-US"/>
              <a:t>      </a:t>
            </a:r>
            <a:r>
              <a:rPr lang="en-US" altLang="zh-CN"/>
              <a:t>} </a:t>
            </a:r>
          </a:p>
          <a:p>
            <a:pPr>
              <a:lnSpc>
                <a:spcPct val="90000"/>
              </a:lnSpc>
            </a:pPr>
            <a:r>
              <a:rPr lang="en-US" altLang="zh-CN"/>
              <a:t>      </a:t>
            </a:r>
            <a:r>
              <a:rPr lang="zh-CN" altLang="en-US"/>
              <a:t>将从栈底到栈顶的字符传送至调用过程的数据区； </a:t>
            </a:r>
          </a:p>
          <a:p>
            <a:pPr>
              <a:lnSpc>
                <a:spcPct val="90000"/>
              </a:lnSpc>
            </a:pPr>
            <a:r>
              <a:rPr lang="zh-CN" altLang="en-US"/>
              <a:t>      </a:t>
            </a:r>
            <a:r>
              <a:rPr lang="en-US" altLang="zh-CN"/>
              <a:t>ClearStack(S);      // </a:t>
            </a:r>
            <a:r>
              <a:rPr lang="zh-CN" altLang="en-US"/>
              <a:t>重置</a:t>
            </a:r>
            <a:r>
              <a:rPr lang="en-US" altLang="zh-CN"/>
              <a:t>S</a:t>
            </a:r>
            <a:r>
              <a:rPr lang="zh-CN" altLang="en-US"/>
              <a:t>为空栈 </a:t>
            </a:r>
          </a:p>
          <a:p>
            <a:pPr>
              <a:lnSpc>
                <a:spcPct val="90000"/>
              </a:lnSpc>
            </a:pPr>
            <a:r>
              <a:rPr lang="zh-CN" altLang="en-US"/>
              <a:t>      </a:t>
            </a:r>
            <a:r>
              <a:rPr lang="en-US" altLang="zh-CN"/>
              <a:t>if (ch != EOF)  ch = getchar(); </a:t>
            </a:r>
          </a:p>
          <a:p>
            <a:pPr>
              <a:lnSpc>
                <a:spcPct val="90000"/>
              </a:lnSpc>
            </a:pPr>
            <a:r>
              <a:rPr lang="en-US" altLang="zh-CN"/>
              <a:t>   } </a:t>
            </a:r>
          </a:p>
          <a:p>
            <a:pPr>
              <a:lnSpc>
                <a:spcPct val="90000"/>
              </a:lnSpc>
            </a:pPr>
            <a:r>
              <a:rPr lang="en-US" altLang="zh-CN"/>
              <a:t>   DestroyStack(S); </a:t>
            </a:r>
          </a:p>
          <a:p>
            <a:pPr>
              <a:lnSpc>
                <a:spcPct val="90000"/>
              </a:lnSpc>
            </a:pPr>
            <a:r>
              <a:rPr lang="en-US" altLang="zh-CN"/>
              <a:t>}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6" name="Rectangle 236"/>
          <p:cNvSpPr>
            <a:spLocks noChangeArrowheads="1"/>
          </p:cNvSpPr>
          <p:nvPr/>
        </p:nvSpPr>
        <p:spPr bwMode="auto">
          <a:xfrm>
            <a:off x="2830513" y="1219200"/>
            <a:ext cx="5943600" cy="5105400"/>
          </a:xfrm>
          <a:prstGeom prst="rect">
            <a:avLst/>
          </a:prstGeom>
          <a:solidFill>
            <a:srgbClr val="00CC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44" name="Text Box 104"/>
          <p:cNvSpPr txBox="1">
            <a:spLocks noChangeArrowheads="1"/>
          </p:cNvSpPr>
          <p:nvPr/>
        </p:nvSpPr>
        <p:spPr bwMode="auto">
          <a:xfrm>
            <a:off x="1992313" y="381000"/>
            <a:ext cx="2393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</a:pPr>
            <a:r>
              <a:rPr kumimoji="0" lang="en-US" altLang="zh-CN">
                <a:ea typeface="华文中宋" pitchFamily="2" charset="-122"/>
              </a:rPr>
              <a:t>3.2.4   </a:t>
            </a:r>
            <a:r>
              <a:rPr kumimoji="0" lang="zh-CN" altLang="en-US">
                <a:ea typeface="华文中宋" pitchFamily="2" charset="-122"/>
              </a:rPr>
              <a:t>迷宫求解  </a:t>
            </a:r>
          </a:p>
        </p:txBody>
      </p:sp>
      <p:graphicFrame>
        <p:nvGraphicFramePr>
          <p:cNvPr id="10553" name="Group 313"/>
          <p:cNvGraphicFramePr>
            <a:graphicFrameLocks noGrp="1"/>
          </p:cNvGraphicFramePr>
          <p:nvPr/>
        </p:nvGraphicFramePr>
        <p:xfrm>
          <a:off x="2789238" y="1219200"/>
          <a:ext cx="6096000" cy="51816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0469" name="AutoShape 229"/>
          <p:cNvSpPr>
            <a:spLocks noChangeArrowheads="1"/>
          </p:cNvSpPr>
          <p:nvPr/>
        </p:nvSpPr>
        <p:spPr bwMode="auto">
          <a:xfrm>
            <a:off x="3535363" y="1828800"/>
            <a:ext cx="304800" cy="304800"/>
          </a:xfrm>
          <a:prstGeom prst="flowChartConnector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71" name="Oval 231"/>
          <p:cNvSpPr>
            <a:spLocks noChangeArrowheads="1"/>
          </p:cNvSpPr>
          <p:nvPr/>
        </p:nvSpPr>
        <p:spPr bwMode="auto">
          <a:xfrm>
            <a:off x="7818438" y="5448300"/>
            <a:ext cx="304800" cy="28575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72" name="Line 232"/>
          <p:cNvSpPr>
            <a:spLocks noChangeShapeType="1"/>
          </p:cNvSpPr>
          <p:nvPr/>
        </p:nvSpPr>
        <p:spPr bwMode="auto">
          <a:xfrm rot="1494616" flipV="1">
            <a:off x="8164513" y="5867400"/>
            <a:ext cx="914400" cy="762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10473" name="Text Box 233"/>
          <p:cNvSpPr txBox="1">
            <a:spLocks noChangeArrowheads="1"/>
          </p:cNvSpPr>
          <p:nvPr/>
        </p:nvSpPr>
        <p:spPr bwMode="auto">
          <a:xfrm>
            <a:off x="9002714" y="5943600"/>
            <a:ext cx="9556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出口 </a:t>
            </a:r>
          </a:p>
        </p:txBody>
      </p:sp>
      <p:sp>
        <p:nvSpPr>
          <p:cNvPr id="10474" name="Line 234"/>
          <p:cNvSpPr>
            <a:spLocks noChangeShapeType="1"/>
          </p:cNvSpPr>
          <p:nvPr/>
        </p:nvSpPr>
        <p:spPr bwMode="auto">
          <a:xfrm flipV="1">
            <a:off x="2484438" y="2114550"/>
            <a:ext cx="10668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0475" name="Text Box 235"/>
          <p:cNvSpPr txBox="1">
            <a:spLocks noChangeArrowheads="1"/>
          </p:cNvSpPr>
          <p:nvPr/>
        </p:nvSpPr>
        <p:spPr bwMode="auto">
          <a:xfrm>
            <a:off x="1992314" y="1733551"/>
            <a:ext cx="569387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/>
              <a:t>入 </a:t>
            </a:r>
          </a:p>
          <a:p>
            <a:r>
              <a:rPr lang="zh-CN" altLang="en-US"/>
              <a:t>口 </a:t>
            </a:r>
          </a:p>
          <a:p>
            <a:r>
              <a:rPr lang="zh-CN" altLang="en-US"/>
              <a:t> </a:t>
            </a:r>
          </a:p>
        </p:txBody>
      </p:sp>
      <p:sp>
        <p:nvSpPr>
          <p:cNvPr id="10477" name="Text Box 237"/>
          <p:cNvSpPr txBox="1">
            <a:spLocks noChangeArrowheads="1"/>
          </p:cNvSpPr>
          <p:nvPr/>
        </p:nvSpPr>
        <p:spPr bwMode="auto">
          <a:xfrm>
            <a:off x="2906713" y="762000"/>
            <a:ext cx="6051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0      1      2      3      4      5      6      7      8      9   </a:t>
            </a:r>
          </a:p>
        </p:txBody>
      </p:sp>
      <p:sp>
        <p:nvSpPr>
          <p:cNvPr id="10478" name="Text Box 238"/>
          <p:cNvSpPr txBox="1">
            <a:spLocks noChangeArrowheads="1"/>
          </p:cNvSpPr>
          <p:nvPr/>
        </p:nvSpPr>
        <p:spPr bwMode="auto">
          <a:xfrm>
            <a:off x="2417763" y="1120776"/>
            <a:ext cx="412750" cy="520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/>
              <a:t>0 </a:t>
            </a:r>
          </a:p>
          <a:p>
            <a:pPr>
              <a:lnSpc>
                <a:spcPct val="140000"/>
              </a:lnSpc>
            </a:pPr>
            <a:r>
              <a:rPr lang="en-US" altLang="zh-CN"/>
              <a:t>1 </a:t>
            </a:r>
          </a:p>
          <a:p>
            <a:pPr>
              <a:lnSpc>
                <a:spcPct val="140000"/>
              </a:lnSpc>
            </a:pPr>
            <a:r>
              <a:rPr lang="en-US" altLang="zh-CN"/>
              <a:t>2 </a:t>
            </a:r>
          </a:p>
          <a:p>
            <a:pPr>
              <a:lnSpc>
                <a:spcPct val="140000"/>
              </a:lnSpc>
            </a:pPr>
            <a:r>
              <a:rPr lang="en-US" altLang="zh-CN"/>
              <a:t>3 </a:t>
            </a:r>
          </a:p>
          <a:p>
            <a:pPr>
              <a:lnSpc>
                <a:spcPct val="140000"/>
              </a:lnSpc>
            </a:pPr>
            <a:r>
              <a:rPr lang="en-US" altLang="zh-CN"/>
              <a:t>4 </a:t>
            </a:r>
          </a:p>
          <a:p>
            <a:pPr>
              <a:lnSpc>
                <a:spcPct val="140000"/>
              </a:lnSpc>
            </a:pPr>
            <a:r>
              <a:rPr lang="en-US" altLang="zh-CN"/>
              <a:t>5 </a:t>
            </a:r>
          </a:p>
          <a:p>
            <a:pPr>
              <a:lnSpc>
                <a:spcPct val="140000"/>
              </a:lnSpc>
            </a:pPr>
            <a:r>
              <a:rPr lang="en-US" altLang="zh-CN"/>
              <a:t>6 </a:t>
            </a:r>
          </a:p>
          <a:p>
            <a:pPr>
              <a:lnSpc>
                <a:spcPct val="140000"/>
              </a:lnSpc>
            </a:pPr>
            <a:r>
              <a:rPr lang="en-US" altLang="zh-CN"/>
              <a:t>7 </a:t>
            </a:r>
          </a:p>
          <a:p>
            <a:pPr>
              <a:lnSpc>
                <a:spcPct val="140000"/>
              </a:lnSpc>
            </a:pPr>
            <a:r>
              <a:rPr lang="en-US" altLang="zh-CN"/>
              <a:t>8 </a:t>
            </a:r>
          </a:p>
          <a:p>
            <a:pPr>
              <a:lnSpc>
                <a:spcPct val="140000"/>
              </a:lnSpc>
            </a:pPr>
            <a:r>
              <a:rPr lang="en-US" altLang="zh-CN"/>
              <a:t>9 </a:t>
            </a:r>
          </a:p>
        </p:txBody>
      </p:sp>
      <p:sp useBgFill="1">
        <p:nvSpPr>
          <p:cNvPr id="10479" name="Text Box 239"/>
          <p:cNvSpPr txBox="1">
            <a:spLocks noChangeArrowheads="1"/>
          </p:cNvSpPr>
          <p:nvPr/>
        </p:nvSpPr>
        <p:spPr bwMode="auto">
          <a:xfrm>
            <a:off x="9645651" y="5651500"/>
            <a:ext cx="552395" cy="358368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70000"/>
              </a:lnSpc>
            </a:pPr>
            <a:r>
              <a:rPr lang="en-US" altLang="zh-CN"/>
              <a:t>11 </a:t>
            </a:r>
          </a:p>
        </p:txBody>
      </p:sp>
      <p:sp useBgFill="1">
        <p:nvSpPr>
          <p:cNvPr id="10480" name="Text Box 240"/>
          <p:cNvSpPr txBox="1">
            <a:spLocks noChangeArrowheads="1"/>
          </p:cNvSpPr>
          <p:nvPr/>
        </p:nvSpPr>
        <p:spPr bwMode="auto">
          <a:xfrm>
            <a:off x="9645651" y="5346700"/>
            <a:ext cx="569387" cy="358368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70000"/>
              </a:lnSpc>
            </a:pPr>
            <a:r>
              <a:rPr lang="en-US" altLang="zh-CN"/>
              <a:t>12 </a:t>
            </a:r>
          </a:p>
        </p:txBody>
      </p:sp>
      <p:sp useBgFill="1">
        <p:nvSpPr>
          <p:cNvPr id="10481" name="Text Box 241"/>
          <p:cNvSpPr txBox="1">
            <a:spLocks noChangeArrowheads="1"/>
          </p:cNvSpPr>
          <p:nvPr/>
        </p:nvSpPr>
        <p:spPr bwMode="auto">
          <a:xfrm>
            <a:off x="9645651" y="5041900"/>
            <a:ext cx="569387" cy="358368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70000"/>
              </a:lnSpc>
            </a:pPr>
            <a:r>
              <a:rPr lang="en-US" altLang="zh-CN"/>
              <a:t>22 </a:t>
            </a:r>
          </a:p>
        </p:txBody>
      </p:sp>
      <p:sp>
        <p:nvSpPr>
          <p:cNvPr id="10482" name="Text Box 242"/>
          <p:cNvSpPr txBox="1">
            <a:spLocks noChangeArrowheads="1"/>
          </p:cNvSpPr>
          <p:nvPr/>
        </p:nvSpPr>
        <p:spPr bwMode="auto">
          <a:xfrm>
            <a:off x="9645651" y="4737100"/>
            <a:ext cx="569387" cy="358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70000"/>
              </a:lnSpc>
            </a:pPr>
            <a:r>
              <a:rPr lang="en-US" altLang="zh-CN"/>
              <a:t>32 </a:t>
            </a:r>
          </a:p>
        </p:txBody>
      </p:sp>
      <p:sp useBgFill="1">
        <p:nvSpPr>
          <p:cNvPr id="10483" name="Text Box 243"/>
          <p:cNvSpPr txBox="1">
            <a:spLocks noChangeArrowheads="1"/>
          </p:cNvSpPr>
          <p:nvPr/>
        </p:nvSpPr>
        <p:spPr bwMode="auto">
          <a:xfrm>
            <a:off x="9645651" y="4432300"/>
            <a:ext cx="569387" cy="358368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70000"/>
              </a:lnSpc>
            </a:pPr>
            <a:r>
              <a:rPr lang="en-US" altLang="zh-CN"/>
              <a:t>33 </a:t>
            </a:r>
          </a:p>
        </p:txBody>
      </p:sp>
      <p:sp useBgFill="1">
        <p:nvSpPr>
          <p:cNvPr id="10484" name="Text Box 244"/>
          <p:cNvSpPr txBox="1">
            <a:spLocks noChangeArrowheads="1"/>
          </p:cNvSpPr>
          <p:nvPr/>
        </p:nvSpPr>
        <p:spPr bwMode="auto">
          <a:xfrm>
            <a:off x="9645651" y="4127500"/>
            <a:ext cx="569387" cy="358368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70000"/>
              </a:lnSpc>
            </a:pPr>
            <a:r>
              <a:rPr lang="en-US" altLang="zh-CN"/>
              <a:t>34 </a:t>
            </a:r>
          </a:p>
        </p:txBody>
      </p:sp>
      <p:sp useBgFill="1">
        <p:nvSpPr>
          <p:cNvPr id="10485" name="Text Box 245"/>
          <p:cNvSpPr txBox="1">
            <a:spLocks noChangeArrowheads="1"/>
          </p:cNvSpPr>
          <p:nvPr/>
        </p:nvSpPr>
        <p:spPr bwMode="auto">
          <a:xfrm>
            <a:off x="9645651" y="3822700"/>
            <a:ext cx="569387" cy="358368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70000"/>
              </a:lnSpc>
            </a:pPr>
            <a:r>
              <a:rPr lang="en-US" altLang="zh-CN"/>
              <a:t>24 </a:t>
            </a:r>
          </a:p>
        </p:txBody>
      </p:sp>
      <p:sp useBgFill="1">
        <p:nvSpPr>
          <p:cNvPr id="10486" name="Text Box 246"/>
          <p:cNvSpPr txBox="1">
            <a:spLocks noChangeArrowheads="1"/>
          </p:cNvSpPr>
          <p:nvPr/>
        </p:nvSpPr>
        <p:spPr bwMode="auto">
          <a:xfrm>
            <a:off x="9645651" y="3517900"/>
            <a:ext cx="569387" cy="358368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70000"/>
              </a:lnSpc>
            </a:pPr>
            <a:r>
              <a:rPr lang="en-US" altLang="zh-CN"/>
              <a:t>25 </a:t>
            </a:r>
          </a:p>
        </p:txBody>
      </p:sp>
      <p:sp useBgFill="1">
        <p:nvSpPr>
          <p:cNvPr id="10487" name="Text Box 247"/>
          <p:cNvSpPr txBox="1">
            <a:spLocks noChangeArrowheads="1"/>
          </p:cNvSpPr>
          <p:nvPr/>
        </p:nvSpPr>
        <p:spPr bwMode="auto">
          <a:xfrm>
            <a:off x="9645651" y="3213100"/>
            <a:ext cx="569387" cy="358368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70000"/>
              </a:lnSpc>
            </a:pPr>
            <a:r>
              <a:rPr lang="en-US" altLang="zh-CN"/>
              <a:t>26 </a:t>
            </a:r>
          </a:p>
        </p:txBody>
      </p:sp>
      <p:sp useBgFill="1">
        <p:nvSpPr>
          <p:cNvPr id="10488" name="Text Box 248"/>
          <p:cNvSpPr txBox="1">
            <a:spLocks noChangeArrowheads="1"/>
          </p:cNvSpPr>
          <p:nvPr/>
        </p:nvSpPr>
        <p:spPr bwMode="auto">
          <a:xfrm>
            <a:off x="9645651" y="2908300"/>
            <a:ext cx="569387" cy="358368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70000"/>
              </a:lnSpc>
            </a:pPr>
            <a:r>
              <a:rPr lang="en-US" altLang="zh-CN"/>
              <a:t>16 </a:t>
            </a:r>
          </a:p>
        </p:txBody>
      </p:sp>
      <p:sp useBgFill="1">
        <p:nvSpPr>
          <p:cNvPr id="10489" name="Text Box 249"/>
          <p:cNvSpPr txBox="1">
            <a:spLocks noChangeArrowheads="1"/>
          </p:cNvSpPr>
          <p:nvPr/>
        </p:nvSpPr>
        <p:spPr bwMode="auto">
          <a:xfrm>
            <a:off x="9645651" y="2603500"/>
            <a:ext cx="569387" cy="358368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70000"/>
              </a:lnSpc>
            </a:pPr>
            <a:r>
              <a:rPr lang="en-US" altLang="zh-CN"/>
              <a:t>15 </a:t>
            </a:r>
          </a:p>
        </p:txBody>
      </p:sp>
      <p:sp useBgFill="1">
        <p:nvSpPr>
          <p:cNvPr id="10490" name="Text Box 250"/>
          <p:cNvSpPr txBox="1">
            <a:spLocks noChangeArrowheads="1"/>
          </p:cNvSpPr>
          <p:nvPr/>
        </p:nvSpPr>
        <p:spPr bwMode="auto">
          <a:xfrm>
            <a:off x="9645651" y="2298700"/>
            <a:ext cx="569387" cy="358368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70000"/>
              </a:lnSpc>
            </a:pPr>
            <a:r>
              <a:rPr lang="en-US" altLang="zh-CN"/>
              <a:t>14 </a:t>
            </a:r>
          </a:p>
        </p:txBody>
      </p:sp>
      <p:sp useBgFill="1">
        <p:nvSpPr>
          <p:cNvPr id="10491" name="Rectangle 251"/>
          <p:cNvSpPr>
            <a:spLocks noChangeArrowheads="1"/>
          </p:cNvSpPr>
          <p:nvPr/>
        </p:nvSpPr>
        <p:spPr bwMode="auto">
          <a:xfrm>
            <a:off x="9677400" y="2287588"/>
            <a:ext cx="457200" cy="30480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 useBgFill="1">
        <p:nvSpPr>
          <p:cNvPr id="10492" name="Rectangle 252"/>
          <p:cNvSpPr>
            <a:spLocks noChangeArrowheads="1"/>
          </p:cNvSpPr>
          <p:nvPr/>
        </p:nvSpPr>
        <p:spPr bwMode="auto">
          <a:xfrm>
            <a:off x="9677400" y="2592388"/>
            <a:ext cx="457200" cy="30480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 useBgFill="1">
        <p:nvSpPr>
          <p:cNvPr id="10493" name="Rectangle 253"/>
          <p:cNvSpPr>
            <a:spLocks noChangeArrowheads="1"/>
          </p:cNvSpPr>
          <p:nvPr/>
        </p:nvSpPr>
        <p:spPr bwMode="auto">
          <a:xfrm>
            <a:off x="9677400" y="2897188"/>
            <a:ext cx="457200" cy="30480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 useBgFill="1">
        <p:nvSpPr>
          <p:cNvPr id="10494" name="Rectangle 254"/>
          <p:cNvSpPr>
            <a:spLocks noChangeArrowheads="1"/>
          </p:cNvSpPr>
          <p:nvPr/>
        </p:nvSpPr>
        <p:spPr bwMode="auto">
          <a:xfrm>
            <a:off x="9677400" y="3201988"/>
            <a:ext cx="457200" cy="30480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 useBgFill="1">
        <p:nvSpPr>
          <p:cNvPr id="10495" name="Rectangle 255"/>
          <p:cNvSpPr>
            <a:spLocks noChangeArrowheads="1"/>
          </p:cNvSpPr>
          <p:nvPr/>
        </p:nvSpPr>
        <p:spPr bwMode="auto">
          <a:xfrm>
            <a:off x="9677400" y="3506788"/>
            <a:ext cx="457200" cy="30480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 useBgFill="1">
        <p:nvSpPr>
          <p:cNvPr id="10496" name="Rectangle 256"/>
          <p:cNvSpPr>
            <a:spLocks noChangeArrowheads="1"/>
          </p:cNvSpPr>
          <p:nvPr/>
        </p:nvSpPr>
        <p:spPr bwMode="auto">
          <a:xfrm>
            <a:off x="9677400" y="3811588"/>
            <a:ext cx="457200" cy="30480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 useBgFill="1">
        <p:nvSpPr>
          <p:cNvPr id="10497" name="Rectangle 257"/>
          <p:cNvSpPr>
            <a:spLocks noChangeArrowheads="1"/>
          </p:cNvSpPr>
          <p:nvPr/>
        </p:nvSpPr>
        <p:spPr bwMode="auto">
          <a:xfrm>
            <a:off x="9677400" y="4116388"/>
            <a:ext cx="457200" cy="30480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 useBgFill="1">
        <p:nvSpPr>
          <p:cNvPr id="10498" name="Rectangle 258"/>
          <p:cNvSpPr>
            <a:spLocks noChangeArrowheads="1"/>
          </p:cNvSpPr>
          <p:nvPr/>
        </p:nvSpPr>
        <p:spPr bwMode="auto">
          <a:xfrm>
            <a:off x="9677400" y="4421188"/>
            <a:ext cx="457200" cy="30480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 useBgFill="1">
        <p:nvSpPr>
          <p:cNvPr id="10499" name="Text Box 259"/>
          <p:cNvSpPr txBox="1">
            <a:spLocks noChangeArrowheads="1"/>
          </p:cNvSpPr>
          <p:nvPr/>
        </p:nvSpPr>
        <p:spPr bwMode="auto">
          <a:xfrm>
            <a:off x="9645651" y="4432300"/>
            <a:ext cx="569387" cy="358368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70000"/>
              </a:lnSpc>
            </a:pPr>
            <a:r>
              <a:rPr lang="en-US" altLang="zh-CN"/>
              <a:t>31 </a:t>
            </a:r>
          </a:p>
        </p:txBody>
      </p:sp>
      <p:sp useBgFill="1">
        <p:nvSpPr>
          <p:cNvPr id="10500" name="Text Box 260"/>
          <p:cNvSpPr txBox="1">
            <a:spLocks noChangeArrowheads="1"/>
          </p:cNvSpPr>
          <p:nvPr/>
        </p:nvSpPr>
        <p:spPr bwMode="auto">
          <a:xfrm>
            <a:off x="9645651" y="4127500"/>
            <a:ext cx="569387" cy="358368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70000"/>
              </a:lnSpc>
            </a:pPr>
            <a:r>
              <a:rPr lang="en-US" altLang="zh-CN"/>
              <a:t>41 </a:t>
            </a:r>
          </a:p>
        </p:txBody>
      </p:sp>
      <p:sp useBgFill="1">
        <p:nvSpPr>
          <p:cNvPr id="10501" name="Text Box 261"/>
          <p:cNvSpPr txBox="1">
            <a:spLocks noChangeArrowheads="1"/>
          </p:cNvSpPr>
          <p:nvPr/>
        </p:nvSpPr>
        <p:spPr bwMode="auto">
          <a:xfrm>
            <a:off x="9645651" y="3822700"/>
            <a:ext cx="569387" cy="358368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70000"/>
              </a:lnSpc>
            </a:pPr>
            <a:r>
              <a:rPr lang="en-US" altLang="zh-CN"/>
              <a:t>51 </a:t>
            </a:r>
          </a:p>
        </p:txBody>
      </p:sp>
      <p:sp useBgFill="1">
        <p:nvSpPr>
          <p:cNvPr id="10502" name="Text Box 262"/>
          <p:cNvSpPr txBox="1">
            <a:spLocks noChangeArrowheads="1"/>
          </p:cNvSpPr>
          <p:nvPr/>
        </p:nvSpPr>
        <p:spPr bwMode="auto">
          <a:xfrm>
            <a:off x="9645651" y="3517900"/>
            <a:ext cx="569387" cy="358368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70000"/>
              </a:lnSpc>
            </a:pPr>
            <a:r>
              <a:rPr lang="en-US" altLang="zh-CN"/>
              <a:t>52 </a:t>
            </a:r>
          </a:p>
        </p:txBody>
      </p:sp>
      <p:sp useBgFill="1">
        <p:nvSpPr>
          <p:cNvPr id="10503" name="Text Box 263"/>
          <p:cNvSpPr txBox="1">
            <a:spLocks noChangeArrowheads="1"/>
          </p:cNvSpPr>
          <p:nvPr/>
        </p:nvSpPr>
        <p:spPr bwMode="auto">
          <a:xfrm>
            <a:off x="9645651" y="3213100"/>
            <a:ext cx="569387" cy="358368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70000"/>
              </a:lnSpc>
            </a:pPr>
            <a:r>
              <a:rPr lang="en-US" altLang="zh-CN"/>
              <a:t>53 </a:t>
            </a:r>
          </a:p>
        </p:txBody>
      </p:sp>
      <p:sp useBgFill="1">
        <p:nvSpPr>
          <p:cNvPr id="10504" name="Text Box 264"/>
          <p:cNvSpPr txBox="1">
            <a:spLocks noChangeArrowheads="1"/>
          </p:cNvSpPr>
          <p:nvPr/>
        </p:nvSpPr>
        <p:spPr bwMode="auto">
          <a:xfrm>
            <a:off x="9645651" y="2908300"/>
            <a:ext cx="569387" cy="358368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70000"/>
              </a:lnSpc>
            </a:pPr>
            <a:r>
              <a:rPr lang="en-US" altLang="zh-CN"/>
              <a:t>63 </a:t>
            </a:r>
          </a:p>
        </p:txBody>
      </p:sp>
      <p:sp useBgFill="1">
        <p:nvSpPr>
          <p:cNvPr id="10505" name="Text Box 265"/>
          <p:cNvSpPr txBox="1">
            <a:spLocks noChangeArrowheads="1"/>
          </p:cNvSpPr>
          <p:nvPr/>
        </p:nvSpPr>
        <p:spPr bwMode="auto">
          <a:xfrm>
            <a:off x="9645651" y="2603500"/>
            <a:ext cx="569387" cy="358368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70000"/>
              </a:lnSpc>
            </a:pPr>
            <a:r>
              <a:rPr lang="en-US" altLang="zh-CN"/>
              <a:t>64 </a:t>
            </a:r>
          </a:p>
        </p:txBody>
      </p:sp>
      <p:sp useBgFill="1">
        <p:nvSpPr>
          <p:cNvPr id="10506" name="Text Box 266"/>
          <p:cNvSpPr txBox="1">
            <a:spLocks noChangeArrowheads="1"/>
          </p:cNvSpPr>
          <p:nvPr/>
        </p:nvSpPr>
        <p:spPr bwMode="auto">
          <a:xfrm>
            <a:off x="9645651" y="2298700"/>
            <a:ext cx="569387" cy="358368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70000"/>
              </a:lnSpc>
            </a:pPr>
            <a:r>
              <a:rPr lang="en-US" altLang="zh-CN"/>
              <a:t>65 </a:t>
            </a:r>
          </a:p>
        </p:txBody>
      </p:sp>
      <p:sp>
        <p:nvSpPr>
          <p:cNvPr id="10507" name="Text Box 267"/>
          <p:cNvSpPr txBox="1">
            <a:spLocks noChangeArrowheads="1"/>
          </p:cNvSpPr>
          <p:nvPr/>
        </p:nvSpPr>
        <p:spPr bwMode="auto">
          <a:xfrm>
            <a:off x="9645651" y="1993900"/>
            <a:ext cx="569387" cy="358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70000"/>
              </a:lnSpc>
            </a:pPr>
            <a:r>
              <a:rPr lang="en-US" altLang="zh-CN"/>
              <a:t>75 </a:t>
            </a:r>
          </a:p>
        </p:txBody>
      </p:sp>
      <p:sp>
        <p:nvSpPr>
          <p:cNvPr id="10508" name="Text Box 268"/>
          <p:cNvSpPr txBox="1">
            <a:spLocks noChangeArrowheads="1"/>
          </p:cNvSpPr>
          <p:nvPr/>
        </p:nvSpPr>
        <p:spPr bwMode="auto">
          <a:xfrm>
            <a:off x="9645651" y="1689100"/>
            <a:ext cx="569387" cy="358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70000"/>
              </a:lnSpc>
            </a:pPr>
            <a:r>
              <a:rPr lang="en-US" altLang="zh-CN"/>
              <a:t>85 </a:t>
            </a:r>
          </a:p>
        </p:txBody>
      </p:sp>
      <p:sp>
        <p:nvSpPr>
          <p:cNvPr id="10509" name="Text Box 269"/>
          <p:cNvSpPr txBox="1">
            <a:spLocks noChangeArrowheads="1"/>
          </p:cNvSpPr>
          <p:nvPr/>
        </p:nvSpPr>
        <p:spPr bwMode="auto">
          <a:xfrm>
            <a:off x="9645651" y="1384300"/>
            <a:ext cx="569387" cy="358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70000"/>
              </a:lnSpc>
            </a:pPr>
            <a:r>
              <a:rPr lang="en-US" altLang="zh-CN"/>
              <a:t>86 </a:t>
            </a:r>
          </a:p>
        </p:txBody>
      </p:sp>
      <p:sp>
        <p:nvSpPr>
          <p:cNvPr id="10510" name="Text Box 270"/>
          <p:cNvSpPr txBox="1">
            <a:spLocks noChangeArrowheads="1"/>
          </p:cNvSpPr>
          <p:nvPr/>
        </p:nvSpPr>
        <p:spPr bwMode="auto">
          <a:xfrm>
            <a:off x="9645651" y="1079500"/>
            <a:ext cx="569387" cy="358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70000"/>
              </a:lnSpc>
            </a:pPr>
            <a:r>
              <a:rPr lang="en-US" altLang="zh-CN"/>
              <a:t>87 </a:t>
            </a:r>
          </a:p>
        </p:txBody>
      </p:sp>
      <p:sp>
        <p:nvSpPr>
          <p:cNvPr id="10511" name="Text Box 271"/>
          <p:cNvSpPr txBox="1">
            <a:spLocks noChangeArrowheads="1"/>
          </p:cNvSpPr>
          <p:nvPr/>
        </p:nvSpPr>
        <p:spPr bwMode="auto">
          <a:xfrm>
            <a:off x="9645651" y="774700"/>
            <a:ext cx="569387" cy="358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70000"/>
              </a:lnSpc>
            </a:pPr>
            <a:r>
              <a:rPr lang="en-US" altLang="zh-CN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88</a:t>
            </a:r>
            <a:r>
              <a:rPr lang="en-US" altLang="zh-CN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</a:p>
        </p:txBody>
      </p:sp>
      <p:sp>
        <p:nvSpPr>
          <p:cNvPr id="10512" name="Text Box 272"/>
          <p:cNvSpPr txBox="1">
            <a:spLocks noChangeArrowheads="1"/>
          </p:cNvSpPr>
          <p:nvPr/>
        </p:nvSpPr>
        <p:spPr bwMode="auto">
          <a:xfrm>
            <a:off x="4862514" y="381000"/>
            <a:ext cx="15017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中宋" pitchFamily="2" charset="-122"/>
                <a:ea typeface="华文中宋" pitchFamily="2" charset="-122"/>
              </a:rPr>
              <a:t>穷举求解 </a:t>
            </a:r>
          </a:p>
        </p:txBody>
      </p:sp>
      <p:sp>
        <p:nvSpPr>
          <p:cNvPr id="10513" name="AutoShape 273"/>
          <p:cNvSpPr>
            <a:spLocks noChangeArrowheads="1"/>
          </p:cNvSpPr>
          <p:nvPr/>
        </p:nvSpPr>
        <p:spPr bwMode="auto">
          <a:xfrm>
            <a:off x="4167188" y="1844675"/>
            <a:ext cx="304800" cy="304800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18" name="AutoShape 278"/>
          <p:cNvSpPr>
            <a:spLocks noChangeArrowheads="1"/>
          </p:cNvSpPr>
          <p:nvPr/>
        </p:nvSpPr>
        <p:spPr bwMode="auto">
          <a:xfrm>
            <a:off x="4167188" y="2349500"/>
            <a:ext cx="304800" cy="304800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19" name="AutoShape 279"/>
          <p:cNvSpPr>
            <a:spLocks noChangeArrowheads="1"/>
          </p:cNvSpPr>
          <p:nvPr/>
        </p:nvSpPr>
        <p:spPr bwMode="auto">
          <a:xfrm>
            <a:off x="4167188" y="2908300"/>
            <a:ext cx="304800" cy="304800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20" name="AutoShape 280"/>
          <p:cNvSpPr>
            <a:spLocks noChangeArrowheads="1"/>
          </p:cNvSpPr>
          <p:nvPr/>
        </p:nvSpPr>
        <p:spPr bwMode="auto">
          <a:xfrm>
            <a:off x="4759325" y="2924175"/>
            <a:ext cx="304800" cy="304800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21" name="AutoShape 281"/>
          <p:cNvSpPr>
            <a:spLocks noChangeArrowheads="1"/>
          </p:cNvSpPr>
          <p:nvPr/>
        </p:nvSpPr>
        <p:spPr bwMode="auto">
          <a:xfrm>
            <a:off x="5391150" y="2924175"/>
            <a:ext cx="304800" cy="304800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22" name="AutoShape 282"/>
          <p:cNvSpPr>
            <a:spLocks noChangeArrowheads="1"/>
          </p:cNvSpPr>
          <p:nvPr/>
        </p:nvSpPr>
        <p:spPr bwMode="auto">
          <a:xfrm>
            <a:off x="5391150" y="2349500"/>
            <a:ext cx="304800" cy="304800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23" name="AutoShape 283"/>
          <p:cNvSpPr>
            <a:spLocks noChangeArrowheads="1"/>
          </p:cNvSpPr>
          <p:nvPr/>
        </p:nvSpPr>
        <p:spPr bwMode="auto">
          <a:xfrm>
            <a:off x="5983288" y="2349500"/>
            <a:ext cx="304800" cy="304800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24" name="AutoShape 284"/>
          <p:cNvSpPr>
            <a:spLocks noChangeArrowheads="1"/>
          </p:cNvSpPr>
          <p:nvPr/>
        </p:nvSpPr>
        <p:spPr bwMode="auto">
          <a:xfrm>
            <a:off x="6615113" y="2349500"/>
            <a:ext cx="304800" cy="304800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25" name="AutoShape 285"/>
          <p:cNvSpPr>
            <a:spLocks noChangeArrowheads="1"/>
          </p:cNvSpPr>
          <p:nvPr/>
        </p:nvSpPr>
        <p:spPr bwMode="auto">
          <a:xfrm>
            <a:off x="6615113" y="1844675"/>
            <a:ext cx="304800" cy="304800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26" name="AutoShape 286"/>
          <p:cNvSpPr>
            <a:spLocks noChangeArrowheads="1"/>
          </p:cNvSpPr>
          <p:nvPr/>
        </p:nvSpPr>
        <p:spPr bwMode="auto">
          <a:xfrm>
            <a:off x="5983288" y="1844675"/>
            <a:ext cx="304800" cy="304800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27" name="AutoShape 287"/>
          <p:cNvSpPr>
            <a:spLocks noChangeArrowheads="1"/>
          </p:cNvSpPr>
          <p:nvPr/>
        </p:nvSpPr>
        <p:spPr bwMode="auto">
          <a:xfrm>
            <a:off x="5391150" y="1844675"/>
            <a:ext cx="304800" cy="304800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28" name="AutoShape 288"/>
          <p:cNvSpPr>
            <a:spLocks noChangeArrowheads="1"/>
          </p:cNvSpPr>
          <p:nvPr/>
        </p:nvSpPr>
        <p:spPr bwMode="auto">
          <a:xfrm>
            <a:off x="3535363" y="2908300"/>
            <a:ext cx="304800" cy="304800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29" name="Rectangle 289"/>
          <p:cNvSpPr>
            <a:spLocks noChangeArrowheads="1"/>
          </p:cNvSpPr>
          <p:nvPr/>
        </p:nvSpPr>
        <p:spPr bwMode="auto">
          <a:xfrm>
            <a:off x="5335588" y="1773238"/>
            <a:ext cx="431800" cy="431800"/>
          </a:xfrm>
          <a:prstGeom prst="rect">
            <a:avLst/>
          </a:prstGeom>
          <a:solidFill>
            <a:srgbClr val="66CC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30" name="Rectangle 290"/>
          <p:cNvSpPr>
            <a:spLocks noChangeArrowheads="1"/>
          </p:cNvSpPr>
          <p:nvPr/>
        </p:nvSpPr>
        <p:spPr bwMode="auto">
          <a:xfrm>
            <a:off x="5911850" y="1773238"/>
            <a:ext cx="431800" cy="431800"/>
          </a:xfrm>
          <a:prstGeom prst="rect">
            <a:avLst/>
          </a:prstGeom>
          <a:solidFill>
            <a:srgbClr val="66CC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31" name="Rectangle 291"/>
          <p:cNvSpPr>
            <a:spLocks noChangeArrowheads="1"/>
          </p:cNvSpPr>
          <p:nvPr/>
        </p:nvSpPr>
        <p:spPr bwMode="auto">
          <a:xfrm>
            <a:off x="6561138" y="1773238"/>
            <a:ext cx="431800" cy="431800"/>
          </a:xfrm>
          <a:prstGeom prst="rect">
            <a:avLst/>
          </a:prstGeom>
          <a:solidFill>
            <a:srgbClr val="66CC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32" name="Rectangle 292"/>
          <p:cNvSpPr>
            <a:spLocks noChangeArrowheads="1"/>
          </p:cNvSpPr>
          <p:nvPr/>
        </p:nvSpPr>
        <p:spPr bwMode="auto">
          <a:xfrm>
            <a:off x="6559550" y="2276475"/>
            <a:ext cx="431800" cy="431800"/>
          </a:xfrm>
          <a:prstGeom prst="rect">
            <a:avLst/>
          </a:prstGeom>
          <a:solidFill>
            <a:srgbClr val="66CC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33" name="Rectangle 293"/>
          <p:cNvSpPr>
            <a:spLocks noChangeArrowheads="1"/>
          </p:cNvSpPr>
          <p:nvPr/>
        </p:nvSpPr>
        <p:spPr bwMode="auto">
          <a:xfrm>
            <a:off x="5911850" y="2276475"/>
            <a:ext cx="431800" cy="431800"/>
          </a:xfrm>
          <a:prstGeom prst="rect">
            <a:avLst/>
          </a:prstGeom>
          <a:solidFill>
            <a:srgbClr val="66CC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34" name="Rectangle 294"/>
          <p:cNvSpPr>
            <a:spLocks noChangeArrowheads="1"/>
          </p:cNvSpPr>
          <p:nvPr/>
        </p:nvSpPr>
        <p:spPr bwMode="auto">
          <a:xfrm>
            <a:off x="5335588" y="2276475"/>
            <a:ext cx="431800" cy="431800"/>
          </a:xfrm>
          <a:prstGeom prst="rect">
            <a:avLst/>
          </a:prstGeom>
          <a:solidFill>
            <a:srgbClr val="66CC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35" name="Rectangle 295"/>
          <p:cNvSpPr>
            <a:spLocks noChangeArrowheads="1"/>
          </p:cNvSpPr>
          <p:nvPr/>
        </p:nvSpPr>
        <p:spPr bwMode="auto">
          <a:xfrm>
            <a:off x="5335588" y="2852738"/>
            <a:ext cx="431800" cy="431800"/>
          </a:xfrm>
          <a:prstGeom prst="rect">
            <a:avLst/>
          </a:prstGeom>
          <a:solidFill>
            <a:srgbClr val="66CC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36" name="Rectangle 296"/>
          <p:cNvSpPr>
            <a:spLocks noChangeArrowheads="1"/>
          </p:cNvSpPr>
          <p:nvPr/>
        </p:nvSpPr>
        <p:spPr bwMode="auto">
          <a:xfrm>
            <a:off x="4759325" y="2852738"/>
            <a:ext cx="431800" cy="431800"/>
          </a:xfrm>
          <a:prstGeom prst="rect">
            <a:avLst/>
          </a:prstGeom>
          <a:solidFill>
            <a:srgbClr val="66CC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37" name="AutoShape 297"/>
          <p:cNvSpPr>
            <a:spLocks noChangeArrowheads="1"/>
          </p:cNvSpPr>
          <p:nvPr/>
        </p:nvSpPr>
        <p:spPr bwMode="auto">
          <a:xfrm>
            <a:off x="3535363" y="3411538"/>
            <a:ext cx="304800" cy="304800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38" name="AutoShape 298"/>
          <p:cNvSpPr>
            <a:spLocks noChangeArrowheads="1"/>
          </p:cNvSpPr>
          <p:nvPr/>
        </p:nvSpPr>
        <p:spPr bwMode="auto">
          <a:xfrm>
            <a:off x="3535363" y="3916363"/>
            <a:ext cx="304800" cy="304800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39" name="AutoShape 299"/>
          <p:cNvSpPr>
            <a:spLocks noChangeArrowheads="1"/>
          </p:cNvSpPr>
          <p:nvPr/>
        </p:nvSpPr>
        <p:spPr bwMode="auto">
          <a:xfrm>
            <a:off x="4167188" y="3933825"/>
            <a:ext cx="304800" cy="304800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40" name="AutoShape 300"/>
          <p:cNvSpPr>
            <a:spLocks noChangeArrowheads="1"/>
          </p:cNvSpPr>
          <p:nvPr/>
        </p:nvSpPr>
        <p:spPr bwMode="auto">
          <a:xfrm>
            <a:off x="4759325" y="3933825"/>
            <a:ext cx="304800" cy="304800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41" name="AutoShape 301"/>
          <p:cNvSpPr>
            <a:spLocks noChangeArrowheads="1"/>
          </p:cNvSpPr>
          <p:nvPr/>
        </p:nvSpPr>
        <p:spPr bwMode="auto">
          <a:xfrm>
            <a:off x="4759325" y="4437063"/>
            <a:ext cx="304800" cy="304800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42" name="AutoShape 302"/>
          <p:cNvSpPr>
            <a:spLocks noChangeArrowheads="1"/>
          </p:cNvSpPr>
          <p:nvPr/>
        </p:nvSpPr>
        <p:spPr bwMode="auto">
          <a:xfrm>
            <a:off x="5391150" y="4437063"/>
            <a:ext cx="304800" cy="304800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43" name="AutoShape 303"/>
          <p:cNvSpPr>
            <a:spLocks noChangeArrowheads="1"/>
          </p:cNvSpPr>
          <p:nvPr/>
        </p:nvSpPr>
        <p:spPr bwMode="auto">
          <a:xfrm>
            <a:off x="5983288" y="4437063"/>
            <a:ext cx="304800" cy="304800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44" name="AutoShape 304"/>
          <p:cNvSpPr>
            <a:spLocks noChangeArrowheads="1"/>
          </p:cNvSpPr>
          <p:nvPr/>
        </p:nvSpPr>
        <p:spPr bwMode="auto">
          <a:xfrm>
            <a:off x="5983288" y="4941888"/>
            <a:ext cx="304800" cy="304800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45" name="AutoShape 305"/>
          <p:cNvSpPr>
            <a:spLocks noChangeArrowheads="1"/>
          </p:cNvSpPr>
          <p:nvPr/>
        </p:nvSpPr>
        <p:spPr bwMode="auto">
          <a:xfrm>
            <a:off x="5983288" y="5445125"/>
            <a:ext cx="304800" cy="304800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46" name="AutoShape 306"/>
          <p:cNvSpPr>
            <a:spLocks noChangeArrowheads="1"/>
          </p:cNvSpPr>
          <p:nvPr/>
        </p:nvSpPr>
        <p:spPr bwMode="auto">
          <a:xfrm>
            <a:off x="6615113" y="5445125"/>
            <a:ext cx="304800" cy="304800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47" name="AutoShape 307"/>
          <p:cNvSpPr>
            <a:spLocks noChangeArrowheads="1"/>
          </p:cNvSpPr>
          <p:nvPr/>
        </p:nvSpPr>
        <p:spPr bwMode="auto">
          <a:xfrm>
            <a:off x="7191375" y="5445125"/>
            <a:ext cx="304800" cy="304800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59" name="Rectangle 319"/>
          <p:cNvSpPr>
            <a:spLocks noChangeArrowheads="1"/>
          </p:cNvSpPr>
          <p:nvPr/>
        </p:nvSpPr>
        <p:spPr bwMode="auto">
          <a:xfrm>
            <a:off x="1995488" y="2420939"/>
            <a:ext cx="7772400" cy="28797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en-US" altLang="zh-CN">
                <a:ea typeface="华文中宋" pitchFamily="2" charset="-122"/>
              </a:rPr>
              <a:t>  </a:t>
            </a:r>
            <a:r>
              <a:rPr lang="zh-CN" altLang="en-US">
                <a:ea typeface="华文中宋" pitchFamily="2" charset="-122"/>
              </a:rPr>
              <a:t>求迷宫路径算法的基本思想：</a:t>
            </a:r>
            <a:r>
              <a:rPr lang="zh-CN" altLang="en-US"/>
              <a:t> </a:t>
            </a:r>
            <a:br>
              <a:rPr lang="zh-CN" altLang="en-US"/>
            </a:br>
            <a:r>
              <a:rPr lang="zh-CN" altLang="en-US"/>
              <a:t>  若当前位置“可通”，则纳入路径，继续前进； </a:t>
            </a:r>
            <a:br>
              <a:rPr lang="zh-CN" altLang="en-US"/>
            </a:br>
            <a:r>
              <a:rPr lang="zh-CN" altLang="en-US"/>
              <a:t>  若当前位置“不可通”，则后退，换方向（按东南西北 </a:t>
            </a:r>
            <a:br>
              <a:rPr lang="zh-CN" altLang="en-US"/>
            </a:br>
            <a:r>
              <a:rPr lang="zh-CN" altLang="en-US"/>
              <a:t>  的顺序）继续探索； </a:t>
            </a:r>
            <a:br>
              <a:rPr lang="zh-CN" altLang="en-US"/>
            </a:br>
            <a:r>
              <a:rPr lang="zh-CN" altLang="en-US"/>
              <a:t>  若四周“均无通路”，则将当前位置从路径中删除出去。 </a:t>
            </a:r>
          </a:p>
        </p:txBody>
      </p:sp>
    </p:spTree>
  </p:cSld>
  <p:clrMapOvr>
    <a:masterClrMapping/>
  </p:clrMapOvr>
  <p:transition spd="slow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2" dur="1000"/>
                                        <p:tgtEl>
                                          <p:spTgt spid="105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4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4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0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10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0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1000"/>
                                        <p:tgtEl>
                                          <p:spTgt spid="10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0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1000"/>
                                        <p:tgtEl>
                                          <p:spTgt spid="10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1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10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10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1000"/>
                                        <p:tgtEl>
                                          <p:spTgt spid="10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1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1000"/>
                                        <p:tgtEl>
                                          <p:spTgt spid="10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1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1000"/>
                                        <p:tgtEl>
                                          <p:spTgt spid="10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10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1000"/>
                                        <p:tgtEl>
                                          <p:spTgt spid="10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10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1000"/>
                                        <p:tgtEl>
                                          <p:spTgt spid="10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3" dur="500"/>
                                        <p:tgtEl>
                                          <p:spTgt spid="10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8" dur="1000"/>
                                        <p:tgtEl>
                                          <p:spTgt spid="10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10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8" dur="1000"/>
                                        <p:tgtEl>
                                          <p:spTgt spid="10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3" dur="500"/>
                                        <p:tgtEl>
                                          <p:spTgt spid="10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10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3" dur="500"/>
                                        <p:tgtEl>
                                          <p:spTgt spid="10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10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3" dur="500"/>
                                        <p:tgtEl>
                                          <p:spTgt spid="10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10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3" dur="500"/>
                                        <p:tgtEl>
                                          <p:spTgt spid="10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8" dur="500"/>
                                        <p:tgtEl>
                                          <p:spTgt spid="10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3" dur="500"/>
                                        <p:tgtEl>
                                          <p:spTgt spid="10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8" dur="500"/>
                                        <p:tgtEl>
                                          <p:spTgt spid="10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3" dur="500"/>
                                        <p:tgtEl>
                                          <p:spTgt spid="10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8" dur="500"/>
                                        <p:tgtEl>
                                          <p:spTgt spid="10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3" dur="500"/>
                                        <p:tgtEl>
                                          <p:spTgt spid="10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8" dur="500"/>
                                        <p:tgtEl>
                                          <p:spTgt spid="10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3" dur="500"/>
                                        <p:tgtEl>
                                          <p:spTgt spid="10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8" dur="500"/>
                                        <p:tgtEl>
                                          <p:spTgt spid="10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3" dur="500"/>
                                        <p:tgtEl>
                                          <p:spTgt spid="10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8" dur="1000"/>
                                        <p:tgtEl>
                                          <p:spTgt spid="10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3" dur="500"/>
                                        <p:tgtEl>
                                          <p:spTgt spid="10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8" dur="1000"/>
                                        <p:tgtEl>
                                          <p:spTgt spid="10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3" dur="500"/>
                                        <p:tgtEl>
                                          <p:spTgt spid="10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8" dur="1000"/>
                                        <p:tgtEl>
                                          <p:spTgt spid="10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3" dur="500"/>
                                        <p:tgtEl>
                                          <p:spTgt spid="10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8" dur="1000"/>
                                        <p:tgtEl>
                                          <p:spTgt spid="10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3" dur="500"/>
                                        <p:tgtEl>
                                          <p:spTgt spid="10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indefinite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8" dur="1000"/>
                                        <p:tgtEl>
                                          <p:spTgt spid="10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3" dur="500"/>
                                        <p:tgtEl>
                                          <p:spTgt spid="10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indefinite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8" dur="1000"/>
                                        <p:tgtEl>
                                          <p:spTgt spid="10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3" dur="500"/>
                                        <p:tgtEl>
                                          <p:spTgt spid="10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>
                      <p:stCondLst>
                        <p:cond delay="indefinite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8" dur="1000"/>
                                        <p:tgtEl>
                                          <p:spTgt spid="10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3" dur="500"/>
                                        <p:tgtEl>
                                          <p:spTgt spid="10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indefinite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id="2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8" dur="1000"/>
                                        <p:tgtEl>
                                          <p:spTgt spid="10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" fill="hold">
                      <p:stCondLst>
                        <p:cond delay="indefinite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3" dur="500"/>
                                        <p:tgtEl>
                                          <p:spTgt spid="10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4" fill="hold">
                      <p:stCondLst>
                        <p:cond delay="indefinite"/>
                      </p:stCondLst>
                      <p:childTnLst>
                        <p:par>
                          <p:cTn id="295" fill="hold">
                            <p:stCondLst>
                              <p:cond delay="0"/>
                            </p:stCondLst>
                            <p:childTnLst>
                              <p:par>
                                <p:cTn id="29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8" dur="1000"/>
                                        <p:tgtEl>
                                          <p:spTgt spid="10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9" fill="hold">
                      <p:stCondLst>
                        <p:cond delay="indefinite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3" dur="500"/>
                                        <p:tgtEl>
                                          <p:spTgt spid="10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4" fill="hold">
                      <p:stCondLst>
                        <p:cond delay="indefinite"/>
                      </p:stCondLst>
                      <p:childTnLst>
                        <p:par>
                          <p:cTn id="305" fill="hold">
                            <p:stCondLst>
                              <p:cond delay="0"/>
                            </p:stCondLst>
                            <p:childTnLst>
                              <p:par>
                                <p:cTn id="3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8" dur="1000"/>
                                        <p:tgtEl>
                                          <p:spTgt spid="10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" fill="hold">
                      <p:stCondLst>
                        <p:cond delay="indefinite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3" dur="500"/>
                                        <p:tgtEl>
                                          <p:spTgt spid="10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4" fill="hold">
                      <p:stCondLst>
                        <p:cond delay="indefinite"/>
                      </p:stCondLst>
                      <p:childTnLst>
                        <p:par>
                          <p:cTn id="315" fill="hold">
                            <p:stCondLst>
                              <p:cond delay="0"/>
                            </p:stCondLst>
                            <p:childTnLst>
                              <p:par>
                                <p:cTn id="3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8" dur="1000"/>
                                        <p:tgtEl>
                                          <p:spTgt spid="10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" fill="hold">
                      <p:stCondLst>
                        <p:cond delay="indefinite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id="3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3" dur="500"/>
                                        <p:tgtEl>
                                          <p:spTgt spid="10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4" fill="hold">
                      <p:stCondLst>
                        <p:cond delay="indefinite"/>
                      </p:stCondLst>
                      <p:childTnLst>
                        <p:par>
                          <p:cTn id="325" fill="hold">
                            <p:stCondLst>
                              <p:cond delay="0"/>
                            </p:stCondLst>
                            <p:childTnLst>
                              <p:par>
                                <p:cTn id="3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8" dur="1000"/>
                                        <p:tgtEl>
                                          <p:spTgt spid="10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9" fill="hold">
                      <p:stCondLst>
                        <p:cond delay="indefinite"/>
                      </p:stCondLst>
                      <p:childTnLst>
                        <p:par>
                          <p:cTn id="330" fill="hold">
                            <p:stCondLst>
                              <p:cond delay="0"/>
                            </p:stCondLst>
                            <p:childTnLst>
                              <p:par>
                                <p:cTn id="3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3" dur="500"/>
                                        <p:tgtEl>
                                          <p:spTgt spid="10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4" fill="hold">
                      <p:stCondLst>
                        <p:cond delay="indefinite"/>
                      </p:stCondLst>
                      <p:childTnLst>
                        <p:par>
                          <p:cTn id="335" fill="hold">
                            <p:stCondLst>
                              <p:cond delay="0"/>
                            </p:stCondLst>
                            <p:childTnLst>
                              <p:par>
                                <p:cTn id="3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8" dur="1000"/>
                                        <p:tgtEl>
                                          <p:spTgt spid="10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fill="hold">
                      <p:stCondLst>
                        <p:cond delay="indefinite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3" dur="5000" fill="hold"/>
                                        <p:tgtEl>
                                          <p:spTgt spid="105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4" dur="5000" fill="hold"/>
                                        <p:tgtEl>
                                          <p:spTgt spid="105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69" grpId="0" animBg="1"/>
      <p:bldP spid="10471" grpId="0" animBg="1"/>
      <p:bldP spid="10479" grpId="0" animBg="1" autoUpdateAnimBg="0"/>
      <p:bldP spid="10480" grpId="0" animBg="1" autoUpdateAnimBg="0"/>
      <p:bldP spid="10481" grpId="0" animBg="1" autoUpdateAnimBg="0"/>
      <p:bldP spid="10482" grpId="0" autoUpdateAnimBg="0"/>
      <p:bldP spid="10483" grpId="0" animBg="1" autoUpdateAnimBg="0"/>
      <p:bldP spid="10484" grpId="0" animBg="1" autoUpdateAnimBg="0"/>
      <p:bldP spid="10485" grpId="0" animBg="1" autoUpdateAnimBg="0"/>
      <p:bldP spid="10486" grpId="0" animBg="1" autoUpdateAnimBg="0"/>
      <p:bldP spid="10487" grpId="0" animBg="1" autoUpdateAnimBg="0"/>
      <p:bldP spid="10488" grpId="0" animBg="1" autoUpdateAnimBg="0"/>
      <p:bldP spid="10489" grpId="0" animBg="1" autoUpdateAnimBg="0"/>
      <p:bldP spid="10490" grpId="0" animBg="1" autoUpdateAnimBg="0"/>
      <p:bldP spid="10491" grpId="0" animBg="1"/>
      <p:bldP spid="10492" grpId="0" animBg="1"/>
      <p:bldP spid="10493" grpId="0" animBg="1"/>
      <p:bldP spid="10494" grpId="0" animBg="1"/>
      <p:bldP spid="10495" grpId="0" animBg="1"/>
      <p:bldP spid="10496" grpId="0" animBg="1"/>
      <p:bldP spid="10497" grpId="0" animBg="1"/>
      <p:bldP spid="10498" grpId="0" animBg="1"/>
      <p:bldP spid="10499" grpId="0" animBg="1" autoUpdateAnimBg="0"/>
      <p:bldP spid="10500" grpId="0" animBg="1" autoUpdateAnimBg="0"/>
      <p:bldP spid="10501" grpId="0" animBg="1" autoUpdateAnimBg="0"/>
      <p:bldP spid="10502" grpId="0" animBg="1" autoUpdateAnimBg="0"/>
      <p:bldP spid="10503" grpId="0" animBg="1" autoUpdateAnimBg="0"/>
      <p:bldP spid="10504" grpId="0" animBg="1" autoUpdateAnimBg="0"/>
      <p:bldP spid="10505" grpId="0" animBg="1" autoUpdateAnimBg="0"/>
      <p:bldP spid="10506" grpId="0" animBg="1" autoUpdateAnimBg="0"/>
      <p:bldP spid="10507" grpId="0" autoUpdateAnimBg="0"/>
      <p:bldP spid="10508" grpId="0" autoUpdateAnimBg="0"/>
      <p:bldP spid="10509" grpId="0" autoUpdateAnimBg="0"/>
      <p:bldP spid="10510" grpId="0" autoUpdateAnimBg="0"/>
      <p:bldP spid="10511" grpId="0" autoUpdateAnimBg="0"/>
      <p:bldP spid="10512" grpId="0" autoUpdateAnimBg="0"/>
      <p:bldP spid="10513" grpId="0" animBg="1"/>
      <p:bldP spid="10518" grpId="0" animBg="1"/>
      <p:bldP spid="10519" grpId="0" animBg="1"/>
      <p:bldP spid="10520" grpId="0" animBg="1"/>
      <p:bldP spid="10521" grpId="0" animBg="1"/>
      <p:bldP spid="10522" grpId="0" animBg="1"/>
      <p:bldP spid="10523" grpId="0" animBg="1"/>
      <p:bldP spid="10524" grpId="0" animBg="1"/>
      <p:bldP spid="10525" grpId="0" animBg="1"/>
      <p:bldP spid="10526" grpId="0" animBg="1"/>
      <p:bldP spid="10527" grpId="0" animBg="1"/>
      <p:bldP spid="10528" grpId="0" animBg="1"/>
      <p:bldP spid="10529" grpId="0" animBg="1"/>
      <p:bldP spid="10530" grpId="0" animBg="1"/>
      <p:bldP spid="10531" grpId="0" animBg="1"/>
      <p:bldP spid="10532" grpId="0" animBg="1"/>
      <p:bldP spid="10533" grpId="0" animBg="1"/>
      <p:bldP spid="10534" grpId="0" animBg="1"/>
      <p:bldP spid="10535" grpId="0" animBg="1"/>
      <p:bldP spid="10536" grpId="0" animBg="1"/>
      <p:bldP spid="10537" grpId="0" animBg="1"/>
      <p:bldP spid="10538" grpId="0" animBg="1"/>
      <p:bldP spid="10539" grpId="0" animBg="1"/>
      <p:bldP spid="10540" grpId="0" animBg="1"/>
      <p:bldP spid="10541" grpId="0" animBg="1"/>
      <p:bldP spid="10542" grpId="0" animBg="1"/>
      <p:bldP spid="10543" grpId="0" animBg="1"/>
      <p:bldP spid="10544" grpId="0" animBg="1"/>
      <p:bldP spid="10545" grpId="0" animBg="1"/>
      <p:bldP spid="10546" grpId="0" animBg="1"/>
      <p:bldP spid="10547" grpId="0" animBg="1"/>
      <p:bldP spid="1055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2" name="Text Box 30"/>
          <p:cNvSpPr txBox="1">
            <a:spLocks noChangeArrowheads="1"/>
          </p:cNvSpPr>
          <p:nvPr/>
        </p:nvSpPr>
        <p:spPr bwMode="auto">
          <a:xfrm>
            <a:off x="2246313" y="549275"/>
            <a:ext cx="2698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</a:pPr>
            <a:r>
              <a:rPr kumimoji="0" lang="en-US" altLang="zh-CN">
                <a:ea typeface="华文中宋" pitchFamily="2" charset="-122"/>
              </a:rPr>
              <a:t>3.2.5   </a:t>
            </a:r>
            <a:r>
              <a:rPr kumimoji="0" lang="zh-CN" altLang="en-US">
                <a:ea typeface="华文中宋" pitchFamily="2" charset="-122"/>
              </a:rPr>
              <a:t>表达式求值  </a:t>
            </a:r>
          </a:p>
        </p:txBody>
      </p:sp>
      <p:sp>
        <p:nvSpPr>
          <p:cNvPr id="13344" name="Text Box 32"/>
          <p:cNvSpPr txBox="1">
            <a:spLocks noChangeArrowheads="1"/>
          </p:cNvSpPr>
          <p:nvPr/>
        </p:nvSpPr>
        <p:spPr bwMode="auto">
          <a:xfrm>
            <a:off x="2220914" y="1490663"/>
            <a:ext cx="15017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latin typeface="华文中宋" pitchFamily="2" charset="-122"/>
                <a:ea typeface="华文中宋" pitchFamily="2" charset="-122"/>
              </a:rPr>
              <a:t>运算规则 </a:t>
            </a:r>
          </a:p>
        </p:txBody>
      </p:sp>
      <p:sp>
        <p:nvSpPr>
          <p:cNvPr id="13345" name="AutoShape 33"/>
          <p:cNvSpPr>
            <a:spLocks/>
          </p:cNvSpPr>
          <p:nvPr/>
        </p:nvSpPr>
        <p:spPr bwMode="auto">
          <a:xfrm>
            <a:off x="3592513" y="1262063"/>
            <a:ext cx="152400" cy="990600"/>
          </a:xfrm>
          <a:prstGeom prst="leftBrace">
            <a:avLst>
              <a:gd name="adj1" fmla="val 541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46" name="Text Box 34"/>
          <p:cNvSpPr txBox="1">
            <a:spLocks noChangeArrowheads="1"/>
          </p:cNvSpPr>
          <p:nvPr/>
        </p:nvSpPr>
        <p:spPr bwMode="auto">
          <a:xfrm>
            <a:off x="3744913" y="1033463"/>
            <a:ext cx="2819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latin typeface="华文中宋" pitchFamily="2" charset="-122"/>
                <a:ea typeface="华文中宋" pitchFamily="2" charset="-122"/>
              </a:rPr>
              <a:t>先乘除，后加减；  </a:t>
            </a:r>
          </a:p>
        </p:txBody>
      </p:sp>
      <p:sp>
        <p:nvSpPr>
          <p:cNvPr id="13347" name="Text Box 35"/>
          <p:cNvSpPr txBox="1">
            <a:spLocks noChangeArrowheads="1"/>
          </p:cNvSpPr>
          <p:nvPr/>
        </p:nvSpPr>
        <p:spPr bwMode="auto">
          <a:xfrm>
            <a:off x="3744913" y="1490663"/>
            <a:ext cx="2209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latin typeface="华文中宋" pitchFamily="2" charset="-122"/>
                <a:ea typeface="华文中宋" pitchFamily="2" charset="-122"/>
              </a:rPr>
              <a:t>从左算到右；  </a:t>
            </a:r>
          </a:p>
        </p:txBody>
      </p:sp>
      <p:sp>
        <p:nvSpPr>
          <p:cNvPr id="13348" name="Text Box 36"/>
          <p:cNvSpPr txBox="1">
            <a:spLocks noChangeArrowheads="1"/>
          </p:cNvSpPr>
          <p:nvPr/>
        </p:nvSpPr>
        <p:spPr bwMode="auto">
          <a:xfrm>
            <a:off x="3744913" y="1947863"/>
            <a:ext cx="3429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latin typeface="华文中宋" pitchFamily="2" charset="-122"/>
                <a:ea typeface="华文中宋" pitchFamily="2" charset="-122"/>
              </a:rPr>
              <a:t>先括号内，后括号外；  </a:t>
            </a:r>
          </a:p>
        </p:txBody>
      </p:sp>
      <p:sp>
        <p:nvSpPr>
          <p:cNvPr id="13349" name="Text Box 37"/>
          <p:cNvSpPr txBox="1">
            <a:spLocks noChangeArrowheads="1"/>
          </p:cNvSpPr>
          <p:nvPr/>
        </p:nvSpPr>
        <p:spPr bwMode="auto">
          <a:xfrm>
            <a:off x="2220913" y="2400300"/>
            <a:ext cx="47482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ea typeface="华文中宋" pitchFamily="2" charset="-122"/>
              </a:rPr>
              <a:t>例：</a:t>
            </a:r>
            <a:r>
              <a:rPr lang="zh-CN" altLang="en-US"/>
              <a:t>求表达式  </a:t>
            </a:r>
            <a:r>
              <a:rPr lang="en-US" altLang="zh-CN"/>
              <a:t>4+2</a:t>
            </a:r>
            <a:r>
              <a:rPr lang="en-US" altLang="zh-CN">
                <a:sym typeface="Symbol" pitchFamily="18" charset="2"/>
              </a:rPr>
              <a:t>3-10/5 </a:t>
            </a:r>
            <a:r>
              <a:rPr lang="en-US" altLang="zh-CN"/>
              <a:t> </a:t>
            </a:r>
            <a:r>
              <a:rPr lang="zh-CN" altLang="en-US"/>
              <a:t>的值。 </a:t>
            </a:r>
          </a:p>
        </p:txBody>
      </p:sp>
      <p:sp>
        <p:nvSpPr>
          <p:cNvPr id="13350" name="Text Box 38"/>
          <p:cNvSpPr txBox="1">
            <a:spLocks noChangeArrowheads="1"/>
          </p:cNvSpPr>
          <p:nvPr/>
        </p:nvSpPr>
        <p:spPr bwMode="auto">
          <a:xfrm>
            <a:off x="2220914" y="2862263"/>
            <a:ext cx="77628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        </a:t>
            </a:r>
            <a:r>
              <a:rPr lang="zh-CN" altLang="en-US"/>
              <a:t>计算顺序为：</a:t>
            </a:r>
            <a:r>
              <a:rPr lang="en-US" altLang="zh-CN"/>
              <a:t>4+2</a:t>
            </a:r>
            <a:r>
              <a:rPr lang="en-US" altLang="zh-CN">
                <a:sym typeface="Symbol" pitchFamily="18" charset="2"/>
              </a:rPr>
              <a:t>3-10/5=4+6-10/5=10-10/5=10-2=8  </a:t>
            </a:r>
            <a:r>
              <a:rPr lang="en-US" altLang="zh-CN"/>
              <a:t> </a:t>
            </a:r>
          </a:p>
        </p:txBody>
      </p:sp>
      <p:sp>
        <p:nvSpPr>
          <p:cNvPr id="13369" name="Text Box 57"/>
          <p:cNvSpPr txBox="1">
            <a:spLocks noChangeArrowheads="1"/>
          </p:cNvSpPr>
          <p:nvPr/>
        </p:nvSpPr>
        <p:spPr bwMode="auto">
          <a:xfrm>
            <a:off x="3227389" y="5741988"/>
            <a:ext cx="21113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latin typeface="华文中宋" pitchFamily="2" charset="-122"/>
                <a:ea typeface="华文中宋" pitchFamily="2" charset="-122"/>
              </a:rPr>
              <a:t>操作数或结果 </a:t>
            </a:r>
          </a:p>
        </p:txBody>
      </p:sp>
      <p:sp>
        <p:nvSpPr>
          <p:cNvPr id="13370" name="Text Box 58"/>
          <p:cNvSpPr txBox="1">
            <a:spLocks noChangeArrowheads="1"/>
          </p:cNvSpPr>
          <p:nvPr/>
        </p:nvSpPr>
        <p:spPr bwMode="auto">
          <a:xfrm>
            <a:off x="7853364" y="5741988"/>
            <a:ext cx="11969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latin typeface="华文中宋" pitchFamily="2" charset="-122"/>
                <a:ea typeface="华文中宋" pitchFamily="2" charset="-122"/>
              </a:rPr>
              <a:t>运算符 </a:t>
            </a:r>
          </a:p>
        </p:txBody>
      </p:sp>
      <p:sp>
        <p:nvSpPr>
          <p:cNvPr id="13371" name="Text Box 59"/>
          <p:cNvSpPr txBox="1">
            <a:spLocks noChangeArrowheads="1"/>
          </p:cNvSpPr>
          <p:nvPr/>
        </p:nvSpPr>
        <p:spPr bwMode="auto">
          <a:xfrm>
            <a:off x="8234363" y="4994276"/>
            <a:ext cx="4508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800"/>
              <a:t># </a:t>
            </a:r>
          </a:p>
        </p:txBody>
      </p:sp>
      <p:sp useBgFill="1">
        <p:nvSpPr>
          <p:cNvPr id="13372" name="Text Box 60"/>
          <p:cNvSpPr txBox="1">
            <a:spLocks noChangeArrowheads="1"/>
          </p:cNvSpPr>
          <p:nvPr/>
        </p:nvSpPr>
        <p:spPr bwMode="auto">
          <a:xfrm>
            <a:off x="4087813" y="4979988"/>
            <a:ext cx="412750" cy="45720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4 </a:t>
            </a:r>
          </a:p>
        </p:txBody>
      </p:sp>
      <p:sp useBgFill="1">
        <p:nvSpPr>
          <p:cNvPr id="13373" name="Text Box 61"/>
          <p:cNvSpPr txBox="1">
            <a:spLocks noChangeArrowheads="1"/>
          </p:cNvSpPr>
          <p:nvPr/>
        </p:nvSpPr>
        <p:spPr bwMode="auto">
          <a:xfrm>
            <a:off x="8234363" y="4613276"/>
            <a:ext cx="476250" cy="519113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800"/>
              <a:t>+ </a:t>
            </a:r>
          </a:p>
        </p:txBody>
      </p:sp>
      <p:sp useBgFill="1">
        <p:nvSpPr>
          <p:cNvPr id="13374" name="Text Box 62"/>
          <p:cNvSpPr txBox="1">
            <a:spLocks noChangeArrowheads="1"/>
          </p:cNvSpPr>
          <p:nvPr/>
        </p:nvSpPr>
        <p:spPr bwMode="auto">
          <a:xfrm>
            <a:off x="4087813" y="4598988"/>
            <a:ext cx="412750" cy="45720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2 </a:t>
            </a:r>
          </a:p>
        </p:txBody>
      </p:sp>
      <p:sp useBgFill="1">
        <p:nvSpPr>
          <p:cNvPr id="13375" name="Text Box 63"/>
          <p:cNvSpPr txBox="1">
            <a:spLocks noChangeArrowheads="1"/>
          </p:cNvSpPr>
          <p:nvPr/>
        </p:nvSpPr>
        <p:spPr bwMode="auto">
          <a:xfrm>
            <a:off x="8234364" y="4211638"/>
            <a:ext cx="428625" cy="45720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ym typeface="Symbol" pitchFamily="18" charset="2"/>
              </a:rPr>
              <a:t></a:t>
            </a:r>
            <a:r>
              <a:rPr lang="en-US" altLang="zh-CN"/>
              <a:t> </a:t>
            </a:r>
          </a:p>
        </p:txBody>
      </p:sp>
      <p:sp useBgFill="1">
        <p:nvSpPr>
          <p:cNvPr id="13376" name="Text Box 64"/>
          <p:cNvSpPr txBox="1">
            <a:spLocks noChangeArrowheads="1"/>
          </p:cNvSpPr>
          <p:nvPr/>
        </p:nvSpPr>
        <p:spPr bwMode="auto">
          <a:xfrm>
            <a:off x="4071938" y="4224338"/>
            <a:ext cx="412750" cy="45720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ym typeface="Symbol" pitchFamily="18" charset="2"/>
              </a:rPr>
              <a:t>3</a:t>
            </a:r>
            <a:r>
              <a:rPr lang="en-US" altLang="zh-CN"/>
              <a:t> </a:t>
            </a:r>
          </a:p>
        </p:txBody>
      </p:sp>
      <p:sp useBgFill="1">
        <p:nvSpPr>
          <p:cNvPr id="13377" name="Rectangle 65"/>
          <p:cNvSpPr>
            <a:spLocks noChangeArrowheads="1"/>
          </p:cNvSpPr>
          <p:nvPr/>
        </p:nvSpPr>
        <p:spPr bwMode="auto">
          <a:xfrm>
            <a:off x="4119563" y="4329114"/>
            <a:ext cx="228600" cy="269875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 useBgFill="1">
        <p:nvSpPr>
          <p:cNvPr id="13378" name="Rectangle 66"/>
          <p:cNvSpPr>
            <a:spLocks noChangeArrowheads="1"/>
          </p:cNvSpPr>
          <p:nvPr/>
        </p:nvSpPr>
        <p:spPr bwMode="auto">
          <a:xfrm>
            <a:off x="4119563" y="4710114"/>
            <a:ext cx="228600" cy="269875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 useBgFill="1">
        <p:nvSpPr>
          <p:cNvPr id="13379" name="Rectangle 67"/>
          <p:cNvSpPr>
            <a:spLocks noChangeArrowheads="1"/>
          </p:cNvSpPr>
          <p:nvPr/>
        </p:nvSpPr>
        <p:spPr bwMode="auto">
          <a:xfrm>
            <a:off x="8310563" y="4329114"/>
            <a:ext cx="228600" cy="269875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 useBgFill="1">
        <p:nvSpPr>
          <p:cNvPr id="13380" name="Text Box 68"/>
          <p:cNvSpPr txBox="1">
            <a:spLocks noChangeArrowheads="1"/>
          </p:cNvSpPr>
          <p:nvPr/>
        </p:nvSpPr>
        <p:spPr bwMode="auto">
          <a:xfrm>
            <a:off x="4087813" y="4598988"/>
            <a:ext cx="412750" cy="45720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6 </a:t>
            </a:r>
          </a:p>
        </p:txBody>
      </p:sp>
      <p:sp useBgFill="1">
        <p:nvSpPr>
          <p:cNvPr id="13382" name="Rectangle 70"/>
          <p:cNvSpPr>
            <a:spLocks noChangeArrowheads="1"/>
          </p:cNvSpPr>
          <p:nvPr/>
        </p:nvSpPr>
        <p:spPr bwMode="auto">
          <a:xfrm>
            <a:off x="4119563" y="4710114"/>
            <a:ext cx="228600" cy="269875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 useBgFill="1">
        <p:nvSpPr>
          <p:cNvPr id="13383" name="Rectangle 71"/>
          <p:cNvSpPr>
            <a:spLocks noChangeArrowheads="1"/>
          </p:cNvSpPr>
          <p:nvPr/>
        </p:nvSpPr>
        <p:spPr bwMode="auto">
          <a:xfrm>
            <a:off x="4119563" y="5091114"/>
            <a:ext cx="228600" cy="269875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 useBgFill="1">
        <p:nvSpPr>
          <p:cNvPr id="13384" name="Rectangle 72"/>
          <p:cNvSpPr>
            <a:spLocks noChangeArrowheads="1"/>
          </p:cNvSpPr>
          <p:nvPr/>
        </p:nvSpPr>
        <p:spPr bwMode="auto">
          <a:xfrm>
            <a:off x="8310563" y="4751389"/>
            <a:ext cx="228600" cy="269875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 useBgFill="1">
        <p:nvSpPr>
          <p:cNvPr id="13385" name="Text Box 73"/>
          <p:cNvSpPr txBox="1">
            <a:spLocks noChangeArrowheads="1"/>
          </p:cNvSpPr>
          <p:nvPr/>
        </p:nvSpPr>
        <p:spPr bwMode="auto">
          <a:xfrm>
            <a:off x="4043363" y="4979988"/>
            <a:ext cx="565150" cy="45720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10 </a:t>
            </a:r>
          </a:p>
        </p:txBody>
      </p:sp>
      <p:sp useBgFill="1">
        <p:nvSpPr>
          <p:cNvPr id="13386" name="Text Box 74"/>
          <p:cNvSpPr txBox="1">
            <a:spLocks noChangeArrowheads="1"/>
          </p:cNvSpPr>
          <p:nvPr/>
        </p:nvSpPr>
        <p:spPr bwMode="auto">
          <a:xfrm>
            <a:off x="8286751" y="4548188"/>
            <a:ext cx="481013" cy="519112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800">
                <a:ea typeface="宋体" pitchFamily="2" charset="-122"/>
              </a:rPr>
              <a:t>-  </a:t>
            </a:r>
          </a:p>
        </p:txBody>
      </p:sp>
      <p:sp useBgFill="1">
        <p:nvSpPr>
          <p:cNvPr id="13387" name="Text Box 75"/>
          <p:cNvSpPr txBox="1">
            <a:spLocks noChangeArrowheads="1"/>
          </p:cNvSpPr>
          <p:nvPr/>
        </p:nvSpPr>
        <p:spPr bwMode="auto">
          <a:xfrm>
            <a:off x="4043363" y="4598988"/>
            <a:ext cx="565150" cy="45720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10 </a:t>
            </a:r>
          </a:p>
        </p:txBody>
      </p:sp>
      <p:sp useBgFill="1">
        <p:nvSpPr>
          <p:cNvPr id="13388" name="Text Box 76"/>
          <p:cNvSpPr txBox="1">
            <a:spLocks noChangeArrowheads="1"/>
          </p:cNvSpPr>
          <p:nvPr/>
        </p:nvSpPr>
        <p:spPr bwMode="auto">
          <a:xfrm>
            <a:off x="8307389" y="4232276"/>
            <a:ext cx="460375" cy="519113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800"/>
              <a:t>/  </a:t>
            </a:r>
          </a:p>
        </p:txBody>
      </p:sp>
      <p:sp useBgFill="1">
        <p:nvSpPr>
          <p:cNvPr id="13390" name="Text Box 78"/>
          <p:cNvSpPr txBox="1">
            <a:spLocks noChangeArrowheads="1"/>
          </p:cNvSpPr>
          <p:nvPr/>
        </p:nvSpPr>
        <p:spPr bwMode="auto">
          <a:xfrm>
            <a:off x="4119563" y="4217988"/>
            <a:ext cx="412750" cy="45720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5 </a:t>
            </a:r>
          </a:p>
        </p:txBody>
      </p:sp>
      <p:sp useBgFill="1">
        <p:nvSpPr>
          <p:cNvPr id="13391" name="Rectangle 79"/>
          <p:cNvSpPr>
            <a:spLocks noChangeArrowheads="1"/>
          </p:cNvSpPr>
          <p:nvPr/>
        </p:nvSpPr>
        <p:spPr bwMode="auto">
          <a:xfrm>
            <a:off x="4152900" y="4329114"/>
            <a:ext cx="228600" cy="269875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 useBgFill="1">
        <p:nvSpPr>
          <p:cNvPr id="13392" name="Rectangle 80"/>
          <p:cNvSpPr>
            <a:spLocks noChangeArrowheads="1"/>
          </p:cNvSpPr>
          <p:nvPr/>
        </p:nvSpPr>
        <p:spPr bwMode="auto">
          <a:xfrm>
            <a:off x="4119563" y="4710114"/>
            <a:ext cx="381000" cy="269875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 useBgFill="1">
        <p:nvSpPr>
          <p:cNvPr id="13393" name="Rectangle 81"/>
          <p:cNvSpPr>
            <a:spLocks noChangeArrowheads="1"/>
          </p:cNvSpPr>
          <p:nvPr/>
        </p:nvSpPr>
        <p:spPr bwMode="auto">
          <a:xfrm>
            <a:off x="8234363" y="4370389"/>
            <a:ext cx="381000" cy="269875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 useBgFill="1">
        <p:nvSpPr>
          <p:cNvPr id="13395" name="Rectangle 83"/>
          <p:cNvSpPr>
            <a:spLocks noChangeArrowheads="1"/>
          </p:cNvSpPr>
          <p:nvPr/>
        </p:nvSpPr>
        <p:spPr bwMode="auto">
          <a:xfrm>
            <a:off x="4043363" y="5091114"/>
            <a:ext cx="457200" cy="269875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 useBgFill="1">
        <p:nvSpPr>
          <p:cNvPr id="13396" name="Rectangle 84"/>
          <p:cNvSpPr>
            <a:spLocks noChangeArrowheads="1"/>
          </p:cNvSpPr>
          <p:nvPr/>
        </p:nvSpPr>
        <p:spPr bwMode="auto">
          <a:xfrm>
            <a:off x="8234363" y="4710114"/>
            <a:ext cx="381000" cy="269875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 useBgFill="1">
        <p:nvSpPr>
          <p:cNvPr id="13397" name="Text Box 85"/>
          <p:cNvSpPr txBox="1">
            <a:spLocks noChangeArrowheads="1"/>
          </p:cNvSpPr>
          <p:nvPr/>
        </p:nvSpPr>
        <p:spPr bwMode="auto">
          <a:xfrm>
            <a:off x="4043363" y="4979988"/>
            <a:ext cx="336550" cy="45720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8</a:t>
            </a:r>
          </a:p>
        </p:txBody>
      </p:sp>
      <p:grpSp>
        <p:nvGrpSpPr>
          <p:cNvPr id="13360" name="Group 48"/>
          <p:cNvGrpSpPr>
            <a:grpSpLocks/>
          </p:cNvGrpSpPr>
          <p:nvPr/>
        </p:nvGrpSpPr>
        <p:grpSpPr bwMode="auto">
          <a:xfrm>
            <a:off x="7396163" y="3532188"/>
            <a:ext cx="1981200" cy="2057400"/>
            <a:chOff x="816" y="2016"/>
            <a:chExt cx="480" cy="1296"/>
          </a:xfrm>
        </p:grpSpPr>
        <p:sp>
          <p:nvSpPr>
            <p:cNvPr id="13361" name="Line 49"/>
            <p:cNvSpPr>
              <a:spLocks noChangeShapeType="1"/>
            </p:cNvSpPr>
            <p:nvPr/>
          </p:nvSpPr>
          <p:spPr bwMode="auto">
            <a:xfrm>
              <a:off x="816" y="2016"/>
              <a:ext cx="0" cy="12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62" name="Line 50"/>
            <p:cNvSpPr>
              <a:spLocks noChangeShapeType="1"/>
            </p:cNvSpPr>
            <p:nvPr/>
          </p:nvSpPr>
          <p:spPr bwMode="auto">
            <a:xfrm>
              <a:off x="1296" y="2016"/>
              <a:ext cx="0" cy="12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63" name="Line 51"/>
            <p:cNvSpPr>
              <a:spLocks noChangeShapeType="1"/>
            </p:cNvSpPr>
            <p:nvPr/>
          </p:nvSpPr>
          <p:spPr bwMode="auto">
            <a:xfrm>
              <a:off x="816" y="2016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64" name="Line 52"/>
            <p:cNvSpPr>
              <a:spLocks noChangeShapeType="1"/>
            </p:cNvSpPr>
            <p:nvPr/>
          </p:nvSpPr>
          <p:spPr bwMode="auto">
            <a:xfrm>
              <a:off x="816" y="2256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65" name="Line 53"/>
            <p:cNvSpPr>
              <a:spLocks noChangeShapeType="1"/>
            </p:cNvSpPr>
            <p:nvPr/>
          </p:nvSpPr>
          <p:spPr bwMode="auto">
            <a:xfrm>
              <a:off x="816" y="2496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66" name="Line 54"/>
            <p:cNvSpPr>
              <a:spLocks noChangeShapeType="1"/>
            </p:cNvSpPr>
            <p:nvPr/>
          </p:nvSpPr>
          <p:spPr bwMode="auto">
            <a:xfrm>
              <a:off x="816" y="2736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67" name="Line 55"/>
            <p:cNvSpPr>
              <a:spLocks noChangeShapeType="1"/>
            </p:cNvSpPr>
            <p:nvPr/>
          </p:nvSpPr>
          <p:spPr bwMode="auto">
            <a:xfrm>
              <a:off x="816" y="2976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68" name="Line 56"/>
            <p:cNvSpPr>
              <a:spLocks noChangeShapeType="1"/>
            </p:cNvSpPr>
            <p:nvPr/>
          </p:nvSpPr>
          <p:spPr bwMode="auto">
            <a:xfrm>
              <a:off x="816" y="3216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 useBgFill="1">
        <p:nvSpPr>
          <p:cNvPr id="13399" name="Text Box 87"/>
          <p:cNvSpPr txBox="1">
            <a:spLocks noChangeArrowheads="1"/>
          </p:cNvSpPr>
          <p:nvPr/>
        </p:nvSpPr>
        <p:spPr bwMode="auto">
          <a:xfrm>
            <a:off x="4044950" y="4627563"/>
            <a:ext cx="336550" cy="45720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2</a:t>
            </a:r>
          </a:p>
        </p:txBody>
      </p:sp>
      <p:sp useBgFill="1">
        <p:nvSpPr>
          <p:cNvPr id="13400" name="Rectangle 88"/>
          <p:cNvSpPr>
            <a:spLocks noChangeArrowheads="1"/>
          </p:cNvSpPr>
          <p:nvPr/>
        </p:nvSpPr>
        <p:spPr bwMode="auto">
          <a:xfrm>
            <a:off x="4092575" y="4743451"/>
            <a:ext cx="228600" cy="269875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3351" name="Group 39"/>
          <p:cNvGrpSpPr>
            <a:grpSpLocks/>
          </p:cNvGrpSpPr>
          <p:nvPr/>
        </p:nvGrpSpPr>
        <p:grpSpPr bwMode="auto">
          <a:xfrm>
            <a:off x="3281363" y="3532188"/>
            <a:ext cx="1981200" cy="2057400"/>
            <a:chOff x="816" y="2016"/>
            <a:chExt cx="480" cy="1296"/>
          </a:xfrm>
        </p:grpSpPr>
        <p:sp>
          <p:nvSpPr>
            <p:cNvPr id="13352" name="Line 40"/>
            <p:cNvSpPr>
              <a:spLocks noChangeShapeType="1"/>
            </p:cNvSpPr>
            <p:nvPr/>
          </p:nvSpPr>
          <p:spPr bwMode="auto">
            <a:xfrm>
              <a:off x="816" y="2016"/>
              <a:ext cx="0" cy="12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53" name="Line 41"/>
            <p:cNvSpPr>
              <a:spLocks noChangeShapeType="1"/>
            </p:cNvSpPr>
            <p:nvPr/>
          </p:nvSpPr>
          <p:spPr bwMode="auto">
            <a:xfrm>
              <a:off x="1296" y="2016"/>
              <a:ext cx="0" cy="12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54" name="Line 42"/>
            <p:cNvSpPr>
              <a:spLocks noChangeShapeType="1"/>
            </p:cNvSpPr>
            <p:nvPr/>
          </p:nvSpPr>
          <p:spPr bwMode="auto">
            <a:xfrm>
              <a:off x="816" y="2016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55" name="Line 43"/>
            <p:cNvSpPr>
              <a:spLocks noChangeShapeType="1"/>
            </p:cNvSpPr>
            <p:nvPr/>
          </p:nvSpPr>
          <p:spPr bwMode="auto">
            <a:xfrm>
              <a:off x="816" y="2256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56" name="Line 44"/>
            <p:cNvSpPr>
              <a:spLocks noChangeShapeType="1"/>
            </p:cNvSpPr>
            <p:nvPr/>
          </p:nvSpPr>
          <p:spPr bwMode="auto">
            <a:xfrm>
              <a:off x="816" y="2496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57" name="Line 45"/>
            <p:cNvSpPr>
              <a:spLocks noChangeShapeType="1"/>
            </p:cNvSpPr>
            <p:nvPr/>
          </p:nvSpPr>
          <p:spPr bwMode="auto">
            <a:xfrm>
              <a:off x="816" y="2736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58" name="Line 46"/>
            <p:cNvSpPr>
              <a:spLocks noChangeShapeType="1"/>
            </p:cNvSpPr>
            <p:nvPr/>
          </p:nvSpPr>
          <p:spPr bwMode="auto">
            <a:xfrm>
              <a:off x="816" y="2976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59" name="Line 47"/>
            <p:cNvSpPr>
              <a:spLocks noChangeShapeType="1"/>
            </p:cNvSpPr>
            <p:nvPr/>
          </p:nvSpPr>
          <p:spPr bwMode="auto">
            <a:xfrm>
              <a:off x="816" y="3216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3402" name="Rectangle 90"/>
          <p:cNvSpPr>
            <a:spLocks noChangeArrowheads="1"/>
          </p:cNvSpPr>
          <p:nvPr/>
        </p:nvSpPr>
        <p:spPr bwMode="auto">
          <a:xfrm>
            <a:off x="9912350" y="6683375"/>
            <a:ext cx="489236" cy="2484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30000"/>
              </a:lnSpc>
            </a:pPr>
            <a:r>
              <a:rPr lang="en-US" altLang="zh-CN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▲</a:t>
            </a: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13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3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33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33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3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33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33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13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3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3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13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13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13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13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13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13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13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13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13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2" dur="500"/>
                                        <p:tgtEl>
                                          <p:spTgt spid="13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500"/>
                                        <p:tgtEl>
                                          <p:spTgt spid="13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2" dur="500"/>
                                        <p:tgtEl>
                                          <p:spTgt spid="13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7" dur="500"/>
                                        <p:tgtEl>
                                          <p:spTgt spid="13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2" dur="500"/>
                                        <p:tgtEl>
                                          <p:spTgt spid="13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7" dur="500"/>
                                        <p:tgtEl>
                                          <p:spTgt spid="13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2" dur="500"/>
                                        <p:tgtEl>
                                          <p:spTgt spid="13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7" dur="500"/>
                                        <p:tgtEl>
                                          <p:spTgt spid="13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2" dur="500"/>
                                        <p:tgtEl>
                                          <p:spTgt spid="13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7" dur="500"/>
                                        <p:tgtEl>
                                          <p:spTgt spid="13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2" dur="500"/>
                                        <p:tgtEl>
                                          <p:spTgt spid="13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7" dur="500"/>
                                        <p:tgtEl>
                                          <p:spTgt spid="13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2" dur="500"/>
                                        <p:tgtEl>
                                          <p:spTgt spid="13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7" dur="500"/>
                                        <p:tgtEl>
                                          <p:spTgt spid="13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44" grpId="0" autoUpdateAnimBg="0"/>
      <p:bldP spid="13345" grpId="0" animBg="1"/>
      <p:bldP spid="13346" grpId="0" autoUpdateAnimBg="0"/>
      <p:bldP spid="13347" grpId="0" autoUpdateAnimBg="0"/>
      <p:bldP spid="13348" grpId="0" autoUpdateAnimBg="0"/>
      <p:bldP spid="13349" grpId="0" autoUpdateAnimBg="0"/>
      <p:bldP spid="13350" grpId="0" autoUpdateAnimBg="0"/>
      <p:bldP spid="13369" grpId="0" autoUpdateAnimBg="0"/>
      <p:bldP spid="13370" grpId="0" autoUpdateAnimBg="0"/>
      <p:bldP spid="13371" grpId="0" autoUpdateAnimBg="0"/>
      <p:bldP spid="13372" grpId="0" animBg="1" autoUpdateAnimBg="0"/>
      <p:bldP spid="13373" grpId="0" animBg="1" autoUpdateAnimBg="0"/>
      <p:bldP spid="13374" grpId="0" animBg="1" autoUpdateAnimBg="0"/>
      <p:bldP spid="13375" grpId="0" animBg="1" autoUpdateAnimBg="0"/>
      <p:bldP spid="13376" grpId="0" animBg="1" autoUpdateAnimBg="0"/>
      <p:bldP spid="13377" grpId="0" animBg="1"/>
      <p:bldP spid="13378" grpId="0" animBg="1"/>
      <p:bldP spid="13379" grpId="0" animBg="1"/>
      <p:bldP spid="13380" grpId="0" animBg="1" autoUpdateAnimBg="0"/>
      <p:bldP spid="13382" grpId="0" animBg="1"/>
      <p:bldP spid="13383" grpId="0" animBg="1"/>
      <p:bldP spid="13384" grpId="0" animBg="1"/>
      <p:bldP spid="13385" grpId="0" animBg="1" autoUpdateAnimBg="0"/>
      <p:bldP spid="13386" grpId="0" animBg="1" autoUpdateAnimBg="0"/>
      <p:bldP spid="13387" grpId="0" animBg="1" autoUpdateAnimBg="0"/>
      <p:bldP spid="13388" grpId="0" animBg="1" autoUpdateAnimBg="0"/>
      <p:bldP spid="13390" grpId="0" animBg="1" autoUpdateAnimBg="0"/>
      <p:bldP spid="13391" grpId="0" animBg="1"/>
      <p:bldP spid="13392" grpId="0" animBg="1"/>
      <p:bldP spid="13393" grpId="0" animBg="1"/>
      <p:bldP spid="13395" grpId="0" animBg="1"/>
      <p:bldP spid="13396" grpId="0" animBg="1"/>
      <p:bldP spid="13397" grpId="0" animBg="1" autoUpdateAnimBg="0"/>
      <p:bldP spid="13399" grpId="0" animBg="1" autoUpdateAnimBg="0"/>
      <p:bldP spid="1340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4" name="Rectangle 4"/>
          <p:cNvSpPr>
            <a:spLocks noChangeArrowheads="1"/>
          </p:cNvSpPr>
          <p:nvPr/>
        </p:nvSpPr>
        <p:spPr bwMode="auto">
          <a:xfrm>
            <a:off x="2389189" y="1188644"/>
            <a:ext cx="7340471" cy="1532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dirty="0"/>
              <a:t>      </a:t>
            </a:r>
            <a:r>
              <a:rPr lang="en-US" altLang="zh-CN" dirty="0">
                <a:latin typeface="华文中宋"/>
                <a:ea typeface="华文中宋" pitchFamily="2" charset="-122"/>
              </a:rPr>
              <a:t>“</a:t>
            </a:r>
            <a:r>
              <a:rPr lang="zh-CN" altLang="en-US" dirty="0"/>
              <a:t>四染色</a:t>
            </a:r>
            <a:r>
              <a:rPr lang="zh-CN" altLang="en-US" dirty="0">
                <a:latin typeface="华文中宋"/>
                <a:ea typeface="华文中宋" pitchFamily="2" charset="-122"/>
              </a:rPr>
              <a:t>”</a:t>
            </a:r>
            <a:r>
              <a:rPr lang="zh-CN" altLang="en-US" dirty="0"/>
              <a:t>定理是计算机科学中著名定理之一， </a:t>
            </a:r>
          </a:p>
          <a:p>
            <a:pPr>
              <a:lnSpc>
                <a:spcPct val="130000"/>
              </a:lnSpc>
            </a:pPr>
            <a:r>
              <a:rPr lang="zh-CN" altLang="en-US" dirty="0"/>
              <a:t>即可以用不多于四种颜色对地图着色，使相邻的行政 </a:t>
            </a:r>
          </a:p>
          <a:p>
            <a:pPr>
              <a:lnSpc>
                <a:spcPct val="130000"/>
              </a:lnSpc>
            </a:pPr>
            <a:r>
              <a:rPr lang="zh-CN" altLang="en-US" dirty="0"/>
              <a:t>区域不重色。 </a:t>
            </a:r>
          </a:p>
        </p:txBody>
      </p:sp>
      <p:sp>
        <p:nvSpPr>
          <p:cNvPr id="143365" name="Rectangle 5"/>
          <p:cNvSpPr>
            <a:spLocks noChangeArrowheads="1"/>
          </p:cNvSpPr>
          <p:nvPr/>
        </p:nvSpPr>
        <p:spPr bwMode="auto">
          <a:xfrm>
            <a:off x="2389189" y="620713"/>
            <a:ext cx="33305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latin typeface="华文中宋" pitchFamily="2" charset="-122"/>
                <a:ea typeface="华文中宋" pitchFamily="2" charset="-122"/>
              </a:rPr>
              <a:t>补充：地图四染色问题 </a:t>
            </a:r>
          </a:p>
        </p:txBody>
      </p:sp>
      <p:sp>
        <p:nvSpPr>
          <p:cNvPr id="143366" name="Rectangle 6"/>
          <p:cNvSpPr>
            <a:spLocks noChangeArrowheads="1"/>
          </p:cNvSpPr>
          <p:nvPr/>
        </p:nvSpPr>
        <p:spPr bwMode="auto">
          <a:xfrm>
            <a:off x="2366963" y="2735263"/>
            <a:ext cx="7307262" cy="3414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dirty="0"/>
              <a:t>        </a:t>
            </a:r>
            <a:r>
              <a:rPr lang="zh-CN" altLang="en-US" dirty="0">
                <a:ea typeface="华文中宋" pitchFamily="2" charset="-122"/>
              </a:rPr>
              <a:t>算法思想：</a:t>
            </a:r>
            <a:r>
              <a:rPr lang="zh-CN" altLang="en-US" dirty="0"/>
              <a:t>从第一号行政区开始逐一染色，每一 </a:t>
            </a:r>
          </a:p>
          <a:p>
            <a:pPr>
              <a:lnSpc>
                <a:spcPct val="130000"/>
              </a:lnSpc>
            </a:pPr>
            <a:r>
              <a:rPr lang="zh-CN" altLang="en-US" dirty="0"/>
              <a:t>个区域逐次用颜色  </a:t>
            </a:r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/>
              <a:t>3</a:t>
            </a:r>
            <a:r>
              <a:rPr lang="zh-CN" altLang="en-US" dirty="0"/>
              <a:t>、</a:t>
            </a:r>
            <a:r>
              <a:rPr lang="en-US" altLang="zh-CN" dirty="0"/>
              <a:t>4  </a:t>
            </a:r>
            <a:r>
              <a:rPr lang="zh-CN" altLang="en-US" dirty="0"/>
              <a:t>进行试探。若当前所 </a:t>
            </a:r>
          </a:p>
          <a:p>
            <a:pPr>
              <a:lnSpc>
                <a:spcPct val="130000"/>
              </a:lnSpc>
            </a:pPr>
            <a:r>
              <a:rPr lang="zh-CN" altLang="en-US" dirty="0"/>
              <a:t>取的色数与周围已染色的行政区不重色，则用栈记下 </a:t>
            </a:r>
          </a:p>
          <a:p>
            <a:pPr>
              <a:lnSpc>
                <a:spcPct val="130000"/>
              </a:lnSpc>
            </a:pPr>
            <a:r>
              <a:rPr lang="zh-CN" altLang="en-US" dirty="0"/>
              <a:t>该行政区的色数，否则依次用下一色数进行试探；若 </a:t>
            </a:r>
          </a:p>
          <a:p>
            <a:pPr>
              <a:lnSpc>
                <a:spcPct val="130000"/>
              </a:lnSpc>
            </a:pPr>
            <a:r>
              <a:rPr lang="zh-CN" altLang="en-US" dirty="0"/>
              <a:t>出现用 </a:t>
            </a:r>
            <a:r>
              <a:rPr lang="en-US" altLang="zh-CN" dirty="0"/>
              <a:t>1 </a:t>
            </a:r>
            <a:r>
              <a:rPr lang="zh-CN" altLang="en-US" dirty="0"/>
              <a:t>至 </a:t>
            </a:r>
            <a:r>
              <a:rPr lang="en-US" altLang="zh-CN" dirty="0"/>
              <a:t>4 </a:t>
            </a:r>
            <a:r>
              <a:rPr lang="zh-CN" altLang="en-US" dirty="0"/>
              <a:t>色均与相邻区域发生重色，则需退栈回 </a:t>
            </a:r>
          </a:p>
          <a:p>
            <a:pPr>
              <a:lnSpc>
                <a:spcPct val="130000"/>
              </a:lnSpc>
            </a:pPr>
            <a:r>
              <a:rPr lang="zh-CN" altLang="en-US" dirty="0"/>
              <a:t>溯，修改当前栈顶的色数，再进行试探。直至所有行 </a:t>
            </a:r>
          </a:p>
          <a:p>
            <a:pPr>
              <a:lnSpc>
                <a:spcPct val="130000"/>
              </a:lnSpc>
            </a:pPr>
            <a:r>
              <a:rPr lang="zh-CN" altLang="en-US" dirty="0"/>
              <a:t>政区域都已分配合适的颜色。 </a:t>
            </a: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433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33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6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15" name="Freeform 131"/>
          <p:cNvSpPr>
            <a:spLocks/>
          </p:cNvSpPr>
          <p:nvPr/>
        </p:nvSpPr>
        <p:spPr bwMode="auto">
          <a:xfrm>
            <a:off x="8509000" y="2997200"/>
            <a:ext cx="1187450" cy="2032000"/>
          </a:xfrm>
          <a:custGeom>
            <a:avLst/>
            <a:gdLst/>
            <a:ahLst/>
            <a:cxnLst>
              <a:cxn ang="0">
                <a:pos x="220" y="300"/>
              </a:cxn>
              <a:cxn ang="0">
                <a:pos x="316" y="63"/>
              </a:cxn>
              <a:cxn ang="0">
                <a:pos x="556" y="16"/>
              </a:cxn>
              <a:cxn ang="0">
                <a:pos x="700" y="158"/>
              </a:cxn>
              <a:cxn ang="0">
                <a:pos x="748" y="490"/>
              </a:cxn>
              <a:cxn ang="0">
                <a:pos x="700" y="964"/>
              </a:cxn>
              <a:cxn ang="0">
                <a:pos x="604" y="1248"/>
              </a:cxn>
              <a:cxn ang="0">
                <a:pos x="220" y="1154"/>
              </a:cxn>
              <a:cxn ang="0">
                <a:pos x="28" y="1011"/>
              </a:cxn>
              <a:cxn ang="0">
                <a:pos x="54" y="792"/>
              </a:cxn>
            </a:cxnLst>
            <a:rect l="0" t="0" r="r" b="b"/>
            <a:pathLst>
              <a:path w="748" h="1280">
                <a:moveTo>
                  <a:pt x="220" y="300"/>
                </a:moveTo>
                <a:cubicBezTo>
                  <a:pt x="240" y="205"/>
                  <a:pt x="260" y="111"/>
                  <a:pt x="316" y="63"/>
                </a:cubicBezTo>
                <a:cubicBezTo>
                  <a:pt x="372" y="16"/>
                  <a:pt x="492" y="0"/>
                  <a:pt x="556" y="16"/>
                </a:cubicBezTo>
                <a:cubicBezTo>
                  <a:pt x="620" y="32"/>
                  <a:pt x="668" y="79"/>
                  <a:pt x="700" y="158"/>
                </a:cubicBezTo>
                <a:cubicBezTo>
                  <a:pt x="732" y="237"/>
                  <a:pt x="748" y="356"/>
                  <a:pt x="748" y="490"/>
                </a:cubicBezTo>
                <a:cubicBezTo>
                  <a:pt x="748" y="624"/>
                  <a:pt x="724" y="838"/>
                  <a:pt x="700" y="964"/>
                </a:cubicBezTo>
                <a:cubicBezTo>
                  <a:pt x="676" y="1090"/>
                  <a:pt x="684" y="1217"/>
                  <a:pt x="604" y="1248"/>
                </a:cubicBezTo>
                <a:cubicBezTo>
                  <a:pt x="524" y="1280"/>
                  <a:pt x="316" y="1193"/>
                  <a:pt x="220" y="1154"/>
                </a:cubicBezTo>
                <a:cubicBezTo>
                  <a:pt x="124" y="1114"/>
                  <a:pt x="56" y="1071"/>
                  <a:pt x="28" y="1011"/>
                </a:cubicBezTo>
                <a:cubicBezTo>
                  <a:pt x="0" y="951"/>
                  <a:pt x="49" y="838"/>
                  <a:pt x="54" y="792"/>
                </a:cubicBezTo>
              </a:path>
            </a:pathLst>
          </a:custGeom>
          <a:solidFill>
            <a:srgbClr val="0000FF"/>
          </a:solidFill>
          <a:ln w="38100" cmpd="sng">
            <a:noFill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44519" name="Freeform 135"/>
          <p:cNvSpPr>
            <a:spLocks/>
          </p:cNvSpPr>
          <p:nvPr/>
        </p:nvSpPr>
        <p:spPr bwMode="auto">
          <a:xfrm>
            <a:off x="8509000" y="2997200"/>
            <a:ext cx="1187450" cy="2032000"/>
          </a:xfrm>
          <a:custGeom>
            <a:avLst/>
            <a:gdLst/>
            <a:ahLst/>
            <a:cxnLst>
              <a:cxn ang="0">
                <a:pos x="220" y="300"/>
              </a:cxn>
              <a:cxn ang="0">
                <a:pos x="316" y="63"/>
              </a:cxn>
              <a:cxn ang="0">
                <a:pos x="556" y="16"/>
              </a:cxn>
              <a:cxn ang="0">
                <a:pos x="700" y="158"/>
              </a:cxn>
              <a:cxn ang="0">
                <a:pos x="748" y="490"/>
              </a:cxn>
              <a:cxn ang="0">
                <a:pos x="700" y="964"/>
              </a:cxn>
              <a:cxn ang="0">
                <a:pos x="604" y="1248"/>
              </a:cxn>
              <a:cxn ang="0">
                <a:pos x="220" y="1154"/>
              </a:cxn>
              <a:cxn ang="0">
                <a:pos x="28" y="1011"/>
              </a:cxn>
              <a:cxn ang="0">
                <a:pos x="54" y="792"/>
              </a:cxn>
            </a:cxnLst>
            <a:rect l="0" t="0" r="r" b="b"/>
            <a:pathLst>
              <a:path w="748" h="1280">
                <a:moveTo>
                  <a:pt x="220" y="300"/>
                </a:moveTo>
                <a:cubicBezTo>
                  <a:pt x="240" y="205"/>
                  <a:pt x="260" y="111"/>
                  <a:pt x="316" y="63"/>
                </a:cubicBezTo>
                <a:cubicBezTo>
                  <a:pt x="372" y="16"/>
                  <a:pt x="492" y="0"/>
                  <a:pt x="556" y="16"/>
                </a:cubicBezTo>
                <a:cubicBezTo>
                  <a:pt x="620" y="32"/>
                  <a:pt x="668" y="79"/>
                  <a:pt x="700" y="158"/>
                </a:cubicBezTo>
                <a:cubicBezTo>
                  <a:pt x="732" y="237"/>
                  <a:pt x="748" y="356"/>
                  <a:pt x="748" y="490"/>
                </a:cubicBezTo>
                <a:cubicBezTo>
                  <a:pt x="748" y="624"/>
                  <a:pt x="724" y="838"/>
                  <a:pt x="700" y="964"/>
                </a:cubicBezTo>
                <a:cubicBezTo>
                  <a:pt x="676" y="1090"/>
                  <a:pt x="684" y="1217"/>
                  <a:pt x="604" y="1248"/>
                </a:cubicBezTo>
                <a:cubicBezTo>
                  <a:pt x="524" y="1280"/>
                  <a:pt x="316" y="1193"/>
                  <a:pt x="220" y="1154"/>
                </a:cubicBezTo>
                <a:cubicBezTo>
                  <a:pt x="124" y="1114"/>
                  <a:pt x="56" y="1071"/>
                  <a:pt x="28" y="1011"/>
                </a:cubicBezTo>
                <a:cubicBezTo>
                  <a:pt x="0" y="951"/>
                  <a:pt x="49" y="838"/>
                  <a:pt x="54" y="792"/>
                </a:cubicBezTo>
              </a:path>
            </a:pathLst>
          </a:custGeom>
          <a:solidFill>
            <a:srgbClr val="FF3300"/>
          </a:solidFill>
          <a:ln w="38100" cmpd="sng">
            <a:noFill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44513" name="Freeform 129"/>
          <p:cNvSpPr>
            <a:spLocks/>
          </p:cNvSpPr>
          <p:nvPr/>
        </p:nvSpPr>
        <p:spPr bwMode="auto">
          <a:xfrm>
            <a:off x="8583613" y="3751263"/>
            <a:ext cx="825500" cy="614362"/>
          </a:xfrm>
          <a:custGeom>
            <a:avLst/>
            <a:gdLst/>
            <a:ahLst/>
            <a:cxnLst>
              <a:cxn ang="0">
                <a:pos x="192" y="0"/>
              </a:cxn>
              <a:cxn ang="0">
                <a:pos x="336" y="48"/>
              </a:cxn>
              <a:cxn ang="0">
                <a:pos x="480" y="96"/>
              </a:cxn>
              <a:cxn ang="0">
                <a:pos x="480" y="336"/>
              </a:cxn>
              <a:cxn ang="0">
                <a:pos x="240" y="384"/>
              </a:cxn>
              <a:cxn ang="0">
                <a:pos x="96" y="288"/>
              </a:cxn>
              <a:cxn ang="0">
                <a:pos x="0" y="96"/>
              </a:cxn>
            </a:cxnLst>
            <a:rect l="0" t="0" r="r" b="b"/>
            <a:pathLst>
              <a:path w="520" h="392">
                <a:moveTo>
                  <a:pt x="192" y="0"/>
                </a:moveTo>
                <a:cubicBezTo>
                  <a:pt x="240" y="16"/>
                  <a:pt x="288" y="32"/>
                  <a:pt x="336" y="48"/>
                </a:cubicBezTo>
                <a:cubicBezTo>
                  <a:pt x="384" y="64"/>
                  <a:pt x="456" y="48"/>
                  <a:pt x="480" y="96"/>
                </a:cubicBezTo>
                <a:cubicBezTo>
                  <a:pt x="504" y="144"/>
                  <a:pt x="520" y="288"/>
                  <a:pt x="480" y="336"/>
                </a:cubicBezTo>
                <a:cubicBezTo>
                  <a:pt x="440" y="384"/>
                  <a:pt x="304" y="392"/>
                  <a:pt x="240" y="384"/>
                </a:cubicBezTo>
                <a:cubicBezTo>
                  <a:pt x="176" y="376"/>
                  <a:pt x="136" y="336"/>
                  <a:pt x="96" y="288"/>
                </a:cubicBezTo>
                <a:cubicBezTo>
                  <a:pt x="56" y="240"/>
                  <a:pt x="28" y="168"/>
                  <a:pt x="0" y="96"/>
                </a:cubicBezTo>
              </a:path>
            </a:pathLst>
          </a:custGeom>
          <a:solidFill>
            <a:srgbClr val="FF3300"/>
          </a:solidFill>
          <a:ln w="38100" cmpd="sng">
            <a:noFill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44511" name="Freeform 127"/>
          <p:cNvSpPr>
            <a:spLocks/>
          </p:cNvSpPr>
          <p:nvPr/>
        </p:nvSpPr>
        <p:spPr bwMode="auto">
          <a:xfrm>
            <a:off x="8875714" y="3429000"/>
            <a:ext cx="712787" cy="431800"/>
          </a:xfrm>
          <a:custGeom>
            <a:avLst/>
            <a:gdLst/>
            <a:ahLst/>
            <a:cxnLst>
              <a:cxn ang="0">
                <a:pos x="48" y="96"/>
              </a:cxn>
              <a:cxn ang="0">
                <a:pos x="192" y="0"/>
              </a:cxn>
              <a:cxn ang="0">
                <a:pos x="384" y="96"/>
              </a:cxn>
              <a:cxn ang="0">
                <a:pos x="432" y="288"/>
              </a:cxn>
              <a:cxn ang="0">
                <a:pos x="240" y="336"/>
              </a:cxn>
              <a:cxn ang="0">
                <a:pos x="96" y="336"/>
              </a:cxn>
              <a:cxn ang="0">
                <a:pos x="0" y="288"/>
              </a:cxn>
            </a:cxnLst>
            <a:rect l="0" t="0" r="r" b="b"/>
            <a:pathLst>
              <a:path w="456" h="344">
                <a:moveTo>
                  <a:pt x="48" y="96"/>
                </a:moveTo>
                <a:cubicBezTo>
                  <a:pt x="92" y="48"/>
                  <a:pt x="136" y="0"/>
                  <a:pt x="192" y="0"/>
                </a:cubicBezTo>
                <a:cubicBezTo>
                  <a:pt x="248" y="0"/>
                  <a:pt x="344" y="48"/>
                  <a:pt x="384" y="96"/>
                </a:cubicBezTo>
                <a:cubicBezTo>
                  <a:pt x="424" y="144"/>
                  <a:pt x="456" y="248"/>
                  <a:pt x="432" y="288"/>
                </a:cubicBezTo>
                <a:cubicBezTo>
                  <a:pt x="408" y="328"/>
                  <a:pt x="296" y="328"/>
                  <a:pt x="240" y="336"/>
                </a:cubicBezTo>
                <a:cubicBezTo>
                  <a:pt x="184" y="344"/>
                  <a:pt x="136" y="344"/>
                  <a:pt x="96" y="336"/>
                </a:cubicBezTo>
                <a:cubicBezTo>
                  <a:pt x="56" y="328"/>
                  <a:pt x="28" y="308"/>
                  <a:pt x="0" y="288"/>
                </a:cubicBezTo>
              </a:path>
            </a:pathLst>
          </a:custGeom>
          <a:solidFill>
            <a:srgbClr val="FFFF99"/>
          </a:solidFill>
          <a:ln w="3175" cmpd="sng">
            <a:noFill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44473" name="Freeform 89"/>
          <p:cNvSpPr>
            <a:spLocks/>
          </p:cNvSpPr>
          <p:nvPr/>
        </p:nvSpPr>
        <p:spPr bwMode="auto">
          <a:xfrm>
            <a:off x="7253288" y="2852739"/>
            <a:ext cx="1435100" cy="1768475"/>
          </a:xfrm>
          <a:custGeom>
            <a:avLst/>
            <a:gdLst/>
            <a:ahLst/>
            <a:cxnLst>
              <a:cxn ang="0">
                <a:pos x="867" y="771"/>
              </a:cxn>
              <a:cxn ang="0">
                <a:pos x="840" y="909"/>
              </a:cxn>
              <a:cxn ang="0">
                <a:pos x="696" y="1003"/>
              </a:cxn>
              <a:cxn ang="0">
                <a:pos x="456" y="1098"/>
              </a:cxn>
              <a:cxn ang="0">
                <a:pos x="72" y="909"/>
              </a:cxn>
              <a:cxn ang="0">
                <a:pos x="24" y="482"/>
              </a:cxn>
              <a:cxn ang="0">
                <a:pos x="216" y="150"/>
              </a:cxn>
              <a:cxn ang="0">
                <a:pos x="648" y="8"/>
              </a:cxn>
              <a:cxn ang="0">
                <a:pos x="792" y="198"/>
              </a:cxn>
              <a:cxn ang="0">
                <a:pos x="888" y="387"/>
              </a:cxn>
            </a:cxnLst>
            <a:rect l="0" t="0" r="r" b="b"/>
            <a:pathLst>
              <a:path w="904" h="1114">
                <a:moveTo>
                  <a:pt x="867" y="771"/>
                </a:moveTo>
                <a:cubicBezTo>
                  <a:pt x="861" y="792"/>
                  <a:pt x="868" y="870"/>
                  <a:pt x="840" y="909"/>
                </a:cubicBezTo>
                <a:cubicBezTo>
                  <a:pt x="812" y="948"/>
                  <a:pt x="760" y="972"/>
                  <a:pt x="696" y="1003"/>
                </a:cubicBezTo>
                <a:cubicBezTo>
                  <a:pt x="632" y="1035"/>
                  <a:pt x="560" y="1114"/>
                  <a:pt x="456" y="1098"/>
                </a:cubicBezTo>
                <a:cubicBezTo>
                  <a:pt x="352" y="1082"/>
                  <a:pt x="144" y="1011"/>
                  <a:pt x="72" y="909"/>
                </a:cubicBezTo>
                <a:cubicBezTo>
                  <a:pt x="0" y="806"/>
                  <a:pt x="0" y="608"/>
                  <a:pt x="24" y="482"/>
                </a:cubicBezTo>
                <a:cubicBezTo>
                  <a:pt x="48" y="356"/>
                  <a:pt x="112" y="229"/>
                  <a:pt x="216" y="150"/>
                </a:cubicBezTo>
                <a:cubicBezTo>
                  <a:pt x="320" y="71"/>
                  <a:pt x="552" y="0"/>
                  <a:pt x="648" y="8"/>
                </a:cubicBezTo>
                <a:cubicBezTo>
                  <a:pt x="744" y="16"/>
                  <a:pt x="752" y="134"/>
                  <a:pt x="792" y="198"/>
                </a:cubicBezTo>
                <a:cubicBezTo>
                  <a:pt x="832" y="261"/>
                  <a:pt x="904" y="356"/>
                  <a:pt x="888" y="387"/>
                </a:cubicBezTo>
              </a:path>
            </a:pathLst>
          </a:custGeom>
          <a:solidFill>
            <a:srgbClr val="FF3300"/>
          </a:solidFill>
          <a:ln w="38100" cmpd="sng">
            <a:noFill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44472" name="Freeform 88"/>
          <p:cNvSpPr>
            <a:spLocks/>
          </p:cNvSpPr>
          <p:nvPr/>
        </p:nvSpPr>
        <p:spPr bwMode="auto">
          <a:xfrm>
            <a:off x="8509000" y="2997200"/>
            <a:ext cx="1187450" cy="2032000"/>
          </a:xfrm>
          <a:custGeom>
            <a:avLst/>
            <a:gdLst/>
            <a:ahLst/>
            <a:cxnLst>
              <a:cxn ang="0">
                <a:pos x="220" y="300"/>
              </a:cxn>
              <a:cxn ang="0">
                <a:pos x="316" y="63"/>
              </a:cxn>
              <a:cxn ang="0">
                <a:pos x="556" y="16"/>
              </a:cxn>
              <a:cxn ang="0">
                <a:pos x="700" y="158"/>
              </a:cxn>
              <a:cxn ang="0">
                <a:pos x="748" y="490"/>
              </a:cxn>
              <a:cxn ang="0">
                <a:pos x="700" y="964"/>
              </a:cxn>
              <a:cxn ang="0">
                <a:pos x="604" y="1248"/>
              </a:cxn>
              <a:cxn ang="0">
                <a:pos x="220" y="1154"/>
              </a:cxn>
              <a:cxn ang="0">
                <a:pos x="28" y="1011"/>
              </a:cxn>
              <a:cxn ang="0">
                <a:pos x="54" y="792"/>
              </a:cxn>
            </a:cxnLst>
            <a:rect l="0" t="0" r="r" b="b"/>
            <a:pathLst>
              <a:path w="748" h="1280">
                <a:moveTo>
                  <a:pt x="220" y="300"/>
                </a:moveTo>
                <a:cubicBezTo>
                  <a:pt x="240" y="205"/>
                  <a:pt x="260" y="111"/>
                  <a:pt x="316" y="63"/>
                </a:cubicBezTo>
                <a:cubicBezTo>
                  <a:pt x="372" y="16"/>
                  <a:pt x="492" y="0"/>
                  <a:pt x="556" y="16"/>
                </a:cubicBezTo>
                <a:cubicBezTo>
                  <a:pt x="620" y="32"/>
                  <a:pt x="668" y="79"/>
                  <a:pt x="700" y="158"/>
                </a:cubicBezTo>
                <a:cubicBezTo>
                  <a:pt x="732" y="237"/>
                  <a:pt x="748" y="356"/>
                  <a:pt x="748" y="490"/>
                </a:cubicBezTo>
                <a:cubicBezTo>
                  <a:pt x="748" y="624"/>
                  <a:pt x="724" y="838"/>
                  <a:pt x="700" y="964"/>
                </a:cubicBezTo>
                <a:cubicBezTo>
                  <a:pt x="676" y="1090"/>
                  <a:pt x="684" y="1217"/>
                  <a:pt x="604" y="1248"/>
                </a:cubicBezTo>
                <a:cubicBezTo>
                  <a:pt x="524" y="1280"/>
                  <a:pt x="316" y="1193"/>
                  <a:pt x="220" y="1154"/>
                </a:cubicBezTo>
                <a:cubicBezTo>
                  <a:pt x="124" y="1114"/>
                  <a:pt x="56" y="1071"/>
                  <a:pt x="28" y="1011"/>
                </a:cubicBezTo>
                <a:cubicBezTo>
                  <a:pt x="0" y="951"/>
                  <a:pt x="49" y="838"/>
                  <a:pt x="54" y="792"/>
                </a:cubicBezTo>
              </a:path>
            </a:pathLst>
          </a:custGeom>
          <a:solidFill>
            <a:srgbClr val="0000FF"/>
          </a:solidFill>
          <a:ln w="38100" cmpd="sng">
            <a:noFill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44435" name="Freeform 51"/>
          <p:cNvSpPr>
            <a:spLocks/>
          </p:cNvSpPr>
          <p:nvPr/>
        </p:nvSpPr>
        <p:spPr bwMode="auto">
          <a:xfrm>
            <a:off x="7680325" y="3284538"/>
            <a:ext cx="838200" cy="1079500"/>
          </a:xfrm>
          <a:custGeom>
            <a:avLst/>
            <a:gdLst/>
            <a:ahLst/>
            <a:cxnLst>
              <a:cxn ang="0">
                <a:pos x="528" y="144"/>
              </a:cxn>
              <a:cxn ang="0">
                <a:pos x="336" y="0"/>
              </a:cxn>
              <a:cxn ang="0">
                <a:pos x="48" y="144"/>
              </a:cxn>
              <a:cxn ang="0">
                <a:pos x="48" y="480"/>
              </a:cxn>
              <a:cxn ang="0">
                <a:pos x="288" y="672"/>
              </a:cxn>
              <a:cxn ang="0">
                <a:pos x="432" y="384"/>
              </a:cxn>
            </a:cxnLst>
            <a:rect l="0" t="0" r="r" b="b"/>
            <a:pathLst>
              <a:path w="528" h="688">
                <a:moveTo>
                  <a:pt x="528" y="144"/>
                </a:moveTo>
                <a:cubicBezTo>
                  <a:pt x="472" y="72"/>
                  <a:pt x="416" y="0"/>
                  <a:pt x="336" y="0"/>
                </a:cubicBezTo>
                <a:cubicBezTo>
                  <a:pt x="256" y="0"/>
                  <a:pt x="96" y="64"/>
                  <a:pt x="48" y="144"/>
                </a:cubicBezTo>
                <a:cubicBezTo>
                  <a:pt x="0" y="224"/>
                  <a:pt x="8" y="392"/>
                  <a:pt x="48" y="480"/>
                </a:cubicBezTo>
                <a:cubicBezTo>
                  <a:pt x="88" y="568"/>
                  <a:pt x="224" y="688"/>
                  <a:pt x="288" y="672"/>
                </a:cubicBezTo>
                <a:cubicBezTo>
                  <a:pt x="352" y="656"/>
                  <a:pt x="392" y="520"/>
                  <a:pt x="432" y="384"/>
                </a:cubicBezTo>
              </a:path>
            </a:pathLst>
          </a:custGeom>
          <a:solidFill>
            <a:srgbClr val="FFFF99"/>
          </a:solidFill>
          <a:ln w="38100" cmpd="sng">
            <a:noFill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44433" name="Freeform 49"/>
          <p:cNvSpPr>
            <a:spLocks/>
          </p:cNvSpPr>
          <p:nvPr/>
        </p:nvSpPr>
        <p:spPr bwMode="auto">
          <a:xfrm>
            <a:off x="6405563" y="2708275"/>
            <a:ext cx="914400" cy="965200"/>
          </a:xfrm>
          <a:custGeom>
            <a:avLst/>
            <a:gdLst/>
            <a:ahLst/>
            <a:cxnLst>
              <a:cxn ang="0">
                <a:pos x="288" y="104"/>
              </a:cxn>
              <a:cxn ang="0">
                <a:pos x="576" y="56"/>
              </a:cxn>
              <a:cxn ang="0">
                <a:pos x="720" y="440"/>
              </a:cxn>
              <a:cxn ang="0">
                <a:pos x="480" y="776"/>
              </a:cxn>
              <a:cxn ang="0">
                <a:pos x="48" y="680"/>
              </a:cxn>
              <a:cxn ang="0">
                <a:pos x="192" y="392"/>
              </a:cxn>
              <a:cxn ang="0">
                <a:pos x="192" y="200"/>
              </a:cxn>
              <a:cxn ang="0">
                <a:pos x="288" y="104"/>
              </a:cxn>
            </a:cxnLst>
            <a:rect l="0" t="0" r="r" b="b"/>
            <a:pathLst>
              <a:path w="736" h="816">
                <a:moveTo>
                  <a:pt x="288" y="104"/>
                </a:moveTo>
                <a:cubicBezTo>
                  <a:pt x="352" y="80"/>
                  <a:pt x="504" y="0"/>
                  <a:pt x="576" y="56"/>
                </a:cubicBezTo>
                <a:cubicBezTo>
                  <a:pt x="648" y="112"/>
                  <a:pt x="736" y="320"/>
                  <a:pt x="720" y="440"/>
                </a:cubicBezTo>
                <a:cubicBezTo>
                  <a:pt x="704" y="560"/>
                  <a:pt x="592" y="736"/>
                  <a:pt x="480" y="776"/>
                </a:cubicBezTo>
                <a:cubicBezTo>
                  <a:pt x="368" y="816"/>
                  <a:pt x="96" y="744"/>
                  <a:pt x="48" y="680"/>
                </a:cubicBezTo>
                <a:cubicBezTo>
                  <a:pt x="0" y="616"/>
                  <a:pt x="168" y="472"/>
                  <a:pt x="192" y="392"/>
                </a:cubicBezTo>
                <a:cubicBezTo>
                  <a:pt x="216" y="312"/>
                  <a:pt x="176" y="248"/>
                  <a:pt x="192" y="200"/>
                </a:cubicBezTo>
                <a:cubicBezTo>
                  <a:pt x="208" y="152"/>
                  <a:pt x="224" y="128"/>
                  <a:pt x="288" y="104"/>
                </a:cubicBezTo>
                <a:close/>
              </a:path>
            </a:pathLst>
          </a:custGeom>
          <a:solidFill>
            <a:srgbClr val="FF00FF"/>
          </a:solidFill>
          <a:ln w="38100" cmpd="sng">
            <a:noFill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44388" name="Rectangle 4"/>
          <p:cNvSpPr>
            <a:spLocks noChangeArrowheads="1"/>
          </p:cNvSpPr>
          <p:nvPr/>
        </p:nvSpPr>
        <p:spPr bwMode="auto">
          <a:xfrm>
            <a:off x="2279651" y="765175"/>
            <a:ext cx="63849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ea typeface="华文中宋" pitchFamily="2" charset="-122"/>
              </a:rPr>
              <a:t>例</a:t>
            </a:r>
            <a:r>
              <a:rPr lang="zh-CN" altLang="en-US"/>
              <a:t>：已知 </a:t>
            </a:r>
            <a:r>
              <a:rPr lang="en-US" altLang="zh-CN"/>
              <a:t>7 </a:t>
            </a:r>
            <a:r>
              <a:rPr lang="zh-CN" altLang="en-US"/>
              <a:t>个行政区域地图，对其进行染色。 </a:t>
            </a:r>
          </a:p>
        </p:txBody>
      </p:sp>
      <p:sp>
        <p:nvSpPr>
          <p:cNvPr id="144431" name="Text Box 47"/>
          <p:cNvSpPr txBox="1">
            <a:spLocks noChangeArrowheads="1"/>
          </p:cNvSpPr>
          <p:nvPr/>
        </p:nvSpPr>
        <p:spPr bwMode="auto">
          <a:xfrm>
            <a:off x="2279650" y="1557338"/>
            <a:ext cx="3613150" cy="337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457200" indent="-457200">
              <a:lnSpc>
                <a:spcPct val="110000"/>
              </a:lnSpc>
            </a:pPr>
            <a:r>
              <a:rPr lang="en-US" altLang="zh-CN"/>
              <a:t>      1    2    3    4    5    6    7 </a:t>
            </a:r>
          </a:p>
          <a:p>
            <a:pPr marL="457200" indent="-457200">
              <a:lnSpc>
                <a:spcPct val="130000"/>
              </a:lnSpc>
            </a:pPr>
            <a:r>
              <a:rPr lang="en-US" altLang="zh-CN"/>
              <a:t>1    0    1    1    1    1    1    0 </a:t>
            </a:r>
          </a:p>
          <a:p>
            <a:pPr marL="457200" indent="-457200">
              <a:lnSpc>
                <a:spcPct val="110000"/>
              </a:lnSpc>
              <a:buFontTx/>
              <a:buAutoNum type="arabicPlain" startAt="2"/>
            </a:pPr>
            <a:r>
              <a:rPr lang="en-US" altLang="zh-CN"/>
              <a:t>1    0    0    0    0    1    0 </a:t>
            </a:r>
          </a:p>
          <a:p>
            <a:pPr marL="457200" indent="-457200">
              <a:lnSpc>
                <a:spcPct val="110000"/>
              </a:lnSpc>
              <a:buFontTx/>
              <a:buAutoNum type="arabicPlain" startAt="3"/>
            </a:pPr>
            <a:r>
              <a:rPr lang="en-US" altLang="zh-CN"/>
              <a:t>1    0    0    1    1    0    0 </a:t>
            </a:r>
          </a:p>
          <a:p>
            <a:pPr marL="457200" indent="-457200">
              <a:lnSpc>
                <a:spcPct val="110000"/>
              </a:lnSpc>
              <a:buFontTx/>
              <a:buAutoNum type="arabicPlain" startAt="4"/>
            </a:pPr>
            <a:r>
              <a:rPr lang="en-US" altLang="zh-CN"/>
              <a:t>1    0    1    0    1    1    0 </a:t>
            </a:r>
          </a:p>
          <a:p>
            <a:pPr marL="457200" indent="-457200">
              <a:lnSpc>
                <a:spcPct val="110000"/>
              </a:lnSpc>
              <a:buFontTx/>
              <a:buAutoNum type="arabicPlain" startAt="5"/>
            </a:pPr>
            <a:r>
              <a:rPr lang="en-US" altLang="zh-CN"/>
              <a:t>1    0    1    1    0    1    0 </a:t>
            </a:r>
          </a:p>
          <a:p>
            <a:pPr marL="457200" indent="-457200">
              <a:lnSpc>
                <a:spcPct val="110000"/>
              </a:lnSpc>
              <a:buFontTx/>
              <a:buAutoNum type="arabicPlain" startAt="6"/>
            </a:pPr>
            <a:r>
              <a:rPr lang="en-US" altLang="zh-CN"/>
              <a:t>1    1    0    1    1    0    0 </a:t>
            </a:r>
          </a:p>
          <a:p>
            <a:pPr marL="457200" indent="-457200">
              <a:lnSpc>
                <a:spcPct val="110000"/>
              </a:lnSpc>
            </a:pPr>
            <a:r>
              <a:rPr lang="en-US" altLang="zh-CN"/>
              <a:t>7    0    0    0    0    0    0    0 </a:t>
            </a:r>
          </a:p>
        </p:txBody>
      </p:sp>
      <p:grpSp>
        <p:nvGrpSpPr>
          <p:cNvPr id="144475" name="Group 91"/>
          <p:cNvGrpSpPr>
            <a:grpSpLocks/>
          </p:cNvGrpSpPr>
          <p:nvPr/>
        </p:nvGrpSpPr>
        <p:grpSpPr bwMode="auto">
          <a:xfrm>
            <a:off x="7464425" y="1433514"/>
            <a:ext cx="2160588" cy="915987"/>
            <a:chOff x="3651" y="903"/>
            <a:chExt cx="1361" cy="577"/>
          </a:xfrm>
        </p:grpSpPr>
        <p:sp>
          <p:nvSpPr>
            <p:cNvPr id="144443" name="Oval 59"/>
            <p:cNvSpPr>
              <a:spLocks noChangeArrowheads="1"/>
            </p:cNvSpPr>
            <p:nvPr/>
          </p:nvSpPr>
          <p:spPr bwMode="auto">
            <a:xfrm>
              <a:off x="3651" y="1253"/>
              <a:ext cx="227" cy="227"/>
            </a:xfrm>
            <a:prstGeom prst="ellipse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444" name="Oval 60"/>
            <p:cNvSpPr>
              <a:spLocks noChangeArrowheads="1"/>
            </p:cNvSpPr>
            <p:nvPr/>
          </p:nvSpPr>
          <p:spPr bwMode="auto">
            <a:xfrm>
              <a:off x="4740" y="1253"/>
              <a:ext cx="227" cy="227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445" name="Oval 61"/>
            <p:cNvSpPr>
              <a:spLocks noChangeArrowheads="1"/>
            </p:cNvSpPr>
            <p:nvPr/>
          </p:nvSpPr>
          <p:spPr bwMode="auto">
            <a:xfrm>
              <a:off x="4014" y="1253"/>
              <a:ext cx="227" cy="227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446" name="Oval 62"/>
            <p:cNvSpPr>
              <a:spLocks noChangeArrowheads="1"/>
            </p:cNvSpPr>
            <p:nvPr/>
          </p:nvSpPr>
          <p:spPr bwMode="auto">
            <a:xfrm>
              <a:off x="4377" y="1253"/>
              <a:ext cx="227" cy="227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447" name="Text Box 63"/>
            <p:cNvSpPr txBox="1">
              <a:spLocks noChangeArrowheads="1"/>
            </p:cNvSpPr>
            <p:nvPr/>
          </p:nvSpPr>
          <p:spPr bwMode="auto">
            <a:xfrm>
              <a:off x="3696" y="903"/>
              <a:ext cx="131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1     2      3     4 </a:t>
              </a:r>
            </a:p>
          </p:txBody>
        </p:sp>
      </p:grpSp>
      <p:sp>
        <p:nvSpPr>
          <p:cNvPr id="144449" name="Rectangle 65"/>
          <p:cNvSpPr>
            <a:spLocks noChangeArrowheads="1"/>
          </p:cNvSpPr>
          <p:nvPr/>
        </p:nvSpPr>
        <p:spPr bwMode="auto">
          <a:xfrm>
            <a:off x="4152900" y="5229225"/>
            <a:ext cx="431958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en-US" altLang="zh-CN">
                <a:ea typeface="宋体" pitchFamily="2" charset="-122"/>
              </a:rPr>
              <a:t>1      2      3      4      5      6      7  </a:t>
            </a:r>
          </a:p>
        </p:txBody>
      </p:sp>
      <p:graphicFrame>
        <p:nvGraphicFramePr>
          <p:cNvPr id="144508" name="Group 124"/>
          <p:cNvGraphicFramePr>
            <a:graphicFrameLocks noGrp="1"/>
          </p:cNvGraphicFramePr>
          <p:nvPr/>
        </p:nvGraphicFramePr>
        <p:xfrm>
          <a:off x="4008439" y="5637213"/>
          <a:ext cx="4319587" cy="457200"/>
        </p:xfrm>
        <a:graphic>
          <a:graphicData uri="http://schemas.openxmlformats.org/drawingml/2006/table">
            <a:tbl>
              <a:tblPr/>
              <a:tblGrid>
                <a:gridCol w="6175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75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75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75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5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75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 useBgFill="1">
        <p:nvSpPr>
          <p:cNvPr id="144509" name="Text Box 125"/>
          <p:cNvSpPr txBox="1">
            <a:spLocks noChangeArrowheads="1"/>
          </p:cNvSpPr>
          <p:nvPr/>
        </p:nvSpPr>
        <p:spPr bwMode="auto">
          <a:xfrm>
            <a:off x="4152900" y="5734050"/>
            <a:ext cx="415498" cy="330668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60000"/>
              </a:lnSpc>
            </a:pPr>
            <a:r>
              <a:rPr lang="en-US" altLang="zh-CN"/>
              <a:t>1 </a:t>
            </a:r>
          </a:p>
        </p:txBody>
      </p:sp>
      <p:sp useBgFill="1">
        <p:nvSpPr>
          <p:cNvPr id="144510" name="Text Box 126"/>
          <p:cNvSpPr txBox="1">
            <a:spLocks noChangeArrowheads="1"/>
          </p:cNvSpPr>
          <p:nvPr/>
        </p:nvSpPr>
        <p:spPr bwMode="auto">
          <a:xfrm>
            <a:off x="4748213" y="5734050"/>
            <a:ext cx="415498" cy="330668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60000"/>
              </a:lnSpc>
            </a:pPr>
            <a:r>
              <a:rPr lang="en-US" altLang="zh-CN"/>
              <a:t>2 </a:t>
            </a:r>
          </a:p>
        </p:txBody>
      </p:sp>
      <p:sp useBgFill="1">
        <p:nvSpPr>
          <p:cNvPr id="144512" name="Text Box 128"/>
          <p:cNvSpPr txBox="1">
            <a:spLocks noChangeArrowheads="1"/>
          </p:cNvSpPr>
          <p:nvPr/>
        </p:nvSpPr>
        <p:spPr bwMode="auto">
          <a:xfrm>
            <a:off x="5376863" y="5734050"/>
            <a:ext cx="415498" cy="330668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60000"/>
              </a:lnSpc>
            </a:pPr>
            <a:r>
              <a:rPr lang="en-US" altLang="zh-CN"/>
              <a:t>2 </a:t>
            </a:r>
          </a:p>
        </p:txBody>
      </p:sp>
      <p:sp>
        <p:nvSpPr>
          <p:cNvPr id="144517" name="Freeform 133"/>
          <p:cNvSpPr>
            <a:spLocks/>
          </p:cNvSpPr>
          <p:nvPr/>
        </p:nvSpPr>
        <p:spPr bwMode="auto">
          <a:xfrm>
            <a:off x="8583613" y="3789363"/>
            <a:ext cx="825500" cy="614362"/>
          </a:xfrm>
          <a:custGeom>
            <a:avLst/>
            <a:gdLst/>
            <a:ahLst/>
            <a:cxnLst>
              <a:cxn ang="0">
                <a:pos x="192" y="0"/>
              </a:cxn>
              <a:cxn ang="0">
                <a:pos x="336" y="48"/>
              </a:cxn>
              <a:cxn ang="0">
                <a:pos x="480" y="96"/>
              </a:cxn>
              <a:cxn ang="0">
                <a:pos x="480" y="336"/>
              </a:cxn>
              <a:cxn ang="0">
                <a:pos x="240" y="384"/>
              </a:cxn>
              <a:cxn ang="0">
                <a:pos x="96" y="288"/>
              </a:cxn>
              <a:cxn ang="0">
                <a:pos x="0" y="96"/>
              </a:cxn>
            </a:cxnLst>
            <a:rect l="0" t="0" r="r" b="b"/>
            <a:pathLst>
              <a:path w="520" h="392">
                <a:moveTo>
                  <a:pt x="192" y="0"/>
                </a:moveTo>
                <a:cubicBezTo>
                  <a:pt x="240" y="16"/>
                  <a:pt x="288" y="32"/>
                  <a:pt x="336" y="48"/>
                </a:cubicBezTo>
                <a:cubicBezTo>
                  <a:pt x="384" y="64"/>
                  <a:pt x="456" y="48"/>
                  <a:pt x="480" y="96"/>
                </a:cubicBezTo>
                <a:cubicBezTo>
                  <a:pt x="504" y="144"/>
                  <a:pt x="520" y="288"/>
                  <a:pt x="480" y="336"/>
                </a:cubicBezTo>
                <a:cubicBezTo>
                  <a:pt x="440" y="384"/>
                  <a:pt x="304" y="392"/>
                  <a:pt x="240" y="384"/>
                </a:cubicBezTo>
                <a:cubicBezTo>
                  <a:pt x="176" y="376"/>
                  <a:pt x="136" y="336"/>
                  <a:pt x="96" y="288"/>
                </a:cubicBezTo>
                <a:cubicBezTo>
                  <a:pt x="56" y="240"/>
                  <a:pt x="28" y="168"/>
                  <a:pt x="0" y="96"/>
                </a:cubicBezTo>
              </a:path>
            </a:pathLst>
          </a:custGeom>
          <a:solidFill>
            <a:srgbClr val="0000FF"/>
          </a:solidFill>
          <a:ln w="38100" cmpd="sng">
            <a:noFill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44440" name="Freeform 56"/>
          <p:cNvSpPr>
            <a:spLocks/>
          </p:cNvSpPr>
          <p:nvPr/>
        </p:nvSpPr>
        <p:spPr bwMode="auto">
          <a:xfrm>
            <a:off x="8583613" y="3789363"/>
            <a:ext cx="825500" cy="614362"/>
          </a:xfrm>
          <a:custGeom>
            <a:avLst/>
            <a:gdLst/>
            <a:ahLst/>
            <a:cxnLst>
              <a:cxn ang="0">
                <a:pos x="192" y="0"/>
              </a:cxn>
              <a:cxn ang="0">
                <a:pos x="336" y="48"/>
              </a:cxn>
              <a:cxn ang="0">
                <a:pos x="480" y="96"/>
              </a:cxn>
              <a:cxn ang="0">
                <a:pos x="480" y="336"/>
              </a:cxn>
              <a:cxn ang="0">
                <a:pos x="240" y="384"/>
              </a:cxn>
              <a:cxn ang="0">
                <a:pos x="96" y="288"/>
              </a:cxn>
              <a:cxn ang="0">
                <a:pos x="0" y="96"/>
              </a:cxn>
            </a:cxnLst>
            <a:rect l="0" t="0" r="r" b="b"/>
            <a:pathLst>
              <a:path w="520" h="392">
                <a:moveTo>
                  <a:pt x="192" y="0"/>
                </a:moveTo>
                <a:cubicBezTo>
                  <a:pt x="240" y="16"/>
                  <a:pt x="288" y="32"/>
                  <a:pt x="336" y="48"/>
                </a:cubicBezTo>
                <a:cubicBezTo>
                  <a:pt x="384" y="64"/>
                  <a:pt x="456" y="48"/>
                  <a:pt x="480" y="96"/>
                </a:cubicBezTo>
                <a:cubicBezTo>
                  <a:pt x="504" y="144"/>
                  <a:pt x="520" y="288"/>
                  <a:pt x="480" y="336"/>
                </a:cubicBezTo>
                <a:cubicBezTo>
                  <a:pt x="440" y="384"/>
                  <a:pt x="304" y="392"/>
                  <a:pt x="240" y="384"/>
                </a:cubicBezTo>
                <a:cubicBezTo>
                  <a:pt x="176" y="376"/>
                  <a:pt x="136" y="336"/>
                  <a:pt x="96" y="288"/>
                </a:cubicBezTo>
                <a:cubicBezTo>
                  <a:pt x="56" y="240"/>
                  <a:pt x="28" y="168"/>
                  <a:pt x="0" y="96"/>
                </a:cubicBezTo>
              </a:path>
            </a:pathLst>
          </a:custGeom>
          <a:solidFill>
            <a:srgbClr val="FFFF99"/>
          </a:solidFill>
          <a:ln w="38100" cmpd="sng">
            <a:noFill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 useBgFill="1">
        <p:nvSpPr>
          <p:cNvPr id="144514" name="Text Box 130"/>
          <p:cNvSpPr txBox="1">
            <a:spLocks noChangeArrowheads="1"/>
          </p:cNvSpPr>
          <p:nvPr/>
        </p:nvSpPr>
        <p:spPr bwMode="auto">
          <a:xfrm>
            <a:off x="6024563" y="5734050"/>
            <a:ext cx="415498" cy="330668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60000"/>
              </a:lnSpc>
            </a:pPr>
            <a:r>
              <a:rPr lang="en-US" altLang="zh-CN"/>
              <a:t>3 </a:t>
            </a:r>
          </a:p>
        </p:txBody>
      </p:sp>
      <p:sp>
        <p:nvSpPr>
          <p:cNvPr id="144522" name="Freeform 138"/>
          <p:cNvSpPr>
            <a:spLocks/>
          </p:cNvSpPr>
          <p:nvPr/>
        </p:nvSpPr>
        <p:spPr bwMode="auto">
          <a:xfrm>
            <a:off x="8875714" y="3429000"/>
            <a:ext cx="712787" cy="431800"/>
          </a:xfrm>
          <a:custGeom>
            <a:avLst/>
            <a:gdLst/>
            <a:ahLst/>
            <a:cxnLst>
              <a:cxn ang="0">
                <a:pos x="48" y="96"/>
              </a:cxn>
              <a:cxn ang="0">
                <a:pos x="192" y="0"/>
              </a:cxn>
              <a:cxn ang="0">
                <a:pos x="384" y="96"/>
              </a:cxn>
              <a:cxn ang="0">
                <a:pos x="432" y="288"/>
              </a:cxn>
              <a:cxn ang="0">
                <a:pos x="240" y="336"/>
              </a:cxn>
              <a:cxn ang="0">
                <a:pos x="96" y="336"/>
              </a:cxn>
              <a:cxn ang="0">
                <a:pos x="0" y="288"/>
              </a:cxn>
            </a:cxnLst>
            <a:rect l="0" t="0" r="r" b="b"/>
            <a:pathLst>
              <a:path w="456" h="344">
                <a:moveTo>
                  <a:pt x="48" y="96"/>
                </a:moveTo>
                <a:cubicBezTo>
                  <a:pt x="92" y="48"/>
                  <a:pt x="136" y="0"/>
                  <a:pt x="192" y="0"/>
                </a:cubicBezTo>
                <a:cubicBezTo>
                  <a:pt x="248" y="0"/>
                  <a:pt x="344" y="48"/>
                  <a:pt x="384" y="96"/>
                </a:cubicBezTo>
                <a:cubicBezTo>
                  <a:pt x="424" y="144"/>
                  <a:pt x="456" y="248"/>
                  <a:pt x="432" y="288"/>
                </a:cubicBezTo>
                <a:cubicBezTo>
                  <a:pt x="408" y="328"/>
                  <a:pt x="296" y="328"/>
                  <a:pt x="240" y="336"/>
                </a:cubicBezTo>
                <a:cubicBezTo>
                  <a:pt x="184" y="344"/>
                  <a:pt x="136" y="344"/>
                  <a:pt x="96" y="336"/>
                </a:cubicBezTo>
                <a:cubicBezTo>
                  <a:pt x="56" y="328"/>
                  <a:pt x="28" y="308"/>
                  <a:pt x="0" y="288"/>
                </a:cubicBezTo>
              </a:path>
            </a:pathLst>
          </a:custGeom>
          <a:solidFill>
            <a:srgbClr val="FF3300"/>
          </a:solidFill>
          <a:ln w="3175" cmpd="sng">
            <a:noFill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 useBgFill="1">
        <p:nvSpPr>
          <p:cNvPr id="144516" name="Text Box 132"/>
          <p:cNvSpPr txBox="1">
            <a:spLocks noChangeArrowheads="1"/>
          </p:cNvSpPr>
          <p:nvPr/>
        </p:nvSpPr>
        <p:spPr bwMode="auto">
          <a:xfrm>
            <a:off x="6600825" y="5734050"/>
            <a:ext cx="415498" cy="330668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60000"/>
              </a:lnSpc>
            </a:pPr>
            <a:r>
              <a:rPr lang="en-US" altLang="zh-CN"/>
              <a:t>4 </a:t>
            </a:r>
          </a:p>
        </p:txBody>
      </p:sp>
      <p:sp useBgFill="1">
        <p:nvSpPr>
          <p:cNvPr id="144518" name="Text Box 134"/>
          <p:cNvSpPr txBox="1">
            <a:spLocks noChangeArrowheads="1"/>
          </p:cNvSpPr>
          <p:nvPr/>
        </p:nvSpPr>
        <p:spPr bwMode="auto">
          <a:xfrm>
            <a:off x="5972175" y="5734050"/>
            <a:ext cx="415498" cy="330668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60000"/>
              </a:lnSpc>
            </a:pPr>
            <a:r>
              <a:rPr lang="en-US" altLang="zh-CN"/>
              <a:t>4 </a:t>
            </a:r>
          </a:p>
        </p:txBody>
      </p:sp>
      <p:sp useBgFill="1">
        <p:nvSpPr>
          <p:cNvPr id="144520" name="Text Box 136"/>
          <p:cNvSpPr txBox="1">
            <a:spLocks noChangeArrowheads="1"/>
          </p:cNvSpPr>
          <p:nvPr/>
        </p:nvSpPr>
        <p:spPr bwMode="auto">
          <a:xfrm>
            <a:off x="6600825" y="5734050"/>
            <a:ext cx="415498" cy="330668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60000"/>
              </a:lnSpc>
            </a:pPr>
            <a:r>
              <a:rPr lang="en-US" altLang="zh-CN"/>
              <a:t>3 </a:t>
            </a:r>
          </a:p>
        </p:txBody>
      </p:sp>
      <p:sp useBgFill="1">
        <p:nvSpPr>
          <p:cNvPr id="144521" name="Text Box 137"/>
          <p:cNvSpPr txBox="1">
            <a:spLocks noChangeArrowheads="1"/>
          </p:cNvSpPr>
          <p:nvPr/>
        </p:nvSpPr>
        <p:spPr bwMode="auto">
          <a:xfrm>
            <a:off x="7824788" y="5734050"/>
            <a:ext cx="415498" cy="330668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60000"/>
              </a:lnSpc>
            </a:pPr>
            <a:r>
              <a:rPr lang="en-US" altLang="zh-CN"/>
              <a:t>1 </a:t>
            </a:r>
          </a:p>
        </p:txBody>
      </p:sp>
      <p:sp>
        <p:nvSpPr>
          <p:cNvPr id="144437" name="Freeform 53"/>
          <p:cNvSpPr>
            <a:spLocks/>
          </p:cNvSpPr>
          <p:nvPr/>
        </p:nvSpPr>
        <p:spPr bwMode="auto">
          <a:xfrm>
            <a:off x="8240713" y="3482975"/>
            <a:ext cx="736600" cy="450850"/>
          </a:xfrm>
          <a:custGeom>
            <a:avLst/>
            <a:gdLst/>
            <a:ahLst/>
            <a:cxnLst>
              <a:cxn ang="0">
                <a:pos x="112" y="48"/>
              </a:cxn>
              <a:cxn ang="0">
                <a:pos x="16" y="192"/>
              </a:cxn>
              <a:cxn ang="0">
                <a:pos x="208" y="288"/>
              </a:cxn>
              <a:cxn ang="0">
                <a:pos x="400" y="192"/>
              </a:cxn>
              <a:cxn ang="0">
                <a:pos x="448" y="48"/>
              </a:cxn>
              <a:cxn ang="0">
                <a:pos x="304" y="0"/>
              </a:cxn>
              <a:cxn ang="0">
                <a:pos x="112" y="48"/>
              </a:cxn>
            </a:cxnLst>
            <a:rect l="0" t="0" r="r" b="b"/>
            <a:pathLst>
              <a:path w="464" h="288">
                <a:moveTo>
                  <a:pt x="112" y="48"/>
                </a:moveTo>
                <a:cubicBezTo>
                  <a:pt x="64" y="80"/>
                  <a:pt x="0" y="152"/>
                  <a:pt x="16" y="192"/>
                </a:cubicBezTo>
                <a:cubicBezTo>
                  <a:pt x="32" y="232"/>
                  <a:pt x="144" y="288"/>
                  <a:pt x="208" y="288"/>
                </a:cubicBezTo>
                <a:cubicBezTo>
                  <a:pt x="272" y="288"/>
                  <a:pt x="360" y="232"/>
                  <a:pt x="400" y="192"/>
                </a:cubicBezTo>
                <a:cubicBezTo>
                  <a:pt x="440" y="152"/>
                  <a:pt x="464" y="80"/>
                  <a:pt x="448" y="48"/>
                </a:cubicBezTo>
                <a:cubicBezTo>
                  <a:pt x="432" y="16"/>
                  <a:pt x="352" y="0"/>
                  <a:pt x="304" y="0"/>
                </a:cubicBezTo>
                <a:cubicBezTo>
                  <a:pt x="256" y="0"/>
                  <a:pt x="160" y="16"/>
                  <a:pt x="112" y="48"/>
                </a:cubicBezTo>
                <a:close/>
              </a:path>
            </a:pathLst>
          </a:custGeom>
          <a:solidFill>
            <a:srgbClr val="FF00FF"/>
          </a:solidFill>
          <a:ln w="38100" cmpd="sng">
            <a:noFill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grpSp>
        <p:nvGrpSpPr>
          <p:cNvPr id="144474" name="Group 90"/>
          <p:cNvGrpSpPr>
            <a:grpSpLocks/>
          </p:cNvGrpSpPr>
          <p:nvPr/>
        </p:nvGrpSpPr>
        <p:grpSpPr bwMode="auto">
          <a:xfrm>
            <a:off x="6419850" y="2708275"/>
            <a:ext cx="3276600" cy="2324100"/>
            <a:chOff x="2925" y="1032"/>
            <a:chExt cx="2064" cy="1464"/>
          </a:xfrm>
        </p:grpSpPr>
        <p:sp>
          <p:nvSpPr>
            <p:cNvPr id="144404" name="Text Box 20"/>
            <p:cNvSpPr txBox="1">
              <a:spLocks noChangeArrowheads="1"/>
            </p:cNvSpPr>
            <p:nvPr/>
          </p:nvSpPr>
          <p:spPr bwMode="auto">
            <a:xfrm>
              <a:off x="4540" y="1480"/>
              <a:ext cx="336" cy="2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>
                  <a:ea typeface="宋体" pitchFamily="2" charset="-122"/>
                </a:rPr>
                <a:t>(3)</a:t>
              </a:r>
            </a:p>
          </p:txBody>
        </p:sp>
        <p:sp>
          <p:nvSpPr>
            <p:cNvPr id="144398" name="Text Box 14"/>
            <p:cNvSpPr txBox="1">
              <a:spLocks noChangeArrowheads="1"/>
            </p:cNvSpPr>
            <p:nvPr/>
          </p:nvSpPr>
          <p:spPr bwMode="auto">
            <a:xfrm>
              <a:off x="4173" y="1506"/>
              <a:ext cx="336" cy="2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>
                  <a:ea typeface="宋体" pitchFamily="2" charset="-122"/>
                </a:rPr>
                <a:t>(1)</a:t>
              </a:r>
            </a:p>
          </p:txBody>
        </p:sp>
        <p:sp>
          <p:nvSpPr>
            <p:cNvPr id="144395" name="Freeform 11"/>
            <p:cNvSpPr>
              <a:spLocks/>
            </p:cNvSpPr>
            <p:nvPr/>
          </p:nvSpPr>
          <p:spPr bwMode="auto">
            <a:xfrm>
              <a:off x="2925" y="1032"/>
              <a:ext cx="576" cy="608"/>
            </a:xfrm>
            <a:custGeom>
              <a:avLst/>
              <a:gdLst/>
              <a:ahLst/>
              <a:cxnLst>
                <a:cxn ang="0">
                  <a:pos x="288" y="104"/>
                </a:cxn>
                <a:cxn ang="0">
                  <a:pos x="576" y="56"/>
                </a:cxn>
                <a:cxn ang="0">
                  <a:pos x="720" y="440"/>
                </a:cxn>
                <a:cxn ang="0">
                  <a:pos x="480" y="776"/>
                </a:cxn>
                <a:cxn ang="0">
                  <a:pos x="48" y="680"/>
                </a:cxn>
                <a:cxn ang="0">
                  <a:pos x="192" y="392"/>
                </a:cxn>
                <a:cxn ang="0">
                  <a:pos x="192" y="200"/>
                </a:cxn>
                <a:cxn ang="0">
                  <a:pos x="288" y="104"/>
                </a:cxn>
              </a:cxnLst>
              <a:rect l="0" t="0" r="r" b="b"/>
              <a:pathLst>
                <a:path w="736" h="816">
                  <a:moveTo>
                    <a:pt x="288" y="104"/>
                  </a:moveTo>
                  <a:cubicBezTo>
                    <a:pt x="352" y="80"/>
                    <a:pt x="504" y="0"/>
                    <a:pt x="576" y="56"/>
                  </a:cubicBezTo>
                  <a:cubicBezTo>
                    <a:pt x="648" y="112"/>
                    <a:pt x="736" y="320"/>
                    <a:pt x="720" y="440"/>
                  </a:cubicBezTo>
                  <a:cubicBezTo>
                    <a:pt x="704" y="560"/>
                    <a:pt x="592" y="736"/>
                    <a:pt x="480" y="776"/>
                  </a:cubicBezTo>
                  <a:cubicBezTo>
                    <a:pt x="368" y="816"/>
                    <a:pt x="96" y="744"/>
                    <a:pt x="48" y="680"/>
                  </a:cubicBezTo>
                  <a:cubicBezTo>
                    <a:pt x="0" y="616"/>
                    <a:pt x="168" y="472"/>
                    <a:pt x="192" y="392"/>
                  </a:cubicBezTo>
                  <a:cubicBezTo>
                    <a:pt x="216" y="312"/>
                    <a:pt x="176" y="248"/>
                    <a:pt x="192" y="200"/>
                  </a:cubicBezTo>
                  <a:cubicBezTo>
                    <a:pt x="208" y="152"/>
                    <a:pt x="224" y="128"/>
                    <a:pt x="288" y="104"/>
                  </a:cubicBezTo>
                  <a:close/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391" name="Freeform 7"/>
            <p:cNvSpPr>
              <a:spLocks/>
            </p:cNvSpPr>
            <p:nvPr/>
          </p:nvSpPr>
          <p:spPr bwMode="auto">
            <a:xfrm>
              <a:off x="4077" y="1525"/>
              <a:ext cx="464" cy="284"/>
            </a:xfrm>
            <a:custGeom>
              <a:avLst/>
              <a:gdLst/>
              <a:ahLst/>
              <a:cxnLst>
                <a:cxn ang="0">
                  <a:pos x="112" y="48"/>
                </a:cxn>
                <a:cxn ang="0">
                  <a:pos x="16" y="192"/>
                </a:cxn>
                <a:cxn ang="0">
                  <a:pos x="208" y="288"/>
                </a:cxn>
                <a:cxn ang="0">
                  <a:pos x="400" y="192"/>
                </a:cxn>
                <a:cxn ang="0">
                  <a:pos x="448" y="48"/>
                </a:cxn>
                <a:cxn ang="0">
                  <a:pos x="304" y="0"/>
                </a:cxn>
                <a:cxn ang="0">
                  <a:pos x="112" y="48"/>
                </a:cxn>
              </a:cxnLst>
              <a:rect l="0" t="0" r="r" b="b"/>
              <a:pathLst>
                <a:path w="464" h="288">
                  <a:moveTo>
                    <a:pt x="112" y="48"/>
                  </a:moveTo>
                  <a:cubicBezTo>
                    <a:pt x="64" y="80"/>
                    <a:pt x="0" y="152"/>
                    <a:pt x="16" y="192"/>
                  </a:cubicBezTo>
                  <a:cubicBezTo>
                    <a:pt x="32" y="232"/>
                    <a:pt x="144" y="288"/>
                    <a:pt x="208" y="288"/>
                  </a:cubicBezTo>
                  <a:cubicBezTo>
                    <a:pt x="272" y="288"/>
                    <a:pt x="360" y="232"/>
                    <a:pt x="400" y="192"/>
                  </a:cubicBezTo>
                  <a:cubicBezTo>
                    <a:pt x="440" y="152"/>
                    <a:pt x="464" y="80"/>
                    <a:pt x="448" y="48"/>
                  </a:cubicBezTo>
                  <a:cubicBezTo>
                    <a:pt x="432" y="16"/>
                    <a:pt x="352" y="0"/>
                    <a:pt x="304" y="0"/>
                  </a:cubicBezTo>
                  <a:cubicBezTo>
                    <a:pt x="256" y="0"/>
                    <a:pt x="160" y="16"/>
                    <a:pt x="112" y="48"/>
                  </a:cubicBezTo>
                  <a:close/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392" name="Freeform 8"/>
            <p:cNvSpPr>
              <a:spLocks/>
            </p:cNvSpPr>
            <p:nvPr/>
          </p:nvSpPr>
          <p:spPr bwMode="auto">
            <a:xfrm>
              <a:off x="4285" y="1701"/>
              <a:ext cx="520" cy="387"/>
            </a:xfrm>
            <a:custGeom>
              <a:avLst/>
              <a:gdLst/>
              <a:ahLst/>
              <a:cxnLst>
                <a:cxn ang="0">
                  <a:pos x="192" y="0"/>
                </a:cxn>
                <a:cxn ang="0">
                  <a:pos x="336" y="48"/>
                </a:cxn>
                <a:cxn ang="0">
                  <a:pos x="480" y="96"/>
                </a:cxn>
                <a:cxn ang="0">
                  <a:pos x="480" y="336"/>
                </a:cxn>
                <a:cxn ang="0">
                  <a:pos x="240" y="384"/>
                </a:cxn>
                <a:cxn ang="0">
                  <a:pos x="96" y="288"/>
                </a:cxn>
                <a:cxn ang="0">
                  <a:pos x="0" y="96"/>
                </a:cxn>
              </a:cxnLst>
              <a:rect l="0" t="0" r="r" b="b"/>
              <a:pathLst>
                <a:path w="520" h="392">
                  <a:moveTo>
                    <a:pt x="192" y="0"/>
                  </a:moveTo>
                  <a:cubicBezTo>
                    <a:pt x="240" y="16"/>
                    <a:pt x="288" y="32"/>
                    <a:pt x="336" y="48"/>
                  </a:cubicBezTo>
                  <a:cubicBezTo>
                    <a:pt x="384" y="64"/>
                    <a:pt x="456" y="48"/>
                    <a:pt x="480" y="96"/>
                  </a:cubicBezTo>
                  <a:cubicBezTo>
                    <a:pt x="504" y="144"/>
                    <a:pt x="520" y="288"/>
                    <a:pt x="480" y="336"/>
                  </a:cubicBezTo>
                  <a:cubicBezTo>
                    <a:pt x="440" y="384"/>
                    <a:pt x="304" y="392"/>
                    <a:pt x="240" y="384"/>
                  </a:cubicBezTo>
                  <a:cubicBezTo>
                    <a:pt x="176" y="376"/>
                    <a:pt x="136" y="336"/>
                    <a:pt x="96" y="288"/>
                  </a:cubicBezTo>
                  <a:cubicBezTo>
                    <a:pt x="56" y="240"/>
                    <a:pt x="28" y="168"/>
                    <a:pt x="0" y="96"/>
                  </a:cubicBez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393" name="Freeform 9"/>
            <p:cNvSpPr>
              <a:spLocks/>
            </p:cNvSpPr>
            <p:nvPr/>
          </p:nvSpPr>
          <p:spPr bwMode="auto">
            <a:xfrm>
              <a:off x="3445" y="1126"/>
              <a:ext cx="904" cy="1114"/>
            </a:xfrm>
            <a:custGeom>
              <a:avLst/>
              <a:gdLst/>
              <a:ahLst/>
              <a:cxnLst>
                <a:cxn ang="0">
                  <a:pos x="867" y="771"/>
                </a:cxn>
                <a:cxn ang="0">
                  <a:pos x="840" y="909"/>
                </a:cxn>
                <a:cxn ang="0">
                  <a:pos x="696" y="1003"/>
                </a:cxn>
                <a:cxn ang="0">
                  <a:pos x="456" y="1098"/>
                </a:cxn>
                <a:cxn ang="0">
                  <a:pos x="72" y="909"/>
                </a:cxn>
                <a:cxn ang="0">
                  <a:pos x="24" y="482"/>
                </a:cxn>
                <a:cxn ang="0">
                  <a:pos x="216" y="150"/>
                </a:cxn>
                <a:cxn ang="0">
                  <a:pos x="648" y="8"/>
                </a:cxn>
                <a:cxn ang="0">
                  <a:pos x="792" y="198"/>
                </a:cxn>
                <a:cxn ang="0">
                  <a:pos x="888" y="387"/>
                </a:cxn>
              </a:cxnLst>
              <a:rect l="0" t="0" r="r" b="b"/>
              <a:pathLst>
                <a:path w="904" h="1114">
                  <a:moveTo>
                    <a:pt x="867" y="771"/>
                  </a:moveTo>
                  <a:cubicBezTo>
                    <a:pt x="861" y="792"/>
                    <a:pt x="868" y="870"/>
                    <a:pt x="840" y="909"/>
                  </a:cubicBezTo>
                  <a:cubicBezTo>
                    <a:pt x="812" y="948"/>
                    <a:pt x="760" y="972"/>
                    <a:pt x="696" y="1003"/>
                  </a:cubicBezTo>
                  <a:cubicBezTo>
                    <a:pt x="632" y="1035"/>
                    <a:pt x="560" y="1114"/>
                    <a:pt x="456" y="1098"/>
                  </a:cubicBezTo>
                  <a:cubicBezTo>
                    <a:pt x="352" y="1082"/>
                    <a:pt x="144" y="1011"/>
                    <a:pt x="72" y="909"/>
                  </a:cubicBezTo>
                  <a:cubicBezTo>
                    <a:pt x="0" y="806"/>
                    <a:pt x="0" y="608"/>
                    <a:pt x="24" y="482"/>
                  </a:cubicBezTo>
                  <a:cubicBezTo>
                    <a:pt x="48" y="356"/>
                    <a:pt x="112" y="229"/>
                    <a:pt x="216" y="150"/>
                  </a:cubicBezTo>
                  <a:cubicBezTo>
                    <a:pt x="320" y="71"/>
                    <a:pt x="552" y="0"/>
                    <a:pt x="648" y="8"/>
                  </a:cubicBezTo>
                  <a:cubicBezTo>
                    <a:pt x="744" y="16"/>
                    <a:pt x="752" y="134"/>
                    <a:pt x="792" y="198"/>
                  </a:cubicBezTo>
                  <a:cubicBezTo>
                    <a:pt x="832" y="261"/>
                    <a:pt x="904" y="356"/>
                    <a:pt x="888" y="387"/>
                  </a:cubicBez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394" name="Freeform 10"/>
            <p:cNvSpPr>
              <a:spLocks/>
            </p:cNvSpPr>
            <p:nvPr/>
          </p:nvSpPr>
          <p:spPr bwMode="auto">
            <a:xfrm>
              <a:off x="3709" y="1389"/>
              <a:ext cx="528" cy="680"/>
            </a:xfrm>
            <a:custGeom>
              <a:avLst/>
              <a:gdLst/>
              <a:ahLst/>
              <a:cxnLst>
                <a:cxn ang="0">
                  <a:pos x="528" y="144"/>
                </a:cxn>
                <a:cxn ang="0">
                  <a:pos x="336" y="0"/>
                </a:cxn>
                <a:cxn ang="0">
                  <a:pos x="48" y="144"/>
                </a:cxn>
                <a:cxn ang="0">
                  <a:pos x="48" y="480"/>
                </a:cxn>
                <a:cxn ang="0">
                  <a:pos x="288" y="672"/>
                </a:cxn>
                <a:cxn ang="0">
                  <a:pos x="432" y="384"/>
                </a:cxn>
              </a:cxnLst>
              <a:rect l="0" t="0" r="r" b="b"/>
              <a:pathLst>
                <a:path w="528" h="688">
                  <a:moveTo>
                    <a:pt x="528" y="144"/>
                  </a:moveTo>
                  <a:cubicBezTo>
                    <a:pt x="472" y="72"/>
                    <a:pt x="416" y="0"/>
                    <a:pt x="336" y="0"/>
                  </a:cubicBezTo>
                  <a:cubicBezTo>
                    <a:pt x="256" y="0"/>
                    <a:pt x="96" y="64"/>
                    <a:pt x="48" y="144"/>
                  </a:cubicBezTo>
                  <a:cubicBezTo>
                    <a:pt x="0" y="224"/>
                    <a:pt x="8" y="392"/>
                    <a:pt x="48" y="480"/>
                  </a:cubicBezTo>
                  <a:cubicBezTo>
                    <a:pt x="88" y="568"/>
                    <a:pt x="224" y="688"/>
                    <a:pt x="288" y="672"/>
                  </a:cubicBezTo>
                  <a:cubicBezTo>
                    <a:pt x="352" y="656"/>
                    <a:pt x="392" y="520"/>
                    <a:pt x="432" y="384"/>
                  </a:cubicBez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396" name="Freeform 12"/>
            <p:cNvSpPr>
              <a:spLocks/>
            </p:cNvSpPr>
            <p:nvPr/>
          </p:nvSpPr>
          <p:spPr bwMode="auto">
            <a:xfrm>
              <a:off x="4468" y="1480"/>
              <a:ext cx="449" cy="272"/>
            </a:xfrm>
            <a:custGeom>
              <a:avLst/>
              <a:gdLst/>
              <a:ahLst/>
              <a:cxnLst>
                <a:cxn ang="0">
                  <a:pos x="48" y="96"/>
                </a:cxn>
                <a:cxn ang="0">
                  <a:pos x="192" y="0"/>
                </a:cxn>
                <a:cxn ang="0">
                  <a:pos x="384" y="96"/>
                </a:cxn>
                <a:cxn ang="0">
                  <a:pos x="432" y="288"/>
                </a:cxn>
                <a:cxn ang="0">
                  <a:pos x="240" y="336"/>
                </a:cxn>
                <a:cxn ang="0">
                  <a:pos x="96" y="336"/>
                </a:cxn>
                <a:cxn ang="0">
                  <a:pos x="0" y="288"/>
                </a:cxn>
              </a:cxnLst>
              <a:rect l="0" t="0" r="r" b="b"/>
              <a:pathLst>
                <a:path w="456" h="344">
                  <a:moveTo>
                    <a:pt x="48" y="96"/>
                  </a:moveTo>
                  <a:cubicBezTo>
                    <a:pt x="92" y="48"/>
                    <a:pt x="136" y="0"/>
                    <a:pt x="192" y="0"/>
                  </a:cubicBezTo>
                  <a:cubicBezTo>
                    <a:pt x="248" y="0"/>
                    <a:pt x="344" y="48"/>
                    <a:pt x="384" y="96"/>
                  </a:cubicBezTo>
                  <a:cubicBezTo>
                    <a:pt x="424" y="144"/>
                    <a:pt x="456" y="248"/>
                    <a:pt x="432" y="288"/>
                  </a:cubicBezTo>
                  <a:cubicBezTo>
                    <a:pt x="408" y="328"/>
                    <a:pt x="296" y="328"/>
                    <a:pt x="240" y="336"/>
                  </a:cubicBezTo>
                  <a:cubicBezTo>
                    <a:pt x="184" y="344"/>
                    <a:pt x="136" y="344"/>
                    <a:pt x="96" y="336"/>
                  </a:cubicBezTo>
                  <a:cubicBezTo>
                    <a:pt x="56" y="328"/>
                    <a:pt x="28" y="308"/>
                    <a:pt x="0" y="288"/>
                  </a:cubicBez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405" name="Freeform 21"/>
            <p:cNvSpPr>
              <a:spLocks/>
            </p:cNvSpPr>
            <p:nvPr/>
          </p:nvSpPr>
          <p:spPr bwMode="auto">
            <a:xfrm>
              <a:off x="4241" y="1216"/>
              <a:ext cx="748" cy="1280"/>
            </a:xfrm>
            <a:custGeom>
              <a:avLst/>
              <a:gdLst/>
              <a:ahLst/>
              <a:cxnLst>
                <a:cxn ang="0">
                  <a:pos x="220" y="300"/>
                </a:cxn>
                <a:cxn ang="0">
                  <a:pos x="316" y="63"/>
                </a:cxn>
                <a:cxn ang="0">
                  <a:pos x="556" y="16"/>
                </a:cxn>
                <a:cxn ang="0">
                  <a:pos x="700" y="158"/>
                </a:cxn>
                <a:cxn ang="0">
                  <a:pos x="748" y="490"/>
                </a:cxn>
                <a:cxn ang="0">
                  <a:pos x="700" y="964"/>
                </a:cxn>
                <a:cxn ang="0">
                  <a:pos x="604" y="1248"/>
                </a:cxn>
                <a:cxn ang="0">
                  <a:pos x="220" y="1154"/>
                </a:cxn>
                <a:cxn ang="0">
                  <a:pos x="28" y="1011"/>
                </a:cxn>
                <a:cxn ang="0">
                  <a:pos x="54" y="792"/>
                </a:cxn>
              </a:cxnLst>
              <a:rect l="0" t="0" r="r" b="b"/>
              <a:pathLst>
                <a:path w="748" h="1280">
                  <a:moveTo>
                    <a:pt x="220" y="300"/>
                  </a:moveTo>
                  <a:cubicBezTo>
                    <a:pt x="240" y="205"/>
                    <a:pt x="260" y="111"/>
                    <a:pt x="316" y="63"/>
                  </a:cubicBezTo>
                  <a:cubicBezTo>
                    <a:pt x="372" y="16"/>
                    <a:pt x="492" y="0"/>
                    <a:pt x="556" y="16"/>
                  </a:cubicBezTo>
                  <a:cubicBezTo>
                    <a:pt x="620" y="32"/>
                    <a:pt x="668" y="79"/>
                    <a:pt x="700" y="158"/>
                  </a:cubicBezTo>
                  <a:cubicBezTo>
                    <a:pt x="732" y="237"/>
                    <a:pt x="748" y="356"/>
                    <a:pt x="748" y="490"/>
                  </a:cubicBezTo>
                  <a:cubicBezTo>
                    <a:pt x="748" y="624"/>
                    <a:pt x="724" y="838"/>
                    <a:pt x="700" y="964"/>
                  </a:cubicBezTo>
                  <a:cubicBezTo>
                    <a:pt x="676" y="1090"/>
                    <a:pt x="684" y="1217"/>
                    <a:pt x="604" y="1248"/>
                  </a:cubicBezTo>
                  <a:cubicBezTo>
                    <a:pt x="524" y="1280"/>
                    <a:pt x="316" y="1193"/>
                    <a:pt x="220" y="1154"/>
                  </a:cubicBezTo>
                  <a:cubicBezTo>
                    <a:pt x="124" y="1114"/>
                    <a:pt x="56" y="1071"/>
                    <a:pt x="28" y="1011"/>
                  </a:cubicBezTo>
                  <a:cubicBezTo>
                    <a:pt x="0" y="951"/>
                    <a:pt x="49" y="838"/>
                    <a:pt x="54" y="792"/>
                  </a:cubicBez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399" name="Text Box 15"/>
            <p:cNvSpPr txBox="1">
              <a:spLocks noChangeArrowheads="1"/>
            </p:cNvSpPr>
            <p:nvPr/>
          </p:nvSpPr>
          <p:spPr bwMode="auto">
            <a:xfrm>
              <a:off x="3757" y="1506"/>
              <a:ext cx="336" cy="2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>
                  <a:ea typeface="宋体" pitchFamily="2" charset="-122"/>
                </a:rPr>
                <a:t>(2)</a:t>
              </a:r>
            </a:p>
          </p:txBody>
        </p:sp>
        <p:sp>
          <p:nvSpPr>
            <p:cNvPr id="144400" name="Text Box 16"/>
            <p:cNvSpPr txBox="1">
              <a:spLocks noChangeArrowheads="1"/>
            </p:cNvSpPr>
            <p:nvPr/>
          </p:nvSpPr>
          <p:spPr bwMode="auto">
            <a:xfrm>
              <a:off x="4429" y="1746"/>
              <a:ext cx="288" cy="2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>
                  <a:ea typeface="宋体" pitchFamily="2" charset="-122"/>
                </a:rPr>
                <a:t>(4)</a:t>
              </a:r>
            </a:p>
          </p:txBody>
        </p:sp>
        <p:sp>
          <p:nvSpPr>
            <p:cNvPr id="144401" name="Text Box 17"/>
            <p:cNvSpPr txBox="1">
              <a:spLocks noChangeArrowheads="1"/>
            </p:cNvSpPr>
            <p:nvPr/>
          </p:nvSpPr>
          <p:spPr bwMode="auto">
            <a:xfrm>
              <a:off x="4477" y="2082"/>
              <a:ext cx="336" cy="2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>
                  <a:ea typeface="宋体" pitchFamily="2" charset="-122"/>
                </a:rPr>
                <a:t>(5)</a:t>
              </a:r>
            </a:p>
          </p:txBody>
        </p:sp>
        <p:sp>
          <p:nvSpPr>
            <p:cNvPr id="144402" name="Text Box 18"/>
            <p:cNvSpPr txBox="1">
              <a:spLocks noChangeArrowheads="1"/>
            </p:cNvSpPr>
            <p:nvPr/>
          </p:nvSpPr>
          <p:spPr bwMode="auto">
            <a:xfrm>
              <a:off x="3469" y="1698"/>
              <a:ext cx="288" cy="2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>
                  <a:ea typeface="宋体" pitchFamily="2" charset="-122"/>
                </a:rPr>
                <a:t>(6)</a:t>
              </a:r>
            </a:p>
          </p:txBody>
        </p:sp>
        <p:sp>
          <p:nvSpPr>
            <p:cNvPr id="144403" name="Text Box 19"/>
            <p:cNvSpPr txBox="1">
              <a:spLocks noChangeArrowheads="1"/>
            </p:cNvSpPr>
            <p:nvPr/>
          </p:nvSpPr>
          <p:spPr bwMode="auto">
            <a:xfrm>
              <a:off x="3134" y="1203"/>
              <a:ext cx="336" cy="2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1800">
                  <a:ea typeface="宋体" pitchFamily="2" charset="-122"/>
                </a:rPr>
                <a:t>(7)</a:t>
              </a:r>
            </a:p>
          </p:txBody>
        </p:sp>
      </p:grpSp>
      <p:sp useBgFill="1">
        <p:nvSpPr>
          <p:cNvPr id="144523" name="Text Box 139"/>
          <p:cNvSpPr txBox="1">
            <a:spLocks noChangeArrowheads="1"/>
          </p:cNvSpPr>
          <p:nvPr/>
        </p:nvSpPr>
        <p:spPr bwMode="auto">
          <a:xfrm>
            <a:off x="5376863" y="5734050"/>
            <a:ext cx="415498" cy="330668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60000"/>
              </a:lnSpc>
            </a:pPr>
            <a:r>
              <a:rPr lang="en-US" altLang="zh-CN"/>
              <a:t>3 </a:t>
            </a:r>
          </a:p>
        </p:txBody>
      </p:sp>
      <p:sp useBgFill="1">
        <p:nvSpPr>
          <p:cNvPr id="144524" name="Text Box 140"/>
          <p:cNvSpPr txBox="1">
            <a:spLocks noChangeArrowheads="1"/>
          </p:cNvSpPr>
          <p:nvPr/>
        </p:nvSpPr>
        <p:spPr bwMode="auto">
          <a:xfrm>
            <a:off x="6024563" y="5734050"/>
            <a:ext cx="415498" cy="330668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60000"/>
              </a:lnSpc>
            </a:pPr>
            <a:r>
              <a:rPr lang="en-US" altLang="zh-CN"/>
              <a:t>2 </a:t>
            </a:r>
          </a:p>
        </p:txBody>
      </p:sp>
      <p:sp useBgFill="1">
        <p:nvSpPr>
          <p:cNvPr id="144525" name="Text Box 141"/>
          <p:cNvSpPr txBox="1">
            <a:spLocks noChangeArrowheads="1"/>
          </p:cNvSpPr>
          <p:nvPr/>
        </p:nvSpPr>
        <p:spPr bwMode="auto">
          <a:xfrm>
            <a:off x="6600825" y="5734050"/>
            <a:ext cx="415498" cy="330668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60000"/>
              </a:lnSpc>
            </a:pPr>
            <a:r>
              <a:rPr lang="en-US" altLang="zh-CN"/>
              <a:t>4 </a:t>
            </a:r>
          </a:p>
        </p:txBody>
      </p:sp>
      <p:sp useBgFill="1">
        <p:nvSpPr>
          <p:cNvPr id="144526" name="Text Box 142"/>
          <p:cNvSpPr txBox="1">
            <a:spLocks noChangeArrowheads="1"/>
          </p:cNvSpPr>
          <p:nvPr/>
        </p:nvSpPr>
        <p:spPr bwMode="auto">
          <a:xfrm>
            <a:off x="7196138" y="5734050"/>
            <a:ext cx="415498" cy="330668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60000"/>
              </a:lnSpc>
            </a:pPr>
            <a:r>
              <a:rPr lang="en-US" altLang="zh-CN"/>
              <a:t>3 </a:t>
            </a:r>
          </a:p>
        </p:txBody>
      </p:sp>
    </p:spTree>
  </p:cSld>
  <p:clrMapOvr>
    <a:masterClrMapping/>
  </p:clrMapOvr>
  <p:transition spd="slow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44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44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44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44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44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44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445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445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44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44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44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44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44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44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44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44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44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44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1000"/>
                                        <p:tgtEl>
                                          <p:spTgt spid="1445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4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1000"/>
                                        <p:tgtEl>
                                          <p:spTgt spid="1445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1000"/>
                                        <p:tgtEl>
                                          <p:spTgt spid="1445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4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1000"/>
                                        <p:tgtEl>
                                          <p:spTgt spid="1445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4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144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000"/>
                            </p:stCondLst>
                            <p:childTnLst>
                              <p:par>
                                <p:cTn id="9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144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144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00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144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1000"/>
                                        <p:tgtEl>
                                          <p:spTgt spid="1445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4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1000"/>
                                        <p:tgtEl>
                                          <p:spTgt spid="1445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4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1000"/>
                                        <p:tgtEl>
                                          <p:spTgt spid="1445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4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1000"/>
                                        <p:tgtEl>
                                          <p:spTgt spid="1445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1000"/>
                                        <p:tgtEl>
                                          <p:spTgt spid="1445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4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1000"/>
                                        <p:tgtEl>
                                          <p:spTgt spid="1445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4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144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2000"/>
                                        <p:tgtEl>
                                          <p:spTgt spid="144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1000"/>
                                        <p:tgtEl>
                                          <p:spTgt spid="144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1000"/>
                            </p:stCondLst>
                            <p:childTnLst>
                              <p:par>
                                <p:cTn id="1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1000"/>
                                        <p:tgtEl>
                                          <p:spTgt spid="144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1000"/>
                                        <p:tgtEl>
                                          <p:spTgt spid="144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1000"/>
                            </p:stCondLst>
                            <p:childTnLst>
                              <p:par>
                                <p:cTn id="1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000"/>
                                        <p:tgtEl>
                                          <p:spTgt spid="144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1000"/>
                                        <p:tgtEl>
                                          <p:spTgt spid="144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1000"/>
                            </p:stCondLst>
                            <p:childTnLst>
                              <p:par>
                                <p:cTn id="1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1000"/>
                                        <p:tgtEl>
                                          <p:spTgt spid="144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3000"/>
                                        <p:tgtEl>
                                          <p:spTgt spid="144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3000"/>
                            </p:stCondLst>
                            <p:childTnLst>
                              <p:par>
                                <p:cTn id="1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1000"/>
                                        <p:tgtEl>
                                          <p:spTgt spid="144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515" grpId="0" animBg="1"/>
      <p:bldP spid="144515" grpId="1" animBg="1"/>
      <p:bldP spid="144519" grpId="0" animBg="1"/>
      <p:bldP spid="144519" grpId="1" animBg="1"/>
      <p:bldP spid="144513" grpId="0" animBg="1"/>
      <p:bldP spid="144513" grpId="1" animBg="1"/>
      <p:bldP spid="144511" grpId="0" animBg="1"/>
      <p:bldP spid="144511" grpId="1" animBg="1"/>
      <p:bldP spid="144473" grpId="0" animBg="1"/>
      <p:bldP spid="144472" grpId="0" animBg="1"/>
      <p:bldP spid="144435" grpId="0" animBg="1"/>
      <p:bldP spid="144433" grpId="0" animBg="1"/>
      <p:bldP spid="144431" grpId="0"/>
      <p:bldP spid="144449" grpId="0"/>
      <p:bldP spid="144509" grpId="0" animBg="1"/>
      <p:bldP spid="144510" grpId="0" animBg="1"/>
      <p:bldP spid="144512" grpId="0" animBg="1"/>
      <p:bldP spid="144512" grpId="1" animBg="1"/>
      <p:bldP spid="144517" grpId="0" animBg="1"/>
      <p:bldP spid="144517" grpId="1" animBg="1"/>
      <p:bldP spid="144440" grpId="0" animBg="1"/>
      <p:bldP spid="144514" grpId="0" animBg="1"/>
      <p:bldP spid="144514" grpId="1" animBg="1"/>
      <p:bldP spid="144522" grpId="0" animBg="1"/>
      <p:bldP spid="144516" grpId="0" animBg="1"/>
      <p:bldP spid="144516" grpId="1" animBg="1"/>
      <p:bldP spid="144518" grpId="0" animBg="1"/>
      <p:bldP spid="144518" grpId="1" animBg="1"/>
      <p:bldP spid="144520" grpId="0" animBg="1"/>
      <p:bldP spid="144520" grpId="1" animBg="1"/>
      <p:bldP spid="144521" grpId="0" animBg="1"/>
      <p:bldP spid="144437" grpId="0" animBg="1"/>
      <p:bldP spid="144523" grpId="0" animBg="1"/>
      <p:bldP spid="144524" grpId="0" animBg="1"/>
      <p:bldP spid="144525" grpId="0" animBg="1"/>
      <p:bldP spid="14452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21" name="Text Box 5"/>
          <p:cNvSpPr txBox="1">
            <a:spLocks noChangeArrowheads="1"/>
          </p:cNvSpPr>
          <p:nvPr/>
        </p:nvSpPr>
        <p:spPr bwMode="auto">
          <a:xfrm>
            <a:off x="1919536" y="764704"/>
            <a:ext cx="8496300" cy="5113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pPr algn="ctr">
              <a:lnSpc>
                <a:spcPct val="150000"/>
              </a:lnSpc>
            </a:pPr>
            <a:r>
              <a:rPr lang="zh-CN" altLang="en-US" dirty="0"/>
              <a:t>课堂作业</a:t>
            </a:r>
            <a:br>
              <a:rPr lang="zh-CN" altLang="en-US" dirty="0"/>
            </a:br>
            <a:r>
              <a:rPr lang="en-US" altLang="zh-CN" dirty="0"/>
              <a:t>1</a:t>
            </a:r>
            <a:r>
              <a:rPr lang="zh-CN" altLang="en-US" dirty="0"/>
              <a:t>、若入栈序列是 </a:t>
            </a:r>
            <a:r>
              <a:rPr lang="en-US" altLang="zh-CN" i="1" dirty="0"/>
              <a:t>a, b, c, d, e</a:t>
            </a:r>
            <a:r>
              <a:rPr lang="zh-CN" altLang="en-US" dirty="0"/>
              <a:t>，则不可能的出栈序列是（）。 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    （</a:t>
            </a:r>
            <a:r>
              <a:rPr lang="en-US" altLang="zh-CN" dirty="0"/>
              <a:t>A</a:t>
            </a:r>
            <a:r>
              <a:rPr lang="zh-CN" altLang="en-US" dirty="0"/>
              <a:t>） </a:t>
            </a:r>
            <a:r>
              <a:rPr lang="en-US" altLang="zh-CN" i="1" dirty="0" err="1"/>
              <a:t>edcba</a:t>
            </a:r>
            <a:r>
              <a:rPr lang="zh-CN" altLang="en-US" dirty="0"/>
              <a:t>（</a:t>
            </a:r>
            <a:r>
              <a:rPr lang="en-US" altLang="zh-CN" dirty="0"/>
              <a:t>B</a:t>
            </a:r>
            <a:r>
              <a:rPr lang="zh-CN" altLang="en-US" dirty="0"/>
              <a:t>）</a:t>
            </a:r>
            <a:r>
              <a:rPr lang="en-US" altLang="zh-CN" i="1" dirty="0" err="1"/>
              <a:t>decba</a:t>
            </a:r>
            <a:r>
              <a:rPr lang="zh-CN" altLang="en-US" dirty="0"/>
              <a:t>（</a:t>
            </a:r>
            <a:r>
              <a:rPr lang="en-US" altLang="zh-CN" dirty="0"/>
              <a:t>C</a:t>
            </a:r>
            <a:r>
              <a:rPr lang="zh-CN" altLang="en-US" dirty="0"/>
              <a:t>）</a:t>
            </a:r>
            <a:r>
              <a:rPr lang="en-US" altLang="zh-CN" i="1" dirty="0" err="1"/>
              <a:t>dceab</a:t>
            </a:r>
            <a:r>
              <a:rPr lang="en-US" altLang="zh-CN" i="1" dirty="0"/>
              <a:t> </a:t>
            </a:r>
            <a:r>
              <a:rPr lang="zh-CN" altLang="en-US" dirty="0"/>
              <a:t>（</a:t>
            </a:r>
            <a:r>
              <a:rPr lang="en-US" altLang="zh-CN" dirty="0"/>
              <a:t>D</a:t>
            </a:r>
            <a:r>
              <a:rPr lang="zh-CN" altLang="en-US" dirty="0"/>
              <a:t>）</a:t>
            </a:r>
            <a:r>
              <a:rPr lang="en-US" altLang="zh-CN" i="1" dirty="0" err="1"/>
              <a:t>abcde</a:t>
            </a:r>
            <a:r>
              <a:rPr lang="en-US" altLang="zh-CN" dirty="0"/>
              <a:t> </a:t>
            </a:r>
            <a:br>
              <a:rPr lang="en-US" altLang="zh-CN" dirty="0"/>
            </a:br>
            <a:r>
              <a:rPr lang="en-US" altLang="zh-CN" dirty="0"/>
              <a:t>2</a:t>
            </a:r>
            <a:r>
              <a:rPr lang="zh-CN" altLang="en-US" dirty="0"/>
              <a:t>、判定一个栈 </a:t>
            </a:r>
            <a:r>
              <a:rPr lang="en-US" altLang="zh-CN" dirty="0"/>
              <a:t>ST(</a:t>
            </a:r>
            <a:r>
              <a:rPr lang="zh-CN" altLang="en-US" dirty="0"/>
              <a:t>最多元素为</a:t>
            </a:r>
            <a:r>
              <a:rPr lang="en-US" altLang="zh-CN" i="1" dirty="0"/>
              <a:t>m</a:t>
            </a:r>
            <a:r>
              <a:rPr lang="en-US" altLang="zh-CN" baseline="-25000" dirty="0"/>
              <a:t>0</a:t>
            </a:r>
            <a:r>
              <a:rPr lang="en-US" altLang="zh-CN" dirty="0"/>
              <a:t>) </a:t>
            </a:r>
            <a:r>
              <a:rPr lang="zh-CN" altLang="en-US" dirty="0"/>
              <a:t>为空的条件是（）。</a:t>
            </a:r>
            <a:br>
              <a:rPr lang="zh-CN" altLang="en-US" dirty="0"/>
            </a:br>
            <a:r>
              <a:rPr lang="zh-CN" altLang="en-US" dirty="0"/>
              <a:t>    （</a:t>
            </a:r>
            <a:r>
              <a:rPr lang="en-US" altLang="zh-CN" dirty="0"/>
              <a:t>A</a:t>
            </a:r>
            <a:r>
              <a:rPr lang="zh-CN" altLang="en-US" dirty="0"/>
              <a:t>） </a:t>
            </a:r>
            <a:r>
              <a:rPr lang="en-US" altLang="zh-CN" dirty="0" err="1"/>
              <a:t>ST.top</a:t>
            </a:r>
            <a:r>
              <a:rPr lang="en-US" altLang="zh-CN" dirty="0"/>
              <a:t> != </a:t>
            </a:r>
            <a:r>
              <a:rPr lang="en-US" altLang="zh-CN" dirty="0" err="1"/>
              <a:t>ST.base</a:t>
            </a:r>
            <a:r>
              <a:rPr lang="en-US" altLang="zh-CN" dirty="0"/>
              <a:t>         </a:t>
            </a:r>
            <a:r>
              <a:rPr lang="zh-CN" altLang="en-US" dirty="0"/>
              <a:t>（</a:t>
            </a:r>
            <a:r>
              <a:rPr lang="en-US" altLang="zh-CN" dirty="0"/>
              <a:t>B</a:t>
            </a:r>
            <a:r>
              <a:rPr lang="zh-CN" altLang="en-US" dirty="0"/>
              <a:t>）</a:t>
            </a:r>
            <a:r>
              <a:rPr lang="en-US" altLang="zh-CN" dirty="0" err="1"/>
              <a:t>ST.top</a:t>
            </a:r>
            <a:r>
              <a:rPr lang="en-US" altLang="zh-CN" dirty="0"/>
              <a:t> == </a:t>
            </a:r>
            <a:r>
              <a:rPr lang="en-US" altLang="zh-CN" dirty="0" err="1"/>
              <a:t>ST.base</a:t>
            </a:r>
            <a:r>
              <a:rPr lang="en-US" altLang="zh-CN" dirty="0"/>
              <a:t> </a:t>
            </a:r>
            <a:br>
              <a:rPr lang="en-US" altLang="zh-CN" dirty="0"/>
            </a:br>
            <a:r>
              <a:rPr lang="en-US" altLang="zh-CN" dirty="0"/>
              <a:t>    </a:t>
            </a:r>
            <a:r>
              <a:rPr lang="zh-CN" altLang="en-US" dirty="0"/>
              <a:t>（</a:t>
            </a:r>
            <a:r>
              <a:rPr lang="en-US" altLang="zh-CN" dirty="0"/>
              <a:t>C</a:t>
            </a:r>
            <a:r>
              <a:rPr lang="zh-CN" altLang="en-US" dirty="0"/>
              <a:t>）</a:t>
            </a:r>
            <a:r>
              <a:rPr lang="en-US" altLang="zh-CN" dirty="0" err="1"/>
              <a:t>ST.top</a:t>
            </a:r>
            <a:r>
              <a:rPr lang="en-US" altLang="zh-CN" dirty="0"/>
              <a:t> != </a:t>
            </a:r>
            <a:r>
              <a:rPr lang="en-US" altLang="zh-CN" dirty="0" err="1"/>
              <a:t>ST.base</a:t>
            </a:r>
            <a:r>
              <a:rPr lang="en-US" altLang="zh-CN" dirty="0"/>
              <a:t> +</a:t>
            </a:r>
            <a:r>
              <a:rPr lang="en-US" altLang="zh-CN" i="1" dirty="0"/>
              <a:t>m</a:t>
            </a:r>
            <a:r>
              <a:rPr lang="en-US" altLang="zh-CN" baseline="-25000" dirty="0"/>
              <a:t>0</a:t>
            </a:r>
            <a:r>
              <a:rPr lang="en-US" altLang="zh-CN" dirty="0"/>
              <a:t>   </a:t>
            </a:r>
            <a:r>
              <a:rPr lang="zh-CN" altLang="en-US" dirty="0"/>
              <a:t>（</a:t>
            </a:r>
            <a:r>
              <a:rPr lang="en-US" altLang="zh-CN" dirty="0"/>
              <a:t>D</a:t>
            </a:r>
            <a:r>
              <a:rPr lang="zh-CN" altLang="en-US" dirty="0"/>
              <a:t>）</a:t>
            </a:r>
            <a:r>
              <a:rPr lang="en-US" altLang="zh-CN" dirty="0" err="1"/>
              <a:t>ST.top</a:t>
            </a:r>
            <a:r>
              <a:rPr lang="en-US" altLang="zh-CN" dirty="0"/>
              <a:t> == </a:t>
            </a:r>
            <a:r>
              <a:rPr lang="en-US" altLang="zh-CN" dirty="0" err="1"/>
              <a:t>ST.base</a:t>
            </a:r>
            <a:r>
              <a:rPr lang="en-US" altLang="zh-CN" dirty="0"/>
              <a:t>+ </a:t>
            </a:r>
            <a:r>
              <a:rPr lang="en-US" altLang="zh-CN" i="1" dirty="0"/>
              <a:t>m</a:t>
            </a:r>
            <a:r>
              <a:rPr lang="en-US" altLang="zh-CN" baseline="-25000" dirty="0"/>
              <a:t>0</a:t>
            </a:r>
            <a:br>
              <a:rPr lang="en-US" altLang="zh-CN" dirty="0"/>
            </a:br>
            <a:r>
              <a:rPr lang="en-US" altLang="zh-CN" dirty="0"/>
              <a:t>3</a:t>
            </a:r>
            <a:r>
              <a:rPr lang="zh-CN" altLang="en-US" dirty="0"/>
              <a:t>、判定一个栈 </a:t>
            </a:r>
            <a:r>
              <a:rPr lang="en-US" altLang="zh-CN" dirty="0"/>
              <a:t>ST(</a:t>
            </a:r>
            <a:r>
              <a:rPr lang="zh-CN" altLang="en-US" dirty="0"/>
              <a:t>最多元素为</a:t>
            </a:r>
            <a:r>
              <a:rPr lang="en-US" altLang="zh-CN" i="1" dirty="0"/>
              <a:t>m</a:t>
            </a:r>
            <a:r>
              <a:rPr lang="en-US" altLang="zh-CN" baseline="-25000" dirty="0"/>
              <a:t>0</a:t>
            </a:r>
            <a:r>
              <a:rPr lang="en-US" altLang="zh-CN" dirty="0"/>
              <a:t>) </a:t>
            </a:r>
            <a:r>
              <a:rPr lang="zh-CN" altLang="en-US" dirty="0"/>
              <a:t>为满的条件是（）。 </a:t>
            </a:r>
            <a:br>
              <a:rPr lang="zh-CN" altLang="en-US" dirty="0"/>
            </a:br>
            <a:r>
              <a:rPr lang="zh-CN" altLang="en-US" dirty="0"/>
              <a:t> （</a:t>
            </a:r>
            <a:r>
              <a:rPr lang="en-US" altLang="zh-CN" dirty="0"/>
              <a:t>A</a:t>
            </a:r>
            <a:r>
              <a:rPr lang="zh-CN" altLang="en-US" dirty="0"/>
              <a:t>） </a:t>
            </a:r>
            <a:r>
              <a:rPr lang="en-US" altLang="zh-CN" dirty="0" err="1"/>
              <a:t>ST.top</a:t>
            </a:r>
            <a:r>
              <a:rPr lang="en-US" altLang="zh-CN" dirty="0"/>
              <a:t> != </a:t>
            </a:r>
            <a:r>
              <a:rPr lang="en-US" altLang="zh-CN" dirty="0" err="1"/>
              <a:t>ST.base</a:t>
            </a:r>
            <a:r>
              <a:rPr lang="en-US" altLang="zh-CN" dirty="0"/>
              <a:t>         </a:t>
            </a:r>
            <a:r>
              <a:rPr lang="zh-CN" altLang="en-US" dirty="0"/>
              <a:t>（</a:t>
            </a:r>
            <a:r>
              <a:rPr lang="en-US" altLang="zh-CN" dirty="0"/>
              <a:t>B</a:t>
            </a:r>
            <a:r>
              <a:rPr lang="zh-CN" altLang="en-US" dirty="0"/>
              <a:t>）</a:t>
            </a:r>
            <a:r>
              <a:rPr lang="en-US" altLang="zh-CN" dirty="0" err="1"/>
              <a:t>ST.top</a:t>
            </a:r>
            <a:r>
              <a:rPr lang="en-US" altLang="zh-CN" dirty="0"/>
              <a:t> == </a:t>
            </a:r>
            <a:r>
              <a:rPr lang="en-US" altLang="zh-CN" dirty="0" err="1"/>
              <a:t>ST.base</a:t>
            </a:r>
            <a:r>
              <a:rPr lang="en-US" altLang="zh-CN" dirty="0"/>
              <a:t> </a:t>
            </a:r>
            <a:br>
              <a:rPr lang="en-US" altLang="zh-CN" dirty="0"/>
            </a:br>
            <a:r>
              <a:rPr lang="en-US" altLang="zh-CN" dirty="0"/>
              <a:t> </a:t>
            </a:r>
            <a:r>
              <a:rPr lang="zh-CN" altLang="en-US" dirty="0"/>
              <a:t>（</a:t>
            </a:r>
            <a:r>
              <a:rPr lang="en-US" altLang="zh-CN" dirty="0"/>
              <a:t>C</a:t>
            </a:r>
            <a:r>
              <a:rPr lang="zh-CN" altLang="en-US" dirty="0"/>
              <a:t>）</a:t>
            </a:r>
            <a:r>
              <a:rPr lang="en-US" altLang="zh-CN" dirty="0" err="1"/>
              <a:t>ST.top</a:t>
            </a:r>
            <a:r>
              <a:rPr lang="en-US" altLang="zh-CN" dirty="0"/>
              <a:t> != </a:t>
            </a:r>
            <a:r>
              <a:rPr lang="en-US" altLang="zh-CN" dirty="0" err="1"/>
              <a:t>ST.base</a:t>
            </a:r>
            <a:r>
              <a:rPr lang="en-US" altLang="zh-CN" dirty="0"/>
              <a:t> +</a:t>
            </a:r>
            <a:r>
              <a:rPr lang="en-US" altLang="zh-CN" i="1" dirty="0"/>
              <a:t>m</a:t>
            </a:r>
            <a:r>
              <a:rPr lang="en-US" altLang="zh-CN" baseline="-25000" dirty="0"/>
              <a:t>0</a:t>
            </a:r>
            <a:r>
              <a:rPr lang="en-US" altLang="zh-CN" dirty="0"/>
              <a:t>   </a:t>
            </a:r>
            <a:r>
              <a:rPr lang="zh-CN" altLang="en-US" dirty="0"/>
              <a:t>（</a:t>
            </a:r>
            <a:r>
              <a:rPr lang="en-US" altLang="zh-CN" dirty="0"/>
              <a:t>D</a:t>
            </a:r>
            <a:r>
              <a:rPr lang="zh-CN" altLang="en-US" dirty="0"/>
              <a:t>）</a:t>
            </a:r>
            <a:r>
              <a:rPr lang="en-US" altLang="zh-CN" dirty="0" err="1"/>
              <a:t>ST.top</a:t>
            </a:r>
            <a:r>
              <a:rPr lang="en-US" altLang="zh-CN" dirty="0"/>
              <a:t> == </a:t>
            </a:r>
            <a:r>
              <a:rPr lang="en-US" altLang="zh-CN" dirty="0" err="1"/>
              <a:t>ST.base</a:t>
            </a:r>
            <a:r>
              <a:rPr lang="en-US" altLang="zh-CN" dirty="0"/>
              <a:t>+ </a:t>
            </a:r>
            <a:r>
              <a:rPr lang="en-US" altLang="zh-CN" i="1" dirty="0"/>
              <a:t>m</a:t>
            </a:r>
            <a:r>
              <a:rPr lang="en-US" altLang="zh-CN" baseline="-25000" dirty="0"/>
              <a:t>0</a:t>
            </a:r>
            <a:endParaRPr lang="en-US" altLang="zh-CN" dirty="0"/>
          </a:p>
        </p:txBody>
      </p:sp>
    </p:spTree>
  </p:cSld>
  <p:clrMapOvr>
    <a:masterClrMapping/>
  </p:clrMapOvr>
  <p:transition spd="slow">
    <p:zo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60" name="Text Box 24"/>
          <p:cNvSpPr txBox="1">
            <a:spLocks noChangeArrowheads="1"/>
          </p:cNvSpPr>
          <p:nvPr/>
        </p:nvSpPr>
        <p:spPr bwMode="auto">
          <a:xfrm>
            <a:off x="2039938" y="457200"/>
            <a:ext cx="3079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</a:pPr>
            <a:r>
              <a:rPr kumimoji="0" lang="en-US" altLang="zh-CN">
                <a:ea typeface="华文中宋" pitchFamily="2" charset="-122"/>
              </a:rPr>
              <a:t>3.3   </a:t>
            </a:r>
            <a:r>
              <a:rPr kumimoji="0" lang="zh-CN" altLang="en-US">
                <a:ea typeface="华文中宋" pitchFamily="2" charset="-122"/>
              </a:rPr>
              <a:t>栈与递归的实现  </a:t>
            </a:r>
          </a:p>
        </p:txBody>
      </p:sp>
      <p:sp>
        <p:nvSpPr>
          <p:cNvPr id="14362" name="Text Box 26"/>
          <p:cNvSpPr txBox="1">
            <a:spLocks noChangeArrowheads="1"/>
          </p:cNvSpPr>
          <p:nvPr/>
        </p:nvSpPr>
        <p:spPr bwMode="auto">
          <a:xfrm>
            <a:off x="2014539" y="944564"/>
            <a:ext cx="8263801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0000FF"/>
                </a:solidFill>
                <a:ea typeface="华文中宋" pitchFamily="2" charset="-122"/>
              </a:rPr>
              <a:t>递归：</a:t>
            </a:r>
            <a:r>
              <a:rPr lang="zh-CN" altLang="en-US">
                <a:ea typeface="华文新魏" pitchFamily="2" charset="-122"/>
              </a:rPr>
              <a:t>一个直接调用自己或通过一系列的调用语句间接地调 </a:t>
            </a:r>
          </a:p>
          <a:p>
            <a:r>
              <a:rPr lang="zh-CN" altLang="en-US">
                <a:ea typeface="华文新魏" pitchFamily="2" charset="-122"/>
              </a:rPr>
              <a:t>            用自己的函数，称做递归函数。 </a:t>
            </a:r>
            <a:endParaRPr lang="zh-CN" altLang="en-US">
              <a:solidFill>
                <a:srgbClr val="0000FF"/>
              </a:solidFill>
              <a:ea typeface="华文新魏" pitchFamily="2" charset="-122"/>
            </a:endParaRPr>
          </a:p>
        </p:txBody>
      </p:sp>
      <p:sp>
        <p:nvSpPr>
          <p:cNvPr id="14363" name="Text Box 27"/>
          <p:cNvSpPr txBox="1">
            <a:spLocks noChangeArrowheads="1"/>
          </p:cNvSpPr>
          <p:nvPr/>
        </p:nvSpPr>
        <p:spPr bwMode="auto">
          <a:xfrm>
            <a:off x="2014538" y="1897063"/>
            <a:ext cx="21717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ea typeface="华文中宋" pitchFamily="2" charset="-122"/>
              </a:rPr>
              <a:t>例：</a:t>
            </a:r>
            <a:r>
              <a:rPr lang="zh-CN" altLang="en-US"/>
              <a:t>阶乘函数  </a:t>
            </a:r>
          </a:p>
        </p:txBody>
      </p:sp>
      <p:graphicFrame>
        <p:nvGraphicFramePr>
          <p:cNvPr id="14364" name="Object 28"/>
          <p:cNvGraphicFramePr>
            <a:graphicFrameLocks noChangeAspect="1"/>
          </p:cNvGraphicFramePr>
          <p:nvPr/>
        </p:nvGraphicFramePr>
        <p:xfrm>
          <a:off x="4224338" y="1855789"/>
          <a:ext cx="5105400" cy="1030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323800" imgH="469800" progId="Equation.3">
                  <p:embed/>
                </p:oleObj>
              </mc:Choice>
              <mc:Fallback>
                <p:oleObj name="公式" r:id="rId3" imgW="2323800" imgH="469800" progId="Equation.3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4338" y="1855789"/>
                        <a:ext cx="5105400" cy="1030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65" name="Text Box 29"/>
          <p:cNvSpPr txBox="1">
            <a:spLocks noChangeArrowheads="1"/>
          </p:cNvSpPr>
          <p:nvPr/>
        </p:nvSpPr>
        <p:spPr bwMode="auto">
          <a:xfrm>
            <a:off x="2571751" y="3049588"/>
            <a:ext cx="3485249" cy="341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zh-CN" altLang="en-US"/>
              <a:t>相应的 </a:t>
            </a:r>
            <a:r>
              <a:rPr lang="en-US" altLang="zh-CN"/>
              <a:t>C </a:t>
            </a:r>
            <a:r>
              <a:rPr lang="zh-CN" altLang="en-US"/>
              <a:t>语言函数是：  </a:t>
            </a:r>
          </a:p>
          <a:p>
            <a:pPr eaLnBrk="0" hangingPunct="0"/>
            <a:r>
              <a:rPr lang="en-US" altLang="zh-CN"/>
              <a:t>float </a:t>
            </a:r>
            <a:r>
              <a:rPr lang="en-US" altLang="zh-CN">
                <a:solidFill>
                  <a:srgbClr val="0000FF"/>
                </a:solidFill>
              </a:rPr>
              <a:t>fact</a:t>
            </a:r>
            <a:r>
              <a:rPr lang="en-US" altLang="zh-CN"/>
              <a:t>(int </a:t>
            </a:r>
            <a:r>
              <a:rPr lang="en-US" altLang="zh-CN" i="1"/>
              <a:t>n</a:t>
            </a:r>
            <a:r>
              <a:rPr lang="en-US" altLang="zh-CN"/>
              <a:t>) </a:t>
            </a:r>
          </a:p>
          <a:p>
            <a:pPr eaLnBrk="0" hangingPunct="0"/>
            <a:r>
              <a:rPr lang="en-US" altLang="zh-CN"/>
              <a:t>{   float </a:t>
            </a:r>
            <a:r>
              <a:rPr lang="en-US" altLang="zh-CN" i="1"/>
              <a:t>s</a:t>
            </a:r>
            <a:r>
              <a:rPr lang="en-US" altLang="zh-CN"/>
              <a:t>; </a:t>
            </a:r>
          </a:p>
          <a:p>
            <a:pPr eaLnBrk="0" hangingPunct="0"/>
            <a:r>
              <a:rPr lang="en-US" altLang="zh-CN"/>
              <a:t>    if (</a:t>
            </a:r>
            <a:r>
              <a:rPr lang="en-US" altLang="zh-CN" i="1"/>
              <a:t>n </a:t>
            </a:r>
            <a:r>
              <a:rPr lang="en-US" altLang="zh-CN"/>
              <a:t>= = 0) </a:t>
            </a:r>
          </a:p>
          <a:p>
            <a:pPr eaLnBrk="0" hangingPunct="0"/>
            <a:r>
              <a:rPr lang="en-US" altLang="zh-CN"/>
              <a:t>        </a:t>
            </a:r>
            <a:r>
              <a:rPr lang="en-US" altLang="zh-CN" i="1"/>
              <a:t>s </a:t>
            </a:r>
            <a:r>
              <a:rPr lang="en-US" altLang="zh-CN"/>
              <a:t>= 1; </a:t>
            </a:r>
          </a:p>
          <a:p>
            <a:pPr eaLnBrk="0" hangingPunct="0"/>
            <a:r>
              <a:rPr lang="en-US" altLang="zh-CN"/>
              <a:t>    else </a:t>
            </a:r>
          </a:p>
          <a:p>
            <a:pPr eaLnBrk="0" hangingPunct="0"/>
            <a:r>
              <a:rPr lang="en-US" altLang="zh-CN"/>
              <a:t>        </a:t>
            </a:r>
            <a:r>
              <a:rPr lang="en-US" altLang="zh-CN" i="1"/>
              <a:t>s </a:t>
            </a:r>
            <a:r>
              <a:rPr lang="en-US" altLang="zh-CN"/>
              <a:t>= </a:t>
            </a:r>
            <a:r>
              <a:rPr lang="en-US" altLang="zh-CN" i="1"/>
              <a:t>n</a:t>
            </a:r>
            <a:r>
              <a:rPr lang="en-US" altLang="zh-CN"/>
              <a:t>*</a:t>
            </a:r>
            <a:r>
              <a:rPr lang="en-US" altLang="zh-CN">
                <a:solidFill>
                  <a:srgbClr val="0000FF"/>
                </a:solidFill>
              </a:rPr>
              <a:t>fact</a:t>
            </a:r>
            <a:r>
              <a:rPr lang="en-US" altLang="zh-CN"/>
              <a:t>(</a:t>
            </a:r>
            <a:r>
              <a:rPr lang="en-US" altLang="zh-CN" i="1"/>
              <a:t>n </a:t>
            </a:r>
            <a:r>
              <a:rPr lang="en-US" altLang="zh-CN"/>
              <a:t>-1); </a:t>
            </a:r>
          </a:p>
          <a:p>
            <a:pPr eaLnBrk="0" hangingPunct="0"/>
            <a:r>
              <a:rPr lang="en-US" altLang="zh-CN"/>
              <a:t>    return (</a:t>
            </a:r>
            <a:r>
              <a:rPr lang="en-US" altLang="zh-CN" i="1"/>
              <a:t>s</a:t>
            </a:r>
            <a:r>
              <a:rPr lang="en-US" altLang="zh-CN"/>
              <a:t>); </a:t>
            </a:r>
          </a:p>
          <a:p>
            <a:pPr eaLnBrk="0" hangingPunct="0"/>
            <a:r>
              <a:rPr lang="en-US" altLang="zh-CN"/>
              <a:t>} </a:t>
            </a:r>
          </a:p>
        </p:txBody>
      </p:sp>
      <p:sp>
        <p:nvSpPr>
          <p:cNvPr id="14366" name="Text Box 30"/>
          <p:cNvSpPr txBox="1">
            <a:spLocks noChangeArrowheads="1"/>
          </p:cNvSpPr>
          <p:nvPr/>
        </p:nvSpPr>
        <p:spPr bwMode="auto">
          <a:xfrm>
            <a:off x="6223001" y="3262313"/>
            <a:ext cx="3946525" cy="2830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lnSpc>
                <a:spcPct val="150000"/>
              </a:lnSpc>
            </a:pPr>
            <a:r>
              <a:rPr lang="zh-CN" altLang="en-US" dirty="0"/>
              <a:t>若求 </a:t>
            </a:r>
            <a:r>
              <a:rPr lang="en-US" altLang="zh-CN" dirty="0"/>
              <a:t>5!</a:t>
            </a:r>
            <a:r>
              <a:rPr lang="zh-CN" altLang="en-US" dirty="0"/>
              <a:t>，则有 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zh-CN" dirty="0"/>
              <a:t>main() 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zh-CN" dirty="0"/>
              <a:t>{  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zh-CN" dirty="0"/>
              <a:t>   </a:t>
            </a:r>
            <a:r>
              <a:rPr lang="en-US" altLang="zh-CN" dirty="0" err="1"/>
              <a:t>printf</a:t>
            </a:r>
            <a:r>
              <a:rPr lang="en-US" altLang="zh-CN" dirty="0"/>
              <a:t>(“5!=%f\</a:t>
            </a:r>
            <a:r>
              <a:rPr lang="en-US" altLang="zh-CN" dirty="0" err="1"/>
              <a:t>n”,fact</a:t>
            </a:r>
            <a:r>
              <a:rPr lang="en-US" altLang="zh-CN" dirty="0"/>
              <a:t>(5));  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zh-CN" dirty="0"/>
              <a:t>}  </a:t>
            </a:r>
          </a:p>
        </p:txBody>
      </p:sp>
    </p:spTree>
  </p:cSld>
  <p:clrMapOvr>
    <a:masterClrMapping/>
  </p:clrMapOvr>
  <p:transition spd="slow">
    <p:strips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4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4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4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43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43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3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43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43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43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43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3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62" grpId="0" uiExpand="1" build="allAtOnce" autoUpdateAnimBg="0"/>
      <p:bldP spid="14363" grpId="0" autoUpdateAnimBg="0"/>
      <p:bldP spid="14365" grpId="0" autoUpdateAnimBg="0"/>
      <p:bldP spid="14366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4" name="Text Box 4"/>
          <p:cNvSpPr txBox="1">
            <a:spLocks noChangeArrowheads="1"/>
          </p:cNvSpPr>
          <p:nvPr/>
        </p:nvSpPr>
        <p:spPr bwMode="auto">
          <a:xfrm>
            <a:off x="2066926" y="460375"/>
            <a:ext cx="8132763" cy="2465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457200" indent="-457200">
              <a:lnSpc>
                <a:spcPct val="130000"/>
              </a:lnSpc>
            </a:pPr>
            <a:r>
              <a:rPr lang="en-US" altLang="zh-CN"/>
              <a:t>        </a:t>
            </a:r>
            <a:r>
              <a:rPr lang="zh-CN" altLang="en-US">
                <a:ea typeface="华文中宋" pitchFamily="2" charset="-122"/>
              </a:rPr>
              <a:t>当在一个函数的运行期间调用另一个函数时，在运行 </a:t>
            </a:r>
          </a:p>
          <a:p>
            <a:pPr marL="457200" indent="-457200">
              <a:lnSpc>
                <a:spcPct val="130000"/>
              </a:lnSpc>
            </a:pPr>
            <a:r>
              <a:rPr lang="zh-CN" altLang="en-US">
                <a:ea typeface="华文中宋" pitchFamily="2" charset="-122"/>
              </a:rPr>
              <a:t>该被调用函数之前，需先完成三件事： </a:t>
            </a:r>
          </a:p>
          <a:p>
            <a:pPr marL="457200" indent="-457200">
              <a:lnSpc>
                <a:spcPct val="130000"/>
              </a:lnSpc>
              <a:buFontTx/>
              <a:buAutoNum type="arabicPeriod"/>
            </a:pPr>
            <a:r>
              <a:rPr lang="zh-CN" altLang="en-US"/>
              <a:t> 将实参等传递给被调用函数，</a:t>
            </a:r>
            <a:r>
              <a:rPr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保存返回地址</a:t>
            </a:r>
            <a:r>
              <a:rPr lang="zh-CN" altLang="en-US"/>
              <a:t>（</a:t>
            </a:r>
            <a:r>
              <a:rPr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入栈</a:t>
            </a:r>
            <a:r>
              <a:rPr lang="zh-CN" altLang="en-US"/>
              <a:t>）</a:t>
            </a:r>
            <a:r>
              <a:rPr lang="zh-CN" altLang="en-US">
                <a:ea typeface="华文中宋" pitchFamily="2" charset="-122"/>
              </a:rPr>
              <a:t>；</a:t>
            </a:r>
            <a:r>
              <a:rPr lang="zh-CN" altLang="en-US"/>
              <a:t> </a:t>
            </a:r>
          </a:p>
          <a:p>
            <a:pPr marL="457200" indent="-457200">
              <a:lnSpc>
                <a:spcPct val="130000"/>
              </a:lnSpc>
              <a:buFontTx/>
              <a:buAutoNum type="arabicPeriod"/>
            </a:pPr>
            <a:r>
              <a:rPr lang="zh-CN" altLang="en-US"/>
              <a:t> 为被调用函数的局部变量</a:t>
            </a:r>
            <a:r>
              <a:rPr lang="zh-CN" altLang="en-US">
                <a:solidFill>
                  <a:srgbClr val="0000FF"/>
                </a:solidFill>
              </a:rPr>
              <a:t>分配存储区</a:t>
            </a:r>
            <a:r>
              <a:rPr lang="zh-CN" altLang="en-US"/>
              <a:t>；  </a:t>
            </a:r>
          </a:p>
          <a:p>
            <a:pPr marL="457200" indent="-457200">
              <a:lnSpc>
                <a:spcPct val="130000"/>
              </a:lnSpc>
              <a:buFontTx/>
              <a:buAutoNum type="arabicPeriod"/>
            </a:pPr>
            <a:r>
              <a:rPr lang="zh-CN" altLang="en-US"/>
              <a:t> 将</a:t>
            </a:r>
            <a:r>
              <a:rPr lang="zh-CN" altLang="en-US">
                <a:solidFill>
                  <a:srgbClr val="0000FF"/>
                </a:solidFill>
              </a:rPr>
              <a:t>控制转移</a:t>
            </a:r>
            <a:r>
              <a:rPr lang="zh-CN" altLang="en-US"/>
              <a:t>到被调用函数的入口。   </a:t>
            </a:r>
          </a:p>
        </p:txBody>
      </p:sp>
      <p:sp>
        <p:nvSpPr>
          <p:cNvPr id="87045" name="Text Box 5"/>
          <p:cNvSpPr txBox="1">
            <a:spLocks noChangeArrowheads="1"/>
          </p:cNvSpPr>
          <p:nvPr/>
        </p:nvSpPr>
        <p:spPr bwMode="auto">
          <a:xfrm>
            <a:off x="2066925" y="2924175"/>
            <a:ext cx="7837488" cy="2465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457200" indent="-457200">
              <a:lnSpc>
                <a:spcPct val="130000"/>
              </a:lnSpc>
            </a:pPr>
            <a:r>
              <a:rPr lang="en-US" altLang="zh-CN">
                <a:ea typeface="华文中宋" pitchFamily="2" charset="-122"/>
              </a:rPr>
              <a:t>        </a:t>
            </a:r>
            <a:r>
              <a:rPr lang="zh-CN" altLang="en-US">
                <a:ea typeface="华文中宋" pitchFamily="2" charset="-122"/>
              </a:rPr>
              <a:t>从被调用函数返回调用函数之前，应该完成：</a:t>
            </a:r>
            <a:r>
              <a:rPr lang="zh-CN" altLang="en-US"/>
              <a:t> </a:t>
            </a:r>
          </a:p>
          <a:p>
            <a:pPr marL="457200" indent="-457200">
              <a:lnSpc>
                <a:spcPct val="130000"/>
              </a:lnSpc>
              <a:buFontTx/>
              <a:buAutoNum type="arabicPeriod"/>
            </a:pPr>
            <a:r>
              <a:rPr lang="zh-CN" altLang="en-US"/>
              <a:t> </a:t>
            </a:r>
            <a:r>
              <a:rPr lang="zh-CN" altLang="en-US">
                <a:solidFill>
                  <a:srgbClr val="0000FF"/>
                </a:solidFill>
              </a:rPr>
              <a:t>保存</a:t>
            </a:r>
            <a:r>
              <a:rPr lang="zh-CN" altLang="en-US"/>
              <a:t>被调函数的</a:t>
            </a:r>
            <a:r>
              <a:rPr lang="zh-CN" altLang="en-US">
                <a:solidFill>
                  <a:srgbClr val="0000FF"/>
                </a:solidFill>
              </a:rPr>
              <a:t>计算结果</a:t>
            </a:r>
            <a:r>
              <a:rPr lang="zh-CN" altLang="en-US"/>
              <a:t>； </a:t>
            </a:r>
          </a:p>
          <a:p>
            <a:pPr marL="457200" indent="-457200">
              <a:lnSpc>
                <a:spcPct val="130000"/>
              </a:lnSpc>
              <a:buFontTx/>
              <a:buAutoNum type="arabicPeriod"/>
            </a:pPr>
            <a:r>
              <a:rPr lang="zh-CN" altLang="en-US"/>
              <a:t> </a:t>
            </a:r>
            <a:r>
              <a:rPr lang="zh-CN" altLang="en-US">
                <a:solidFill>
                  <a:srgbClr val="0000FF"/>
                </a:solidFill>
              </a:rPr>
              <a:t>释放</a:t>
            </a:r>
            <a:r>
              <a:rPr lang="zh-CN" altLang="en-US"/>
              <a:t>被调函数的</a:t>
            </a:r>
            <a:r>
              <a:rPr lang="zh-CN" altLang="en-US">
                <a:solidFill>
                  <a:srgbClr val="0000FF"/>
                </a:solidFill>
              </a:rPr>
              <a:t>数据区</a:t>
            </a:r>
            <a:r>
              <a:rPr lang="zh-CN" altLang="en-US"/>
              <a:t>； </a:t>
            </a:r>
          </a:p>
          <a:p>
            <a:pPr marL="457200" indent="-457200">
              <a:lnSpc>
                <a:spcPct val="130000"/>
              </a:lnSpc>
              <a:buFontTx/>
              <a:buAutoNum type="arabicPeriod"/>
            </a:pPr>
            <a:r>
              <a:rPr lang="zh-CN" altLang="en-US"/>
              <a:t> 按被调函数保存的返回地址（</a:t>
            </a:r>
            <a:r>
              <a:rPr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出栈</a:t>
            </a:r>
            <a:r>
              <a:rPr lang="zh-CN" altLang="en-US"/>
              <a:t>）将</a:t>
            </a:r>
            <a:r>
              <a:rPr lang="zh-CN" altLang="en-US">
                <a:solidFill>
                  <a:srgbClr val="0000FF"/>
                </a:solidFill>
              </a:rPr>
              <a:t>控制转移</a:t>
            </a:r>
            <a:r>
              <a:rPr lang="zh-CN" altLang="en-US"/>
              <a:t>到调 </a:t>
            </a:r>
          </a:p>
          <a:p>
            <a:pPr marL="457200" indent="-457200">
              <a:lnSpc>
                <a:spcPct val="130000"/>
              </a:lnSpc>
            </a:pPr>
            <a:r>
              <a:rPr lang="zh-CN" altLang="en-US"/>
              <a:t>       用函数。 </a:t>
            </a:r>
          </a:p>
        </p:txBody>
      </p:sp>
      <p:sp>
        <p:nvSpPr>
          <p:cNvPr id="87046" name="Text Box 6"/>
          <p:cNvSpPr txBox="1">
            <a:spLocks noChangeArrowheads="1"/>
          </p:cNvSpPr>
          <p:nvPr/>
        </p:nvSpPr>
        <p:spPr bwMode="auto">
          <a:xfrm>
            <a:off x="2046288" y="5419725"/>
            <a:ext cx="69770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ea typeface="华文中宋" pitchFamily="2" charset="-122"/>
              </a:rPr>
              <a:t>        </a:t>
            </a:r>
            <a:r>
              <a:rPr lang="zh-CN" altLang="en-US">
                <a:ea typeface="华文中宋" pitchFamily="2" charset="-122"/>
              </a:rPr>
              <a:t>多个函数嵌套调用的规则是：</a:t>
            </a:r>
            <a:r>
              <a:rPr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后调用先返回</a:t>
            </a:r>
            <a:r>
              <a:rPr lang="zh-CN" altLang="en-US"/>
              <a:t>。 </a:t>
            </a:r>
          </a:p>
        </p:txBody>
      </p:sp>
      <p:sp>
        <p:nvSpPr>
          <p:cNvPr id="87047" name="Text Box 7"/>
          <p:cNvSpPr txBox="1">
            <a:spLocks noChangeArrowheads="1"/>
          </p:cNvSpPr>
          <p:nvPr/>
        </p:nvSpPr>
        <p:spPr bwMode="auto">
          <a:xfrm>
            <a:off x="2066925" y="5924551"/>
            <a:ext cx="580158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        </a:t>
            </a:r>
            <a:r>
              <a:rPr lang="zh-CN" altLang="en-US"/>
              <a:t>此时的内存管理实行“</a:t>
            </a:r>
            <a:r>
              <a:rPr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栈式管理</a:t>
            </a:r>
            <a:r>
              <a:rPr lang="zh-CN" altLang="en-US"/>
              <a:t>”。 </a:t>
            </a:r>
          </a:p>
        </p:txBody>
      </p:sp>
    </p:spTree>
  </p:cSld>
  <p:clrMapOvr>
    <a:masterClrMapping/>
  </p:clrMapOvr>
  <p:transition spd="slow"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87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87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70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70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70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70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5" grpId="0"/>
      <p:bldP spid="87046" grpId="0"/>
      <p:bldP spid="8704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50" name="Text Box 190"/>
          <p:cNvSpPr txBox="1">
            <a:spLocks noChangeArrowheads="1"/>
          </p:cNvSpPr>
          <p:nvPr/>
        </p:nvSpPr>
        <p:spPr bwMode="auto">
          <a:xfrm>
            <a:off x="1631950" y="4476751"/>
            <a:ext cx="2152650" cy="20478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lnSpc>
                <a:spcPct val="80000"/>
              </a:lnSpc>
            </a:pPr>
            <a:r>
              <a:rPr lang="en-US" altLang="zh-CN" sz="2000"/>
              <a:t>float fact(int </a:t>
            </a:r>
            <a:r>
              <a:rPr lang="en-US" altLang="zh-CN" sz="2000" i="1"/>
              <a:t>n</a:t>
            </a:r>
            <a:r>
              <a:rPr lang="en-US" altLang="zh-CN" sz="2000"/>
              <a:t>)</a:t>
            </a:r>
          </a:p>
          <a:p>
            <a:pPr eaLnBrk="0" hangingPunct="0">
              <a:lnSpc>
                <a:spcPct val="80000"/>
              </a:lnSpc>
            </a:pPr>
            <a:r>
              <a:rPr lang="en-US" altLang="zh-CN" sz="2000"/>
              <a:t>{float </a:t>
            </a:r>
            <a:r>
              <a:rPr lang="en-US" altLang="zh-CN" sz="2000" i="1"/>
              <a:t>s</a:t>
            </a:r>
            <a:r>
              <a:rPr lang="en-US" altLang="zh-CN" sz="2000"/>
              <a:t>;</a:t>
            </a:r>
          </a:p>
          <a:p>
            <a:pPr eaLnBrk="0" hangingPunct="0">
              <a:lnSpc>
                <a:spcPct val="80000"/>
              </a:lnSpc>
            </a:pPr>
            <a:r>
              <a:rPr lang="en-US" altLang="zh-CN" sz="2000"/>
              <a:t>  if (</a:t>
            </a:r>
            <a:r>
              <a:rPr lang="en-US" altLang="zh-CN" sz="2000" i="1"/>
              <a:t>n </a:t>
            </a:r>
            <a:r>
              <a:rPr lang="en-US" altLang="zh-CN" sz="2000"/>
              <a:t>= = 0)</a:t>
            </a:r>
          </a:p>
          <a:p>
            <a:pPr eaLnBrk="0" hangingPunct="0">
              <a:lnSpc>
                <a:spcPct val="80000"/>
              </a:lnSpc>
            </a:pPr>
            <a:r>
              <a:rPr lang="en-US" altLang="zh-CN" sz="2000"/>
              <a:t>    </a:t>
            </a:r>
            <a:r>
              <a:rPr lang="en-US" altLang="zh-CN" sz="2000" i="1"/>
              <a:t>s </a:t>
            </a:r>
            <a:r>
              <a:rPr lang="en-US" altLang="zh-CN" sz="2000"/>
              <a:t>=1;</a:t>
            </a:r>
          </a:p>
          <a:p>
            <a:pPr eaLnBrk="0" hangingPunct="0">
              <a:lnSpc>
                <a:spcPct val="80000"/>
              </a:lnSpc>
            </a:pPr>
            <a:r>
              <a:rPr lang="en-US" altLang="zh-CN" sz="2000"/>
              <a:t>  else</a:t>
            </a:r>
          </a:p>
          <a:p>
            <a:pPr eaLnBrk="0" hangingPunct="0">
              <a:lnSpc>
                <a:spcPct val="80000"/>
              </a:lnSpc>
            </a:pPr>
            <a:r>
              <a:rPr lang="en-US" altLang="zh-CN" sz="2000"/>
              <a:t>    </a:t>
            </a:r>
            <a:r>
              <a:rPr lang="en-US" altLang="zh-CN" sz="2000" i="1">
                <a:solidFill>
                  <a:srgbClr val="0000FF"/>
                </a:solidFill>
              </a:rPr>
              <a:t>s </a:t>
            </a:r>
            <a:r>
              <a:rPr lang="en-US" altLang="zh-CN" sz="2000">
                <a:solidFill>
                  <a:srgbClr val="0000FF"/>
                </a:solidFill>
              </a:rPr>
              <a:t>= </a:t>
            </a:r>
            <a:r>
              <a:rPr lang="en-US" altLang="zh-CN" sz="2000" i="1">
                <a:solidFill>
                  <a:srgbClr val="0000FF"/>
                </a:solidFill>
              </a:rPr>
              <a:t>n</a:t>
            </a:r>
            <a:r>
              <a:rPr lang="en-US" altLang="zh-CN" sz="2000">
                <a:solidFill>
                  <a:srgbClr val="0000FF"/>
                </a:solidFill>
              </a:rPr>
              <a:t>*fact(</a:t>
            </a:r>
            <a:r>
              <a:rPr lang="en-US" altLang="zh-CN" sz="2000" i="1">
                <a:solidFill>
                  <a:srgbClr val="0000FF"/>
                </a:solidFill>
              </a:rPr>
              <a:t>n </a:t>
            </a:r>
            <a:r>
              <a:rPr lang="en-US" altLang="zh-CN" sz="2000">
                <a:solidFill>
                  <a:srgbClr val="0000FF"/>
                </a:solidFill>
              </a:rPr>
              <a:t>-1);</a:t>
            </a:r>
          </a:p>
          <a:p>
            <a:pPr eaLnBrk="0" hangingPunct="0">
              <a:lnSpc>
                <a:spcPct val="80000"/>
              </a:lnSpc>
            </a:pPr>
            <a:r>
              <a:rPr lang="en-US" altLang="zh-CN" sz="2000"/>
              <a:t>  return (</a:t>
            </a:r>
            <a:r>
              <a:rPr lang="en-US" altLang="zh-CN" sz="2000" i="1"/>
              <a:t>s</a:t>
            </a:r>
            <a:r>
              <a:rPr lang="en-US" altLang="zh-CN" sz="2000"/>
              <a:t>);</a:t>
            </a:r>
          </a:p>
          <a:p>
            <a:pPr eaLnBrk="0" hangingPunct="0">
              <a:lnSpc>
                <a:spcPct val="80000"/>
              </a:lnSpc>
            </a:pPr>
            <a:r>
              <a:rPr lang="en-US" altLang="zh-CN" sz="2000"/>
              <a:t>}</a:t>
            </a:r>
          </a:p>
        </p:txBody>
      </p:sp>
      <p:sp>
        <p:nvSpPr>
          <p:cNvPr id="15435" name="Text Box 75"/>
          <p:cNvSpPr txBox="1">
            <a:spLocks noChangeArrowheads="1"/>
          </p:cNvSpPr>
          <p:nvPr/>
        </p:nvSpPr>
        <p:spPr bwMode="auto">
          <a:xfrm>
            <a:off x="1619251" y="381001"/>
            <a:ext cx="305404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latin typeface="华文中宋" pitchFamily="2" charset="-122"/>
                <a:ea typeface="华文中宋" pitchFamily="2" charset="-122"/>
              </a:rPr>
              <a:t>递归调用执行过程： </a:t>
            </a:r>
          </a:p>
        </p:txBody>
      </p:sp>
      <p:sp>
        <p:nvSpPr>
          <p:cNvPr id="15442" name="Text Box 82"/>
          <p:cNvSpPr txBox="1">
            <a:spLocks noChangeArrowheads="1"/>
          </p:cNvSpPr>
          <p:nvPr/>
        </p:nvSpPr>
        <p:spPr bwMode="auto">
          <a:xfrm flipH="1">
            <a:off x="1631951" y="914400"/>
            <a:ext cx="1584325" cy="91440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 eaLnBrk="0" hangingPunct="0">
              <a:lnSpc>
                <a:spcPct val="90000"/>
              </a:lnSpc>
            </a:pPr>
            <a:r>
              <a:rPr kumimoji="0" lang="zh-CN" altLang="en-US" sz="1800">
                <a:ea typeface="华文中宋" pitchFamily="2" charset="-122"/>
              </a:rPr>
              <a:t>主函数</a:t>
            </a:r>
          </a:p>
          <a:p>
            <a:pPr algn="just" eaLnBrk="0" hangingPunct="0">
              <a:lnSpc>
                <a:spcPct val="90000"/>
              </a:lnSpc>
            </a:pPr>
            <a:r>
              <a:rPr kumimoji="0" lang="en-US" altLang="zh-CN" sz="1800">
                <a:ea typeface="华文中宋" pitchFamily="2" charset="-122"/>
              </a:rPr>
              <a:t>main()</a:t>
            </a:r>
          </a:p>
          <a:p>
            <a:pPr algn="just" eaLnBrk="0" hangingPunct="0">
              <a:lnSpc>
                <a:spcPct val="90000"/>
              </a:lnSpc>
            </a:pPr>
            <a:r>
              <a:rPr kumimoji="0" lang="en-US" altLang="zh-CN" sz="1800">
                <a:ea typeface="华文中宋" pitchFamily="2" charset="-122"/>
              </a:rPr>
              <a:t>Printf(fact(5))</a:t>
            </a:r>
          </a:p>
        </p:txBody>
      </p:sp>
      <p:sp>
        <p:nvSpPr>
          <p:cNvPr id="15443" name="Text Box 83"/>
          <p:cNvSpPr txBox="1">
            <a:spLocks noChangeArrowheads="1"/>
          </p:cNvSpPr>
          <p:nvPr/>
        </p:nvSpPr>
        <p:spPr bwMode="auto">
          <a:xfrm flipH="1">
            <a:off x="3416300" y="914401"/>
            <a:ext cx="1384300" cy="879475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 eaLnBrk="0" hangingPunct="0">
              <a:lnSpc>
                <a:spcPct val="90000"/>
              </a:lnSpc>
            </a:pPr>
            <a:r>
              <a:rPr kumimoji="0" lang="zh-CN" altLang="en-US" sz="1800">
                <a:ea typeface="华文中宋" pitchFamily="2" charset="-122"/>
              </a:rPr>
              <a:t>第一层调用</a:t>
            </a:r>
          </a:p>
          <a:p>
            <a:pPr algn="just" eaLnBrk="0" hangingPunct="0">
              <a:lnSpc>
                <a:spcPct val="90000"/>
              </a:lnSpc>
            </a:pPr>
            <a:r>
              <a:rPr kumimoji="0" lang="en-US" altLang="zh-CN" sz="1800" i="1">
                <a:ea typeface="华文中宋" pitchFamily="2" charset="-122"/>
              </a:rPr>
              <a:t>n </a:t>
            </a:r>
            <a:r>
              <a:rPr kumimoji="0" lang="en-US" altLang="zh-CN" sz="1800">
                <a:ea typeface="华文中宋" pitchFamily="2" charset="-122"/>
              </a:rPr>
              <a:t>= 5</a:t>
            </a:r>
          </a:p>
          <a:p>
            <a:pPr algn="just" eaLnBrk="0" hangingPunct="0">
              <a:lnSpc>
                <a:spcPct val="90000"/>
              </a:lnSpc>
            </a:pPr>
            <a:r>
              <a:rPr kumimoji="0" lang="en-US" altLang="zh-CN" sz="1800" i="1">
                <a:ea typeface="华文中宋" pitchFamily="2" charset="-122"/>
              </a:rPr>
              <a:t>s </a:t>
            </a:r>
            <a:r>
              <a:rPr kumimoji="0" lang="en-US" altLang="zh-CN" sz="1800">
                <a:ea typeface="华文中宋" pitchFamily="2" charset="-122"/>
              </a:rPr>
              <a:t>= 5*fact(4)</a:t>
            </a:r>
          </a:p>
        </p:txBody>
      </p:sp>
      <p:sp>
        <p:nvSpPr>
          <p:cNvPr id="15444" name="Text Box 84"/>
          <p:cNvSpPr txBox="1">
            <a:spLocks noChangeArrowheads="1"/>
          </p:cNvSpPr>
          <p:nvPr/>
        </p:nvSpPr>
        <p:spPr bwMode="auto">
          <a:xfrm flipH="1">
            <a:off x="5016501" y="914401"/>
            <a:ext cx="1414463" cy="879475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 eaLnBrk="0" hangingPunct="0">
              <a:lnSpc>
                <a:spcPct val="90000"/>
              </a:lnSpc>
            </a:pPr>
            <a:r>
              <a:rPr kumimoji="0" lang="zh-CN" altLang="en-US" sz="1800">
                <a:ea typeface="华文中宋" pitchFamily="2" charset="-122"/>
              </a:rPr>
              <a:t>第二层调用</a:t>
            </a:r>
          </a:p>
          <a:p>
            <a:pPr algn="just" eaLnBrk="0" hangingPunct="0">
              <a:lnSpc>
                <a:spcPct val="90000"/>
              </a:lnSpc>
            </a:pPr>
            <a:r>
              <a:rPr kumimoji="0" lang="en-US" altLang="zh-CN" sz="1800" i="1">
                <a:ea typeface="华文中宋" pitchFamily="2" charset="-122"/>
              </a:rPr>
              <a:t>n </a:t>
            </a:r>
            <a:r>
              <a:rPr kumimoji="0" lang="en-US" altLang="zh-CN" sz="1800">
                <a:ea typeface="华文中宋" pitchFamily="2" charset="-122"/>
              </a:rPr>
              <a:t>= 4</a:t>
            </a:r>
          </a:p>
          <a:p>
            <a:pPr algn="just" eaLnBrk="0" hangingPunct="0">
              <a:lnSpc>
                <a:spcPct val="90000"/>
              </a:lnSpc>
            </a:pPr>
            <a:r>
              <a:rPr kumimoji="0" lang="en-US" altLang="zh-CN" sz="1800" i="1">
                <a:ea typeface="华文中宋" pitchFamily="2" charset="-122"/>
              </a:rPr>
              <a:t>s </a:t>
            </a:r>
            <a:r>
              <a:rPr kumimoji="0" lang="en-US" altLang="zh-CN" sz="1800">
                <a:ea typeface="华文中宋" pitchFamily="2" charset="-122"/>
              </a:rPr>
              <a:t>= 4*fact(3)</a:t>
            </a:r>
          </a:p>
        </p:txBody>
      </p:sp>
      <p:sp>
        <p:nvSpPr>
          <p:cNvPr id="15445" name="Text Box 85"/>
          <p:cNvSpPr txBox="1">
            <a:spLocks noChangeArrowheads="1"/>
          </p:cNvSpPr>
          <p:nvPr/>
        </p:nvSpPr>
        <p:spPr bwMode="auto">
          <a:xfrm flipH="1">
            <a:off x="6672263" y="914401"/>
            <a:ext cx="1439862" cy="879475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 eaLnBrk="0" hangingPunct="0">
              <a:lnSpc>
                <a:spcPct val="90000"/>
              </a:lnSpc>
            </a:pPr>
            <a:r>
              <a:rPr kumimoji="0" lang="zh-CN" altLang="en-US" sz="1800">
                <a:ea typeface="华文中宋" pitchFamily="2" charset="-122"/>
              </a:rPr>
              <a:t>第三层调用</a:t>
            </a:r>
          </a:p>
          <a:p>
            <a:pPr algn="just" eaLnBrk="0" hangingPunct="0">
              <a:lnSpc>
                <a:spcPct val="90000"/>
              </a:lnSpc>
            </a:pPr>
            <a:r>
              <a:rPr kumimoji="0" lang="en-US" altLang="zh-CN" sz="1800" i="1">
                <a:ea typeface="华文中宋" pitchFamily="2" charset="-122"/>
              </a:rPr>
              <a:t>n</a:t>
            </a:r>
            <a:r>
              <a:rPr kumimoji="0" lang="en-US" altLang="zh-CN" sz="1800">
                <a:ea typeface="华文中宋" pitchFamily="2" charset="-122"/>
              </a:rPr>
              <a:t> = 3</a:t>
            </a:r>
          </a:p>
          <a:p>
            <a:pPr algn="just" eaLnBrk="0" hangingPunct="0">
              <a:lnSpc>
                <a:spcPct val="90000"/>
              </a:lnSpc>
            </a:pPr>
            <a:r>
              <a:rPr kumimoji="0" lang="en-US" altLang="zh-CN" sz="1800" i="1">
                <a:ea typeface="华文中宋" pitchFamily="2" charset="-122"/>
              </a:rPr>
              <a:t>s</a:t>
            </a:r>
            <a:r>
              <a:rPr kumimoji="0" lang="en-US" altLang="zh-CN" sz="1800">
                <a:ea typeface="华文中宋" pitchFamily="2" charset="-122"/>
              </a:rPr>
              <a:t> = 3*fact(2)</a:t>
            </a:r>
          </a:p>
        </p:txBody>
      </p:sp>
      <p:sp>
        <p:nvSpPr>
          <p:cNvPr id="15446" name="Text Box 86"/>
          <p:cNvSpPr txBox="1">
            <a:spLocks noChangeArrowheads="1"/>
          </p:cNvSpPr>
          <p:nvPr/>
        </p:nvSpPr>
        <p:spPr bwMode="auto">
          <a:xfrm flipH="1">
            <a:off x="2286000" y="2522538"/>
            <a:ext cx="1600200" cy="881062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 eaLnBrk="0" hangingPunct="0">
              <a:lnSpc>
                <a:spcPct val="90000"/>
              </a:lnSpc>
            </a:pPr>
            <a:r>
              <a:rPr kumimoji="0" lang="zh-CN" altLang="en-US" sz="1800">
                <a:ea typeface="华文中宋" pitchFamily="2" charset="-122"/>
              </a:rPr>
              <a:t>第四层调用</a:t>
            </a:r>
          </a:p>
          <a:p>
            <a:pPr algn="just" eaLnBrk="0" hangingPunct="0">
              <a:lnSpc>
                <a:spcPct val="90000"/>
              </a:lnSpc>
            </a:pPr>
            <a:r>
              <a:rPr kumimoji="0" lang="en-US" altLang="zh-CN" sz="1800" i="1">
                <a:ea typeface="华文中宋" pitchFamily="2" charset="-122"/>
              </a:rPr>
              <a:t>n</a:t>
            </a:r>
            <a:r>
              <a:rPr kumimoji="0" lang="en-US" altLang="zh-CN" sz="1800">
                <a:ea typeface="华文中宋" pitchFamily="2" charset="-122"/>
              </a:rPr>
              <a:t> = 2</a:t>
            </a:r>
          </a:p>
          <a:p>
            <a:pPr algn="just" eaLnBrk="0" hangingPunct="0">
              <a:lnSpc>
                <a:spcPct val="90000"/>
              </a:lnSpc>
            </a:pPr>
            <a:r>
              <a:rPr kumimoji="0" lang="en-US" altLang="zh-CN" sz="1800" i="1">
                <a:ea typeface="华文中宋" pitchFamily="2" charset="-122"/>
              </a:rPr>
              <a:t>s</a:t>
            </a:r>
            <a:r>
              <a:rPr kumimoji="0" lang="en-US" altLang="zh-CN" sz="1800">
                <a:ea typeface="华文中宋" pitchFamily="2" charset="-122"/>
              </a:rPr>
              <a:t> = 2*fact(1)</a:t>
            </a:r>
          </a:p>
        </p:txBody>
      </p:sp>
      <p:sp>
        <p:nvSpPr>
          <p:cNvPr id="15447" name="Text Box 87"/>
          <p:cNvSpPr txBox="1">
            <a:spLocks noChangeArrowheads="1"/>
          </p:cNvSpPr>
          <p:nvPr/>
        </p:nvSpPr>
        <p:spPr bwMode="auto">
          <a:xfrm flipH="1">
            <a:off x="4343400" y="2522539"/>
            <a:ext cx="1600200" cy="879475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 eaLnBrk="0" hangingPunct="0">
              <a:lnSpc>
                <a:spcPct val="90000"/>
              </a:lnSpc>
            </a:pPr>
            <a:r>
              <a:rPr kumimoji="0" lang="zh-CN" altLang="en-US" sz="1800">
                <a:ea typeface="华文中宋" pitchFamily="2" charset="-122"/>
              </a:rPr>
              <a:t>第五层调用</a:t>
            </a:r>
          </a:p>
          <a:p>
            <a:pPr algn="just" eaLnBrk="0" hangingPunct="0">
              <a:lnSpc>
                <a:spcPct val="90000"/>
              </a:lnSpc>
            </a:pPr>
            <a:r>
              <a:rPr kumimoji="0" lang="en-US" altLang="zh-CN" sz="1800" i="1">
                <a:ea typeface="华文中宋" pitchFamily="2" charset="-122"/>
              </a:rPr>
              <a:t>n</a:t>
            </a:r>
            <a:r>
              <a:rPr kumimoji="0" lang="en-US" altLang="zh-CN" sz="1800">
                <a:ea typeface="华文中宋" pitchFamily="2" charset="-122"/>
              </a:rPr>
              <a:t> = 1</a:t>
            </a:r>
          </a:p>
          <a:p>
            <a:pPr algn="just" eaLnBrk="0" hangingPunct="0">
              <a:lnSpc>
                <a:spcPct val="90000"/>
              </a:lnSpc>
            </a:pPr>
            <a:r>
              <a:rPr kumimoji="0" lang="en-US" altLang="zh-CN" sz="1800" i="1">
                <a:ea typeface="华文中宋" pitchFamily="2" charset="-122"/>
              </a:rPr>
              <a:t>s</a:t>
            </a:r>
            <a:r>
              <a:rPr kumimoji="0" lang="en-US" altLang="zh-CN" sz="1800">
                <a:ea typeface="华文中宋" pitchFamily="2" charset="-122"/>
              </a:rPr>
              <a:t> = 1*fact(0)</a:t>
            </a:r>
          </a:p>
        </p:txBody>
      </p:sp>
      <p:sp>
        <p:nvSpPr>
          <p:cNvPr id="15473" name="Text Box 113"/>
          <p:cNvSpPr txBox="1">
            <a:spLocks noChangeArrowheads="1"/>
          </p:cNvSpPr>
          <p:nvPr/>
        </p:nvSpPr>
        <p:spPr bwMode="auto">
          <a:xfrm>
            <a:off x="3679825" y="1844675"/>
            <a:ext cx="18415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 eaLnBrk="0" hangingPunct="0"/>
            <a:r>
              <a:rPr kumimoji="0" lang="en-US" altLang="zh-CN" sz="1800">
                <a:ea typeface="宋体" pitchFamily="2" charset="-122"/>
              </a:rPr>
              <a:t>fact(5)=120</a:t>
            </a:r>
          </a:p>
        </p:txBody>
      </p:sp>
      <p:sp>
        <p:nvSpPr>
          <p:cNvPr id="15476" name="Text Box 116"/>
          <p:cNvSpPr txBox="1">
            <a:spLocks noChangeArrowheads="1"/>
          </p:cNvSpPr>
          <p:nvPr/>
        </p:nvSpPr>
        <p:spPr bwMode="auto">
          <a:xfrm>
            <a:off x="1631950" y="1844675"/>
            <a:ext cx="23622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/>
            <a:r>
              <a:rPr kumimoji="0" lang="zh-CN" altLang="en-US" sz="1800">
                <a:ea typeface="华文中宋" pitchFamily="2" charset="-122"/>
              </a:rPr>
              <a:t>输出 </a:t>
            </a:r>
            <a:r>
              <a:rPr kumimoji="0" lang="en-US" altLang="zh-CN" sz="1800" i="1">
                <a:ea typeface="华文中宋" pitchFamily="2" charset="-122"/>
              </a:rPr>
              <a:t>s</a:t>
            </a:r>
            <a:r>
              <a:rPr kumimoji="0" lang="en-US" altLang="zh-CN" sz="1800">
                <a:ea typeface="华文中宋" pitchFamily="2" charset="-122"/>
              </a:rPr>
              <a:t> = 120.00 </a:t>
            </a:r>
          </a:p>
        </p:txBody>
      </p:sp>
      <p:sp>
        <p:nvSpPr>
          <p:cNvPr id="15500" name="Line 140"/>
          <p:cNvSpPr>
            <a:spLocks noChangeShapeType="1"/>
          </p:cNvSpPr>
          <p:nvPr/>
        </p:nvSpPr>
        <p:spPr bwMode="auto">
          <a:xfrm>
            <a:off x="8112126" y="1371600"/>
            <a:ext cx="157163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5501" name="Line 141"/>
          <p:cNvSpPr>
            <a:spLocks noChangeShapeType="1"/>
          </p:cNvSpPr>
          <p:nvPr/>
        </p:nvSpPr>
        <p:spPr bwMode="auto">
          <a:xfrm>
            <a:off x="3216275" y="1371600"/>
            <a:ext cx="2159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5502" name="Line 142"/>
          <p:cNvSpPr>
            <a:spLocks noChangeShapeType="1"/>
          </p:cNvSpPr>
          <p:nvPr/>
        </p:nvSpPr>
        <p:spPr bwMode="auto">
          <a:xfrm>
            <a:off x="4800600" y="1371600"/>
            <a:ext cx="2159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5504" name="Line 144"/>
          <p:cNvSpPr>
            <a:spLocks noChangeShapeType="1"/>
          </p:cNvSpPr>
          <p:nvPr/>
        </p:nvSpPr>
        <p:spPr bwMode="auto">
          <a:xfrm>
            <a:off x="8256588" y="1371600"/>
            <a:ext cx="0" cy="1049338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5505" name="Line 145"/>
          <p:cNvSpPr>
            <a:spLocks noChangeShapeType="1"/>
          </p:cNvSpPr>
          <p:nvPr/>
        </p:nvSpPr>
        <p:spPr bwMode="auto">
          <a:xfrm flipH="1">
            <a:off x="1905000" y="2420938"/>
            <a:ext cx="6351588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5506" name="Line 146"/>
          <p:cNvSpPr>
            <a:spLocks noChangeShapeType="1"/>
          </p:cNvSpPr>
          <p:nvPr/>
        </p:nvSpPr>
        <p:spPr bwMode="auto">
          <a:xfrm>
            <a:off x="1905000" y="2420938"/>
            <a:ext cx="0" cy="5588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5508" name="Line 148"/>
          <p:cNvSpPr>
            <a:spLocks noChangeShapeType="1"/>
          </p:cNvSpPr>
          <p:nvPr/>
        </p:nvSpPr>
        <p:spPr bwMode="auto">
          <a:xfrm>
            <a:off x="1905000" y="2979738"/>
            <a:ext cx="3810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5509" name="Line 149"/>
          <p:cNvSpPr>
            <a:spLocks noChangeShapeType="1"/>
          </p:cNvSpPr>
          <p:nvPr/>
        </p:nvSpPr>
        <p:spPr bwMode="auto">
          <a:xfrm>
            <a:off x="3886200" y="2979738"/>
            <a:ext cx="4572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5510" name="Text Box 150"/>
          <p:cNvSpPr txBox="1">
            <a:spLocks noChangeArrowheads="1"/>
          </p:cNvSpPr>
          <p:nvPr/>
        </p:nvSpPr>
        <p:spPr bwMode="auto">
          <a:xfrm flipH="1">
            <a:off x="6400800" y="2522539"/>
            <a:ext cx="1600200" cy="879475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 eaLnBrk="0" hangingPunct="0">
              <a:lnSpc>
                <a:spcPct val="90000"/>
              </a:lnSpc>
            </a:pPr>
            <a:r>
              <a:rPr kumimoji="0" lang="zh-CN" altLang="en-US" sz="1800">
                <a:ea typeface="华文中宋" pitchFamily="2" charset="-122"/>
              </a:rPr>
              <a:t>第六层调用</a:t>
            </a:r>
          </a:p>
          <a:p>
            <a:pPr algn="just" eaLnBrk="0" hangingPunct="0">
              <a:lnSpc>
                <a:spcPct val="90000"/>
              </a:lnSpc>
            </a:pPr>
            <a:r>
              <a:rPr kumimoji="0" lang="en-US" altLang="zh-CN" sz="1800" i="1">
                <a:ea typeface="华文中宋" pitchFamily="2" charset="-122"/>
              </a:rPr>
              <a:t>n</a:t>
            </a:r>
            <a:r>
              <a:rPr kumimoji="0" lang="en-US" altLang="zh-CN" sz="1800">
                <a:ea typeface="华文中宋" pitchFamily="2" charset="-122"/>
              </a:rPr>
              <a:t> = 0</a:t>
            </a:r>
          </a:p>
          <a:p>
            <a:pPr algn="just" eaLnBrk="0" hangingPunct="0">
              <a:lnSpc>
                <a:spcPct val="90000"/>
              </a:lnSpc>
            </a:pPr>
            <a:r>
              <a:rPr kumimoji="0" lang="en-US" altLang="zh-CN" sz="1800" i="1">
                <a:ea typeface="华文中宋" pitchFamily="2" charset="-122"/>
              </a:rPr>
              <a:t>s</a:t>
            </a:r>
            <a:r>
              <a:rPr kumimoji="0" lang="en-US" altLang="zh-CN" sz="1800">
                <a:ea typeface="华文中宋" pitchFamily="2" charset="-122"/>
              </a:rPr>
              <a:t> = 1</a:t>
            </a:r>
          </a:p>
        </p:txBody>
      </p:sp>
      <p:sp>
        <p:nvSpPr>
          <p:cNvPr id="15511" name="Line 151"/>
          <p:cNvSpPr>
            <a:spLocks noChangeShapeType="1"/>
          </p:cNvSpPr>
          <p:nvPr/>
        </p:nvSpPr>
        <p:spPr bwMode="auto">
          <a:xfrm>
            <a:off x="5943600" y="2979738"/>
            <a:ext cx="4572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5512" name="Text Box 152"/>
          <p:cNvSpPr txBox="1">
            <a:spLocks noChangeArrowheads="1"/>
          </p:cNvSpPr>
          <p:nvPr/>
        </p:nvSpPr>
        <p:spPr bwMode="auto">
          <a:xfrm>
            <a:off x="5372100" y="1844675"/>
            <a:ext cx="18415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 eaLnBrk="0" hangingPunct="0"/>
            <a:r>
              <a:rPr kumimoji="0" lang="en-US" altLang="zh-CN" sz="1800">
                <a:ea typeface="宋体" pitchFamily="2" charset="-122"/>
              </a:rPr>
              <a:t>fact(4)=24</a:t>
            </a:r>
          </a:p>
        </p:txBody>
      </p:sp>
      <p:sp>
        <p:nvSpPr>
          <p:cNvPr id="15513" name="Text Box 153"/>
          <p:cNvSpPr txBox="1">
            <a:spLocks noChangeArrowheads="1"/>
          </p:cNvSpPr>
          <p:nvPr/>
        </p:nvSpPr>
        <p:spPr bwMode="auto">
          <a:xfrm>
            <a:off x="6846888" y="1844675"/>
            <a:ext cx="18415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 eaLnBrk="0" hangingPunct="0"/>
            <a:r>
              <a:rPr kumimoji="0" lang="en-US" altLang="zh-CN" sz="1800">
                <a:ea typeface="宋体" pitchFamily="2" charset="-122"/>
              </a:rPr>
              <a:t>fact(3)=6</a:t>
            </a:r>
          </a:p>
        </p:txBody>
      </p:sp>
      <p:sp>
        <p:nvSpPr>
          <p:cNvPr id="15514" name="Text Box 154"/>
          <p:cNvSpPr txBox="1">
            <a:spLocks noChangeArrowheads="1"/>
          </p:cNvSpPr>
          <p:nvPr/>
        </p:nvSpPr>
        <p:spPr bwMode="auto">
          <a:xfrm>
            <a:off x="2209800" y="3357563"/>
            <a:ext cx="18415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 eaLnBrk="0" hangingPunct="0"/>
            <a:r>
              <a:rPr kumimoji="0" lang="en-US" altLang="zh-CN" sz="1800">
                <a:ea typeface="宋体" pitchFamily="2" charset="-122"/>
              </a:rPr>
              <a:t>fact(2)=2</a:t>
            </a:r>
          </a:p>
        </p:txBody>
      </p:sp>
      <p:sp>
        <p:nvSpPr>
          <p:cNvPr id="15515" name="Text Box 155"/>
          <p:cNvSpPr txBox="1">
            <a:spLocks noChangeArrowheads="1"/>
          </p:cNvSpPr>
          <p:nvPr/>
        </p:nvSpPr>
        <p:spPr bwMode="auto">
          <a:xfrm>
            <a:off x="4267200" y="3357563"/>
            <a:ext cx="18415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 eaLnBrk="0" hangingPunct="0"/>
            <a:r>
              <a:rPr kumimoji="0" lang="en-US" altLang="zh-CN" sz="1800">
                <a:ea typeface="宋体" pitchFamily="2" charset="-122"/>
              </a:rPr>
              <a:t>fact(1)=1</a:t>
            </a:r>
          </a:p>
        </p:txBody>
      </p:sp>
      <p:sp>
        <p:nvSpPr>
          <p:cNvPr id="15516" name="Text Box 156"/>
          <p:cNvSpPr txBox="1">
            <a:spLocks noChangeArrowheads="1"/>
          </p:cNvSpPr>
          <p:nvPr/>
        </p:nvSpPr>
        <p:spPr bwMode="auto">
          <a:xfrm>
            <a:off x="6540500" y="3357563"/>
            <a:ext cx="18415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 eaLnBrk="0" hangingPunct="0"/>
            <a:r>
              <a:rPr kumimoji="0" lang="en-US" altLang="zh-CN" sz="1800">
                <a:ea typeface="宋体" pitchFamily="2" charset="-122"/>
              </a:rPr>
              <a:t>fact(0)=1</a:t>
            </a:r>
          </a:p>
        </p:txBody>
      </p:sp>
      <p:sp>
        <p:nvSpPr>
          <p:cNvPr id="15517" name="Line 157"/>
          <p:cNvSpPr>
            <a:spLocks noChangeShapeType="1"/>
          </p:cNvSpPr>
          <p:nvPr/>
        </p:nvSpPr>
        <p:spPr bwMode="auto">
          <a:xfrm flipH="1">
            <a:off x="5562600" y="3586163"/>
            <a:ext cx="8382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5518" name="Line 158"/>
          <p:cNvSpPr>
            <a:spLocks noChangeShapeType="1"/>
          </p:cNvSpPr>
          <p:nvPr/>
        </p:nvSpPr>
        <p:spPr bwMode="auto">
          <a:xfrm flipH="1">
            <a:off x="3465513" y="3586163"/>
            <a:ext cx="6858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5519" name="Line 159"/>
          <p:cNvSpPr>
            <a:spLocks noChangeShapeType="1"/>
          </p:cNvSpPr>
          <p:nvPr/>
        </p:nvSpPr>
        <p:spPr bwMode="auto">
          <a:xfrm flipH="1">
            <a:off x="6524625" y="2073275"/>
            <a:ext cx="363538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5520" name="Line 160"/>
          <p:cNvSpPr>
            <a:spLocks noChangeShapeType="1"/>
          </p:cNvSpPr>
          <p:nvPr/>
        </p:nvSpPr>
        <p:spPr bwMode="auto">
          <a:xfrm flipH="1">
            <a:off x="4927600" y="2073275"/>
            <a:ext cx="4572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5522" name="Line 162"/>
          <p:cNvSpPr>
            <a:spLocks noChangeShapeType="1"/>
          </p:cNvSpPr>
          <p:nvPr/>
        </p:nvSpPr>
        <p:spPr bwMode="auto">
          <a:xfrm flipH="1">
            <a:off x="3235325" y="2073275"/>
            <a:ext cx="4572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5523" name="Line 163"/>
          <p:cNvSpPr>
            <a:spLocks noChangeShapeType="1"/>
          </p:cNvSpPr>
          <p:nvPr/>
        </p:nvSpPr>
        <p:spPr bwMode="auto">
          <a:xfrm flipH="1">
            <a:off x="7824789" y="2073275"/>
            <a:ext cx="288925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5524" name="Line 164"/>
          <p:cNvSpPr>
            <a:spLocks noChangeShapeType="1"/>
          </p:cNvSpPr>
          <p:nvPr/>
        </p:nvSpPr>
        <p:spPr bwMode="auto">
          <a:xfrm>
            <a:off x="1752600" y="3586163"/>
            <a:ext cx="4572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5525" name="Line 165"/>
          <p:cNvSpPr>
            <a:spLocks noChangeShapeType="1"/>
          </p:cNvSpPr>
          <p:nvPr/>
        </p:nvSpPr>
        <p:spPr bwMode="auto">
          <a:xfrm flipV="1">
            <a:off x="1752600" y="2276475"/>
            <a:ext cx="0" cy="1296988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5526" name="Line 166"/>
          <p:cNvSpPr>
            <a:spLocks noChangeShapeType="1"/>
          </p:cNvSpPr>
          <p:nvPr/>
        </p:nvSpPr>
        <p:spPr bwMode="auto">
          <a:xfrm>
            <a:off x="1752601" y="2276475"/>
            <a:ext cx="6359525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5527" name="Line 167"/>
          <p:cNvSpPr>
            <a:spLocks noChangeShapeType="1"/>
          </p:cNvSpPr>
          <p:nvPr/>
        </p:nvSpPr>
        <p:spPr bwMode="auto">
          <a:xfrm flipV="1">
            <a:off x="8113713" y="2073275"/>
            <a:ext cx="0" cy="2032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5532" name="Text Box 172"/>
          <p:cNvSpPr txBox="1">
            <a:spLocks noChangeArrowheads="1"/>
          </p:cNvSpPr>
          <p:nvPr/>
        </p:nvSpPr>
        <p:spPr bwMode="auto">
          <a:xfrm>
            <a:off x="2940050" y="3870325"/>
            <a:ext cx="869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ea typeface="华文中宋" pitchFamily="2" charset="-122"/>
              </a:rPr>
              <a:t>主 </a:t>
            </a:r>
            <a:r>
              <a:rPr lang="en-US" altLang="zh-CN" i="1">
                <a:ea typeface="华文中宋" pitchFamily="2" charset="-122"/>
              </a:rPr>
              <a:t>a</a:t>
            </a:r>
            <a:r>
              <a:rPr lang="en-US" altLang="zh-CN">
                <a:ea typeface="华文中宋" pitchFamily="2" charset="-122"/>
              </a:rPr>
              <a:t> </a:t>
            </a:r>
            <a:r>
              <a:rPr lang="en-US" altLang="zh-CN" i="1">
                <a:ea typeface="华文中宋" pitchFamily="2" charset="-122"/>
              </a:rPr>
              <a:t> </a:t>
            </a:r>
          </a:p>
        </p:txBody>
      </p:sp>
      <p:sp>
        <p:nvSpPr>
          <p:cNvPr id="15533" name="Text Box 173"/>
          <p:cNvSpPr txBox="1">
            <a:spLocks noChangeArrowheads="1"/>
          </p:cNvSpPr>
          <p:nvPr/>
        </p:nvSpPr>
        <p:spPr bwMode="auto">
          <a:xfrm>
            <a:off x="3854450" y="3870325"/>
            <a:ext cx="717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ea typeface="华文中宋" pitchFamily="2" charset="-122"/>
              </a:rPr>
              <a:t>5 </a:t>
            </a:r>
            <a:r>
              <a:rPr lang="en-US" altLang="zh-CN" i="1">
                <a:ea typeface="华文中宋" pitchFamily="2" charset="-122"/>
              </a:rPr>
              <a:t> a </a:t>
            </a:r>
          </a:p>
        </p:txBody>
      </p:sp>
      <p:sp>
        <p:nvSpPr>
          <p:cNvPr id="15535" name="Text Box 175"/>
          <p:cNvSpPr txBox="1">
            <a:spLocks noChangeArrowheads="1"/>
          </p:cNvSpPr>
          <p:nvPr/>
        </p:nvSpPr>
        <p:spPr bwMode="auto">
          <a:xfrm>
            <a:off x="4692650" y="3870325"/>
            <a:ext cx="717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ea typeface="华文中宋" pitchFamily="2" charset="-122"/>
              </a:rPr>
              <a:t>4  </a:t>
            </a:r>
            <a:r>
              <a:rPr lang="en-US" altLang="zh-CN" i="1">
                <a:ea typeface="华文中宋" pitchFamily="2" charset="-122"/>
              </a:rPr>
              <a:t>a </a:t>
            </a:r>
          </a:p>
        </p:txBody>
      </p:sp>
      <p:sp>
        <p:nvSpPr>
          <p:cNvPr id="15537" name="Text Box 177"/>
          <p:cNvSpPr txBox="1">
            <a:spLocks noChangeArrowheads="1"/>
          </p:cNvSpPr>
          <p:nvPr/>
        </p:nvSpPr>
        <p:spPr bwMode="auto">
          <a:xfrm>
            <a:off x="5530850" y="3870325"/>
            <a:ext cx="717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ea typeface="华文中宋" pitchFamily="2" charset="-122"/>
              </a:rPr>
              <a:t>3 </a:t>
            </a:r>
            <a:r>
              <a:rPr lang="en-US" altLang="zh-CN" i="1">
                <a:ea typeface="华文中宋" pitchFamily="2" charset="-122"/>
              </a:rPr>
              <a:t> a </a:t>
            </a:r>
          </a:p>
        </p:txBody>
      </p:sp>
      <p:sp>
        <p:nvSpPr>
          <p:cNvPr id="15539" name="Text Box 179"/>
          <p:cNvSpPr txBox="1">
            <a:spLocks noChangeArrowheads="1"/>
          </p:cNvSpPr>
          <p:nvPr/>
        </p:nvSpPr>
        <p:spPr bwMode="auto">
          <a:xfrm>
            <a:off x="6369050" y="3870325"/>
            <a:ext cx="717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ea typeface="华文中宋" pitchFamily="2" charset="-122"/>
              </a:rPr>
              <a:t>2</a:t>
            </a:r>
            <a:r>
              <a:rPr lang="en-US" altLang="zh-CN" i="1">
                <a:ea typeface="华文中宋" pitchFamily="2" charset="-122"/>
              </a:rPr>
              <a:t>  a </a:t>
            </a:r>
          </a:p>
        </p:txBody>
      </p:sp>
      <p:sp>
        <p:nvSpPr>
          <p:cNvPr id="15541" name="Text Box 181"/>
          <p:cNvSpPr txBox="1">
            <a:spLocks noChangeArrowheads="1"/>
          </p:cNvSpPr>
          <p:nvPr/>
        </p:nvSpPr>
        <p:spPr bwMode="auto">
          <a:xfrm>
            <a:off x="7207250" y="3870325"/>
            <a:ext cx="717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ea typeface="华文中宋" pitchFamily="2" charset="-122"/>
              </a:rPr>
              <a:t>1</a:t>
            </a:r>
            <a:r>
              <a:rPr lang="en-US" altLang="zh-CN" i="1">
                <a:ea typeface="华文中宋" pitchFamily="2" charset="-122"/>
              </a:rPr>
              <a:t>  a </a:t>
            </a:r>
          </a:p>
        </p:txBody>
      </p:sp>
      <p:sp useBgFill="1">
        <p:nvSpPr>
          <p:cNvPr id="15551" name="Rectangle 191"/>
          <p:cNvSpPr>
            <a:spLocks noChangeArrowheads="1"/>
          </p:cNvSpPr>
          <p:nvPr/>
        </p:nvSpPr>
        <p:spPr bwMode="auto">
          <a:xfrm>
            <a:off x="7239000" y="3841750"/>
            <a:ext cx="533400" cy="45720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 useBgFill="1">
        <p:nvSpPr>
          <p:cNvPr id="15552" name="Rectangle 192"/>
          <p:cNvSpPr>
            <a:spLocks noChangeArrowheads="1"/>
          </p:cNvSpPr>
          <p:nvPr/>
        </p:nvSpPr>
        <p:spPr bwMode="auto">
          <a:xfrm>
            <a:off x="6400800" y="3841750"/>
            <a:ext cx="533400" cy="45720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 useBgFill="1">
        <p:nvSpPr>
          <p:cNvPr id="15553" name="Rectangle 193"/>
          <p:cNvSpPr>
            <a:spLocks noChangeArrowheads="1"/>
          </p:cNvSpPr>
          <p:nvPr/>
        </p:nvSpPr>
        <p:spPr bwMode="auto">
          <a:xfrm>
            <a:off x="5562600" y="3841750"/>
            <a:ext cx="533400" cy="45720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 useBgFill="1">
        <p:nvSpPr>
          <p:cNvPr id="15554" name="Rectangle 194"/>
          <p:cNvSpPr>
            <a:spLocks noChangeArrowheads="1"/>
          </p:cNvSpPr>
          <p:nvPr/>
        </p:nvSpPr>
        <p:spPr bwMode="auto">
          <a:xfrm>
            <a:off x="4724400" y="3841750"/>
            <a:ext cx="533400" cy="45720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 useBgFill="1">
        <p:nvSpPr>
          <p:cNvPr id="15555" name="Rectangle 195"/>
          <p:cNvSpPr>
            <a:spLocks noChangeArrowheads="1"/>
          </p:cNvSpPr>
          <p:nvPr/>
        </p:nvSpPr>
        <p:spPr bwMode="auto">
          <a:xfrm>
            <a:off x="3886200" y="3841750"/>
            <a:ext cx="533400" cy="45720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 useBgFill="1">
        <p:nvSpPr>
          <p:cNvPr id="15556" name="Rectangle 196"/>
          <p:cNvSpPr>
            <a:spLocks noChangeArrowheads="1"/>
          </p:cNvSpPr>
          <p:nvPr/>
        </p:nvSpPr>
        <p:spPr bwMode="auto">
          <a:xfrm>
            <a:off x="2971800" y="3841750"/>
            <a:ext cx="685800" cy="45720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557" name="Text Box 197"/>
          <p:cNvSpPr txBox="1">
            <a:spLocks noChangeArrowheads="1"/>
          </p:cNvSpPr>
          <p:nvPr/>
        </p:nvSpPr>
        <p:spPr bwMode="auto">
          <a:xfrm>
            <a:off x="4511676" y="379413"/>
            <a:ext cx="37179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altLang="zh-CN"/>
              <a:t>printf(“5!=%f\n”,fact(5));  </a:t>
            </a:r>
          </a:p>
        </p:txBody>
      </p:sp>
      <p:grpSp>
        <p:nvGrpSpPr>
          <p:cNvPr id="15548" name="Group 188"/>
          <p:cNvGrpSpPr>
            <a:grpSpLocks/>
          </p:cNvGrpSpPr>
          <p:nvPr/>
        </p:nvGrpSpPr>
        <p:grpSpPr bwMode="auto">
          <a:xfrm>
            <a:off x="2895600" y="3841751"/>
            <a:ext cx="5029200" cy="487363"/>
            <a:chOff x="960" y="3360"/>
            <a:chExt cx="3168" cy="576"/>
          </a:xfrm>
        </p:grpSpPr>
        <p:sp>
          <p:nvSpPr>
            <p:cNvPr id="15528" name="Line 168"/>
            <p:cNvSpPr>
              <a:spLocks noChangeShapeType="1"/>
            </p:cNvSpPr>
            <p:nvPr/>
          </p:nvSpPr>
          <p:spPr bwMode="auto">
            <a:xfrm>
              <a:off x="960" y="3360"/>
              <a:ext cx="31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29" name="Line 169"/>
            <p:cNvSpPr>
              <a:spLocks noChangeShapeType="1"/>
            </p:cNvSpPr>
            <p:nvPr/>
          </p:nvSpPr>
          <p:spPr bwMode="auto">
            <a:xfrm>
              <a:off x="960" y="3936"/>
              <a:ext cx="31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30" name="Line 170"/>
            <p:cNvSpPr>
              <a:spLocks noChangeShapeType="1"/>
            </p:cNvSpPr>
            <p:nvPr/>
          </p:nvSpPr>
          <p:spPr bwMode="auto">
            <a:xfrm>
              <a:off x="960" y="3360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31" name="Line 171"/>
            <p:cNvSpPr>
              <a:spLocks noChangeShapeType="1"/>
            </p:cNvSpPr>
            <p:nvPr/>
          </p:nvSpPr>
          <p:spPr bwMode="auto">
            <a:xfrm>
              <a:off x="1488" y="3360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34" name="Line 174"/>
            <p:cNvSpPr>
              <a:spLocks noChangeShapeType="1"/>
            </p:cNvSpPr>
            <p:nvPr/>
          </p:nvSpPr>
          <p:spPr bwMode="auto">
            <a:xfrm>
              <a:off x="2016" y="3360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36" name="Line 176"/>
            <p:cNvSpPr>
              <a:spLocks noChangeShapeType="1"/>
            </p:cNvSpPr>
            <p:nvPr/>
          </p:nvSpPr>
          <p:spPr bwMode="auto">
            <a:xfrm>
              <a:off x="2544" y="3360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38" name="Line 178"/>
            <p:cNvSpPr>
              <a:spLocks noChangeShapeType="1"/>
            </p:cNvSpPr>
            <p:nvPr/>
          </p:nvSpPr>
          <p:spPr bwMode="auto">
            <a:xfrm>
              <a:off x="3072" y="3360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40" name="Line 180"/>
            <p:cNvSpPr>
              <a:spLocks noChangeShapeType="1"/>
            </p:cNvSpPr>
            <p:nvPr/>
          </p:nvSpPr>
          <p:spPr bwMode="auto">
            <a:xfrm>
              <a:off x="3600" y="3360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42" name="Line 182"/>
            <p:cNvSpPr>
              <a:spLocks noChangeShapeType="1"/>
            </p:cNvSpPr>
            <p:nvPr/>
          </p:nvSpPr>
          <p:spPr bwMode="auto">
            <a:xfrm>
              <a:off x="4128" y="3360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559" name="Group 199"/>
          <p:cNvGrpSpPr>
            <a:grpSpLocks/>
          </p:cNvGrpSpPr>
          <p:nvPr/>
        </p:nvGrpSpPr>
        <p:grpSpPr bwMode="auto">
          <a:xfrm>
            <a:off x="1631950" y="3860800"/>
            <a:ext cx="1231900" cy="457200"/>
            <a:chOff x="17" y="2870"/>
            <a:chExt cx="776" cy="288"/>
          </a:xfrm>
        </p:grpSpPr>
        <p:sp>
          <p:nvSpPr>
            <p:cNvPr id="15545" name="Text Box 185"/>
            <p:cNvSpPr txBox="1">
              <a:spLocks noChangeArrowheads="1"/>
            </p:cNvSpPr>
            <p:nvPr/>
          </p:nvSpPr>
          <p:spPr bwMode="auto">
            <a:xfrm>
              <a:off x="17" y="2870"/>
              <a:ext cx="52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base </a:t>
              </a:r>
            </a:p>
          </p:txBody>
        </p:sp>
        <p:sp>
          <p:nvSpPr>
            <p:cNvPr id="15558" name="Line 198"/>
            <p:cNvSpPr>
              <a:spLocks noChangeShapeType="1"/>
            </p:cNvSpPr>
            <p:nvPr/>
          </p:nvSpPr>
          <p:spPr bwMode="auto">
            <a:xfrm>
              <a:off x="45" y="3113"/>
              <a:ext cx="7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5560" name="Text Box 200"/>
          <p:cNvSpPr txBox="1">
            <a:spLocks noChangeArrowheads="1"/>
          </p:cNvSpPr>
          <p:nvPr/>
        </p:nvSpPr>
        <p:spPr bwMode="auto">
          <a:xfrm>
            <a:off x="3935413" y="4476751"/>
            <a:ext cx="2152650" cy="20478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lnSpc>
                <a:spcPct val="80000"/>
              </a:lnSpc>
            </a:pPr>
            <a:r>
              <a:rPr lang="en-US" altLang="zh-CN" sz="2000"/>
              <a:t>float fact(int </a:t>
            </a:r>
            <a:r>
              <a:rPr lang="en-US" altLang="zh-CN" sz="2000" i="1"/>
              <a:t>n</a:t>
            </a:r>
            <a:r>
              <a:rPr lang="en-US" altLang="zh-CN" sz="2000"/>
              <a:t>)</a:t>
            </a:r>
          </a:p>
          <a:p>
            <a:pPr eaLnBrk="0" hangingPunct="0">
              <a:lnSpc>
                <a:spcPct val="80000"/>
              </a:lnSpc>
            </a:pPr>
            <a:r>
              <a:rPr lang="en-US" altLang="zh-CN" sz="2000"/>
              <a:t>{float </a:t>
            </a:r>
            <a:r>
              <a:rPr lang="en-US" altLang="zh-CN" sz="2000" i="1"/>
              <a:t>s</a:t>
            </a:r>
            <a:r>
              <a:rPr lang="en-US" altLang="zh-CN" sz="2000"/>
              <a:t>;</a:t>
            </a:r>
          </a:p>
          <a:p>
            <a:pPr eaLnBrk="0" hangingPunct="0">
              <a:lnSpc>
                <a:spcPct val="80000"/>
              </a:lnSpc>
            </a:pPr>
            <a:r>
              <a:rPr lang="en-US" altLang="zh-CN" sz="2000"/>
              <a:t>  if (</a:t>
            </a:r>
            <a:r>
              <a:rPr lang="en-US" altLang="zh-CN" sz="2000" i="1"/>
              <a:t>n </a:t>
            </a:r>
            <a:r>
              <a:rPr lang="en-US" altLang="zh-CN" sz="2000"/>
              <a:t>= = 0)</a:t>
            </a:r>
          </a:p>
          <a:p>
            <a:pPr eaLnBrk="0" hangingPunct="0">
              <a:lnSpc>
                <a:spcPct val="80000"/>
              </a:lnSpc>
            </a:pPr>
            <a:r>
              <a:rPr lang="en-US" altLang="zh-CN" sz="2000"/>
              <a:t>    </a:t>
            </a:r>
            <a:r>
              <a:rPr lang="en-US" altLang="zh-CN" sz="2000" i="1"/>
              <a:t>s </a:t>
            </a:r>
            <a:r>
              <a:rPr lang="en-US" altLang="zh-CN" sz="2000"/>
              <a:t>=1;</a:t>
            </a:r>
          </a:p>
          <a:p>
            <a:pPr eaLnBrk="0" hangingPunct="0">
              <a:lnSpc>
                <a:spcPct val="80000"/>
              </a:lnSpc>
            </a:pPr>
            <a:r>
              <a:rPr lang="en-US" altLang="zh-CN" sz="2000"/>
              <a:t>  else</a:t>
            </a:r>
          </a:p>
          <a:p>
            <a:pPr eaLnBrk="0" hangingPunct="0">
              <a:lnSpc>
                <a:spcPct val="80000"/>
              </a:lnSpc>
            </a:pPr>
            <a:r>
              <a:rPr lang="en-US" altLang="zh-CN" sz="2000"/>
              <a:t>    </a:t>
            </a:r>
            <a:r>
              <a:rPr lang="en-US" altLang="zh-CN" sz="2000" i="1">
                <a:solidFill>
                  <a:srgbClr val="0000FF"/>
                </a:solidFill>
              </a:rPr>
              <a:t>s </a:t>
            </a:r>
            <a:r>
              <a:rPr lang="en-US" altLang="zh-CN" sz="2000">
                <a:solidFill>
                  <a:srgbClr val="0000FF"/>
                </a:solidFill>
              </a:rPr>
              <a:t>= </a:t>
            </a:r>
            <a:r>
              <a:rPr lang="en-US" altLang="zh-CN" sz="2000" i="1">
                <a:solidFill>
                  <a:srgbClr val="0000FF"/>
                </a:solidFill>
              </a:rPr>
              <a:t>n</a:t>
            </a:r>
            <a:r>
              <a:rPr lang="en-US" altLang="zh-CN" sz="2000">
                <a:solidFill>
                  <a:srgbClr val="0000FF"/>
                </a:solidFill>
              </a:rPr>
              <a:t>*fact(</a:t>
            </a:r>
            <a:r>
              <a:rPr lang="en-US" altLang="zh-CN" sz="2000" i="1">
                <a:solidFill>
                  <a:srgbClr val="0000FF"/>
                </a:solidFill>
              </a:rPr>
              <a:t>n </a:t>
            </a:r>
            <a:r>
              <a:rPr lang="en-US" altLang="zh-CN" sz="2000">
                <a:solidFill>
                  <a:srgbClr val="0000FF"/>
                </a:solidFill>
              </a:rPr>
              <a:t>-1);</a:t>
            </a:r>
          </a:p>
          <a:p>
            <a:pPr eaLnBrk="0" hangingPunct="0">
              <a:lnSpc>
                <a:spcPct val="80000"/>
              </a:lnSpc>
            </a:pPr>
            <a:r>
              <a:rPr lang="en-US" altLang="zh-CN" sz="2000"/>
              <a:t>  return (</a:t>
            </a:r>
            <a:r>
              <a:rPr lang="en-US" altLang="zh-CN" sz="2000" i="1"/>
              <a:t>s</a:t>
            </a:r>
            <a:r>
              <a:rPr lang="en-US" altLang="zh-CN" sz="2000"/>
              <a:t>);</a:t>
            </a:r>
          </a:p>
          <a:p>
            <a:pPr eaLnBrk="0" hangingPunct="0">
              <a:lnSpc>
                <a:spcPct val="80000"/>
              </a:lnSpc>
            </a:pPr>
            <a:r>
              <a:rPr lang="en-US" altLang="zh-CN" sz="2000"/>
              <a:t>}</a:t>
            </a:r>
          </a:p>
        </p:txBody>
      </p:sp>
      <p:sp>
        <p:nvSpPr>
          <p:cNvPr id="15561" name="Text Box 201"/>
          <p:cNvSpPr txBox="1">
            <a:spLocks noChangeArrowheads="1"/>
          </p:cNvSpPr>
          <p:nvPr/>
        </p:nvSpPr>
        <p:spPr bwMode="auto">
          <a:xfrm>
            <a:off x="6167438" y="4476751"/>
            <a:ext cx="2152650" cy="20478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lnSpc>
                <a:spcPct val="80000"/>
              </a:lnSpc>
            </a:pPr>
            <a:r>
              <a:rPr lang="en-US" altLang="zh-CN" sz="2000"/>
              <a:t>float fact(int </a:t>
            </a:r>
            <a:r>
              <a:rPr lang="en-US" altLang="zh-CN" sz="2000" i="1"/>
              <a:t>n</a:t>
            </a:r>
            <a:r>
              <a:rPr lang="en-US" altLang="zh-CN" sz="2000"/>
              <a:t>)</a:t>
            </a:r>
          </a:p>
          <a:p>
            <a:pPr eaLnBrk="0" hangingPunct="0">
              <a:lnSpc>
                <a:spcPct val="80000"/>
              </a:lnSpc>
            </a:pPr>
            <a:r>
              <a:rPr lang="en-US" altLang="zh-CN" sz="2000"/>
              <a:t>{float </a:t>
            </a:r>
            <a:r>
              <a:rPr lang="en-US" altLang="zh-CN" sz="2000" i="1"/>
              <a:t>s</a:t>
            </a:r>
            <a:r>
              <a:rPr lang="en-US" altLang="zh-CN" sz="2000"/>
              <a:t>;</a:t>
            </a:r>
          </a:p>
          <a:p>
            <a:pPr eaLnBrk="0" hangingPunct="0">
              <a:lnSpc>
                <a:spcPct val="80000"/>
              </a:lnSpc>
            </a:pPr>
            <a:r>
              <a:rPr lang="en-US" altLang="zh-CN" sz="2000"/>
              <a:t>  if (</a:t>
            </a:r>
            <a:r>
              <a:rPr lang="en-US" altLang="zh-CN" sz="2000" i="1"/>
              <a:t>n </a:t>
            </a:r>
            <a:r>
              <a:rPr lang="en-US" altLang="zh-CN" sz="2000"/>
              <a:t>= = 0)</a:t>
            </a:r>
          </a:p>
          <a:p>
            <a:pPr eaLnBrk="0" hangingPunct="0">
              <a:lnSpc>
                <a:spcPct val="80000"/>
              </a:lnSpc>
            </a:pPr>
            <a:r>
              <a:rPr lang="en-US" altLang="zh-CN" sz="2000"/>
              <a:t>    </a:t>
            </a:r>
            <a:r>
              <a:rPr lang="en-US" altLang="zh-CN" sz="2000" i="1"/>
              <a:t>s </a:t>
            </a:r>
            <a:r>
              <a:rPr lang="en-US" altLang="zh-CN" sz="2000"/>
              <a:t>=1;</a:t>
            </a:r>
          </a:p>
          <a:p>
            <a:pPr eaLnBrk="0" hangingPunct="0">
              <a:lnSpc>
                <a:spcPct val="80000"/>
              </a:lnSpc>
            </a:pPr>
            <a:r>
              <a:rPr lang="en-US" altLang="zh-CN" sz="2000"/>
              <a:t>  else</a:t>
            </a:r>
          </a:p>
          <a:p>
            <a:pPr eaLnBrk="0" hangingPunct="0">
              <a:lnSpc>
                <a:spcPct val="80000"/>
              </a:lnSpc>
            </a:pPr>
            <a:r>
              <a:rPr lang="en-US" altLang="zh-CN" sz="2000"/>
              <a:t>    </a:t>
            </a:r>
            <a:r>
              <a:rPr lang="en-US" altLang="zh-CN" sz="2000" i="1">
                <a:solidFill>
                  <a:srgbClr val="0000FF"/>
                </a:solidFill>
              </a:rPr>
              <a:t>s </a:t>
            </a:r>
            <a:r>
              <a:rPr lang="en-US" altLang="zh-CN" sz="2000">
                <a:solidFill>
                  <a:srgbClr val="0000FF"/>
                </a:solidFill>
              </a:rPr>
              <a:t>= </a:t>
            </a:r>
            <a:r>
              <a:rPr lang="en-US" altLang="zh-CN" sz="2000" i="1">
                <a:solidFill>
                  <a:srgbClr val="0000FF"/>
                </a:solidFill>
              </a:rPr>
              <a:t>n</a:t>
            </a:r>
            <a:r>
              <a:rPr lang="en-US" altLang="zh-CN" sz="2000">
                <a:solidFill>
                  <a:srgbClr val="0000FF"/>
                </a:solidFill>
              </a:rPr>
              <a:t>*fact(</a:t>
            </a:r>
            <a:r>
              <a:rPr lang="en-US" altLang="zh-CN" sz="2000" i="1">
                <a:solidFill>
                  <a:srgbClr val="0000FF"/>
                </a:solidFill>
              </a:rPr>
              <a:t>n </a:t>
            </a:r>
            <a:r>
              <a:rPr lang="en-US" altLang="zh-CN" sz="2000">
                <a:solidFill>
                  <a:srgbClr val="0000FF"/>
                </a:solidFill>
              </a:rPr>
              <a:t>-1);</a:t>
            </a:r>
          </a:p>
          <a:p>
            <a:pPr eaLnBrk="0" hangingPunct="0">
              <a:lnSpc>
                <a:spcPct val="80000"/>
              </a:lnSpc>
            </a:pPr>
            <a:r>
              <a:rPr lang="en-US" altLang="zh-CN" sz="2000"/>
              <a:t>  return (</a:t>
            </a:r>
            <a:r>
              <a:rPr lang="en-US" altLang="zh-CN" sz="2000" i="1"/>
              <a:t>s</a:t>
            </a:r>
            <a:r>
              <a:rPr lang="en-US" altLang="zh-CN" sz="2000"/>
              <a:t>);</a:t>
            </a:r>
          </a:p>
          <a:p>
            <a:pPr eaLnBrk="0" hangingPunct="0">
              <a:lnSpc>
                <a:spcPct val="80000"/>
              </a:lnSpc>
            </a:pPr>
            <a:r>
              <a:rPr lang="en-US" altLang="zh-CN" sz="2000"/>
              <a:t>}</a:t>
            </a:r>
          </a:p>
        </p:txBody>
      </p:sp>
      <p:sp>
        <p:nvSpPr>
          <p:cNvPr id="15562" name="Text Box 202"/>
          <p:cNvSpPr txBox="1">
            <a:spLocks noChangeArrowheads="1"/>
          </p:cNvSpPr>
          <p:nvPr/>
        </p:nvSpPr>
        <p:spPr bwMode="auto">
          <a:xfrm>
            <a:off x="8407400" y="4476751"/>
            <a:ext cx="2152650" cy="20478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lnSpc>
                <a:spcPct val="80000"/>
              </a:lnSpc>
            </a:pPr>
            <a:r>
              <a:rPr lang="en-US" altLang="zh-CN" sz="2000"/>
              <a:t>float fact(int </a:t>
            </a:r>
            <a:r>
              <a:rPr lang="en-US" altLang="zh-CN" sz="2000" i="1"/>
              <a:t>n</a:t>
            </a:r>
            <a:r>
              <a:rPr lang="en-US" altLang="zh-CN" sz="2000"/>
              <a:t>)</a:t>
            </a:r>
          </a:p>
          <a:p>
            <a:pPr eaLnBrk="0" hangingPunct="0">
              <a:lnSpc>
                <a:spcPct val="80000"/>
              </a:lnSpc>
            </a:pPr>
            <a:r>
              <a:rPr lang="en-US" altLang="zh-CN" sz="2000"/>
              <a:t>{float </a:t>
            </a:r>
            <a:r>
              <a:rPr lang="en-US" altLang="zh-CN" sz="2000" i="1"/>
              <a:t>s</a:t>
            </a:r>
            <a:r>
              <a:rPr lang="en-US" altLang="zh-CN" sz="2000"/>
              <a:t>;</a:t>
            </a:r>
          </a:p>
          <a:p>
            <a:pPr eaLnBrk="0" hangingPunct="0">
              <a:lnSpc>
                <a:spcPct val="80000"/>
              </a:lnSpc>
            </a:pPr>
            <a:r>
              <a:rPr lang="en-US" altLang="zh-CN" sz="2000"/>
              <a:t>  if (</a:t>
            </a:r>
            <a:r>
              <a:rPr lang="en-US" altLang="zh-CN" sz="2000" i="1"/>
              <a:t>n </a:t>
            </a:r>
            <a:r>
              <a:rPr lang="en-US" altLang="zh-CN" sz="2000"/>
              <a:t>= = 0)</a:t>
            </a:r>
          </a:p>
          <a:p>
            <a:pPr eaLnBrk="0" hangingPunct="0">
              <a:lnSpc>
                <a:spcPct val="80000"/>
              </a:lnSpc>
            </a:pPr>
            <a:r>
              <a:rPr lang="en-US" altLang="zh-CN" sz="2000"/>
              <a:t>    </a:t>
            </a:r>
            <a:r>
              <a:rPr lang="en-US" altLang="zh-CN" sz="2000" i="1"/>
              <a:t>s </a:t>
            </a:r>
            <a:r>
              <a:rPr lang="en-US" altLang="zh-CN" sz="2000"/>
              <a:t>=1;</a:t>
            </a:r>
          </a:p>
          <a:p>
            <a:pPr eaLnBrk="0" hangingPunct="0">
              <a:lnSpc>
                <a:spcPct val="80000"/>
              </a:lnSpc>
            </a:pPr>
            <a:r>
              <a:rPr lang="en-US" altLang="zh-CN" sz="2000"/>
              <a:t>  else</a:t>
            </a:r>
          </a:p>
          <a:p>
            <a:pPr eaLnBrk="0" hangingPunct="0">
              <a:lnSpc>
                <a:spcPct val="80000"/>
              </a:lnSpc>
            </a:pPr>
            <a:r>
              <a:rPr lang="en-US" altLang="zh-CN" sz="2000"/>
              <a:t>    </a:t>
            </a:r>
            <a:r>
              <a:rPr lang="en-US" altLang="zh-CN" sz="2000" i="1">
                <a:solidFill>
                  <a:srgbClr val="0000FF"/>
                </a:solidFill>
              </a:rPr>
              <a:t>s </a:t>
            </a:r>
            <a:r>
              <a:rPr lang="en-US" altLang="zh-CN" sz="2000">
                <a:solidFill>
                  <a:srgbClr val="0000FF"/>
                </a:solidFill>
              </a:rPr>
              <a:t>= </a:t>
            </a:r>
            <a:r>
              <a:rPr lang="en-US" altLang="zh-CN" sz="2000" i="1">
                <a:solidFill>
                  <a:srgbClr val="0000FF"/>
                </a:solidFill>
              </a:rPr>
              <a:t>n</a:t>
            </a:r>
            <a:r>
              <a:rPr lang="en-US" altLang="zh-CN" sz="2000">
                <a:solidFill>
                  <a:srgbClr val="0000FF"/>
                </a:solidFill>
              </a:rPr>
              <a:t>*fact(</a:t>
            </a:r>
            <a:r>
              <a:rPr lang="en-US" altLang="zh-CN" sz="2000" i="1">
                <a:solidFill>
                  <a:srgbClr val="0000FF"/>
                </a:solidFill>
              </a:rPr>
              <a:t>n </a:t>
            </a:r>
            <a:r>
              <a:rPr lang="en-US" altLang="zh-CN" sz="2000">
                <a:solidFill>
                  <a:srgbClr val="0000FF"/>
                </a:solidFill>
              </a:rPr>
              <a:t>-1);</a:t>
            </a:r>
          </a:p>
          <a:p>
            <a:pPr eaLnBrk="0" hangingPunct="0">
              <a:lnSpc>
                <a:spcPct val="80000"/>
              </a:lnSpc>
            </a:pPr>
            <a:r>
              <a:rPr lang="en-US" altLang="zh-CN" sz="2000"/>
              <a:t>  return (</a:t>
            </a:r>
            <a:r>
              <a:rPr lang="en-US" altLang="zh-CN" sz="2000" i="1"/>
              <a:t>s</a:t>
            </a:r>
            <a:r>
              <a:rPr lang="en-US" altLang="zh-CN" sz="2000"/>
              <a:t>);</a:t>
            </a:r>
          </a:p>
          <a:p>
            <a:pPr eaLnBrk="0" hangingPunct="0">
              <a:lnSpc>
                <a:spcPct val="80000"/>
              </a:lnSpc>
            </a:pPr>
            <a:r>
              <a:rPr lang="en-US" altLang="zh-CN" sz="2000"/>
              <a:t>}</a:t>
            </a:r>
          </a:p>
        </p:txBody>
      </p:sp>
      <p:sp>
        <p:nvSpPr>
          <p:cNvPr id="15563" name="Text Box 203"/>
          <p:cNvSpPr txBox="1">
            <a:spLocks noChangeArrowheads="1"/>
          </p:cNvSpPr>
          <p:nvPr/>
        </p:nvSpPr>
        <p:spPr bwMode="auto">
          <a:xfrm>
            <a:off x="8401050" y="2441575"/>
            <a:ext cx="2152650" cy="19240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lnSpc>
                <a:spcPct val="80000"/>
              </a:lnSpc>
            </a:pPr>
            <a:r>
              <a:rPr lang="en-US" altLang="zh-CN" sz="2000"/>
              <a:t>float fact(int </a:t>
            </a:r>
            <a:r>
              <a:rPr lang="en-US" altLang="zh-CN" sz="2000" i="1"/>
              <a:t>n</a:t>
            </a:r>
            <a:r>
              <a:rPr lang="en-US" altLang="zh-CN" sz="2000"/>
              <a:t>)</a:t>
            </a:r>
          </a:p>
          <a:p>
            <a:pPr eaLnBrk="0" hangingPunct="0">
              <a:lnSpc>
                <a:spcPct val="80000"/>
              </a:lnSpc>
            </a:pPr>
            <a:r>
              <a:rPr lang="en-US" altLang="zh-CN" sz="2000"/>
              <a:t>{float </a:t>
            </a:r>
            <a:r>
              <a:rPr lang="en-US" altLang="zh-CN" sz="2000" i="1"/>
              <a:t>s</a:t>
            </a:r>
            <a:r>
              <a:rPr lang="en-US" altLang="zh-CN" sz="2000"/>
              <a:t>;</a:t>
            </a:r>
          </a:p>
          <a:p>
            <a:pPr eaLnBrk="0" hangingPunct="0">
              <a:lnSpc>
                <a:spcPct val="80000"/>
              </a:lnSpc>
            </a:pPr>
            <a:r>
              <a:rPr lang="en-US" altLang="zh-CN" sz="2000"/>
              <a:t>  if (</a:t>
            </a:r>
            <a:r>
              <a:rPr lang="en-US" altLang="zh-CN" sz="2000" i="1"/>
              <a:t>n </a:t>
            </a:r>
            <a:r>
              <a:rPr lang="en-US" altLang="zh-CN" sz="2000"/>
              <a:t>= = 0)</a:t>
            </a:r>
          </a:p>
          <a:p>
            <a:pPr eaLnBrk="0" hangingPunct="0">
              <a:lnSpc>
                <a:spcPct val="60000"/>
              </a:lnSpc>
            </a:pPr>
            <a:r>
              <a:rPr lang="en-US" altLang="zh-CN" sz="2000"/>
              <a:t>    </a:t>
            </a:r>
            <a:r>
              <a:rPr lang="en-US" altLang="zh-CN" sz="2000" i="1"/>
              <a:t>s </a:t>
            </a:r>
            <a:r>
              <a:rPr lang="en-US" altLang="zh-CN" sz="2000"/>
              <a:t>=1;</a:t>
            </a:r>
          </a:p>
          <a:p>
            <a:pPr eaLnBrk="0" hangingPunct="0">
              <a:lnSpc>
                <a:spcPct val="60000"/>
              </a:lnSpc>
            </a:pPr>
            <a:r>
              <a:rPr lang="en-US" altLang="zh-CN" sz="2000"/>
              <a:t>  else</a:t>
            </a:r>
          </a:p>
          <a:p>
            <a:pPr eaLnBrk="0" hangingPunct="0">
              <a:lnSpc>
                <a:spcPct val="80000"/>
              </a:lnSpc>
            </a:pPr>
            <a:r>
              <a:rPr lang="en-US" altLang="zh-CN" sz="2000"/>
              <a:t>    </a:t>
            </a:r>
            <a:r>
              <a:rPr lang="en-US" altLang="zh-CN" sz="2000" i="1">
                <a:solidFill>
                  <a:srgbClr val="0000FF"/>
                </a:solidFill>
              </a:rPr>
              <a:t>s </a:t>
            </a:r>
            <a:r>
              <a:rPr lang="en-US" altLang="zh-CN" sz="2000">
                <a:solidFill>
                  <a:srgbClr val="0000FF"/>
                </a:solidFill>
              </a:rPr>
              <a:t>= </a:t>
            </a:r>
            <a:r>
              <a:rPr lang="en-US" altLang="zh-CN" sz="2000" i="1">
                <a:solidFill>
                  <a:srgbClr val="0000FF"/>
                </a:solidFill>
              </a:rPr>
              <a:t>n</a:t>
            </a:r>
            <a:r>
              <a:rPr lang="en-US" altLang="zh-CN" sz="2000">
                <a:solidFill>
                  <a:srgbClr val="0000FF"/>
                </a:solidFill>
              </a:rPr>
              <a:t>*fact(</a:t>
            </a:r>
            <a:r>
              <a:rPr lang="en-US" altLang="zh-CN" sz="2000" i="1">
                <a:solidFill>
                  <a:srgbClr val="0000FF"/>
                </a:solidFill>
              </a:rPr>
              <a:t>n </a:t>
            </a:r>
            <a:r>
              <a:rPr lang="en-US" altLang="zh-CN" sz="2000">
                <a:solidFill>
                  <a:srgbClr val="0000FF"/>
                </a:solidFill>
              </a:rPr>
              <a:t>-1);</a:t>
            </a:r>
          </a:p>
          <a:p>
            <a:pPr eaLnBrk="0" hangingPunct="0">
              <a:lnSpc>
                <a:spcPct val="80000"/>
              </a:lnSpc>
            </a:pPr>
            <a:r>
              <a:rPr lang="en-US" altLang="zh-CN" sz="2000"/>
              <a:t>  return (</a:t>
            </a:r>
            <a:r>
              <a:rPr lang="en-US" altLang="zh-CN" sz="2000" i="1"/>
              <a:t>s</a:t>
            </a:r>
            <a:r>
              <a:rPr lang="en-US" altLang="zh-CN" sz="2000"/>
              <a:t>);</a:t>
            </a:r>
          </a:p>
          <a:p>
            <a:pPr eaLnBrk="0" hangingPunct="0">
              <a:lnSpc>
                <a:spcPct val="80000"/>
              </a:lnSpc>
            </a:pPr>
            <a:r>
              <a:rPr lang="en-US" altLang="zh-CN" sz="2000"/>
              <a:t>}</a:t>
            </a:r>
          </a:p>
        </p:txBody>
      </p:sp>
      <p:sp>
        <p:nvSpPr>
          <p:cNvPr id="15564" name="Text Box 204"/>
          <p:cNvSpPr txBox="1">
            <a:spLocks noChangeArrowheads="1"/>
          </p:cNvSpPr>
          <p:nvPr/>
        </p:nvSpPr>
        <p:spPr bwMode="auto">
          <a:xfrm>
            <a:off x="8407400" y="425450"/>
            <a:ext cx="2152650" cy="19240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lnSpc>
                <a:spcPct val="80000"/>
              </a:lnSpc>
            </a:pPr>
            <a:r>
              <a:rPr lang="en-US" altLang="zh-CN" sz="2000"/>
              <a:t>float fact(int </a:t>
            </a:r>
            <a:r>
              <a:rPr lang="en-US" altLang="zh-CN" sz="2000" i="1"/>
              <a:t>n</a:t>
            </a:r>
            <a:r>
              <a:rPr lang="en-US" altLang="zh-CN" sz="2000"/>
              <a:t>)</a:t>
            </a:r>
          </a:p>
          <a:p>
            <a:pPr eaLnBrk="0" hangingPunct="0">
              <a:lnSpc>
                <a:spcPct val="80000"/>
              </a:lnSpc>
            </a:pPr>
            <a:r>
              <a:rPr lang="en-US" altLang="zh-CN" sz="2000"/>
              <a:t>{float </a:t>
            </a:r>
            <a:r>
              <a:rPr lang="en-US" altLang="zh-CN" sz="2000" i="1"/>
              <a:t>s</a:t>
            </a:r>
            <a:r>
              <a:rPr lang="en-US" altLang="zh-CN" sz="2000"/>
              <a:t>;</a:t>
            </a:r>
          </a:p>
          <a:p>
            <a:pPr eaLnBrk="0" hangingPunct="0">
              <a:lnSpc>
                <a:spcPct val="80000"/>
              </a:lnSpc>
            </a:pPr>
            <a:r>
              <a:rPr lang="en-US" altLang="zh-CN" sz="2000"/>
              <a:t>  if (</a:t>
            </a:r>
            <a:r>
              <a:rPr lang="en-US" altLang="zh-CN" sz="2000" i="1"/>
              <a:t>n </a:t>
            </a:r>
            <a:r>
              <a:rPr lang="en-US" altLang="zh-CN" sz="2000"/>
              <a:t>= = 0)</a:t>
            </a:r>
          </a:p>
          <a:p>
            <a:pPr eaLnBrk="0" hangingPunct="0">
              <a:lnSpc>
                <a:spcPct val="80000"/>
              </a:lnSpc>
            </a:pPr>
            <a:r>
              <a:rPr lang="en-US" altLang="zh-CN" sz="2000"/>
              <a:t>    </a:t>
            </a:r>
            <a:r>
              <a:rPr lang="en-US" altLang="zh-CN" sz="2000" i="1">
                <a:solidFill>
                  <a:srgbClr val="0000FF"/>
                </a:solidFill>
              </a:rPr>
              <a:t>s </a:t>
            </a:r>
            <a:r>
              <a:rPr lang="en-US" altLang="zh-CN" sz="2000">
                <a:solidFill>
                  <a:srgbClr val="0000FF"/>
                </a:solidFill>
              </a:rPr>
              <a:t>=1;</a:t>
            </a:r>
          </a:p>
          <a:p>
            <a:pPr eaLnBrk="0" hangingPunct="0">
              <a:lnSpc>
                <a:spcPct val="80000"/>
              </a:lnSpc>
            </a:pPr>
            <a:r>
              <a:rPr lang="en-US" altLang="zh-CN" sz="2000"/>
              <a:t>  else</a:t>
            </a:r>
          </a:p>
          <a:p>
            <a:pPr eaLnBrk="0" hangingPunct="0">
              <a:lnSpc>
                <a:spcPct val="60000"/>
              </a:lnSpc>
            </a:pPr>
            <a:r>
              <a:rPr lang="en-US" altLang="zh-CN" sz="2000"/>
              <a:t>    </a:t>
            </a:r>
            <a:r>
              <a:rPr lang="en-US" altLang="zh-CN" sz="2000" i="1"/>
              <a:t>s </a:t>
            </a:r>
            <a:r>
              <a:rPr lang="en-US" altLang="zh-CN" sz="2000"/>
              <a:t>= </a:t>
            </a:r>
            <a:r>
              <a:rPr lang="en-US" altLang="zh-CN" sz="2000" i="1"/>
              <a:t>n</a:t>
            </a:r>
            <a:r>
              <a:rPr lang="en-US" altLang="zh-CN" sz="2000"/>
              <a:t>*fact(</a:t>
            </a:r>
            <a:r>
              <a:rPr lang="en-US" altLang="zh-CN" sz="2000" i="1"/>
              <a:t>n </a:t>
            </a:r>
            <a:r>
              <a:rPr lang="en-US" altLang="zh-CN" sz="2000"/>
              <a:t>-1);</a:t>
            </a:r>
          </a:p>
          <a:p>
            <a:pPr eaLnBrk="0" hangingPunct="0">
              <a:lnSpc>
                <a:spcPct val="60000"/>
              </a:lnSpc>
            </a:pPr>
            <a:r>
              <a:rPr lang="en-US" altLang="zh-CN" sz="2000"/>
              <a:t>  return (</a:t>
            </a:r>
            <a:r>
              <a:rPr lang="en-US" altLang="zh-CN" sz="2000" i="1"/>
              <a:t>s</a:t>
            </a:r>
            <a:r>
              <a:rPr lang="en-US" altLang="zh-CN" sz="2000"/>
              <a:t>);</a:t>
            </a:r>
          </a:p>
          <a:p>
            <a:pPr eaLnBrk="0" hangingPunct="0">
              <a:lnSpc>
                <a:spcPct val="80000"/>
              </a:lnSpc>
            </a:pPr>
            <a:r>
              <a:rPr lang="en-US" altLang="zh-CN" sz="2000"/>
              <a:t>}</a:t>
            </a:r>
          </a:p>
        </p:txBody>
      </p:sp>
      <p:sp>
        <p:nvSpPr>
          <p:cNvPr id="15503" name="Line 143"/>
          <p:cNvSpPr>
            <a:spLocks noChangeShapeType="1"/>
          </p:cNvSpPr>
          <p:nvPr/>
        </p:nvSpPr>
        <p:spPr bwMode="auto">
          <a:xfrm>
            <a:off x="6430963" y="1371600"/>
            <a:ext cx="2413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5566" name="Text Box 206"/>
          <p:cNvSpPr txBox="1">
            <a:spLocks noChangeArrowheads="1"/>
          </p:cNvSpPr>
          <p:nvPr/>
        </p:nvSpPr>
        <p:spPr bwMode="auto">
          <a:xfrm>
            <a:off x="3071813" y="4941889"/>
            <a:ext cx="787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i="1">
                <a:solidFill>
                  <a:srgbClr val="0000FF"/>
                </a:solidFill>
              </a:rPr>
              <a:t>n</a:t>
            </a:r>
            <a:r>
              <a:rPr lang="en-US" altLang="zh-CN" sz="2000">
                <a:solidFill>
                  <a:srgbClr val="0000FF"/>
                </a:solidFill>
              </a:rPr>
              <a:t> = 5 </a:t>
            </a:r>
          </a:p>
        </p:txBody>
      </p:sp>
      <p:sp>
        <p:nvSpPr>
          <p:cNvPr id="15567" name="Text Box 207"/>
          <p:cNvSpPr txBox="1">
            <a:spLocks noChangeArrowheads="1"/>
          </p:cNvSpPr>
          <p:nvPr/>
        </p:nvSpPr>
        <p:spPr bwMode="auto">
          <a:xfrm>
            <a:off x="5380038" y="4903789"/>
            <a:ext cx="787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i="1">
                <a:solidFill>
                  <a:srgbClr val="0000FF"/>
                </a:solidFill>
              </a:rPr>
              <a:t>n</a:t>
            </a:r>
            <a:r>
              <a:rPr lang="en-US" altLang="zh-CN" sz="2000">
                <a:solidFill>
                  <a:srgbClr val="0000FF"/>
                </a:solidFill>
              </a:rPr>
              <a:t> = 4 </a:t>
            </a:r>
          </a:p>
        </p:txBody>
      </p:sp>
      <p:sp>
        <p:nvSpPr>
          <p:cNvPr id="15568" name="Text Box 208"/>
          <p:cNvSpPr txBox="1">
            <a:spLocks noChangeArrowheads="1"/>
          </p:cNvSpPr>
          <p:nvPr/>
        </p:nvSpPr>
        <p:spPr bwMode="auto">
          <a:xfrm>
            <a:off x="7613650" y="4903789"/>
            <a:ext cx="787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i="1">
                <a:solidFill>
                  <a:srgbClr val="0000FF"/>
                </a:solidFill>
              </a:rPr>
              <a:t>n</a:t>
            </a:r>
            <a:r>
              <a:rPr lang="en-US" altLang="zh-CN" sz="2000">
                <a:solidFill>
                  <a:srgbClr val="0000FF"/>
                </a:solidFill>
              </a:rPr>
              <a:t> = 3 </a:t>
            </a:r>
          </a:p>
        </p:txBody>
      </p:sp>
      <p:sp>
        <p:nvSpPr>
          <p:cNvPr id="15569" name="Text Box 209"/>
          <p:cNvSpPr txBox="1">
            <a:spLocks noChangeArrowheads="1"/>
          </p:cNvSpPr>
          <p:nvPr/>
        </p:nvSpPr>
        <p:spPr bwMode="auto">
          <a:xfrm>
            <a:off x="9845675" y="4903789"/>
            <a:ext cx="787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i="1">
                <a:solidFill>
                  <a:srgbClr val="0000FF"/>
                </a:solidFill>
              </a:rPr>
              <a:t>n</a:t>
            </a:r>
            <a:r>
              <a:rPr lang="en-US" altLang="zh-CN" sz="2000">
                <a:solidFill>
                  <a:srgbClr val="0000FF"/>
                </a:solidFill>
              </a:rPr>
              <a:t> = 2 </a:t>
            </a:r>
          </a:p>
        </p:txBody>
      </p:sp>
      <p:sp>
        <p:nvSpPr>
          <p:cNvPr id="15570" name="Text Box 210"/>
          <p:cNvSpPr txBox="1">
            <a:spLocks noChangeArrowheads="1"/>
          </p:cNvSpPr>
          <p:nvPr/>
        </p:nvSpPr>
        <p:spPr bwMode="auto">
          <a:xfrm>
            <a:off x="9840913" y="2887664"/>
            <a:ext cx="787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i="1">
                <a:solidFill>
                  <a:srgbClr val="0000FF"/>
                </a:solidFill>
              </a:rPr>
              <a:t>n</a:t>
            </a:r>
            <a:r>
              <a:rPr lang="en-US" altLang="zh-CN" sz="2000">
                <a:solidFill>
                  <a:srgbClr val="0000FF"/>
                </a:solidFill>
              </a:rPr>
              <a:t> = 1 </a:t>
            </a:r>
          </a:p>
        </p:txBody>
      </p:sp>
      <p:sp>
        <p:nvSpPr>
          <p:cNvPr id="15571" name="Text Box 211"/>
          <p:cNvSpPr txBox="1">
            <a:spLocks noChangeArrowheads="1"/>
          </p:cNvSpPr>
          <p:nvPr/>
        </p:nvSpPr>
        <p:spPr bwMode="auto">
          <a:xfrm>
            <a:off x="9840913" y="871539"/>
            <a:ext cx="787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i="1">
                <a:solidFill>
                  <a:srgbClr val="0000FF"/>
                </a:solidFill>
              </a:rPr>
              <a:t>n</a:t>
            </a:r>
            <a:r>
              <a:rPr lang="en-US" altLang="zh-CN" sz="2000">
                <a:solidFill>
                  <a:srgbClr val="0000FF"/>
                </a:solidFill>
              </a:rPr>
              <a:t> = 0 </a:t>
            </a:r>
          </a:p>
        </p:txBody>
      </p:sp>
      <p:sp>
        <p:nvSpPr>
          <p:cNvPr id="15572" name="Rectangle 212"/>
          <p:cNvSpPr>
            <a:spLocks noChangeArrowheads="1"/>
          </p:cNvSpPr>
          <p:nvPr/>
        </p:nvSpPr>
        <p:spPr bwMode="auto">
          <a:xfrm>
            <a:off x="8401050" y="404814"/>
            <a:ext cx="2159000" cy="1944687"/>
          </a:xfrm>
          <a:prstGeom prst="rect">
            <a:avLst/>
          </a:prstGeom>
          <a:solidFill>
            <a:srgbClr val="FF00FF">
              <a:alpha val="70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573" name="Rectangle 213"/>
          <p:cNvSpPr>
            <a:spLocks noChangeArrowheads="1"/>
          </p:cNvSpPr>
          <p:nvPr/>
        </p:nvSpPr>
        <p:spPr bwMode="auto">
          <a:xfrm>
            <a:off x="8401050" y="2420939"/>
            <a:ext cx="2159000" cy="1944687"/>
          </a:xfrm>
          <a:prstGeom prst="rect">
            <a:avLst/>
          </a:prstGeom>
          <a:solidFill>
            <a:srgbClr val="FF00FF">
              <a:alpha val="70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574" name="Rectangle 214"/>
          <p:cNvSpPr>
            <a:spLocks noChangeArrowheads="1"/>
          </p:cNvSpPr>
          <p:nvPr/>
        </p:nvSpPr>
        <p:spPr bwMode="auto">
          <a:xfrm>
            <a:off x="8401050" y="4437063"/>
            <a:ext cx="2159000" cy="2087562"/>
          </a:xfrm>
          <a:prstGeom prst="rect">
            <a:avLst/>
          </a:prstGeom>
          <a:solidFill>
            <a:srgbClr val="FF00FF">
              <a:alpha val="70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575" name="Rectangle 215"/>
          <p:cNvSpPr>
            <a:spLocks noChangeArrowheads="1"/>
          </p:cNvSpPr>
          <p:nvPr/>
        </p:nvSpPr>
        <p:spPr bwMode="auto">
          <a:xfrm>
            <a:off x="6169025" y="4437063"/>
            <a:ext cx="2159000" cy="2087562"/>
          </a:xfrm>
          <a:prstGeom prst="rect">
            <a:avLst/>
          </a:prstGeom>
          <a:solidFill>
            <a:srgbClr val="FF00FF">
              <a:alpha val="70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576" name="Rectangle 216"/>
          <p:cNvSpPr>
            <a:spLocks noChangeArrowheads="1"/>
          </p:cNvSpPr>
          <p:nvPr/>
        </p:nvSpPr>
        <p:spPr bwMode="auto">
          <a:xfrm>
            <a:off x="3935413" y="4437063"/>
            <a:ext cx="2159000" cy="2087562"/>
          </a:xfrm>
          <a:prstGeom prst="rect">
            <a:avLst/>
          </a:prstGeom>
          <a:solidFill>
            <a:srgbClr val="FF00FF">
              <a:alpha val="70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577" name="Rectangle 217"/>
          <p:cNvSpPr>
            <a:spLocks noChangeArrowheads="1"/>
          </p:cNvSpPr>
          <p:nvPr/>
        </p:nvSpPr>
        <p:spPr bwMode="auto">
          <a:xfrm>
            <a:off x="1633538" y="4437063"/>
            <a:ext cx="2159000" cy="2087562"/>
          </a:xfrm>
          <a:prstGeom prst="rect">
            <a:avLst/>
          </a:prstGeom>
          <a:solidFill>
            <a:srgbClr val="FF00FF">
              <a:alpha val="70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slow"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5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15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55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55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5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5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5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56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56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56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56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56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56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56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56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5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5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4" dur="500"/>
                                        <p:tgtEl>
                                          <p:spTgt spid="15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5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3" dur="500"/>
                                        <p:tgtEl>
                                          <p:spTgt spid="15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55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55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5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5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5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56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56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56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56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56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56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56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56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15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5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1" dur="500"/>
                                        <p:tgtEl>
                                          <p:spTgt spid="15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155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155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56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56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56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56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56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56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56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56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0" dur="500"/>
                                        <p:tgtEl>
                                          <p:spTgt spid="15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15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500"/>
                            </p:stCondLst>
                            <p:childTnLst>
                              <p:par>
                                <p:cTn id="1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9" dur="500"/>
                                        <p:tgtEl>
                                          <p:spTgt spid="15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1000"/>
                            </p:stCondLst>
                            <p:childTnLst>
                              <p:par>
                                <p:cTn id="14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3" dur="500"/>
                                        <p:tgtEl>
                                          <p:spTgt spid="15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1500"/>
                            </p:stCondLst>
                            <p:childTnLst>
                              <p:par>
                                <p:cTn id="1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7" dur="500"/>
                                        <p:tgtEl>
                                          <p:spTgt spid="15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2000"/>
                            </p:stCondLst>
                            <p:childTnLst>
                              <p:par>
                                <p:cTn id="1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15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2500"/>
                            </p:stCondLst>
                            <p:childTnLst>
                              <p:par>
                                <p:cTn id="153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5" dur="500"/>
                                        <p:tgtEl>
                                          <p:spTgt spid="15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155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155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5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5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5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56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7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56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56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7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56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56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7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56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56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7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56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4" dur="500"/>
                                        <p:tgtEl>
                                          <p:spTgt spid="15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15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500"/>
                            </p:stCondLst>
                            <p:childTnLst>
                              <p:par>
                                <p:cTn id="191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3" dur="500"/>
                                        <p:tgtEl>
                                          <p:spTgt spid="15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8" dur="500" fill="hold"/>
                                        <p:tgtEl>
                                          <p:spTgt spid="155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500" fill="hold"/>
                                        <p:tgtEl>
                                          <p:spTgt spid="155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5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5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5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57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57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57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57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57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1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57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57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1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57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2" dur="500"/>
                                        <p:tgtEl>
                                          <p:spTgt spid="15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7" dur="500"/>
                                        <p:tgtEl>
                                          <p:spTgt spid="15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" fill="hold">
                            <p:stCondLst>
                              <p:cond delay="500"/>
                            </p:stCondLst>
                            <p:childTnLst>
                              <p:par>
                                <p:cTn id="229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1" dur="500"/>
                                        <p:tgtEl>
                                          <p:spTgt spid="15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6" dur="500" fill="hold"/>
                                        <p:tgtEl>
                                          <p:spTgt spid="155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7" dur="500" fill="hold"/>
                                        <p:tgtEl>
                                          <p:spTgt spid="155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5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5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5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4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57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57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57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5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57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57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57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57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57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indefinite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0" dur="500"/>
                                        <p:tgtEl>
                                          <p:spTgt spid="15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5" dur="500" fill="hold"/>
                                        <p:tgtEl>
                                          <p:spTgt spid="155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6" dur="500" fill="hold"/>
                                        <p:tgtEl>
                                          <p:spTgt spid="155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1" dur="500"/>
                                        <p:tgtEl>
                                          <p:spTgt spid="15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>
                      <p:stCondLst>
                        <p:cond delay="indefinite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id="27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6" dur="500"/>
                                        <p:tgtEl>
                                          <p:spTgt spid="15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indefinite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1" dur="500" fill="hold"/>
                                        <p:tgtEl>
                                          <p:spTgt spid="155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2" dur="500" fill="hold"/>
                                        <p:tgtEl>
                                          <p:spTgt spid="155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7" dur="500"/>
                                        <p:tgtEl>
                                          <p:spTgt spid="15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8" fill="hold">
                            <p:stCondLst>
                              <p:cond delay="500"/>
                            </p:stCondLst>
                            <p:childTnLst>
                              <p:par>
                                <p:cTn id="28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1" dur="500"/>
                                        <p:tgtEl>
                                          <p:spTgt spid="15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>
                      <p:stCondLst>
                        <p:cond delay="indefinite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6" dur="500"/>
                                        <p:tgtEl>
                                          <p:spTgt spid="15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>
                      <p:stCondLst>
                        <p:cond delay="indefinite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1" dur="500" fill="hold"/>
                                        <p:tgtEl>
                                          <p:spTgt spid="155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2" dur="500" fill="hold"/>
                                        <p:tgtEl>
                                          <p:spTgt spid="155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indefinite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7" dur="500"/>
                                        <p:tgtEl>
                                          <p:spTgt spid="15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8" fill="hold">
                            <p:stCondLst>
                              <p:cond delay="500"/>
                            </p:stCondLst>
                            <p:childTnLst>
                              <p:par>
                                <p:cTn id="30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1" dur="500"/>
                                        <p:tgtEl>
                                          <p:spTgt spid="15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2" fill="hold">
                      <p:stCondLst>
                        <p:cond delay="indefinite"/>
                      </p:stCondLst>
                      <p:childTnLst>
                        <p:par>
                          <p:cTn id="313" fill="hold">
                            <p:stCondLst>
                              <p:cond delay="0"/>
                            </p:stCondLst>
                            <p:childTnLst>
                              <p:par>
                                <p:cTn id="31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6" dur="500"/>
                                        <p:tgtEl>
                                          <p:spTgt spid="15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7" fill="hold">
                      <p:stCondLst>
                        <p:cond delay="indefinite"/>
                      </p:stCondLst>
                      <p:childTnLst>
                        <p:par>
                          <p:cTn id="318" fill="hold">
                            <p:stCondLst>
                              <p:cond delay="0"/>
                            </p:stCondLst>
                            <p:childTnLst>
                              <p:par>
                                <p:cTn id="31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1" dur="500" fill="hold"/>
                                        <p:tgtEl>
                                          <p:spTgt spid="155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2" dur="500" fill="hold"/>
                                        <p:tgtEl>
                                          <p:spTgt spid="155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3" fill="hold">
                      <p:stCondLst>
                        <p:cond delay="indefinite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7" dur="500"/>
                                        <p:tgtEl>
                                          <p:spTgt spid="15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8" fill="hold">
                            <p:stCondLst>
                              <p:cond delay="500"/>
                            </p:stCondLst>
                            <p:childTnLst>
                              <p:par>
                                <p:cTn id="3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1" dur="500"/>
                                        <p:tgtEl>
                                          <p:spTgt spid="15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5" dur="500"/>
                                        <p:tgtEl>
                                          <p:spTgt spid="15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3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9" dur="500"/>
                                        <p:tgtEl>
                                          <p:spTgt spid="15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0" fill="hold">
                            <p:stCondLst>
                              <p:cond delay="2000"/>
                            </p:stCondLst>
                            <p:childTnLst>
                              <p:par>
                                <p:cTn id="34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3" dur="500"/>
                                        <p:tgtEl>
                                          <p:spTgt spid="15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4" fill="hold">
                            <p:stCondLst>
                              <p:cond delay="2500"/>
                            </p:stCondLst>
                            <p:childTnLst>
                              <p:par>
                                <p:cTn id="34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7" dur="500"/>
                                        <p:tgtEl>
                                          <p:spTgt spid="15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8" fill="hold">
                      <p:stCondLst>
                        <p:cond delay="indefinite"/>
                      </p:stCondLst>
                      <p:childTnLst>
                        <p:par>
                          <p:cTn id="349" fill="hold">
                            <p:stCondLst>
                              <p:cond delay="0"/>
                            </p:stCondLst>
                            <p:childTnLst>
                              <p:par>
                                <p:cTn id="35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2" dur="500"/>
                                        <p:tgtEl>
                                          <p:spTgt spid="15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3" fill="hold">
                      <p:stCondLst>
                        <p:cond delay="indefinite"/>
                      </p:stCondLst>
                      <p:childTnLst>
                        <p:par>
                          <p:cTn id="354" fill="hold">
                            <p:stCondLst>
                              <p:cond delay="0"/>
                            </p:stCondLst>
                            <p:childTnLst>
                              <p:par>
                                <p:cTn id="35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7" dur="500" fill="hold"/>
                                        <p:tgtEl>
                                          <p:spTgt spid="155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8" dur="500" fill="hold"/>
                                        <p:tgtEl>
                                          <p:spTgt spid="155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9" fill="hold">
                      <p:stCondLst>
                        <p:cond delay="indefinite"/>
                      </p:stCondLst>
                      <p:childTnLst>
                        <p:par>
                          <p:cTn id="360" fill="hold">
                            <p:stCondLst>
                              <p:cond delay="0"/>
                            </p:stCondLst>
                            <p:childTnLst>
                              <p:par>
                                <p:cTn id="36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3" dur="500"/>
                                        <p:tgtEl>
                                          <p:spTgt spid="15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4" fill="hold">
                            <p:stCondLst>
                              <p:cond delay="500"/>
                            </p:stCondLst>
                            <p:childTnLst>
                              <p:par>
                                <p:cTn id="36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7" dur="500"/>
                                        <p:tgtEl>
                                          <p:spTgt spid="15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8" fill="hold">
                      <p:stCondLst>
                        <p:cond delay="indefinite"/>
                      </p:stCondLst>
                      <p:childTnLst>
                        <p:par>
                          <p:cTn id="369" fill="hold">
                            <p:stCondLst>
                              <p:cond delay="0"/>
                            </p:stCondLst>
                            <p:childTnLst>
                              <p:par>
                                <p:cTn id="37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2" dur="500"/>
                                        <p:tgtEl>
                                          <p:spTgt spid="15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3" fill="hold">
                      <p:stCondLst>
                        <p:cond delay="indefinite"/>
                      </p:stCondLst>
                      <p:childTnLst>
                        <p:par>
                          <p:cTn id="374" fill="hold">
                            <p:stCondLst>
                              <p:cond delay="0"/>
                            </p:stCondLst>
                            <p:childTnLst>
                              <p:par>
                                <p:cTn id="37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7" dur="500" fill="hold"/>
                                        <p:tgtEl>
                                          <p:spTgt spid="155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8" dur="500" fill="hold"/>
                                        <p:tgtEl>
                                          <p:spTgt spid="155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9" fill="hold">
                      <p:stCondLst>
                        <p:cond delay="indefinite"/>
                      </p:stCondLst>
                      <p:childTnLst>
                        <p:par>
                          <p:cTn id="380" fill="hold">
                            <p:stCondLst>
                              <p:cond delay="0"/>
                            </p:stCondLst>
                            <p:childTnLst>
                              <p:par>
                                <p:cTn id="38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3" dur="500"/>
                                        <p:tgtEl>
                                          <p:spTgt spid="15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4" fill="hold">
                            <p:stCondLst>
                              <p:cond delay="500"/>
                            </p:stCondLst>
                            <p:childTnLst>
                              <p:par>
                                <p:cTn id="38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7" dur="500"/>
                                        <p:tgtEl>
                                          <p:spTgt spid="15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8" fill="hold">
                      <p:stCondLst>
                        <p:cond delay="indefinite"/>
                      </p:stCondLst>
                      <p:childTnLst>
                        <p:par>
                          <p:cTn id="389" fill="hold">
                            <p:stCondLst>
                              <p:cond delay="0"/>
                            </p:stCondLst>
                            <p:childTnLst>
                              <p:par>
                                <p:cTn id="39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2" dur="500"/>
                                        <p:tgtEl>
                                          <p:spTgt spid="15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3" fill="hold">
                      <p:stCondLst>
                        <p:cond delay="indefinite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7" dur="500"/>
                                        <p:tgtEl>
                                          <p:spTgt spid="15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8" fill="hold">
                            <p:stCondLst>
                              <p:cond delay="500"/>
                            </p:stCondLst>
                            <p:childTnLst>
                              <p:par>
                                <p:cTn id="39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1" dur="500"/>
                                        <p:tgtEl>
                                          <p:spTgt spid="15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50" grpId="0" animBg="1"/>
      <p:bldP spid="15442" grpId="0" animBg="1" autoUpdateAnimBg="0"/>
      <p:bldP spid="15443" grpId="0" animBg="1" autoUpdateAnimBg="0"/>
      <p:bldP spid="15444" grpId="0" animBg="1" autoUpdateAnimBg="0"/>
      <p:bldP spid="15445" grpId="0" animBg="1" autoUpdateAnimBg="0"/>
      <p:bldP spid="15446" grpId="0" animBg="1" autoUpdateAnimBg="0"/>
      <p:bldP spid="15447" grpId="0" animBg="1" autoUpdateAnimBg="0"/>
      <p:bldP spid="15473" grpId="0" autoUpdateAnimBg="0"/>
      <p:bldP spid="15476" grpId="0" autoUpdateAnimBg="0"/>
      <p:bldP spid="15500" grpId="0" animBg="1"/>
      <p:bldP spid="15501" grpId="0" animBg="1"/>
      <p:bldP spid="15502" grpId="0" animBg="1"/>
      <p:bldP spid="15504" grpId="0" animBg="1"/>
      <p:bldP spid="15505" grpId="0" animBg="1"/>
      <p:bldP spid="15506" grpId="0" animBg="1"/>
      <p:bldP spid="15508" grpId="0" animBg="1"/>
      <p:bldP spid="15509" grpId="0" animBg="1"/>
      <p:bldP spid="15510" grpId="0" animBg="1" autoUpdateAnimBg="0"/>
      <p:bldP spid="15511" grpId="0" animBg="1"/>
      <p:bldP spid="15512" grpId="0" autoUpdateAnimBg="0"/>
      <p:bldP spid="15513" grpId="0" autoUpdateAnimBg="0"/>
      <p:bldP spid="15514" grpId="0" autoUpdateAnimBg="0"/>
      <p:bldP spid="15515" grpId="0" autoUpdateAnimBg="0"/>
      <p:bldP spid="15516" grpId="0" autoUpdateAnimBg="0"/>
      <p:bldP spid="15517" grpId="0" animBg="1"/>
      <p:bldP spid="15518" grpId="0" animBg="1"/>
      <p:bldP spid="15519" grpId="0" animBg="1"/>
      <p:bldP spid="15520" grpId="0" animBg="1"/>
      <p:bldP spid="15522" grpId="0" animBg="1"/>
      <p:bldP spid="15523" grpId="0" animBg="1"/>
      <p:bldP spid="15524" grpId="0" animBg="1"/>
      <p:bldP spid="15525" grpId="0" animBg="1"/>
      <p:bldP spid="15526" grpId="0" animBg="1"/>
      <p:bldP spid="15527" grpId="0" animBg="1"/>
      <p:bldP spid="15532" grpId="0" autoUpdateAnimBg="0"/>
      <p:bldP spid="15533" grpId="0" autoUpdateAnimBg="0"/>
      <p:bldP spid="15535" grpId="0" autoUpdateAnimBg="0"/>
      <p:bldP spid="15537" grpId="0" autoUpdateAnimBg="0"/>
      <p:bldP spid="15539" grpId="0" autoUpdateAnimBg="0"/>
      <p:bldP spid="15541" grpId="0" autoUpdateAnimBg="0"/>
      <p:bldP spid="15551" grpId="0" animBg="1"/>
      <p:bldP spid="15552" grpId="0" animBg="1"/>
      <p:bldP spid="15553" grpId="0" animBg="1"/>
      <p:bldP spid="15554" grpId="0" animBg="1"/>
      <p:bldP spid="15555" grpId="0" animBg="1"/>
      <p:bldP spid="15556" grpId="0" animBg="1"/>
      <p:bldP spid="15560" grpId="0" animBg="1"/>
      <p:bldP spid="15561" grpId="0" animBg="1"/>
      <p:bldP spid="15562" grpId="0" animBg="1"/>
      <p:bldP spid="15563" grpId="0" animBg="1"/>
      <p:bldP spid="15564" grpId="0" animBg="1"/>
      <p:bldP spid="15503" grpId="0" animBg="1"/>
      <p:bldP spid="15566" grpId="0"/>
      <p:bldP spid="15567" grpId="0"/>
      <p:bldP spid="15568" grpId="0"/>
      <p:bldP spid="15569" grpId="0"/>
      <p:bldP spid="15570" grpId="0"/>
      <p:bldP spid="15571" grpId="0"/>
      <p:bldP spid="15572" grpId="0" animBg="1"/>
      <p:bldP spid="15573" grpId="0" animBg="1"/>
      <p:bldP spid="15574" grpId="0" animBg="1"/>
      <p:bldP spid="15575" grpId="0" animBg="1"/>
      <p:bldP spid="15576" grpId="0" animBg="1"/>
      <p:bldP spid="1557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063553" y="1196752"/>
            <a:ext cx="3394075" cy="4176712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buFontTx/>
              <a:buNone/>
            </a:pPr>
            <a:r>
              <a:rPr lang="en-US" altLang="zh-CN" sz="2400" dirty="0" err="1"/>
              <a:t>fac</a:t>
            </a:r>
            <a:r>
              <a:rPr lang="en-US" altLang="zh-CN" sz="2400" dirty="0"/>
              <a:t>(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n)</a:t>
            </a:r>
          </a:p>
          <a:p>
            <a:pPr>
              <a:buFontTx/>
              <a:buNone/>
            </a:pPr>
            <a:r>
              <a:rPr lang="en-US" altLang="zh-CN" sz="2400" dirty="0"/>
              <a:t>{  if(n==0)</a:t>
            </a:r>
          </a:p>
          <a:p>
            <a:pPr>
              <a:buFontTx/>
              <a:buNone/>
            </a:pPr>
            <a:r>
              <a:rPr lang="en-US" altLang="zh-CN" sz="2400" dirty="0"/>
              <a:t>        return 1;</a:t>
            </a:r>
          </a:p>
          <a:p>
            <a:pPr>
              <a:buFontTx/>
              <a:buNone/>
            </a:pPr>
            <a:r>
              <a:rPr lang="en-US" altLang="zh-CN" sz="2400" dirty="0"/>
              <a:t>    else</a:t>
            </a:r>
          </a:p>
          <a:p>
            <a:pPr>
              <a:buFontTx/>
              <a:buNone/>
            </a:pPr>
            <a:r>
              <a:rPr lang="en-US" altLang="zh-CN" sz="2400" dirty="0"/>
              <a:t>      {s=n*</a:t>
            </a:r>
            <a:r>
              <a:rPr lang="en-US" altLang="zh-CN" sz="2400" dirty="0" err="1"/>
              <a:t>fac</a:t>
            </a:r>
            <a:r>
              <a:rPr lang="en-US" altLang="zh-CN" sz="2400" dirty="0"/>
              <a:t>(n-1);</a:t>
            </a:r>
          </a:p>
          <a:p>
            <a:pPr>
              <a:buFontTx/>
              <a:buNone/>
            </a:pPr>
            <a:r>
              <a:rPr lang="en-US" altLang="zh-CN" sz="2400" dirty="0"/>
              <a:t>        </a:t>
            </a:r>
            <a:r>
              <a:rPr lang="en-US" altLang="zh-CN" sz="2400" dirty="0" err="1"/>
              <a:t>printf</a:t>
            </a:r>
            <a:r>
              <a:rPr lang="en-US" altLang="zh-CN" sz="2400" dirty="0"/>
              <a:t>(“%</a:t>
            </a:r>
            <a:r>
              <a:rPr lang="en-US" altLang="zh-CN" sz="2400" dirty="0" err="1"/>
              <a:t>d”,n</a:t>
            </a:r>
            <a:r>
              <a:rPr lang="en-US" altLang="zh-CN" sz="2400" dirty="0"/>
              <a:t>);</a:t>
            </a:r>
          </a:p>
          <a:p>
            <a:pPr>
              <a:buFontTx/>
              <a:buNone/>
            </a:pPr>
            <a:r>
              <a:rPr lang="en-US" altLang="zh-CN" sz="2400" dirty="0"/>
              <a:t>        return s;</a:t>
            </a:r>
          </a:p>
          <a:p>
            <a:pPr>
              <a:buFontTx/>
              <a:buNone/>
            </a:pPr>
            <a:r>
              <a:rPr lang="en-US" altLang="zh-CN" sz="2400" dirty="0"/>
              <a:t>      }</a:t>
            </a:r>
          </a:p>
          <a:p>
            <a:pPr>
              <a:buFontTx/>
              <a:buNone/>
            </a:pPr>
            <a:r>
              <a:rPr lang="en-US" altLang="zh-CN" sz="2400" dirty="0"/>
              <a:t>}</a:t>
            </a:r>
          </a:p>
          <a:p>
            <a:pPr>
              <a:buFontTx/>
              <a:buNone/>
            </a:pPr>
            <a:endParaRPr lang="en-US" altLang="zh-CN" sz="2400" dirty="0"/>
          </a:p>
        </p:txBody>
      </p:sp>
      <p:sp>
        <p:nvSpPr>
          <p:cNvPr id="192516" name="Rectangle 4"/>
          <p:cNvSpPr>
            <a:spLocks noChangeArrowheads="1"/>
          </p:cNvSpPr>
          <p:nvPr/>
        </p:nvSpPr>
        <p:spPr bwMode="auto">
          <a:xfrm>
            <a:off x="6312025" y="1196752"/>
            <a:ext cx="3825875" cy="417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altLang="zh-CN" b="0" dirty="0" err="1">
                <a:ea typeface="宋体" charset="-122"/>
              </a:rPr>
              <a:t>fac</a:t>
            </a:r>
            <a:r>
              <a:rPr lang="en-US" altLang="zh-CN" b="0" dirty="0">
                <a:ea typeface="宋体" charset="-122"/>
              </a:rPr>
              <a:t>(</a:t>
            </a:r>
            <a:r>
              <a:rPr lang="en-US" altLang="zh-CN" b="0" dirty="0" err="1">
                <a:ea typeface="宋体" charset="-122"/>
              </a:rPr>
              <a:t>int</a:t>
            </a:r>
            <a:r>
              <a:rPr lang="en-US" altLang="zh-CN" b="0" dirty="0">
                <a:ea typeface="宋体" charset="-122"/>
              </a:rPr>
              <a:t> n)</a:t>
            </a:r>
          </a:p>
          <a:p>
            <a:pPr marL="342900" indent="-342900">
              <a:spcBef>
                <a:spcPct val="20000"/>
              </a:spcBef>
            </a:pPr>
            <a:r>
              <a:rPr lang="en-US" altLang="zh-CN" b="0" dirty="0">
                <a:ea typeface="宋体" charset="-122"/>
              </a:rPr>
              <a:t>{  if(n==0)</a:t>
            </a:r>
          </a:p>
          <a:p>
            <a:pPr marL="342900" indent="-342900">
              <a:spcBef>
                <a:spcPct val="20000"/>
              </a:spcBef>
            </a:pPr>
            <a:r>
              <a:rPr lang="en-US" altLang="zh-CN" b="0" dirty="0">
                <a:ea typeface="宋体" charset="-122"/>
              </a:rPr>
              <a:t>        return 1;</a:t>
            </a:r>
          </a:p>
          <a:p>
            <a:pPr marL="342900" indent="-342900">
              <a:spcBef>
                <a:spcPct val="20000"/>
              </a:spcBef>
            </a:pPr>
            <a:r>
              <a:rPr lang="en-US" altLang="zh-CN" b="0" dirty="0">
                <a:ea typeface="宋体" charset="-122"/>
              </a:rPr>
              <a:t>    else</a:t>
            </a:r>
          </a:p>
          <a:p>
            <a:pPr marL="342900" indent="-342900">
              <a:spcBef>
                <a:spcPct val="20000"/>
              </a:spcBef>
            </a:pPr>
            <a:r>
              <a:rPr lang="en-US" altLang="zh-CN" b="0" dirty="0">
                <a:ea typeface="宋体" charset="-122"/>
              </a:rPr>
              <a:t>      {</a:t>
            </a:r>
            <a:r>
              <a:rPr lang="en-US" altLang="zh-CN" b="0" dirty="0" err="1">
                <a:ea typeface="宋体" charset="-122"/>
              </a:rPr>
              <a:t>printf</a:t>
            </a:r>
            <a:r>
              <a:rPr lang="en-US" altLang="zh-CN" b="0" dirty="0">
                <a:ea typeface="宋体" charset="-122"/>
              </a:rPr>
              <a:t>(“%</a:t>
            </a:r>
            <a:r>
              <a:rPr lang="en-US" altLang="zh-CN" b="0" dirty="0" err="1">
                <a:ea typeface="宋体" charset="-122"/>
              </a:rPr>
              <a:t>d”,n</a:t>
            </a:r>
            <a:r>
              <a:rPr lang="en-US" altLang="zh-CN" b="0" dirty="0">
                <a:ea typeface="宋体" charset="-122"/>
              </a:rPr>
              <a:t>);  </a:t>
            </a:r>
          </a:p>
          <a:p>
            <a:pPr marL="342900" indent="-342900">
              <a:spcBef>
                <a:spcPct val="20000"/>
              </a:spcBef>
            </a:pPr>
            <a:r>
              <a:rPr lang="en-US" altLang="zh-CN" b="0" dirty="0">
                <a:ea typeface="宋体" charset="-122"/>
              </a:rPr>
              <a:t>        s=n*</a:t>
            </a:r>
            <a:r>
              <a:rPr lang="en-US" altLang="zh-CN" b="0" dirty="0" err="1">
                <a:ea typeface="宋体" charset="-122"/>
              </a:rPr>
              <a:t>fac</a:t>
            </a:r>
            <a:r>
              <a:rPr lang="en-US" altLang="zh-CN" b="0" dirty="0">
                <a:ea typeface="宋体" charset="-122"/>
              </a:rPr>
              <a:t>(n-1);</a:t>
            </a:r>
          </a:p>
          <a:p>
            <a:pPr marL="342900" indent="-342900">
              <a:spcBef>
                <a:spcPct val="20000"/>
              </a:spcBef>
            </a:pPr>
            <a:r>
              <a:rPr lang="en-US" altLang="zh-CN" b="0" dirty="0">
                <a:ea typeface="宋体" charset="-122"/>
              </a:rPr>
              <a:t>        return s;</a:t>
            </a:r>
          </a:p>
          <a:p>
            <a:pPr marL="342900" indent="-342900">
              <a:spcBef>
                <a:spcPct val="20000"/>
              </a:spcBef>
            </a:pPr>
            <a:r>
              <a:rPr lang="en-US" altLang="zh-CN" b="0" dirty="0">
                <a:ea typeface="宋体" charset="-122"/>
              </a:rPr>
              <a:t>      }</a:t>
            </a:r>
          </a:p>
          <a:p>
            <a:pPr marL="342900" indent="-342900">
              <a:spcBef>
                <a:spcPct val="20000"/>
              </a:spcBef>
            </a:pPr>
            <a:r>
              <a:rPr lang="en-US" altLang="zh-CN" b="0" dirty="0">
                <a:ea typeface="宋体" charset="-122"/>
              </a:rPr>
              <a:t>}  </a:t>
            </a:r>
          </a:p>
        </p:txBody>
      </p:sp>
      <p:sp>
        <p:nvSpPr>
          <p:cNvPr id="192517" name="Rectangle 5"/>
          <p:cNvSpPr>
            <a:spLocks noChangeArrowheads="1"/>
          </p:cNvSpPr>
          <p:nvPr/>
        </p:nvSpPr>
        <p:spPr bwMode="auto">
          <a:xfrm>
            <a:off x="1992314" y="5373937"/>
            <a:ext cx="3527425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b="0" dirty="0"/>
              <a:t>当</a:t>
            </a:r>
            <a:r>
              <a:rPr lang="en-US" altLang="zh-CN" b="0" dirty="0"/>
              <a:t>n=4</a:t>
            </a:r>
            <a:r>
              <a:rPr lang="zh-CN" altLang="en-US" b="0" dirty="0"/>
              <a:t>时，输出结果为</a:t>
            </a:r>
          </a:p>
        </p:txBody>
      </p:sp>
      <p:sp>
        <p:nvSpPr>
          <p:cNvPr id="192518" name="Rectangle 6"/>
          <p:cNvSpPr>
            <a:spLocks noChangeArrowheads="1"/>
          </p:cNvSpPr>
          <p:nvPr/>
        </p:nvSpPr>
        <p:spPr bwMode="auto">
          <a:xfrm>
            <a:off x="6203950" y="5377112"/>
            <a:ext cx="3708400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b="0" dirty="0"/>
              <a:t>当</a:t>
            </a:r>
            <a:r>
              <a:rPr lang="en-US" altLang="zh-CN" b="0" dirty="0"/>
              <a:t>n=4</a:t>
            </a:r>
            <a:r>
              <a:rPr lang="zh-CN" altLang="en-US" b="0" dirty="0"/>
              <a:t>时，输出结果为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63553" y="620689"/>
            <a:ext cx="8034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思考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35561" y="5805265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0" dirty="0"/>
              <a:t>1</a:t>
            </a:r>
            <a:r>
              <a:rPr lang="zh-CN" altLang="en-US" b="0" dirty="0"/>
              <a:t>，</a:t>
            </a:r>
            <a:r>
              <a:rPr lang="en-US" altLang="zh-CN" b="0" dirty="0"/>
              <a:t>2</a:t>
            </a:r>
            <a:r>
              <a:rPr lang="zh-CN" altLang="en-US" b="0" dirty="0"/>
              <a:t>，</a:t>
            </a:r>
            <a:r>
              <a:rPr lang="en-US" altLang="zh-CN" b="0" dirty="0"/>
              <a:t>3</a:t>
            </a:r>
            <a:r>
              <a:rPr lang="zh-CN" altLang="en-US" b="0" dirty="0"/>
              <a:t>，</a:t>
            </a:r>
            <a:r>
              <a:rPr lang="en-US" altLang="zh-CN" b="0" dirty="0"/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12025" y="5805265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0" dirty="0"/>
              <a:t>4</a:t>
            </a:r>
            <a:r>
              <a:rPr lang="zh-CN" altLang="en-US" b="0" dirty="0"/>
              <a:t>，</a:t>
            </a:r>
            <a:r>
              <a:rPr lang="en-US" altLang="zh-CN" b="0" dirty="0"/>
              <a:t>3</a:t>
            </a:r>
            <a:r>
              <a:rPr lang="zh-CN" altLang="en-US" b="0" dirty="0"/>
              <a:t>，</a:t>
            </a:r>
            <a:r>
              <a:rPr lang="en-US" altLang="zh-CN" b="0" dirty="0"/>
              <a:t>2</a:t>
            </a:r>
            <a:r>
              <a:rPr lang="zh-CN" altLang="en-US" b="0" dirty="0"/>
              <a:t>，</a:t>
            </a:r>
            <a:r>
              <a:rPr lang="en-US" altLang="zh-CN" b="0" dirty="0"/>
              <a:t>1</a:t>
            </a:r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2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92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517" grpId="0"/>
      <p:bldP spid="192518" grpId="0"/>
      <p:bldP spid="7" grpId="0"/>
      <p:bldP spid="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自选图形 3"/>
          <p:cNvSpPr>
            <a:spLocks noChangeArrowheads="1"/>
          </p:cNvSpPr>
          <p:nvPr/>
        </p:nvSpPr>
        <p:spPr bwMode="ltGray">
          <a:xfrm rot="5400000">
            <a:off x="-898526" y="1367878"/>
            <a:ext cx="4824413" cy="4770438"/>
          </a:xfrm>
          <a:custGeom>
            <a:avLst/>
            <a:gdLst>
              <a:gd name="G0" fmla="+- 10478 0 0"/>
              <a:gd name="G1" fmla="+- -11739500 0 0"/>
              <a:gd name="G2" fmla="+- 0 0 -11739500"/>
              <a:gd name="T0" fmla="*/ 0 256 1"/>
              <a:gd name="T1" fmla="*/ 180 256 1"/>
              <a:gd name="G3" fmla="+- -11739500 T0 T1"/>
              <a:gd name="T2" fmla="*/ 0 256 1"/>
              <a:gd name="T3" fmla="*/ 90 256 1"/>
              <a:gd name="G4" fmla="+- -11739500 T2 T3"/>
              <a:gd name="G5" fmla="*/ G4 2 1"/>
              <a:gd name="T4" fmla="*/ 90 256 1"/>
              <a:gd name="T5" fmla="*/ 0 256 1"/>
              <a:gd name="G6" fmla="+- -11739500 T4 T5"/>
              <a:gd name="G7" fmla="*/ G6 2 1"/>
              <a:gd name="G8" fmla="abs -11739500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478"/>
              <a:gd name="G18" fmla="*/ 10478 1 2"/>
              <a:gd name="G19" fmla="+- G18 5400 0"/>
              <a:gd name="G20" fmla="cos G19 -11739500"/>
              <a:gd name="G21" fmla="sin G19 -11739500"/>
              <a:gd name="G22" fmla="+- G20 10800 0"/>
              <a:gd name="G23" fmla="+- G21 10800 0"/>
              <a:gd name="G24" fmla="+- 10800 0 G20"/>
              <a:gd name="G25" fmla="+- 10478 10800 0"/>
              <a:gd name="G26" fmla="?: G9 G17 G25"/>
              <a:gd name="G27" fmla="?: G9 0 21600"/>
              <a:gd name="G28" fmla="cos 10800 -11739500"/>
              <a:gd name="G29" fmla="sin 10800 -11739500"/>
              <a:gd name="G30" fmla="sin 10478 -11739500"/>
              <a:gd name="G31" fmla="+- G28 10800 0"/>
              <a:gd name="G32" fmla="+- G29 10800 0"/>
              <a:gd name="G33" fmla="+- G30 10800 0"/>
              <a:gd name="G34" fmla="?: G4 0 G31"/>
              <a:gd name="G35" fmla="?: -11739500 G34 0"/>
              <a:gd name="G36" fmla="?: G6 G35 G31"/>
              <a:gd name="G37" fmla="+- 21600 0 G36"/>
              <a:gd name="G38" fmla="?: G4 0 G33"/>
              <a:gd name="G39" fmla="?: -11739500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162 w 21600"/>
              <a:gd name="T15" fmla="*/ 10638 h 21600"/>
              <a:gd name="T16" fmla="*/ 10800 w 21600"/>
              <a:gd name="T17" fmla="*/ 322 h 21600"/>
              <a:gd name="T18" fmla="*/ 21438 w 21600"/>
              <a:gd name="T19" fmla="*/ 10638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 rotWithShape="1">
            <a:gsLst>
              <a:gs pos="0">
                <a:schemeClr val="bg2">
                  <a:gamma/>
                  <a:tint val="45490"/>
                  <a:invGamma/>
                </a:schemeClr>
              </a:gs>
              <a:gs pos="50000">
                <a:schemeClr val="bg2"/>
              </a:gs>
              <a:gs pos="100000">
                <a:schemeClr val="bg2">
                  <a:gamma/>
                  <a:tint val="45490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6200" dir="10800000" kx="-3284103" algn="b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+mn-ea"/>
            </a:endParaRPr>
          </a:p>
        </p:txBody>
      </p:sp>
      <p:sp>
        <p:nvSpPr>
          <p:cNvPr id="5" name="自选图形 4"/>
          <p:cNvSpPr>
            <a:spLocks noChangeArrowheads="1"/>
          </p:cNvSpPr>
          <p:nvPr/>
        </p:nvSpPr>
        <p:spPr bwMode="ltGray">
          <a:xfrm rot="5400000" flipH="1">
            <a:off x="-492918" y="1803647"/>
            <a:ext cx="4032250" cy="3929063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771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10744" y="10800"/>
                </a:lnTo>
                <a:close/>
              </a:path>
            </a:pathLst>
          </a:custGeom>
          <a:solidFill>
            <a:schemeClr val="accent1">
              <a:alpha val="36078"/>
            </a:schemeClr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自选图形 5"/>
          <p:cNvSpPr>
            <a:spLocks noChangeArrowheads="1"/>
          </p:cNvSpPr>
          <p:nvPr/>
        </p:nvSpPr>
        <p:spPr bwMode="gray">
          <a:xfrm>
            <a:off x="3346451" y="4992140"/>
            <a:ext cx="462121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dirty="0"/>
              <a:t>队列的表示和实现</a:t>
            </a:r>
          </a:p>
        </p:txBody>
      </p:sp>
      <p:sp>
        <p:nvSpPr>
          <p:cNvPr id="7" name="自选图形 6"/>
          <p:cNvSpPr>
            <a:spLocks noChangeArrowheads="1"/>
          </p:cNvSpPr>
          <p:nvPr/>
        </p:nvSpPr>
        <p:spPr bwMode="gray">
          <a:xfrm>
            <a:off x="3841750" y="4165053"/>
            <a:ext cx="4775200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dirty="0"/>
              <a:t>队列的定义及其</a:t>
            </a:r>
            <a:r>
              <a:rPr lang="en-US" altLang="zh-CN" dirty="0"/>
              <a:t>ADT</a:t>
            </a:r>
            <a:r>
              <a:rPr lang="zh-CN" altLang="en-US" dirty="0"/>
              <a:t>定义</a:t>
            </a:r>
          </a:p>
        </p:txBody>
      </p:sp>
      <p:sp>
        <p:nvSpPr>
          <p:cNvPr id="8" name="自选图形 7"/>
          <p:cNvSpPr>
            <a:spLocks noChangeArrowheads="1"/>
          </p:cNvSpPr>
          <p:nvPr/>
        </p:nvSpPr>
        <p:spPr bwMode="gray">
          <a:xfrm>
            <a:off x="3962400" y="3352253"/>
            <a:ext cx="4654550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dirty="0"/>
              <a:t>栈的应用、与递归的关系</a:t>
            </a:r>
          </a:p>
        </p:txBody>
      </p:sp>
      <p:sp>
        <p:nvSpPr>
          <p:cNvPr id="9" name="自选图形 8"/>
          <p:cNvSpPr>
            <a:spLocks noChangeArrowheads="1"/>
          </p:cNvSpPr>
          <p:nvPr/>
        </p:nvSpPr>
        <p:spPr bwMode="gray">
          <a:xfrm>
            <a:off x="3810000" y="2483890"/>
            <a:ext cx="4662488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dirty="0"/>
              <a:t>栈的表示和实现</a:t>
            </a:r>
          </a:p>
        </p:txBody>
      </p:sp>
      <p:sp>
        <p:nvSpPr>
          <p:cNvPr id="10" name="自选图形 9"/>
          <p:cNvSpPr>
            <a:spLocks noChangeArrowheads="1"/>
          </p:cNvSpPr>
          <p:nvPr/>
        </p:nvSpPr>
        <p:spPr bwMode="gray">
          <a:xfrm>
            <a:off x="3289301" y="1713953"/>
            <a:ext cx="467836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dirty="0"/>
              <a:t>栈的定义及其</a:t>
            </a:r>
            <a:r>
              <a:rPr lang="en-US" altLang="zh-CN" dirty="0"/>
              <a:t>ADT</a:t>
            </a:r>
            <a:r>
              <a:rPr lang="zh-CN" altLang="en-US" dirty="0"/>
              <a:t>定义</a:t>
            </a:r>
          </a:p>
        </p:txBody>
      </p:sp>
      <p:grpSp>
        <p:nvGrpSpPr>
          <p:cNvPr id="2" name="组合 10"/>
          <p:cNvGrpSpPr>
            <a:grpSpLocks/>
          </p:cNvGrpSpPr>
          <p:nvPr/>
        </p:nvGrpSpPr>
        <p:grpSpPr bwMode="auto">
          <a:xfrm>
            <a:off x="2971800" y="1668855"/>
            <a:ext cx="381000" cy="649233"/>
            <a:chOff x="2078" y="1112"/>
            <a:chExt cx="1615" cy="2752"/>
          </a:xfrm>
        </p:grpSpPr>
        <p:sp>
          <p:nvSpPr>
            <p:cNvPr id="12" name="椭圆 11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椭圆 12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椭圆 13"/>
            <p:cNvSpPr>
              <a:spLocks noChangeArrowheads="1"/>
            </p:cNvSpPr>
            <p:nvPr/>
          </p:nvSpPr>
          <p:spPr bwMode="gray">
            <a:xfrm>
              <a:off x="2253" y="1112"/>
              <a:ext cx="1101" cy="2752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15" name="椭圆 14"/>
            <p:cNvSpPr>
              <a:spLocks noChangeArrowheads="1"/>
            </p:cNvSpPr>
            <p:nvPr/>
          </p:nvSpPr>
          <p:spPr bwMode="gray">
            <a:xfrm>
              <a:off x="2254" y="1112"/>
              <a:ext cx="1101" cy="2752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" name="椭圆 15"/>
            <p:cNvSpPr>
              <a:spLocks noChangeArrowheads="1"/>
            </p:cNvSpPr>
            <p:nvPr/>
          </p:nvSpPr>
          <p:spPr bwMode="gray">
            <a:xfrm>
              <a:off x="2334" y="1112"/>
              <a:ext cx="1097" cy="2752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17" name="椭圆 16"/>
            <p:cNvSpPr>
              <a:spLocks noChangeArrowheads="1"/>
            </p:cNvSpPr>
            <p:nvPr/>
          </p:nvSpPr>
          <p:spPr bwMode="gray">
            <a:xfrm>
              <a:off x="2337" y="1112"/>
              <a:ext cx="1096" cy="2752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rgbClr val="7C63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" name="组合 17"/>
          <p:cNvGrpSpPr>
            <a:grpSpLocks/>
          </p:cNvGrpSpPr>
          <p:nvPr/>
        </p:nvGrpSpPr>
        <p:grpSpPr bwMode="auto">
          <a:xfrm>
            <a:off x="3505200" y="2456255"/>
            <a:ext cx="381000" cy="649233"/>
            <a:chOff x="2078" y="1112"/>
            <a:chExt cx="1615" cy="2752"/>
          </a:xfrm>
        </p:grpSpPr>
        <p:sp>
          <p:nvSpPr>
            <p:cNvPr id="19" name="椭圆 18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椭圆 19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椭圆 20"/>
            <p:cNvSpPr>
              <a:spLocks noChangeArrowheads="1"/>
            </p:cNvSpPr>
            <p:nvPr/>
          </p:nvSpPr>
          <p:spPr bwMode="gray">
            <a:xfrm>
              <a:off x="2253" y="1112"/>
              <a:ext cx="1101" cy="2752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22" name="椭圆 21"/>
            <p:cNvSpPr>
              <a:spLocks noChangeArrowheads="1"/>
            </p:cNvSpPr>
            <p:nvPr/>
          </p:nvSpPr>
          <p:spPr bwMode="gray">
            <a:xfrm>
              <a:off x="2254" y="1112"/>
              <a:ext cx="1101" cy="2752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3" name="椭圆 22"/>
            <p:cNvSpPr>
              <a:spLocks noChangeArrowheads="1"/>
            </p:cNvSpPr>
            <p:nvPr/>
          </p:nvSpPr>
          <p:spPr bwMode="gray">
            <a:xfrm>
              <a:off x="2334" y="1112"/>
              <a:ext cx="1097" cy="2752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24" name="椭圆 23"/>
            <p:cNvSpPr>
              <a:spLocks noChangeArrowheads="1"/>
            </p:cNvSpPr>
            <p:nvPr/>
          </p:nvSpPr>
          <p:spPr bwMode="gray">
            <a:xfrm>
              <a:off x="2337" y="1112"/>
              <a:ext cx="1096" cy="2752"/>
            </a:xfrm>
            <a:prstGeom prst="ellipse">
              <a:avLst/>
            </a:prstGeom>
            <a:gradFill rotWithShape="1">
              <a:gsLst>
                <a:gs pos="0">
                  <a:srgbClr val="48BE67"/>
                </a:gs>
                <a:gs pos="100000">
                  <a:srgbClr val="235C32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1" name="组合 24"/>
          <p:cNvGrpSpPr>
            <a:grpSpLocks/>
          </p:cNvGrpSpPr>
          <p:nvPr/>
        </p:nvGrpSpPr>
        <p:grpSpPr bwMode="auto">
          <a:xfrm>
            <a:off x="3657600" y="3294455"/>
            <a:ext cx="381000" cy="649233"/>
            <a:chOff x="2078" y="1112"/>
            <a:chExt cx="1615" cy="2752"/>
          </a:xfrm>
        </p:grpSpPr>
        <p:sp>
          <p:nvSpPr>
            <p:cNvPr id="26" name="椭圆 25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椭圆 26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椭圆 27"/>
            <p:cNvSpPr>
              <a:spLocks noChangeArrowheads="1"/>
            </p:cNvSpPr>
            <p:nvPr/>
          </p:nvSpPr>
          <p:spPr bwMode="gray">
            <a:xfrm>
              <a:off x="2253" y="1112"/>
              <a:ext cx="1101" cy="2752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29" name="椭圆 28"/>
            <p:cNvSpPr>
              <a:spLocks noChangeArrowheads="1"/>
            </p:cNvSpPr>
            <p:nvPr/>
          </p:nvSpPr>
          <p:spPr bwMode="gray">
            <a:xfrm>
              <a:off x="2254" y="1112"/>
              <a:ext cx="1101" cy="2752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0F5368"/>
                </a:gs>
              </a:gsLst>
              <a:lin ang="54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" name="椭圆 29"/>
            <p:cNvSpPr>
              <a:spLocks noChangeArrowheads="1"/>
            </p:cNvSpPr>
            <p:nvPr/>
          </p:nvSpPr>
          <p:spPr bwMode="gray">
            <a:xfrm>
              <a:off x="2334" y="1112"/>
              <a:ext cx="1097" cy="2752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31" name="椭圆 30"/>
            <p:cNvSpPr>
              <a:spLocks noChangeArrowheads="1"/>
            </p:cNvSpPr>
            <p:nvPr/>
          </p:nvSpPr>
          <p:spPr bwMode="gray">
            <a:xfrm>
              <a:off x="2337" y="1112"/>
              <a:ext cx="1096" cy="2752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10576D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8" name="组合 31"/>
          <p:cNvGrpSpPr>
            <a:grpSpLocks/>
          </p:cNvGrpSpPr>
          <p:nvPr/>
        </p:nvGrpSpPr>
        <p:grpSpPr bwMode="auto">
          <a:xfrm>
            <a:off x="3505200" y="4132655"/>
            <a:ext cx="381000" cy="649233"/>
            <a:chOff x="2078" y="1112"/>
            <a:chExt cx="1615" cy="2752"/>
          </a:xfrm>
        </p:grpSpPr>
        <p:sp>
          <p:nvSpPr>
            <p:cNvPr id="33" name="椭圆 32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椭圆 33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椭圆 34"/>
            <p:cNvSpPr>
              <a:spLocks noChangeArrowheads="1"/>
            </p:cNvSpPr>
            <p:nvPr/>
          </p:nvSpPr>
          <p:spPr bwMode="gray">
            <a:xfrm>
              <a:off x="2253" y="1112"/>
              <a:ext cx="1101" cy="2752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36" name="椭圆 35"/>
            <p:cNvSpPr>
              <a:spLocks noChangeArrowheads="1"/>
            </p:cNvSpPr>
            <p:nvPr/>
          </p:nvSpPr>
          <p:spPr bwMode="gray">
            <a:xfrm>
              <a:off x="2254" y="1112"/>
              <a:ext cx="1101" cy="2752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8D67E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7" name="椭圆 36"/>
            <p:cNvSpPr>
              <a:spLocks noChangeArrowheads="1"/>
            </p:cNvSpPr>
            <p:nvPr/>
          </p:nvSpPr>
          <p:spPr bwMode="gray">
            <a:xfrm>
              <a:off x="2334" y="1112"/>
              <a:ext cx="1097" cy="2752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38" name="椭圆 37"/>
            <p:cNvSpPr>
              <a:spLocks noChangeArrowheads="1"/>
            </p:cNvSpPr>
            <p:nvPr/>
          </p:nvSpPr>
          <p:spPr bwMode="gray">
            <a:xfrm>
              <a:off x="2337" y="1112"/>
              <a:ext cx="1096" cy="2752"/>
            </a:xfrm>
            <a:prstGeom prst="ellipse">
              <a:avLst/>
            </a:prstGeom>
            <a:gradFill rotWithShape="1">
              <a:gsLst>
                <a:gs pos="0">
                  <a:srgbClr val="8D67E1"/>
                </a:gs>
                <a:gs pos="100000">
                  <a:srgbClr val="45326D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5" name="组合 38"/>
          <p:cNvGrpSpPr>
            <a:grpSpLocks/>
          </p:cNvGrpSpPr>
          <p:nvPr/>
        </p:nvGrpSpPr>
        <p:grpSpPr bwMode="auto">
          <a:xfrm>
            <a:off x="3048000" y="4907355"/>
            <a:ext cx="355600" cy="649233"/>
            <a:chOff x="2078" y="1112"/>
            <a:chExt cx="1615" cy="2752"/>
          </a:xfrm>
        </p:grpSpPr>
        <p:sp>
          <p:nvSpPr>
            <p:cNvPr id="40" name="椭圆 39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" name="椭圆 40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" name="椭圆 41"/>
            <p:cNvSpPr>
              <a:spLocks noChangeArrowheads="1"/>
            </p:cNvSpPr>
            <p:nvPr/>
          </p:nvSpPr>
          <p:spPr bwMode="gray">
            <a:xfrm>
              <a:off x="2251" y="1112"/>
              <a:ext cx="1180" cy="2752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43" name="椭圆 42"/>
            <p:cNvSpPr>
              <a:spLocks noChangeArrowheads="1"/>
            </p:cNvSpPr>
            <p:nvPr/>
          </p:nvSpPr>
          <p:spPr bwMode="gray">
            <a:xfrm>
              <a:off x="2254" y="1112"/>
              <a:ext cx="1180" cy="2752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" name="椭圆 43"/>
            <p:cNvSpPr>
              <a:spLocks noChangeArrowheads="1"/>
            </p:cNvSpPr>
            <p:nvPr/>
          </p:nvSpPr>
          <p:spPr bwMode="gray">
            <a:xfrm>
              <a:off x="2338" y="1112"/>
              <a:ext cx="1096" cy="2752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45" name="椭圆 44"/>
            <p:cNvSpPr>
              <a:spLocks noChangeArrowheads="1"/>
            </p:cNvSpPr>
            <p:nvPr/>
          </p:nvSpPr>
          <p:spPr bwMode="gray">
            <a:xfrm>
              <a:off x="2337" y="1112"/>
              <a:ext cx="1096" cy="2752"/>
            </a:xfrm>
            <a:prstGeom prst="ellipse">
              <a:avLst/>
            </a:prstGeom>
            <a:gradFill rotWithShape="1">
              <a:gsLst>
                <a:gs pos="0">
                  <a:srgbClr val="E35E23"/>
                </a:gs>
                <a:gs pos="100000">
                  <a:srgbClr val="6E2E1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46" name="自选图形 45"/>
          <p:cNvSpPr>
            <a:spLocks noChangeArrowheads="1"/>
          </p:cNvSpPr>
          <p:nvPr/>
        </p:nvSpPr>
        <p:spPr bwMode="gray">
          <a:xfrm>
            <a:off x="8609018" y="4207837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" name="自选图形 46"/>
          <p:cNvSpPr>
            <a:spLocks noChangeArrowheads="1"/>
          </p:cNvSpPr>
          <p:nvPr/>
        </p:nvSpPr>
        <p:spPr bwMode="gray">
          <a:xfrm>
            <a:off x="9040818" y="4207837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" name="自选图形 47"/>
          <p:cNvSpPr>
            <a:spLocks noChangeArrowheads="1"/>
          </p:cNvSpPr>
          <p:nvPr/>
        </p:nvSpPr>
        <p:spPr bwMode="gray">
          <a:xfrm>
            <a:off x="9472618" y="4207837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70" name="Rectangle 62"/>
          <p:cNvSpPr>
            <a:spLocks noChangeArrowheads="1"/>
          </p:cNvSpPr>
          <p:nvPr/>
        </p:nvSpPr>
        <p:spPr bwMode="auto">
          <a:xfrm>
            <a:off x="8840788" y="1687612"/>
            <a:ext cx="609600" cy="3810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67" name="Rectangle 59"/>
          <p:cNvSpPr>
            <a:spLocks noChangeArrowheads="1"/>
          </p:cNvSpPr>
          <p:nvPr/>
        </p:nvSpPr>
        <p:spPr bwMode="auto">
          <a:xfrm>
            <a:off x="7011988" y="1687612"/>
            <a:ext cx="609600" cy="381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31" name="Rectangle 23"/>
          <p:cNvSpPr>
            <a:spLocks noChangeArrowheads="1"/>
          </p:cNvSpPr>
          <p:nvPr/>
        </p:nvSpPr>
        <p:spPr bwMode="auto">
          <a:xfrm>
            <a:off x="4770438" y="1611412"/>
            <a:ext cx="5213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zh-CN" altLang="en-US">
                <a:ea typeface="华文中宋" pitchFamily="2" charset="-122"/>
              </a:rPr>
              <a:t>限定在表的一端插入、另一端删除</a:t>
            </a:r>
            <a:r>
              <a:rPr lang="zh-CN" altLang="en-US">
                <a:ea typeface="华文中宋" pitchFamily="2" charset="-122"/>
              </a:rPr>
              <a:t>。  </a:t>
            </a:r>
          </a:p>
        </p:txBody>
      </p:sp>
      <p:sp>
        <p:nvSpPr>
          <p:cNvPr id="17433" name="Rectangle 25"/>
          <p:cNvSpPr>
            <a:spLocks noChangeArrowheads="1"/>
          </p:cNvSpPr>
          <p:nvPr/>
        </p:nvSpPr>
        <p:spPr bwMode="auto">
          <a:xfrm>
            <a:off x="2233613" y="836712"/>
            <a:ext cx="4603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dirty="0">
                <a:ea typeface="华文中宋" pitchFamily="2" charset="-122"/>
              </a:rPr>
              <a:t>3.4.1   </a:t>
            </a:r>
            <a:r>
              <a:rPr lang="zh-CN" altLang="en-US" dirty="0">
                <a:ea typeface="华文中宋" pitchFamily="2" charset="-122"/>
              </a:rPr>
              <a:t>抽象数据类型队列的定义   </a:t>
            </a:r>
          </a:p>
        </p:txBody>
      </p:sp>
      <p:sp>
        <p:nvSpPr>
          <p:cNvPr id="17434" name="Rectangle 26"/>
          <p:cNvSpPr>
            <a:spLocks noChangeArrowheads="1"/>
          </p:cNvSpPr>
          <p:nvPr/>
        </p:nvSpPr>
        <p:spPr bwMode="auto">
          <a:xfrm>
            <a:off x="2233613" y="1355825"/>
            <a:ext cx="23812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Tx/>
              <a:buBlip>
                <a:blip r:embed="rId3"/>
              </a:buBlip>
            </a:pPr>
            <a:r>
              <a:rPr lang="en-US" altLang="zh-CN">
                <a:ea typeface="华文中宋" pitchFamily="2" charset="-122"/>
              </a:rPr>
              <a:t>   </a:t>
            </a:r>
            <a:r>
              <a:rPr lang="zh-CN" altLang="en-US">
                <a:ea typeface="华文中宋" pitchFamily="2" charset="-122"/>
              </a:rPr>
              <a:t>队列的定义   </a:t>
            </a:r>
          </a:p>
        </p:txBody>
      </p:sp>
      <p:sp>
        <p:nvSpPr>
          <p:cNvPr id="17462" name="Rectangle 54"/>
          <p:cNvSpPr>
            <a:spLocks noChangeArrowheads="1"/>
          </p:cNvSpPr>
          <p:nvPr/>
        </p:nvSpPr>
        <p:spPr bwMode="auto">
          <a:xfrm>
            <a:off x="2519363" y="1916213"/>
            <a:ext cx="2185214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队列：</a:t>
            </a:r>
            <a:r>
              <a:rPr kumimoji="0" lang="zh-CN" altLang="en-US">
                <a:ea typeface="华文中宋" pitchFamily="2" charset="-122"/>
              </a:rPr>
              <a:t>线性表</a:t>
            </a:r>
            <a:r>
              <a:rPr lang="zh-CN" altLang="en-US">
                <a:ea typeface="华文中宋" pitchFamily="2" charset="-122"/>
              </a:rPr>
              <a:t>  </a:t>
            </a:r>
          </a:p>
          <a:p>
            <a:r>
              <a:rPr kumimoji="0" lang="en-US" altLang="zh-CN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(queue) </a:t>
            </a:r>
          </a:p>
        </p:txBody>
      </p:sp>
      <p:sp>
        <p:nvSpPr>
          <p:cNvPr id="17463" name="Rectangle 55"/>
          <p:cNvSpPr>
            <a:spLocks noChangeArrowheads="1"/>
          </p:cNvSpPr>
          <p:nvPr/>
        </p:nvSpPr>
        <p:spPr bwMode="auto">
          <a:xfrm>
            <a:off x="4754564" y="2297212"/>
            <a:ext cx="35528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zh-CN" altLang="en-US">
                <a:ea typeface="华文中宋" pitchFamily="2" charset="-122"/>
              </a:rPr>
              <a:t>先进先出 </a:t>
            </a:r>
            <a:r>
              <a:rPr kumimoji="0" lang="en-US" altLang="zh-CN">
                <a:ea typeface="华文中宋" pitchFamily="2" charset="-122"/>
              </a:rPr>
              <a:t>(FIFO</a:t>
            </a:r>
            <a:r>
              <a:rPr kumimoji="0" lang="zh-CN" altLang="en-US">
                <a:ea typeface="华文中宋" pitchFamily="2" charset="-122"/>
              </a:rPr>
              <a:t>结构</a:t>
            </a:r>
            <a:r>
              <a:rPr kumimoji="0" lang="en-US" altLang="zh-CN">
                <a:ea typeface="华文中宋" pitchFamily="2" charset="-122"/>
              </a:rPr>
              <a:t>)</a:t>
            </a:r>
            <a:r>
              <a:rPr lang="zh-CN" altLang="en-US">
                <a:ea typeface="华文中宋" pitchFamily="2" charset="-122"/>
              </a:rPr>
              <a:t>。   </a:t>
            </a:r>
          </a:p>
        </p:txBody>
      </p:sp>
      <p:sp>
        <p:nvSpPr>
          <p:cNvPr id="17464" name="AutoShape 56"/>
          <p:cNvSpPr>
            <a:spLocks/>
          </p:cNvSpPr>
          <p:nvPr/>
        </p:nvSpPr>
        <p:spPr bwMode="auto">
          <a:xfrm>
            <a:off x="4573588" y="1840012"/>
            <a:ext cx="152400" cy="685800"/>
          </a:xfrm>
          <a:prstGeom prst="leftBrace">
            <a:avLst>
              <a:gd name="adj1" fmla="val 375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68" name="Line 60"/>
          <p:cNvSpPr>
            <a:spLocks noChangeShapeType="1"/>
          </p:cNvSpPr>
          <p:nvPr/>
        </p:nvSpPr>
        <p:spPr bwMode="auto">
          <a:xfrm flipV="1">
            <a:off x="7278688" y="1306612"/>
            <a:ext cx="152400" cy="3810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469" name="Text Box 61"/>
          <p:cNvSpPr txBox="1">
            <a:spLocks noChangeArrowheads="1"/>
          </p:cNvSpPr>
          <p:nvPr/>
        </p:nvSpPr>
        <p:spPr bwMode="auto">
          <a:xfrm>
            <a:off x="7034214" y="849412"/>
            <a:ext cx="8921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中宋" pitchFamily="2" charset="-122"/>
                <a:ea typeface="华文中宋" pitchFamily="2" charset="-122"/>
              </a:rPr>
              <a:t>队尾 </a:t>
            </a:r>
          </a:p>
        </p:txBody>
      </p:sp>
      <p:sp>
        <p:nvSpPr>
          <p:cNvPr id="17471" name="Line 63"/>
          <p:cNvSpPr>
            <a:spLocks noChangeShapeType="1"/>
          </p:cNvSpPr>
          <p:nvPr/>
        </p:nvSpPr>
        <p:spPr bwMode="auto">
          <a:xfrm flipV="1">
            <a:off x="9145588" y="1306612"/>
            <a:ext cx="76200" cy="3810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7472" name="Text Box 64"/>
          <p:cNvSpPr txBox="1">
            <a:spLocks noChangeArrowheads="1"/>
          </p:cNvSpPr>
          <p:nvPr/>
        </p:nvSpPr>
        <p:spPr bwMode="auto">
          <a:xfrm>
            <a:off x="8786814" y="849412"/>
            <a:ext cx="8921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队头 </a:t>
            </a:r>
          </a:p>
        </p:txBody>
      </p:sp>
      <p:grpSp>
        <p:nvGrpSpPr>
          <p:cNvPr id="17496" name="Group 88"/>
          <p:cNvGrpSpPr>
            <a:grpSpLocks/>
          </p:cNvGrpSpPr>
          <p:nvPr/>
        </p:nvGrpSpPr>
        <p:grpSpPr bwMode="auto">
          <a:xfrm>
            <a:off x="2495601" y="2830612"/>
            <a:ext cx="6873875" cy="2647950"/>
            <a:chOff x="528" y="1920"/>
            <a:chExt cx="4330" cy="1668"/>
          </a:xfrm>
        </p:grpSpPr>
        <p:sp>
          <p:nvSpPr>
            <p:cNvPr id="17484" name="Rectangle 76"/>
            <p:cNvSpPr>
              <a:spLocks noChangeArrowheads="1"/>
            </p:cNvSpPr>
            <p:nvPr/>
          </p:nvSpPr>
          <p:spPr bwMode="auto">
            <a:xfrm>
              <a:off x="528" y="1920"/>
              <a:ext cx="3648" cy="8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</a:pPr>
              <a:r>
                <a:rPr kumimoji="0" lang="zh-CN" altLang="en-US" dirty="0">
                  <a:ea typeface="华文中宋" pitchFamily="2" charset="-122"/>
                </a:rPr>
                <a:t>下图是队列的示意图：</a:t>
              </a:r>
              <a:r>
                <a:rPr kumimoji="0" lang="zh-CN" altLang="en-US" sz="2800" dirty="0">
                  <a:ea typeface="华文中宋" pitchFamily="2" charset="-122"/>
                </a:rPr>
                <a:t>　　　　　</a:t>
              </a:r>
            </a:p>
            <a:p>
              <a:pPr>
                <a:lnSpc>
                  <a:spcPct val="170000"/>
                </a:lnSpc>
                <a:spcBef>
                  <a:spcPct val="5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</a:pPr>
              <a:r>
                <a:rPr kumimoji="0" lang="zh-CN" altLang="en-US" sz="2800" dirty="0">
                  <a:ea typeface="华文中宋" pitchFamily="2" charset="-122"/>
                </a:rPr>
                <a:t>　　　　　   </a:t>
              </a:r>
              <a:r>
                <a:rPr kumimoji="0" lang="en-US" altLang="zh-CN" sz="2800" i="1" dirty="0">
                  <a:ea typeface="华文中宋" pitchFamily="2" charset="-122"/>
                </a:rPr>
                <a:t>a</a:t>
              </a:r>
              <a:r>
                <a:rPr kumimoji="0" lang="en-US" altLang="zh-CN" sz="2800" baseline="-20000" dirty="0">
                  <a:ea typeface="华文中宋" pitchFamily="2" charset="-122"/>
                </a:rPr>
                <a:t>1</a:t>
              </a:r>
              <a:r>
                <a:rPr kumimoji="0" lang="zh-CN" altLang="en-US" sz="2800" dirty="0">
                  <a:ea typeface="华文中宋" pitchFamily="2" charset="-122"/>
                </a:rPr>
                <a:t>　</a:t>
              </a:r>
              <a:r>
                <a:rPr kumimoji="0" lang="en-US" altLang="zh-CN" sz="2800" i="1" dirty="0">
                  <a:ea typeface="华文中宋" pitchFamily="2" charset="-122"/>
                </a:rPr>
                <a:t>a</a:t>
              </a:r>
              <a:r>
                <a:rPr kumimoji="0" lang="en-US" altLang="zh-CN" sz="2800" baseline="-20000" dirty="0">
                  <a:ea typeface="华文中宋" pitchFamily="2" charset="-122"/>
                </a:rPr>
                <a:t>2</a:t>
              </a:r>
              <a:r>
                <a:rPr kumimoji="0" lang="zh-CN" altLang="en-US" sz="2800" baseline="-20000" dirty="0">
                  <a:ea typeface="华文中宋" pitchFamily="2" charset="-122"/>
                </a:rPr>
                <a:t>　</a:t>
              </a:r>
              <a:r>
                <a:rPr kumimoji="0" lang="en-US" altLang="zh-CN" sz="2800" dirty="0">
                  <a:ea typeface="华文中宋" pitchFamily="2" charset="-122"/>
                </a:rPr>
                <a:t>…</a:t>
              </a:r>
              <a:r>
                <a:rPr kumimoji="0" lang="zh-CN" altLang="en-US" sz="2800" dirty="0">
                  <a:ea typeface="华文中宋" pitchFamily="2" charset="-122"/>
                </a:rPr>
                <a:t>　</a:t>
              </a:r>
              <a:r>
                <a:rPr kumimoji="0" lang="en-US" altLang="zh-CN" sz="2800" i="1" dirty="0">
                  <a:ea typeface="华文中宋" pitchFamily="2" charset="-122"/>
                </a:rPr>
                <a:t>a</a:t>
              </a:r>
              <a:r>
                <a:rPr kumimoji="0" lang="en-US" altLang="zh-CN" sz="2800" i="1" baseline="-20000" dirty="0">
                  <a:ea typeface="华文中宋" pitchFamily="2" charset="-122"/>
                </a:rPr>
                <a:t>n </a:t>
              </a:r>
              <a:endParaRPr kumimoji="0" lang="en-US" altLang="zh-CN" sz="2800" i="1" dirty="0">
                <a:ea typeface="华文中宋" pitchFamily="2" charset="-122"/>
              </a:endParaRPr>
            </a:p>
          </p:txBody>
        </p:sp>
        <p:sp>
          <p:nvSpPr>
            <p:cNvPr id="17485" name="Line 77"/>
            <p:cNvSpPr>
              <a:spLocks noChangeShapeType="1"/>
            </p:cNvSpPr>
            <p:nvPr/>
          </p:nvSpPr>
          <p:spPr bwMode="auto">
            <a:xfrm>
              <a:off x="1690" y="2436"/>
              <a:ext cx="18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86" name="Line 78"/>
            <p:cNvSpPr>
              <a:spLocks noChangeShapeType="1"/>
            </p:cNvSpPr>
            <p:nvPr/>
          </p:nvSpPr>
          <p:spPr bwMode="auto">
            <a:xfrm>
              <a:off x="1738" y="2964"/>
              <a:ext cx="18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87" name="Line 79"/>
            <p:cNvSpPr>
              <a:spLocks noChangeShapeType="1"/>
            </p:cNvSpPr>
            <p:nvPr/>
          </p:nvSpPr>
          <p:spPr bwMode="auto">
            <a:xfrm flipH="1">
              <a:off x="1210" y="2676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88" name="Line 80"/>
            <p:cNvSpPr>
              <a:spLocks noChangeShapeType="1"/>
            </p:cNvSpPr>
            <p:nvPr/>
          </p:nvSpPr>
          <p:spPr bwMode="auto">
            <a:xfrm flipH="1">
              <a:off x="3610" y="2676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89" name="Line 81"/>
            <p:cNvSpPr>
              <a:spLocks noChangeShapeType="1"/>
            </p:cNvSpPr>
            <p:nvPr/>
          </p:nvSpPr>
          <p:spPr bwMode="auto">
            <a:xfrm flipV="1">
              <a:off x="1930" y="301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90" name="Line 82"/>
            <p:cNvSpPr>
              <a:spLocks noChangeShapeType="1"/>
            </p:cNvSpPr>
            <p:nvPr/>
          </p:nvSpPr>
          <p:spPr bwMode="auto">
            <a:xfrm flipV="1">
              <a:off x="3178" y="301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91" name="Text Box 83"/>
            <p:cNvSpPr txBox="1">
              <a:spLocks noChangeArrowheads="1"/>
            </p:cNvSpPr>
            <p:nvPr/>
          </p:nvSpPr>
          <p:spPr bwMode="auto">
            <a:xfrm>
              <a:off x="710" y="2522"/>
              <a:ext cx="63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lang="zh-CN" altLang="en-US">
                  <a:ea typeface="华文中宋" pitchFamily="2" charset="-122"/>
                </a:rPr>
                <a:t>出队 </a:t>
              </a:r>
            </a:p>
          </p:txBody>
        </p:sp>
        <p:sp>
          <p:nvSpPr>
            <p:cNvPr id="17492" name="Text Box 84"/>
            <p:cNvSpPr txBox="1">
              <a:spLocks noChangeArrowheads="1"/>
            </p:cNvSpPr>
            <p:nvPr/>
          </p:nvSpPr>
          <p:spPr bwMode="auto">
            <a:xfrm>
              <a:off x="4128" y="2522"/>
              <a:ext cx="73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lang="zh-CN" altLang="en-US">
                  <a:ea typeface="华文中宋" pitchFamily="2" charset="-122"/>
                </a:rPr>
                <a:t>入队 </a:t>
              </a:r>
            </a:p>
          </p:txBody>
        </p:sp>
        <p:sp>
          <p:nvSpPr>
            <p:cNvPr id="17493" name="Text Box 85"/>
            <p:cNvSpPr txBox="1">
              <a:spLocks noChangeArrowheads="1"/>
            </p:cNvSpPr>
            <p:nvPr/>
          </p:nvSpPr>
          <p:spPr bwMode="auto">
            <a:xfrm>
              <a:off x="1680" y="3300"/>
              <a:ext cx="67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lang="zh-CN" altLang="en-US">
                  <a:ea typeface="华文中宋" pitchFamily="2" charset="-122"/>
                </a:rPr>
                <a:t>队头 </a:t>
              </a:r>
            </a:p>
          </p:txBody>
        </p:sp>
        <p:sp>
          <p:nvSpPr>
            <p:cNvPr id="17494" name="Text Box 86"/>
            <p:cNvSpPr txBox="1">
              <a:spLocks noChangeArrowheads="1"/>
            </p:cNvSpPr>
            <p:nvPr/>
          </p:nvSpPr>
          <p:spPr bwMode="auto">
            <a:xfrm>
              <a:off x="2928" y="3300"/>
              <a:ext cx="67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lang="zh-CN" altLang="en-US">
                  <a:ea typeface="华文中宋" pitchFamily="2" charset="-122"/>
                </a:rPr>
                <a:t>队尾 </a:t>
              </a:r>
            </a:p>
          </p:txBody>
        </p:sp>
      </p:grpSp>
      <p:sp>
        <p:nvSpPr>
          <p:cNvPr id="17495" name="Text Box 87"/>
          <p:cNvSpPr txBox="1">
            <a:spLocks noChangeArrowheads="1"/>
          </p:cNvSpPr>
          <p:nvPr/>
        </p:nvSpPr>
        <p:spPr bwMode="auto">
          <a:xfrm>
            <a:off x="2560639" y="5643662"/>
            <a:ext cx="48545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zh-CN" altLang="en-US">
                <a:latin typeface="华文中宋" pitchFamily="2" charset="-122"/>
                <a:ea typeface="华文中宋" pitchFamily="2" charset="-122"/>
              </a:rPr>
              <a:t>当队列中没有元素时称为</a:t>
            </a:r>
            <a:r>
              <a:rPr kumimoji="0" lang="zh-CN" altLang="en-US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空队列</a:t>
            </a:r>
            <a:r>
              <a:rPr kumimoji="0" lang="zh-CN" altLang="en-US">
                <a:latin typeface="华文中宋" pitchFamily="2" charset="-122"/>
                <a:ea typeface="华文中宋" pitchFamily="2" charset="-122"/>
              </a:rPr>
              <a:t>。 </a:t>
            </a:r>
          </a:p>
        </p:txBody>
      </p:sp>
    </p:spTree>
  </p:cSld>
  <p:clrMapOvr>
    <a:masterClrMapping/>
  </p:clrMapOvr>
  <p:transition spd="slow"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1" dur="500"/>
                                        <p:tgtEl>
                                          <p:spTgt spid="17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7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0" dur="500"/>
                                        <p:tgtEl>
                                          <p:spTgt spid="17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7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74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74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4" dur="500"/>
                                        <p:tgtEl>
                                          <p:spTgt spid="17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7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74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4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7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74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74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74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74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7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70" grpId="0" animBg="1"/>
      <p:bldP spid="17467" grpId="0" animBg="1"/>
      <p:bldP spid="17431" grpId="0" autoUpdateAnimBg="0"/>
      <p:bldP spid="17462" grpId="0" autoUpdateAnimBg="0"/>
      <p:bldP spid="17463" grpId="0" autoUpdateAnimBg="0"/>
      <p:bldP spid="17464" grpId="0" animBg="1"/>
      <p:bldP spid="17468" grpId="0" animBg="1"/>
      <p:bldP spid="17469" grpId="0" autoUpdateAnimBg="0"/>
      <p:bldP spid="17471" grpId="0" animBg="1"/>
      <p:bldP spid="17472" grpId="0" autoUpdateAnimBg="0"/>
      <p:bldP spid="17495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59" name="Rectangle 27"/>
          <p:cNvSpPr>
            <a:spLocks noChangeArrowheads="1"/>
          </p:cNvSpPr>
          <p:nvPr/>
        </p:nvSpPr>
        <p:spPr bwMode="auto">
          <a:xfrm>
            <a:off x="2266950" y="576263"/>
            <a:ext cx="46672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Tx/>
              <a:buBlip>
                <a:blip r:embed="rId3"/>
              </a:buBlip>
            </a:pPr>
            <a:r>
              <a:rPr lang="en-US" altLang="zh-CN">
                <a:ea typeface="华文中宋" pitchFamily="2" charset="-122"/>
              </a:rPr>
              <a:t>   </a:t>
            </a:r>
            <a:r>
              <a:rPr lang="zh-CN" altLang="en-US">
                <a:ea typeface="华文中宋" pitchFamily="2" charset="-122"/>
              </a:rPr>
              <a:t>队列的抽象数据类型的定义     </a:t>
            </a:r>
          </a:p>
        </p:txBody>
      </p:sp>
      <p:sp>
        <p:nvSpPr>
          <p:cNvPr id="18460" name="Text Box 28"/>
          <p:cNvSpPr txBox="1">
            <a:spLocks noChangeArrowheads="1"/>
          </p:cNvSpPr>
          <p:nvPr/>
        </p:nvSpPr>
        <p:spPr bwMode="auto">
          <a:xfrm>
            <a:off x="2266951" y="1033464"/>
            <a:ext cx="7662863" cy="520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>
                <a:ea typeface="华文中宋" pitchFamily="2" charset="-122"/>
              </a:rPr>
              <a:t>ADT Queue { </a:t>
            </a:r>
          </a:p>
          <a:p>
            <a:pPr>
              <a:lnSpc>
                <a:spcPct val="140000"/>
              </a:lnSpc>
            </a:pPr>
            <a:r>
              <a:rPr lang="en-US" altLang="zh-CN">
                <a:ea typeface="华文中宋" pitchFamily="2" charset="-122"/>
              </a:rPr>
              <a:t>   </a:t>
            </a:r>
            <a:r>
              <a:rPr lang="zh-CN" altLang="en-US">
                <a:ea typeface="华文中宋" pitchFamily="2" charset="-122"/>
              </a:rPr>
              <a:t>数据对象：</a:t>
            </a:r>
            <a:r>
              <a:rPr lang="en-US" altLang="zh-CN">
                <a:ea typeface="华文中宋" pitchFamily="2" charset="-122"/>
              </a:rPr>
              <a:t>D</a:t>
            </a:r>
            <a:r>
              <a:rPr lang="zh-CN" altLang="en-US">
                <a:ea typeface="华文中宋" pitchFamily="2" charset="-122"/>
              </a:rPr>
              <a:t>＝</a:t>
            </a:r>
            <a:r>
              <a:rPr lang="en-US" altLang="zh-CN">
                <a:ea typeface="华文中宋" pitchFamily="2" charset="-122"/>
              </a:rPr>
              <a:t>{</a:t>
            </a:r>
            <a:r>
              <a:rPr lang="en-US" altLang="zh-CN" i="1">
                <a:ea typeface="华文中宋" pitchFamily="2" charset="-122"/>
              </a:rPr>
              <a:t>a</a:t>
            </a:r>
            <a:r>
              <a:rPr lang="en-US" altLang="zh-CN" i="1" baseline="-25000">
                <a:ea typeface="华文中宋" pitchFamily="2" charset="-122"/>
              </a:rPr>
              <a:t>i</a:t>
            </a:r>
            <a:r>
              <a:rPr lang="en-US" altLang="zh-CN" baseline="-25000">
                <a:ea typeface="华文中宋" pitchFamily="2" charset="-122"/>
              </a:rPr>
              <a:t> </a:t>
            </a:r>
            <a:r>
              <a:rPr lang="en-US" altLang="zh-CN">
                <a:ea typeface="华文中宋" pitchFamily="2" charset="-122"/>
              </a:rPr>
              <a:t>| </a:t>
            </a:r>
            <a:r>
              <a:rPr lang="en-US" altLang="zh-CN" i="1">
                <a:ea typeface="华文中宋" pitchFamily="2" charset="-122"/>
              </a:rPr>
              <a:t>a</a:t>
            </a:r>
            <a:r>
              <a:rPr lang="en-US" altLang="zh-CN" i="1" baseline="-25000">
                <a:ea typeface="华文中宋" pitchFamily="2" charset="-122"/>
              </a:rPr>
              <a:t>i</a:t>
            </a:r>
            <a:r>
              <a:rPr lang="en-US" altLang="zh-CN">
                <a:ea typeface="华文中宋" pitchFamily="2" charset="-122"/>
              </a:rPr>
              <a:t>∈ElemSet, </a:t>
            </a:r>
            <a:r>
              <a:rPr lang="en-US" altLang="zh-CN" i="1">
                <a:ea typeface="华文中宋" pitchFamily="2" charset="-122"/>
              </a:rPr>
              <a:t>i </a:t>
            </a:r>
            <a:r>
              <a:rPr lang="en-US" altLang="zh-CN">
                <a:ea typeface="华文中宋" pitchFamily="2" charset="-122"/>
              </a:rPr>
              <a:t>=1, 2, ..., </a:t>
            </a:r>
            <a:r>
              <a:rPr lang="en-US" altLang="zh-CN" i="1">
                <a:ea typeface="华文中宋" pitchFamily="2" charset="-122"/>
              </a:rPr>
              <a:t>n</a:t>
            </a:r>
            <a:r>
              <a:rPr lang="en-US" altLang="zh-CN">
                <a:ea typeface="华文中宋" pitchFamily="2" charset="-122"/>
              </a:rPr>
              <a:t>, </a:t>
            </a:r>
            <a:r>
              <a:rPr lang="en-US" altLang="zh-CN" i="1">
                <a:ea typeface="华文中宋" pitchFamily="2" charset="-122"/>
              </a:rPr>
              <a:t>n</a:t>
            </a:r>
            <a:r>
              <a:rPr lang="en-US" altLang="zh-CN">
                <a:ea typeface="华文中宋" pitchFamily="2" charset="-122"/>
              </a:rPr>
              <a:t>≥0} </a:t>
            </a:r>
          </a:p>
          <a:p>
            <a:pPr>
              <a:lnSpc>
                <a:spcPct val="140000"/>
              </a:lnSpc>
            </a:pPr>
            <a:r>
              <a:rPr lang="en-US" altLang="zh-CN">
                <a:ea typeface="华文中宋" pitchFamily="2" charset="-122"/>
              </a:rPr>
              <a:t>   </a:t>
            </a:r>
            <a:r>
              <a:rPr lang="zh-CN" altLang="en-US">
                <a:ea typeface="华文中宋" pitchFamily="2" charset="-122"/>
              </a:rPr>
              <a:t>数据关系：</a:t>
            </a:r>
            <a:r>
              <a:rPr lang="en-US" altLang="zh-CN">
                <a:ea typeface="华文中宋" pitchFamily="2" charset="-122"/>
              </a:rPr>
              <a:t>R1</a:t>
            </a:r>
            <a:r>
              <a:rPr lang="zh-CN" altLang="en-US">
                <a:ea typeface="华文中宋" pitchFamily="2" charset="-122"/>
              </a:rPr>
              <a:t>＝</a:t>
            </a:r>
            <a:r>
              <a:rPr lang="en-US" altLang="zh-CN">
                <a:ea typeface="华文中宋" pitchFamily="2" charset="-122"/>
              </a:rPr>
              <a:t>{ &lt;</a:t>
            </a:r>
            <a:r>
              <a:rPr lang="en-US" altLang="zh-CN" i="1">
                <a:ea typeface="华文中宋" pitchFamily="2" charset="-122"/>
              </a:rPr>
              <a:t>a</a:t>
            </a:r>
            <a:r>
              <a:rPr lang="en-US" altLang="zh-CN" i="1" baseline="-25000">
                <a:ea typeface="华文中宋" pitchFamily="2" charset="-122"/>
              </a:rPr>
              <a:t>i </a:t>
            </a:r>
            <a:r>
              <a:rPr lang="en-US" altLang="zh-CN" baseline="-25000">
                <a:ea typeface="华文中宋" pitchFamily="2" charset="-122"/>
              </a:rPr>
              <a:t>-1</a:t>
            </a:r>
            <a:r>
              <a:rPr lang="en-US" altLang="zh-CN">
                <a:ea typeface="华文中宋" pitchFamily="2" charset="-122"/>
              </a:rPr>
              <a:t>,</a:t>
            </a:r>
            <a:r>
              <a:rPr lang="en-US" altLang="zh-CN" i="1">
                <a:ea typeface="华文中宋" pitchFamily="2" charset="-122"/>
              </a:rPr>
              <a:t>a</a:t>
            </a:r>
            <a:r>
              <a:rPr lang="en-US" altLang="zh-CN" i="1" baseline="-25000">
                <a:ea typeface="华文中宋" pitchFamily="2" charset="-122"/>
              </a:rPr>
              <a:t>i</a:t>
            </a:r>
            <a:r>
              <a:rPr lang="en-US" altLang="zh-CN" i="1">
                <a:ea typeface="华文中宋" pitchFamily="2" charset="-122"/>
              </a:rPr>
              <a:t> </a:t>
            </a:r>
            <a:r>
              <a:rPr lang="en-US" altLang="zh-CN">
                <a:ea typeface="华文中宋" pitchFamily="2" charset="-122"/>
              </a:rPr>
              <a:t>&gt; | </a:t>
            </a:r>
            <a:r>
              <a:rPr lang="en-US" altLang="zh-CN" i="1">
                <a:ea typeface="华文中宋" pitchFamily="2" charset="-122"/>
              </a:rPr>
              <a:t>a</a:t>
            </a:r>
            <a:r>
              <a:rPr lang="en-US" altLang="zh-CN" i="1" baseline="-25000">
                <a:ea typeface="华文中宋" pitchFamily="2" charset="-122"/>
              </a:rPr>
              <a:t>i</a:t>
            </a:r>
            <a:r>
              <a:rPr lang="en-US" altLang="zh-CN" baseline="-25000">
                <a:ea typeface="华文中宋" pitchFamily="2" charset="-122"/>
              </a:rPr>
              <a:t> -1</a:t>
            </a:r>
            <a:r>
              <a:rPr lang="en-US" altLang="zh-CN">
                <a:ea typeface="华文中宋" pitchFamily="2" charset="-122"/>
              </a:rPr>
              <a:t>, </a:t>
            </a:r>
            <a:r>
              <a:rPr lang="en-US" altLang="zh-CN" i="1">
                <a:ea typeface="华文中宋" pitchFamily="2" charset="-122"/>
              </a:rPr>
              <a:t>a</a:t>
            </a:r>
            <a:r>
              <a:rPr lang="en-US" altLang="zh-CN" i="1" baseline="-25000">
                <a:ea typeface="华文中宋" pitchFamily="2" charset="-122"/>
              </a:rPr>
              <a:t>i</a:t>
            </a:r>
            <a:r>
              <a:rPr lang="en-US" altLang="zh-CN">
                <a:ea typeface="华文中宋" pitchFamily="2" charset="-122"/>
              </a:rPr>
              <a:t> ∈D, </a:t>
            </a:r>
            <a:r>
              <a:rPr lang="en-US" altLang="zh-CN" i="1">
                <a:ea typeface="华文中宋" pitchFamily="2" charset="-122"/>
              </a:rPr>
              <a:t>i</a:t>
            </a:r>
            <a:r>
              <a:rPr lang="en-US" altLang="zh-CN">
                <a:ea typeface="华文中宋" pitchFamily="2" charset="-122"/>
              </a:rPr>
              <a:t> =2, ..., </a:t>
            </a:r>
            <a:r>
              <a:rPr lang="en-US" altLang="zh-CN" i="1">
                <a:ea typeface="华文中宋" pitchFamily="2" charset="-122"/>
              </a:rPr>
              <a:t>n</a:t>
            </a:r>
            <a:r>
              <a:rPr lang="en-US" altLang="zh-CN">
                <a:ea typeface="华文中宋" pitchFamily="2" charset="-122"/>
              </a:rPr>
              <a:t>} </a:t>
            </a:r>
          </a:p>
          <a:p>
            <a:pPr>
              <a:lnSpc>
                <a:spcPct val="140000"/>
              </a:lnSpc>
            </a:pPr>
            <a:r>
              <a:rPr lang="en-US" altLang="zh-CN">
                <a:ea typeface="华文中宋" pitchFamily="2" charset="-122"/>
              </a:rPr>
              <a:t>                       </a:t>
            </a:r>
            <a:r>
              <a:rPr lang="zh-CN" altLang="en-US"/>
              <a:t>约定其中 </a:t>
            </a:r>
            <a:r>
              <a:rPr lang="en-US" altLang="zh-CN" i="1"/>
              <a:t>a</a:t>
            </a:r>
            <a:r>
              <a:rPr lang="en-US" altLang="zh-CN" baseline="-25000"/>
              <a:t>1</a:t>
            </a:r>
            <a:r>
              <a:rPr lang="en-US" altLang="zh-CN"/>
              <a:t> </a:t>
            </a:r>
            <a:r>
              <a:rPr lang="zh-CN" altLang="en-US"/>
              <a:t>端为队列头，</a:t>
            </a:r>
            <a:r>
              <a:rPr lang="en-US" altLang="zh-CN" i="1"/>
              <a:t>a</a:t>
            </a:r>
            <a:r>
              <a:rPr lang="en-US" altLang="zh-CN" i="1" baseline="-25000"/>
              <a:t>n</a:t>
            </a:r>
            <a:r>
              <a:rPr lang="en-US" altLang="zh-CN"/>
              <a:t> </a:t>
            </a:r>
            <a:r>
              <a:rPr lang="zh-CN" altLang="en-US"/>
              <a:t>端为队列尾。 </a:t>
            </a:r>
          </a:p>
          <a:p>
            <a:pPr>
              <a:lnSpc>
                <a:spcPct val="140000"/>
              </a:lnSpc>
            </a:pPr>
            <a:r>
              <a:rPr lang="zh-CN" altLang="en-US">
                <a:ea typeface="华文中宋" pitchFamily="2" charset="-122"/>
              </a:rPr>
              <a:t>   基本操作： </a:t>
            </a:r>
          </a:p>
          <a:p>
            <a:pPr>
              <a:lnSpc>
                <a:spcPct val="140000"/>
              </a:lnSpc>
            </a:pPr>
            <a:r>
              <a:rPr lang="zh-CN" altLang="en-US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   </a:t>
            </a:r>
            <a:r>
              <a:rPr lang="en-US" altLang="zh-CN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InitQueue(&amp;Q) </a:t>
            </a:r>
          </a:p>
          <a:p>
            <a:pPr>
              <a:lnSpc>
                <a:spcPct val="140000"/>
              </a:lnSpc>
            </a:pPr>
            <a:r>
              <a:rPr lang="en-US" altLang="zh-CN">
                <a:solidFill>
                  <a:srgbClr val="0000FF"/>
                </a:solidFill>
                <a:ea typeface="华文中宋" pitchFamily="2" charset="-122"/>
              </a:rPr>
              <a:t>      </a:t>
            </a:r>
            <a:r>
              <a:rPr lang="zh-CN" altLang="en-US">
                <a:solidFill>
                  <a:srgbClr val="0000FF"/>
                </a:solidFill>
                <a:ea typeface="华文中宋" pitchFamily="2" charset="-122"/>
              </a:rPr>
              <a:t>操作结果：</a:t>
            </a:r>
            <a:r>
              <a:rPr lang="zh-CN" altLang="en-US"/>
              <a:t>构造一个空队列 </a:t>
            </a:r>
            <a:r>
              <a:rPr lang="en-US" altLang="zh-CN"/>
              <a:t>Q</a:t>
            </a:r>
            <a:r>
              <a:rPr lang="zh-CN" altLang="en-US"/>
              <a:t>。 </a:t>
            </a:r>
          </a:p>
          <a:p>
            <a:pPr>
              <a:lnSpc>
                <a:spcPct val="140000"/>
              </a:lnSpc>
            </a:pPr>
            <a:r>
              <a:rPr lang="zh-CN" altLang="en-US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   </a:t>
            </a:r>
            <a:r>
              <a:rPr lang="en-US" altLang="zh-CN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DestroyQueue(&amp;Q) </a:t>
            </a:r>
          </a:p>
          <a:p>
            <a:pPr>
              <a:lnSpc>
                <a:spcPct val="140000"/>
              </a:lnSpc>
            </a:pPr>
            <a:r>
              <a:rPr lang="en-US" altLang="zh-CN">
                <a:solidFill>
                  <a:srgbClr val="0000FF"/>
                </a:solidFill>
                <a:ea typeface="华文中宋" pitchFamily="2" charset="-122"/>
              </a:rPr>
              <a:t>      </a:t>
            </a:r>
            <a:r>
              <a:rPr lang="zh-CN" altLang="en-US">
                <a:solidFill>
                  <a:srgbClr val="0000FF"/>
                </a:solidFill>
                <a:ea typeface="华文中宋" pitchFamily="2" charset="-122"/>
              </a:rPr>
              <a:t>初始条件：</a:t>
            </a:r>
            <a:r>
              <a:rPr lang="zh-CN" altLang="en-US"/>
              <a:t>队列 </a:t>
            </a:r>
            <a:r>
              <a:rPr lang="en-US" altLang="zh-CN"/>
              <a:t>Q </a:t>
            </a:r>
            <a:r>
              <a:rPr lang="zh-CN" altLang="en-US"/>
              <a:t>已存在。</a:t>
            </a:r>
            <a:r>
              <a:rPr lang="zh-CN" altLang="en-US">
                <a:solidFill>
                  <a:srgbClr val="0000FF"/>
                </a:solidFill>
                <a:ea typeface="华文中宋" pitchFamily="2" charset="-122"/>
              </a:rPr>
              <a:t>  </a:t>
            </a:r>
          </a:p>
          <a:p>
            <a:pPr>
              <a:lnSpc>
                <a:spcPct val="140000"/>
              </a:lnSpc>
            </a:pPr>
            <a:r>
              <a:rPr lang="zh-CN" altLang="en-US">
                <a:solidFill>
                  <a:srgbClr val="0000FF"/>
                </a:solidFill>
                <a:ea typeface="华文中宋" pitchFamily="2" charset="-122"/>
              </a:rPr>
              <a:t>      操作结果：</a:t>
            </a:r>
            <a:r>
              <a:rPr lang="zh-CN" altLang="en-US"/>
              <a:t>队列 </a:t>
            </a:r>
            <a:r>
              <a:rPr lang="en-US" altLang="zh-CN"/>
              <a:t>Q </a:t>
            </a:r>
            <a:r>
              <a:rPr lang="zh-CN" altLang="en-US"/>
              <a:t>被销毁，不再存在。 </a:t>
            </a:r>
          </a:p>
        </p:txBody>
      </p:sp>
    </p:spTree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8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84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84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184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184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184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184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184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184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1846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60" grpId="0" uiExpand="1" build="allAtOnce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2" name="Text Box 4"/>
          <p:cNvSpPr txBox="1">
            <a:spLocks noChangeArrowheads="1"/>
          </p:cNvSpPr>
          <p:nvPr/>
        </p:nvSpPr>
        <p:spPr bwMode="auto">
          <a:xfrm>
            <a:off x="2774950" y="523875"/>
            <a:ext cx="6997700" cy="556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QueueEmpty(Q) </a:t>
            </a:r>
          </a:p>
          <a:p>
            <a:pPr>
              <a:lnSpc>
                <a:spcPct val="150000"/>
              </a:lnSpc>
            </a:pPr>
            <a:r>
              <a:rPr lang="en-US" altLang="zh-CN">
                <a:solidFill>
                  <a:srgbClr val="0000FF"/>
                </a:solidFill>
                <a:ea typeface="华文中宋" pitchFamily="2" charset="-122"/>
              </a:rPr>
              <a:t>   </a:t>
            </a:r>
            <a:r>
              <a:rPr lang="zh-CN" altLang="en-US">
                <a:solidFill>
                  <a:srgbClr val="0000FF"/>
                </a:solidFill>
                <a:ea typeface="华文中宋" pitchFamily="2" charset="-122"/>
              </a:rPr>
              <a:t>初始条件：</a:t>
            </a:r>
            <a:r>
              <a:rPr lang="zh-CN" altLang="en-US"/>
              <a:t>队列 </a:t>
            </a:r>
            <a:r>
              <a:rPr lang="en-US" altLang="zh-CN"/>
              <a:t>Q </a:t>
            </a:r>
            <a:r>
              <a:rPr lang="zh-CN" altLang="en-US"/>
              <a:t>已存在。</a:t>
            </a:r>
            <a:r>
              <a:rPr lang="zh-CN" altLang="en-US">
                <a:solidFill>
                  <a:srgbClr val="0000FF"/>
                </a:solidFill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00FF"/>
                </a:solidFill>
                <a:ea typeface="华文中宋" pitchFamily="2" charset="-122"/>
              </a:rPr>
              <a:t>   操作结果：</a:t>
            </a:r>
            <a:r>
              <a:rPr lang="zh-CN" altLang="en-US"/>
              <a:t>若 </a:t>
            </a:r>
            <a:r>
              <a:rPr lang="en-US" altLang="zh-CN"/>
              <a:t>Q </a:t>
            </a:r>
            <a:r>
              <a:rPr lang="zh-CN" altLang="en-US"/>
              <a:t>为空队列，则返回 </a:t>
            </a:r>
            <a:r>
              <a:rPr lang="en-US" altLang="zh-CN"/>
              <a:t>TRUE</a:t>
            </a:r>
            <a:r>
              <a:rPr lang="zh-CN" altLang="en-US"/>
              <a:t>， </a:t>
            </a:r>
          </a:p>
          <a:p>
            <a:pPr>
              <a:lnSpc>
                <a:spcPct val="150000"/>
              </a:lnSpc>
            </a:pPr>
            <a:r>
              <a:rPr lang="zh-CN" altLang="en-US"/>
              <a:t>                       否则返回 </a:t>
            </a:r>
            <a:r>
              <a:rPr lang="en-US" altLang="zh-CN"/>
              <a:t>FALSE</a:t>
            </a:r>
            <a:r>
              <a:rPr lang="zh-CN" altLang="en-US"/>
              <a:t>。 </a:t>
            </a:r>
          </a:p>
          <a:p>
            <a:pPr>
              <a:lnSpc>
                <a:spcPct val="150000"/>
              </a:lnSpc>
            </a:pPr>
            <a:r>
              <a:rPr lang="en-US" altLang="zh-CN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QueueLength(Q) </a:t>
            </a:r>
          </a:p>
          <a:p>
            <a:pPr>
              <a:lnSpc>
                <a:spcPct val="150000"/>
              </a:lnSpc>
            </a:pPr>
            <a:r>
              <a:rPr lang="en-US" altLang="zh-CN">
                <a:solidFill>
                  <a:srgbClr val="0000FF"/>
                </a:solidFill>
                <a:ea typeface="华文中宋" pitchFamily="2" charset="-122"/>
              </a:rPr>
              <a:t>   </a:t>
            </a:r>
            <a:r>
              <a:rPr lang="zh-CN" altLang="en-US">
                <a:solidFill>
                  <a:srgbClr val="0000FF"/>
                </a:solidFill>
                <a:ea typeface="华文中宋" pitchFamily="2" charset="-122"/>
              </a:rPr>
              <a:t>初始条件：</a:t>
            </a:r>
            <a:r>
              <a:rPr lang="zh-CN" altLang="en-US"/>
              <a:t>队列 </a:t>
            </a:r>
            <a:r>
              <a:rPr lang="en-US" altLang="zh-CN"/>
              <a:t>Q </a:t>
            </a:r>
            <a:r>
              <a:rPr lang="zh-CN" altLang="en-US"/>
              <a:t>已存在。 </a:t>
            </a:r>
          </a:p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00FF"/>
                </a:solidFill>
                <a:ea typeface="华文中宋" pitchFamily="2" charset="-122"/>
              </a:rPr>
              <a:t>   操作结果：</a:t>
            </a:r>
            <a:r>
              <a:rPr lang="zh-CN" altLang="en-US"/>
              <a:t>返回 </a:t>
            </a:r>
            <a:r>
              <a:rPr lang="en-US" altLang="zh-CN"/>
              <a:t>Q </a:t>
            </a:r>
            <a:r>
              <a:rPr lang="zh-CN" altLang="en-US"/>
              <a:t>的元素个数，即队列的长度。 </a:t>
            </a:r>
          </a:p>
          <a:p>
            <a:pPr>
              <a:lnSpc>
                <a:spcPct val="150000"/>
              </a:lnSpc>
            </a:pPr>
            <a:r>
              <a:rPr lang="en-US" altLang="zh-CN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GetHead(Q, &amp;</a:t>
            </a:r>
            <a:r>
              <a:rPr lang="en-US" altLang="zh-CN" i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</a:t>
            </a:r>
            <a:r>
              <a:rPr lang="en-US" altLang="zh-CN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) </a:t>
            </a:r>
          </a:p>
          <a:p>
            <a:pPr>
              <a:lnSpc>
                <a:spcPct val="150000"/>
              </a:lnSpc>
            </a:pPr>
            <a:r>
              <a:rPr lang="en-US" altLang="zh-CN">
                <a:solidFill>
                  <a:srgbClr val="0000FF"/>
                </a:solidFill>
                <a:ea typeface="华文中宋" pitchFamily="2" charset="-122"/>
              </a:rPr>
              <a:t>   </a:t>
            </a:r>
            <a:r>
              <a:rPr lang="zh-CN" altLang="en-US">
                <a:solidFill>
                  <a:srgbClr val="0000FF"/>
                </a:solidFill>
                <a:ea typeface="华文中宋" pitchFamily="2" charset="-122"/>
              </a:rPr>
              <a:t>初始条件：</a:t>
            </a:r>
            <a:r>
              <a:rPr lang="en-US" altLang="zh-CN"/>
              <a:t>Q </a:t>
            </a:r>
            <a:r>
              <a:rPr lang="zh-CN" altLang="en-US"/>
              <a:t>为非空队列。  </a:t>
            </a:r>
          </a:p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00FF"/>
                </a:solidFill>
                <a:ea typeface="华文中宋" pitchFamily="2" charset="-122"/>
              </a:rPr>
              <a:t>   操作结果：</a:t>
            </a:r>
            <a:r>
              <a:rPr lang="zh-CN" altLang="en-US"/>
              <a:t>用 </a:t>
            </a:r>
            <a:r>
              <a:rPr lang="en-US" altLang="zh-CN" i="1"/>
              <a:t>e</a:t>
            </a:r>
            <a:r>
              <a:rPr lang="en-US" altLang="zh-CN"/>
              <a:t> </a:t>
            </a:r>
            <a:r>
              <a:rPr lang="zh-CN" altLang="en-US"/>
              <a:t>返回 </a:t>
            </a:r>
            <a:r>
              <a:rPr lang="en-US" altLang="zh-CN"/>
              <a:t>Q </a:t>
            </a:r>
            <a:r>
              <a:rPr lang="zh-CN" altLang="en-US"/>
              <a:t>的队头元素。 </a:t>
            </a:r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37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37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37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37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37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37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37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37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37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7373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2" grpId="0" uiExpand="1" build="allAtOnce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6" name="Text Box 26"/>
          <p:cNvSpPr txBox="1">
            <a:spLocks noChangeArrowheads="1"/>
          </p:cNvSpPr>
          <p:nvPr/>
        </p:nvSpPr>
        <p:spPr bwMode="auto">
          <a:xfrm>
            <a:off x="2495551" y="549275"/>
            <a:ext cx="7489825" cy="556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ClearQueue(&amp;Q) </a:t>
            </a:r>
          </a:p>
          <a:p>
            <a:pPr>
              <a:lnSpc>
                <a:spcPct val="150000"/>
              </a:lnSpc>
            </a:pPr>
            <a:r>
              <a:rPr lang="en-US" altLang="zh-CN">
                <a:solidFill>
                  <a:srgbClr val="0000FF"/>
                </a:solidFill>
              </a:rPr>
              <a:t>      </a:t>
            </a:r>
            <a:r>
              <a:rPr lang="zh-CN" altLang="en-US">
                <a:solidFill>
                  <a:srgbClr val="0000FF"/>
                </a:solidFill>
                <a:ea typeface="华文中宋" pitchFamily="2" charset="-122"/>
              </a:rPr>
              <a:t>初始条件：</a:t>
            </a:r>
            <a:r>
              <a:rPr lang="zh-CN" altLang="en-US"/>
              <a:t>队列 </a:t>
            </a:r>
            <a:r>
              <a:rPr lang="en-US" altLang="zh-CN"/>
              <a:t>Q </a:t>
            </a:r>
            <a:r>
              <a:rPr lang="zh-CN" altLang="en-US"/>
              <a:t>已存在。</a:t>
            </a:r>
            <a:r>
              <a:rPr lang="zh-CN" altLang="en-US">
                <a:solidFill>
                  <a:srgbClr val="0000FF"/>
                </a:solidFill>
              </a:rPr>
              <a:t>  </a:t>
            </a:r>
          </a:p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00FF"/>
                </a:solidFill>
              </a:rPr>
              <a:t>      </a:t>
            </a:r>
            <a:r>
              <a:rPr lang="zh-CN" altLang="en-US">
                <a:solidFill>
                  <a:srgbClr val="0000FF"/>
                </a:solidFill>
                <a:ea typeface="华文中宋" pitchFamily="2" charset="-122"/>
              </a:rPr>
              <a:t>操作结果：</a:t>
            </a:r>
            <a:r>
              <a:rPr lang="zh-CN" altLang="en-US"/>
              <a:t>将 </a:t>
            </a:r>
            <a:r>
              <a:rPr lang="en-US" altLang="zh-CN"/>
              <a:t>Q </a:t>
            </a:r>
            <a:r>
              <a:rPr lang="zh-CN" altLang="en-US"/>
              <a:t>清为空队列。  </a:t>
            </a:r>
          </a:p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   </a:t>
            </a:r>
            <a:r>
              <a:rPr lang="en-US" altLang="zh-CN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EnQueue(&amp;Q, </a:t>
            </a:r>
            <a:r>
              <a:rPr lang="en-US" altLang="zh-CN" i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e</a:t>
            </a:r>
            <a:r>
              <a:rPr lang="en-US" altLang="zh-CN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) </a:t>
            </a:r>
          </a:p>
          <a:p>
            <a:pPr>
              <a:lnSpc>
                <a:spcPct val="150000"/>
              </a:lnSpc>
            </a:pPr>
            <a:r>
              <a:rPr lang="en-US" altLang="zh-CN">
                <a:solidFill>
                  <a:srgbClr val="0000FF"/>
                </a:solidFill>
                <a:ea typeface="华文中宋" pitchFamily="2" charset="-122"/>
              </a:rPr>
              <a:t>      </a:t>
            </a:r>
            <a:r>
              <a:rPr lang="zh-CN" altLang="en-US">
                <a:solidFill>
                  <a:srgbClr val="0000FF"/>
                </a:solidFill>
                <a:ea typeface="华文中宋" pitchFamily="2" charset="-122"/>
              </a:rPr>
              <a:t>初始条件：</a:t>
            </a:r>
            <a:r>
              <a:rPr lang="zh-CN" altLang="en-US"/>
              <a:t>队列 </a:t>
            </a:r>
            <a:r>
              <a:rPr lang="en-US" altLang="zh-CN"/>
              <a:t>Q </a:t>
            </a:r>
            <a:r>
              <a:rPr lang="zh-CN" altLang="en-US"/>
              <a:t>已存在。 </a:t>
            </a:r>
          </a:p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00FF"/>
                </a:solidFill>
                <a:ea typeface="华文中宋" pitchFamily="2" charset="-122"/>
              </a:rPr>
              <a:t>      操作结果：</a:t>
            </a:r>
            <a:r>
              <a:rPr lang="zh-CN" altLang="en-US"/>
              <a:t>插入元素 </a:t>
            </a:r>
            <a:r>
              <a:rPr lang="en-US" altLang="zh-CN" i="1"/>
              <a:t>e</a:t>
            </a:r>
            <a:r>
              <a:rPr lang="en-US" altLang="zh-CN"/>
              <a:t> </a:t>
            </a:r>
            <a:r>
              <a:rPr lang="zh-CN" altLang="en-US"/>
              <a:t>为 </a:t>
            </a:r>
            <a:r>
              <a:rPr lang="en-US" altLang="zh-CN"/>
              <a:t>Q </a:t>
            </a:r>
            <a:r>
              <a:rPr lang="zh-CN" altLang="en-US"/>
              <a:t>的新的队尾元素。 </a:t>
            </a:r>
          </a:p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   </a:t>
            </a:r>
            <a:r>
              <a:rPr lang="en-US" altLang="zh-CN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DeQueue(&amp;Q, &amp;</a:t>
            </a:r>
            <a:r>
              <a:rPr lang="en-US" altLang="zh-CN" i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e</a:t>
            </a:r>
            <a:r>
              <a:rPr lang="en-US" altLang="zh-CN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) </a:t>
            </a:r>
          </a:p>
          <a:p>
            <a:pPr>
              <a:lnSpc>
                <a:spcPct val="150000"/>
              </a:lnSpc>
            </a:pPr>
            <a:r>
              <a:rPr lang="en-US" altLang="zh-CN">
                <a:solidFill>
                  <a:srgbClr val="0000FF"/>
                </a:solidFill>
                <a:ea typeface="华文中宋" pitchFamily="2" charset="-122"/>
              </a:rPr>
              <a:t>      </a:t>
            </a:r>
            <a:r>
              <a:rPr lang="zh-CN" altLang="en-US">
                <a:solidFill>
                  <a:srgbClr val="0000FF"/>
                </a:solidFill>
                <a:ea typeface="华文中宋" pitchFamily="2" charset="-122"/>
              </a:rPr>
              <a:t>初始条件：</a:t>
            </a:r>
            <a:r>
              <a:rPr lang="en-US" altLang="zh-CN"/>
              <a:t>Q </a:t>
            </a:r>
            <a:r>
              <a:rPr lang="zh-CN" altLang="en-US"/>
              <a:t>为非空队列。</a:t>
            </a:r>
            <a:r>
              <a:rPr lang="zh-CN" altLang="en-US">
                <a:solidFill>
                  <a:srgbClr val="0000FF"/>
                </a:solidFill>
                <a:ea typeface="华文中宋" pitchFamily="2" charset="-122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00FF"/>
                </a:solidFill>
                <a:ea typeface="华文中宋" pitchFamily="2" charset="-122"/>
              </a:rPr>
              <a:t>      操作结果：</a:t>
            </a:r>
            <a:r>
              <a:rPr lang="zh-CN" altLang="en-US"/>
              <a:t>删除 </a:t>
            </a:r>
            <a:r>
              <a:rPr lang="en-US" altLang="zh-CN"/>
              <a:t>Q </a:t>
            </a:r>
            <a:r>
              <a:rPr lang="zh-CN" altLang="en-US"/>
              <a:t>的队头元素，并用 </a:t>
            </a:r>
            <a:r>
              <a:rPr lang="en-US" altLang="zh-CN" i="1"/>
              <a:t>e</a:t>
            </a:r>
            <a:r>
              <a:rPr lang="en-US" altLang="zh-CN"/>
              <a:t> </a:t>
            </a:r>
            <a:r>
              <a:rPr lang="zh-CN" altLang="en-US"/>
              <a:t>返回其值。 </a:t>
            </a:r>
          </a:p>
          <a:p>
            <a:pPr>
              <a:lnSpc>
                <a:spcPct val="150000"/>
              </a:lnSpc>
            </a:pPr>
            <a:r>
              <a:rPr lang="en-US" altLang="zh-CN">
                <a:ea typeface="华文中宋" pitchFamily="2" charset="-122"/>
              </a:rPr>
              <a:t>} ADT Queue  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12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12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12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12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12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12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12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12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122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6" grpId="0" uiExpand="1" build="allAtOnce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1" name="Rectangle 95"/>
          <p:cNvSpPr>
            <a:spLocks noChangeArrowheads="1"/>
          </p:cNvSpPr>
          <p:nvPr/>
        </p:nvSpPr>
        <p:spPr bwMode="auto">
          <a:xfrm>
            <a:off x="8574088" y="728663"/>
            <a:ext cx="609600" cy="4572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533" name="Rectangle 77"/>
          <p:cNvSpPr>
            <a:spLocks noChangeArrowheads="1"/>
          </p:cNvSpPr>
          <p:nvPr/>
        </p:nvSpPr>
        <p:spPr bwMode="auto">
          <a:xfrm>
            <a:off x="2135188" y="549275"/>
            <a:ext cx="19240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Tx/>
              <a:buBlip>
                <a:blip r:embed="rId3"/>
              </a:buBlip>
            </a:pPr>
            <a:r>
              <a:rPr lang="en-US" altLang="zh-CN">
                <a:ea typeface="华文中宋" pitchFamily="2" charset="-122"/>
              </a:rPr>
              <a:t>   </a:t>
            </a:r>
            <a:r>
              <a:rPr lang="zh-CN" altLang="en-US">
                <a:ea typeface="华文中宋" pitchFamily="2" charset="-122"/>
              </a:rPr>
              <a:t>双端队列 </a:t>
            </a:r>
          </a:p>
        </p:txBody>
      </p:sp>
      <p:sp>
        <p:nvSpPr>
          <p:cNvPr id="19536" name="Rectangle 80"/>
          <p:cNvSpPr>
            <a:spLocks noChangeArrowheads="1"/>
          </p:cNvSpPr>
          <p:nvPr/>
        </p:nvSpPr>
        <p:spPr bwMode="auto">
          <a:xfrm>
            <a:off x="5418138" y="728663"/>
            <a:ext cx="4908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zh-CN" altLang="en-US">
                <a:ea typeface="华文中宋" pitchFamily="2" charset="-122"/>
              </a:rPr>
              <a:t>限定插入和删除在表的两端进行</a:t>
            </a:r>
            <a:r>
              <a:rPr lang="zh-CN" altLang="en-US">
                <a:ea typeface="华文中宋" pitchFamily="2" charset="-122"/>
              </a:rPr>
              <a:t>。  </a:t>
            </a:r>
          </a:p>
        </p:txBody>
      </p:sp>
      <p:sp>
        <p:nvSpPr>
          <p:cNvPr id="19537" name="Rectangle 81"/>
          <p:cNvSpPr>
            <a:spLocks noChangeArrowheads="1"/>
          </p:cNvSpPr>
          <p:nvPr/>
        </p:nvSpPr>
        <p:spPr bwMode="auto">
          <a:xfrm>
            <a:off x="2287589" y="1033464"/>
            <a:ext cx="3079689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双端队列：</a:t>
            </a:r>
            <a:r>
              <a:rPr kumimoji="0" lang="zh-CN" altLang="en-US">
                <a:ea typeface="华文中宋" pitchFamily="2" charset="-122"/>
              </a:rPr>
              <a:t>线性表</a:t>
            </a:r>
            <a:r>
              <a:rPr lang="zh-CN" altLang="en-US">
                <a:ea typeface="华文中宋" pitchFamily="2" charset="-122"/>
              </a:rPr>
              <a:t>  </a:t>
            </a:r>
          </a:p>
          <a:p>
            <a:r>
              <a:rPr lang="en-US" altLang="zh-CN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(</a:t>
            </a:r>
            <a:r>
              <a:rPr lang="en-US" altLang="zh-CN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double-ended queue</a:t>
            </a:r>
            <a:r>
              <a:rPr lang="en-US" altLang="zh-CN" sz="2000" b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) </a:t>
            </a:r>
          </a:p>
        </p:txBody>
      </p:sp>
      <p:sp>
        <p:nvSpPr>
          <p:cNvPr id="19538" name="Rectangle 82"/>
          <p:cNvSpPr>
            <a:spLocks noChangeArrowheads="1"/>
          </p:cNvSpPr>
          <p:nvPr/>
        </p:nvSpPr>
        <p:spPr bwMode="auto">
          <a:xfrm>
            <a:off x="5373689" y="1414463"/>
            <a:ext cx="35528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zh-CN" altLang="en-US">
                <a:ea typeface="华文中宋" pitchFamily="2" charset="-122"/>
              </a:rPr>
              <a:t>先进先出 </a:t>
            </a:r>
            <a:r>
              <a:rPr kumimoji="0" lang="en-US" altLang="zh-CN">
                <a:ea typeface="华文中宋" pitchFamily="2" charset="-122"/>
              </a:rPr>
              <a:t>(FIFO</a:t>
            </a:r>
            <a:r>
              <a:rPr kumimoji="0" lang="zh-CN" altLang="en-US">
                <a:ea typeface="华文中宋" pitchFamily="2" charset="-122"/>
              </a:rPr>
              <a:t>结构</a:t>
            </a:r>
            <a:r>
              <a:rPr kumimoji="0" lang="en-US" altLang="zh-CN">
                <a:ea typeface="华文中宋" pitchFamily="2" charset="-122"/>
              </a:rPr>
              <a:t>)</a:t>
            </a:r>
            <a:r>
              <a:rPr lang="zh-CN" altLang="en-US">
                <a:ea typeface="华文中宋" pitchFamily="2" charset="-122"/>
              </a:rPr>
              <a:t>。   </a:t>
            </a:r>
          </a:p>
        </p:txBody>
      </p:sp>
      <p:sp>
        <p:nvSpPr>
          <p:cNvPr id="19539" name="AutoShape 83"/>
          <p:cNvSpPr>
            <a:spLocks/>
          </p:cNvSpPr>
          <p:nvPr/>
        </p:nvSpPr>
        <p:spPr bwMode="auto">
          <a:xfrm>
            <a:off x="5221288" y="957263"/>
            <a:ext cx="152400" cy="685800"/>
          </a:xfrm>
          <a:prstGeom prst="leftBrace">
            <a:avLst>
              <a:gd name="adj1" fmla="val 37500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552" name="Line 96"/>
          <p:cNvSpPr>
            <a:spLocks noChangeShapeType="1"/>
          </p:cNvSpPr>
          <p:nvPr/>
        </p:nvSpPr>
        <p:spPr bwMode="auto">
          <a:xfrm>
            <a:off x="8955088" y="1185863"/>
            <a:ext cx="228600" cy="4572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9553" name="Text Box 97"/>
          <p:cNvSpPr txBox="1">
            <a:spLocks noChangeArrowheads="1"/>
          </p:cNvSpPr>
          <p:nvPr/>
        </p:nvSpPr>
        <p:spPr bwMode="auto">
          <a:xfrm>
            <a:off x="8761413" y="1643064"/>
            <a:ext cx="1107996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ea typeface="华文中宋" pitchFamily="2" charset="-122"/>
              </a:rPr>
              <a:t>端点 </a:t>
            </a:r>
            <a:r>
              <a:rPr lang="en-US" altLang="zh-CN">
                <a:ea typeface="华文中宋" pitchFamily="2" charset="-122"/>
              </a:rPr>
              <a:t>1 </a:t>
            </a:r>
          </a:p>
          <a:p>
            <a:r>
              <a:rPr lang="zh-CN" altLang="en-US">
                <a:ea typeface="华文中宋" pitchFamily="2" charset="-122"/>
              </a:rPr>
              <a:t>端点 </a:t>
            </a:r>
            <a:r>
              <a:rPr lang="en-US" altLang="zh-CN">
                <a:ea typeface="华文中宋" pitchFamily="2" charset="-122"/>
              </a:rPr>
              <a:t>2 </a:t>
            </a:r>
          </a:p>
        </p:txBody>
      </p:sp>
      <p:grpSp>
        <p:nvGrpSpPr>
          <p:cNvPr id="19560" name="Group 104"/>
          <p:cNvGrpSpPr>
            <a:grpSpLocks/>
          </p:cNvGrpSpPr>
          <p:nvPr/>
        </p:nvGrpSpPr>
        <p:grpSpPr bwMode="auto">
          <a:xfrm>
            <a:off x="2246462" y="1947863"/>
            <a:ext cx="6873875" cy="2647950"/>
            <a:chOff x="518" y="1248"/>
            <a:chExt cx="4330" cy="1668"/>
          </a:xfrm>
        </p:grpSpPr>
        <p:sp>
          <p:nvSpPr>
            <p:cNvPr id="19540" name="Rectangle 84"/>
            <p:cNvSpPr>
              <a:spLocks noChangeArrowheads="1"/>
            </p:cNvSpPr>
            <p:nvPr/>
          </p:nvSpPr>
          <p:spPr bwMode="auto">
            <a:xfrm>
              <a:off x="518" y="1248"/>
              <a:ext cx="3648" cy="8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</a:pPr>
              <a:r>
                <a:rPr kumimoji="0" lang="zh-CN" altLang="en-US" dirty="0">
                  <a:ea typeface="华文中宋" pitchFamily="2" charset="-122"/>
                </a:rPr>
                <a:t>下图是双端队列的示意图：</a:t>
              </a:r>
              <a:r>
                <a:rPr kumimoji="0" lang="zh-CN" altLang="en-US" sz="2800" dirty="0">
                  <a:ea typeface="华文中宋" pitchFamily="2" charset="-122"/>
                </a:rPr>
                <a:t>　　　　　</a:t>
              </a:r>
            </a:p>
            <a:p>
              <a:pPr>
                <a:lnSpc>
                  <a:spcPct val="170000"/>
                </a:lnSpc>
                <a:spcBef>
                  <a:spcPct val="50000"/>
                </a:spcBef>
                <a:buClr>
                  <a:schemeClr val="hlink"/>
                </a:buClr>
                <a:buSzPct val="70000"/>
                <a:buFont typeface="Wingdings" pitchFamily="2" charset="2"/>
                <a:buNone/>
              </a:pPr>
              <a:r>
                <a:rPr kumimoji="0" lang="zh-CN" altLang="en-US" sz="2800" dirty="0">
                  <a:ea typeface="华文中宋" pitchFamily="2" charset="-122"/>
                </a:rPr>
                <a:t>　　　　　   </a:t>
              </a:r>
              <a:r>
                <a:rPr kumimoji="0" lang="en-US" altLang="zh-CN" sz="2800" i="1" dirty="0">
                  <a:ea typeface="华文中宋" pitchFamily="2" charset="-122"/>
                </a:rPr>
                <a:t>a</a:t>
              </a:r>
              <a:r>
                <a:rPr kumimoji="0" lang="en-US" altLang="zh-CN" sz="2800" baseline="-20000" dirty="0">
                  <a:ea typeface="华文中宋" pitchFamily="2" charset="-122"/>
                </a:rPr>
                <a:t>1</a:t>
              </a:r>
              <a:r>
                <a:rPr kumimoji="0" lang="zh-CN" altLang="en-US" sz="2800" dirty="0">
                  <a:ea typeface="华文中宋" pitchFamily="2" charset="-122"/>
                </a:rPr>
                <a:t>　</a:t>
              </a:r>
              <a:r>
                <a:rPr kumimoji="0" lang="en-US" altLang="zh-CN" sz="2800" i="1" dirty="0">
                  <a:ea typeface="华文中宋" pitchFamily="2" charset="-122"/>
                </a:rPr>
                <a:t>a</a:t>
              </a:r>
              <a:r>
                <a:rPr kumimoji="0" lang="en-US" altLang="zh-CN" sz="2800" baseline="-20000" dirty="0">
                  <a:ea typeface="华文中宋" pitchFamily="2" charset="-122"/>
                </a:rPr>
                <a:t>2</a:t>
              </a:r>
              <a:r>
                <a:rPr kumimoji="0" lang="zh-CN" altLang="en-US" sz="2800" baseline="-20000" dirty="0">
                  <a:ea typeface="华文中宋" pitchFamily="2" charset="-122"/>
                </a:rPr>
                <a:t>　</a:t>
              </a:r>
              <a:r>
                <a:rPr kumimoji="0" lang="en-US" altLang="zh-CN" sz="2800" dirty="0">
                  <a:ea typeface="华文中宋" pitchFamily="2" charset="-122"/>
                </a:rPr>
                <a:t>…</a:t>
              </a:r>
              <a:r>
                <a:rPr kumimoji="0" lang="zh-CN" altLang="en-US" sz="2800" dirty="0">
                  <a:ea typeface="华文中宋" pitchFamily="2" charset="-122"/>
                </a:rPr>
                <a:t>　</a:t>
              </a:r>
              <a:r>
                <a:rPr kumimoji="0" lang="en-US" altLang="zh-CN" sz="2800" i="1" dirty="0">
                  <a:ea typeface="华文中宋" pitchFamily="2" charset="-122"/>
                </a:rPr>
                <a:t>a</a:t>
              </a:r>
              <a:r>
                <a:rPr kumimoji="0" lang="en-US" altLang="zh-CN" sz="2800" i="1" baseline="-20000" dirty="0">
                  <a:ea typeface="华文中宋" pitchFamily="2" charset="-122"/>
                </a:rPr>
                <a:t>n </a:t>
              </a:r>
              <a:endParaRPr kumimoji="0" lang="en-US" altLang="zh-CN" sz="2800" i="1" dirty="0">
                <a:ea typeface="华文中宋" pitchFamily="2" charset="-122"/>
              </a:endParaRPr>
            </a:p>
          </p:txBody>
        </p:sp>
        <p:sp>
          <p:nvSpPr>
            <p:cNvPr id="19541" name="Line 85"/>
            <p:cNvSpPr>
              <a:spLocks noChangeShapeType="1"/>
            </p:cNvSpPr>
            <p:nvPr/>
          </p:nvSpPr>
          <p:spPr bwMode="auto">
            <a:xfrm>
              <a:off x="1680" y="1764"/>
              <a:ext cx="18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9542" name="Line 86"/>
            <p:cNvSpPr>
              <a:spLocks noChangeShapeType="1"/>
            </p:cNvSpPr>
            <p:nvPr/>
          </p:nvSpPr>
          <p:spPr bwMode="auto">
            <a:xfrm>
              <a:off x="1728" y="2292"/>
              <a:ext cx="18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9543" name="Line 87"/>
            <p:cNvSpPr>
              <a:spLocks noChangeShapeType="1"/>
            </p:cNvSpPr>
            <p:nvPr/>
          </p:nvSpPr>
          <p:spPr bwMode="auto">
            <a:xfrm flipH="1">
              <a:off x="1200" y="2170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9544" name="Line 88"/>
            <p:cNvSpPr>
              <a:spLocks noChangeShapeType="1"/>
            </p:cNvSpPr>
            <p:nvPr/>
          </p:nvSpPr>
          <p:spPr bwMode="auto">
            <a:xfrm flipH="1">
              <a:off x="3600" y="1930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9545" name="Line 89"/>
            <p:cNvSpPr>
              <a:spLocks noChangeShapeType="1"/>
            </p:cNvSpPr>
            <p:nvPr/>
          </p:nvSpPr>
          <p:spPr bwMode="auto">
            <a:xfrm flipV="1">
              <a:off x="1920" y="234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9546" name="Line 90"/>
            <p:cNvSpPr>
              <a:spLocks noChangeShapeType="1"/>
            </p:cNvSpPr>
            <p:nvPr/>
          </p:nvSpPr>
          <p:spPr bwMode="auto">
            <a:xfrm flipV="1">
              <a:off x="3168" y="234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9547" name="Text Box 91"/>
            <p:cNvSpPr txBox="1">
              <a:spLocks noChangeArrowheads="1"/>
            </p:cNvSpPr>
            <p:nvPr/>
          </p:nvSpPr>
          <p:spPr bwMode="auto">
            <a:xfrm>
              <a:off x="700" y="2016"/>
              <a:ext cx="63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lang="zh-CN" altLang="en-US">
                  <a:ea typeface="华文中宋" pitchFamily="2" charset="-122"/>
                </a:rPr>
                <a:t>出队 </a:t>
              </a:r>
            </a:p>
          </p:txBody>
        </p:sp>
        <p:sp>
          <p:nvSpPr>
            <p:cNvPr id="19548" name="Text Box 92"/>
            <p:cNvSpPr txBox="1">
              <a:spLocks noChangeArrowheads="1"/>
            </p:cNvSpPr>
            <p:nvPr/>
          </p:nvSpPr>
          <p:spPr bwMode="auto">
            <a:xfrm>
              <a:off x="4118" y="1776"/>
              <a:ext cx="73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lang="zh-CN" altLang="en-US">
                  <a:ea typeface="华文中宋" pitchFamily="2" charset="-122"/>
                </a:rPr>
                <a:t>入队 </a:t>
              </a:r>
            </a:p>
          </p:txBody>
        </p:sp>
        <p:sp>
          <p:nvSpPr>
            <p:cNvPr id="19549" name="Text Box 93"/>
            <p:cNvSpPr txBox="1">
              <a:spLocks noChangeArrowheads="1"/>
            </p:cNvSpPr>
            <p:nvPr/>
          </p:nvSpPr>
          <p:spPr bwMode="auto">
            <a:xfrm>
              <a:off x="1670" y="2628"/>
              <a:ext cx="67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lang="zh-CN" altLang="en-US">
                  <a:ea typeface="华文中宋" pitchFamily="2" charset="-122"/>
                </a:rPr>
                <a:t>端点 </a:t>
              </a:r>
              <a:r>
                <a:rPr lang="en-US" altLang="zh-CN">
                  <a:ea typeface="华文中宋" pitchFamily="2" charset="-122"/>
                </a:rPr>
                <a:t>1 </a:t>
              </a:r>
            </a:p>
          </p:txBody>
        </p:sp>
        <p:sp>
          <p:nvSpPr>
            <p:cNvPr id="19550" name="Text Box 94"/>
            <p:cNvSpPr txBox="1">
              <a:spLocks noChangeArrowheads="1"/>
            </p:cNvSpPr>
            <p:nvPr/>
          </p:nvSpPr>
          <p:spPr bwMode="auto">
            <a:xfrm>
              <a:off x="2918" y="2628"/>
              <a:ext cx="67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lang="zh-CN" altLang="en-US">
                  <a:ea typeface="华文中宋" pitchFamily="2" charset="-122"/>
                </a:rPr>
                <a:t>端点 </a:t>
              </a:r>
              <a:r>
                <a:rPr lang="en-US" altLang="zh-CN">
                  <a:ea typeface="华文中宋" pitchFamily="2" charset="-122"/>
                </a:rPr>
                <a:t>2 </a:t>
              </a:r>
            </a:p>
          </p:txBody>
        </p:sp>
        <p:sp>
          <p:nvSpPr>
            <p:cNvPr id="19554" name="Text Box 98"/>
            <p:cNvSpPr txBox="1">
              <a:spLocks noChangeArrowheads="1"/>
            </p:cNvSpPr>
            <p:nvPr/>
          </p:nvSpPr>
          <p:spPr bwMode="auto">
            <a:xfrm>
              <a:off x="4128" y="2016"/>
              <a:ext cx="63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lang="zh-CN" altLang="en-US">
                  <a:ea typeface="华文中宋" pitchFamily="2" charset="-122"/>
                </a:rPr>
                <a:t>出队 </a:t>
              </a:r>
            </a:p>
          </p:txBody>
        </p:sp>
        <p:sp>
          <p:nvSpPr>
            <p:cNvPr id="19555" name="Line 99"/>
            <p:cNvSpPr>
              <a:spLocks noChangeShapeType="1"/>
            </p:cNvSpPr>
            <p:nvPr/>
          </p:nvSpPr>
          <p:spPr bwMode="auto">
            <a:xfrm>
              <a:off x="1200" y="1920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56" name="Text Box 100"/>
            <p:cNvSpPr txBox="1">
              <a:spLocks noChangeArrowheads="1"/>
            </p:cNvSpPr>
            <p:nvPr/>
          </p:nvSpPr>
          <p:spPr bwMode="auto">
            <a:xfrm>
              <a:off x="710" y="1776"/>
              <a:ext cx="73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lang="zh-CN" altLang="en-US">
                  <a:ea typeface="华文中宋" pitchFamily="2" charset="-122"/>
                </a:rPr>
                <a:t>入队 </a:t>
              </a:r>
            </a:p>
          </p:txBody>
        </p:sp>
        <p:sp>
          <p:nvSpPr>
            <p:cNvPr id="19557" name="Line 101"/>
            <p:cNvSpPr>
              <a:spLocks noChangeShapeType="1"/>
            </p:cNvSpPr>
            <p:nvPr/>
          </p:nvSpPr>
          <p:spPr bwMode="auto">
            <a:xfrm>
              <a:off x="3600" y="2160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9558" name="Rectangle 102"/>
          <p:cNvSpPr>
            <a:spLocks noChangeArrowheads="1"/>
          </p:cNvSpPr>
          <p:nvPr/>
        </p:nvSpPr>
        <p:spPr bwMode="auto">
          <a:xfrm>
            <a:off x="2135188" y="4710114"/>
            <a:ext cx="672491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输出受限的双端队列：</a:t>
            </a:r>
            <a:r>
              <a:rPr kumimoji="0" lang="zh-CN" altLang="en-US">
                <a:ea typeface="华文新魏" pitchFamily="2" charset="-122"/>
              </a:rPr>
              <a:t>一个端点可插入和删除， </a:t>
            </a:r>
          </a:p>
          <a:p>
            <a:r>
              <a:rPr kumimoji="0" lang="zh-CN" altLang="en-US">
                <a:ea typeface="华文新魏" pitchFamily="2" charset="-122"/>
              </a:rPr>
              <a:t>                                        另一个端点仅可插入。</a:t>
            </a:r>
            <a:r>
              <a:rPr kumimoji="0" lang="zh-CN" altLang="en-US">
                <a:ea typeface="华文中宋" pitchFamily="2" charset="-122"/>
              </a:rPr>
              <a:t> </a:t>
            </a:r>
            <a:r>
              <a:rPr lang="zh-CN" altLang="en-US">
                <a:ea typeface="华文中宋" pitchFamily="2" charset="-122"/>
              </a:rPr>
              <a:t>  </a:t>
            </a:r>
          </a:p>
        </p:txBody>
      </p:sp>
      <p:sp>
        <p:nvSpPr>
          <p:cNvPr id="19559" name="Rectangle 103"/>
          <p:cNvSpPr>
            <a:spLocks noChangeArrowheads="1"/>
          </p:cNvSpPr>
          <p:nvPr/>
        </p:nvSpPr>
        <p:spPr bwMode="auto">
          <a:xfrm>
            <a:off x="2135188" y="5545139"/>
            <a:ext cx="672491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输入受限的双端队列：</a:t>
            </a:r>
            <a:r>
              <a:rPr kumimoji="0" lang="zh-CN" altLang="en-US">
                <a:ea typeface="华文新魏" pitchFamily="2" charset="-122"/>
              </a:rPr>
              <a:t>一个端点可插入和删除， </a:t>
            </a:r>
          </a:p>
          <a:p>
            <a:r>
              <a:rPr kumimoji="0" lang="zh-CN" altLang="en-US">
                <a:ea typeface="华文新魏" pitchFamily="2" charset="-122"/>
              </a:rPr>
              <a:t>                                        另一个端点仅可删除。</a:t>
            </a:r>
            <a:r>
              <a:rPr kumimoji="0" lang="zh-CN" altLang="en-US">
                <a:ea typeface="华文中宋" pitchFamily="2" charset="-122"/>
              </a:rPr>
              <a:t> </a:t>
            </a:r>
            <a:r>
              <a:rPr lang="zh-CN" altLang="en-US">
                <a:ea typeface="华文中宋" pitchFamily="2" charset="-122"/>
              </a:rPr>
              <a:t>  </a:t>
            </a:r>
          </a:p>
        </p:txBody>
      </p:sp>
      <p:sp useBgFill="1">
        <p:nvSpPr>
          <p:cNvPr id="19562" name="Rectangle 106"/>
          <p:cNvSpPr>
            <a:spLocks noChangeArrowheads="1"/>
          </p:cNvSpPr>
          <p:nvPr/>
        </p:nvSpPr>
        <p:spPr bwMode="auto">
          <a:xfrm>
            <a:off x="7734301" y="3179764"/>
            <a:ext cx="1655763" cy="503237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 useBgFill="1">
        <p:nvSpPr>
          <p:cNvPr id="19563" name="Rectangle 107"/>
          <p:cNvSpPr>
            <a:spLocks noChangeArrowheads="1"/>
          </p:cNvSpPr>
          <p:nvPr/>
        </p:nvSpPr>
        <p:spPr bwMode="auto">
          <a:xfrm>
            <a:off x="7734301" y="2674939"/>
            <a:ext cx="1655763" cy="503237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565" name="Rectangle 109"/>
          <p:cNvSpPr>
            <a:spLocks noChangeArrowheads="1"/>
          </p:cNvSpPr>
          <p:nvPr/>
        </p:nvSpPr>
        <p:spPr bwMode="auto">
          <a:xfrm>
            <a:off x="9840913" y="6650038"/>
            <a:ext cx="489236" cy="2484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30000"/>
              </a:lnSpc>
            </a:pPr>
            <a:r>
              <a:rPr lang="en-US" altLang="zh-CN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▲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19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9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1" dur="500"/>
                                        <p:tgtEl>
                                          <p:spTgt spid="19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9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9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9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95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95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95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9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5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9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9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51" grpId="0" animBg="1"/>
      <p:bldP spid="19536" grpId="0" autoUpdateAnimBg="0"/>
      <p:bldP spid="19537" grpId="0" autoUpdateAnimBg="0"/>
      <p:bldP spid="19538" grpId="0" autoUpdateAnimBg="0"/>
      <p:bldP spid="19539" grpId="0" animBg="1"/>
      <p:bldP spid="19552" grpId="0" animBg="1"/>
      <p:bldP spid="19553" grpId="0" autoUpdateAnimBg="0"/>
      <p:bldP spid="19558" grpId="0" autoUpdateAnimBg="0"/>
      <p:bldP spid="19559" grpId="0" autoUpdateAnimBg="0"/>
      <p:bldP spid="19562" grpId="0" animBg="1"/>
      <p:bldP spid="1956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783632" y="980728"/>
            <a:ext cx="6552728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3600" dirty="0"/>
              <a:t>某队列允许在其两端进行入队操作，但仅允许在一端进行出队操作，若元素</a:t>
            </a:r>
            <a:r>
              <a:rPr lang="en-US" altLang="zh-CN" sz="3600" dirty="0" err="1"/>
              <a:t>a,b,c,d,e</a:t>
            </a:r>
            <a:r>
              <a:rPr lang="zh-CN" altLang="zh-CN" sz="3600" dirty="0"/>
              <a:t>依次入队列后，再进行出队操作，则不可能得到的顺序是（ ）。</a:t>
            </a:r>
            <a:r>
              <a:rPr lang="en-US" altLang="zh-CN" sz="3600" dirty="0"/>
              <a:t>                                          </a:t>
            </a:r>
            <a:endParaRPr lang="zh-CN" altLang="zh-CN" sz="3600" dirty="0"/>
          </a:p>
          <a:p>
            <a:r>
              <a:rPr lang="en-US" altLang="zh-CN" sz="3600" dirty="0"/>
              <a:t>A</a:t>
            </a:r>
            <a:r>
              <a:rPr lang="zh-CN" altLang="zh-CN" sz="3600" dirty="0"/>
              <a:t>．</a:t>
            </a:r>
            <a:r>
              <a:rPr lang="en-US" altLang="zh-CN" sz="3600" dirty="0" err="1"/>
              <a:t>bacde</a:t>
            </a:r>
            <a:r>
              <a:rPr lang="en-US" altLang="zh-CN" sz="3600" dirty="0"/>
              <a:t>              B. </a:t>
            </a:r>
            <a:r>
              <a:rPr lang="en-US" altLang="zh-CN" sz="3600" dirty="0" err="1"/>
              <a:t>dbace</a:t>
            </a:r>
            <a:r>
              <a:rPr lang="en-US" altLang="zh-CN" sz="3600" dirty="0"/>
              <a:t>              C. </a:t>
            </a:r>
            <a:r>
              <a:rPr lang="en-US" altLang="zh-CN" sz="3600" dirty="0" err="1"/>
              <a:t>dbcae</a:t>
            </a:r>
            <a:r>
              <a:rPr lang="en-US" altLang="zh-CN" sz="3600" dirty="0"/>
              <a:t>                D. </a:t>
            </a:r>
            <a:r>
              <a:rPr lang="en-US" altLang="zh-CN" sz="3600" dirty="0" err="1"/>
              <a:t>ecbad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2365850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自选图形 3"/>
          <p:cNvSpPr>
            <a:spLocks noChangeArrowheads="1"/>
          </p:cNvSpPr>
          <p:nvPr/>
        </p:nvSpPr>
        <p:spPr bwMode="ltGray">
          <a:xfrm rot="5400000">
            <a:off x="-898526" y="1367878"/>
            <a:ext cx="4824413" cy="4770438"/>
          </a:xfrm>
          <a:custGeom>
            <a:avLst/>
            <a:gdLst>
              <a:gd name="G0" fmla="+- 10478 0 0"/>
              <a:gd name="G1" fmla="+- -11739500 0 0"/>
              <a:gd name="G2" fmla="+- 0 0 -11739500"/>
              <a:gd name="T0" fmla="*/ 0 256 1"/>
              <a:gd name="T1" fmla="*/ 180 256 1"/>
              <a:gd name="G3" fmla="+- -11739500 T0 T1"/>
              <a:gd name="T2" fmla="*/ 0 256 1"/>
              <a:gd name="T3" fmla="*/ 90 256 1"/>
              <a:gd name="G4" fmla="+- -11739500 T2 T3"/>
              <a:gd name="G5" fmla="*/ G4 2 1"/>
              <a:gd name="T4" fmla="*/ 90 256 1"/>
              <a:gd name="T5" fmla="*/ 0 256 1"/>
              <a:gd name="G6" fmla="+- -11739500 T4 T5"/>
              <a:gd name="G7" fmla="*/ G6 2 1"/>
              <a:gd name="G8" fmla="abs -11739500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478"/>
              <a:gd name="G18" fmla="*/ 10478 1 2"/>
              <a:gd name="G19" fmla="+- G18 5400 0"/>
              <a:gd name="G20" fmla="cos G19 -11739500"/>
              <a:gd name="G21" fmla="sin G19 -11739500"/>
              <a:gd name="G22" fmla="+- G20 10800 0"/>
              <a:gd name="G23" fmla="+- G21 10800 0"/>
              <a:gd name="G24" fmla="+- 10800 0 G20"/>
              <a:gd name="G25" fmla="+- 10478 10800 0"/>
              <a:gd name="G26" fmla="?: G9 G17 G25"/>
              <a:gd name="G27" fmla="?: G9 0 21600"/>
              <a:gd name="G28" fmla="cos 10800 -11739500"/>
              <a:gd name="G29" fmla="sin 10800 -11739500"/>
              <a:gd name="G30" fmla="sin 10478 -11739500"/>
              <a:gd name="G31" fmla="+- G28 10800 0"/>
              <a:gd name="G32" fmla="+- G29 10800 0"/>
              <a:gd name="G33" fmla="+- G30 10800 0"/>
              <a:gd name="G34" fmla="?: G4 0 G31"/>
              <a:gd name="G35" fmla="?: -11739500 G34 0"/>
              <a:gd name="G36" fmla="?: G6 G35 G31"/>
              <a:gd name="G37" fmla="+- 21600 0 G36"/>
              <a:gd name="G38" fmla="?: G4 0 G33"/>
              <a:gd name="G39" fmla="?: -11739500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162 w 21600"/>
              <a:gd name="T15" fmla="*/ 10638 h 21600"/>
              <a:gd name="T16" fmla="*/ 10800 w 21600"/>
              <a:gd name="T17" fmla="*/ 322 h 21600"/>
              <a:gd name="T18" fmla="*/ 21438 w 21600"/>
              <a:gd name="T19" fmla="*/ 10638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 rotWithShape="1">
            <a:gsLst>
              <a:gs pos="0">
                <a:schemeClr val="bg2">
                  <a:gamma/>
                  <a:tint val="45490"/>
                  <a:invGamma/>
                </a:schemeClr>
              </a:gs>
              <a:gs pos="50000">
                <a:schemeClr val="bg2"/>
              </a:gs>
              <a:gs pos="100000">
                <a:schemeClr val="bg2">
                  <a:gamma/>
                  <a:tint val="45490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6200" dir="10800000" kx="-3284103" algn="b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+mn-ea"/>
            </a:endParaRPr>
          </a:p>
        </p:txBody>
      </p:sp>
      <p:sp>
        <p:nvSpPr>
          <p:cNvPr id="5" name="自选图形 4"/>
          <p:cNvSpPr>
            <a:spLocks noChangeArrowheads="1"/>
          </p:cNvSpPr>
          <p:nvPr/>
        </p:nvSpPr>
        <p:spPr bwMode="ltGray">
          <a:xfrm rot="5400000" flipH="1">
            <a:off x="-492918" y="1803647"/>
            <a:ext cx="4032250" cy="3929063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771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10744" y="10800"/>
                </a:lnTo>
                <a:close/>
              </a:path>
            </a:pathLst>
          </a:custGeom>
          <a:solidFill>
            <a:schemeClr val="accent1">
              <a:alpha val="36078"/>
            </a:schemeClr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自选图形 5"/>
          <p:cNvSpPr>
            <a:spLocks noChangeArrowheads="1"/>
          </p:cNvSpPr>
          <p:nvPr/>
        </p:nvSpPr>
        <p:spPr bwMode="gray">
          <a:xfrm>
            <a:off x="3346451" y="4992140"/>
            <a:ext cx="462121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dirty="0"/>
              <a:t>队列的表示和实现</a:t>
            </a:r>
          </a:p>
        </p:txBody>
      </p:sp>
      <p:sp>
        <p:nvSpPr>
          <p:cNvPr id="7" name="自选图形 6"/>
          <p:cNvSpPr>
            <a:spLocks noChangeArrowheads="1"/>
          </p:cNvSpPr>
          <p:nvPr/>
        </p:nvSpPr>
        <p:spPr bwMode="gray">
          <a:xfrm>
            <a:off x="3841750" y="4165053"/>
            <a:ext cx="4775200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dirty="0"/>
              <a:t>队列的定义及其</a:t>
            </a:r>
            <a:r>
              <a:rPr lang="en-US" altLang="zh-CN" dirty="0"/>
              <a:t>ADT</a:t>
            </a:r>
            <a:r>
              <a:rPr lang="zh-CN" altLang="en-US" dirty="0"/>
              <a:t>定义</a:t>
            </a:r>
          </a:p>
        </p:txBody>
      </p:sp>
      <p:sp>
        <p:nvSpPr>
          <p:cNvPr id="8" name="自选图形 7"/>
          <p:cNvSpPr>
            <a:spLocks noChangeArrowheads="1"/>
          </p:cNvSpPr>
          <p:nvPr/>
        </p:nvSpPr>
        <p:spPr bwMode="gray">
          <a:xfrm>
            <a:off x="3962400" y="3352253"/>
            <a:ext cx="4654550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dirty="0"/>
              <a:t>栈的应用、与递归的关系</a:t>
            </a:r>
          </a:p>
        </p:txBody>
      </p:sp>
      <p:sp>
        <p:nvSpPr>
          <p:cNvPr id="9" name="自选图形 8"/>
          <p:cNvSpPr>
            <a:spLocks noChangeArrowheads="1"/>
          </p:cNvSpPr>
          <p:nvPr/>
        </p:nvSpPr>
        <p:spPr bwMode="gray">
          <a:xfrm>
            <a:off x="3810000" y="2483890"/>
            <a:ext cx="4662488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dirty="0"/>
              <a:t>栈的表示和实现</a:t>
            </a:r>
          </a:p>
        </p:txBody>
      </p:sp>
      <p:sp>
        <p:nvSpPr>
          <p:cNvPr id="10" name="自选图形 9"/>
          <p:cNvSpPr>
            <a:spLocks noChangeArrowheads="1"/>
          </p:cNvSpPr>
          <p:nvPr/>
        </p:nvSpPr>
        <p:spPr bwMode="gray">
          <a:xfrm>
            <a:off x="3289301" y="1713953"/>
            <a:ext cx="467836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dirty="0"/>
              <a:t>栈的定义及其</a:t>
            </a:r>
            <a:r>
              <a:rPr lang="en-US" altLang="zh-CN" dirty="0"/>
              <a:t>ADT</a:t>
            </a:r>
            <a:r>
              <a:rPr lang="zh-CN" altLang="en-US" dirty="0"/>
              <a:t>定义</a:t>
            </a:r>
          </a:p>
        </p:txBody>
      </p:sp>
      <p:grpSp>
        <p:nvGrpSpPr>
          <p:cNvPr id="2" name="组合 10"/>
          <p:cNvGrpSpPr>
            <a:grpSpLocks/>
          </p:cNvGrpSpPr>
          <p:nvPr/>
        </p:nvGrpSpPr>
        <p:grpSpPr bwMode="auto">
          <a:xfrm>
            <a:off x="2971800" y="1668855"/>
            <a:ext cx="381000" cy="649233"/>
            <a:chOff x="2078" y="1112"/>
            <a:chExt cx="1615" cy="2752"/>
          </a:xfrm>
        </p:grpSpPr>
        <p:sp>
          <p:nvSpPr>
            <p:cNvPr id="12" name="椭圆 11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椭圆 12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椭圆 13"/>
            <p:cNvSpPr>
              <a:spLocks noChangeArrowheads="1"/>
            </p:cNvSpPr>
            <p:nvPr/>
          </p:nvSpPr>
          <p:spPr bwMode="gray">
            <a:xfrm>
              <a:off x="2253" y="1112"/>
              <a:ext cx="1101" cy="2752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15" name="椭圆 14"/>
            <p:cNvSpPr>
              <a:spLocks noChangeArrowheads="1"/>
            </p:cNvSpPr>
            <p:nvPr/>
          </p:nvSpPr>
          <p:spPr bwMode="gray">
            <a:xfrm>
              <a:off x="2254" y="1112"/>
              <a:ext cx="1101" cy="2752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" name="椭圆 15"/>
            <p:cNvSpPr>
              <a:spLocks noChangeArrowheads="1"/>
            </p:cNvSpPr>
            <p:nvPr/>
          </p:nvSpPr>
          <p:spPr bwMode="gray">
            <a:xfrm>
              <a:off x="2334" y="1112"/>
              <a:ext cx="1097" cy="2752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17" name="椭圆 16"/>
            <p:cNvSpPr>
              <a:spLocks noChangeArrowheads="1"/>
            </p:cNvSpPr>
            <p:nvPr/>
          </p:nvSpPr>
          <p:spPr bwMode="gray">
            <a:xfrm>
              <a:off x="2337" y="1112"/>
              <a:ext cx="1096" cy="2752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rgbClr val="7C63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" name="组合 17"/>
          <p:cNvGrpSpPr>
            <a:grpSpLocks/>
          </p:cNvGrpSpPr>
          <p:nvPr/>
        </p:nvGrpSpPr>
        <p:grpSpPr bwMode="auto">
          <a:xfrm>
            <a:off x="3505200" y="2456255"/>
            <a:ext cx="381000" cy="649233"/>
            <a:chOff x="2078" y="1112"/>
            <a:chExt cx="1615" cy="2752"/>
          </a:xfrm>
        </p:grpSpPr>
        <p:sp>
          <p:nvSpPr>
            <p:cNvPr id="19" name="椭圆 18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椭圆 19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椭圆 20"/>
            <p:cNvSpPr>
              <a:spLocks noChangeArrowheads="1"/>
            </p:cNvSpPr>
            <p:nvPr/>
          </p:nvSpPr>
          <p:spPr bwMode="gray">
            <a:xfrm>
              <a:off x="2253" y="1112"/>
              <a:ext cx="1101" cy="2752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22" name="椭圆 21"/>
            <p:cNvSpPr>
              <a:spLocks noChangeArrowheads="1"/>
            </p:cNvSpPr>
            <p:nvPr/>
          </p:nvSpPr>
          <p:spPr bwMode="gray">
            <a:xfrm>
              <a:off x="2254" y="1112"/>
              <a:ext cx="1101" cy="2752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3" name="椭圆 22"/>
            <p:cNvSpPr>
              <a:spLocks noChangeArrowheads="1"/>
            </p:cNvSpPr>
            <p:nvPr/>
          </p:nvSpPr>
          <p:spPr bwMode="gray">
            <a:xfrm>
              <a:off x="2334" y="1112"/>
              <a:ext cx="1097" cy="2752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24" name="椭圆 23"/>
            <p:cNvSpPr>
              <a:spLocks noChangeArrowheads="1"/>
            </p:cNvSpPr>
            <p:nvPr/>
          </p:nvSpPr>
          <p:spPr bwMode="gray">
            <a:xfrm>
              <a:off x="2337" y="1112"/>
              <a:ext cx="1096" cy="2752"/>
            </a:xfrm>
            <a:prstGeom prst="ellipse">
              <a:avLst/>
            </a:prstGeom>
            <a:gradFill rotWithShape="1">
              <a:gsLst>
                <a:gs pos="0">
                  <a:srgbClr val="48BE67"/>
                </a:gs>
                <a:gs pos="100000">
                  <a:srgbClr val="235C32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1" name="组合 24"/>
          <p:cNvGrpSpPr>
            <a:grpSpLocks/>
          </p:cNvGrpSpPr>
          <p:nvPr/>
        </p:nvGrpSpPr>
        <p:grpSpPr bwMode="auto">
          <a:xfrm>
            <a:off x="3657600" y="3294455"/>
            <a:ext cx="381000" cy="649233"/>
            <a:chOff x="2078" y="1112"/>
            <a:chExt cx="1615" cy="2752"/>
          </a:xfrm>
        </p:grpSpPr>
        <p:sp>
          <p:nvSpPr>
            <p:cNvPr id="26" name="椭圆 25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椭圆 26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椭圆 27"/>
            <p:cNvSpPr>
              <a:spLocks noChangeArrowheads="1"/>
            </p:cNvSpPr>
            <p:nvPr/>
          </p:nvSpPr>
          <p:spPr bwMode="gray">
            <a:xfrm>
              <a:off x="2253" y="1112"/>
              <a:ext cx="1101" cy="2752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29" name="椭圆 28"/>
            <p:cNvSpPr>
              <a:spLocks noChangeArrowheads="1"/>
            </p:cNvSpPr>
            <p:nvPr/>
          </p:nvSpPr>
          <p:spPr bwMode="gray">
            <a:xfrm>
              <a:off x="2254" y="1112"/>
              <a:ext cx="1101" cy="2752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0F5368"/>
                </a:gs>
              </a:gsLst>
              <a:lin ang="54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" name="椭圆 29"/>
            <p:cNvSpPr>
              <a:spLocks noChangeArrowheads="1"/>
            </p:cNvSpPr>
            <p:nvPr/>
          </p:nvSpPr>
          <p:spPr bwMode="gray">
            <a:xfrm>
              <a:off x="2334" y="1112"/>
              <a:ext cx="1097" cy="2752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31" name="椭圆 30"/>
            <p:cNvSpPr>
              <a:spLocks noChangeArrowheads="1"/>
            </p:cNvSpPr>
            <p:nvPr/>
          </p:nvSpPr>
          <p:spPr bwMode="gray">
            <a:xfrm>
              <a:off x="2337" y="1112"/>
              <a:ext cx="1096" cy="2752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10576D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8" name="组合 31"/>
          <p:cNvGrpSpPr>
            <a:grpSpLocks/>
          </p:cNvGrpSpPr>
          <p:nvPr/>
        </p:nvGrpSpPr>
        <p:grpSpPr bwMode="auto">
          <a:xfrm>
            <a:off x="3505200" y="4132655"/>
            <a:ext cx="381000" cy="649233"/>
            <a:chOff x="2078" y="1112"/>
            <a:chExt cx="1615" cy="2752"/>
          </a:xfrm>
        </p:grpSpPr>
        <p:sp>
          <p:nvSpPr>
            <p:cNvPr id="33" name="椭圆 32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椭圆 33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椭圆 34"/>
            <p:cNvSpPr>
              <a:spLocks noChangeArrowheads="1"/>
            </p:cNvSpPr>
            <p:nvPr/>
          </p:nvSpPr>
          <p:spPr bwMode="gray">
            <a:xfrm>
              <a:off x="2253" y="1112"/>
              <a:ext cx="1101" cy="2752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36" name="椭圆 35"/>
            <p:cNvSpPr>
              <a:spLocks noChangeArrowheads="1"/>
            </p:cNvSpPr>
            <p:nvPr/>
          </p:nvSpPr>
          <p:spPr bwMode="gray">
            <a:xfrm>
              <a:off x="2254" y="1112"/>
              <a:ext cx="1101" cy="2752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8D67E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7" name="椭圆 36"/>
            <p:cNvSpPr>
              <a:spLocks noChangeArrowheads="1"/>
            </p:cNvSpPr>
            <p:nvPr/>
          </p:nvSpPr>
          <p:spPr bwMode="gray">
            <a:xfrm>
              <a:off x="2334" y="1112"/>
              <a:ext cx="1097" cy="2752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38" name="椭圆 37"/>
            <p:cNvSpPr>
              <a:spLocks noChangeArrowheads="1"/>
            </p:cNvSpPr>
            <p:nvPr/>
          </p:nvSpPr>
          <p:spPr bwMode="gray">
            <a:xfrm>
              <a:off x="2337" y="1112"/>
              <a:ext cx="1096" cy="2752"/>
            </a:xfrm>
            <a:prstGeom prst="ellipse">
              <a:avLst/>
            </a:prstGeom>
            <a:gradFill rotWithShape="1">
              <a:gsLst>
                <a:gs pos="0">
                  <a:srgbClr val="8D67E1"/>
                </a:gs>
                <a:gs pos="100000">
                  <a:srgbClr val="45326D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5" name="组合 38"/>
          <p:cNvGrpSpPr>
            <a:grpSpLocks/>
          </p:cNvGrpSpPr>
          <p:nvPr/>
        </p:nvGrpSpPr>
        <p:grpSpPr bwMode="auto">
          <a:xfrm>
            <a:off x="3048000" y="4907355"/>
            <a:ext cx="355600" cy="649233"/>
            <a:chOff x="2078" y="1112"/>
            <a:chExt cx="1615" cy="2752"/>
          </a:xfrm>
        </p:grpSpPr>
        <p:sp>
          <p:nvSpPr>
            <p:cNvPr id="40" name="椭圆 39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" name="椭圆 40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" name="椭圆 41"/>
            <p:cNvSpPr>
              <a:spLocks noChangeArrowheads="1"/>
            </p:cNvSpPr>
            <p:nvPr/>
          </p:nvSpPr>
          <p:spPr bwMode="gray">
            <a:xfrm>
              <a:off x="2251" y="1112"/>
              <a:ext cx="1180" cy="2752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43" name="椭圆 42"/>
            <p:cNvSpPr>
              <a:spLocks noChangeArrowheads="1"/>
            </p:cNvSpPr>
            <p:nvPr/>
          </p:nvSpPr>
          <p:spPr bwMode="gray">
            <a:xfrm>
              <a:off x="2254" y="1112"/>
              <a:ext cx="1180" cy="2752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" name="椭圆 43"/>
            <p:cNvSpPr>
              <a:spLocks noChangeArrowheads="1"/>
            </p:cNvSpPr>
            <p:nvPr/>
          </p:nvSpPr>
          <p:spPr bwMode="gray">
            <a:xfrm>
              <a:off x="2338" y="1112"/>
              <a:ext cx="1096" cy="2752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  <a:ea typeface="+mn-ea"/>
              </a:endParaRPr>
            </a:p>
          </p:txBody>
        </p:sp>
        <p:sp>
          <p:nvSpPr>
            <p:cNvPr id="45" name="椭圆 44"/>
            <p:cNvSpPr>
              <a:spLocks noChangeArrowheads="1"/>
            </p:cNvSpPr>
            <p:nvPr/>
          </p:nvSpPr>
          <p:spPr bwMode="gray">
            <a:xfrm>
              <a:off x="2337" y="1112"/>
              <a:ext cx="1096" cy="2752"/>
            </a:xfrm>
            <a:prstGeom prst="ellipse">
              <a:avLst/>
            </a:prstGeom>
            <a:gradFill rotWithShape="1">
              <a:gsLst>
                <a:gs pos="0">
                  <a:srgbClr val="E35E23"/>
                </a:gs>
                <a:gs pos="100000">
                  <a:srgbClr val="6E2E1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46" name="自选图形 45"/>
          <p:cNvSpPr>
            <a:spLocks noChangeArrowheads="1"/>
          </p:cNvSpPr>
          <p:nvPr/>
        </p:nvSpPr>
        <p:spPr bwMode="gray">
          <a:xfrm>
            <a:off x="8000702" y="5009214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" name="自选图形 46"/>
          <p:cNvSpPr>
            <a:spLocks noChangeArrowheads="1"/>
          </p:cNvSpPr>
          <p:nvPr/>
        </p:nvSpPr>
        <p:spPr bwMode="gray">
          <a:xfrm>
            <a:off x="8432502" y="5009214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" name="自选图形 47"/>
          <p:cNvSpPr>
            <a:spLocks noChangeArrowheads="1"/>
          </p:cNvSpPr>
          <p:nvPr/>
        </p:nvSpPr>
        <p:spPr bwMode="gray">
          <a:xfrm>
            <a:off x="8864302" y="5009214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5" name="Rectangle 15"/>
          <p:cNvSpPr>
            <a:spLocks noChangeArrowheads="1"/>
          </p:cNvSpPr>
          <p:nvPr/>
        </p:nvSpPr>
        <p:spPr bwMode="auto">
          <a:xfrm>
            <a:off x="2692400" y="523875"/>
            <a:ext cx="5822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ea typeface="华文中宋" pitchFamily="2" charset="-122"/>
              </a:rPr>
              <a:t>3.4.2   </a:t>
            </a:r>
            <a:r>
              <a:rPr lang="zh-CN" altLang="en-US">
                <a:ea typeface="华文中宋" pitchFamily="2" charset="-122"/>
              </a:rPr>
              <a:t>链队列</a:t>
            </a:r>
            <a:r>
              <a:rPr lang="en-US" altLang="zh-CN">
                <a:ea typeface="华文中宋" pitchFamily="2" charset="-122"/>
              </a:rPr>
              <a:t>——</a:t>
            </a:r>
            <a:r>
              <a:rPr lang="zh-CN" altLang="en-US">
                <a:ea typeface="华文中宋" pitchFamily="2" charset="-122"/>
              </a:rPr>
              <a:t>队列的链式表示和实现   </a:t>
            </a:r>
          </a:p>
        </p:txBody>
      </p:sp>
      <p:sp>
        <p:nvSpPr>
          <p:cNvPr id="20496" name="Text Box 16"/>
          <p:cNvSpPr txBox="1">
            <a:spLocks noChangeArrowheads="1"/>
          </p:cNvSpPr>
          <p:nvPr/>
        </p:nvSpPr>
        <p:spPr bwMode="auto">
          <a:xfrm>
            <a:off x="1992314" y="1100138"/>
            <a:ext cx="49228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effectLst>
                  <a:outerShdw blurRad="38100" dist="38100" dir="2700000" algn="tl">
                    <a:srgbClr val="FFFFFF"/>
                  </a:outerShdw>
                </a:effectLst>
                <a:ea typeface="华文中宋" pitchFamily="2" charset="-122"/>
              </a:rPr>
              <a:t>        </a:t>
            </a:r>
            <a:r>
              <a:rPr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链队列：</a:t>
            </a:r>
            <a:r>
              <a:rPr lang="zh-CN" altLang="en-US"/>
              <a:t>用链表表示的队列。  </a:t>
            </a:r>
            <a:endParaRPr kumimoji="0" lang="zh-CN" altLang="en-US" sz="2800" b="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20497" name="Text Box 17"/>
          <p:cNvSpPr txBox="1">
            <a:spLocks noChangeArrowheads="1"/>
          </p:cNvSpPr>
          <p:nvPr/>
        </p:nvSpPr>
        <p:spPr bwMode="auto">
          <a:xfrm>
            <a:off x="3802064" y="1531938"/>
            <a:ext cx="61245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zh-CN" altLang="en-US">
                <a:latin typeface="华文新魏" pitchFamily="2" charset="-122"/>
                <a:ea typeface="华文新魏" pitchFamily="2" charset="-122"/>
              </a:rPr>
              <a:t>是限制仅在表头删除和表尾插入的单链表。  </a:t>
            </a:r>
          </a:p>
        </p:txBody>
      </p:sp>
      <p:sp>
        <p:nvSpPr>
          <p:cNvPr id="20498" name="Text Box 18"/>
          <p:cNvSpPr txBox="1">
            <a:spLocks noChangeArrowheads="1"/>
          </p:cNvSpPr>
          <p:nvPr/>
        </p:nvSpPr>
        <p:spPr bwMode="auto">
          <a:xfrm>
            <a:off x="2566988" y="1955801"/>
            <a:ext cx="6965950" cy="96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kumimoji="0"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itchFamily="2" charset="-122"/>
                <a:ea typeface="华文新魏" pitchFamily="2" charset="-122"/>
              </a:rPr>
              <a:t>一个链队列由一个头指针和一个尾指针唯一确定</a:t>
            </a:r>
            <a:r>
              <a:rPr kumimoji="0" lang="zh-CN" altLang="en-US">
                <a:latin typeface="华文新魏" pitchFamily="2" charset="-122"/>
                <a:ea typeface="华文新魏" pitchFamily="2" charset="-122"/>
              </a:rPr>
              <a:t>。</a:t>
            </a:r>
            <a:r>
              <a:rPr kumimoji="0" lang="zh-CN" altLang="en-US">
                <a:ea typeface="华文新魏" pitchFamily="2" charset="-122"/>
              </a:rPr>
              <a:t> </a:t>
            </a:r>
          </a:p>
          <a:p>
            <a:pPr>
              <a:lnSpc>
                <a:spcPct val="120000"/>
              </a:lnSpc>
            </a:pPr>
            <a:r>
              <a:rPr kumimoji="0" lang="zh-CN" altLang="en-US"/>
              <a:t>（因为仅有头指针不便于在表尾做插入操作）。 </a:t>
            </a:r>
          </a:p>
        </p:txBody>
      </p:sp>
      <p:sp>
        <p:nvSpPr>
          <p:cNvPr id="20499" name="Text Box 19"/>
          <p:cNvSpPr txBox="1">
            <a:spLocks noChangeArrowheads="1"/>
          </p:cNvSpPr>
          <p:nvPr/>
        </p:nvSpPr>
        <p:spPr bwMode="auto">
          <a:xfrm>
            <a:off x="2551113" y="2924176"/>
            <a:ext cx="7270750" cy="140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en-US" altLang="zh-CN">
                <a:ea typeface="华文新魏" pitchFamily="2" charset="-122"/>
              </a:rPr>
              <a:t>        </a:t>
            </a:r>
            <a:r>
              <a:rPr lang="zh-CN" altLang="en-US">
                <a:ea typeface="华文新魏" pitchFamily="2" charset="-122"/>
              </a:rPr>
              <a:t>为了操作的方便，也给链队列添加一个头结点， </a:t>
            </a:r>
          </a:p>
          <a:p>
            <a:pPr eaLnBrk="0" hangingPunct="0">
              <a:lnSpc>
                <a:spcPct val="120000"/>
              </a:lnSpc>
            </a:pPr>
            <a:r>
              <a:rPr lang="zh-CN" altLang="en-US">
                <a:ea typeface="华文新魏" pitchFamily="2" charset="-122"/>
              </a:rPr>
              <a:t>因此，空队列的判定条件是：</a:t>
            </a:r>
            <a:r>
              <a:rPr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新魏" pitchFamily="2" charset="-122"/>
              </a:rPr>
              <a:t>头指针和尾指针都指 </a:t>
            </a:r>
          </a:p>
          <a:p>
            <a:pPr eaLnBrk="0" hangingPunct="0">
              <a:lnSpc>
                <a:spcPct val="120000"/>
              </a:lnSpc>
            </a:pPr>
            <a:r>
              <a:rPr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新魏" pitchFamily="2" charset="-122"/>
              </a:rPr>
              <a:t>向头结点。 </a:t>
            </a:r>
          </a:p>
        </p:txBody>
      </p:sp>
      <p:grpSp>
        <p:nvGrpSpPr>
          <p:cNvPr id="20549" name="Group 69"/>
          <p:cNvGrpSpPr>
            <a:grpSpLocks/>
          </p:cNvGrpSpPr>
          <p:nvPr/>
        </p:nvGrpSpPr>
        <p:grpSpPr bwMode="auto">
          <a:xfrm>
            <a:off x="2559050" y="4365626"/>
            <a:ext cx="1689100" cy="1217613"/>
            <a:chOff x="576" y="2836"/>
            <a:chExt cx="1064" cy="767"/>
          </a:xfrm>
        </p:grpSpPr>
        <p:sp>
          <p:nvSpPr>
            <p:cNvPr id="20537" name="Line 57"/>
            <p:cNvSpPr>
              <a:spLocks noChangeShapeType="1"/>
            </p:cNvSpPr>
            <p:nvPr/>
          </p:nvSpPr>
          <p:spPr bwMode="auto">
            <a:xfrm>
              <a:off x="624" y="3447"/>
              <a:ext cx="54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38" name="Line 58"/>
            <p:cNvSpPr>
              <a:spLocks noChangeShapeType="1"/>
            </p:cNvSpPr>
            <p:nvPr/>
          </p:nvSpPr>
          <p:spPr bwMode="auto">
            <a:xfrm>
              <a:off x="1296" y="3105"/>
              <a:ext cx="0" cy="19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39" name="Text Box 59"/>
            <p:cNvSpPr txBox="1">
              <a:spLocks noChangeArrowheads="1"/>
            </p:cNvSpPr>
            <p:nvPr/>
          </p:nvSpPr>
          <p:spPr bwMode="auto">
            <a:xfrm>
              <a:off x="1342" y="3255"/>
              <a:ext cx="290" cy="3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 eaLnBrk="0" hangingPunct="0">
                <a:spcBef>
                  <a:spcPts val="600"/>
                </a:spcBef>
                <a:spcAft>
                  <a:spcPts val="200"/>
                </a:spcAft>
              </a:pPr>
              <a:r>
                <a:rPr kumimoji="0" lang="en-US" altLang="zh-CN" sz="2000">
                  <a:ea typeface="宋体" pitchFamily="2" charset="-122"/>
                </a:rPr>
                <a:t>∧</a:t>
              </a:r>
            </a:p>
          </p:txBody>
        </p:sp>
        <p:sp>
          <p:nvSpPr>
            <p:cNvPr id="20540" name="Text Box 60"/>
            <p:cNvSpPr txBox="1">
              <a:spLocks noChangeArrowheads="1"/>
            </p:cNvSpPr>
            <p:nvPr/>
          </p:nvSpPr>
          <p:spPr bwMode="auto">
            <a:xfrm>
              <a:off x="576" y="3172"/>
              <a:ext cx="632" cy="3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 eaLnBrk="0" hangingPunct="0">
                <a:spcBef>
                  <a:spcPts val="600"/>
                </a:spcBef>
                <a:spcAft>
                  <a:spcPts val="200"/>
                </a:spcAft>
              </a:pPr>
              <a:r>
                <a:rPr kumimoji="0" lang="en-US" altLang="zh-CN">
                  <a:ea typeface="宋体" pitchFamily="2" charset="-122"/>
                </a:rPr>
                <a:t>front</a:t>
              </a:r>
            </a:p>
          </p:txBody>
        </p:sp>
        <p:sp>
          <p:nvSpPr>
            <p:cNvPr id="20541" name="Text Box 61"/>
            <p:cNvSpPr txBox="1">
              <a:spLocks noChangeArrowheads="1"/>
            </p:cNvSpPr>
            <p:nvPr/>
          </p:nvSpPr>
          <p:spPr bwMode="auto">
            <a:xfrm>
              <a:off x="1008" y="2836"/>
              <a:ext cx="632" cy="3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 eaLnBrk="0" hangingPunct="0">
                <a:spcBef>
                  <a:spcPts val="600"/>
                </a:spcBef>
                <a:spcAft>
                  <a:spcPts val="200"/>
                </a:spcAft>
              </a:pPr>
              <a:r>
                <a:rPr kumimoji="0" lang="en-US" altLang="zh-CN">
                  <a:ea typeface="宋体" pitchFamily="2" charset="-122"/>
                </a:rPr>
                <a:t>rear</a:t>
              </a:r>
            </a:p>
          </p:txBody>
        </p:sp>
        <p:sp>
          <p:nvSpPr>
            <p:cNvPr id="20543" name="Rectangle 63"/>
            <p:cNvSpPr>
              <a:spLocks noChangeArrowheads="1"/>
            </p:cNvSpPr>
            <p:nvPr/>
          </p:nvSpPr>
          <p:spPr bwMode="auto">
            <a:xfrm>
              <a:off x="1152" y="3303"/>
              <a:ext cx="240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44" name="Rectangle 64"/>
            <p:cNvSpPr>
              <a:spLocks noChangeArrowheads="1"/>
            </p:cNvSpPr>
            <p:nvPr/>
          </p:nvSpPr>
          <p:spPr bwMode="auto">
            <a:xfrm>
              <a:off x="1392" y="3303"/>
              <a:ext cx="192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0554" name="Group 74"/>
          <p:cNvGrpSpPr>
            <a:grpSpLocks/>
          </p:cNvGrpSpPr>
          <p:nvPr/>
        </p:nvGrpSpPr>
        <p:grpSpPr bwMode="auto">
          <a:xfrm>
            <a:off x="4235450" y="4408488"/>
            <a:ext cx="5010150" cy="1828800"/>
            <a:chOff x="1632" y="2832"/>
            <a:chExt cx="3156" cy="1152"/>
          </a:xfrm>
        </p:grpSpPr>
        <p:grpSp>
          <p:nvGrpSpPr>
            <p:cNvPr id="20503" name="Group 23"/>
            <p:cNvGrpSpPr>
              <a:grpSpLocks/>
            </p:cNvGrpSpPr>
            <p:nvPr/>
          </p:nvGrpSpPr>
          <p:grpSpPr bwMode="auto">
            <a:xfrm>
              <a:off x="2917" y="3295"/>
              <a:ext cx="399" cy="248"/>
              <a:chOff x="2312" y="13228"/>
              <a:chExt cx="748" cy="450"/>
            </a:xfrm>
          </p:grpSpPr>
          <p:sp>
            <p:nvSpPr>
              <p:cNvPr id="20504" name="Rectangle 24"/>
              <p:cNvSpPr>
                <a:spLocks noChangeArrowheads="1"/>
              </p:cNvSpPr>
              <p:nvPr/>
            </p:nvSpPr>
            <p:spPr bwMode="auto">
              <a:xfrm>
                <a:off x="2312" y="13228"/>
                <a:ext cx="748" cy="4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05" name="Line 25"/>
              <p:cNvSpPr>
                <a:spLocks noChangeShapeType="1"/>
              </p:cNvSpPr>
              <p:nvPr/>
            </p:nvSpPr>
            <p:spPr bwMode="auto">
              <a:xfrm>
                <a:off x="2720" y="13228"/>
                <a:ext cx="0" cy="45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0506" name="Text Box 26"/>
            <p:cNvSpPr txBox="1">
              <a:spLocks noChangeArrowheads="1"/>
            </p:cNvSpPr>
            <p:nvPr/>
          </p:nvSpPr>
          <p:spPr bwMode="auto">
            <a:xfrm>
              <a:off x="4156" y="2836"/>
              <a:ext cx="632" cy="3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 eaLnBrk="0" hangingPunct="0">
                <a:spcBef>
                  <a:spcPts val="600"/>
                </a:spcBef>
                <a:spcAft>
                  <a:spcPts val="200"/>
                </a:spcAft>
              </a:pPr>
              <a:r>
                <a:rPr kumimoji="0" lang="en-US" altLang="zh-CN">
                  <a:ea typeface="宋体" pitchFamily="2" charset="-122"/>
                </a:rPr>
                <a:t>rear</a:t>
              </a:r>
            </a:p>
          </p:txBody>
        </p:sp>
        <p:sp>
          <p:nvSpPr>
            <p:cNvPr id="20514" name="Line 34"/>
            <p:cNvSpPr>
              <a:spLocks noChangeShapeType="1"/>
            </p:cNvSpPr>
            <p:nvPr/>
          </p:nvSpPr>
          <p:spPr bwMode="auto">
            <a:xfrm>
              <a:off x="2736" y="3402"/>
              <a:ext cx="18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0515" name="Group 35"/>
            <p:cNvGrpSpPr>
              <a:grpSpLocks/>
            </p:cNvGrpSpPr>
            <p:nvPr/>
          </p:nvGrpSpPr>
          <p:grpSpPr bwMode="auto">
            <a:xfrm>
              <a:off x="3425" y="3295"/>
              <a:ext cx="400" cy="248"/>
              <a:chOff x="2312" y="13228"/>
              <a:chExt cx="748" cy="450"/>
            </a:xfrm>
          </p:grpSpPr>
          <p:sp>
            <p:nvSpPr>
              <p:cNvPr id="20516" name="Rectangle 36"/>
              <p:cNvSpPr>
                <a:spLocks noChangeArrowheads="1"/>
              </p:cNvSpPr>
              <p:nvPr/>
            </p:nvSpPr>
            <p:spPr bwMode="auto">
              <a:xfrm>
                <a:off x="2312" y="13228"/>
                <a:ext cx="748" cy="4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17" name="Line 37"/>
              <p:cNvSpPr>
                <a:spLocks noChangeShapeType="1"/>
              </p:cNvSpPr>
              <p:nvPr/>
            </p:nvSpPr>
            <p:spPr bwMode="auto">
              <a:xfrm>
                <a:off x="2720" y="13228"/>
                <a:ext cx="0" cy="45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0518" name="Line 38"/>
            <p:cNvSpPr>
              <a:spLocks noChangeShapeType="1"/>
            </p:cNvSpPr>
            <p:nvPr/>
          </p:nvSpPr>
          <p:spPr bwMode="auto">
            <a:xfrm>
              <a:off x="3244" y="3402"/>
              <a:ext cx="18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9" name="Line 39"/>
            <p:cNvSpPr>
              <a:spLocks noChangeShapeType="1"/>
            </p:cNvSpPr>
            <p:nvPr/>
          </p:nvSpPr>
          <p:spPr bwMode="auto">
            <a:xfrm>
              <a:off x="3788" y="3402"/>
              <a:ext cx="18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0" name="Line 40"/>
            <p:cNvSpPr>
              <a:spLocks noChangeShapeType="1"/>
            </p:cNvSpPr>
            <p:nvPr/>
          </p:nvSpPr>
          <p:spPr bwMode="auto">
            <a:xfrm>
              <a:off x="4115" y="3402"/>
              <a:ext cx="18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0521" name="Group 41"/>
            <p:cNvGrpSpPr>
              <a:grpSpLocks/>
            </p:cNvGrpSpPr>
            <p:nvPr/>
          </p:nvGrpSpPr>
          <p:grpSpPr bwMode="auto">
            <a:xfrm>
              <a:off x="4296" y="3295"/>
              <a:ext cx="400" cy="248"/>
              <a:chOff x="2312" y="13228"/>
              <a:chExt cx="748" cy="450"/>
            </a:xfrm>
          </p:grpSpPr>
          <p:sp>
            <p:nvSpPr>
              <p:cNvPr id="20522" name="Rectangle 42"/>
              <p:cNvSpPr>
                <a:spLocks noChangeArrowheads="1"/>
              </p:cNvSpPr>
              <p:nvPr/>
            </p:nvSpPr>
            <p:spPr bwMode="auto">
              <a:xfrm>
                <a:off x="2312" y="13228"/>
                <a:ext cx="748" cy="4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23" name="Line 43"/>
              <p:cNvSpPr>
                <a:spLocks noChangeShapeType="1"/>
              </p:cNvSpPr>
              <p:nvPr/>
            </p:nvSpPr>
            <p:spPr bwMode="auto">
              <a:xfrm>
                <a:off x="2720" y="13228"/>
                <a:ext cx="0" cy="45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0524" name="Line 44"/>
            <p:cNvSpPr>
              <a:spLocks noChangeShapeType="1"/>
            </p:cNvSpPr>
            <p:nvPr/>
          </p:nvSpPr>
          <p:spPr bwMode="auto">
            <a:xfrm>
              <a:off x="1824" y="3414"/>
              <a:ext cx="52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5" name="Text Box 45"/>
            <p:cNvSpPr txBox="1">
              <a:spLocks noChangeArrowheads="1"/>
            </p:cNvSpPr>
            <p:nvPr/>
          </p:nvSpPr>
          <p:spPr bwMode="auto">
            <a:xfrm>
              <a:off x="1800" y="3159"/>
              <a:ext cx="632" cy="3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 eaLnBrk="0" hangingPunct="0">
                <a:spcBef>
                  <a:spcPts val="600"/>
                </a:spcBef>
                <a:spcAft>
                  <a:spcPts val="200"/>
                </a:spcAft>
              </a:pPr>
              <a:r>
                <a:rPr kumimoji="0" lang="en-US" altLang="zh-CN">
                  <a:ea typeface="宋体" pitchFamily="2" charset="-122"/>
                </a:rPr>
                <a:t>front</a:t>
              </a:r>
            </a:p>
          </p:txBody>
        </p:sp>
        <p:sp>
          <p:nvSpPr>
            <p:cNvPr id="20526" name="Text Box 46"/>
            <p:cNvSpPr txBox="1">
              <a:spLocks noChangeArrowheads="1"/>
            </p:cNvSpPr>
            <p:nvPr/>
          </p:nvSpPr>
          <p:spPr bwMode="auto">
            <a:xfrm>
              <a:off x="4452" y="3291"/>
              <a:ext cx="290" cy="3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 eaLnBrk="0" hangingPunct="0">
                <a:spcBef>
                  <a:spcPts val="600"/>
                </a:spcBef>
                <a:spcAft>
                  <a:spcPts val="200"/>
                </a:spcAft>
              </a:pPr>
              <a:r>
                <a:rPr kumimoji="0" lang="en-US" altLang="zh-CN" sz="2000">
                  <a:ea typeface="宋体" pitchFamily="2" charset="-122"/>
                </a:rPr>
                <a:t>∧</a:t>
              </a:r>
            </a:p>
          </p:txBody>
        </p:sp>
        <p:sp>
          <p:nvSpPr>
            <p:cNvPr id="20527" name="Line 47"/>
            <p:cNvSpPr>
              <a:spLocks noChangeShapeType="1"/>
            </p:cNvSpPr>
            <p:nvPr/>
          </p:nvSpPr>
          <p:spPr bwMode="auto">
            <a:xfrm>
              <a:off x="4405" y="3104"/>
              <a:ext cx="0" cy="19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8" name="Text Box 48"/>
            <p:cNvSpPr txBox="1">
              <a:spLocks noChangeArrowheads="1"/>
            </p:cNvSpPr>
            <p:nvPr/>
          </p:nvSpPr>
          <p:spPr bwMode="auto">
            <a:xfrm>
              <a:off x="3897" y="3203"/>
              <a:ext cx="291" cy="3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 eaLnBrk="0" hangingPunct="0">
                <a:spcBef>
                  <a:spcPts val="600"/>
                </a:spcBef>
                <a:spcAft>
                  <a:spcPts val="200"/>
                </a:spcAft>
              </a:pPr>
              <a:r>
                <a:rPr kumimoji="0" lang="en-US" altLang="zh-CN" sz="1800">
                  <a:ea typeface="宋体" pitchFamily="2" charset="-122"/>
                </a:rPr>
                <a:t>…</a:t>
              </a:r>
            </a:p>
          </p:txBody>
        </p:sp>
        <p:sp>
          <p:nvSpPr>
            <p:cNvPr id="20542" name="Text Box 62"/>
            <p:cNvSpPr txBox="1">
              <a:spLocks noChangeArrowheads="1"/>
            </p:cNvSpPr>
            <p:nvPr/>
          </p:nvSpPr>
          <p:spPr bwMode="auto">
            <a:xfrm>
              <a:off x="1632" y="3735"/>
              <a:ext cx="2034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>
                <a:spcAft>
                  <a:spcPts val="600"/>
                </a:spcAft>
              </a:pPr>
              <a:r>
                <a:rPr kumimoji="0" lang="zh-CN" altLang="en-US">
                  <a:ea typeface="华文中宋" pitchFamily="2" charset="-122"/>
                </a:rPr>
                <a:t>图</a:t>
              </a:r>
              <a:r>
                <a:rPr kumimoji="0" lang="en-US" altLang="zh-CN">
                  <a:ea typeface="华文中宋" pitchFamily="2" charset="-122"/>
                </a:rPr>
                <a:t>3-12  </a:t>
              </a:r>
              <a:r>
                <a:rPr kumimoji="0" lang="zh-CN" altLang="en-US">
                  <a:ea typeface="华文中宋" pitchFamily="2" charset="-122"/>
                </a:rPr>
                <a:t>链队列示意图</a:t>
              </a:r>
            </a:p>
          </p:txBody>
        </p:sp>
        <p:sp>
          <p:nvSpPr>
            <p:cNvPr id="20545" name="Rectangle 65"/>
            <p:cNvSpPr>
              <a:spLocks noChangeArrowheads="1"/>
            </p:cNvSpPr>
            <p:nvPr/>
          </p:nvSpPr>
          <p:spPr bwMode="auto">
            <a:xfrm>
              <a:off x="2352" y="3303"/>
              <a:ext cx="240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46" name="Rectangle 66"/>
            <p:cNvSpPr>
              <a:spLocks noChangeArrowheads="1"/>
            </p:cNvSpPr>
            <p:nvPr/>
          </p:nvSpPr>
          <p:spPr bwMode="auto">
            <a:xfrm>
              <a:off x="2592" y="3303"/>
              <a:ext cx="192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50" name="Text Box 70"/>
            <p:cNvSpPr txBox="1">
              <a:spLocks noChangeArrowheads="1"/>
            </p:cNvSpPr>
            <p:nvPr/>
          </p:nvSpPr>
          <p:spPr bwMode="auto">
            <a:xfrm>
              <a:off x="2832" y="2832"/>
              <a:ext cx="54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>
                  <a:ea typeface="华文中宋" pitchFamily="2" charset="-122"/>
                </a:rPr>
                <a:t>队头 </a:t>
              </a:r>
            </a:p>
          </p:txBody>
        </p:sp>
        <p:sp>
          <p:nvSpPr>
            <p:cNvPr id="20551" name="Line 71"/>
            <p:cNvSpPr>
              <a:spLocks noChangeShapeType="1"/>
            </p:cNvSpPr>
            <p:nvPr/>
          </p:nvSpPr>
          <p:spPr bwMode="auto">
            <a:xfrm>
              <a:off x="3024" y="3120"/>
              <a:ext cx="0" cy="19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52" name="Text Box 72"/>
            <p:cNvSpPr txBox="1">
              <a:spLocks noChangeArrowheads="1"/>
            </p:cNvSpPr>
            <p:nvPr/>
          </p:nvSpPr>
          <p:spPr bwMode="auto">
            <a:xfrm>
              <a:off x="4207" y="3696"/>
              <a:ext cx="54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>
                  <a:ea typeface="华文中宋" pitchFamily="2" charset="-122"/>
                </a:rPr>
                <a:t>队尾 </a:t>
              </a:r>
            </a:p>
          </p:txBody>
        </p:sp>
        <p:sp>
          <p:nvSpPr>
            <p:cNvPr id="20553" name="Line 73"/>
            <p:cNvSpPr>
              <a:spLocks noChangeShapeType="1"/>
            </p:cNvSpPr>
            <p:nvPr/>
          </p:nvSpPr>
          <p:spPr bwMode="auto">
            <a:xfrm flipV="1">
              <a:off x="4416" y="3545"/>
              <a:ext cx="0" cy="19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20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20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0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96" grpId="0" autoUpdateAnimBg="0"/>
      <p:bldP spid="20497" grpId="0" autoUpdateAnimBg="0"/>
      <p:bldP spid="20498" grpId="0" autoUpdateAnimBg="0"/>
      <p:bldP spid="20499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77" name="Rectangle 73"/>
          <p:cNvSpPr>
            <a:spLocks noChangeArrowheads="1"/>
          </p:cNvSpPr>
          <p:nvPr/>
        </p:nvSpPr>
        <p:spPr bwMode="auto">
          <a:xfrm>
            <a:off x="2790825" y="893764"/>
            <a:ext cx="6400800" cy="4911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dirty="0">
                <a:ea typeface="华文中宋" pitchFamily="2" charset="-122"/>
              </a:rPr>
              <a:t>用 </a:t>
            </a:r>
            <a:r>
              <a:rPr lang="en-US" altLang="zh-CN" dirty="0">
                <a:ea typeface="华文中宋" pitchFamily="2" charset="-122"/>
              </a:rPr>
              <a:t>C </a:t>
            </a:r>
            <a:r>
              <a:rPr lang="zh-CN" altLang="en-US" dirty="0">
                <a:ea typeface="华文中宋" pitchFamily="2" charset="-122"/>
              </a:rPr>
              <a:t>语言定义链队列结构如下： </a:t>
            </a:r>
          </a:p>
          <a:p>
            <a:pPr algn="just" eaLnBrk="0" hangingPunct="0">
              <a:lnSpc>
                <a:spcPct val="200000"/>
              </a:lnSpc>
            </a:pPr>
            <a:r>
              <a:rPr lang="en-US" altLang="zh-CN" dirty="0" err="1">
                <a:ea typeface="华文中宋" pitchFamily="2" charset="-122"/>
              </a:rPr>
              <a:t>typedef</a:t>
            </a:r>
            <a:r>
              <a:rPr lang="en-US" altLang="zh-CN" dirty="0">
                <a:ea typeface="华文中宋" pitchFamily="2" charset="-122"/>
              </a:rPr>
              <a:t> </a:t>
            </a:r>
            <a:r>
              <a:rPr lang="en-US" altLang="zh-CN" dirty="0" err="1">
                <a:ea typeface="华文中宋" pitchFamily="2" charset="-122"/>
              </a:rPr>
              <a:t>struct</a:t>
            </a:r>
            <a:r>
              <a:rPr lang="en-US" altLang="zh-CN" dirty="0">
                <a:ea typeface="华文中宋" pitchFamily="2" charset="-122"/>
              </a:rPr>
              <a:t> </a:t>
            </a:r>
            <a:r>
              <a:rPr lang="en-US" altLang="zh-CN" dirty="0" err="1">
                <a:ea typeface="华文中宋" pitchFamily="2" charset="-122"/>
              </a:rPr>
              <a:t>QNode</a:t>
            </a:r>
            <a:r>
              <a:rPr lang="en-US" altLang="zh-CN" dirty="0">
                <a:ea typeface="华文中宋" pitchFamily="2" charset="-122"/>
              </a:rPr>
              <a:t> </a:t>
            </a:r>
          </a:p>
          <a:p>
            <a:pPr algn="just" eaLnBrk="0" hangingPunct="0">
              <a:lnSpc>
                <a:spcPct val="130000"/>
              </a:lnSpc>
            </a:pPr>
            <a:r>
              <a:rPr lang="en-US" altLang="zh-CN" dirty="0">
                <a:ea typeface="华文中宋" pitchFamily="2" charset="-122"/>
              </a:rPr>
              <a:t>{  </a:t>
            </a:r>
            <a:r>
              <a:rPr lang="en-US" altLang="zh-CN" dirty="0" err="1">
                <a:ea typeface="华文中宋" pitchFamily="2" charset="-122"/>
              </a:rPr>
              <a:t>QElemtype</a:t>
            </a:r>
            <a:r>
              <a:rPr lang="en-US" altLang="zh-CN" dirty="0">
                <a:ea typeface="华文中宋" pitchFamily="2" charset="-122"/>
              </a:rPr>
              <a:t>        data; </a:t>
            </a:r>
          </a:p>
          <a:p>
            <a:pPr algn="just" eaLnBrk="0" hangingPunct="0">
              <a:lnSpc>
                <a:spcPct val="130000"/>
              </a:lnSpc>
            </a:pPr>
            <a:r>
              <a:rPr lang="en-US" altLang="zh-CN" dirty="0">
                <a:ea typeface="华文中宋" pitchFamily="2" charset="-122"/>
              </a:rPr>
              <a:t>    </a:t>
            </a:r>
            <a:r>
              <a:rPr lang="en-US" altLang="zh-CN" dirty="0" err="1">
                <a:ea typeface="华文中宋" pitchFamily="2" charset="-122"/>
              </a:rPr>
              <a:t>struct</a:t>
            </a:r>
            <a:r>
              <a:rPr lang="en-US" altLang="zh-CN" dirty="0">
                <a:ea typeface="华文中宋" pitchFamily="2" charset="-122"/>
              </a:rPr>
              <a:t> </a:t>
            </a:r>
            <a:r>
              <a:rPr lang="en-US" altLang="zh-CN" dirty="0" err="1">
                <a:ea typeface="华文中宋" pitchFamily="2" charset="-122"/>
              </a:rPr>
              <a:t>QNode</a:t>
            </a:r>
            <a:r>
              <a:rPr lang="en-US" altLang="zh-CN" dirty="0">
                <a:ea typeface="华文中宋" pitchFamily="2" charset="-122"/>
              </a:rPr>
              <a:t>  *next; </a:t>
            </a:r>
          </a:p>
          <a:p>
            <a:pPr algn="just" eaLnBrk="0" hangingPunct="0">
              <a:lnSpc>
                <a:spcPct val="130000"/>
              </a:lnSpc>
            </a:pPr>
            <a:r>
              <a:rPr lang="en-US" altLang="zh-CN" dirty="0">
                <a:ea typeface="华文中宋" pitchFamily="2" charset="-122"/>
              </a:rPr>
              <a:t>} </a:t>
            </a:r>
            <a:r>
              <a:rPr lang="en-US" altLang="zh-CN" dirty="0" err="1">
                <a:ea typeface="华文中宋" pitchFamily="2" charset="-122"/>
              </a:rPr>
              <a:t>Qnode</a:t>
            </a:r>
            <a:r>
              <a:rPr lang="en-US" altLang="zh-CN" dirty="0">
                <a:ea typeface="华文中宋" pitchFamily="2" charset="-122"/>
              </a:rPr>
              <a:t>,  *</a:t>
            </a:r>
            <a:r>
              <a:rPr lang="en-US" altLang="zh-CN" dirty="0" err="1">
                <a:ea typeface="华文中宋" pitchFamily="2" charset="-122"/>
              </a:rPr>
              <a:t>QueuePtr</a:t>
            </a:r>
            <a:r>
              <a:rPr lang="en-US" altLang="zh-CN" dirty="0">
                <a:ea typeface="华文中宋" pitchFamily="2" charset="-122"/>
              </a:rPr>
              <a:t>;   // </a:t>
            </a:r>
            <a:r>
              <a:rPr lang="zh-CN" altLang="en-US" dirty="0">
                <a:ea typeface="华文中宋" pitchFamily="2" charset="-122"/>
              </a:rPr>
              <a:t>定义队列的结点 </a:t>
            </a:r>
          </a:p>
          <a:p>
            <a:pPr algn="just" eaLnBrk="0" hangingPunct="0">
              <a:lnSpc>
                <a:spcPct val="210000"/>
              </a:lnSpc>
            </a:pPr>
            <a:r>
              <a:rPr lang="en-US" altLang="zh-CN" dirty="0" err="1">
                <a:ea typeface="华文中宋" pitchFamily="2" charset="-122"/>
              </a:rPr>
              <a:t>typedef</a:t>
            </a:r>
            <a:r>
              <a:rPr lang="en-US" altLang="zh-CN" dirty="0">
                <a:ea typeface="华文中宋" pitchFamily="2" charset="-122"/>
              </a:rPr>
              <a:t> </a:t>
            </a:r>
            <a:r>
              <a:rPr lang="en-US" altLang="zh-CN" dirty="0" err="1">
                <a:ea typeface="华文中宋" pitchFamily="2" charset="-122"/>
              </a:rPr>
              <a:t>struct</a:t>
            </a:r>
            <a:r>
              <a:rPr lang="en-US" altLang="zh-CN" dirty="0">
                <a:ea typeface="华文中宋" pitchFamily="2" charset="-122"/>
              </a:rPr>
              <a:t> </a:t>
            </a:r>
          </a:p>
          <a:p>
            <a:pPr algn="just" eaLnBrk="0" hangingPunct="0">
              <a:lnSpc>
                <a:spcPct val="130000"/>
              </a:lnSpc>
            </a:pPr>
            <a:r>
              <a:rPr lang="en-US" altLang="zh-CN" dirty="0">
                <a:ea typeface="华文中宋" pitchFamily="2" charset="-122"/>
              </a:rPr>
              <a:t>{  </a:t>
            </a:r>
            <a:r>
              <a:rPr lang="en-US" altLang="zh-CN" dirty="0" err="1">
                <a:ea typeface="华文中宋" pitchFamily="2" charset="-122"/>
              </a:rPr>
              <a:t>QueuePtr</a:t>
            </a:r>
            <a:r>
              <a:rPr lang="en-US" altLang="zh-CN" dirty="0">
                <a:ea typeface="华文中宋" pitchFamily="2" charset="-122"/>
              </a:rPr>
              <a:t>   front;    // </a:t>
            </a:r>
            <a:r>
              <a:rPr lang="zh-CN" altLang="en-US" dirty="0">
                <a:ea typeface="华文中宋" pitchFamily="2" charset="-122"/>
              </a:rPr>
              <a:t>队头指针 </a:t>
            </a:r>
          </a:p>
          <a:p>
            <a:pPr algn="just" eaLnBrk="0" hangingPunct="0">
              <a:lnSpc>
                <a:spcPct val="130000"/>
              </a:lnSpc>
            </a:pPr>
            <a:r>
              <a:rPr lang="zh-CN" altLang="en-US" dirty="0">
                <a:ea typeface="华文中宋" pitchFamily="2" charset="-122"/>
              </a:rPr>
              <a:t>   </a:t>
            </a:r>
            <a:r>
              <a:rPr lang="en-US" altLang="zh-CN" dirty="0" err="1">
                <a:ea typeface="华文中宋" pitchFamily="2" charset="-122"/>
              </a:rPr>
              <a:t>QueuePtr</a:t>
            </a:r>
            <a:r>
              <a:rPr lang="en-US" altLang="zh-CN" dirty="0">
                <a:ea typeface="华文中宋" pitchFamily="2" charset="-122"/>
              </a:rPr>
              <a:t>   rear;      // </a:t>
            </a:r>
            <a:r>
              <a:rPr lang="zh-CN" altLang="en-US" dirty="0">
                <a:ea typeface="华文中宋" pitchFamily="2" charset="-122"/>
              </a:rPr>
              <a:t>队尾指针 </a:t>
            </a:r>
          </a:p>
          <a:p>
            <a:pPr algn="just" eaLnBrk="0" hangingPunct="0">
              <a:lnSpc>
                <a:spcPct val="130000"/>
              </a:lnSpc>
            </a:pPr>
            <a:r>
              <a:rPr lang="en-US" altLang="zh-CN" dirty="0">
                <a:ea typeface="华文中宋" pitchFamily="2" charset="-122"/>
              </a:rPr>
              <a:t>}</a:t>
            </a:r>
            <a:r>
              <a:rPr lang="en-US" altLang="zh-CN" dirty="0" err="1">
                <a:ea typeface="华文中宋" pitchFamily="2" charset="-122"/>
              </a:rPr>
              <a:t>LinkQueue</a:t>
            </a:r>
            <a:r>
              <a:rPr lang="en-US" altLang="zh-CN" dirty="0">
                <a:ea typeface="华文中宋" pitchFamily="2" charset="-122"/>
              </a:rPr>
              <a:t>; </a:t>
            </a:r>
          </a:p>
        </p:txBody>
      </p:sp>
    </p:spTree>
  </p:cSld>
  <p:clrMapOvr>
    <a:masterClrMapping/>
  </p:clrMapOvr>
  <p:transition spd="slow">
    <p:wipe dir="u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26" name="Text Box 42"/>
          <p:cNvSpPr txBox="1">
            <a:spLocks noChangeArrowheads="1"/>
          </p:cNvSpPr>
          <p:nvPr/>
        </p:nvSpPr>
        <p:spPr bwMode="auto">
          <a:xfrm>
            <a:off x="2189163" y="1831976"/>
            <a:ext cx="7867650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60000"/>
              </a:lnSpc>
            </a:pPr>
            <a:r>
              <a:rPr lang="en-US" altLang="zh-CN"/>
              <a:t>Status InitQueue (LinkQueue &amp;Q)</a:t>
            </a:r>
            <a:br>
              <a:rPr lang="en-US" altLang="zh-CN"/>
            </a:br>
            <a:r>
              <a:rPr lang="zh-CN" altLang="en-US"/>
              <a:t>　</a:t>
            </a:r>
            <a:r>
              <a:rPr lang="en-US" altLang="zh-CN"/>
              <a:t>{  // </a:t>
            </a:r>
            <a:r>
              <a:rPr lang="zh-CN" altLang="en-US"/>
              <a:t>构造一个空队列 </a:t>
            </a:r>
            <a:r>
              <a:rPr lang="en-US" altLang="zh-CN"/>
              <a:t>Q </a:t>
            </a:r>
          </a:p>
          <a:p>
            <a:pPr>
              <a:lnSpc>
                <a:spcPct val="160000"/>
              </a:lnSpc>
            </a:pPr>
            <a:r>
              <a:rPr lang="zh-CN" altLang="en-US"/>
              <a:t>　　</a:t>
            </a:r>
            <a:r>
              <a:rPr lang="en-US" altLang="zh-CN"/>
              <a:t>Q.front = Q.rear = (QueuPtr) malloc (sizeof(QNode)); </a:t>
            </a:r>
          </a:p>
          <a:p>
            <a:pPr>
              <a:lnSpc>
                <a:spcPct val="160000"/>
              </a:lnSpc>
            </a:pPr>
            <a:r>
              <a:rPr lang="zh-CN" altLang="en-US"/>
              <a:t>　　</a:t>
            </a:r>
            <a:r>
              <a:rPr lang="en-US" altLang="zh-CN"/>
              <a:t>if (!Q.front) exit (OVERFLOW);</a:t>
            </a:r>
            <a:r>
              <a:rPr lang="zh-CN" altLang="en-US"/>
              <a:t>　</a:t>
            </a:r>
            <a:r>
              <a:rPr lang="en-US" altLang="zh-CN"/>
              <a:t>// </a:t>
            </a:r>
            <a:r>
              <a:rPr lang="zh-CN" altLang="en-US"/>
              <a:t>存储分配失败 </a:t>
            </a:r>
          </a:p>
          <a:p>
            <a:pPr>
              <a:lnSpc>
                <a:spcPct val="160000"/>
              </a:lnSpc>
            </a:pPr>
            <a:r>
              <a:rPr lang="zh-CN" altLang="en-US"/>
              <a:t>　   　</a:t>
            </a:r>
            <a:r>
              <a:rPr lang="en-US" altLang="zh-CN"/>
              <a:t>Q.front -&gt; next = NULL; </a:t>
            </a:r>
          </a:p>
          <a:p>
            <a:pPr>
              <a:lnSpc>
                <a:spcPct val="160000"/>
              </a:lnSpc>
            </a:pPr>
            <a:r>
              <a:rPr lang="zh-CN" altLang="en-US"/>
              <a:t>　　</a:t>
            </a:r>
            <a:r>
              <a:rPr lang="en-US" altLang="zh-CN"/>
              <a:t>return OK; </a:t>
            </a:r>
            <a:br>
              <a:rPr lang="en-US" altLang="zh-CN"/>
            </a:br>
            <a:r>
              <a:rPr lang="zh-CN" altLang="en-US"/>
              <a:t>　</a:t>
            </a:r>
            <a:r>
              <a:rPr lang="en-US" altLang="zh-CN"/>
              <a:t>} </a:t>
            </a:r>
          </a:p>
        </p:txBody>
      </p:sp>
      <p:sp>
        <p:nvSpPr>
          <p:cNvPr id="67627" name="Text Box 43"/>
          <p:cNvSpPr txBox="1">
            <a:spLocks noChangeArrowheads="1"/>
          </p:cNvSpPr>
          <p:nvPr/>
        </p:nvSpPr>
        <p:spPr bwMode="auto">
          <a:xfrm>
            <a:off x="2206626" y="765175"/>
            <a:ext cx="53562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latin typeface="华文中宋" pitchFamily="2" charset="-122"/>
                <a:ea typeface="华文中宋" pitchFamily="2" charset="-122"/>
              </a:rPr>
              <a:t>队列的基本操作在链队列中的实现：   </a:t>
            </a:r>
          </a:p>
        </p:txBody>
      </p:sp>
      <p:sp>
        <p:nvSpPr>
          <p:cNvPr id="67628" name="Text Box 44"/>
          <p:cNvSpPr txBox="1">
            <a:spLocks noChangeArrowheads="1"/>
          </p:cNvSpPr>
          <p:nvPr/>
        </p:nvSpPr>
        <p:spPr bwMode="auto">
          <a:xfrm>
            <a:off x="2206626" y="1341438"/>
            <a:ext cx="26130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latin typeface="华文中宋" pitchFamily="2" charset="-122"/>
                <a:ea typeface="华文中宋" pitchFamily="2" charset="-122"/>
              </a:rPr>
              <a:t>队列的初始化：   </a:t>
            </a:r>
          </a:p>
        </p:txBody>
      </p:sp>
    </p:spTree>
  </p:cSld>
  <p:clrMapOvr>
    <a:masterClrMapping/>
  </p:clrMapOvr>
  <p:transition spd="slow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7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76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76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76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76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76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626" grpId="0" uiExpand="1" build="p"/>
      <p:bldP spid="6762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06" name="Rectangle 50"/>
          <p:cNvSpPr>
            <a:spLocks noChangeArrowheads="1"/>
          </p:cNvSpPr>
          <p:nvPr/>
        </p:nvSpPr>
        <p:spPr bwMode="auto">
          <a:xfrm>
            <a:off x="3432175" y="3430589"/>
            <a:ext cx="2376488" cy="3587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91" name="Rectangle 35"/>
          <p:cNvSpPr>
            <a:spLocks noChangeArrowheads="1"/>
          </p:cNvSpPr>
          <p:nvPr/>
        </p:nvSpPr>
        <p:spPr bwMode="auto">
          <a:xfrm>
            <a:off x="3432175" y="3429001"/>
            <a:ext cx="2376488" cy="3587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88" name="Rectangle 32"/>
          <p:cNvSpPr>
            <a:spLocks noChangeArrowheads="1"/>
          </p:cNvSpPr>
          <p:nvPr/>
        </p:nvSpPr>
        <p:spPr bwMode="auto">
          <a:xfrm>
            <a:off x="3432176" y="2852738"/>
            <a:ext cx="2016125" cy="3603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85" name="Rectangle 29"/>
          <p:cNvSpPr>
            <a:spLocks noChangeArrowheads="1"/>
          </p:cNvSpPr>
          <p:nvPr/>
        </p:nvSpPr>
        <p:spPr bwMode="auto">
          <a:xfrm>
            <a:off x="3432175" y="2276475"/>
            <a:ext cx="3384550" cy="431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83" name="Rectangle 27"/>
          <p:cNvSpPr>
            <a:spLocks noChangeArrowheads="1"/>
          </p:cNvSpPr>
          <p:nvPr/>
        </p:nvSpPr>
        <p:spPr bwMode="auto">
          <a:xfrm>
            <a:off x="3432175" y="3430589"/>
            <a:ext cx="2376488" cy="3587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81" name="Rectangle 25"/>
          <p:cNvSpPr>
            <a:spLocks noChangeArrowheads="1"/>
          </p:cNvSpPr>
          <p:nvPr/>
        </p:nvSpPr>
        <p:spPr bwMode="auto">
          <a:xfrm>
            <a:off x="3432176" y="2852738"/>
            <a:ext cx="2016125" cy="3603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80" name="Rectangle 24"/>
          <p:cNvSpPr>
            <a:spLocks noChangeArrowheads="1"/>
          </p:cNvSpPr>
          <p:nvPr/>
        </p:nvSpPr>
        <p:spPr bwMode="auto">
          <a:xfrm>
            <a:off x="3432175" y="2276475"/>
            <a:ext cx="3384550" cy="431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61" name="Rectangle 5"/>
          <p:cNvSpPr>
            <a:spLocks noChangeArrowheads="1"/>
          </p:cNvSpPr>
          <p:nvPr/>
        </p:nvSpPr>
        <p:spPr bwMode="auto">
          <a:xfrm>
            <a:off x="5376863" y="5757864"/>
            <a:ext cx="360362" cy="3587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62" name="Rectangle 6"/>
          <p:cNvSpPr>
            <a:spLocks noChangeArrowheads="1"/>
          </p:cNvSpPr>
          <p:nvPr/>
        </p:nvSpPr>
        <p:spPr bwMode="auto">
          <a:xfrm>
            <a:off x="5737226" y="5757864"/>
            <a:ext cx="360363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63" name="Rectangle 7"/>
          <p:cNvSpPr>
            <a:spLocks noChangeArrowheads="1"/>
          </p:cNvSpPr>
          <p:nvPr/>
        </p:nvSpPr>
        <p:spPr bwMode="auto">
          <a:xfrm>
            <a:off x="6384926" y="5757864"/>
            <a:ext cx="360363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i="1"/>
              <a:t>a</a:t>
            </a:r>
            <a:r>
              <a:rPr lang="en-US" altLang="zh-CN" baseline="-25000"/>
              <a:t>1</a:t>
            </a:r>
          </a:p>
        </p:txBody>
      </p:sp>
      <p:sp>
        <p:nvSpPr>
          <p:cNvPr id="70664" name="Rectangle 8"/>
          <p:cNvSpPr>
            <a:spLocks noChangeArrowheads="1"/>
          </p:cNvSpPr>
          <p:nvPr/>
        </p:nvSpPr>
        <p:spPr bwMode="auto">
          <a:xfrm>
            <a:off x="6745288" y="5757864"/>
            <a:ext cx="360362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65" name="Line 9"/>
          <p:cNvSpPr>
            <a:spLocks noChangeShapeType="1"/>
          </p:cNvSpPr>
          <p:nvPr/>
        </p:nvSpPr>
        <p:spPr bwMode="auto">
          <a:xfrm>
            <a:off x="5953125" y="5973763"/>
            <a:ext cx="43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0666" name="Rectangle 10"/>
          <p:cNvSpPr>
            <a:spLocks noChangeArrowheads="1"/>
          </p:cNvSpPr>
          <p:nvPr/>
        </p:nvSpPr>
        <p:spPr bwMode="auto">
          <a:xfrm>
            <a:off x="7392988" y="5757864"/>
            <a:ext cx="360362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i="1"/>
              <a:t>a</a:t>
            </a:r>
            <a:r>
              <a:rPr lang="en-US" altLang="zh-CN" baseline="-25000"/>
              <a:t>2</a:t>
            </a:r>
          </a:p>
        </p:txBody>
      </p:sp>
      <p:sp>
        <p:nvSpPr>
          <p:cNvPr id="70667" name="Rectangle 11"/>
          <p:cNvSpPr>
            <a:spLocks noChangeArrowheads="1"/>
          </p:cNvSpPr>
          <p:nvPr/>
        </p:nvSpPr>
        <p:spPr bwMode="auto">
          <a:xfrm>
            <a:off x="7753351" y="5757864"/>
            <a:ext cx="360363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68" name="Line 12"/>
          <p:cNvSpPr>
            <a:spLocks noChangeShapeType="1"/>
          </p:cNvSpPr>
          <p:nvPr/>
        </p:nvSpPr>
        <p:spPr bwMode="auto">
          <a:xfrm>
            <a:off x="6961188" y="5973763"/>
            <a:ext cx="43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0669" name="Rectangle 13"/>
          <p:cNvSpPr>
            <a:spLocks noChangeArrowheads="1"/>
          </p:cNvSpPr>
          <p:nvPr/>
        </p:nvSpPr>
        <p:spPr bwMode="auto">
          <a:xfrm>
            <a:off x="8401051" y="5757864"/>
            <a:ext cx="360363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i="1"/>
              <a:t>a</a:t>
            </a:r>
            <a:r>
              <a:rPr lang="en-US" altLang="zh-CN" baseline="-25000"/>
              <a:t>3</a:t>
            </a:r>
          </a:p>
        </p:txBody>
      </p:sp>
      <p:sp>
        <p:nvSpPr>
          <p:cNvPr id="70670" name="Rectangle 14"/>
          <p:cNvSpPr>
            <a:spLocks noChangeArrowheads="1"/>
          </p:cNvSpPr>
          <p:nvPr/>
        </p:nvSpPr>
        <p:spPr bwMode="auto">
          <a:xfrm>
            <a:off x="8761413" y="5757864"/>
            <a:ext cx="360362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/>
              <a:t>^</a:t>
            </a:r>
          </a:p>
        </p:txBody>
      </p:sp>
      <p:sp>
        <p:nvSpPr>
          <p:cNvPr id="70671" name="Line 15"/>
          <p:cNvSpPr>
            <a:spLocks noChangeShapeType="1"/>
          </p:cNvSpPr>
          <p:nvPr/>
        </p:nvSpPr>
        <p:spPr bwMode="auto">
          <a:xfrm>
            <a:off x="7969250" y="5973763"/>
            <a:ext cx="43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0673" name="Text Box 17"/>
          <p:cNvSpPr txBox="1">
            <a:spLocks noChangeArrowheads="1"/>
          </p:cNvSpPr>
          <p:nvPr/>
        </p:nvSpPr>
        <p:spPr bwMode="auto">
          <a:xfrm>
            <a:off x="3792539" y="5732463"/>
            <a:ext cx="11572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Q.front</a:t>
            </a:r>
          </a:p>
        </p:txBody>
      </p:sp>
      <p:sp>
        <p:nvSpPr>
          <p:cNvPr id="70674" name="Line 18"/>
          <p:cNvSpPr>
            <a:spLocks noChangeShapeType="1"/>
          </p:cNvSpPr>
          <p:nvPr/>
        </p:nvSpPr>
        <p:spPr bwMode="auto">
          <a:xfrm>
            <a:off x="4945063" y="5973763"/>
            <a:ext cx="43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0675" name="Rectangle 19"/>
          <p:cNvSpPr>
            <a:spLocks noChangeArrowheads="1"/>
          </p:cNvSpPr>
          <p:nvPr/>
        </p:nvSpPr>
        <p:spPr bwMode="auto">
          <a:xfrm>
            <a:off x="8091488" y="4652963"/>
            <a:ext cx="11303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 Q.rear</a:t>
            </a:r>
          </a:p>
        </p:txBody>
      </p:sp>
      <p:sp>
        <p:nvSpPr>
          <p:cNvPr id="70676" name="Line 20"/>
          <p:cNvSpPr>
            <a:spLocks noChangeShapeType="1"/>
          </p:cNvSpPr>
          <p:nvPr/>
        </p:nvSpPr>
        <p:spPr bwMode="auto">
          <a:xfrm>
            <a:off x="8616950" y="5110163"/>
            <a:ext cx="0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 useBgFill="1">
        <p:nvSpPr>
          <p:cNvPr id="70677" name="Rectangle 21"/>
          <p:cNvSpPr>
            <a:spLocks noChangeArrowheads="1"/>
          </p:cNvSpPr>
          <p:nvPr/>
        </p:nvSpPr>
        <p:spPr bwMode="auto">
          <a:xfrm>
            <a:off x="8523288" y="5037138"/>
            <a:ext cx="215900" cy="64770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78" name="Line 22"/>
          <p:cNvSpPr>
            <a:spLocks noChangeShapeType="1"/>
          </p:cNvSpPr>
          <p:nvPr/>
        </p:nvSpPr>
        <p:spPr bwMode="auto">
          <a:xfrm flipH="1">
            <a:off x="6578601" y="4892675"/>
            <a:ext cx="16557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0679" name="Line 23"/>
          <p:cNvSpPr>
            <a:spLocks noChangeShapeType="1"/>
          </p:cNvSpPr>
          <p:nvPr/>
        </p:nvSpPr>
        <p:spPr bwMode="auto">
          <a:xfrm>
            <a:off x="6578600" y="4892676"/>
            <a:ext cx="0" cy="792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 useBgFill="1">
        <p:nvSpPr>
          <p:cNvPr id="70682" name="Rectangle 26"/>
          <p:cNvSpPr>
            <a:spLocks noChangeArrowheads="1"/>
          </p:cNvSpPr>
          <p:nvPr/>
        </p:nvSpPr>
        <p:spPr bwMode="auto">
          <a:xfrm>
            <a:off x="5354638" y="5684839"/>
            <a:ext cx="1008062" cy="504825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84" name="Line 28"/>
          <p:cNvSpPr>
            <a:spLocks noChangeShapeType="1"/>
          </p:cNvSpPr>
          <p:nvPr/>
        </p:nvSpPr>
        <p:spPr bwMode="auto">
          <a:xfrm>
            <a:off x="4994276" y="5973763"/>
            <a:ext cx="1368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 useBgFill="1">
        <p:nvSpPr>
          <p:cNvPr id="70687" name="Rectangle 31"/>
          <p:cNvSpPr>
            <a:spLocks noChangeArrowheads="1"/>
          </p:cNvSpPr>
          <p:nvPr/>
        </p:nvSpPr>
        <p:spPr bwMode="auto">
          <a:xfrm>
            <a:off x="6434139" y="4749800"/>
            <a:ext cx="1152525" cy="935038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86" name="Line 30"/>
          <p:cNvSpPr>
            <a:spLocks noChangeShapeType="1"/>
          </p:cNvSpPr>
          <p:nvPr/>
        </p:nvSpPr>
        <p:spPr bwMode="auto">
          <a:xfrm>
            <a:off x="7586663" y="4892676"/>
            <a:ext cx="0" cy="792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 useBgFill="1">
        <p:nvSpPr>
          <p:cNvPr id="70689" name="Rectangle 33"/>
          <p:cNvSpPr>
            <a:spLocks noChangeArrowheads="1"/>
          </p:cNvSpPr>
          <p:nvPr/>
        </p:nvSpPr>
        <p:spPr bwMode="auto">
          <a:xfrm>
            <a:off x="6362701" y="5684839"/>
            <a:ext cx="1008063" cy="504825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90" name="Line 34"/>
          <p:cNvSpPr>
            <a:spLocks noChangeShapeType="1"/>
          </p:cNvSpPr>
          <p:nvPr/>
        </p:nvSpPr>
        <p:spPr bwMode="auto">
          <a:xfrm>
            <a:off x="4994275" y="5973763"/>
            <a:ext cx="23764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0692" name="Rectangle 36"/>
          <p:cNvSpPr>
            <a:spLocks noChangeArrowheads="1"/>
          </p:cNvSpPr>
          <p:nvPr/>
        </p:nvSpPr>
        <p:spPr bwMode="auto">
          <a:xfrm>
            <a:off x="3432175" y="2276475"/>
            <a:ext cx="3384550" cy="431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 useBgFill="1">
        <p:nvSpPr>
          <p:cNvPr id="70693" name="Rectangle 37"/>
          <p:cNvSpPr>
            <a:spLocks noChangeArrowheads="1"/>
          </p:cNvSpPr>
          <p:nvPr/>
        </p:nvSpPr>
        <p:spPr bwMode="auto">
          <a:xfrm>
            <a:off x="7385050" y="4749800"/>
            <a:ext cx="865188" cy="935038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94" name="Line 38"/>
          <p:cNvSpPr>
            <a:spLocks noChangeShapeType="1"/>
          </p:cNvSpPr>
          <p:nvPr/>
        </p:nvSpPr>
        <p:spPr bwMode="auto">
          <a:xfrm>
            <a:off x="8594725" y="5181601"/>
            <a:ext cx="0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0695" name="Rectangle 39"/>
          <p:cNvSpPr>
            <a:spLocks noChangeArrowheads="1"/>
          </p:cNvSpPr>
          <p:nvPr/>
        </p:nvSpPr>
        <p:spPr bwMode="auto">
          <a:xfrm>
            <a:off x="3432176" y="2852738"/>
            <a:ext cx="2016125" cy="3603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 useBgFill="1">
        <p:nvSpPr>
          <p:cNvPr id="70696" name="Rectangle 40"/>
          <p:cNvSpPr>
            <a:spLocks noChangeArrowheads="1"/>
          </p:cNvSpPr>
          <p:nvPr/>
        </p:nvSpPr>
        <p:spPr bwMode="auto">
          <a:xfrm>
            <a:off x="7370763" y="5684839"/>
            <a:ext cx="1008062" cy="504825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97" name="Rectangle 41"/>
          <p:cNvSpPr>
            <a:spLocks noChangeArrowheads="1"/>
          </p:cNvSpPr>
          <p:nvPr/>
        </p:nvSpPr>
        <p:spPr bwMode="auto">
          <a:xfrm>
            <a:off x="3432175" y="3429001"/>
            <a:ext cx="2376488" cy="3587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98" name="Line 42"/>
          <p:cNvSpPr>
            <a:spLocks noChangeShapeType="1"/>
          </p:cNvSpPr>
          <p:nvPr/>
        </p:nvSpPr>
        <p:spPr bwMode="auto">
          <a:xfrm>
            <a:off x="4994275" y="5973763"/>
            <a:ext cx="3384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0699" name="Rectangle 43"/>
          <p:cNvSpPr>
            <a:spLocks noChangeArrowheads="1"/>
          </p:cNvSpPr>
          <p:nvPr/>
        </p:nvSpPr>
        <p:spPr bwMode="auto">
          <a:xfrm>
            <a:off x="3432175" y="2276475"/>
            <a:ext cx="3384550" cy="431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 useBgFill="1">
        <p:nvSpPr>
          <p:cNvPr id="70700" name="Rectangle 44"/>
          <p:cNvSpPr>
            <a:spLocks noChangeArrowheads="1"/>
          </p:cNvSpPr>
          <p:nvPr/>
        </p:nvSpPr>
        <p:spPr bwMode="auto">
          <a:xfrm>
            <a:off x="8523288" y="5110163"/>
            <a:ext cx="215900" cy="64770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701" name="Rectangle 45"/>
          <p:cNvSpPr>
            <a:spLocks noChangeArrowheads="1"/>
          </p:cNvSpPr>
          <p:nvPr/>
        </p:nvSpPr>
        <p:spPr bwMode="auto">
          <a:xfrm>
            <a:off x="3432176" y="2852738"/>
            <a:ext cx="2016125" cy="3603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 useBgFill="1">
        <p:nvSpPr>
          <p:cNvPr id="70702" name="Rectangle 46"/>
          <p:cNvSpPr>
            <a:spLocks noChangeArrowheads="1"/>
          </p:cNvSpPr>
          <p:nvPr/>
        </p:nvSpPr>
        <p:spPr bwMode="auto">
          <a:xfrm>
            <a:off x="8378826" y="5684839"/>
            <a:ext cx="936625" cy="504825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703" name="Text Box 47"/>
          <p:cNvSpPr txBox="1">
            <a:spLocks noChangeArrowheads="1"/>
          </p:cNvSpPr>
          <p:nvPr/>
        </p:nvSpPr>
        <p:spPr bwMode="auto">
          <a:xfrm>
            <a:off x="2136776" y="619125"/>
            <a:ext cx="20034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latin typeface="华文中宋" pitchFamily="2" charset="-122"/>
                <a:ea typeface="华文中宋" pitchFamily="2" charset="-122"/>
              </a:rPr>
              <a:t>销毁队列：   </a:t>
            </a:r>
          </a:p>
        </p:txBody>
      </p:sp>
      <p:sp>
        <p:nvSpPr>
          <p:cNvPr id="70704" name="Text Box 48"/>
          <p:cNvSpPr txBox="1">
            <a:spLocks noChangeArrowheads="1"/>
          </p:cNvSpPr>
          <p:nvPr/>
        </p:nvSpPr>
        <p:spPr bwMode="auto">
          <a:xfrm>
            <a:off x="9056689" y="4678363"/>
            <a:ext cx="10175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= null </a:t>
            </a:r>
          </a:p>
        </p:txBody>
      </p:sp>
      <p:sp useBgFill="1">
        <p:nvSpPr>
          <p:cNvPr id="70705" name="Text Box 49"/>
          <p:cNvSpPr txBox="1">
            <a:spLocks noChangeArrowheads="1"/>
          </p:cNvSpPr>
          <p:nvPr/>
        </p:nvSpPr>
        <p:spPr bwMode="auto">
          <a:xfrm>
            <a:off x="4830764" y="5732463"/>
            <a:ext cx="3760787" cy="45720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= null                                     </a:t>
            </a:r>
          </a:p>
        </p:txBody>
      </p:sp>
      <p:sp>
        <p:nvSpPr>
          <p:cNvPr id="70660" name="Text Box 4"/>
          <p:cNvSpPr txBox="1">
            <a:spLocks noChangeArrowheads="1"/>
          </p:cNvSpPr>
          <p:nvPr/>
        </p:nvSpPr>
        <p:spPr bwMode="auto">
          <a:xfrm>
            <a:off x="2144713" y="979489"/>
            <a:ext cx="5300682" cy="44542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Status </a:t>
            </a:r>
            <a:r>
              <a:rPr lang="en-US" altLang="zh-CN" dirty="0" err="1"/>
              <a:t>DestroyQueue</a:t>
            </a:r>
            <a:r>
              <a:rPr lang="en-US" altLang="zh-CN" dirty="0"/>
              <a:t> (</a:t>
            </a:r>
            <a:r>
              <a:rPr lang="en-US" altLang="zh-CN" dirty="0" err="1"/>
              <a:t>LinkQueue</a:t>
            </a:r>
            <a:r>
              <a:rPr lang="en-US" altLang="zh-CN" dirty="0"/>
              <a:t> &amp;Q)</a:t>
            </a:r>
            <a:br>
              <a:rPr lang="en-US" altLang="zh-CN" dirty="0"/>
            </a:br>
            <a:r>
              <a:rPr lang="zh-CN" altLang="en-US" dirty="0"/>
              <a:t>　　</a:t>
            </a:r>
            <a:r>
              <a:rPr lang="en-US" altLang="zh-CN" dirty="0"/>
              <a:t>{   while (</a:t>
            </a:r>
            <a:r>
              <a:rPr lang="en-US" altLang="zh-CN" dirty="0" err="1"/>
              <a:t>Q.front</a:t>
            </a:r>
            <a:r>
              <a:rPr lang="en-US" altLang="zh-CN" dirty="0"/>
              <a:t>) 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             { </a:t>
            </a:r>
            <a:r>
              <a:rPr lang="en-US" altLang="zh-CN" dirty="0" err="1"/>
              <a:t>Q.rear</a:t>
            </a:r>
            <a:r>
              <a:rPr lang="en-US" altLang="zh-CN" dirty="0"/>
              <a:t> = </a:t>
            </a:r>
            <a:r>
              <a:rPr lang="en-US" altLang="zh-CN" dirty="0" err="1"/>
              <a:t>Q.front</a:t>
            </a:r>
            <a:r>
              <a:rPr lang="en-US" altLang="zh-CN" dirty="0"/>
              <a:t> -&gt; next; </a:t>
            </a:r>
            <a:br>
              <a:rPr lang="en-US" altLang="zh-CN" dirty="0"/>
            </a:br>
            <a:r>
              <a:rPr lang="en-US" altLang="zh-CN" dirty="0"/>
              <a:t>    </a:t>
            </a:r>
            <a:r>
              <a:rPr lang="zh-CN" altLang="en-US" dirty="0"/>
              <a:t>　　　</a:t>
            </a:r>
            <a:r>
              <a:rPr lang="en-US" altLang="zh-CN" dirty="0"/>
              <a:t>free (</a:t>
            </a:r>
            <a:r>
              <a:rPr lang="en-US" altLang="zh-CN" dirty="0" err="1"/>
              <a:t>Q.front</a:t>
            </a:r>
            <a:r>
              <a:rPr lang="en-US" altLang="zh-CN" dirty="0"/>
              <a:t>);  </a:t>
            </a:r>
            <a:br>
              <a:rPr lang="en-US" altLang="zh-CN" dirty="0"/>
            </a:br>
            <a:r>
              <a:rPr lang="en-US" altLang="zh-CN" dirty="0"/>
              <a:t>   </a:t>
            </a:r>
            <a:r>
              <a:rPr lang="zh-CN" altLang="en-US" dirty="0"/>
              <a:t>　　　 </a:t>
            </a:r>
            <a:r>
              <a:rPr lang="en-US" altLang="zh-CN" dirty="0" err="1"/>
              <a:t>Q.front</a:t>
            </a:r>
            <a:r>
              <a:rPr lang="en-US" altLang="zh-CN" dirty="0"/>
              <a:t> = </a:t>
            </a:r>
            <a:r>
              <a:rPr lang="en-US" altLang="zh-CN" dirty="0" err="1"/>
              <a:t>Q.rear</a:t>
            </a:r>
            <a:r>
              <a:rPr lang="en-US" altLang="zh-CN" dirty="0"/>
              <a:t>;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             } 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             return OK; </a:t>
            </a:r>
            <a:br>
              <a:rPr lang="en-US" altLang="zh-CN" dirty="0"/>
            </a:br>
            <a:r>
              <a:rPr lang="zh-CN" altLang="en-US" dirty="0"/>
              <a:t>　　</a:t>
            </a:r>
            <a:r>
              <a:rPr lang="en-US" altLang="zh-CN" dirty="0"/>
              <a:t>} </a:t>
            </a:r>
          </a:p>
        </p:txBody>
      </p:sp>
    </p:spTree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06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06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06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06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0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9" dur="500"/>
                                        <p:tgtEl>
                                          <p:spTgt spid="70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70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0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06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06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0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70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06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06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0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70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706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706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0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70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70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706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706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0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70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706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706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0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70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706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706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0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70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70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706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706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0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70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706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706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0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70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706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706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0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34" dur="500"/>
                                        <p:tgtEl>
                                          <p:spTgt spid="70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500"/>
                            </p:stCondLst>
                            <p:childTnLst>
                              <p:par>
                                <p:cTn id="1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70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707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707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0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70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707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707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0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1000"/>
                                        <p:tgtEl>
                                          <p:spTgt spid="70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706" grpId="0" animBg="1"/>
      <p:bldP spid="70691" grpId="0" animBg="1"/>
      <p:bldP spid="70688" grpId="0" animBg="1"/>
      <p:bldP spid="70685" grpId="0" animBg="1"/>
      <p:bldP spid="70683" grpId="0" animBg="1"/>
      <p:bldP spid="70681" grpId="0" animBg="1"/>
      <p:bldP spid="70680" grpId="0" animBg="1"/>
      <p:bldP spid="70677" grpId="0" animBg="1"/>
      <p:bldP spid="70678" grpId="0" animBg="1"/>
      <p:bldP spid="70679" grpId="0" animBg="1"/>
      <p:bldP spid="70682" grpId="0" animBg="1"/>
      <p:bldP spid="70684" grpId="0" animBg="1"/>
      <p:bldP spid="70687" grpId="0" animBg="1"/>
      <p:bldP spid="70686" grpId="0" animBg="1"/>
      <p:bldP spid="70689" grpId="0" animBg="1"/>
      <p:bldP spid="70690" grpId="0" animBg="1"/>
      <p:bldP spid="70692" grpId="0" animBg="1"/>
      <p:bldP spid="70693" grpId="0" animBg="1"/>
      <p:bldP spid="70694" grpId="0" animBg="1"/>
      <p:bldP spid="70695" grpId="0" animBg="1"/>
      <p:bldP spid="70696" grpId="0" animBg="1"/>
      <p:bldP spid="70697" grpId="0" animBg="1"/>
      <p:bldP spid="70698" grpId="0" animBg="1"/>
      <p:bldP spid="70699" grpId="0" animBg="1"/>
      <p:bldP spid="70700" grpId="0" animBg="1"/>
      <p:bldP spid="70701" grpId="0" animBg="1"/>
      <p:bldP spid="70702" grpId="0" animBg="1"/>
      <p:bldP spid="70704" grpId="0"/>
      <p:bldP spid="70705" grpId="0" animBg="1"/>
      <p:bldP spid="70660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27" name="Text Box 95"/>
          <p:cNvSpPr txBox="1">
            <a:spLocks noChangeArrowheads="1"/>
          </p:cNvSpPr>
          <p:nvPr/>
        </p:nvSpPr>
        <p:spPr bwMode="auto">
          <a:xfrm>
            <a:off x="5581651" y="5445125"/>
            <a:ext cx="460375" cy="55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>
              <a:spcBef>
                <a:spcPts val="600"/>
              </a:spcBef>
              <a:spcAft>
                <a:spcPts val="200"/>
              </a:spcAft>
            </a:pPr>
            <a:r>
              <a:rPr kumimoji="0" lang="en-US" altLang="zh-CN" sz="2000">
                <a:ea typeface="宋体" pitchFamily="2" charset="-122"/>
              </a:rPr>
              <a:t>∧</a:t>
            </a:r>
          </a:p>
        </p:txBody>
      </p:sp>
      <p:sp>
        <p:nvSpPr>
          <p:cNvPr id="69724" name="Line 92"/>
          <p:cNvSpPr>
            <a:spLocks noChangeShapeType="1"/>
          </p:cNvSpPr>
          <p:nvPr/>
        </p:nvSpPr>
        <p:spPr bwMode="auto">
          <a:xfrm>
            <a:off x="4429125" y="5734050"/>
            <a:ext cx="82708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722" name="Rectangle 90"/>
          <p:cNvSpPr>
            <a:spLocks noChangeArrowheads="1"/>
          </p:cNvSpPr>
          <p:nvPr/>
        </p:nvSpPr>
        <p:spPr bwMode="auto">
          <a:xfrm>
            <a:off x="3565526" y="3933826"/>
            <a:ext cx="1655763" cy="3587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721" name="Rectangle 89"/>
          <p:cNvSpPr>
            <a:spLocks noChangeArrowheads="1"/>
          </p:cNvSpPr>
          <p:nvPr/>
        </p:nvSpPr>
        <p:spPr bwMode="auto">
          <a:xfrm>
            <a:off x="3565526" y="3429001"/>
            <a:ext cx="2663825" cy="3587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720" name="Rectangle 88"/>
          <p:cNvSpPr>
            <a:spLocks noChangeArrowheads="1"/>
          </p:cNvSpPr>
          <p:nvPr/>
        </p:nvSpPr>
        <p:spPr bwMode="auto">
          <a:xfrm>
            <a:off x="3565525" y="2997201"/>
            <a:ext cx="4679950" cy="3587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716" name="Rectangle 84"/>
          <p:cNvSpPr>
            <a:spLocks noChangeArrowheads="1"/>
          </p:cNvSpPr>
          <p:nvPr/>
        </p:nvSpPr>
        <p:spPr bwMode="auto">
          <a:xfrm>
            <a:off x="3565526" y="2133601"/>
            <a:ext cx="5400675" cy="3587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714" name="Rectangle 82"/>
          <p:cNvSpPr>
            <a:spLocks noChangeArrowheads="1"/>
          </p:cNvSpPr>
          <p:nvPr/>
        </p:nvSpPr>
        <p:spPr bwMode="auto">
          <a:xfrm>
            <a:off x="3565526" y="3933826"/>
            <a:ext cx="1655763" cy="3587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711" name="Rectangle 79"/>
          <p:cNvSpPr>
            <a:spLocks noChangeArrowheads="1"/>
          </p:cNvSpPr>
          <p:nvPr/>
        </p:nvSpPr>
        <p:spPr bwMode="auto">
          <a:xfrm>
            <a:off x="3565526" y="3429001"/>
            <a:ext cx="2663825" cy="3587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710" name="Rectangle 78"/>
          <p:cNvSpPr>
            <a:spLocks noChangeArrowheads="1"/>
          </p:cNvSpPr>
          <p:nvPr/>
        </p:nvSpPr>
        <p:spPr bwMode="auto">
          <a:xfrm>
            <a:off x="3565525" y="2998789"/>
            <a:ext cx="4679950" cy="3587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708" name="Rectangle 76"/>
          <p:cNvSpPr>
            <a:spLocks noChangeArrowheads="1"/>
          </p:cNvSpPr>
          <p:nvPr/>
        </p:nvSpPr>
        <p:spPr bwMode="auto">
          <a:xfrm>
            <a:off x="3565526" y="2133601"/>
            <a:ext cx="5400675" cy="3587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42" name="Text Box 10"/>
          <p:cNvSpPr txBox="1">
            <a:spLocks noChangeArrowheads="1"/>
          </p:cNvSpPr>
          <p:nvPr/>
        </p:nvSpPr>
        <p:spPr bwMode="auto">
          <a:xfrm>
            <a:off x="4357688" y="5635626"/>
            <a:ext cx="819150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ts val="600"/>
              </a:spcBef>
              <a:spcAft>
                <a:spcPts val="200"/>
              </a:spcAft>
            </a:pPr>
            <a:r>
              <a:rPr kumimoji="0" lang="en-US" altLang="zh-CN">
                <a:ea typeface="宋体" pitchFamily="2" charset="-122"/>
              </a:rPr>
              <a:t>rear</a:t>
            </a:r>
          </a:p>
        </p:txBody>
      </p:sp>
      <p:grpSp>
        <p:nvGrpSpPr>
          <p:cNvPr id="69645" name="Group 13"/>
          <p:cNvGrpSpPr>
            <a:grpSpLocks/>
          </p:cNvGrpSpPr>
          <p:nvPr/>
        </p:nvGrpSpPr>
        <p:grpSpPr bwMode="auto">
          <a:xfrm>
            <a:off x="6186488" y="5445125"/>
            <a:ext cx="633412" cy="393700"/>
            <a:chOff x="2312" y="13228"/>
            <a:chExt cx="748" cy="450"/>
          </a:xfrm>
        </p:grpSpPr>
        <p:sp>
          <p:nvSpPr>
            <p:cNvPr id="69646" name="Rectangle 14"/>
            <p:cNvSpPr>
              <a:spLocks noChangeArrowheads="1"/>
            </p:cNvSpPr>
            <p:nvPr/>
          </p:nvSpPr>
          <p:spPr bwMode="auto">
            <a:xfrm>
              <a:off x="2312" y="13228"/>
              <a:ext cx="748" cy="4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47" name="Line 15"/>
            <p:cNvSpPr>
              <a:spLocks noChangeShapeType="1"/>
            </p:cNvSpPr>
            <p:nvPr/>
          </p:nvSpPr>
          <p:spPr bwMode="auto">
            <a:xfrm>
              <a:off x="2720" y="13228"/>
              <a:ext cx="0" cy="4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9649" name="Text Box 17"/>
          <p:cNvSpPr txBox="1">
            <a:spLocks noChangeArrowheads="1"/>
          </p:cNvSpPr>
          <p:nvPr/>
        </p:nvSpPr>
        <p:spPr bwMode="auto">
          <a:xfrm>
            <a:off x="6430963" y="5310188"/>
            <a:ext cx="461962" cy="55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>
              <a:spcBef>
                <a:spcPts val="600"/>
              </a:spcBef>
              <a:spcAft>
                <a:spcPts val="200"/>
              </a:spcAft>
            </a:pPr>
            <a:r>
              <a:rPr kumimoji="0" lang="en-US" altLang="zh-CN" sz="900" b="0">
                <a:ea typeface="宋体" pitchFamily="2" charset="-122"/>
              </a:rPr>
              <a:t>…</a:t>
            </a:r>
          </a:p>
        </p:txBody>
      </p:sp>
      <p:sp>
        <p:nvSpPr>
          <p:cNvPr id="69650" name="Line 18"/>
          <p:cNvSpPr>
            <a:spLocks noChangeShapeType="1"/>
          </p:cNvSpPr>
          <p:nvPr/>
        </p:nvSpPr>
        <p:spPr bwMode="auto">
          <a:xfrm>
            <a:off x="4433889" y="5562600"/>
            <a:ext cx="82708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651" name="Text Box 19"/>
          <p:cNvSpPr txBox="1">
            <a:spLocks noChangeArrowheads="1"/>
          </p:cNvSpPr>
          <p:nvPr/>
        </p:nvSpPr>
        <p:spPr bwMode="auto">
          <a:xfrm>
            <a:off x="4357688" y="5157788"/>
            <a:ext cx="1003300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ts val="600"/>
              </a:spcBef>
              <a:spcAft>
                <a:spcPts val="200"/>
              </a:spcAft>
            </a:pPr>
            <a:r>
              <a:rPr kumimoji="0" lang="en-US" altLang="zh-CN">
                <a:ea typeface="宋体" pitchFamily="2" charset="-122"/>
              </a:rPr>
              <a:t>front</a:t>
            </a:r>
          </a:p>
        </p:txBody>
      </p:sp>
      <p:sp>
        <p:nvSpPr>
          <p:cNvPr id="69652" name="Rectangle 20"/>
          <p:cNvSpPr>
            <a:spLocks noChangeArrowheads="1"/>
          </p:cNvSpPr>
          <p:nvPr/>
        </p:nvSpPr>
        <p:spPr bwMode="auto">
          <a:xfrm>
            <a:off x="5272088" y="5448300"/>
            <a:ext cx="3810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53" name="Rectangle 21"/>
          <p:cNvSpPr>
            <a:spLocks noChangeArrowheads="1"/>
          </p:cNvSpPr>
          <p:nvPr/>
        </p:nvSpPr>
        <p:spPr bwMode="auto">
          <a:xfrm>
            <a:off x="5653088" y="5448300"/>
            <a:ext cx="3048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55" name="Text Box 23"/>
          <p:cNvSpPr txBox="1">
            <a:spLocks noChangeArrowheads="1"/>
          </p:cNvSpPr>
          <p:nvPr/>
        </p:nvSpPr>
        <p:spPr bwMode="auto">
          <a:xfrm>
            <a:off x="6445251" y="5443538"/>
            <a:ext cx="460375" cy="55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>
              <a:spcBef>
                <a:spcPts val="600"/>
              </a:spcBef>
              <a:spcAft>
                <a:spcPts val="200"/>
              </a:spcAft>
            </a:pPr>
            <a:r>
              <a:rPr kumimoji="0" lang="en-US" altLang="zh-CN" sz="2000">
                <a:ea typeface="宋体" pitchFamily="2" charset="-122"/>
              </a:rPr>
              <a:t>∧</a:t>
            </a:r>
          </a:p>
        </p:txBody>
      </p:sp>
      <p:sp>
        <p:nvSpPr>
          <p:cNvPr id="69660" name="Text Box 28"/>
          <p:cNvSpPr txBox="1">
            <a:spLocks noChangeArrowheads="1"/>
          </p:cNvSpPr>
          <p:nvPr/>
        </p:nvSpPr>
        <p:spPr bwMode="auto">
          <a:xfrm>
            <a:off x="6129339" y="5443538"/>
            <a:ext cx="460375" cy="55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>
              <a:spcBef>
                <a:spcPts val="600"/>
              </a:spcBef>
              <a:spcAft>
                <a:spcPts val="200"/>
              </a:spcAft>
            </a:pPr>
            <a:r>
              <a:rPr kumimoji="0" lang="en-US" altLang="zh-CN" sz="2000" i="1">
                <a:ea typeface="宋体" pitchFamily="2" charset="-122"/>
              </a:rPr>
              <a:t>x</a:t>
            </a:r>
          </a:p>
        </p:txBody>
      </p:sp>
      <p:grpSp>
        <p:nvGrpSpPr>
          <p:cNvPr id="69667" name="Group 35"/>
          <p:cNvGrpSpPr>
            <a:grpSpLocks/>
          </p:cNvGrpSpPr>
          <p:nvPr/>
        </p:nvGrpSpPr>
        <p:grpSpPr bwMode="auto">
          <a:xfrm>
            <a:off x="7034213" y="5445125"/>
            <a:ext cx="635000" cy="393700"/>
            <a:chOff x="2312" y="13228"/>
            <a:chExt cx="748" cy="450"/>
          </a:xfrm>
        </p:grpSpPr>
        <p:sp>
          <p:nvSpPr>
            <p:cNvPr id="69668" name="Rectangle 36"/>
            <p:cNvSpPr>
              <a:spLocks noChangeArrowheads="1"/>
            </p:cNvSpPr>
            <p:nvPr/>
          </p:nvSpPr>
          <p:spPr bwMode="auto">
            <a:xfrm>
              <a:off x="2312" y="13228"/>
              <a:ext cx="748" cy="4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69" name="Line 37"/>
            <p:cNvSpPr>
              <a:spLocks noChangeShapeType="1"/>
            </p:cNvSpPr>
            <p:nvPr/>
          </p:nvSpPr>
          <p:spPr bwMode="auto">
            <a:xfrm>
              <a:off x="2720" y="13228"/>
              <a:ext cx="0" cy="4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9670" name="Text Box 38"/>
          <p:cNvSpPr txBox="1">
            <a:spLocks noChangeArrowheads="1"/>
          </p:cNvSpPr>
          <p:nvPr/>
        </p:nvSpPr>
        <p:spPr bwMode="auto">
          <a:xfrm>
            <a:off x="7308851" y="5445125"/>
            <a:ext cx="460375" cy="55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>
              <a:spcBef>
                <a:spcPts val="600"/>
              </a:spcBef>
              <a:spcAft>
                <a:spcPts val="200"/>
              </a:spcAft>
            </a:pPr>
            <a:r>
              <a:rPr kumimoji="0" lang="en-US" altLang="zh-CN" sz="2000">
                <a:ea typeface="宋体" pitchFamily="2" charset="-122"/>
              </a:rPr>
              <a:t>∧</a:t>
            </a:r>
          </a:p>
        </p:txBody>
      </p:sp>
      <p:sp>
        <p:nvSpPr>
          <p:cNvPr id="69678" name="Text Box 46"/>
          <p:cNvSpPr txBox="1">
            <a:spLocks noChangeArrowheads="1"/>
          </p:cNvSpPr>
          <p:nvPr/>
        </p:nvSpPr>
        <p:spPr bwMode="auto">
          <a:xfrm>
            <a:off x="6980239" y="5445125"/>
            <a:ext cx="460375" cy="55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>
              <a:spcBef>
                <a:spcPts val="600"/>
              </a:spcBef>
              <a:spcAft>
                <a:spcPts val="200"/>
              </a:spcAft>
            </a:pPr>
            <a:r>
              <a:rPr kumimoji="0" lang="en-US" altLang="zh-CN" sz="2000" i="1">
                <a:ea typeface="宋体" pitchFamily="2" charset="-122"/>
              </a:rPr>
              <a:t>y</a:t>
            </a:r>
          </a:p>
        </p:txBody>
      </p:sp>
      <p:sp>
        <p:nvSpPr>
          <p:cNvPr id="69705" name="Text Box 73"/>
          <p:cNvSpPr txBox="1">
            <a:spLocks noChangeArrowheads="1"/>
          </p:cNvSpPr>
          <p:nvPr/>
        </p:nvSpPr>
        <p:spPr bwMode="auto">
          <a:xfrm>
            <a:off x="2341563" y="549275"/>
            <a:ext cx="4222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ea typeface="华文中宋" pitchFamily="2" charset="-122"/>
              </a:rPr>
              <a:t>    </a:t>
            </a:r>
            <a:r>
              <a:rPr lang="zh-CN" altLang="en-US">
                <a:ea typeface="华文中宋" pitchFamily="2" charset="-122"/>
              </a:rPr>
              <a:t>插入操作在链队列中的实现 </a:t>
            </a:r>
          </a:p>
        </p:txBody>
      </p:sp>
      <p:sp>
        <p:nvSpPr>
          <p:cNvPr id="69712" name="Text Box 80"/>
          <p:cNvSpPr txBox="1">
            <a:spLocks noChangeArrowheads="1"/>
          </p:cNvSpPr>
          <p:nvPr/>
        </p:nvSpPr>
        <p:spPr bwMode="auto">
          <a:xfrm>
            <a:off x="6230938" y="4602163"/>
            <a:ext cx="4302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p </a:t>
            </a:r>
          </a:p>
        </p:txBody>
      </p:sp>
      <p:sp>
        <p:nvSpPr>
          <p:cNvPr id="69713" name="Line 81"/>
          <p:cNvSpPr>
            <a:spLocks noChangeShapeType="1"/>
          </p:cNvSpPr>
          <p:nvPr/>
        </p:nvSpPr>
        <p:spPr bwMode="auto">
          <a:xfrm>
            <a:off x="6373813" y="5084763"/>
            <a:ext cx="0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69717" name="Text Box 85"/>
          <p:cNvSpPr txBox="1">
            <a:spLocks noChangeArrowheads="1"/>
          </p:cNvSpPr>
          <p:nvPr/>
        </p:nvSpPr>
        <p:spPr bwMode="auto">
          <a:xfrm>
            <a:off x="7023101" y="4602163"/>
            <a:ext cx="4302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p </a:t>
            </a:r>
          </a:p>
        </p:txBody>
      </p:sp>
      <p:sp>
        <p:nvSpPr>
          <p:cNvPr id="69718" name="Line 86"/>
          <p:cNvSpPr>
            <a:spLocks noChangeShapeType="1"/>
          </p:cNvSpPr>
          <p:nvPr/>
        </p:nvSpPr>
        <p:spPr bwMode="auto">
          <a:xfrm>
            <a:off x="7165975" y="5086351"/>
            <a:ext cx="0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69707" name="Text Box 75"/>
          <p:cNvSpPr txBox="1">
            <a:spLocks noChangeArrowheads="1"/>
          </p:cNvSpPr>
          <p:nvPr/>
        </p:nvSpPr>
        <p:spPr bwMode="auto">
          <a:xfrm>
            <a:off x="2638426" y="1125539"/>
            <a:ext cx="6626225" cy="4035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/>
              <a:t>Status EnQueue (LinkQueue &amp;Q, QElemType e) </a:t>
            </a:r>
            <a:br>
              <a:rPr lang="en-US" altLang="zh-CN"/>
            </a:br>
            <a:r>
              <a:rPr lang="zh-CN" altLang="en-US"/>
              <a:t>　　</a:t>
            </a:r>
            <a:r>
              <a:rPr lang="en-US" altLang="zh-CN"/>
              <a:t>{   // </a:t>
            </a:r>
            <a:r>
              <a:rPr lang="zh-CN" altLang="en-US"/>
              <a:t>插入元素 </a:t>
            </a:r>
            <a:r>
              <a:rPr lang="en-US" altLang="zh-CN"/>
              <a:t>e </a:t>
            </a:r>
            <a:r>
              <a:rPr lang="zh-CN" altLang="en-US"/>
              <a:t>为 </a:t>
            </a:r>
            <a:r>
              <a:rPr lang="en-US" altLang="zh-CN"/>
              <a:t>Q </a:t>
            </a:r>
            <a:r>
              <a:rPr lang="zh-CN" altLang="en-US"/>
              <a:t>的新的队尾元素 </a:t>
            </a:r>
            <a:br>
              <a:rPr lang="zh-CN" altLang="en-US"/>
            </a:br>
            <a:r>
              <a:rPr lang="zh-CN" altLang="en-US"/>
              <a:t>　　　</a:t>
            </a:r>
            <a:r>
              <a:rPr lang="en-US" altLang="zh-CN"/>
              <a:t>p = (QueuePtr) malloc (sizeof (QNode)); </a:t>
            </a:r>
          </a:p>
          <a:p>
            <a:pPr>
              <a:lnSpc>
                <a:spcPct val="120000"/>
              </a:lnSpc>
            </a:pPr>
            <a:r>
              <a:rPr lang="en-US" altLang="zh-CN"/>
              <a:t>             if (!p) exit (OVERFLOW); </a:t>
            </a:r>
          </a:p>
          <a:p>
            <a:pPr>
              <a:lnSpc>
                <a:spcPct val="120000"/>
              </a:lnSpc>
            </a:pPr>
            <a:r>
              <a:rPr lang="en-US" altLang="zh-CN"/>
              <a:t>             p -&gt; data = e;    p -&gt; next = NULL; </a:t>
            </a:r>
            <a:br>
              <a:rPr lang="en-US" altLang="zh-CN"/>
            </a:br>
            <a:r>
              <a:rPr lang="en-US" altLang="zh-CN"/>
              <a:t>   </a:t>
            </a:r>
            <a:r>
              <a:rPr lang="zh-CN" altLang="en-US"/>
              <a:t>　　 </a:t>
            </a:r>
            <a:r>
              <a:rPr lang="en-US" altLang="zh-CN"/>
              <a:t>Q.rear -&gt; next = p;</a:t>
            </a:r>
          </a:p>
          <a:p>
            <a:pPr>
              <a:lnSpc>
                <a:spcPct val="120000"/>
              </a:lnSpc>
            </a:pPr>
            <a:r>
              <a:rPr lang="en-US" altLang="zh-CN"/>
              <a:t>   </a:t>
            </a:r>
            <a:r>
              <a:rPr lang="zh-CN" altLang="en-US"/>
              <a:t>　　 </a:t>
            </a:r>
            <a:r>
              <a:rPr lang="en-US" altLang="zh-CN"/>
              <a:t>Q.rear = p;</a:t>
            </a:r>
          </a:p>
          <a:p>
            <a:pPr>
              <a:lnSpc>
                <a:spcPct val="120000"/>
              </a:lnSpc>
            </a:pPr>
            <a:r>
              <a:rPr lang="en-US" altLang="zh-CN"/>
              <a:t>             return OK; </a:t>
            </a:r>
            <a:br>
              <a:rPr lang="en-US" altLang="zh-CN"/>
            </a:br>
            <a:r>
              <a:rPr lang="zh-CN" altLang="en-US"/>
              <a:t>　　</a:t>
            </a:r>
            <a:r>
              <a:rPr lang="en-US" altLang="zh-CN"/>
              <a:t>} </a:t>
            </a:r>
          </a:p>
        </p:txBody>
      </p:sp>
      <p:sp useBgFill="1">
        <p:nvSpPr>
          <p:cNvPr id="69726" name="Rectangle 94"/>
          <p:cNvSpPr>
            <a:spLocks noChangeArrowheads="1"/>
          </p:cNvSpPr>
          <p:nvPr/>
        </p:nvSpPr>
        <p:spPr bwMode="auto">
          <a:xfrm>
            <a:off x="4357688" y="5661026"/>
            <a:ext cx="900112" cy="144463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69725" name="Group 93"/>
          <p:cNvGrpSpPr>
            <a:grpSpLocks/>
          </p:cNvGrpSpPr>
          <p:nvPr/>
        </p:nvGrpSpPr>
        <p:grpSpPr bwMode="auto">
          <a:xfrm>
            <a:off x="4429125" y="5734050"/>
            <a:ext cx="1905000" cy="304800"/>
            <a:chOff x="1383" y="3612"/>
            <a:chExt cx="1200" cy="192"/>
          </a:xfrm>
        </p:grpSpPr>
        <p:sp>
          <p:nvSpPr>
            <p:cNvPr id="69656" name="Line 24"/>
            <p:cNvSpPr>
              <a:spLocks noChangeShapeType="1"/>
            </p:cNvSpPr>
            <p:nvPr/>
          </p:nvSpPr>
          <p:spPr bwMode="auto">
            <a:xfrm>
              <a:off x="1383" y="3612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57" name="Line 25"/>
            <p:cNvSpPr>
              <a:spLocks noChangeShapeType="1"/>
            </p:cNvSpPr>
            <p:nvPr/>
          </p:nvSpPr>
          <p:spPr bwMode="auto">
            <a:xfrm>
              <a:off x="1815" y="361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58" name="Line 26"/>
            <p:cNvSpPr>
              <a:spLocks noChangeShapeType="1"/>
            </p:cNvSpPr>
            <p:nvPr/>
          </p:nvSpPr>
          <p:spPr bwMode="auto">
            <a:xfrm>
              <a:off x="1815" y="3804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59" name="Line 27"/>
            <p:cNvSpPr>
              <a:spLocks noChangeShapeType="1"/>
            </p:cNvSpPr>
            <p:nvPr/>
          </p:nvSpPr>
          <p:spPr bwMode="auto">
            <a:xfrm flipV="1">
              <a:off x="2583" y="3702"/>
              <a:ext cx="0" cy="1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 useBgFill="1">
        <p:nvSpPr>
          <p:cNvPr id="69728" name="Rectangle 96"/>
          <p:cNvSpPr>
            <a:spLocks noChangeArrowheads="1"/>
          </p:cNvSpPr>
          <p:nvPr/>
        </p:nvSpPr>
        <p:spPr bwMode="auto">
          <a:xfrm>
            <a:off x="5688013" y="5516564"/>
            <a:ext cx="252412" cy="288925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48" name="Line 16"/>
          <p:cNvSpPr>
            <a:spLocks noChangeShapeType="1"/>
          </p:cNvSpPr>
          <p:nvPr/>
        </p:nvSpPr>
        <p:spPr bwMode="auto">
          <a:xfrm>
            <a:off x="5797551" y="5661025"/>
            <a:ext cx="3714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 useBgFill="1">
        <p:nvSpPr>
          <p:cNvPr id="69729" name="Rectangle 97"/>
          <p:cNvSpPr>
            <a:spLocks noChangeArrowheads="1"/>
          </p:cNvSpPr>
          <p:nvPr/>
        </p:nvSpPr>
        <p:spPr bwMode="auto">
          <a:xfrm>
            <a:off x="6229351" y="4718051"/>
            <a:ext cx="360363" cy="720725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69731" name="Group 99"/>
          <p:cNvGrpSpPr>
            <a:grpSpLocks/>
          </p:cNvGrpSpPr>
          <p:nvPr/>
        </p:nvGrpSpPr>
        <p:grpSpPr bwMode="auto">
          <a:xfrm>
            <a:off x="4429125" y="5734050"/>
            <a:ext cx="2743200" cy="304800"/>
            <a:chOff x="3601" y="3612"/>
            <a:chExt cx="1728" cy="192"/>
          </a:xfrm>
        </p:grpSpPr>
        <p:sp>
          <p:nvSpPr>
            <p:cNvPr id="69676" name="Line 44"/>
            <p:cNvSpPr>
              <a:spLocks noChangeShapeType="1"/>
            </p:cNvSpPr>
            <p:nvPr/>
          </p:nvSpPr>
          <p:spPr bwMode="auto">
            <a:xfrm>
              <a:off x="3601" y="3612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77" name="Line 45"/>
            <p:cNvSpPr>
              <a:spLocks noChangeShapeType="1"/>
            </p:cNvSpPr>
            <p:nvPr/>
          </p:nvSpPr>
          <p:spPr bwMode="auto">
            <a:xfrm>
              <a:off x="4033" y="361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80" name="Line 48"/>
            <p:cNvSpPr>
              <a:spLocks noChangeShapeType="1"/>
            </p:cNvSpPr>
            <p:nvPr/>
          </p:nvSpPr>
          <p:spPr bwMode="auto">
            <a:xfrm>
              <a:off x="4033" y="3804"/>
              <a:ext cx="12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81" name="Line 49"/>
            <p:cNvSpPr>
              <a:spLocks noChangeShapeType="1"/>
            </p:cNvSpPr>
            <p:nvPr/>
          </p:nvSpPr>
          <p:spPr bwMode="auto">
            <a:xfrm flipV="1">
              <a:off x="5329" y="3702"/>
              <a:ext cx="0" cy="1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9732" name="Rectangle 100"/>
          <p:cNvSpPr>
            <a:spLocks noChangeArrowheads="1"/>
          </p:cNvSpPr>
          <p:nvPr/>
        </p:nvSpPr>
        <p:spPr bwMode="auto">
          <a:xfrm>
            <a:off x="6553201" y="5516564"/>
            <a:ext cx="252413" cy="2889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66" name="Line 34"/>
          <p:cNvSpPr>
            <a:spLocks noChangeShapeType="1"/>
          </p:cNvSpPr>
          <p:nvPr/>
        </p:nvSpPr>
        <p:spPr bwMode="auto">
          <a:xfrm>
            <a:off x="6626225" y="5661025"/>
            <a:ext cx="39528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 useBgFill="1">
        <p:nvSpPr>
          <p:cNvPr id="69733" name="Rectangle 101"/>
          <p:cNvSpPr>
            <a:spLocks noChangeArrowheads="1"/>
          </p:cNvSpPr>
          <p:nvPr/>
        </p:nvSpPr>
        <p:spPr bwMode="auto">
          <a:xfrm>
            <a:off x="6192838" y="5876925"/>
            <a:ext cx="252412" cy="153988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slow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97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97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6970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9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9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69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1" dur="500"/>
                                        <p:tgtEl>
                                          <p:spTgt spid="697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96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96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96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96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7" dur="500"/>
                                        <p:tgtEl>
                                          <p:spTgt spid="697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9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69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1" dur="500"/>
                                        <p:tgtEl>
                                          <p:spTgt spid="697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69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1000"/>
                                        <p:tgtEl>
                                          <p:spTgt spid="69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5" dur="500"/>
                                        <p:tgtEl>
                                          <p:spTgt spid="697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69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69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000"/>
                            </p:stCondLst>
                            <p:childTnLst>
                              <p:par>
                                <p:cTn id="8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69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500"/>
                            </p:stCondLst>
                            <p:childTnLst>
                              <p:par>
                                <p:cTn id="9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69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7" dur="500"/>
                                        <p:tgtEl>
                                          <p:spTgt spid="697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696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696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696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696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3" dur="500"/>
                                        <p:tgtEl>
                                          <p:spTgt spid="697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69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500"/>
                            </p:stCondLst>
                            <p:childTnLst>
                              <p:par>
                                <p:cTn id="1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69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7" dur="500"/>
                                        <p:tgtEl>
                                          <p:spTgt spid="697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69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500"/>
                            </p:stCondLst>
                            <p:childTnLst>
                              <p:par>
                                <p:cTn id="1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69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722" grpId="0" animBg="1"/>
      <p:bldP spid="69721" grpId="0" animBg="1"/>
      <p:bldP spid="69720" grpId="0" animBg="1"/>
      <p:bldP spid="69716" grpId="0" animBg="1"/>
      <p:bldP spid="69714" grpId="0" animBg="1"/>
      <p:bldP spid="69711" grpId="0" animBg="1"/>
      <p:bldP spid="69710" grpId="0" animBg="1"/>
      <p:bldP spid="69708" grpId="0" animBg="1"/>
      <p:bldP spid="69655" grpId="0"/>
      <p:bldP spid="69660" grpId="0"/>
      <p:bldP spid="69670" grpId="0"/>
      <p:bldP spid="69678" grpId="0"/>
      <p:bldP spid="69712" grpId="0"/>
      <p:bldP spid="69713" grpId="0" animBg="1"/>
      <p:bldP spid="69717" grpId="0"/>
      <p:bldP spid="69718" grpId="0" animBg="1"/>
      <p:bldP spid="69707" grpId="0"/>
      <p:bldP spid="69726" grpId="0" animBg="1"/>
      <p:bldP spid="69728" grpId="0" animBg="1"/>
      <p:bldP spid="69648" grpId="0" animBg="1"/>
      <p:bldP spid="69729" grpId="0" animBg="1"/>
      <p:bldP spid="69732" grpId="0" animBg="1"/>
      <p:bldP spid="69666" grpId="0" animBg="1"/>
      <p:bldP spid="6973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81" name="Rectangle 101"/>
          <p:cNvSpPr>
            <a:spLocks noChangeArrowheads="1"/>
          </p:cNvSpPr>
          <p:nvPr/>
        </p:nvSpPr>
        <p:spPr bwMode="auto">
          <a:xfrm>
            <a:off x="3070226" y="4581526"/>
            <a:ext cx="1223963" cy="3587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77" name="Rectangle 97"/>
          <p:cNvSpPr>
            <a:spLocks noChangeArrowheads="1"/>
          </p:cNvSpPr>
          <p:nvPr/>
        </p:nvSpPr>
        <p:spPr bwMode="auto">
          <a:xfrm>
            <a:off x="3071814" y="3502026"/>
            <a:ext cx="3673475" cy="3587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72" name="Rectangle 92"/>
          <p:cNvSpPr>
            <a:spLocks noChangeArrowheads="1"/>
          </p:cNvSpPr>
          <p:nvPr/>
        </p:nvSpPr>
        <p:spPr bwMode="auto">
          <a:xfrm>
            <a:off x="3071814" y="2422526"/>
            <a:ext cx="2808287" cy="3587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66" name="Rectangle 86"/>
          <p:cNvSpPr>
            <a:spLocks noChangeArrowheads="1"/>
          </p:cNvSpPr>
          <p:nvPr/>
        </p:nvSpPr>
        <p:spPr bwMode="auto">
          <a:xfrm>
            <a:off x="3070226" y="4005264"/>
            <a:ext cx="4537075" cy="358775"/>
          </a:xfrm>
          <a:prstGeom prst="rect">
            <a:avLst/>
          </a:prstGeom>
          <a:solidFill>
            <a:srgbClr val="FF00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64" name="Rectangle 84"/>
          <p:cNvSpPr>
            <a:spLocks noChangeArrowheads="1"/>
          </p:cNvSpPr>
          <p:nvPr/>
        </p:nvSpPr>
        <p:spPr bwMode="auto">
          <a:xfrm>
            <a:off x="3070226" y="4581526"/>
            <a:ext cx="1223963" cy="3587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59" name="Rectangle 79"/>
          <p:cNvSpPr>
            <a:spLocks noChangeArrowheads="1"/>
          </p:cNvSpPr>
          <p:nvPr/>
        </p:nvSpPr>
        <p:spPr bwMode="auto">
          <a:xfrm>
            <a:off x="3071814" y="3503614"/>
            <a:ext cx="3673475" cy="3587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55" name="Rectangle 75"/>
          <p:cNvSpPr>
            <a:spLocks noChangeArrowheads="1"/>
          </p:cNvSpPr>
          <p:nvPr/>
        </p:nvSpPr>
        <p:spPr bwMode="auto">
          <a:xfrm>
            <a:off x="3071814" y="2422526"/>
            <a:ext cx="2808287" cy="3587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54" name="Text Box 74"/>
          <p:cNvSpPr txBox="1">
            <a:spLocks noChangeArrowheads="1"/>
          </p:cNvSpPr>
          <p:nvPr/>
        </p:nvSpPr>
        <p:spPr bwMode="auto">
          <a:xfrm>
            <a:off x="2125663" y="1062038"/>
            <a:ext cx="6862762" cy="502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/>
              <a:t>Status DeQueue (LinkQueue &amp;Q, QElemType &amp;e) </a:t>
            </a:r>
            <a:br>
              <a:rPr lang="en-US" altLang="zh-CN"/>
            </a:br>
            <a:r>
              <a:rPr lang="zh-CN" altLang="en-US"/>
              <a:t>　　</a:t>
            </a:r>
            <a:r>
              <a:rPr lang="en-US" altLang="zh-CN"/>
              <a:t>{   if (Q.front == Q.rear) return ERROR; </a:t>
            </a:r>
          </a:p>
          <a:p>
            <a:pPr>
              <a:lnSpc>
                <a:spcPct val="150000"/>
              </a:lnSpc>
            </a:pPr>
            <a:r>
              <a:rPr lang="en-US" altLang="zh-CN"/>
              <a:t>            p = Q.front -&gt; next; </a:t>
            </a:r>
          </a:p>
          <a:p>
            <a:pPr>
              <a:lnSpc>
                <a:spcPct val="150000"/>
              </a:lnSpc>
            </a:pPr>
            <a:r>
              <a:rPr lang="en-US" altLang="zh-CN"/>
              <a:t>            e = p -&gt; data; </a:t>
            </a:r>
            <a:br>
              <a:rPr lang="en-US" altLang="zh-CN"/>
            </a:br>
            <a:r>
              <a:rPr lang="en-US" altLang="zh-CN"/>
              <a:t>   </a:t>
            </a:r>
            <a:r>
              <a:rPr lang="zh-CN" altLang="en-US"/>
              <a:t>　　 </a:t>
            </a:r>
            <a:r>
              <a:rPr lang="en-US" altLang="zh-CN"/>
              <a:t>Q.front -&gt; next = p -&gt; next;</a:t>
            </a:r>
          </a:p>
          <a:p>
            <a:pPr>
              <a:lnSpc>
                <a:spcPct val="150000"/>
              </a:lnSpc>
            </a:pPr>
            <a:r>
              <a:rPr lang="en-US" altLang="zh-CN"/>
              <a:t>   </a:t>
            </a:r>
            <a:r>
              <a:rPr lang="zh-CN" altLang="en-US"/>
              <a:t>　　 </a:t>
            </a:r>
            <a:r>
              <a:rPr lang="en-US" altLang="zh-CN"/>
              <a:t>if (Q.rear == p) Q.rear = Q.front; </a:t>
            </a:r>
          </a:p>
          <a:p>
            <a:pPr>
              <a:lnSpc>
                <a:spcPct val="150000"/>
              </a:lnSpc>
            </a:pPr>
            <a:r>
              <a:rPr lang="en-US" altLang="zh-CN"/>
              <a:t>            free (p); </a:t>
            </a:r>
          </a:p>
          <a:p>
            <a:pPr>
              <a:lnSpc>
                <a:spcPct val="150000"/>
              </a:lnSpc>
            </a:pPr>
            <a:r>
              <a:rPr lang="en-US" altLang="zh-CN"/>
              <a:t>            return OK; </a:t>
            </a:r>
            <a:br>
              <a:rPr lang="en-US" altLang="zh-CN"/>
            </a:br>
            <a:r>
              <a:rPr lang="zh-CN" altLang="en-US"/>
              <a:t>　　</a:t>
            </a:r>
            <a:r>
              <a:rPr lang="en-US" altLang="zh-CN"/>
              <a:t>} </a:t>
            </a:r>
          </a:p>
        </p:txBody>
      </p:sp>
      <p:grpSp>
        <p:nvGrpSpPr>
          <p:cNvPr id="71731" name="Group 51"/>
          <p:cNvGrpSpPr>
            <a:grpSpLocks/>
          </p:cNvGrpSpPr>
          <p:nvPr/>
        </p:nvGrpSpPr>
        <p:grpSpPr bwMode="auto">
          <a:xfrm>
            <a:off x="7229475" y="5505450"/>
            <a:ext cx="635000" cy="393700"/>
            <a:chOff x="2312" y="13228"/>
            <a:chExt cx="748" cy="450"/>
          </a:xfrm>
        </p:grpSpPr>
        <p:sp>
          <p:nvSpPr>
            <p:cNvPr id="71732" name="Rectangle 52"/>
            <p:cNvSpPr>
              <a:spLocks noChangeArrowheads="1"/>
            </p:cNvSpPr>
            <p:nvPr/>
          </p:nvSpPr>
          <p:spPr bwMode="auto">
            <a:xfrm>
              <a:off x="2312" y="13228"/>
              <a:ext cx="748" cy="4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33" name="Line 53"/>
            <p:cNvSpPr>
              <a:spLocks noChangeShapeType="1"/>
            </p:cNvSpPr>
            <p:nvPr/>
          </p:nvSpPr>
          <p:spPr bwMode="auto">
            <a:xfrm>
              <a:off x="2720" y="13228"/>
              <a:ext cx="0" cy="4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1734" name="Line 54"/>
          <p:cNvSpPr>
            <a:spLocks noChangeShapeType="1"/>
          </p:cNvSpPr>
          <p:nvPr/>
        </p:nvSpPr>
        <p:spPr bwMode="auto">
          <a:xfrm>
            <a:off x="7661276" y="5686425"/>
            <a:ext cx="36036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71735" name="Group 55"/>
          <p:cNvGrpSpPr>
            <a:grpSpLocks/>
          </p:cNvGrpSpPr>
          <p:nvPr/>
        </p:nvGrpSpPr>
        <p:grpSpPr bwMode="auto">
          <a:xfrm>
            <a:off x="8032750" y="5511800"/>
            <a:ext cx="635000" cy="393700"/>
            <a:chOff x="2312" y="13228"/>
            <a:chExt cx="748" cy="450"/>
          </a:xfrm>
        </p:grpSpPr>
        <p:sp>
          <p:nvSpPr>
            <p:cNvPr id="71736" name="Rectangle 56"/>
            <p:cNvSpPr>
              <a:spLocks noChangeArrowheads="1"/>
            </p:cNvSpPr>
            <p:nvPr/>
          </p:nvSpPr>
          <p:spPr bwMode="auto">
            <a:xfrm>
              <a:off x="2312" y="13228"/>
              <a:ext cx="748" cy="4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37" name="Line 57"/>
            <p:cNvSpPr>
              <a:spLocks noChangeShapeType="1"/>
            </p:cNvSpPr>
            <p:nvPr/>
          </p:nvSpPr>
          <p:spPr bwMode="auto">
            <a:xfrm>
              <a:off x="2720" y="13228"/>
              <a:ext cx="0" cy="4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1738" name="Text Box 58"/>
          <p:cNvSpPr txBox="1">
            <a:spLocks noChangeArrowheads="1"/>
          </p:cNvSpPr>
          <p:nvPr/>
        </p:nvSpPr>
        <p:spPr bwMode="auto">
          <a:xfrm>
            <a:off x="8280401" y="5505450"/>
            <a:ext cx="460375" cy="55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>
              <a:spcBef>
                <a:spcPts val="600"/>
              </a:spcBef>
              <a:spcAft>
                <a:spcPts val="200"/>
              </a:spcAft>
            </a:pPr>
            <a:r>
              <a:rPr kumimoji="0" lang="en-US" altLang="zh-CN" sz="2000">
                <a:ea typeface="宋体" pitchFamily="2" charset="-122"/>
              </a:rPr>
              <a:t>∧</a:t>
            </a:r>
          </a:p>
        </p:txBody>
      </p:sp>
      <p:sp>
        <p:nvSpPr>
          <p:cNvPr id="71739" name="Line 59"/>
          <p:cNvSpPr>
            <a:spLocks noChangeShapeType="1"/>
          </p:cNvSpPr>
          <p:nvPr/>
        </p:nvSpPr>
        <p:spPr bwMode="auto">
          <a:xfrm>
            <a:off x="5464175" y="5605463"/>
            <a:ext cx="82708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740" name="Text Box 60"/>
          <p:cNvSpPr txBox="1">
            <a:spLocks noChangeArrowheads="1"/>
          </p:cNvSpPr>
          <p:nvPr/>
        </p:nvSpPr>
        <p:spPr bwMode="auto">
          <a:xfrm>
            <a:off x="5387975" y="5200651"/>
            <a:ext cx="1003300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ts val="600"/>
              </a:spcBef>
              <a:spcAft>
                <a:spcPts val="200"/>
              </a:spcAft>
            </a:pPr>
            <a:r>
              <a:rPr kumimoji="0" lang="en-US" altLang="zh-CN">
                <a:ea typeface="宋体" pitchFamily="2" charset="-122"/>
              </a:rPr>
              <a:t>front</a:t>
            </a:r>
          </a:p>
        </p:txBody>
      </p:sp>
      <p:sp>
        <p:nvSpPr>
          <p:cNvPr id="71741" name="Rectangle 61"/>
          <p:cNvSpPr>
            <a:spLocks noChangeArrowheads="1"/>
          </p:cNvSpPr>
          <p:nvPr/>
        </p:nvSpPr>
        <p:spPr bwMode="auto">
          <a:xfrm>
            <a:off x="6302375" y="5491163"/>
            <a:ext cx="3810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42" name="Rectangle 62"/>
          <p:cNvSpPr>
            <a:spLocks noChangeArrowheads="1"/>
          </p:cNvSpPr>
          <p:nvPr/>
        </p:nvSpPr>
        <p:spPr bwMode="auto">
          <a:xfrm>
            <a:off x="6683375" y="5491163"/>
            <a:ext cx="3048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43" name="Text Box 63"/>
          <p:cNvSpPr txBox="1">
            <a:spLocks noChangeArrowheads="1"/>
          </p:cNvSpPr>
          <p:nvPr/>
        </p:nvSpPr>
        <p:spPr bwMode="auto">
          <a:xfrm>
            <a:off x="5387975" y="5678488"/>
            <a:ext cx="1003300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ts val="600"/>
              </a:spcBef>
              <a:spcAft>
                <a:spcPts val="200"/>
              </a:spcAft>
            </a:pPr>
            <a:r>
              <a:rPr kumimoji="0" lang="en-US" altLang="zh-CN">
                <a:ea typeface="宋体" pitchFamily="2" charset="-122"/>
              </a:rPr>
              <a:t>rear</a:t>
            </a:r>
          </a:p>
        </p:txBody>
      </p:sp>
      <p:sp>
        <p:nvSpPr>
          <p:cNvPr id="71744" name="Line 64"/>
          <p:cNvSpPr>
            <a:spLocks noChangeShapeType="1"/>
          </p:cNvSpPr>
          <p:nvPr/>
        </p:nvSpPr>
        <p:spPr bwMode="auto">
          <a:xfrm>
            <a:off x="5464175" y="581025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1745" name="Line 65"/>
          <p:cNvSpPr>
            <a:spLocks noChangeShapeType="1"/>
          </p:cNvSpPr>
          <p:nvPr/>
        </p:nvSpPr>
        <p:spPr bwMode="auto">
          <a:xfrm>
            <a:off x="6149975" y="581025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1746" name="Text Box 66"/>
          <p:cNvSpPr txBox="1">
            <a:spLocks noChangeArrowheads="1"/>
          </p:cNvSpPr>
          <p:nvPr/>
        </p:nvSpPr>
        <p:spPr bwMode="auto">
          <a:xfrm>
            <a:off x="7978776" y="5505450"/>
            <a:ext cx="460375" cy="55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>
              <a:spcBef>
                <a:spcPts val="600"/>
              </a:spcBef>
              <a:spcAft>
                <a:spcPts val="200"/>
              </a:spcAft>
            </a:pPr>
            <a:r>
              <a:rPr kumimoji="0" lang="en-US" altLang="zh-CN" sz="2000" i="1">
                <a:ea typeface="宋体" pitchFamily="2" charset="-122"/>
              </a:rPr>
              <a:t>y</a:t>
            </a:r>
          </a:p>
        </p:txBody>
      </p:sp>
      <p:sp>
        <p:nvSpPr>
          <p:cNvPr id="71747" name="Text Box 67"/>
          <p:cNvSpPr txBox="1">
            <a:spLocks noChangeArrowheads="1"/>
          </p:cNvSpPr>
          <p:nvPr/>
        </p:nvSpPr>
        <p:spPr bwMode="auto">
          <a:xfrm>
            <a:off x="7156451" y="5470525"/>
            <a:ext cx="460375" cy="55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>
              <a:spcBef>
                <a:spcPts val="600"/>
              </a:spcBef>
              <a:spcAft>
                <a:spcPts val="200"/>
              </a:spcAft>
            </a:pPr>
            <a:r>
              <a:rPr kumimoji="0" lang="en-US" altLang="zh-CN" sz="2000" i="1">
                <a:ea typeface="宋体" pitchFamily="2" charset="-122"/>
              </a:rPr>
              <a:t>x</a:t>
            </a:r>
          </a:p>
        </p:txBody>
      </p:sp>
      <p:sp>
        <p:nvSpPr>
          <p:cNvPr id="71748" name="Line 68"/>
          <p:cNvSpPr>
            <a:spLocks noChangeShapeType="1"/>
          </p:cNvSpPr>
          <p:nvPr/>
        </p:nvSpPr>
        <p:spPr bwMode="auto">
          <a:xfrm>
            <a:off x="6148388" y="6118225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1749" name="Line 69"/>
          <p:cNvSpPr>
            <a:spLocks noChangeShapeType="1"/>
          </p:cNvSpPr>
          <p:nvPr/>
        </p:nvSpPr>
        <p:spPr bwMode="auto">
          <a:xfrm flipV="1">
            <a:off x="8207375" y="588645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1752" name="Line 72"/>
          <p:cNvSpPr>
            <a:spLocks noChangeShapeType="1"/>
          </p:cNvSpPr>
          <p:nvPr/>
        </p:nvSpPr>
        <p:spPr bwMode="auto">
          <a:xfrm>
            <a:off x="8207375" y="527685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1753" name="Text Box 73"/>
          <p:cNvSpPr txBox="1">
            <a:spLocks noChangeArrowheads="1"/>
          </p:cNvSpPr>
          <p:nvPr/>
        </p:nvSpPr>
        <p:spPr bwMode="auto">
          <a:xfrm>
            <a:off x="2087563" y="620713"/>
            <a:ext cx="3917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ea typeface="华文中宋" pitchFamily="2" charset="-122"/>
              </a:rPr>
              <a:t>删除操作在链队列中的实现 </a:t>
            </a:r>
          </a:p>
        </p:txBody>
      </p:sp>
      <p:sp>
        <p:nvSpPr>
          <p:cNvPr id="71757" name="Text Box 77"/>
          <p:cNvSpPr txBox="1">
            <a:spLocks noChangeArrowheads="1"/>
          </p:cNvSpPr>
          <p:nvPr/>
        </p:nvSpPr>
        <p:spPr bwMode="auto">
          <a:xfrm>
            <a:off x="7231063" y="4625975"/>
            <a:ext cx="4302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p </a:t>
            </a:r>
          </a:p>
        </p:txBody>
      </p:sp>
      <p:sp>
        <p:nvSpPr>
          <p:cNvPr id="71758" name="Line 78"/>
          <p:cNvSpPr>
            <a:spLocks noChangeShapeType="1"/>
          </p:cNvSpPr>
          <p:nvPr/>
        </p:nvSpPr>
        <p:spPr bwMode="auto">
          <a:xfrm>
            <a:off x="7373938" y="5110163"/>
            <a:ext cx="0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1760" name="Line 80"/>
          <p:cNvSpPr>
            <a:spLocks noChangeShapeType="1"/>
          </p:cNvSpPr>
          <p:nvPr/>
        </p:nvSpPr>
        <p:spPr bwMode="auto">
          <a:xfrm>
            <a:off x="6869113" y="5686425"/>
            <a:ext cx="36036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 useBgFill="1">
        <p:nvSpPr>
          <p:cNvPr id="71762" name="Rectangle 82"/>
          <p:cNvSpPr>
            <a:spLocks noChangeArrowheads="1"/>
          </p:cNvSpPr>
          <p:nvPr/>
        </p:nvSpPr>
        <p:spPr bwMode="auto">
          <a:xfrm>
            <a:off x="6996114" y="5541964"/>
            <a:ext cx="219075" cy="217487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 useBgFill="1">
        <p:nvSpPr>
          <p:cNvPr id="71765" name="Rectangle 85"/>
          <p:cNvSpPr>
            <a:spLocks noChangeArrowheads="1"/>
          </p:cNvSpPr>
          <p:nvPr/>
        </p:nvSpPr>
        <p:spPr bwMode="auto">
          <a:xfrm>
            <a:off x="7156450" y="5470526"/>
            <a:ext cx="863600" cy="504825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 useBgFill="1">
        <p:nvSpPr>
          <p:cNvPr id="71767" name="Rectangle 87"/>
          <p:cNvSpPr>
            <a:spLocks noChangeArrowheads="1"/>
          </p:cNvSpPr>
          <p:nvPr/>
        </p:nvSpPr>
        <p:spPr bwMode="auto">
          <a:xfrm>
            <a:off x="6757989" y="5541964"/>
            <a:ext cx="219075" cy="217487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50" name="Line 70"/>
          <p:cNvSpPr>
            <a:spLocks noChangeShapeType="1"/>
          </p:cNvSpPr>
          <p:nvPr/>
        </p:nvSpPr>
        <p:spPr bwMode="auto">
          <a:xfrm flipV="1">
            <a:off x="6835775" y="527685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 useBgFill="1">
        <p:nvSpPr>
          <p:cNvPr id="71768" name="Rectangle 88"/>
          <p:cNvSpPr>
            <a:spLocks noChangeArrowheads="1"/>
          </p:cNvSpPr>
          <p:nvPr/>
        </p:nvSpPr>
        <p:spPr bwMode="auto">
          <a:xfrm>
            <a:off x="6508751" y="5908676"/>
            <a:ext cx="1800225" cy="360363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69" name="Line 89"/>
          <p:cNvSpPr>
            <a:spLocks noChangeShapeType="1"/>
          </p:cNvSpPr>
          <p:nvPr/>
        </p:nvSpPr>
        <p:spPr bwMode="auto">
          <a:xfrm flipV="1">
            <a:off x="6508750" y="5830889"/>
            <a:ext cx="0" cy="2873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1771" name="Rectangle 91"/>
          <p:cNvSpPr>
            <a:spLocks noChangeArrowheads="1"/>
          </p:cNvSpPr>
          <p:nvPr/>
        </p:nvSpPr>
        <p:spPr bwMode="auto">
          <a:xfrm>
            <a:off x="9983788" y="6683375"/>
            <a:ext cx="489236" cy="2484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30000"/>
              </a:lnSpc>
            </a:pPr>
            <a:r>
              <a:rPr lang="en-US" altLang="zh-CN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▲</a:t>
            </a:r>
          </a:p>
        </p:txBody>
      </p:sp>
      <p:sp>
        <p:nvSpPr>
          <p:cNvPr id="71773" name="Text Box 93"/>
          <p:cNvSpPr txBox="1">
            <a:spLocks noChangeArrowheads="1"/>
          </p:cNvSpPr>
          <p:nvPr/>
        </p:nvSpPr>
        <p:spPr bwMode="auto">
          <a:xfrm>
            <a:off x="8093076" y="4625975"/>
            <a:ext cx="4302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p </a:t>
            </a:r>
          </a:p>
        </p:txBody>
      </p:sp>
      <p:sp useBgFill="1">
        <p:nvSpPr>
          <p:cNvPr id="71775" name="Rectangle 95"/>
          <p:cNvSpPr>
            <a:spLocks noChangeArrowheads="1"/>
          </p:cNvSpPr>
          <p:nvPr/>
        </p:nvSpPr>
        <p:spPr bwMode="auto">
          <a:xfrm>
            <a:off x="7229476" y="4749801"/>
            <a:ext cx="358775" cy="720725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51" name="Line 71"/>
          <p:cNvSpPr>
            <a:spLocks noChangeShapeType="1"/>
          </p:cNvSpPr>
          <p:nvPr/>
        </p:nvSpPr>
        <p:spPr bwMode="auto">
          <a:xfrm>
            <a:off x="6835775" y="527685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grpSp>
        <p:nvGrpSpPr>
          <p:cNvPr id="71779" name="Group 99"/>
          <p:cNvGrpSpPr>
            <a:grpSpLocks/>
          </p:cNvGrpSpPr>
          <p:nvPr/>
        </p:nvGrpSpPr>
        <p:grpSpPr bwMode="auto">
          <a:xfrm>
            <a:off x="6724650" y="5260976"/>
            <a:ext cx="1512888" cy="461963"/>
            <a:chOff x="3152" y="3298"/>
            <a:chExt cx="953" cy="291"/>
          </a:xfrm>
        </p:grpSpPr>
        <p:sp useBgFill="1">
          <p:nvSpPr>
            <p:cNvPr id="71776" name="Rectangle 96"/>
            <p:cNvSpPr>
              <a:spLocks noChangeArrowheads="1"/>
            </p:cNvSpPr>
            <p:nvPr/>
          </p:nvSpPr>
          <p:spPr bwMode="auto">
            <a:xfrm>
              <a:off x="3198" y="3298"/>
              <a:ext cx="907" cy="136"/>
            </a:xfrm>
            <a:prstGeom prst="rect">
              <a:avLst/>
            </a:prstGeom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 useBgFill="1">
          <p:nvSpPr>
            <p:cNvPr id="71778" name="Rectangle 98"/>
            <p:cNvSpPr>
              <a:spLocks noChangeArrowheads="1"/>
            </p:cNvSpPr>
            <p:nvPr/>
          </p:nvSpPr>
          <p:spPr bwMode="auto">
            <a:xfrm>
              <a:off x="3152" y="3452"/>
              <a:ext cx="136" cy="137"/>
            </a:xfrm>
            <a:prstGeom prst="rect">
              <a:avLst/>
            </a:prstGeom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1774" name="Line 94"/>
          <p:cNvSpPr>
            <a:spLocks noChangeShapeType="1"/>
          </p:cNvSpPr>
          <p:nvPr/>
        </p:nvSpPr>
        <p:spPr bwMode="auto">
          <a:xfrm>
            <a:off x="8212138" y="5156201"/>
            <a:ext cx="0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1780" name="Text Box 100"/>
          <p:cNvSpPr txBox="1">
            <a:spLocks noChangeArrowheads="1"/>
          </p:cNvSpPr>
          <p:nvPr/>
        </p:nvSpPr>
        <p:spPr bwMode="auto">
          <a:xfrm>
            <a:off x="6624639" y="5494338"/>
            <a:ext cx="460375" cy="55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0" hangingPunct="0">
              <a:spcBef>
                <a:spcPts val="600"/>
              </a:spcBef>
              <a:spcAft>
                <a:spcPts val="200"/>
              </a:spcAft>
            </a:pPr>
            <a:r>
              <a:rPr kumimoji="0" lang="en-US" altLang="zh-CN" sz="2000">
                <a:ea typeface="宋体" pitchFamily="2" charset="-122"/>
              </a:rPr>
              <a:t>∧</a:t>
            </a:r>
          </a:p>
        </p:txBody>
      </p:sp>
      <p:sp useBgFill="1">
        <p:nvSpPr>
          <p:cNvPr id="71782" name="Rectangle 102"/>
          <p:cNvSpPr>
            <a:spLocks noChangeArrowheads="1"/>
          </p:cNvSpPr>
          <p:nvPr/>
        </p:nvSpPr>
        <p:spPr bwMode="auto">
          <a:xfrm>
            <a:off x="7805738" y="4606925"/>
            <a:ext cx="1079500" cy="151130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17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17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7175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71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1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717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1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1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71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71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71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3" dur="500"/>
                                        <p:tgtEl>
                                          <p:spTgt spid="7176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71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3" dur="500"/>
                                        <p:tgtEl>
                                          <p:spTgt spid="7177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71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71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71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1" dur="500"/>
                                        <p:tgtEl>
                                          <p:spTgt spid="717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71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717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717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71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7" dur="500"/>
                                        <p:tgtEl>
                                          <p:spTgt spid="7176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2" dur="500"/>
                                        <p:tgtEl>
                                          <p:spTgt spid="71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71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1" dur="500"/>
                                        <p:tgtEl>
                                          <p:spTgt spid="7178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1000"/>
                                        <p:tgtEl>
                                          <p:spTgt spid="71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81" grpId="0" animBg="1"/>
      <p:bldP spid="71777" grpId="0" animBg="1"/>
      <p:bldP spid="71772" grpId="0" animBg="1"/>
      <p:bldP spid="71766" grpId="0" animBg="1"/>
      <p:bldP spid="71764" grpId="0" animBg="1"/>
      <p:bldP spid="71759" grpId="0" animBg="1"/>
      <p:bldP spid="71755" grpId="0" animBg="1"/>
      <p:bldP spid="71754" grpId="0"/>
      <p:bldP spid="71752" grpId="0" animBg="1"/>
      <p:bldP spid="71757" grpId="0"/>
      <p:bldP spid="71758" grpId="0" animBg="1"/>
      <p:bldP spid="71762" grpId="0" animBg="1"/>
      <p:bldP spid="71765" grpId="0" animBg="1"/>
      <p:bldP spid="71767" grpId="0" animBg="1"/>
      <p:bldP spid="71750" grpId="0" animBg="1"/>
      <p:bldP spid="71768" grpId="0" animBg="1"/>
      <p:bldP spid="71769" grpId="0" animBg="1"/>
      <p:bldP spid="71773" grpId="0"/>
      <p:bldP spid="71775" grpId="0" animBg="1"/>
      <p:bldP spid="71751" grpId="0" animBg="1"/>
      <p:bldP spid="71774" grpId="0" animBg="1"/>
      <p:bldP spid="71780" grpId="0"/>
      <p:bldP spid="7178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2" name="Text Box 4"/>
          <p:cNvSpPr txBox="1">
            <a:spLocks noChangeArrowheads="1"/>
          </p:cNvSpPr>
          <p:nvPr/>
        </p:nvSpPr>
        <p:spPr bwMode="auto">
          <a:xfrm>
            <a:off x="1703512" y="764704"/>
            <a:ext cx="8767144" cy="5853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>
                <a:ea typeface="华文中宋" pitchFamily="2" charset="-122"/>
              </a:rPr>
              <a:t>                                           课堂作业</a:t>
            </a:r>
            <a:r>
              <a:rPr lang="zh-CN" altLang="en-US" dirty="0"/>
              <a:t> </a:t>
            </a:r>
            <a:br>
              <a:rPr lang="zh-CN" altLang="en-US" dirty="0"/>
            </a:br>
            <a:r>
              <a:rPr lang="en-US" altLang="zh-CN" dirty="0"/>
              <a:t>1</a:t>
            </a:r>
            <a:r>
              <a:rPr lang="zh-CN" altLang="en-US" dirty="0"/>
              <a:t>、栈的特点是（     ），队列的特点是（     ）。 </a:t>
            </a:r>
            <a:br>
              <a:rPr lang="zh-CN" altLang="en-US" dirty="0"/>
            </a:br>
            <a:r>
              <a:rPr lang="en-US" altLang="zh-CN" dirty="0"/>
              <a:t>2</a:t>
            </a:r>
            <a:r>
              <a:rPr lang="zh-CN" altLang="en-US" dirty="0"/>
              <a:t>、线性表、栈和队列都是（   ）结构，线性表可以在（  ） </a:t>
            </a:r>
          </a:p>
          <a:p>
            <a:pPr>
              <a:lnSpc>
                <a:spcPct val="130000"/>
              </a:lnSpc>
            </a:pPr>
            <a:r>
              <a:rPr lang="zh-CN" altLang="en-US" dirty="0"/>
              <a:t>      位置插入和删除元素，栈只能在（   ）插入和删除元素， </a:t>
            </a:r>
          </a:p>
          <a:p>
            <a:pPr>
              <a:lnSpc>
                <a:spcPct val="130000"/>
              </a:lnSpc>
            </a:pPr>
            <a:r>
              <a:rPr lang="zh-CN" altLang="en-US" dirty="0"/>
              <a:t>      队列只能在（   ）插入元素和（   ）删除元素。 </a:t>
            </a:r>
            <a:br>
              <a:rPr lang="zh-CN" altLang="en-US" dirty="0"/>
            </a:br>
            <a:r>
              <a:rPr lang="en-US" altLang="zh-CN" dirty="0"/>
              <a:t>3</a:t>
            </a:r>
            <a:r>
              <a:rPr lang="zh-CN" altLang="en-US" dirty="0"/>
              <a:t>、设栈 </a:t>
            </a:r>
            <a:r>
              <a:rPr lang="en-US" altLang="zh-CN" dirty="0"/>
              <a:t>S </a:t>
            </a:r>
            <a:r>
              <a:rPr lang="zh-CN" altLang="en-US" dirty="0"/>
              <a:t>和队列 </a:t>
            </a:r>
            <a:r>
              <a:rPr lang="en-US" altLang="zh-CN" dirty="0"/>
              <a:t>Q </a:t>
            </a:r>
            <a:r>
              <a:rPr lang="zh-CN" altLang="en-US" dirty="0"/>
              <a:t>的初始状态皆为空，元素</a:t>
            </a:r>
            <a:r>
              <a:rPr lang="en-US" altLang="zh-CN" i="1" dirty="0"/>
              <a:t>a</a:t>
            </a:r>
            <a:r>
              <a:rPr lang="en-US" altLang="zh-CN" dirty="0"/>
              <a:t>1, </a:t>
            </a:r>
            <a:r>
              <a:rPr lang="en-US" altLang="zh-CN" i="1" dirty="0"/>
              <a:t>a</a:t>
            </a:r>
            <a:r>
              <a:rPr lang="en-US" altLang="zh-CN" dirty="0"/>
              <a:t>2, </a:t>
            </a:r>
            <a:r>
              <a:rPr lang="en-US" altLang="zh-CN" i="1" dirty="0"/>
              <a:t>a</a:t>
            </a:r>
            <a:r>
              <a:rPr lang="en-US" altLang="zh-CN" dirty="0"/>
              <a:t>3, </a:t>
            </a:r>
            <a:r>
              <a:rPr lang="en-US" altLang="zh-CN" i="1" dirty="0"/>
              <a:t>a</a:t>
            </a:r>
            <a:r>
              <a:rPr lang="en-US" altLang="zh-CN" dirty="0"/>
              <a:t>4, </a:t>
            </a:r>
            <a:r>
              <a:rPr lang="en-US" altLang="zh-CN" i="1" dirty="0"/>
              <a:t>a</a:t>
            </a:r>
            <a:r>
              <a:rPr lang="en-US" altLang="zh-CN" dirty="0"/>
              <a:t>5 </a:t>
            </a:r>
          </a:p>
          <a:p>
            <a:pPr>
              <a:lnSpc>
                <a:spcPct val="130000"/>
              </a:lnSpc>
            </a:pPr>
            <a:r>
              <a:rPr lang="en-US" altLang="zh-CN" dirty="0"/>
              <a:t>      </a:t>
            </a:r>
            <a:r>
              <a:rPr lang="zh-CN" altLang="en-US" dirty="0"/>
              <a:t>和 </a:t>
            </a:r>
            <a:r>
              <a:rPr lang="en-US" altLang="zh-CN" i="1" dirty="0"/>
              <a:t>a</a:t>
            </a:r>
            <a:r>
              <a:rPr lang="en-US" altLang="zh-CN" dirty="0"/>
              <a:t>6 </a:t>
            </a:r>
            <a:r>
              <a:rPr lang="zh-CN" altLang="en-US" dirty="0"/>
              <a:t>依次通过一个栈，一个元素出栈后即进入队列 </a:t>
            </a:r>
            <a:r>
              <a:rPr lang="en-US" altLang="zh-CN" dirty="0"/>
              <a:t>Q</a:t>
            </a:r>
            <a:r>
              <a:rPr lang="zh-CN" altLang="en-US" dirty="0"/>
              <a:t>，若 </a:t>
            </a:r>
          </a:p>
          <a:p>
            <a:pPr>
              <a:lnSpc>
                <a:spcPct val="130000"/>
              </a:lnSpc>
            </a:pPr>
            <a:r>
              <a:rPr lang="zh-CN" altLang="en-US" dirty="0"/>
              <a:t>       </a:t>
            </a:r>
            <a:r>
              <a:rPr lang="en-US" altLang="zh-CN" dirty="0"/>
              <a:t>6 </a:t>
            </a:r>
            <a:r>
              <a:rPr lang="zh-CN" altLang="en-US" dirty="0"/>
              <a:t>个元素出队列的顺序是 </a:t>
            </a:r>
            <a:r>
              <a:rPr lang="en-US" altLang="zh-CN" i="1" dirty="0"/>
              <a:t>a</a:t>
            </a:r>
            <a:r>
              <a:rPr lang="en-US" altLang="zh-CN" dirty="0"/>
              <a:t>3, </a:t>
            </a:r>
            <a:r>
              <a:rPr lang="en-US" altLang="zh-CN" i="1" dirty="0"/>
              <a:t>a</a:t>
            </a:r>
            <a:r>
              <a:rPr lang="en-US" altLang="zh-CN" dirty="0"/>
              <a:t>5, </a:t>
            </a:r>
            <a:r>
              <a:rPr lang="en-US" altLang="zh-CN" i="1" dirty="0"/>
              <a:t>a</a:t>
            </a:r>
            <a:r>
              <a:rPr lang="en-US" altLang="zh-CN" dirty="0"/>
              <a:t>4, </a:t>
            </a:r>
            <a:r>
              <a:rPr lang="en-US" altLang="zh-CN" i="1" dirty="0"/>
              <a:t>a</a:t>
            </a:r>
            <a:r>
              <a:rPr lang="en-US" altLang="zh-CN" dirty="0"/>
              <a:t>6, </a:t>
            </a:r>
            <a:r>
              <a:rPr lang="en-US" altLang="zh-CN" i="1" dirty="0"/>
              <a:t>a</a:t>
            </a:r>
            <a:r>
              <a:rPr lang="en-US" altLang="zh-CN" dirty="0"/>
              <a:t>2, </a:t>
            </a:r>
            <a:r>
              <a:rPr lang="en-US" altLang="zh-CN" i="1" dirty="0"/>
              <a:t>a</a:t>
            </a:r>
            <a:r>
              <a:rPr lang="en-US" altLang="zh-CN" dirty="0"/>
              <a:t>1 </a:t>
            </a:r>
            <a:r>
              <a:rPr lang="zh-CN" altLang="en-US" dirty="0"/>
              <a:t>则栈 </a:t>
            </a:r>
            <a:r>
              <a:rPr lang="en-US" altLang="zh-CN" dirty="0"/>
              <a:t>S </a:t>
            </a:r>
            <a:r>
              <a:rPr lang="zh-CN" altLang="en-US" dirty="0"/>
              <a:t>至少应 </a:t>
            </a:r>
          </a:p>
          <a:p>
            <a:pPr>
              <a:lnSpc>
                <a:spcPct val="130000"/>
              </a:lnSpc>
            </a:pPr>
            <a:r>
              <a:rPr lang="zh-CN" altLang="en-US" dirty="0"/>
              <a:t>      该容纳 </a:t>
            </a:r>
            <a:r>
              <a:rPr lang="en-US" altLang="zh-CN" dirty="0"/>
              <a:t>(  </a:t>
            </a:r>
            <a:r>
              <a:rPr lang="en-US" altLang="zh-CN" dirty="0">
                <a:solidFill>
                  <a:srgbClr val="FF3300"/>
                </a:solidFill>
              </a:rPr>
              <a:t> </a:t>
            </a:r>
            <a:r>
              <a:rPr lang="en-US" altLang="zh-CN" dirty="0"/>
              <a:t>) </a:t>
            </a:r>
            <a:r>
              <a:rPr lang="zh-CN" altLang="en-US" dirty="0"/>
              <a:t>个元素。 </a:t>
            </a:r>
            <a:endParaRPr lang="en-US" altLang="zh-CN" dirty="0"/>
          </a:p>
          <a:p>
            <a:pPr>
              <a:lnSpc>
                <a:spcPct val="130000"/>
              </a:lnSpc>
            </a:pPr>
            <a:r>
              <a:rPr lang="en-US" altLang="zh-CN" dirty="0"/>
              <a:t>     </a:t>
            </a:r>
            <a:r>
              <a:rPr lang="zh-CN" altLang="en-US" dirty="0"/>
              <a:t>（</a:t>
            </a:r>
            <a:r>
              <a:rPr lang="en-US" altLang="zh-CN" dirty="0"/>
              <a:t>A</a:t>
            </a:r>
            <a:r>
              <a:rPr lang="zh-CN" altLang="en-US" dirty="0"/>
              <a:t>）</a:t>
            </a:r>
            <a:r>
              <a:rPr lang="en-US" altLang="zh-CN" dirty="0"/>
              <a:t>3        </a:t>
            </a:r>
            <a:r>
              <a:rPr lang="zh-CN" altLang="en-US" dirty="0"/>
              <a:t>（</a:t>
            </a:r>
            <a:r>
              <a:rPr lang="en-US" altLang="zh-CN" dirty="0"/>
              <a:t>B</a:t>
            </a:r>
            <a:r>
              <a:rPr lang="zh-CN" altLang="en-US" dirty="0"/>
              <a:t>）</a:t>
            </a:r>
            <a:r>
              <a:rPr lang="en-US" altLang="zh-CN" dirty="0"/>
              <a:t>4        </a:t>
            </a:r>
            <a:r>
              <a:rPr lang="zh-CN" altLang="en-US" dirty="0"/>
              <a:t>（</a:t>
            </a:r>
            <a:r>
              <a:rPr lang="en-US" altLang="zh-CN" dirty="0"/>
              <a:t>C</a:t>
            </a:r>
            <a:r>
              <a:rPr lang="zh-CN" altLang="en-US" dirty="0"/>
              <a:t>）</a:t>
            </a:r>
            <a:r>
              <a:rPr lang="en-US" altLang="zh-CN" dirty="0"/>
              <a:t>5          </a:t>
            </a:r>
            <a:r>
              <a:rPr lang="zh-CN" altLang="en-US" dirty="0"/>
              <a:t>（</a:t>
            </a:r>
            <a:r>
              <a:rPr lang="en-US" altLang="zh-CN" dirty="0"/>
              <a:t>D</a:t>
            </a:r>
            <a:r>
              <a:rPr lang="zh-CN" altLang="en-US" dirty="0"/>
              <a:t>）</a:t>
            </a:r>
            <a:r>
              <a:rPr lang="en-US" altLang="zh-CN" dirty="0"/>
              <a:t>6</a:t>
            </a:r>
            <a:endParaRPr lang="zh-CN" altLang="en-US" dirty="0"/>
          </a:p>
          <a:p>
            <a:pPr>
              <a:lnSpc>
                <a:spcPct val="130000"/>
              </a:lnSpc>
            </a:pPr>
            <a:r>
              <a:rPr lang="en-US" altLang="zh-CN" dirty="0"/>
              <a:t>4</a:t>
            </a:r>
            <a:r>
              <a:rPr lang="zh-CN" altLang="en-US" dirty="0"/>
              <a:t>、若队列的入队序列是 </a:t>
            </a:r>
            <a:r>
              <a:rPr lang="en-US" altLang="zh-CN" dirty="0"/>
              <a:t>1, 2, 3, 4</a:t>
            </a:r>
            <a:r>
              <a:rPr lang="zh-CN" altLang="en-US" dirty="0"/>
              <a:t>，则出队序列是（）。 </a:t>
            </a:r>
          </a:p>
          <a:p>
            <a:pPr>
              <a:lnSpc>
                <a:spcPct val="130000"/>
              </a:lnSpc>
            </a:pPr>
            <a:r>
              <a:rPr lang="zh-CN" altLang="en-US" dirty="0"/>
              <a:t>    （</a:t>
            </a:r>
            <a:r>
              <a:rPr lang="en-US" altLang="zh-CN" dirty="0"/>
              <a:t>A</a:t>
            </a:r>
            <a:r>
              <a:rPr lang="zh-CN" altLang="en-US" dirty="0"/>
              <a:t>）</a:t>
            </a:r>
            <a:r>
              <a:rPr lang="en-US" altLang="zh-CN" dirty="0"/>
              <a:t>4,3,2,1</a:t>
            </a:r>
            <a:r>
              <a:rPr lang="zh-CN" altLang="en-US" dirty="0"/>
              <a:t>（</a:t>
            </a:r>
            <a:r>
              <a:rPr lang="en-US" altLang="zh-CN" dirty="0"/>
              <a:t>B</a:t>
            </a:r>
            <a:r>
              <a:rPr lang="zh-CN" altLang="en-US" dirty="0"/>
              <a:t>）</a:t>
            </a:r>
            <a:r>
              <a:rPr lang="en-US" altLang="zh-CN" dirty="0"/>
              <a:t>1,2,3,4</a:t>
            </a:r>
            <a:r>
              <a:rPr lang="zh-CN" altLang="en-US" dirty="0"/>
              <a:t>（</a:t>
            </a:r>
            <a:r>
              <a:rPr lang="en-US" altLang="zh-CN" dirty="0"/>
              <a:t>C</a:t>
            </a:r>
            <a:r>
              <a:rPr lang="zh-CN" altLang="en-US" dirty="0"/>
              <a:t>）</a:t>
            </a:r>
            <a:r>
              <a:rPr lang="en-US" altLang="zh-CN" dirty="0"/>
              <a:t>1,4,3,2</a:t>
            </a:r>
            <a:r>
              <a:rPr lang="zh-CN" altLang="en-US" dirty="0"/>
              <a:t>（</a:t>
            </a:r>
            <a:r>
              <a:rPr lang="en-US" altLang="zh-CN" dirty="0"/>
              <a:t>D</a:t>
            </a:r>
            <a:r>
              <a:rPr lang="zh-CN" altLang="en-US" dirty="0"/>
              <a:t>）</a:t>
            </a:r>
            <a:r>
              <a:rPr lang="en-US" altLang="zh-CN" dirty="0"/>
              <a:t>3,2,4,1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54" name="Rectangle 126"/>
          <p:cNvSpPr>
            <a:spLocks noChangeArrowheads="1"/>
          </p:cNvSpPr>
          <p:nvPr/>
        </p:nvSpPr>
        <p:spPr bwMode="auto">
          <a:xfrm>
            <a:off x="1722439" y="457200"/>
            <a:ext cx="56165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ea typeface="华文中宋" pitchFamily="2" charset="-122"/>
              </a:rPr>
              <a:t>3.4.3  </a:t>
            </a:r>
            <a:r>
              <a:rPr lang="zh-CN" altLang="en-US">
                <a:latin typeface="华文中宋" pitchFamily="2" charset="-122"/>
                <a:ea typeface="华文中宋" pitchFamily="2" charset="-122"/>
              </a:rPr>
              <a:t>循环队列－队列的顺序表示和实现 </a:t>
            </a:r>
          </a:p>
        </p:txBody>
      </p:sp>
      <p:sp>
        <p:nvSpPr>
          <p:cNvPr id="22656" name="Text Box 128"/>
          <p:cNvSpPr txBox="1">
            <a:spLocks noChangeArrowheads="1"/>
          </p:cNvSpPr>
          <p:nvPr/>
        </p:nvSpPr>
        <p:spPr bwMode="auto">
          <a:xfrm>
            <a:off x="2332038" y="955675"/>
            <a:ext cx="60499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zh-CN" altLang="en-US">
                <a:latin typeface="华文新魏" pitchFamily="2" charset="-122"/>
                <a:ea typeface="华文新魏" pitchFamily="2" charset="-122"/>
              </a:rPr>
              <a:t>是限制仅在表头删除和表尾插入的顺序表。 </a:t>
            </a:r>
          </a:p>
        </p:txBody>
      </p:sp>
      <p:sp>
        <p:nvSpPr>
          <p:cNvPr id="22657" name="Text Box 129"/>
          <p:cNvSpPr txBox="1">
            <a:spLocks noChangeArrowheads="1"/>
          </p:cNvSpPr>
          <p:nvPr/>
        </p:nvSpPr>
        <p:spPr bwMode="auto">
          <a:xfrm>
            <a:off x="2330451" y="3068639"/>
            <a:ext cx="954107" cy="63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60000"/>
              </a:lnSpc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</a:pPr>
            <a:r>
              <a:rPr kumimoji="0" lang="zh-CN" altLang="en-US">
                <a:ea typeface="华文新魏" pitchFamily="2" charset="-122"/>
              </a:rPr>
              <a:t>头尾 </a:t>
            </a:r>
          </a:p>
          <a:p>
            <a:pPr>
              <a:lnSpc>
                <a:spcPct val="60000"/>
              </a:lnSpc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</a:pPr>
            <a:r>
              <a:rPr kumimoji="0" lang="zh-CN" altLang="en-US">
                <a:ea typeface="华文新魏" pitchFamily="2" charset="-122"/>
              </a:rPr>
              <a:t>指针  </a:t>
            </a:r>
          </a:p>
        </p:txBody>
      </p:sp>
      <p:sp>
        <p:nvSpPr>
          <p:cNvPr id="22659" name="Text Box 131"/>
          <p:cNvSpPr txBox="1">
            <a:spLocks noChangeArrowheads="1"/>
          </p:cNvSpPr>
          <p:nvPr/>
        </p:nvSpPr>
        <p:spPr bwMode="auto">
          <a:xfrm>
            <a:off x="2347913" y="1341438"/>
            <a:ext cx="8185150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>
                <a:ea typeface="华文新魏" pitchFamily="2" charset="-122"/>
              </a:rPr>
              <a:t>利用一组</a:t>
            </a:r>
            <a:r>
              <a:rPr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新魏" pitchFamily="2" charset="-122"/>
              </a:rPr>
              <a:t>地址连续</a:t>
            </a:r>
            <a:r>
              <a:rPr lang="zh-CN" altLang="en-US">
                <a:ea typeface="华文新魏" pitchFamily="2" charset="-122"/>
              </a:rPr>
              <a:t>的存储单元</a:t>
            </a:r>
            <a:r>
              <a:rPr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新魏" pitchFamily="2" charset="-122"/>
              </a:rPr>
              <a:t>依次存放</a:t>
            </a:r>
            <a:r>
              <a:rPr lang="zh-CN" altLang="en-US">
                <a:ea typeface="华文新魏" pitchFamily="2" charset="-122"/>
              </a:rPr>
              <a:t>队列中的数据元素。 </a:t>
            </a:r>
          </a:p>
        </p:txBody>
      </p:sp>
      <p:grpSp>
        <p:nvGrpSpPr>
          <p:cNvPr id="22737" name="Group 209"/>
          <p:cNvGrpSpPr>
            <a:grpSpLocks/>
          </p:cNvGrpSpPr>
          <p:nvPr/>
        </p:nvGrpSpPr>
        <p:grpSpPr bwMode="auto">
          <a:xfrm>
            <a:off x="2560638" y="4572000"/>
            <a:ext cx="1600200" cy="1524000"/>
            <a:chOff x="576" y="3014"/>
            <a:chExt cx="1008" cy="960"/>
          </a:xfrm>
        </p:grpSpPr>
        <p:sp>
          <p:nvSpPr>
            <p:cNvPr id="22662" name="Line 134"/>
            <p:cNvSpPr>
              <a:spLocks noChangeShapeType="1"/>
            </p:cNvSpPr>
            <p:nvPr/>
          </p:nvSpPr>
          <p:spPr bwMode="auto">
            <a:xfrm>
              <a:off x="1152" y="3014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63" name="Line 135"/>
            <p:cNvSpPr>
              <a:spLocks noChangeShapeType="1"/>
            </p:cNvSpPr>
            <p:nvPr/>
          </p:nvSpPr>
          <p:spPr bwMode="auto">
            <a:xfrm>
              <a:off x="1584" y="3014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65" name="Line 137"/>
            <p:cNvSpPr>
              <a:spLocks noChangeShapeType="1"/>
            </p:cNvSpPr>
            <p:nvPr/>
          </p:nvSpPr>
          <p:spPr bwMode="auto">
            <a:xfrm>
              <a:off x="1152" y="3014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66" name="Line 138"/>
            <p:cNvSpPr>
              <a:spLocks noChangeShapeType="1"/>
            </p:cNvSpPr>
            <p:nvPr/>
          </p:nvSpPr>
          <p:spPr bwMode="auto">
            <a:xfrm>
              <a:off x="1152" y="3206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67" name="Line 139"/>
            <p:cNvSpPr>
              <a:spLocks noChangeShapeType="1"/>
            </p:cNvSpPr>
            <p:nvPr/>
          </p:nvSpPr>
          <p:spPr bwMode="auto">
            <a:xfrm>
              <a:off x="1152" y="3398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68" name="Line 140"/>
            <p:cNvSpPr>
              <a:spLocks noChangeShapeType="1"/>
            </p:cNvSpPr>
            <p:nvPr/>
          </p:nvSpPr>
          <p:spPr bwMode="auto">
            <a:xfrm>
              <a:off x="1152" y="3590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69" name="Line 141"/>
            <p:cNvSpPr>
              <a:spLocks noChangeShapeType="1"/>
            </p:cNvSpPr>
            <p:nvPr/>
          </p:nvSpPr>
          <p:spPr bwMode="auto">
            <a:xfrm>
              <a:off x="1152" y="3782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70" name="Text Box 142"/>
            <p:cNvSpPr txBox="1">
              <a:spLocks noChangeArrowheads="1"/>
            </p:cNvSpPr>
            <p:nvPr/>
          </p:nvSpPr>
          <p:spPr bwMode="auto">
            <a:xfrm>
              <a:off x="576" y="3436"/>
              <a:ext cx="44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/>
                <a:t>rear </a:t>
              </a:r>
            </a:p>
          </p:txBody>
        </p:sp>
        <p:sp>
          <p:nvSpPr>
            <p:cNvPr id="22671" name="Line 143"/>
            <p:cNvSpPr>
              <a:spLocks noChangeShapeType="1"/>
            </p:cNvSpPr>
            <p:nvPr/>
          </p:nvSpPr>
          <p:spPr bwMode="auto">
            <a:xfrm>
              <a:off x="624" y="3645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72" name="Line 144"/>
            <p:cNvSpPr>
              <a:spLocks noChangeShapeType="1"/>
            </p:cNvSpPr>
            <p:nvPr/>
          </p:nvSpPr>
          <p:spPr bwMode="auto">
            <a:xfrm>
              <a:off x="624" y="3741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73" name="Text Box 145"/>
            <p:cNvSpPr txBox="1">
              <a:spLocks noChangeArrowheads="1"/>
            </p:cNvSpPr>
            <p:nvPr/>
          </p:nvSpPr>
          <p:spPr bwMode="auto">
            <a:xfrm>
              <a:off x="576" y="3724"/>
              <a:ext cx="50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/>
                <a:t>front </a:t>
              </a:r>
            </a:p>
          </p:txBody>
        </p:sp>
      </p:grpSp>
      <p:grpSp>
        <p:nvGrpSpPr>
          <p:cNvPr id="22738" name="Group 210"/>
          <p:cNvGrpSpPr>
            <a:grpSpLocks/>
          </p:cNvGrpSpPr>
          <p:nvPr/>
        </p:nvGrpSpPr>
        <p:grpSpPr bwMode="auto">
          <a:xfrm>
            <a:off x="4541838" y="4403725"/>
            <a:ext cx="1600200" cy="1631950"/>
            <a:chOff x="1824" y="2908"/>
            <a:chExt cx="1008" cy="1028"/>
          </a:xfrm>
        </p:grpSpPr>
        <p:sp>
          <p:nvSpPr>
            <p:cNvPr id="22675" name="Line 147"/>
            <p:cNvSpPr>
              <a:spLocks noChangeShapeType="1"/>
            </p:cNvSpPr>
            <p:nvPr/>
          </p:nvSpPr>
          <p:spPr bwMode="auto">
            <a:xfrm>
              <a:off x="2400" y="3014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76" name="Line 148"/>
            <p:cNvSpPr>
              <a:spLocks noChangeShapeType="1"/>
            </p:cNvSpPr>
            <p:nvPr/>
          </p:nvSpPr>
          <p:spPr bwMode="auto">
            <a:xfrm>
              <a:off x="2832" y="3014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78" name="Line 150"/>
            <p:cNvSpPr>
              <a:spLocks noChangeShapeType="1"/>
            </p:cNvSpPr>
            <p:nvPr/>
          </p:nvSpPr>
          <p:spPr bwMode="auto">
            <a:xfrm>
              <a:off x="2400" y="3014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79" name="Line 151"/>
            <p:cNvSpPr>
              <a:spLocks noChangeShapeType="1"/>
            </p:cNvSpPr>
            <p:nvPr/>
          </p:nvSpPr>
          <p:spPr bwMode="auto">
            <a:xfrm>
              <a:off x="2400" y="3206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80" name="Line 152"/>
            <p:cNvSpPr>
              <a:spLocks noChangeShapeType="1"/>
            </p:cNvSpPr>
            <p:nvPr/>
          </p:nvSpPr>
          <p:spPr bwMode="auto">
            <a:xfrm>
              <a:off x="2400" y="3398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81" name="Line 153"/>
            <p:cNvSpPr>
              <a:spLocks noChangeShapeType="1"/>
            </p:cNvSpPr>
            <p:nvPr/>
          </p:nvSpPr>
          <p:spPr bwMode="auto">
            <a:xfrm>
              <a:off x="2400" y="3607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82" name="Line 154"/>
            <p:cNvSpPr>
              <a:spLocks noChangeShapeType="1"/>
            </p:cNvSpPr>
            <p:nvPr/>
          </p:nvSpPr>
          <p:spPr bwMode="auto">
            <a:xfrm>
              <a:off x="2400" y="3782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83" name="Text Box 155"/>
            <p:cNvSpPr txBox="1">
              <a:spLocks noChangeArrowheads="1"/>
            </p:cNvSpPr>
            <p:nvPr/>
          </p:nvSpPr>
          <p:spPr bwMode="auto">
            <a:xfrm>
              <a:off x="1824" y="2908"/>
              <a:ext cx="44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/>
                <a:t>rear </a:t>
              </a:r>
            </a:p>
          </p:txBody>
        </p:sp>
        <p:sp>
          <p:nvSpPr>
            <p:cNvPr id="22684" name="Line 156"/>
            <p:cNvSpPr>
              <a:spLocks noChangeShapeType="1"/>
            </p:cNvSpPr>
            <p:nvPr/>
          </p:nvSpPr>
          <p:spPr bwMode="auto">
            <a:xfrm>
              <a:off x="1872" y="3117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85" name="Line 157"/>
            <p:cNvSpPr>
              <a:spLocks noChangeShapeType="1"/>
            </p:cNvSpPr>
            <p:nvPr/>
          </p:nvSpPr>
          <p:spPr bwMode="auto">
            <a:xfrm>
              <a:off x="1872" y="3703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86" name="Text Box 158"/>
            <p:cNvSpPr txBox="1">
              <a:spLocks noChangeArrowheads="1"/>
            </p:cNvSpPr>
            <p:nvPr/>
          </p:nvSpPr>
          <p:spPr bwMode="auto">
            <a:xfrm>
              <a:off x="1824" y="3686"/>
              <a:ext cx="50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/>
                <a:t>front </a:t>
              </a:r>
            </a:p>
          </p:txBody>
        </p:sp>
        <p:sp>
          <p:nvSpPr>
            <p:cNvPr id="22687" name="Text Box 159"/>
            <p:cNvSpPr txBox="1">
              <a:spLocks noChangeArrowheads="1"/>
            </p:cNvSpPr>
            <p:nvPr/>
          </p:nvSpPr>
          <p:spPr bwMode="auto">
            <a:xfrm>
              <a:off x="2496" y="3542"/>
              <a:ext cx="291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/>
                <a:t>J</a:t>
              </a:r>
              <a:r>
                <a:rPr lang="en-US" altLang="zh-CN" sz="2000" baseline="-25000"/>
                <a:t>1</a:t>
              </a:r>
              <a:r>
                <a:rPr lang="en-US" altLang="zh-CN" sz="2000"/>
                <a:t> </a:t>
              </a:r>
            </a:p>
          </p:txBody>
        </p:sp>
        <p:sp>
          <p:nvSpPr>
            <p:cNvPr id="22688" name="Text Box 160"/>
            <p:cNvSpPr txBox="1">
              <a:spLocks noChangeArrowheads="1"/>
            </p:cNvSpPr>
            <p:nvPr/>
          </p:nvSpPr>
          <p:spPr bwMode="auto">
            <a:xfrm>
              <a:off x="2496" y="3350"/>
              <a:ext cx="291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/>
                <a:t>J</a:t>
              </a:r>
              <a:r>
                <a:rPr lang="en-US" altLang="zh-CN" sz="2000" baseline="-25000"/>
                <a:t>2</a:t>
              </a:r>
              <a:r>
                <a:rPr lang="en-US" altLang="zh-CN" sz="2000"/>
                <a:t> </a:t>
              </a:r>
            </a:p>
          </p:txBody>
        </p:sp>
        <p:sp>
          <p:nvSpPr>
            <p:cNvPr id="22689" name="Text Box 161"/>
            <p:cNvSpPr txBox="1">
              <a:spLocks noChangeArrowheads="1"/>
            </p:cNvSpPr>
            <p:nvPr/>
          </p:nvSpPr>
          <p:spPr bwMode="auto">
            <a:xfrm>
              <a:off x="2496" y="3158"/>
              <a:ext cx="291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/>
                <a:t>J</a:t>
              </a:r>
              <a:r>
                <a:rPr lang="en-US" altLang="zh-CN" sz="2000" baseline="-25000"/>
                <a:t>3</a:t>
              </a:r>
              <a:r>
                <a:rPr lang="en-US" altLang="zh-CN" sz="2000"/>
                <a:t> </a:t>
              </a:r>
            </a:p>
          </p:txBody>
        </p:sp>
      </p:grpSp>
      <p:sp>
        <p:nvSpPr>
          <p:cNvPr id="22717" name="Text Box 189"/>
          <p:cNvSpPr txBox="1">
            <a:spLocks noChangeArrowheads="1"/>
          </p:cNvSpPr>
          <p:nvPr/>
        </p:nvSpPr>
        <p:spPr bwMode="auto">
          <a:xfrm>
            <a:off x="4503738" y="6030914"/>
            <a:ext cx="40767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000">
                <a:latin typeface="华文中宋" pitchFamily="2" charset="-122"/>
                <a:ea typeface="华文中宋" pitchFamily="2" charset="-122"/>
              </a:rPr>
              <a:t>头、尾指针和队列元素之间的关系 </a:t>
            </a:r>
          </a:p>
        </p:txBody>
      </p:sp>
      <p:grpSp>
        <p:nvGrpSpPr>
          <p:cNvPr id="22739" name="Group 211"/>
          <p:cNvGrpSpPr>
            <a:grpSpLocks/>
          </p:cNvGrpSpPr>
          <p:nvPr/>
        </p:nvGrpSpPr>
        <p:grpSpPr bwMode="auto">
          <a:xfrm>
            <a:off x="6523038" y="4403726"/>
            <a:ext cx="1600200" cy="1387475"/>
            <a:chOff x="3072" y="2908"/>
            <a:chExt cx="1008" cy="874"/>
          </a:xfrm>
        </p:grpSpPr>
        <p:sp>
          <p:nvSpPr>
            <p:cNvPr id="22699" name="Text Box 171"/>
            <p:cNvSpPr txBox="1">
              <a:spLocks noChangeArrowheads="1"/>
            </p:cNvSpPr>
            <p:nvPr/>
          </p:nvSpPr>
          <p:spPr bwMode="auto">
            <a:xfrm>
              <a:off x="3072" y="2908"/>
              <a:ext cx="44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/>
                <a:t>rear </a:t>
              </a:r>
            </a:p>
          </p:txBody>
        </p:sp>
        <p:sp>
          <p:nvSpPr>
            <p:cNvPr id="22700" name="Line 172"/>
            <p:cNvSpPr>
              <a:spLocks noChangeShapeType="1"/>
            </p:cNvSpPr>
            <p:nvPr/>
          </p:nvSpPr>
          <p:spPr bwMode="auto">
            <a:xfrm>
              <a:off x="3120" y="3117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01" name="Line 173"/>
            <p:cNvSpPr>
              <a:spLocks noChangeShapeType="1"/>
            </p:cNvSpPr>
            <p:nvPr/>
          </p:nvSpPr>
          <p:spPr bwMode="auto">
            <a:xfrm>
              <a:off x="3120" y="3319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02" name="Text Box 174"/>
            <p:cNvSpPr txBox="1">
              <a:spLocks noChangeArrowheads="1"/>
            </p:cNvSpPr>
            <p:nvPr/>
          </p:nvSpPr>
          <p:spPr bwMode="auto">
            <a:xfrm>
              <a:off x="3072" y="3302"/>
              <a:ext cx="50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/>
                <a:t>front </a:t>
              </a:r>
            </a:p>
          </p:txBody>
        </p:sp>
        <p:sp>
          <p:nvSpPr>
            <p:cNvPr id="22719" name="Line 191"/>
            <p:cNvSpPr>
              <a:spLocks noChangeShapeType="1"/>
            </p:cNvSpPr>
            <p:nvPr/>
          </p:nvSpPr>
          <p:spPr bwMode="auto">
            <a:xfrm>
              <a:off x="3648" y="3014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20" name="Line 192"/>
            <p:cNvSpPr>
              <a:spLocks noChangeShapeType="1"/>
            </p:cNvSpPr>
            <p:nvPr/>
          </p:nvSpPr>
          <p:spPr bwMode="auto">
            <a:xfrm>
              <a:off x="4080" y="3014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21" name="Line 193"/>
            <p:cNvSpPr>
              <a:spLocks noChangeShapeType="1"/>
            </p:cNvSpPr>
            <p:nvPr/>
          </p:nvSpPr>
          <p:spPr bwMode="auto">
            <a:xfrm>
              <a:off x="3648" y="3014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22" name="Line 194"/>
            <p:cNvSpPr>
              <a:spLocks noChangeShapeType="1"/>
            </p:cNvSpPr>
            <p:nvPr/>
          </p:nvSpPr>
          <p:spPr bwMode="auto">
            <a:xfrm>
              <a:off x="3648" y="3206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23" name="Line 195"/>
            <p:cNvSpPr>
              <a:spLocks noChangeShapeType="1"/>
            </p:cNvSpPr>
            <p:nvPr/>
          </p:nvSpPr>
          <p:spPr bwMode="auto">
            <a:xfrm>
              <a:off x="3648" y="3398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24" name="Line 196"/>
            <p:cNvSpPr>
              <a:spLocks noChangeShapeType="1"/>
            </p:cNvSpPr>
            <p:nvPr/>
          </p:nvSpPr>
          <p:spPr bwMode="auto">
            <a:xfrm>
              <a:off x="3648" y="3607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25" name="Line 197"/>
            <p:cNvSpPr>
              <a:spLocks noChangeShapeType="1"/>
            </p:cNvSpPr>
            <p:nvPr/>
          </p:nvSpPr>
          <p:spPr bwMode="auto">
            <a:xfrm>
              <a:off x="3648" y="3782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28" name="Text Box 200"/>
            <p:cNvSpPr txBox="1">
              <a:spLocks noChangeArrowheads="1"/>
            </p:cNvSpPr>
            <p:nvPr/>
          </p:nvSpPr>
          <p:spPr bwMode="auto">
            <a:xfrm>
              <a:off x="3744" y="3158"/>
              <a:ext cx="291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/>
                <a:t>J</a:t>
              </a:r>
              <a:r>
                <a:rPr lang="en-US" altLang="zh-CN" sz="2000" baseline="-25000"/>
                <a:t>3</a:t>
              </a:r>
              <a:r>
                <a:rPr lang="en-US" altLang="zh-CN" sz="2000"/>
                <a:t> </a:t>
              </a:r>
            </a:p>
          </p:txBody>
        </p:sp>
      </p:grpSp>
      <p:grpSp>
        <p:nvGrpSpPr>
          <p:cNvPr id="22740" name="Group 212"/>
          <p:cNvGrpSpPr>
            <a:grpSpLocks/>
          </p:cNvGrpSpPr>
          <p:nvPr/>
        </p:nvGrpSpPr>
        <p:grpSpPr bwMode="auto">
          <a:xfrm>
            <a:off x="8504238" y="4316414"/>
            <a:ext cx="1600200" cy="1474787"/>
            <a:chOff x="4320" y="2853"/>
            <a:chExt cx="1008" cy="929"/>
          </a:xfrm>
        </p:grpSpPr>
        <p:sp>
          <p:nvSpPr>
            <p:cNvPr id="22713" name="Text Box 185"/>
            <p:cNvSpPr txBox="1">
              <a:spLocks noChangeArrowheads="1"/>
            </p:cNvSpPr>
            <p:nvPr/>
          </p:nvSpPr>
          <p:spPr bwMode="auto">
            <a:xfrm>
              <a:off x="4320" y="2853"/>
              <a:ext cx="44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/>
                <a:t>rear </a:t>
              </a:r>
            </a:p>
          </p:txBody>
        </p:sp>
        <p:sp>
          <p:nvSpPr>
            <p:cNvPr id="22714" name="Line 186"/>
            <p:cNvSpPr>
              <a:spLocks noChangeShapeType="1"/>
            </p:cNvSpPr>
            <p:nvPr/>
          </p:nvSpPr>
          <p:spPr bwMode="auto">
            <a:xfrm>
              <a:off x="4368" y="3062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15" name="Line 187"/>
            <p:cNvSpPr>
              <a:spLocks noChangeShapeType="1"/>
            </p:cNvSpPr>
            <p:nvPr/>
          </p:nvSpPr>
          <p:spPr bwMode="auto">
            <a:xfrm>
              <a:off x="4368" y="3158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16" name="Text Box 188"/>
            <p:cNvSpPr txBox="1">
              <a:spLocks noChangeArrowheads="1"/>
            </p:cNvSpPr>
            <p:nvPr/>
          </p:nvSpPr>
          <p:spPr bwMode="auto">
            <a:xfrm>
              <a:off x="4320" y="3141"/>
              <a:ext cx="50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/>
                <a:t>front </a:t>
              </a:r>
            </a:p>
          </p:txBody>
        </p:sp>
        <p:sp>
          <p:nvSpPr>
            <p:cNvPr id="22729" name="Line 201"/>
            <p:cNvSpPr>
              <a:spLocks noChangeShapeType="1"/>
            </p:cNvSpPr>
            <p:nvPr/>
          </p:nvSpPr>
          <p:spPr bwMode="auto">
            <a:xfrm>
              <a:off x="4896" y="3014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30" name="Line 202"/>
            <p:cNvSpPr>
              <a:spLocks noChangeShapeType="1"/>
            </p:cNvSpPr>
            <p:nvPr/>
          </p:nvSpPr>
          <p:spPr bwMode="auto">
            <a:xfrm>
              <a:off x="5328" y="3014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31" name="Line 203"/>
            <p:cNvSpPr>
              <a:spLocks noChangeShapeType="1"/>
            </p:cNvSpPr>
            <p:nvPr/>
          </p:nvSpPr>
          <p:spPr bwMode="auto">
            <a:xfrm>
              <a:off x="4896" y="3014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32" name="Line 204"/>
            <p:cNvSpPr>
              <a:spLocks noChangeShapeType="1"/>
            </p:cNvSpPr>
            <p:nvPr/>
          </p:nvSpPr>
          <p:spPr bwMode="auto">
            <a:xfrm>
              <a:off x="4896" y="3206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33" name="Line 205"/>
            <p:cNvSpPr>
              <a:spLocks noChangeShapeType="1"/>
            </p:cNvSpPr>
            <p:nvPr/>
          </p:nvSpPr>
          <p:spPr bwMode="auto">
            <a:xfrm>
              <a:off x="4896" y="3398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34" name="Line 206"/>
            <p:cNvSpPr>
              <a:spLocks noChangeShapeType="1"/>
            </p:cNvSpPr>
            <p:nvPr/>
          </p:nvSpPr>
          <p:spPr bwMode="auto">
            <a:xfrm>
              <a:off x="4896" y="3607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35" name="Line 207"/>
            <p:cNvSpPr>
              <a:spLocks noChangeShapeType="1"/>
            </p:cNvSpPr>
            <p:nvPr/>
          </p:nvSpPr>
          <p:spPr bwMode="auto">
            <a:xfrm>
              <a:off x="4896" y="3782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2742" name="Text Box 214"/>
          <p:cNvSpPr txBox="1">
            <a:spLocks noChangeArrowheads="1"/>
          </p:cNvSpPr>
          <p:nvPr/>
        </p:nvSpPr>
        <p:spPr bwMode="auto">
          <a:xfrm>
            <a:off x="3346450" y="3573464"/>
            <a:ext cx="5724644" cy="765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</a:pPr>
            <a:r>
              <a:rPr kumimoji="0" lang="zh-CN" altLang="en-US">
                <a:ea typeface="华文新魏" pitchFamily="2" charset="-122"/>
              </a:rPr>
              <a:t>在非空队列里，头指针始终指向队头元素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</a:pPr>
            <a:r>
              <a:rPr kumimoji="0" lang="zh-CN" altLang="en-US">
                <a:ea typeface="华文新魏" pitchFamily="2" charset="-122"/>
              </a:rPr>
              <a:t>尾指针始终指向队尾元素的下一位置。 </a:t>
            </a:r>
          </a:p>
        </p:txBody>
      </p:sp>
      <p:sp>
        <p:nvSpPr>
          <p:cNvPr id="22743" name="Text Box 215"/>
          <p:cNvSpPr txBox="1">
            <a:spLocks noChangeArrowheads="1"/>
          </p:cNvSpPr>
          <p:nvPr/>
        </p:nvSpPr>
        <p:spPr bwMode="auto">
          <a:xfrm>
            <a:off x="2371725" y="1843089"/>
            <a:ext cx="8261350" cy="420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</a:pPr>
            <a:r>
              <a:rPr kumimoji="0" lang="zh-CN" altLang="en-US">
                <a:solidFill>
                  <a:srgbClr val="0000FF"/>
                </a:solidFill>
                <a:ea typeface="华文中宋" pitchFamily="2" charset="-122"/>
              </a:rPr>
              <a:t>因为：</a:t>
            </a:r>
            <a:r>
              <a:rPr kumimoji="0" lang="zh-CN" altLang="en-US">
                <a:ea typeface="华文新魏" pitchFamily="2" charset="-122"/>
              </a:rPr>
              <a:t>队头和队尾的位置是变化的</a:t>
            </a:r>
            <a:r>
              <a:rPr kumimoji="0" lang="zh-CN" altLang="en-US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新魏" pitchFamily="2" charset="-122"/>
              </a:rPr>
              <a:t>，</a:t>
            </a:r>
            <a:r>
              <a:rPr kumimoji="0" lang="zh-CN" altLang="en-US">
                <a:solidFill>
                  <a:srgbClr val="0000FF"/>
                </a:solidFill>
                <a:ea typeface="华文中宋" pitchFamily="2" charset="-122"/>
              </a:rPr>
              <a:t>所以：</a:t>
            </a:r>
            <a:r>
              <a:rPr kumimoji="0" lang="zh-CN" altLang="en-US">
                <a:ea typeface="华文新魏" pitchFamily="2" charset="-122"/>
              </a:rPr>
              <a:t>设头、尾指针。</a:t>
            </a:r>
            <a:r>
              <a:rPr kumimoji="0" lang="zh-CN" altLang="en-US"/>
              <a:t> </a:t>
            </a:r>
            <a:r>
              <a:rPr kumimoji="0" lang="zh-CN" altLang="en-US">
                <a:ea typeface="华文新魏" pitchFamily="2" charset="-122"/>
              </a:rPr>
              <a:t> </a:t>
            </a:r>
          </a:p>
        </p:txBody>
      </p:sp>
      <p:sp>
        <p:nvSpPr>
          <p:cNvPr id="22744" name="Text Box 216"/>
          <p:cNvSpPr txBox="1">
            <a:spLocks noChangeArrowheads="1"/>
          </p:cNvSpPr>
          <p:nvPr/>
        </p:nvSpPr>
        <p:spPr bwMode="auto">
          <a:xfrm>
            <a:off x="3338513" y="2322514"/>
            <a:ext cx="4527550" cy="420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</a:pPr>
            <a:r>
              <a:rPr kumimoji="0" lang="zh-CN" altLang="en-US">
                <a:ea typeface="华文新魏" pitchFamily="2" charset="-122"/>
              </a:rPr>
              <a:t>初始化时的初始值均应置为 </a:t>
            </a:r>
            <a:r>
              <a:rPr kumimoji="0" lang="en-US" altLang="zh-CN">
                <a:ea typeface="华文新魏" pitchFamily="2" charset="-122"/>
              </a:rPr>
              <a:t>0</a:t>
            </a:r>
            <a:r>
              <a:rPr kumimoji="0" lang="zh-CN" altLang="en-US">
                <a:ea typeface="华文新魏" pitchFamily="2" charset="-122"/>
              </a:rPr>
              <a:t>。  </a:t>
            </a:r>
          </a:p>
        </p:txBody>
      </p:sp>
      <p:sp>
        <p:nvSpPr>
          <p:cNvPr id="22745" name="Text Box 217"/>
          <p:cNvSpPr txBox="1">
            <a:spLocks noChangeArrowheads="1"/>
          </p:cNvSpPr>
          <p:nvPr/>
        </p:nvSpPr>
        <p:spPr bwMode="auto">
          <a:xfrm>
            <a:off x="3346450" y="2743200"/>
            <a:ext cx="2622550" cy="420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</a:pPr>
            <a:r>
              <a:rPr kumimoji="0" lang="zh-CN" altLang="en-US">
                <a:ea typeface="华文新魏" pitchFamily="2" charset="-122"/>
              </a:rPr>
              <a:t>入队，尾指针增 </a:t>
            </a:r>
            <a:r>
              <a:rPr kumimoji="0" lang="en-US" altLang="zh-CN">
                <a:ea typeface="华文新魏" pitchFamily="2" charset="-122"/>
              </a:rPr>
              <a:t>1 </a:t>
            </a:r>
          </a:p>
        </p:txBody>
      </p:sp>
      <p:sp>
        <p:nvSpPr>
          <p:cNvPr id="22746" name="Text Box 218"/>
          <p:cNvSpPr txBox="1">
            <a:spLocks noChangeArrowheads="1"/>
          </p:cNvSpPr>
          <p:nvPr/>
        </p:nvSpPr>
        <p:spPr bwMode="auto">
          <a:xfrm>
            <a:off x="3346450" y="3124200"/>
            <a:ext cx="2622550" cy="420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</a:pPr>
            <a:r>
              <a:rPr kumimoji="0" lang="zh-CN" altLang="en-US">
                <a:ea typeface="华文新魏" pitchFamily="2" charset="-122"/>
              </a:rPr>
              <a:t>出队，头指针增 </a:t>
            </a:r>
            <a:r>
              <a:rPr kumimoji="0" lang="en-US" altLang="zh-CN">
                <a:ea typeface="华文新魏" pitchFamily="2" charset="-122"/>
              </a:rPr>
              <a:t>1 </a:t>
            </a:r>
          </a:p>
        </p:txBody>
      </p:sp>
      <p:sp>
        <p:nvSpPr>
          <p:cNvPr id="22747" name="Text Box 219"/>
          <p:cNvSpPr txBox="1">
            <a:spLocks noChangeArrowheads="1"/>
          </p:cNvSpPr>
          <p:nvPr/>
        </p:nvSpPr>
        <p:spPr bwMode="auto">
          <a:xfrm>
            <a:off x="6026151" y="2967039"/>
            <a:ext cx="3635375" cy="420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</a:pPr>
            <a:r>
              <a:rPr kumimoji="0"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中宋" pitchFamily="2" charset="-122"/>
                <a:ea typeface="华文中宋" pitchFamily="2" charset="-122"/>
              </a:rPr>
              <a:t>头尾指针相等时队列为空 </a:t>
            </a:r>
            <a:endParaRPr kumimoji="0" lang="zh-CN" altLang="en-US"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22748" name="AutoShape 220"/>
          <p:cNvSpPr>
            <a:spLocks/>
          </p:cNvSpPr>
          <p:nvPr/>
        </p:nvSpPr>
        <p:spPr bwMode="auto">
          <a:xfrm>
            <a:off x="3122613" y="2600325"/>
            <a:ext cx="222250" cy="1549400"/>
          </a:xfrm>
          <a:prstGeom prst="leftBrace">
            <a:avLst>
              <a:gd name="adj1" fmla="val 58095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749" name="AutoShape 221"/>
          <p:cNvSpPr>
            <a:spLocks/>
          </p:cNvSpPr>
          <p:nvPr/>
        </p:nvSpPr>
        <p:spPr bwMode="auto">
          <a:xfrm>
            <a:off x="5905500" y="2895600"/>
            <a:ext cx="152400" cy="533400"/>
          </a:xfrm>
          <a:prstGeom prst="rightBrace">
            <a:avLst>
              <a:gd name="adj1" fmla="val 291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slow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6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6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26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26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26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26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26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26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27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27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27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27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26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26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6" dur="500"/>
                                        <p:tgtEl>
                                          <p:spTgt spid="22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2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27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27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27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27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2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9" dur="500"/>
                                        <p:tgtEl>
                                          <p:spTgt spid="22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22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2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22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8" dur="500"/>
                                        <p:tgtEl>
                                          <p:spTgt spid="22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2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27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27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27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27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27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27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656" grpId="0" autoUpdateAnimBg="0"/>
      <p:bldP spid="22657" grpId="0" autoUpdateAnimBg="0"/>
      <p:bldP spid="22659" grpId="0" autoUpdateAnimBg="0"/>
      <p:bldP spid="22717" grpId="0" autoUpdateAnimBg="0"/>
      <p:bldP spid="22742" grpId="0" autoUpdateAnimBg="0"/>
      <p:bldP spid="22743" grpId="0" autoUpdateAnimBg="0"/>
      <p:bldP spid="22744" grpId="0" autoUpdateAnimBg="0"/>
      <p:bldP spid="22745" grpId="0" autoUpdateAnimBg="0"/>
      <p:bldP spid="22746" grpId="0" autoUpdateAnimBg="0"/>
      <p:bldP spid="22747" grpId="0" autoUpdateAnimBg="0"/>
      <p:bldP spid="22748" grpId="0" animBg="1"/>
      <p:bldP spid="22749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71" name="Text Box 119"/>
          <p:cNvSpPr txBox="1">
            <a:spLocks noChangeArrowheads="1"/>
          </p:cNvSpPr>
          <p:nvPr/>
        </p:nvSpPr>
        <p:spPr bwMode="auto">
          <a:xfrm>
            <a:off x="2128839" y="606426"/>
            <a:ext cx="8263801" cy="940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/>
              <a:t>        </a:t>
            </a:r>
            <a:r>
              <a:rPr lang="zh-CN" altLang="en-US"/>
              <a:t>在顺序队列中，当尾指针已经指向了队列的最后一个 </a:t>
            </a:r>
          </a:p>
          <a:p>
            <a:pPr>
              <a:lnSpc>
                <a:spcPct val="120000"/>
              </a:lnSpc>
            </a:pPr>
            <a:r>
              <a:rPr lang="zh-CN" altLang="en-US"/>
              <a:t>位置的下一位置时，若再有元素入队，就会发生“</a:t>
            </a:r>
            <a:r>
              <a:rPr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溢出</a:t>
            </a:r>
            <a:r>
              <a:rPr lang="zh-CN" altLang="en-US"/>
              <a:t>”。 </a:t>
            </a:r>
          </a:p>
        </p:txBody>
      </p:sp>
      <p:sp>
        <p:nvSpPr>
          <p:cNvPr id="23672" name="Text Box 120"/>
          <p:cNvSpPr txBox="1">
            <a:spLocks noChangeArrowheads="1"/>
          </p:cNvSpPr>
          <p:nvPr/>
        </p:nvSpPr>
        <p:spPr bwMode="auto">
          <a:xfrm>
            <a:off x="2132013" y="1570039"/>
            <a:ext cx="8109912" cy="4700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dirty="0"/>
              <a:t>      </a:t>
            </a:r>
            <a:r>
              <a:rPr lang="en-US" altLang="zh-CN" dirty="0">
                <a:latin typeface="华文中宋"/>
                <a:ea typeface="华文中宋" pitchFamily="2" charset="-122"/>
              </a:rPr>
              <a:t>“</a:t>
            </a:r>
            <a:r>
              <a:rPr lang="zh-CN" altLang="en-US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假溢出</a:t>
            </a:r>
            <a:r>
              <a:rPr lang="zh-CN" altLang="en-US" dirty="0">
                <a:latin typeface="华文中宋"/>
                <a:ea typeface="华文中宋" pitchFamily="2" charset="-122"/>
              </a:rPr>
              <a:t>”</a:t>
            </a:r>
            <a:r>
              <a:rPr lang="en-US" altLang="zh-CN" dirty="0"/>
              <a:t>——</a:t>
            </a:r>
            <a:r>
              <a:rPr lang="zh-CN" altLang="en-US" dirty="0"/>
              <a:t>队列的存储空间未满，却发生了溢出。 </a:t>
            </a:r>
          </a:p>
        </p:txBody>
      </p:sp>
      <p:grpSp>
        <p:nvGrpSpPr>
          <p:cNvPr id="23694" name="Group 142"/>
          <p:cNvGrpSpPr>
            <a:grpSpLocks/>
          </p:cNvGrpSpPr>
          <p:nvPr/>
        </p:nvGrpSpPr>
        <p:grpSpPr bwMode="auto">
          <a:xfrm>
            <a:off x="2324100" y="4389439"/>
            <a:ext cx="1600200" cy="1919287"/>
            <a:chOff x="204" y="2795"/>
            <a:chExt cx="1008" cy="1209"/>
          </a:xfrm>
        </p:grpSpPr>
        <p:sp>
          <p:nvSpPr>
            <p:cNvPr id="23679" name="Line 127"/>
            <p:cNvSpPr>
              <a:spLocks noChangeShapeType="1"/>
            </p:cNvSpPr>
            <p:nvPr/>
          </p:nvSpPr>
          <p:spPr bwMode="auto">
            <a:xfrm>
              <a:off x="780" y="3082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80" name="Line 128"/>
            <p:cNvSpPr>
              <a:spLocks noChangeShapeType="1"/>
            </p:cNvSpPr>
            <p:nvPr/>
          </p:nvSpPr>
          <p:spPr bwMode="auto">
            <a:xfrm>
              <a:off x="1212" y="3082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81" name="Line 129"/>
            <p:cNvSpPr>
              <a:spLocks noChangeShapeType="1"/>
            </p:cNvSpPr>
            <p:nvPr/>
          </p:nvSpPr>
          <p:spPr bwMode="auto">
            <a:xfrm>
              <a:off x="780" y="3082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82" name="Line 130"/>
            <p:cNvSpPr>
              <a:spLocks noChangeShapeType="1"/>
            </p:cNvSpPr>
            <p:nvPr/>
          </p:nvSpPr>
          <p:spPr bwMode="auto">
            <a:xfrm>
              <a:off x="780" y="3274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83" name="Line 131"/>
            <p:cNvSpPr>
              <a:spLocks noChangeShapeType="1"/>
            </p:cNvSpPr>
            <p:nvPr/>
          </p:nvSpPr>
          <p:spPr bwMode="auto">
            <a:xfrm>
              <a:off x="780" y="3466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84" name="Line 132"/>
            <p:cNvSpPr>
              <a:spLocks noChangeShapeType="1"/>
            </p:cNvSpPr>
            <p:nvPr/>
          </p:nvSpPr>
          <p:spPr bwMode="auto">
            <a:xfrm>
              <a:off x="780" y="3675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85" name="Line 133"/>
            <p:cNvSpPr>
              <a:spLocks noChangeShapeType="1"/>
            </p:cNvSpPr>
            <p:nvPr/>
          </p:nvSpPr>
          <p:spPr bwMode="auto">
            <a:xfrm>
              <a:off x="780" y="3850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86" name="Text Box 134"/>
            <p:cNvSpPr txBox="1">
              <a:spLocks noChangeArrowheads="1"/>
            </p:cNvSpPr>
            <p:nvPr/>
          </p:nvSpPr>
          <p:spPr bwMode="auto">
            <a:xfrm>
              <a:off x="204" y="2795"/>
              <a:ext cx="44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/>
                <a:t>rear </a:t>
              </a:r>
            </a:p>
          </p:txBody>
        </p:sp>
        <p:sp>
          <p:nvSpPr>
            <p:cNvPr id="23687" name="Line 135"/>
            <p:cNvSpPr>
              <a:spLocks noChangeShapeType="1"/>
            </p:cNvSpPr>
            <p:nvPr/>
          </p:nvSpPr>
          <p:spPr bwMode="auto">
            <a:xfrm>
              <a:off x="252" y="3004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88" name="Line 136"/>
            <p:cNvSpPr>
              <a:spLocks noChangeShapeType="1"/>
            </p:cNvSpPr>
            <p:nvPr/>
          </p:nvSpPr>
          <p:spPr bwMode="auto">
            <a:xfrm>
              <a:off x="252" y="3771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89" name="Text Box 137"/>
            <p:cNvSpPr txBox="1">
              <a:spLocks noChangeArrowheads="1"/>
            </p:cNvSpPr>
            <p:nvPr/>
          </p:nvSpPr>
          <p:spPr bwMode="auto">
            <a:xfrm>
              <a:off x="204" y="3754"/>
              <a:ext cx="50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/>
                <a:t>front </a:t>
              </a:r>
            </a:p>
          </p:txBody>
        </p:sp>
        <p:sp>
          <p:nvSpPr>
            <p:cNvPr id="23690" name="Text Box 138"/>
            <p:cNvSpPr txBox="1">
              <a:spLocks noChangeArrowheads="1"/>
            </p:cNvSpPr>
            <p:nvPr/>
          </p:nvSpPr>
          <p:spPr bwMode="auto">
            <a:xfrm>
              <a:off x="876" y="3610"/>
              <a:ext cx="291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/>
                <a:t>J</a:t>
              </a:r>
              <a:r>
                <a:rPr lang="en-US" altLang="zh-CN" sz="2000" baseline="-25000"/>
                <a:t>1</a:t>
              </a:r>
              <a:r>
                <a:rPr lang="en-US" altLang="zh-CN" sz="2000"/>
                <a:t> </a:t>
              </a:r>
            </a:p>
          </p:txBody>
        </p:sp>
        <p:sp>
          <p:nvSpPr>
            <p:cNvPr id="23691" name="Text Box 139"/>
            <p:cNvSpPr txBox="1">
              <a:spLocks noChangeArrowheads="1"/>
            </p:cNvSpPr>
            <p:nvPr/>
          </p:nvSpPr>
          <p:spPr bwMode="auto">
            <a:xfrm>
              <a:off x="876" y="3418"/>
              <a:ext cx="291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/>
                <a:t>J</a:t>
              </a:r>
              <a:r>
                <a:rPr lang="en-US" altLang="zh-CN" sz="2000" baseline="-25000"/>
                <a:t>2</a:t>
              </a:r>
              <a:r>
                <a:rPr lang="en-US" altLang="zh-CN" sz="2000"/>
                <a:t> </a:t>
              </a:r>
            </a:p>
          </p:txBody>
        </p:sp>
        <p:sp>
          <p:nvSpPr>
            <p:cNvPr id="23692" name="Text Box 140"/>
            <p:cNvSpPr txBox="1">
              <a:spLocks noChangeArrowheads="1"/>
            </p:cNvSpPr>
            <p:nvPr/>
          </p:nvSpPr>
          <p:spPr bwMode="auto">
            <a:xfrm>
              <a:off x="876" y="3226"/>
              <a:ext cx="291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/>
                <a:t>J</a:t>
              </a:r>
              <a:r>
                <a:rPr lang="en-US" altLang="zh-CN" sz="2000" baseline="-25000"/>
                <a:t>3</a:t>
              </a:r>
              <a:r>
                <a:rPr lang="en-US" altLang="zh-CN" sz="2000"/>
                <a:t> </a:t>
              </a:r>
            </a:p>
          </p:txBody>
        </p:sp>
        <p:sp>
          <p:nvSpPr>
            <p:cNvPr id="23693" name="Text Box 141"/>
            <p:cNvSpPr txBox="1">
              <a:spLocks noChangeArrowheads="1"/>
            </p:cNvSpPr>
            <p:nvPr/>
          </p:nvSpPr>
          <p:spPr bwMode="auto">
            <a:xfrm>
              <a:off x="868" y="3044"/>
              <a:ext cx="291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/>
                <a:t>J</a:t>
              </a:r>
              <a:r>
                <a:rPr lang="en-US" altLang="zh-CN" sz="2000" baseline="-25000"/>
                <a:t>4</a:t>
              </a:r>
              <a:r>
                <a:rPr lang="en-US" altLang="zh-CN" sz="2000"/>
                <a:t> </a:t>
              </a:r>
            </a:p>
          </p:txBody>
        </p:sp>
      </p:grpSp>
      <p:grpSp>
        <p:nvGrpSpPr>
          <p:cNvPr id="23737" name="Group 185"/>
          <p:cNvGrpSpPr>
            <a:grpSpLocks/>
          </p:cNvGrpSpPr>
          <p:nvPr/>
        </p:nvGrpSpPr>
        <p:grpSpPr bwMode="auto">
          <a:xfrm>
            <a:off x="4211638" y="4389438"/>
            <a:ext cx="1600200" cy="1674812"/>
            <a:chOff x="1418" y="2795"/>
            <a:chExt cx="1008" cy="1055"/>
          </a:xfrm>
        </p:grpSpPr>
        <p:sp>
          <p:nvSpPr>
            <p:cNvPr id="23709" name="Line 157"/>
            <p:cNvSpPr>
              <a:spLocks noChangeShapeType="1"/>
            </p:cNvSpPr>
            <p:nvPr/>
          </p:nvSpPr>
          <p:spPr bwMode="auto">
            <a:xfrm>
              <a:off x="1994" y="3082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10" name="Line 158"/>
            <p:cNvSpPr>
              <a:spLocks noChangeShapeType="1"/>
            </p:cNvSpPr>
            <p:nvPr/>
          </p:nvSpPr>
          <p:spPr bwMode="auto">
            <a:xfrm>
              <a:off x="2426" y="3082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11" name="Line 159"/>
            <p:cNvSpPr>
              <a:spLocks noChangeShapeType="1"/>
            </p:cNvSpPr>
            <p:nvPr/>
          </p:nvSpPr>
          <p:spPr bwMode="auto">
            <a:xfrm>
              <a:off x="1994" y="3082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12" name="Line 160"/>
            <p:cNvSpPr>
              <a:spLocks noChangeShapeType="1"/>
            </p:cNvSpPr>
            <p:nvPr/>
          </p:nvSpPr>
          <p:spPr bwMode="auto">
            <a:xfrm>
              <a:off x="1994" y="3274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13" name="Line 161"/>
            <p:cNvSpPr>
              <a:spLocks noChangeShapeType="1"/>
            </p:cNvSpPr>
            <p:nvPr/>
          </p:nvSpPr>
          <p:spPr bwMode="auto">
            <a:xfrm>
              <a:off x="1994" y="3466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14" name="Line 162"/>
            <p:cNvSpPr>
              <a:spLocks noChangeShapeType="1"/>
            </p:cNvSpPr>
            <p:nvPr/>
          </p:nvSpPr>
          <p:spPr bwMode="auto">
            <a:xfrm>
              <a:off x="1994" y="3675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15" name="Line 163"/>
            <p:cNvSpPr>
              <a:spLocks noChangeShapeType="1"/>
            </p:cNvSpPr>
            <p:nvPr/>
          </p:nvSpPr>
          <p:spPr bwMode="auto">
            <a:xfrm>
              <a:off x="1994" y="3850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16" name="Text Box 164"/>
            <p:cNvSpPr txBox="1">
              <a:spLocks noChangeArrowheads="1"/>
            </p:cNvSpPr>
            <p:nvPr/>
          </p:nvSpPr>
          <p:spPr bwMode="auto">
            <a:xfrm>
              <a:off x="1418" y="2795"/>
              <a:ext cx="44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/>
                <a:t>rear </a:t>
              </a:r>
            </a:p>
          </p:txBody>
        </p:sp>
        <p:sp>
          <p:nvSpPr>
            <p:cNvPr id="23717" name="Line 165"/>
            <p:cNvSpPr>
              <a:spLocks noChangeShapeType="1"/>
            </p:cNvSpPr>
            <p:nvPr/>
          </p:nvSpPr>
          <p:spPr bwMode="auto">
            <a:xfrm>
              <a:off x="1466" y="3004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18" name="Line 166"/>
            <p:cNvSpPr>
              <a:spLocks noChangeShapeType="1"/>
            </p:cNvSpPr>
            <p:nvPr/>
          </p:nvSpPr>
          <p:spPr bwMode="auto">
            <a:xfrm>
              <a:off x="1466" y="3379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19" name="Text Box 167"/>
            <p:cNvSpPr txBox="1">
              <a:spLocks noChangeArrowheads="1"/>
            </p:cNvSpPr>
            <p:nvPr/>
          </p:nvSpPr>
          <p:spPr bwMode="auto">
            <a:xfrm>
              <a:off x="1418" y="3362"/>
              <a:ext cx="50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/>
                <a:t>front </a:t>
              </a:r>
            </a:p>
          </p:txBody>
        </p:sp>
        <p:sp>
          <p:nvSpPr>
            <p:cNvPr id="23722" name="Text Box 170"/>
            <p:cNvSpPr txBox="1">
              <a:spLocks noChangeArrowheads="1"/>
            </p:cNvSpPr>
            <p:nvPr/>
          </p:nvSpPr>
          <p:spPr bwMode="auto">
            <a:xfrm>
              <a:off x="2090" y="3226"/>
              <a:ext cx="291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/>
                <a:t>J</a:t>
              </a:r>
              <a:r>
                <a:rPr lang="en-US" altLang="zh-CN" sz="2000" baseline="-25000"/>
                <a:t>3</a:t>
              </a:r>
              <a:r>
                <a:rPr lang="en-US" altLang="zh-CN" sz="2000"/>
                <a:t> </a:t>
              </a:r>
            </a:p>
          </p:txBody>
        </p:sp>
        <p:sp>
          <p:nvSpPr>
            <p:cNvPr id="23723" name="Text Box 171"/>
            <p:cNvSpPr txBox="1">
              <a:spLocks noChangeArrowheads="1"/>
            </p:cNvSpPr>
            <p:nvPr/>
          </p:nvSpPr>
          <p:spPr bwMode="auto">
            <a:xfrm>
              <a:off x="2082" y="3044"/>
              <a:ext cx="291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/>
                <a:t>J</a:t>
              </a:r>
              <a:r>
                <a:rPr lang="en-US" altLang="zh-CN" sz="2000" baseline="-25000"/>
                <a:t>4</a:t>
              </a:r>
              <a:r>
                <a:rPr lang="en-US" altLang="zh-CN" sz="2000"/>
                <a:t> </a:t>
              </a:r>
            </a:p>
          </p:txBody>
        </p:sp>
      </p:grpSp>
      <p:sp>
        <p:nvSpPr>
          <p:cNvPr id="23738" name="Text Box 186"/>
          <p:cNvSpPr txBox="1">
            <a:spLocks noChangeArrowheads="1"/>
          </p:cNvSpPr>
          <p:nvPr/>
        </p:nvSpPr>
        <p:spPr bwMode="auto">
          <a:xfrm>
            <a:off x="2116138" y="2578101"/>
            <a:ext cx="8007320" cy="4700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/>
              <a:t>        (1)</a:t>
            </a:r>
            <a:r>
              <a:rPr lang="zh-CN" altLang="en-US"/>
              <a:t>、平移元素：把元素平移到队列的首部。</a:t>
            </a:r>
            <a:r>
              <a:rPr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效率低</a:t>
            </a:r>
            <a:r>
              <a:rPr lang="zh-CN" altLang="en-US"/>
              <a:t>。 </a:t>
            </a:r>
          </a:p>
        </p:txBody>
      </p:sp>
      <p:sp>
        <p:nvSpPr>
          <p:cNvPr id="23739" name="Text Box 187"/>
          <p:cNvSpPr txBox="1">
            <a:spLocks noChangeArrowheads="1"/>
          </p:cNvSpPr>
          <p:nvPr/>
        </p:nvSpPr>
        <p:spPr bwMode="auto">
          <a:xfrm>
            <a:off x="2132013" y="2074864"/>
            <a:ext cx="6724918" cy="469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>
                <a:solidFill>
                  <a:srgbClr val="0000FF"/>
                </a:solidFill>
                <a:ea typeface="华文中宋" pitchFamily="2" charset="-122"/>
              </a:rPr>
              <a:t>        </a:t>
            </a:r>
            <a:r>
              <a:rPr lang="zh-CN" altLang="en-US">
                <a:solidFill>
                  <a:srgbClr val="0000FF"/>
                </a:solidFill>
                <a:ea typeface="华文中宋" pitchFamily="2" charset="-122"/>
              </a:rPr>
              <a:t>解决“假溢出”的问题有两种可行的方法： </a:t>
            </a:r>
          </a:p>
        </p:txBody>
      </p:sp>
      <p:sp>
        <p:nvSpPr>
          <p:cNvPr id="23740" name="Text Box 188"/>
          <p:cNvSpPr txBox="1">
            <a:spLocks noChangeArrowheads="1"/>
          </p:cNvSpPr>
          <p:nvPr/>
        </p:nvSpPr>
        <p:spPr bwMode="auto">
          <a:xfrm>
            <a:off x="2132014" y="3021014"/>
            <a:ext cx="7959725" cy="140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/>
              <a:t>        (2)</a:t>
            </a:r>
            <a:r>
              <a:rPr lang="zh-CN" altLang="en-US"/>
              <a:t>、将新元素插入到第一个位置上，构成</a:t>
            </a:r>
            <a:r>
              <a:rPr lang="zh-CN" altLang="en-US">
                <a:solidFill>
                  <a:srgbClr val="0000FF"/>
                </a:solidFill>
                <a:ea typeface="华文中宋" pitchFamily="2" charset="-122"/>
              </a:rPr>
              <a:t>循环队列</a:t>
            </a:r>
            <a:r>
              <a:rPr lang="zh-CN" altLang="en-US"/>
              <a:t>， </a:t>
            </a:r>
          </a:p>
          <a:p>
            <a:pPr>
              <a:lnSpc>
                <a:spcPct val="120000"/>
              </a:lnSpc>
            </a:pPr>
            <a:r>
              <a:rPr lang="zh-CN" altLang="en-US"/>
              <a:t>                 入队和出队仍按“先进先出”的原则进行。 </a:t>
            </a:r>
          </a:p>
          <a:p>
            <a:pPr>
              <a:lnSpc>
                <a:spcPct val="120000"/>
              </a:lnSpc>
            </a:pPr>
            <a:r>
              <a:rPr lang="zh-CN" altLang="en-US"/>
              <a:t>                                                     </a:t>
            </a:r>
            <a:r>
              <a:rPr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操作效率、空间利用率高</a:t>
            </a:r>
            <a:r>
              <a:rPr lang="zh-CN" altLang="en-US"/>
              <a:t>。 </a:t>
            </a:r>
          </a:p>
        </p:txBody>
      </p:sp>
      <p:grpSp>
        <p:nvGrpSpPr>
          <p:cNvPr id="23768" name="Group 216"/>
          <p:cNvGrpSpPr>
            <a:grpSpLocks/>
          </p:cNvGrpSpPr>
          <p:nvPr/>
        </p:nvGrpSpPr>
        <p:grpSpPr bwMode="auto">
          <a:xfrm>
            <a:off x="8188325" y="4765676"/>
            <a:ext cx="1600200" cy="1279525"/>
            <a:chOff x="4367" y="3168"/>
            <a:chExt cx="1008" cy="806"/>
          </a:xfrm>
        </p:grpSpPr>
        <p:sp>
          <p:nvSpPr>
            <p:cNvPr id="23741" name="Line 189"/>
            <p:cNvSpPr>
              <a:spLocks noChangeShapeType="1"/>
            </p:cNvSpPr>
            <p:nvPr/>
          </p:nvSpPr>
          <p:spPr bwMode="auto">
            <a:xfrm>
              <a:off x="4943" y="3206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42" name="Line 190"/>
            <p:cNvSpPr>
              <a:spLocks noChangeShapeType="1"/>
            </p:cNvSpPr>
            <p:nvPr/>
          </p:nvSpPr>
          <p:spPr bwMode="auto">
            <a:xfrm>
              <a:off x="5375" y="3206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43" name="Line 191"/>
            <p:cNvSpPr>
              <a:spLocks noChangeShapeType="1"/>
            </p:cNvSpPr>
            <p:nvPr/>
          </p:nvSpPr>
          <p:spPr bwMode="auto">
            <a:xfrm>
              <a:off x="4943" y="3206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44" name="Line 192"/>
            <p:cNvSpPr>
              <a:spLocks noChangeShapeType="1"/>
            </p:cNvSpPr>
            <p:nvPr/>
          </p:nvSpPr>
          <p:spPr bwMode="auto">
            <a:xfrm>
              <a:off x="4943" y="3398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45" name="Line 193"/>
            <p:cNvSpPr>
              <a:spLocks noChangeShapeType="1"/>
            </p:cNvSpPr>
            <p:nvPr/>
          </p:nvSpPr>
          <p:spPr bwMode="auto">
            <a:xfrm>
              <a:off x="4943" y="3590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46" name="Line 194"/>
            <p:cNvSpPr>
              <a:spLocks noChangeShapeType="1"/>
            </p:cNvSpPr>
            <p:nvPr/>
          </p:nvSpPr>
          <p:spPr bwMode="auto">
            <a:xfrm>
              <a:off x="4943" y="3799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47" name="Line 195"/>
            <p:cNvSpPr>
              <a:spLocks noChangeShapeType="1"/>
            </p:cNvSpPr>
            <p:nvPr/>
          </p:nvSpPr>
          <p:spPr bwMode="auto">
            <a:xfrm>
              <a:off x="4943" y="3974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48" name="Text Box 196"/>
            <p:cNvSpPr txBox="1">
              <a:spLocks noChangeArrowheads="1"/>
            </p:cNvSpPr>
            <p:nvPr/>
          </p:nvSpPr>
          <p:spPr bwMode="auto">
            <a:xfrm>
              <a:off x="4367" y="3679"/>
              <a:ext cx="44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/>
                <a:t>rear </a:t>
              </a:r>
            </a:p>
          </p:txBody>
        </p:sp>
        <p:sp>
          <p:nvSpPr>
            <p:cNvPr id="23749" name="Line 197"/>
            <p:cNvSpPr>
              <a:spLocks noChangeShapeType="1"/>
            </p:cNvSpPr>
            <p:nvPr/>
          </p:nvSpPr>
          <p:spPr bwMode="auto">
            <a:xfrm>
              <a:off x="4415" y="3888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50" name="Line 198"/>
            <p:cNvSpPr>
              <a:spLocks noChangeShapeType="1"/>
            </p:cNvSpPr>
            <p:nvPr/>
          </p:nvSpPr>
          <p:spPr bwMode="auto">
            <a:xfrm>
              <a:off x="4415" y="3503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51" name="Text Box 199"/>
            <p:cNvSpPr txBox="1">
              <a:spLocks noChangeArrowheads="1"/>
            </p:cNvSpPr>
            <p:nvPr/>
          </p:nvSpPr>
          <p:spPr bwMode="auto">
            <a:xfrm>
              <a:off x="4367" y="3486"/>
              <a:ext cx="50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/>
                <a:t>front </a:t>
              </a:r>
            </a:p>
          </p:txBody>
        </p:sp>
        <p:sp>
          <p:nvSpPr>
            <p:cNvPr id="23752" name="Text Box 200"/>
            <p:cNvSpPr txBox="1">
              <a:spLocks noChangeArrowheads="1"/>
            </p:cNvSpPr>
            <p:nvPr/>
          </p:nvSpPr>
          <p:spPr bwMode="auto">
            <a:xfrm>
              <a:off x="5039" y="3350"/>
              <a:ext cx="291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/>
                <a:t>J</a:t>
              </a:r>
              <a:r>
                <a:rPr lang="en-US" altLang="zh-CN" sz="2000" baseline="-25000"/>
                <a:t>3</a:t>
              </a:r>
              <a:r>
                <a:rPr lang="en-US" altLang="zh-CN" sz="2000"/>
                <a:t> </a:t>
              </a:r>
            </a:p>
          </p:txBody>
        </p:sp>
        <p:sp>
          <p:nvSpPr>
            <p:cNvPr id="23753" name="Text Box 201"/>
            <p:cNvSpPr txBox="1">
              <a:spLocks noChangeArrowheads="1"/>
            </p:cNvSpPr>
            <p:nvPr/>
          </p:nvSpPr>
          <p:spPr bwMode="auto">
            <a:xfrm>
              <a:off x="5031" y="3168"/>
              <a:ext cx="291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/>
                <a:t>J</a:t>
              </a:r>
              <a:r>
                <a:rPr lang="en-US" altLang="zh-CN" sz="2000" baseline="-25000"/>
                <a:t>4</a:t>
              </a:r>
              <a:r>
                <a:rPr lang="en-US" altLang="zh-CN" sz="2000"/>
                <a:t> </a:t>
              </a:r>
            </a:p>
          </p:txBody>
        </p:sp>
      </p:grpSp>
      <p:grpSp>
        <p:nvGrpSpPr>
          <p:cNvPr id="23767" name="Group 215"/>
          <p:cNvGrpSpPr>
            <a:grpSpLocks/>
          </p:cNvGrpSpPr>
          <p:nvPr/>
        </p:nvGrpSpPr>
        <p:grpSpPr bwMode="auto">
          <a:xfrm>
            <a:off x="6227763" y="4826000"/>
            <a:ext cx="1600200" cy="1473200"/>
            <a:chOff x="3051" y="3206"/>
            <a:chExt cx="1008" cy="928"/>
          </a:xfrm>
        </p:grpSpPr>
        <p:sp>
          <p:nvSpPr>
            <p:cNvPr id="23764" name="Text Box 212"/>
            <p:cNvSpPr txBox="1">
              <a:spLocks noChangeArrowheads="1"/>
            </p:cNvSpPr>
            <p:nvPr/>
          </p:nvSpPr>
          <p:spPr bwMode="auto">
            <a:xfrm>
              <a:off x="3051" y="3884"/>
              <a:ext cx="50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/>
                <a:t>front </a:t>
              </a:r>
            </a:p>
          </p:txBody>
        </p:sp>
        <p:sp>
          <p:nvSpPr>
            <p:cNvPr id="23754" name="Line 202"/>
            <p:cNvSpPr>
              <a:spLocks noChangeShapeType="1"/>
            </p:cNvSpPr>
            <p:nvPr/>
          </p:nvSpPr>
          <p:spPr bwMode="auto">
            <a:xfrm>
              <a:off x="3627" y="3206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55" name="Line 203"/>
            <p:cNvSpPr>
              <a:spLocks noChangeShapeType="1"/>
            </p:cNvSpPr>
            <p:nvPr/>
          </p:nvSpPr>
          <p:spPr bwMode="auto">
            <a:xfrm>
              <a:off x="4059" y="3206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56" name="Line 204"/>
            <p:cNvSpPr>
              <a:spLocks noChangeShapeType="1"/>
            </p:cNvSpPr>
            <p:nvPr/>
          </p:nvSpPr>
          <p:spPr bwMode="auto">
            <a:xfrm>
              <a:off x="3627" y="3206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57" name="Line 205"/>
            <p:cNvSpPr>
              <a:spLocks noChangeShapeType="1"/>
            </p:cNvSpPr>
            <p:nvPr/>
          </p:nvSpPr>
          <p:spPr bwMode="auto">
            <a:xfrm>
              <a:off x="3627" y="3398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58" name="Line 206"/>
            <p:cNvSpPr>
              <a:spLocks noChangeShapeType="1"/>
            </p:cNvSpPr>
            <p:nvPr/>
          </p:nvSpPr>
          <p:spPr bwMode="auto">
            <a:xfrm>
              <a:off x="3627" y="3590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59" name="Line 207"/>
            <p:cNvSpPr>
              <a:spLocks noChangeShapeType="1"/>
            </p:cNvSpPr>
            <p:nvPr/>
          </p:nvSpPr>
          <p:spPr bwMode="auto">
            <a:xfrm>
              <a:off x="3627" y="3799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60" name="Line 208"/>
            <p:cNvSpPr>
              <a:spLocks noChangeShapeType="1"/>
            </p:cNvSpPr>
            <p:nvPr/>
          </p:nvSpPr>
          <p:spPr bwMode="auto">
            <a:xfrm>
              <a:off x="3627" y="3974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61" name="Text Box 209"/>
            <p:cNvSpPr txBox="1">
              <a:spLocks noChangeArrowheads="1"/>
            </p:cNvSpPr>
            <p:nvPr/>
          </p:nvSpPr>
          <p:spPr bwMode="auto">
            <a:xfrm>
              <a:off x="3051" y="3294"/>
              <a:ext cx="44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/>
                <a:t>rear </a:t>
              </a:r>
            </a:p>
          </p:txBody>
        </p:sp>
        <p:sp>
          <p:nvSpPr>
            <p:cNvPr id="23762" name="Line 210"/>
            <p:cNvSpPr>
              <a:spLocks noChangeShapeType="1"/>
            </p:cNvSpPr>
            <p:nvPr/>
          </p:nvSpPr>
          <p:spPr bwMode="auto">
            <a:xfrm>
              <a:off x="3099" y="3503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63" name="Line 211"/>
            <p:cNvSpPr>
              <a:spLocks noChangeShapeType="1"/>
            </p:cNvSpPr>
            <p:nvPr/>
          </p:nvSpPr>
          <p:spPr bwMode="auto">
            <a:xfrm>
              <a:off x="3099" y="3901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65" name="Text Box 213"/>
            <p:cNvSpPr txBox="1">
              <a:spLocks noChangeArrowheads="1"/>
            </p:cNvSpPr>
            <p:nvPr/>
          </p:nvSpPr>
          <p:spPr bwMode="auto">
            <a:xfrm>
              <a:off x="3723" y="3748"/>
              <a:ext cx="291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/>
                <a:t>J</a:t>
              </a:r>
              <a:r>
                <a:rPr lang="en-US" altLang="zh-CN" sz="2000" baseline="-25000"/>
                <a:t>3</a:t>
              </a:r>
              <a:r>
                <a:rPr lang="en-US" altLang="zh-CN" sz="2000"/>
                <a:t> </a:t>
              </a:r>
            </a:p>
          </p:txBody>
        </p:sp>
        <p:sp>
          <p:nvSpPr>
            <p:cNvPr id="23766" name="Text Box 214"/>
            <p:cNvSpPr txBox="1">
              <a:spLocks noChangeArrowheads="1"/>
            </p:cNvSpPr>
            <p:nvPr/>
          </p:nvSpPr>
          <p:spPr bwMode="auto">
            <a:xfrm>
              <a:off x="3715" y="3566"/>
              <a:ext cx="291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/>
                <a:t>J</a:t>
              </a:r>
              <a:r>
                <a:rPr lang="en-US" altLang="zh-CN" sz="2000" baseline="-25000"/>
                <a:t>4</a:t>
              </a:r>
              <a:r>
                <a:rPr lang="en-US" altLang="zh-CN" sz="2000"/>
                <a:t> </a:t>
              </a:r>
            </a:p>
          </p:txBody>
        </p:sp>
      </p:grpSp>
    </p:spTree>
  </p:cSld>
  <p:clrMapOvr>
    <a:masterClrMapping/>
  </p:clrMapOvr>
  <p:transition spd="slow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36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36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36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36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37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37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5" dur="500"/>
                                        <p:tgtEl>
                                          <p:spTgt spid="23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3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5" dur="500"/>
                                        <p:tgtEl>
                                          <p:spTgt spid="23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2000"/>
                                        <p:tgtEl>
                                          <p:spTgt spid="23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23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37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37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37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37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671" grpId="0" autoUpdateAnimBg="0"/>
      <p:bldP spid="23672" grpId="0" autoUpdateAnimBg="0"/>
      <p:bldP spid="23738" grpId="0" autoUpdateAnimBg="0"/>
      <p:bldP spid="23739" grpId="0" autoUpdateAnimBg="0"/>
      <p:bldP spid="23740" grpId="0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64" name="Text Box 20"/>
          <p:cNvSpPr txBox="1">
            <a:spLocks noChangeArrowheads="1"/>
          </p:cNvSpPr>
          <p:nvPr/>
        </p:nvSpPr>
        <p:spPr bwMode="auto">
          <a:xfrm>
            <a:off x="2208214" y="444500"/>
            <a:ext cx="33305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latin typeface="华文中宋" pitchFamily="2" charset="-122"/>
                <a:ea typeface="华文中宋" pitchFamily="2" charset="-122"/>
              </a:rPr>
              <a:t>循环队列的三种状态： </a:t>
            </a:r>
          </a:p>
        </p:txBody>
      </p:sp>
      <p:sp>
        <p:nvSpPr>
          <p:cNvPr id="31765" name="Oval 21"/>
          <p:cNvSpPr>
            <a:spLocks noChangeArrowheads="1"/>
          </p:cNvSpPr>
          <p:nvPr/>
        </p:nvSpPr>
        <p:spPr bwMode="auto">
          <a:xfrm>
            <a:off x="2498725" y="1435100"/>
            <a:ext cx="2133600" cy="213360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FF66FF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66" name="Oval 22"/>
          <p:cNvSpPr>
            <a:spLocks noChangeArrowheads="1"/>
          </p:cNvSpPr>
          <p:nvPr/>
        </p:nvSpPr>
        <p:spPr bwMode="auto">
          <a:xfrm>
            <a:off x="3108325" y="2044700"/>
            <a:ext cx="9144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67" name="Line 23"/>
          <p:cNvSpPr>
            <a:spLocks noChangeShapeType="1"/>
          </p:cNvSpPr>
          <p:nvPr/>
        </p:nvSpPr>
        <p:spPr bwMode="auto">
          <a:xfrm>
            <a:off x="2955925" y="1663700"/>
            <a:ext cx="304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1768" name="Line 24"/>
          <p:cNvSpPr>
            <a:spLocks noChangeShapeType="1"/>
          </p:cNvSpPr>
          <p:nvPr/>
        </p:nvSpPr>
        <p:spPr bwMode="auto">
          <a:xfrm>
            <a:off x="3794125" y="2882900"/>
            <a:ext cx="3810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1769" name="Line 25"/>
          <p:cNvSpPr>
            <a:spLocks noChangeShapeType="1"/>
          </p:cNvSpPr>
          <p:nvPr/>
        </p:nvSpPr>
        <p:spPr bwMode="auto">
          <a:xfrm flipH="1">
            <a:off x="3794125" y="1587500"/>
            <a:ext cx="304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1770" name="Line 26"/>
          <p:cNvSpPr>
            <a:spLocks noChangeShapeType="1"/>
          </p:cNvSpPr>
          <p:nvPr/>
        </p:nvSpPr>
        <p:spPr bwMode="auto">
          <a:xfrm flipH="1">
            <a:off x="3032125" y="2882900"/>
            <a:ext cx="304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1771" name="Line 27"/>
          <p:cNvSpPr>
            <a:spLocks noChangeShapeType="1"/>
          </p:cNvSpPr>
          <p:nvPr/>
        </p:nvSpPr>
        <p:spPr bwMode="auto">
          <a:xfrm>
            <a:off x="2498725" y="25019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1772" name="Line 28"/>
          <p:cNvSpPr>
            <a:spLocks noChangeShapeType="1"/>
          </p:cNvSpPr>
          <p:nvPr/>
        </p:nvSpPr>
        <p:spPr bwMode="auto">
          <a:xfrm>
            <a:off x="4022725" y="25019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1773" name="Text Box 29"/>
          <p:cNvSpPr txBox="1">
            <a:spLocks noChangeArrowheads="1"/>
          </p:cNvSpPr>
          <p:nvPr/>
        </p:nvSpPr>
        <p:spPr bwMode="auto">
          <a:xfrm>
            <a:off x="3724275" y="2120901"/>
            <a:ext cx="3746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/>
              <a:t>0 </a:t>
            </a:r>
          </a:p>
        </p:txBody>
      </p:sp>
      <p:sp>
        <p:nvSpPr>
          <p:cNvPr id="31774" name="Text Box 30"/>
          <p:cNvSpPr txBox="1">
            <a:spLocks noChangeArrowheads="1"/>
          </p:cNvSpPr>
          <p:nvPr/>
        </p:nvSpPr>
        <p:spPr bwMode="auto">
          <a:xfrm>
            <a:off x="3717925" y="2486026"/>
            <a:ext cx="3746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/>
              <a:t>1 </a:t>
            </a:r>
          </a:p>
        </p:txBody>
      </p:sp>
      <p:sp>
        <p:nvSpPr>
          <p:cNvPr id="31775" name="Text Box 31"/>
          <p:cNvSpPr txBox="1">
            <a:spLocks noChangeArrowheads="1"/>
          </p:cNvSpPr>
          <p:nvPr/>
        </p:nvSpPr>
        <p:spPr bwMode="auto">
          <a:xfrm>
            <a:off x="3413125" y="2638426"/>
            <a:ext cx="3746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/>
              <a:t>2 </a:t>
            </a:r>
          </a:p>
        </p:txBody>
      </p:sp>
      <p:sp>
        <p:nvSpPr>
          <p:cNvPr id="31776" name="Text Box 32"/>
          <p:cNvSpPr txBox="1">
            <a:spLocks noChangeArrowheads="1"/>
          </p:cNvSpPr>
          <p:nvPr/>
        </p:nvSpPr>
        <p:spPr bwMode="auto">
          <a:xfrm>
            <a:off x="3108325" y="2486026"/>
            <a:ext cx="3746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/>
              <a:t>3 </a:t>
            </a:r>
          </a:p>
        </p:txBody>
      </p:sp>
      <p:sp>
        <p:nvSpPr>
          <p:cNvPr id="31777" name="Text Box 33"/>
          <p:cNvSpPr txBox="1">
            <a:spLocks noChangeArrowheads="1"/>
          </p:cNvSpPr>
          <p:nvPr/>
        </p:nvSpPr>
        <p:spPr bwMode="auto">
          <a:xfrm>
            <a:off x="3114675" y="2120901"/>
            <a:ext cx="3746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/>
              <a:t>4 </a:t>
            </a:r>
          </a:p>
        </p:txBody>
      </p:sp>
      <p:sp>
        <p:nvSpPr>
          <p:cNvPr id="31778" name="Text Box 34"/>
          <p:cNvSpPr txBox="1">
            <a:spLocks noChangeArrowheads="1"/>
          </p:cNvSpPr>
          <p:nvPr/>
        </p:nvSpPr>
        <p:spPr bwMode="auto">
          <a:xfrm>
            <a:off x="3413125" y="1968501"/>
            <a:ext cx="3746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/>
              <a:t>5 </a:t>
            </a:r>
          </a:p>
        </p:txBody>
      </p:sp>
      <p:sp>
        <p:nvSpPr>
          <p:cNvPr id="31807" name="Text Box 63"/>
          <p:cNvSpPr txBox="1">
            <a:spLocks noChangeArrowheads="1"/>
          </p:cNvSpPr>
          <p:nvPr/>
        </p:nvSpPr>
        <p:spPr bwMode="auto">
          <a:xfrm>
            <a:off x="4159250" y="942975"/>
            <a:ext cx="920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front </a:t>
            </a:r>
          </a:p>
        </p:txBody>
      </p:sp>
      <p:sp>
        <p:nvSpPr>
          <p:cNvPr id="31808" name="Text Box 64"/>
          <p:cNvSpPr txBox="1">
            <a:spLocks noChangeArrowheads="1"/>
          </p:cNvSpPr>
          <p:nvPr/>
        </p:nvSpPr>
        <p:spPr bwMode="auto">
          <a:xfrm>
            <a:off x="4702176" y="1282700"/>
            <a:ext cx="8175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rear </a:t>
            </a:r>
          </a:p>
        </p:txBody>
      </p:sp>
      <p:sp>
        <p:nvSpPr>
          <p:cNvPr id="31809" name="Line 65"/>
          <p:cNvSpPr>
            <a:spLocks noChangeShapeType="1"/>
          </p:cNvSpPr>
          <p:nvPr/>
        </p:nvSpPr>
        <p:spPr bwMode="auto">
          <a:xfrm flipH="1">
            <a:off x="4327525" y="1282700"/>
            <a:ext cx="152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1810" name="Line 66"/>
          <p:cNvSpPr>
            <a:spLocks noChangeShapeType="1"/>
          </p:cNvSpPr>
          <p:nvPr/>
        </p:nvSpPr>
        <p:spPr bwMode="auto">
          <a:xfrm flipH="1">
            <a:off x="4556125" y="1663700"/>
            <a:ext cx="533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grpSp>
        <p:nvGrpSpPr>
          <p:cNvPr id="31834" name="Group 90"/>
          <p:cNvGrpSpPr>
            <a:grpSpLocks/>
          </p:cNvGrpSpPr>
          <p:nvPr/>
        </p:nvGrpSpPr>
        <p:grpSpPr bwMode="auto">
          <a:xfrm>
            <a:off x="4489450" y="1054100"/>
            <a:ext cx="3206750" cy="2743200"/>
            <a:chOff x="1868" y="664"/>
            <a:chExt cx="2020" cy="1728"/>
          </a:xfrm>
        </p:grpSpPr>
        <p:sp>
          <p:nvSpPr>
            <p:cNvPr id="31779" name="Oval 35"/>
            <p:cNvSpPr>
              <a:spLocks noChangeArrowheads="1"/>
            </p:cNvSpPr>
            <p:nvPr/>
          </p:nvSpPr>
          <p:spPr bwMode="auto">
            <a:xfrm>
              <a:off x="2208" y="904"/>
              <a:ext cx="1344" cy="134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00CC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80" name="Oval 36"/>
            <p:cNvSpPr>
              <a:spLocks noChangeArrowheads="1"/>
            </p:cNvSpPr>
            <p:nvPr/>
          </p:nvSpPr>
          <p:spPr bwMode="auto">
            <a:xfrm>
              <a:off x="2592" y="1288"/>
              <a:ext cx="576" cy="5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81" name="Line 37"/>
            <p:cNvSpPr>
              <a:spLocks noChangeShapeType="1"/>
            </p:cNvSpPr>
            <p:nvPr/>
          </p:nvSpPr>
          <p:spPr bwMode="auto">
            <a:xfrm>
              <a:off x="2496" y="1048"/>
              <a:ext cx="19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82" name="Line 38"/>
            <p:cNvSpPr>
              <a:spLocks noChangeShapeType="1"/>
            </p:cNvSpPr>
            <p:nvPr/>
          </p:nvSpPr>
          <p:spPr bwMode="auto">
            <a:xfrm>
              <a:off x="3024" y="1816"/>
              <a:ext cx="24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83" name="Line 39"/>
            <p:cNvSpPr>
              <a:spLocks noChangeShapeType="1"/>
            </p:cNvSpPr>
            <p:nvPr/>
          </p:nvSpPr>
          <p:spPr bwMode="auto">
            <a:xfrm flipH="1">
              <a:off x="3024" y="1000"/>
              <a:ext cx="19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84" name="Line 40"/>
            <p:cNvSpPr>
              <a:spLocks noChangeShapeType="1"/>
            </p:cNvSpPr>
            <p:nvPr/>
          </p:nvSpPr>
          <p:spPr bwMode="auto">
            <a:xfrm flipH="1">
              <a:off x="2544" y="1816"/>
              <a:ext cx="19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85" name="Line 41"/>
            <p:cNvSpPr>
              <a:spLocks noChangeShapeType="1"/>
            </p:cNvSpPr>
            <p:nvPr/>
          </p:nvSpPr>
          <p:spPr bwMode="auto">
            <a:xfrm>
              <a:off x="2208" y="1576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86" name="Line 42"/>
            <p:cNvSpPr>
              <a:spLocks noChangeShapeType="1"/>
            </p:cNvSpPr>
            <p:nvPr/>
          </p:nvSpPr>
          <p:spPr bwMode="auto">
            <a:xfrm>
              <a:off x="3168" y="1576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87" name="Text Box 43"/>
            <p:cNvSpPr txBox="1">
              <a:spLocks noChangeArrowheads="1"/>
            </p:cNvSpPr>
            <p:nvPr/>
          </p:nvSpPr>
          <p:spPr bwMode="auto">
            <a:xfrm>
              <a:off x="2980" y="1336"/>
              <a:ext cx="23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/>
                <a:t>0 </a:t>
              </a:r>
            </a:p>
          </p:txBody>
        </p:sp>
        <p:sp>
          <p:nvSpPr>
            <p:cNvPr id="31788" name="Text Box 44"/>
            <p:cNvSpPr txBox="1">
              <a:spLocks noChangeArrowheads="1"/>
            </p:cNvSpPr>
            <p:nvPr/>
          </p:nvSpPr>
          <p:spPr bwMode="auto">
            <a:xfrm>
              <a:off x="2976" y="1566"/>
              <a:ext cx="23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/>
                <a:t>1 </a:t>
              </a:r>
            </a:p>
          </p:txBody>
        </p:sp>
        <p:sp>
          <p:nvSpPr>
            <p:cNvPr id="31789" name="Text Box 45"/>
            <p:cNvSpPr txBox="1">
              <a:spLocks noChangeArrowheads="1"/>
            </p:cNvSpPr>
            <p:nvPr/>
          </p:nvSpPr>
          <p:spPr bwMode="auto">
            <a:xfrm>
              <a:off x="2784" y="1662"/>
              <a:ext cx="23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/>
                <a:t>2 </a:t>
              </a:r>
            </a:p>
          </p:txBody>
        </p:sp>
        <p:sp>
          <p:nvSpPr>
            <p:cNvPr id="31790" name="Text Box 46"/>
            <p:cNvSpPr txBox="1">
              <a:spLocks noChangeArrowheads="1"/>
            </p:cNvSpPr>
            <p:nvPr/>
          </p:nvSpPr>
          <p:spPr bwMode="auto">
            <a:xfrm>
              <a:off x="2592" y="1566"/>
              <a:ext cx="23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/>
                <a:t>3 </a:t>
              </a:r>
            </a:p>
          </p:txBody>
        </p:sp>
        <p:sp>
          <p:nvSpPr>
            <p:cNvPr id="31791" name="Text Box 47"/>
            <p:cNvSpPr txBox="1">
              <a:spLocks noChangeArrowheads="1"/>
            </p:cNvSpPr>
            <p:nvPr/>
          </p:nvSpPr>
          <p:spPr bwMode="auto">
            <a:xfrm>
              <a:off x="2596" y="1336"/>
              <a:ext cx="23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/>
                <a:t>4 </a:t>
              </a:r>
            </a:p>
          </p:txBody>
        </p:sp>
        <p:sp>
          <p:nvSpPr>
            <p:cNvPr id="31792" name="Text Box 48"/>
            <p:cNvSpPr txBox="1">
              <a:spLocks noChangeArrowheads="1"/>
            </p:cNvSpPr>
            <p:nvPr/>
          </p:nvSpPr>
          <p:spPr bwMode="auto">
            <a:xfrm>
              <a:off x="2784" y="1240"/>
              <a:ext cx="23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/>
                <a:t>5 </a:t>
              </a:r>
            </a:p>
          </p:txBody>
        </p:sp>
        <p:sp>
          <p:nvSpPr>
            <p:cNvPr id="31811" name="Text Box 67"/>
            <p:cNvSpPr txBox="1">
              <a:spLocks noChangeArrowheads="1"/>
            </p:cNvSpPr>
            <p:nvPr/>
          </p:nvSpPr>
          <p:spPr bwMode="auto">
            <a:xfrm>
              <a:off x="2736" y="921"/>
              <a:ext cx="34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J5</a:t>
              </a:r>
              <a:r>
                <a:rPr lang="en-US" altLang="zh-CN" sz="2000"/>
                <a:t> </a:t>
              </a:r>
            </a:p>
          </p:txBody>
        </p:sp>
        <p:sp>
          <p:nvSpPr>
            <p:cNvPr id="31812" name="Text Box 68"/>
            <p:cNvSpPr txBox="1">
              <a:spLocks noChangeArrowheads="1"/>
            </p:cNvSpPr>
            <p:nvPr/>
          </p:nvSpPr>
          <p:spPr bwMode="auto">
            <a:xfrm>
              <a:off x="2292" y="1192"/>
              <a:ext cx="34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J4</a:t>
              </a:r>
              <a:r>
                <a:rPr lang="en-US" altLang="zh-CN" sz="2000"/>
                <a:t> </a:t>
              </a:r>
            </a:p>
          </p:txBody>
        </p:sp>
        <p:sp>
          <p:nvSpPr>
            <p:cNvPr id="31813" name="Text Box 69"/>
            <p:cNvSpPr txBox="1">
              <a:spLocks noChangeArrowheads="1"/>
            </p:cNvSpPr>
            <p:nvPr/>
          </p:nvSpPr>
          <p:spPr bwMode="auto">
            <a:xfrm>
              <a:off x="2304" y="1672"/>
              <a:ext cx="34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J3</a:t>
              </a:r>
              <a:r>
                <a:rPr lang="en-US" altLang="zh-CN" sz="2000"/>
                <a:t> </a:t>
              </a:r>
            </a:p>
          </p:txBody>
        </p:sp>
        <p:sp>
          <p:nvSpPr>
            <p:cNvPr id="31814" name="Text Box 70"/>
            <p:cNvSpPr txBox="1">
              <a:spLocks noChangeArrowheads="1"/>
            </p:cNvSpPr>
            <p:nvPr/>
          </p:nvSpPr>
          <p:spPr bwMode="auto">
            <a:xfrm>
              <a:off x="1868" y="2104"/>
              <a:ext cx="58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front </a:t>
              </a:r>
            </a:p>
          </p:txBody>
        </p:sp>
        <p:sp>
          <p:nvSpPr>
            <p:cNvPr id="31815" name="Line 71"/>
            <p:cNvSpPr>
              <a:spLocks noChangeShapeType="1"/>
            </p:cNvSpPr>
            <p:nvPr/>
          </p:nvSpPr>
          <p:spPr bwMode="auto">
            <a:xfrm flipV="1">
              <a:off x="2112" y="1960"/>
              <a:ext cx="19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16" name="Text Box 72"/>
            <p:cNvSpPr txBox="1">
              <a:spLocks noChangeArrowheads="1"/>
            </p:cNvSpPr>
            <p:nvPr/>
          </p:nvSpPr>
          <p:spPr bwMode="auto">
            <a:xfrm>
              <a:off x="3373" y="664"/>
              <a:ext cx="51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rear </a:t>
              </a:r>
            </a:p>
          </p:txBody>
        </p:sp>
        <p:sp>
          <p:nvSpPr>
            <p:cNvPr id="31817" name="Line 73"/>
            <p:cNvSpPr>
              <a:spLocks noChangeShapeType="1"/>
            </p:cNvSpPr>
            <p:nvPr/>
          </p:nvSpPr>
          <p:spPr bwMode="auto">
            <a:xfrm flipH="1">
              <a:off x="3456" y="904"/>
              <a:ext cx="19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1835" name="Group 91"/>
          <p:cNvGrpSpPr>
            <a:grpSpLocks/>
          </p:cNvGrpSpPr>
          <p:nvPr/>
        </p:nvGrpSpPr>
        <p:grpSpPr bwMode="auto">
          <a:xfrm>
            <a:off x="6743700" y="1435100"/>
            <a:ext cx="3048000" cy="2590800"/>
            <a:chOff x="3504" y="904"/>
            <a:chExt cx="1920" cy="1632"/>
          </a:xfrm>
        </p:grpSpPr>
        <p:sp>
          <p:nvSpPr>
            <p:cNvPr id="31793" name="Oval 49"/>
            <p:cNvSpPr>
              <a:spLocks noChangeArrowheads="1"/>
            </p:cNvSpPr>
            <p:nvPr/>
          </p:nvSpPr>
          <p:spPr bwMode="auto">
            <a:xfrm>
              <a:off x="4080" y="904"/>
              <a:ext cx="1344" cy="1344"/>
            </a:xfrm>
            <a:prstGeom prst="ellipse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94" name="Oval 50"/>
            <p:cNvSpPr>
              <a:spLocks noChangeArrowheads="1"/>
            </p:cNvSpPr>
            <p:nvPr/>
          </p:nvSpPr>
          <p:spPr bwMode="auto">
            <a:xfrm>
              <a:off x="4464" y="1288"/>
              <a:ext cx="576" cy="5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95" name="Line 51"/>
            <p:cNvSpPr>
              <a:spLocks noChangeShapeType="1"/>
            </p:cNvSpPr>
            <p:nvPr/>
          </p:nvSpPr>
          <p:spPr bwMode="auto">
            <a:xfrm>
              <a:off x="4368" y="1048"/>
              <a:ext cx="19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96" name="Line 52"/>
            <p:cNvSpPr>
              <a:spLocks noChangeShapeType="1"/>
            </p:cNvSpPr>
            <p:nvPr/>
          </p:nvSpPr>
          <p:spPr bwMode="auto">
            <a:xfrm>
              <a:off x="4896" y="1816"/>
              <a:ext cx="24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97" name="Line 53"/>
            <p:cNvSpPr>
              <a:spLocks noChangeShapeType="1"/>
            </p:cNvSpPr>
            <p:nvPr/>
          </p:nvSpPr>
          <p:spPr bwMode="auto">
            <a:xfrm flipH="1">
              <a:off x="4896" y="1000"/>
              <a:ext cx="19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98" name="Line 54"/>
            <p:cNvSpPr>
              <a:spLocks noChangeShapeType="1"/>
            </p:cNvSpPr>
            <p:nvPr/>
          </p:nvSpPr>
          <p:spPr bwMode="auto">
            <a:xfrm flipH="1">
              <a:off x="4416" y="1816"/>
              <a:ext cx="19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99" name="Line 55"/>
            <p:cNvSpPr>
              <a:spLocks noChangeShapeType="1"/>
            </p:cNvSpPr>
            <p:nvPr/>
          </p:nvSpPr>
          <p:spPr bwMode="auto">
            <a:xfrm>
              <a:off x="4080" y="1576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00" name="Line 56"/>
            <p:cNvSpPr>
              <a:spLocks noChangeShapeType="1"/>
            </p:cNvSpPr>
            <p:nvPr/>
          </p:nvSpPr>
          <p:spPr bwMode="auto">
            <a:xfrm>
              <a:off x="5040" y="1576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01" name="Text Box 57"/>
            <p:cNvSpPr txBox="1">
              <a:spLocks noChangeArrowheads="1"/>
            </p:cNvSpPr>
            <p:nvPr/>
          </p:nvSpPr>
          <p:spPr bwMode="auto">
            <a:xfrm>
              <a:off x="4852" y="1336"/>
              <a:ext cx="23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/>
                <a:t>0 </a:t>
              </a:r>
            </a:p>
          </p:txBody>
        </p:sp>
        <p:sp>
          <p:nvSpPr>
            <p:cNvPr id="31802" name="Text Box 58"/>
            <p:cNvSpPr txBox="1">
              <a:spLocks noChangeArrowheads="1"/>
            </p:cNvSpPr>
            <p:nvPr/>
          </p:nvSpPr>
          <p:spPr bwMode="auto">
            <a:xfrm>
              <a:off x="4848" y="1566"/>
              <a:ext cx="23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/>
                <a:t>1 </a:t>
              </a:r>
            </a:p>
          </p:txBody>
        </p:sp>
        <p:sp>
          <p:nvSpPr>
            <p:cNvPr id="31803" name="Text Box 59"/>
            <p:cNvSpPr txBox="1">
              <a:spLocks noChangeArrowheads="1"/>
            </p:cNvSpPr>
            <p:nvPr/>
          </p:nvSpPr>
          <p:spPr bwMode="auto">
            <a:xfrm>
              <a:off x="4656" y="1662"/>
              <a:ext cx="23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/>
                <a:t>2 </a:t>
              </a:r>
            </a:p>
          </p:txBody>
        </p:sp>
        <p:sp>
          <p:nvSpPr>
            <p:cNvPr id="31804" name="Text Box 60"/>
            <p:cNvSpPr txBox="1">
              <a:spLocks noChangeArrowheads="1"/>
            </p:cNvSpPr>
            <p:nvPr/>
          </p:nvSpPr>
          <p:spPr bwMode="auto">
            <a:xfrm>
              <a:off x="4464" y="1566"/>
              <a:ext cx="23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/>
                <a:t>3 </a:t>
              </a:r>
            </a:p>
          </p:txBody>
        </p:sp>
        <p:sp>
          <p:nvSpPr>
            <p:cNvPr id="31805" name="Text Box 61"/>
            <p:cNvSpPr txBox="1">
              <a:spLocks noChangeArrowheads="1"/>
            </p:cNvSpPr>
            <p:nvPr/>
          </p:nvSpPr>
          <p:spPr bwMode="auto">
            <a:xfrm>
              <a:off x="4468" y="1336"/>
              <a:ext cx="23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/>
                <a:t>4 </a:t>
              </a:r>
            </a:p>
          </p:txBody>
        </p:sp>
        <p:sp>
          <p:nvSpPr>
            <p:cNvPr id="31806" name="Text Box 62"/>
            <p:cNvSpPr txBox="1">
              <a:spLocks noChangeArrowheads="1"/>
            </p:cNvSpPr>
            <p:nvPr/>
          </p:nvSpPr>
          <p:spPr bwMode="auto">
            <a:xfrm>
              <a:off x="4656" y="1240"/>
              <a:ext cx="23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/>
                <a:t>5 </a:t>
              </a:r>
            </a:p>
          </p:txBody>
        </p:sp>
        <p:sp>
          <p:nvSpPr>
            <p:cNvPr id="31818" name="Text Box 74"/>
            <p:cNvSpPr txBox="1">
              <a:spLocks noChangeArrowheads="1"/>
            </p:cNvSpPr>
            <p:nvPr/>
          </p:nvSpPr>
          <p:spPr bwMode="auto">
            <a:xfrm>
              <a:off x="4620" y="952"/>
              <a:ext cx="34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J5</a:t>
              </a:r>
              <a:r>
                <a:rPr lang="en-US" altLang="zh-CN" sz="2000"/>
                <a:t> </a:t>
              </a:r>
            </a:p>
          </p:txBody>
        </p:sp>
        <p:sp>
          <p:nvSpPr>
            <p:cNvPr id="31819" name="Text Box 75"/>
            <p:cNvSpPr txBox="1">
              <a:spLocks noChangeArrowheads="1"/>
            </p:cNvSpPr>
            <p:nvPr/>
          </p:nvSpPr>
          <p:spPr bwMode="auto">
            <a:xfrm>
              <a:off x="4176" y="1223"/>
              <a:ext cx="34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J4</a:t>
              </a:r>
              <a:r>
                <a:rPr lang="en-US" altLang="zh-CN" sz="2000"/>
                <a:t> </a:t>
              </a:r>
            </a:p>
          </p:txBody>
        </p:sp>
        <p:sp>
          <p:nvSpPr>
            <p:cNvPr id="31820" name="Text Box 76"/>
            <p:cNvSpPr txBox="1">
              <a:spLocks noChangeArrowheads="1"/>
            </p:cNvSpPr>
            <p:nvPr/>
          </p:nvSpPr>
          <p:spPr bwMode="auto">
            <a:xfrm>
              <a:off x="4188" y="1703"/>
              <a:ext cx="34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J3</a:t>
              </a:r>
              <a:r>
                <a:rPr lang="en-US" altLang="zh-CN" sz="2000"/>
                <a:t> </a:t>
              </a:r>
            </a:p>
          </p:txBody>
        </p:sp>
        <p:sp>
          <p:nvSpPr>
            <p:cNvPr id="31821" name="Text Box 77"/>
            <p:cNvSpPr txBox="1">
              <a:spLocks noChangeArrowheads="1"/>
            </p:cNvSpPr>
            <p:nvPr/>
          </p:nvSpPr>
          <p:spPr bwMode="auto">
            <a:xfrm>
              <a:off x="5028" y="1192"/>
              <a:ext cx="34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J6</a:t>
              </a:r>
              <a:r>
                <a:rPr lang="en-US" altLang="zh-CN" sz="2000"/>
                <a:t> </a:t>
              </a:r>
            </a:p>
          </p:txBody>
        </p:sp>
        <p:sp>
          <p:nvSpPr>
            <p:cNvPr id="31822" name="Text Box 78"/>
            <p:cNvSpPr txBox="1">
              <a:spLocks noChangeArrowheads="1"/>
            </p:cNvSpPr>
            <p:nvPr/>
          </p:nvSpPr>
          <p:spPr bwMode="auto">
            <a:xfrm>
              <a:off x="5028" y="1624"/>
              <a:ext cx="34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J7</a:t>
              </a:r>
              <a:r>
                <a:rPr lang="en-US" altLang="zh-CN" sz="2000"/>
                <a:t> </a:t>
              </a:r>
            </a:p>
          </p:txBody>
        </p:sp>
        <p:sp>
          <p:nvSpPr>
            <p:cNvPr id="31823" name="Text Box 79"/>
            <p:cNvSpPr txBox="1">
              <a:spLocks noChangeArrowheads="1"/>
            </p:cNvSpPr>
            <p:nvPr/>
          </p:nvSpPr>
          <p:spPr bwMode="auto">
            <a:xfrm>
              <a:off x="4608" y="1912"/>
              <a:ext cx="34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J8</a:t>
              </a:r>
              <a:r>
                <a:rPr lang="en-US" altLang="zh-CN" sz="2000"/>
                <a:t> </a:t>
              </a:r>
            </a:p>
          </p:txBody>
        </p:sp>
        <p:sp>
          <p:nvSpPr>
            <p:cNvPr id="31824" name="Text Box 80"/>
            <p:cNvSpPr txBox="1">
              <a:spLocks noChangeArrowheads="1"/>
            </p:cNvSpPr>
            <p:nvPr/>
          </p:nvSpPr>
          <p:spPr bwMode="auto">
            <a:xfrm>
              <a:off x="3504" y="2056"/>
              <a:ext cx="58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rgbClr val="0000FF"/>
                  </a:solidFill>
                </a:rPr>
                <a:t>front</a:t>
              </a:r>
              <a:r>
                <a:rPr lang="en-US" altLang="zh-CN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</a:t>
              </a:r>
            </a:p>
          </p:txBody>
        </p:sp>
        <p:sp>
          <p:nvSpPr>
            <p:cNvPr id="31826" name="Line 82"/>
            <p:cNvSpPr>
              <a:spLocks noChangeShapeType="1"/>
            </p:cNvSpPr>
            <p:nvPr/>
          </p:nvSpPr>
          <p:spPr bwMode="auto">
            <a:xfrm flipV="1">
              <a:off x="3744" y="1864"/>
              <a:ext cx="38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27" name="Text Box 83"/>
            <p:cNvSpPr txBox="1">
              <a:spLocks noChangeArrowheads="1"/>
            </p:cNvSpPr>
            <p:nvPr/>
          </p:nvSpPr>
          <p:spPr bwMode="auto">
            <a:xfrm>
              <a:off x="3997" y="2248"/>
              <a:ext cx="51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rgbClr val="0000FF"/>
                  </a:solidFill>
                </a:rPr>
                <a:t>rear </a:t>
              </a:r>
            </a:p>
          </p:txBody>
        </p:sp>
        <p:sp>
          <p:nvSpPr>
            <p:cNvPr id="31828" name="Line 84"/>
            <p:cNvSpPr>
              <a:spLocks noChangeShapeType="1"/>
            </p:cNvSpPr>
            <p:nvPr/>
          </p:nvSpPr>
          <p:spPr bwMode="auto">
            <a:xfrm flipV="1">
              <a:off x="4224" y="2056"/>
              <a:ext cx="4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1830" name="Text Box 86"/>
          <p:cNvSpPr txBox="1">
            <a:spLocks noChangeArrowheads="1"/>
          </p:cNvSpPr>
          <p:nvPr/>
        </p:nvSpPr>
        <p:spPr bwMode="auto">
          <a:xfrm>
            <a:off x="2243138" y="4067175"/>
            <a:ext cx="6832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注：</a:t>
            </a:r>
            <a:r>
              <a:rPr lang="zh-CN" altLang="en-US">
                <a:ea typeface="华文中宋" pitchFamily="2" charset="-122"/>
              </a:rPr>
              <a:t>仅凭 </a:t>
            </a:r>
            <a:r>
              <a:rPr lang="en-US" altLang="zh-CN">
                <a:ea typeface="华文中宋" pitchFamily="2" charset="-122"/>
              </a:rPr>
              <a:t>front = rear </a:t>
            </a:r>
            <a:r>
              <a:rPr lang="zh-CN" altLang="en-US">
                <a:ea typeface="华文中宋" pitchFamily="2" charset="-122"/>
              </a:rPr>
              <a:t>不能判定队列是</a:t>
            </a:r>
            <a:r>
              <a:rPr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空</a:t>
            </a:r>
            <a:r>
              <a:rPr lang="zh-CN" altLang="en-US">
                <a:ea typeface="华文中宋" pitchFamily="2" charset="-122"/>
              </a:rPr>
              <a:t>还是</a:t>
            </a:r>
            <a:r>
              <a:rPr lang="zh-CN" altLang="en-US">
                <a:solidFill>
                  <a:srgbClr val="0000FF"/>
                </a:solidFill>
                <a:ea typeface="华文中宋" pitchFamily="2" charset="-122"/>
              </a:rPr>
              <a:t>满</a:t>
            </a:r>
            <a:r>
              <a:rPr lang="zh-CN" altLang="en-US">
                <a:ea typeface="华文中宋" pitchFamily="2" charset="-122"/>
              </a:rPr>
              <a:t>。 </a:t>
            </a:r>
          </a:p>
        </p:txBody>
      </p:sp>
      <p:sp>
        <p:nvSpPr>
          <p:cNvPr id="31831" name="Freeform 87"/>
          <p:cNvSpPr>
            <a:spLocks/>
          </p:cNvSpPr>
          <p:nvPr/>
        </p:nvSpPr>
        <p:spPr bwMode="auto">
          <a:xfrm>
            <a:off x="3998913" y="3509963"/>
            <a:ext cx="3536950" cy="641350"/>
          </a:xfrm>
          <a:custGeom>
            <a:avLst/>
            <a:gdLst/>
            <a:ahLst/>
            <a:cxnLst>
              <a:cxn ang="0">
                <a:pos x="2228" y="404"/>
              </a:cxn>
              <a:cxn ang="0">
                <a:pos x="804" y="279"/>
              </a:cxn>
              <a:cxn ang="0">
                <a:pos x="313" y="203"/>
              </a:cxn>
              <a:cxn ang="0">
                <a:pos x="0" y="0"/>
              </a:cxn>
            </a:cxnLst>
            <a:rect l="0" t="0" r="r" b="b"/>
            <a:pathLst>
              <a:path w="2228" h="404">
                <a:moveTo>
                  <a:pt x="2228" y="404"/>
                </a:moveTo>
                <a:lnTo>
                  <a:pt x="804" y="279"/>
                </a:lnTo>
                <a:lnTo>
                  <a:pt x="313" y="203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1832" name="Line 88"/>
          <p:cNvSpPr>
            <a:spLocks noChangeShapeType="1"/>
          </p:cNvSpPr>
          <p:nvPr/>
        </p:nvSpPr>
        <p:spPr bwMode="auto">
          <a:xfrm flipV="1">
            <a:off x="8543926" y="3573463"/>
            <a:ext cx="144463" cy="576262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1833" name="Text Box 89"/>
          <p:cNvSpPr txBox="1">
            <a:spLocks noChangeArrowheads="1"/>
          </p:cNvSpPr>
          <p:nvPr/>
        </p:nvSpPr>
        <p:spPr bwMode="auto">
          <a:xfrm>
            <a:off x="2243139" y="4608513"/>
            <a:ext cx="8417689" cy="1865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0000FF"/>
                </a:solidFill>
                <a:ea typeface="华文中宋" pitchFamily="2" charset="-122"/>
              </a:rPr>
              <a:t>解决办法：</a:t>
            </a:r>
            <a:r>
              <a:rPr lang="zh-CN" altLang="en-US" dirty="0">
                <a:solidFill>
                  <a:srgbClr val="0000FF"/>
                </a:solidFill>
                <a:ea typeface="华文新魏" pitchFamily="2" charset="-122"/>
              </a:rPr>
              <a:t> </a:t>
            </a:r>
            <a:r>
              <a:rPr lang="en-US" altLang="zh-CN" dirty="0">
                <a:ea typeface="华文新魏" pitchFamily="2" charset="-122"/>
              </a:rPr>
              <a:t>(1)</a:t>
            </a:r>
            <a:r>
              <a:rPr lang="zh-CN" altLang="en-US" dirty="0">
                <a:ea typeface="华文新魏" pitchFamily="2" charset="-122"/>
              </a:rPr>
              <a:t>、</a:t>
            </a:r>
            <a:r>
              <a:rPr kumimoji="0" lang="zh-CN" altLang="en-US" dirty="0">
                <a:ea typeface="华文新魏" pitchFamily="2" charset="-122"/>
              </a:rPr>
              <a:t>另设一个布尔变量以区别队列的空和满</a:t>
            </a:r>
            <a:r>
              <a:rPr kumimoji="0" lang="en-US" altLang="zh-CN" dirty="0">
                <a:ea typeface="华文新魏" pitchFamily="2" charset="-122"/>
              </a:rPr>
              <a:t>(</a:t>
            </a:r>
            <a:r>
              <a:rPr kumimoji="0" lang="zh-CN" altLang="en-US" dirty="0">
                <a:ea typeface="华文新魏" pitchFamily="2" charset="-122"/>
              </a:rPr>
              <a:t>使用</a:t>
            </a:r>
            <a:endParaRPr kumimoji="0" lang="en-US" altLang="zh-CN" dirty="0">
              <a:ea typeface="华文新魏" pitchFamily="2" charset="-122"/>
            </a:endParaRPr>
          </a:p>
          <a:p>
            <a:pPr>
              <a:lnSpc>
                <a:spcPct val="120000"/>
              </a:lnSpc>
            </a:pPr>
            <a:r>
              <a:rPr kumimoji="0" lang="zh-CN" altLang="en-US" dirty="0">
                <a:ea typeface="华文新魏" pitchFamily="2" charset="-122"/>
              </a:rPr>
              <a:t>一个计数器记录队列中元素的总数。</a:t>
            </a:r>
            <a:r>
              <a:rPr kumimoji="0" lang="en-US" altLang="zh-CN" dirty="0">
                <a:ea typeface="华文新魏" pitchFamily="2" charset="-122"/>
              </a:rPr>
              <a:t>)</a:t>
            </a:r>
            <a:r>
              <a:rPr kumimoji="0" lang="zh-CN" altLang="en-US" dirty="0">
                <a:ea typeface="华文新魏" pitchFamily="2" charset="-122"/>
              </a:rPr>
              <a:t>；</a:t>
            </a:r>
            <a:endParaRPr lang="en-US" altLang="zh-CN" dirty="0">
              <a:ea typeface="华文新魏" pitchFamily="2" charset="-122"/>
            </a:endParaRPr>
          </a:p>
          <a:p>
            <a:pPr>
              <a:lnSpc>
                <a:spcPct val="120000"/>
              </a:lnSpc>
            </a:pPr>
            <a:r>
              <a:rPr kumimoji="0" lang="en-US" altLang="zh-CN" dirty="0">
                <a:ea typeface="华文新魏" pitchFamily="2" charset="-122"/>
              </a:rPr>
              <a:t>(2)</a:t>
            </a:r>
            <a:r>
              <a:rPr kumimoji="0" lang="zh-CN" altLang="en-US" dirty="0">
                <a:ea typeface="华文新魏" pitchFamily="2" charset="-122"/>
              </a:rPr>
              <a:t>、少用一个元素的空间，约定入队前测试尾指针在循环 </a:t>
            </a:r>
          </a:p>
          <a:p>
            <a:pPr>
              <a:lnSpc>
                <a:spcPct val="120000"/>
              </a:lnSpc>
            </a:pPr>
            <a:r>
              <a:rPr kumimoji="0" lang="zh-CN" altLang="en-US" dirty="0">
                <a:ea typeface="华文新魏" pitchFamily="2" charset="-122"/>
              </a:rPr>
              <a:t>         意义下加 </a:t>
            </a:r>
            <a:r>
              <a:rPr kumimoji="0" lang="en-US" altLang="zh-CN" dirty="0">
                <a:ea typeface="华文新魏" pitchFamily="2" charset="-122"/>
              </a:rPr>
              <a:t>1 </a:t>
            </a:r>
            <a:r>
              <a:rPr kumimoji="0" lang="zh-CN" altLang="en-US" dirty="0">
                <a:ea typeface="华文新魏" pitchFamily="2" charset="-122"/>
              </a:rPr>
              <a:t>后是否等于头指针，若相等则认为队满；</a:t>
            </a:r>
            <a:r>
              <a:rPr lang="zh-CN" altLang="en-US" dirty="0">
                <a:solidFill>
                  <a:srgbClr val="0000FF"/>
                </a:solidFill>
                <a:ea typeface="华文新魏" pitchFamily="2" charset="-122"/>
              </a:rPr>
              <a:t> </a:t>
            </a: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2000"/>
                                        <p:tgtEl>
                                          <p:spTgt spid="31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31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31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1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18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18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18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18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830" grpId="0" autoUpdateAnimBg="0"/>
      <p:bldP spid="31831" grpId="0" animBg="1"/>
      <p:bldP spid="31832" grpId="0" animBg="1"/>
      <p:bldP spid="31833" grpId="0" build="p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8" name="Text Box 4"/>
          <p:cNvSpPr txBox="1">
            <a:spLocks noChangeArrowheads="1"/>
          </p:cNvSpPr>
          <p:nvPr/>
        </p:nvSpPr>
        <p:spPr bwMode="auto">
          <a:xfrm>
            <a:off x="2317751" y="1260476"/>
            <a:ext cx="7307263" cy="447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lnSpc>
                <a:spcPct val="150000"/>
              </a:lnSpc>
            </a:pPr>
            <a:r>
              <a:rPr lang="en-US" altLang="zh-CN"/>
              <a:t>#define MAXQSIZE  100        //</a:t>
            </a:r>
            <a:r>
              <a:rPr lang="zh-CN" altLang="en-US"/>
              <a:t>最大队列长度  </a:t>
            </a:r>
          </a:p>
          <a:p>
            <a:pPr eaLnBrk="0" hangingPunct="0">
              <a:lnSpc>
                <a:spcPct val="150000"/>
              </a:lnSpc>
            </a:pPr>
            <a:r>
              <a:rPr lang="zh-CN" altLang="en-US"/>
              <a:t>  </a:t>
            </a:r>
            <a:r>
              <a:rPr lang="en-US" altLang="zh-CN"/>
              <a:t>typedef struct {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zh-CN"/>
              <a:t>      QElemType  *base;            // </a:t>
            </a:r>
            <a:r>
              <a:rPr lang="zh-CN" altLang="en-US"/>
              <a:t>预分配存储空间基址 </a:t>
            </a:r>
          </a:p>
          <a:p>
            <a:pPr eaLnBrk="0" hangingPunct="0">
              <a:lnSpc>
                <a:spcPct val="150000"/>
              </a:lnSpc>
            </a:pPr>
            <a:r>
              <a:rPr lang="zh-CN" altLang="en-US"/>
              <a:t>      </a:t>
            </a:r>
            <a:r>
              <a:rPr lang="en-US" altLang="zh-CN"/>
              <a:t>int  front;             // </a:t>
            </a:r>
            <a:r>
              <a:rPr lang="zh-CN" altLang="en-US"/>
              <a:t>头指针，若队列不空， </a:t>
            </a:r>
          </a:p>
          <a:p>
            <a:pPr eaLnBrk="0" hangingPunct="0">
              <a:lnSpc>
                <a:spcPct val="150000"/>
              </a:lnSpc>
            </a:pPr>
            <a:r>
              <a:rPr lang="zh-CN" altLang="en-US"/>
              <a:t>                                    </a:t>
            </a:r>
            <a:r>
              <a:rPr lang="en-US" altLang="zh-CN"/>
              <a:t>// </a:t>
            </a:r>
            <a:r>
              <a:rPr lang="zh-CN" altLang="en-US"/>
              <a:t>指向队列头元素  </a:t>
            </a:r>
          </a:p>
          <a:p>
            <a:pPr eaLnBrk="0" hangingPunct="0">
              <a:lnSpc>
                <a:spcPct val="150000"/>
              </a:lnSpc>
            </a:pPr>
            <a:r>
              <a:rPr lang="zh-CN" altLang="en-US"/>
              <a:t>      </a:t>
            </a:r>
            <a:r>
              <a:rPr lang="en-US" altLang="zh-CN"/>
              <a:t>int  rear;               // </a:t>
            </a:r>
            <a:r>
              <a:rPr lang="zh-CN" altLang="en-US"/>
              <a:t>尾指针，若队列不空， </a:t>
            </a:r>
          </a:p>
          <a:p>
            <a:pPr eaLnBrk="0" hangingPunct="0">
              <a:lnSpc>
                <a:spcPct val="150000"/>
              </a:lnSpc>
            </a:pPr>
            <a:r>
              <a:rPr lang="zh-CN" altLang="en-US"/>
              <a:t>                                    </a:t>
            </a:r>
            <a:r>
              <a:rPr lang="en-US" altLang="zh-CN"/>
              <a:t>// </a:t>
            </a:r>
            <a:r>
              <a:rPr lang="zh-CN" altLang="en-US"/>
              <a:t>指向队列尾元素 的下一个位置 </a:t>
            </a:r>
          </a:p>
          <a:p>
            <a:pPr eaLnBrk="0" hangingPunct="0">
              <a:lnSpc>
                <a:spcPct val="150000"/>
              </a:lnSpc>
            </a:pPr>
            <a:r>
              <a:rPr lang="zh-CN" altLang="en-US"/>
              <a:t>  </a:t>
            </a:r>
            <a:r>
              <a:rPr lang="en-US" altLang="zh-CN"/>
              <a:t>} SqQueue; </a:t>
            </a:r>
          </a:p>
        </p:txBody>
      </p:sp>
      <p:sp>
        <p:nvSpPr>
          <p:cNvPr id="88069" name="Text Box 5"/>
          <p:cNvSpPr txBox="1">
            <a:spLocks noChangeArrowheads="1"/>
          </p:cNvSpPr>
          <p:nvPr/>
        </p:nvSpPr>
        <p:spPr bwMode="auto">
          <a:xfrm>
            <a:off x="2339975" y="708025"/>
            <a:ext cx="3308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ea typeface="华文中宋" pitchFamily="2" charset="-122"/>
              </a:rPr>
              <a:t>队列的顺序存储结构： </a:t>
            </a:r>
          </a:p>
        </p:txBody>
      </p:sp>
    </p:spTree>
  </p:cSld>
  <p:clrMapOvr>
    <a:masterClrMapping/>
  </p:clrMapOvr>
  <p:transition spd="slow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88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8" grpId="0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83" name="Text Box 15"/>
          <p:cNvSpPr txBox="1">
            <a:spLocks noChangeArrowheads="1"/>
          </p:cNvSpPr>
          <p:nvPr/>
        </p:nvSpPr>
        <p:spPr bwMode="auto">
          <a:xfrm>
            <a:off x="2354264" y="3600450"/>
            <a:ext cx="5109091" cy="2234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</a:pPr>
            <a:r>
              <a:rPr kumimoji="0" lang="zh-CN" altLang="en-US" dirty="0">
                <a:ea typeface="华文中宋" pitchFamily="2" charset="-122"/>
              </a:rPr>
              <a:t>循环意义下的加 </a:t>
            </a:r>
            <a:r>
              <a:rPr kumimoji="0" lang="en-US" altLang="zh-CN" dirty="0">
                <a:ea typeface="华文中宋" pitchFamily="2" charset="-122"/>
              </a:rPr>
              <a:t>1 </a:t>
            </a:r>
            <a:r>
              <a:rPr kumimoji="0" lang="zh-CN" altLang="en-US" dirty="0">
                <a:ea typeface="华文中宋" pitchFamily="2" charset="-122"/>
              </a:rPr>
              <a:t>操作可以描述为：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</a:pPr>
            <a:r>
              <a:rPr kumimoji="0" lang="zh-CN" altLang="en-US" dirty="0">
                <a:ea typeface="华文中宋" pitchFamily="2" charset="-122"/>
              </a:rPr>
              <a:t>    </a:t>
            </a:r>
            <a:r>
              <a:rPr kumimoji="0" lang="en-US" altLang="zh-CN" dirty="0">
                <a:ea typeface="华文中宋" pitchFamily="2" charset="-122"/>
              </a:rPr>
              <a:t>if (rear + 1 &gt;= </a:t>
            </a:r>
            <a:r>
              <a:rPr lang="en-US" altLang="zh-CN" dirty="0"/>
              <a:t>MAXQSIZE</a:t>
            </a:r>
            <a:r>
              <a:rPr kumimoji="0" lang="en-US" altLang="zh-CN" dirty="0">
                <a:ea typeface="华文中宋" pitchFamily="2" charset="-122"/>
              </a:rPr>
              <a:t>)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</a:pPr>
            <a:r>
              <a:rPr kumimoji="0" lang="en-US" altLang="zh-CN" dirty="0">
                <a:ea typeface="华文中宋" pitchFamily="2" charset="-122"/>
              </a:rPr>
              <a:t>           rear = 0;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</a:pPr>
            <a:r>
              <a:rPr kumimoji="0" lang="en-US" altLang="zh-CN" dirty="0">
                <a:ea typeface="华文中宋" pitchFamily="2" charset="-122"/>
              </a:rPr>
              <a:t>     else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</a:pPr>
            <a:r>
              <a:rPr kumimoji="0" lang="en-US" altLang="zh-CN" dirty="0">
                <a:ea typeface="华文中宋" pitchFamily="2" charset="-122"/>
              </a:rPr>
              <a:t>          rear ++; </a:t>
            </a:r>
          </a:p>
        </p:txBody>
      </p:sp>
      <p:sp>
        <p:nvSpPr>
          <p:cNvPr id="32785" name="Oval 17"/>
          <p:cNvSpPr>
            <a:spLocks noChangeArrowheads="1"/>
          </p:cNvSpPr>
          <p:nvPr/>
        </p:nvSpPr>
        <p:spPr bwMode="auto">
          <a:xfrm>
            <a:off x="5164138" y="922338"/>
            <a:ext cx="2133600" cy="213360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00CCFF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86" name="Oval 18"/>
          <p:cNvSpPr>
            <a:spLocks noChangeArrowheads="1"/>
          </p:cNvSpPr>
          <p:nvPr/>
        </p:nvSpPr>
        <p:spPr bwMode="auto">
          <a:xfrm>
            <a:off x="5773738" y="1531938"/>
            <a:ext cx="9144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87" name="Line 19"/>
          <p:cNvSpPr>
            <a:spLocks noChangeShapeType="1"/>
          </p:cNvSpPr>
          <p:nvPr/>
        </p:nvSpPr>
        <p:spPr bwMode="auto">
          <a:xfrm>
            <a:off x="5621338" y="1150938"/>
            <a:ext cx="304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2788" name="Line 20"/>
          <p:cNvSpPr>
            <a:spLocks noChangeShapeType="1"/>
          </p:cNvSpPr>
          <p:nvPr/>
        </p:nvSpPr>
        <p:spPr bwMode="auto">
          <a:xfrm>
            <a:off x="6459538" y="2370138"/>
            <a:ext cx="3810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2789" name="Line 21"/>
          <p:cNvSpPr>
            <a:spLocks noChangeShapeType="1"/>
          </p:cNvSpPr>
          <p:nvPr/>
        </p:nvSpPr>
        <p:spPr bwMode="auto">
          <a:xfrm flipH="1">
            <a:off x="6459538" y="1074738"/>
            <a:ext cx="304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2790" name="Line 22"/>
          <p:cNvSpPr>
            <a:spLocks noChangeShapeType="1"/>
          </p:cNvSpPr>
          <p:nvPr/>
        </p:nvSpPr>
        <p:spPr bwMode="auto">
          <a:xfrm flipH="1">
            <a:off x="5697538" y="2370138"/>
            <a:ext cx="304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2791" name="Line 23"/>
          <p:cNvSpPr>
            <a:spLocks noChangeShapeType="1"/>
          </p:cNvSpPr>
          <p:nvPr/>
        </p:nvSpPr>
        <p:spPr bwMode="auto">
          <a:xfrm>
            <a:off x="5164138" y="1989138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2792" name="Line 24"/>
          <p:cNvSpPr>
            <a:spLocks noChangeShapeType="1"/>
          </p:cNvSpPr>
          <p:nvPr/>
        </p:nvSpPr>
        <p:spPr bwMode="auto">
          <a:xfrm>
            <a:off x="6688138" y="1989138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2793" name="Text Box 25"/>
          <p:cNvSpPr txBox="1">
            <a:spLocks noChangeArrowheads="1"/>
          </p:cNvSpPr>
          <p:nvPr/>
        </p:nvSpPr>
        <p:spPr bwMode="auto">
          <a:xfrm>
            <a:off x="6389688" y="1608139"/>
            <a:ext cx="3746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/>
              <a:t>0 </a:t>
            </a:r>
          </a:p>
        </p:txBody>
      </p:sp>
      <p:sp>
        <p:nvSpPr>
          <p:cNvPr id="32794" name="Text Box 26"/>
          <p:cNvSpPr txBox="1">
            <a:spLocks noChangeArrowheads="1"/>
          </p:cNvSpPr>
          <p:nvPr/>
        </p:nvSpPr>
        <p:spPr bwMode="auto">
          <a:xfrm>
            <a:off x="6383338" y="1973264"/>
            <a:ext cx="3746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/>
              <a:t>1 </a:t>
            </a:r>
          </a:p>
        </p:txBody>
      </p:sp>
      <p:sp>
        <p:nvSpPr>
          <p:cNvPr id="32795" name="Text Box 27"/>
          <p:cNvSpPr txBox="1">
            <a:spLocks noChangeArrowheads="1"/>
          </p:cNvSpPr>
          <p:nvPr/>
        </p:nvSpPr>
        <p:spPr bwMode="auto">
          <a:xfrm>
            <a:off x="6078538" y="2125664"/>
            <a:ext cx="3746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/>
              <a:t>2 </a:t>
            </a:r>
          </a:p>
        </p:txBody>
      </p:sp>
      <p:sp>
        <p:nvSpPr>
          <p:cNvPr id="32796" name="Text Box 28"/>
          <p:cNvSpPr txBox="1">
            <a:spLocks noChangeArrowheads="1"/>
          </p:cNvSpPr>
          <p:nvPr/>
        </p:nvSpPr>
        <p:spPr bwMode="auto">
          <a:xfrm>
            <a:off x="5773738" y="1973264"/>
            <a:ext cx="3746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/>
              <a:t>3 </a:t>
            </a:r>
          </a:p>
        </p:txBody>
      </p:sp>
      <p:sp>
        <p:nvSpPr>
          <p:cNvPr id="32797" name="Text Box 29"/>
          <p:cNvSpPr txBox="1">
            <a:spLocks noChangeArrowheads="1"/>
          </p:cNvSpPr>
          <p:nvPr/>
        </p:nvSpPr>
        <p:spPr bwMode="auto">
          <a:xfrm>
            <a:off x="5780088" y="1608139"/>
            <a:ext cx="3746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/>
              <a:t>4 </a:t>
            </a:r>
          </a:p>
        </p:txBody>
      </p:sp>
      <p:sp>
        <p:nvSpPr>
          <p:cNvPr id="32798" name="Text Box 30"/>
          <p:cNvSpPr txBox="1">
            <a:spLocks noChangeArrowheads="1"/>
          </p:cNvSpPr>
          <p:nvPr/>
        </p:nvSpPr>
        <p:spPr bwMode="auto">
          <a:xfrm>
            <a:off x="6078538" y="1455739"/>
            <a:ext cx="3746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/>
              <a:t>5 </a:t>
            </a:r>
          </a:p>
        </p:txBody>
      </p:sp>
      <p:sp>
        <p:nvSpPr>
          <p:cNvPr id="32799" name="Text Box 31"/>
          <p:cNvSpPr txBox="1">
            <a:spLocks noChangeArrowheads="1"/>
          </p:cNvSpPr>
          <p:nvPr/>
        </p:nvSpPr>
        <p:spPr bwMode="auto">
          <a:xfrm>
            <a:off x="6002338" y="949325"/>
            <a:ext cx="5524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J5</a:t>
            </a:r>
            <a:r>
              <a:rPr lang="en-US" altLang="zh-CN" sz="2000"/>
              <a:t> </a:t>
            </a:r>
          </a:p>
        </p:txBody>
      </p:sp>
      <p:sp>
        <p:nvSpPr>
          <p:cNvPr id="32800" name="Text Box 32"/>
          <p:cNvSpPr txBox="1">
            <a:spLocks noChangeArrowheads="1"/>
          </p:cNvSpPr>
          <p:nvPr/>
        </p:nvSpPr>
        <p:spPr bwMode="auto">
          <a:xfrm>
            <a:off x="5297488" y="1379538"/>
            <a:ext cx="5524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J4</a:t>
            </a:r>
            <a:r>
              <a:rPr lang="en-US" altLang="zh-CN" sz="2000"/>
              <a:t> </a:t>
            </a:r>
          </a:p>
        </p:txBody>
      </p:sp>
      <p:sp>
        <p:nvSpPr>
          <p:cNvPr id="32801" name="Text Box 33"/>
          <p:cNvSpPr txBox="1">
            <a:spLocks noChangeArrowheads="1"/>
          </p:cNvSpPr>
          <p:nvPr/>
        </p:nvSpPr>
        <p:spPr bwMode="auto">
          <a:xfrm>
            <a:off x="5316538" y="2141538"/>
            <a:ext cx="5524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J3</a:t>
            </a:r>
            <a:r>
              <a:rPr lang="en-US" altLang="zh-CN" sz="2000"/>
              <a:t> </a:t>
            </a:r>
          </a:p>
        </p:txBody>
      </p:sp>
      <p:sp>
        <p:nvSpPr>
          <p:cNvPr id="32803" name="Text Box 35"/>
          <p:cNvSpPr txBox="1">
            <a:spLocks noChangeArrowheads="1"/>
          </p:cNvSpPr>
          <p:nvPr/>
        </p:nvSpPr>
        <p:spPr bwMode="auto">
          <a:xfrm>
            <a:off x="7013576" y="541338"/>
            <a:ext cx="8175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rear </a:t>
            </a:r>
          </a:p>
        </p:txBody>
      </p:sp>
      <p:sp>
        <p:nvSpPr>
          <p:cNvPr id="32804" name="Line 36"/>
          <p:cNvSpPr>
            <a:spLocks noChangeShapeType="1"/>
          </p:cNvSpPr>
          <p:nvPr/>
        </p:nvSpPr>
        <p:spPr bwMode="auto">
          <a:xfrm flipH="1">
            <a:off x="7145338" y="922338"/>
            <a:ext cx="304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2805" name="Text Box 37"/>
          <p:cNvSpPr txBox="1">
            <a:spLocks noChangeArrowheads="1"/>
          </p:cNvSpPr>
          <p:nvPr/>
        </p:nvSpPr>
        <p:spPr bwMode="auto">
          <a:xfrm>
            <a:off x="3792538" y="2827338"/>
            <a:ext cx="920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front </a:t>
            </a:r>
          </a:p>
        </p:txBody>
      </p:sp>
      <p:sp>
        <p:nvSpPr>
          <p:cNvPr id="32807" name="Line 39"/>
          <p:cNvSpPr>
            <a:spLocks noChangeShapeType="1"/>
          </p:cNvSpPr>
          <p:nvPr/>
        </p:nvSpPr>
        <p:spPr bwMode="auto">
          <a:xfrm flipV="1">
            <a:off x="4321175" y="2293938"/>
            <a:ext cx="838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2808" name="Rectangle 40"/>
          <p:cNvSpPr>
            <a:spLocks noChangeArrowheads="1"/>
          </p:cNvSpPr>
          <p:nvPr/>
        </p:nvSpPr>
        <p:spPr bwMode="auto">
          <a:xfrm>
            <a:off x="2279651" y="5924550"/>
            <a:ext cx="75469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</a:pPr>
            <a:r>
              <a:rPr kumimoji="0" lang="zh-CN" altLang="en-US">
                <a:ea typeface="华文中宋" pitchFamily="2" charset="-122"/>
              </a:rPr>
              <a:t>利用模运算可简化为：</a:t>
            </a:r>
            <a:r>
              <a:rPr kumimoji="0" lang="en-US" altLang="zh-CN">
                <a:ea typeface="华文中宋" pitchFamily="2" charset="-122"/>
              </a:rPr>
              <a:t>rear = (rear + 1)% </a:t>
            </a:r>
            <a:r>
              <a:rPr lang="en-US" altLang="zh-CN">
                <a:ea typeface="华文中宋" pitchFamily="2" charset="-122"/>
              </a:rPr>
              <a:t>MAXQSIZE </a:t>
            </a:r>
            <a:r>
              <a:rPr kumimoji="0" lang="en-US" altLang="zh-CN">
                <a:ea typeface="华文中宋" pitchFamily="2" charset="-122"/>
              </a:rPr>
              <a:t> </a:t>
            </a:r>
          </a:p>
        </p:txBody>
      </p:sp>
    </p:spTree>
  </p:cSld>
  <p:clrMapOvr>
    <a:masterClrMapping/>
  </p:clrMapOvr>
  <p:transition spd="slow"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808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4" name="Text Box 4"/>
          <p:cNvSpPr txBox="1">
            <a:spLocks noChangeArrowheads="1"/>
          </p:cNvSpPr>
          <p:nvPr/>
        </p:nvSpPr>
        <p:spPr bwMode="auto">
          <a:xfrm>
            <a:off x="2393950" y="1758951"/>
            <a:ext cx="7805738" cy="447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150000"/>
              </a:lnSpc>
            </a:pPr>
            <a:r>
              <a:rPr lang="en-US" altLang="zh-CN">
                <a:ea typeface="宋体" pitchFamily="2" charset="-122"/>
              </a:rPr>
              <a:t> Status InitQueue (SqQueue &amp;Q) 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zh-CN">
                <a:ea typeface="宋体" pitchFamily="2" charset="-122"/>
              </a:rPr>
              <a:t>{ // </a:t>
            </a:r>
            <a:r>
              <a:rPr lang="zh-CN" altLang="en-US"/>
              <a:t>构造一个空队列</a:t>
            </a:r>
            <a:r>
              <a:rPr lang="en-US" altLang="zh-CN">
                <a:ea typeface="宋体" pitchFamily="2" charset="-122"/>
              </a:rPr>
              <a:t>Q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zh-CN">
                <a:ea typeface="宋体" pitchFamily="2" charset="-122"/>
              </a:rPr>
              <a:t>   Q.base = (QElemType *) malloc 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zh-CN">
                <a:ea typeface="宋体" pitchFamily="2" charset="-122"/>
              </a:rPr>
              <a:t>                   (MAXQSIZE *sizeof (QElemType));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zh-CN">
                <a:ea typeface="宋体" pitchFamily="2" charset="-122"/>
              </a:rPr>
              <a:t>    if (!Q.base) exit (OVERFLOW);      // </a:t>
            </a:r>
            <a:r>
              <a:rPr lang="zh-CN" altLang="en-US"/>
              <a:t>存储分配失败</a:t>
            </a:r>
            <a:endParaRPr lang="zh-CN" altLang="en-US">
              <a:ea typeface="宋体" pitchFamily="2" charset="-122"/>
            </a:endParaRPr>
          </a:p>
          <a:p>
            <a:pPr eaLnBrk="0" hangingPunct="0">
              <a:lnSpc>
                <a:spcPct val="150000"/>
              </a:lnSpc>
            </a:pPr>
            <a:r>
              <a:rPr lang="zh-CN" altLang="en-US">
                <a:ea typeface="宋体" pitchFamily="2" charset="-122"/>
              </a:rPr>
              <a:t>    </a:t>
            </a:r>
            <a:r>
              <a:rPr lang="en-US" altLang="zh-CN">
                <a:ea typeface="宋体" pitchFamily="2" charset="-122"/>
              </a:rPr>
              <a:t>Q.front = Q.rear = 0;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zh-CN">
                <a:ea typeface="宋体" pitchFamily="2" charset="-122"/>
              </a:rPr>
              <a:t>    return OK;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zh-CN">
                <a:ea typeface="宋体" pitchFamily="2" charset="-122"/>
              </a:rPr>
              <a:t> }</a:t>
            </a:r>
          </a:p>
        </p:txBody>
      </p:sp>
      <p:sp>
        <p:nvSpPr>
          <p:cNvPr id="76805" name="Text Box 5"/>
          <p:cNvSpPr txBox="1">
            <a:spLocks noChangeArrowheads="1"/>
          </p:cNvSpPr>
          <p:nvPr/>
        </p:nvSpPr>
        <p:spPr bwMode="auto">
          <a:xfrm>
            <a:off x="2465389" y="620713"/>
            <a:ext cx="56610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latin typeface="华文中宋" pitchFamily="2" charset="-122"/>
                <a:ea typeface="华文中宋" pitchFamily="2" charset="-122"/>
              </a:rPr>
              <a:t>队列的基本操作在循环队列中的实现：   </a:t>
            </a:r>
          </a:p>
        </p:txBody>
      </p:sp>
      <p:sp>
        <p:nvSpPr>
          <p:cNvPr id="76806" name="Text Box 6"/>
          <p:cNvSpPr txBox="1">
            <a:spLocks noChangeArrowheads="1"/>
          </p:cNvSpPr>
          <p:nvPr/>
        </p:nvSpPr>
        <p:spPr bwMode="auto">
          <a:xfrm>
            <a:off x="2465389" y="1243013"/>
            <a:ext cx="26130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latin typeface="华文中宋" pitchFamily="2" charset="-122"/>
                <a:ea typeface="华文中宋" pitchFamily="2" charset="-122"/>
              </a:rPr>
              <a:t>队列的初始化：   </a:t>
            </a:r>
          </a:p>
        </p:txBody>
      </p:sp>
    </p:spTree>
  </p:cSld>
  <p:clrMapOvr>
    <a:masterClrMapping/>
  </p:clrMapOvr>
  <p:transition spd="slow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6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68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68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68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68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4" grpId="0"/>
      <p:bldP spid="76806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8" name="Text Box 4"/>
          <p:cNvSpPr txBox="1">
            <a:spLocks noChangeArrowheads="1"/>
          </p:cNvSpPr>
          <p:nvPr/>
        </p:nvSpPr>
        <p:spPr bwMode="auto">
          <a:xfrm>
            <a:off x="2035176" y="1212851"/>
            <a:ext cx="5256213" cy="2720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180000"/>
              </a:lnSpc>
            </a:pPr>
            <a:r>
              <a:rPr lang="en-US" altLang="zh-CN" dirty="0">
                <a:ea typeface="宋体" pitchFamily="2" charset="-122"/>
              </a:rPr>
              <a:t> int </a:t>
            </a:r>
            <a:r>
              <a:rPr lang="en-US" altLang="zh-CN" dirty="0" err="1">
                <a:ea typeface="宋体" pitchFamily="2" charset="-122"/>
              </a:rPr>
              <a:t>QueueLength</a:t>
            </a:r>
            <a:r>
              <a:rPr lang="en-US" altLang="zh-CN" dirty="0">
                <a:ea typeface="宋体" pitchFamily="2" charset="-122"/>
              </a:rPr>
              <a:t> (</a:t>
            </a:r>
            <a:r>
              <a:rPr lang="en-US" altLang="zh-CN" dirty="0" err="1">
                <a:ea typeface="宋体" pitchFamily="2" charset="-122"/>
              </a:rPr>
              <a:t>SqQueue</a:t>
            </a:r>
            <a:r>
              <a:rPr lang="en-US" altLang="zh-CN" dirty="0">
                <a:ea typeface="宋体" pitchFamily="2" charset="-122"/>
              </a:rPr>
              <a:t> Q) { </a:t>
            </a:r>
          </a:p>
          <a:p>
            <a:pPr eaLnBrk="0" hangingPunct="0">
              <a:lnSpc>
                <a:spcPct val="180000"/>
              </a:lnSpc>
            </a:pPr>
            <a:r>
              <a:rPr lang="en-US" altLang="zh-CN" dirty="0">
                <a:ea typeface="宋体" pitchFamily="2" charset="-122"/>
              </a:rPr>
              <a:t>     // </a:t>
            </a:r>
            <a:r>
              <a:rPr lang="zh-CN" altLang="en-US" dirty="0"/>
              <a:t>返回队列 </a:t>
            </a:r>
            <a:r>
              <a:rPr lang="en-US" altLang="zh-CN" dirty="0">
                <a:ea typeface="宋体" pitchFamily="2" charset="-122"/>
              </a:rPr>
              <a:t>Q </a:t>
            </a:r>
            <a:r>
              <a:rPr lang="zh-CN" altLang="en-US" dirty="0"/>
              <a:t>的元素个数 </a:t>
            </a:r>
          </a:p>
          <a:p>
            <a:pPr eaLnBrk="0" hangingPunct="0">
              <a:lnSpc>
                <a:spcPct val="180000"/>
              </a:lnSpc>
            </a:pPr>
            <a:r>
              <a:rPr lang="zh-CN" altLang="en-US" dirty="0">
                <a:ea typeface="宋体" pitchFamily="2" charset="-122"/>
              </a:rPr>
              <a:t>     </a:t>
            </a:r>
            <a:r>
              <a:rPr lang="en-US" altLang="zh-CN" dirty="0">
                <a:ea typeface="宋体" pitchFamily="2" charset="-122"/>
              </a:rPr>
              <a:t>return (</a:t>
            </a:r>
            <a:r>
              <a:rPr lang="en-US" altLang="zh-CN" dirty="0" err="1">
                <a:ea typeface="宋体" pitchFamily="2" charset="-122"/>
              </a:rPr>
              <a:t>Q.rear</a:t>
            </a:r>
            <a:r>
              <a:rPr lang="en-US" altLang="zh-CN" dirty="0">
                <a:ea typeface="宋体" pitchFamily="2" charset="-122"/>
              </a:rPr>
              <a:t> - </a:t>
            </a:r>
            <a:r>
              <a:rPr lang="en-US" altLang="zh-CN" dirty="0" err="1">
                <a:ea typeface="宋体" pitchFamily="2" charset="-122"/>
              </a:rPr>
              <a:t>Q.front</a:t>
            </a:r>
            <a:r>
              <a:rPr lang="en-US" altLang="zh-CN" dirty="0">
                <a:ea typeface="宋体" pitchFamily="2" charset="-122"/>
              </a:rPr>
              <a:t>); </a:t>
            </a:r>
          </a:p>
          <a:p>
            <a:pPr eaLnBrk="0" hangingPunct="0">
              <a:lnSpc>
                <a:spcPct val="180000"/>
              </a:lnSpc>
            </a:pPr>
            <a:r>
              <a:rPr lang="en-US" altLang="zh-CN" dirty="0">
                <a:ea typeface="宋体" pitchFamily="2" charset="-122"/>
              </a:rPr>
              <a:t> }</a:t>
            </a:r>
          </a:p>
        </p:txBody>
      </p:sp>
      <p:sp useBgFill="1">
        <p:nvSpPr>
          <p:cNvPr id="77885" name="Text Box 61"/>
          <p:cNvSpPr txBox="1">
            <a:spLocks noChangeArrowheads="1"/>
          </p:cNvSpPr>
          <p:nvPr/>
        </p:nvSpPr>
        <p:spPr bwMode="auto">
          <a:xfrm>
            <a:off x="2035176" y="1204913"/>
            <a:ext cx="8382000" cy="272097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180000"/>
              </a:lnSpc>
            </a:pPr>
            <a:r>
              <a:rPr lang="en-US" altLang="zh-CN" dirty="0">
                <a:ea typeface="宋体" pitchFamily="2" charset="-122"/>
              </a:rPr>
              <a:t> int </a:t>
            </a:r>
            <a:r>
              <a:rPr lang="en-US" altLang="zh-CN" dirty="0" err="1">
                <a:ea typeface="宋体" pitchFamily="2" charset="-122"/>
              </a:rPr>
              <a:t>QueueLength</a:t>
            </a:r>
            <a:r>
              <a:rPr lang="en-US" altLang="zh-CN" dirty="0">
                <a:ea typeface="宋体" pitchFamily="2" charset="-122"/>
              </a:rPr>
              <a:t> (</a:t>
            </a:r>
            <a:r>
              <a:rPr lang="en-US" altLang="zh-CN" dirty="0" err="1">
                <a:ea typeface="宋体" pitchFamily="2" charset="-122"/>
              </a:rPr>
              <a:t>SqQueue</a:t>
            </a:r>
            <a:r>
              <a:rPr lang="en-US" altLang="zh-CN" dirty="0">
                <a:ea typeface="宋体" pitchFamily="2" charset="-122"/>
              </a:rPr>
              <a:t> Q) { </a:t>
            </a:r>
          </a:p>
          <a:p>
            <a:pPr eaLnBrk="0" hangingPunct="0">
              <a:lnSpc>
                <a:spcPct val="180000"/>
              </a:lnSpc>
            </a:pPr>
            <a:r>
              <a:rPr lang="en-US" altLang="zh-CN" dirty="0">
                <a:ea typeface="宋体" pitchFamily="2" charset="-122"/>
              </a:rPr>
              <a:t>     // </a:t>
            </a:r>
            <a:r>
              <a:rPr lang="zh-CN" altLang="en-US" dirty="0"/>
              <a:t>返回队列 </a:t>
            </a:r>
            <a:r>
              <a:rPr lang="en-US" altLang="zh-CN" dirty="0">
                <a:ea typeface="宋体" pitchFamily="2" charset="-122"/>
              </a:rPr>
              <a:t>Q </a:t>
            </a:r>
            <a:r>
              <a:rPr lang="zh-CN" altLang="en-US" dirty="0"/>
              <a:t>的元素个数 </a:t>
            </a:r>
          </a:p>
          <a:p>
            <a:pPr eaLnBrk="0" hangingPunct="0">
              <a:lnSpc>
                <a:spcPct val="180000"/>
              </a:lnSpc>
            </a:pPr>
            <a:r>
              <a:rPr lang="zh-CN" altLang="en-US" dirty="0">
                <a:ea typeface="宋体" pitchFamily="2" charset="-122"/>
              </a:rPr>
              <a:t>     </a:t>
            </a:r>
            <a:r>
              <a:rPr lang="en-US" altLang="zh-CN" dirty="0">
                <a:ea typeface="宋体" pitchFamily="2" charset="-122"/>
              </a:rPr>
              <a:t>return (</a:t>
            </a:r>
            <a:r>
              <a:rPr lang="en-US" altLang="zh-CN" dirty="0" err="1">
                <a:ea typeface="宋体" pitchFamily="2" charset="-122"/>
              </a:rPr>
              <a:t>Q.rear</a:t>
            </a:r>
            <a:r>
              <a:rPr lang="en-US" altLang="zh-CN" dirty="0">
                <a:ea typeface="宋体" pitchFamily="2" charset="-122"/>
              </a:rPr>
              <a:t> - </a:t>
            </a:r>
            <a:r>
              <a:rPr lang="en-US" altLang="zh-CN" dirty="0" err="1">
                <a:ea typeface="宋体" pitchFamily="2" charset="-122"/>
              </a:rPr>
              <a:t>Q.front</a:t>
            </a:r>
            <a:r>
              <a:rPr lang="en-US" altLang="zh-CN" dirty="0">
                <a:ea typeface="宋体" pitchFamily="2" charset="-122"/>
              </a:rPr>
              <a:t> </a:t>
            </a:r>
            <a:r>
              <a:rPr lang="en-US" altLang="zh-CN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rPr>
              <a:t>+ MAXQSIZE) % MAXQSIZE</a:t>
            </a:r>
            <a:r>
              <a:rPr lang="en-US" altLang="zh-CN" dirty="0">
                <a:ea typeface="宋体" pitchFamily="2" charset="-122"/>
              </a:rPr>
              <a:t>; </a:t>
            </a:r>
          </a:p>
          <a:p>
            <a:pPr eaLnBrk="0" hangingPunct="0">
              <a:lnSpc>
                <a:spcPct val="180000"/>
              </a:lnSpc>
            </a:pPr>
            <a:r>
              <a:rPr lang="en-US" altLang="zh-CN" dirty="0">
                <a:ea typeface="宋体" pitchFamily="2" charset="-122"/>
              </a:rPr>
              <a:t> }</a:t>
            </a:r>
          </a:p>
        </p:txBody>
      </p:sp>
      <p:sp>
        <p:nvSpPr>
          <p:cNvPr id="77830" name="Text Box 6"/>
          <p:cNvSpPr txBox="1">
            <a:spLocks noChangeArrowheads="1"/>
          </p:cNvSpPr>
          <p:nvPr/>
        </p:nvSpPr>
        <p:spPr bwMode="auto">
          <a:xfrm>
            <a:off x="2106614" y="692150"/>
            <a:ext cx="29178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latin typeface="华文中宋" pitchFamily="2" charset="-122"/>
                <a:ea typeface="华文中宋" pitchFamily="2" charset="-122"/>
              </a:rPr>
              <a:t>求循环队列的长度   </a:t>
            </a:r>
          </a:p>
        </p:txBody>
      </p:sp>
      <p:grpSp>
        <p:nvGrpSpPr>
          <p:cNvPr id="77867" name="Group 43"/>
          <p:cNvGrpSpPr>
            <a:grpSpLocks/>
          </p:cNvGrpSpPr>
          <p:nvPr/>
        </p:nvGrpSpPr>
        <p:grpSpPr bwMode="auto">
          <a:xfrm>
            <a:off x="7631113" y="1316038"/>
            <a:ext cx="2393950" cy="1465262"/>
            <a:chOff x="3638" y="829"/>
            <a:chExt cx="1508" cy="923"/>
          </a:xfrm>
        </p:grpSpPr>
        <p:sp>
          <p:nvSpPr>
            <p:cNvPr id="77831" name="Text Box 7"/>
            <p:cNvSpPr txBox="1">
              <a:spLocks noChangeArrowheads="1"/>
            </p:cNvSpPr>
            <p:nvPr/>
          </p:nvSpPr>
          <p:spPr bwMode="auto">
            <a:xfrm>
              <a:off x="3638" y="829"/>
              <a:ext cx="150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/>
                <a:t>考虑到循环队列 </a:t>
              </a:r>
            </a:p>
          </p:txBody>
        </p:sp>
        <p:sp>
          <p:nvSpPr>
            <p:cNvPr id="77836" name="AutoShape 12"/>
            <p:cNvSpPr>
              <a:spLocks noChangeArrowheads="1"/>
            </p:cNvSpPr>
            <p:nvPr/>
          </p:nvSpPr>
          <p:spPr bwMode="auto">
            <a:xfrm rot="7189526">
              <a:off x="3833" y="1292"/>
              <a:ext cx="615" cy="306"/>
            </a:xfrm>
            <a:prstGeom prst="notchedRightArrow">
              <a:avLst>
                <a:gd name="adj1" fmla="val 50000"/>
                <a:gd name="adj2" fmla="val 50245"/>
              </a:avLst>
            </a:prstGeom>
            <a:solidFill>
              <a:srgbClr val="FF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7884" name="Group 60"/>
          <p:cNvGrpSpPr>
            <a:grpSpLocks/>
          </p:cNvGrpSpPr>
          <p:nvPr/>
        </p:nvGrpSpPr>
        <p:grpSpPr bwMode="auto">
          <a:xfrm>
            <a:off x="6902450" y="4005264"/>
            <a:ext cx="1612900" cy="1800225"/>
            <a:chOff x="2915" y="2523"/>
            <a:chExt cx="1016" cy="1134"/>
          </a:xfrm>
        </p:grpSpPr>
        <p:sp>
          <p:nvSpPr>
            <p:cNvPr id="77864" name="Text Box 40"/>
            <p:cNvSpPr txBox="1">
              <a:spLocks noChangeArrowheads="1"/>
            </p:cNvSpPr>
            <p:nvPr/>
          </p:nvSpPr>
          <p:spPr bwMode="auto">
            <a:xfrm>
              <a:off x="2915" y="2734"/>
              <a:ext cx="58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front </a:t>
              </a:r>
            </a:p>
          </p:txBody>
        </p:sp>
        <p:sp>
          <p:nvSpPr>
            <p:cNvPr id="77854" name="Line 30"/>
            <p:cNvSpPr>
              <a:spLocks noChangeShapeType="1"/>
            </p:cNvSpPr>
            <p:nvPr/>
          </p:nvSpPr>
          <p:spPr bwMode="auto">
            <a:xfrm>
              <a:off x="3491" y="2568"/>
              <a:ext cx="0" cy="10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55" name="Line 31"/>
            <p:cNvSpPr>
              <a:spLocks noChangeShapeType="1"/>
            </p:cNvSpPr>
            <p:nvPr/>
          </p:nvSpPr>
          <p:spPr bwMode="auto">
            <a:xfrm>
              <a:off x="3923" y="2568"/>
              <a:ext cx="0" cy="10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56" name="Line 32"/>
            <p:cNvSpPr>
              <a:spLocks noChangeShapeType="1"/>
            </p:cNvSpPr>
            <p:nvPr/>
          </p:nvSpPr>
          <p:spPr bwMode="auto">
            <a:xfrm>
              <a:off x="3499" y="2568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57" name="Line 33"/>
            <p:cNvSpPr>
              <a:spLocks noChangeShapeType="1"/>
            </p:cNvSpPr>
            <p:nvPr/>
          </p:nvSpPr>
          <p:spPr bwMode="auto">
            <a:xfrm>
              <a:off x="3499" y="2840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58" name="Line 34"/>
            <p:cNvSpPr>
              <a:spLocks noChangeShapeType="1"/>
            </p:cNvSpPr>
            <p:nvPr/>
          </p:nvSpPr>
          <p:spPr bwMode="auto">
            <a:xfrm>
              <a:off x="3499" y="3113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59" name="Line 35"/>
            <p:cNvSpPr>
              <a:spLocks noChangeShapeType="1"/>
            </p:cNvSpPr>
            <p:nvPr/>
          </p:nvSpPr>
          <p:spPr bwMode="auto">
            <a:xfrm>
              <a:off x="3491" y="3385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60" name="Line 36"/>
            <p:cNvSpPr>
              <a:spLocks noChangeShapeType="1"/>
            </p:cNvSpPr>
            <p:nvPr/>
          </p:nvSpPr>
          <p:spPr bwMode="auto">
            <a:xfrm>
              <a:off x="3491" y="3657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61" name="Text Box 37"/>
            <p:cNvSpPr txBox="1">
              <a:spLocks noChangeArrowheads="1"/>
            </p:cNvSpPr>
            <p:nvPr/>
          </p:nvSpPr>
          <p:spPr bwMode="auto">
            <a:xfrm>
              <a:off x="2915" y="3285"/>
              <a:ext cx="51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rear </a:t>
              </a:r>
            </a:p>
          </p:txBody>
        </p:sp>
        <p:sp>
          <p:nvSpPr>
            <p:cNvPr id="77862" name="Line 38"/>
            <p:cNvSpPr>
              <a:spLocks noChangeShapeType="1"/>
            </p:cNvSpPr>
            <p:nvPr/>
          </p:nvSpPr>
          <p:spPr bwMode="auto">
            <a:xfrm>
              <a:off x="2963" y="3525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63" name="Line 39"/>
            <p:cNvSpPr>
              <a:spLocks noChangeShapeType="1"/>
            </p:cNvSpPr>
            <p:nvPr/>
          </p:nvSpPr>
          <p:spPr bwMode="auto">
            <a:xfrm>
              <a:off x="2971" y="2988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65" name="Text Box 41"/>
            <p:cNvSpPr txBox="1">
              <a:spLocks noChangeArrowheads="1"/>
            </p:cNvSpPr>
            <p:nvPr/>
          </p:nvSpPr>
          <p:spPr bwMode="auto">
            <a:xfrm>
              <a:off x="3595" y="2820"/>
              <a:ext cx="32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J</a:t>
              </a:r>
              <a:r>
                <a:rPr lang="en-US" altLang="zh-CN" baseline="-25000"/>
                <a:t>3</a:t>
              </a:r>
              <a:r>
                <a:rPr lang="en-US" altLang="zh-CN"/>
                <a:t> </a:t>
              </a:r>
            </a:p>
          </p:txBody>
        </p:sp>
        <p:sp>
          <p:nvSpPr>
            <p:cNvPr id="77866" name="Text Box 42"/>
            <p:cNvSpPr txBox="1">
              <a:spLocks noChangeArrowheads="1"/>
            </p:cNvSpPr>
            <p:nvPr/>
          </p:nvSpPr>
          <p:spPr bwMode="auto">
            <a:xfrm>
              <a:off x="3587" y="2523"/>
              <a:ext cx="32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J</a:t>
              </a:r>
              <a:r>
                <a:rPr lang="en-US" altLang="zh-CN" baseline="-25000"/>
                <a:t>4</a:t>
              </a:r>
              <a:r>
                <a:rPr lang="en-US" altLang="zh-CN"/>
                <a:t> </a:t>
              </a:r>
            </a:p>
          </p:txBody>
        </p:sp>
      </p:grpSp>
      <p:grpSp>
        <p:nvGrpSpPr>
          <p:cNvPr id="77883" name="Group 59"/>
          <p:cNvGrpSpPr>
            <a:grpSpLocks/>
          </p:cNvGrpSpPr>
          <p:nvPr/>
        </p:nvGrpSpPr>
        <p:grpSpPr bwMode="auto">
          <a:xfrm>
            <a:off x="3835400" y="3908426"/>
            <a:ext cx="1612900" cy="1897063"/>
            <a:chOff x="1247" y="2462"/>
            <a:chExt cx="1016" cy="1195"/>
          </a:xfrm>
        </p:grpSpPr>
        <p:sp>
          <p:nvSpPr>
            <p:cNvPr id="77868" name="Text Box 44"/>
            <p:cNvSpPr txBox="1">
              <a:spLocks noChangeArrowheads="1"/>
            </p:cNvSpPr>
            <p:nvPr/>
          </p:nvSpPr>
          <p:spPr bwMode="auto">
            <a:xfrm>
              <a:off x="1247" y="3249"/>
              <a:ext cx="58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front </a:t>
              </a:r>
            </a:p>
          </p:txBody>
        </p:sp>
        <p:sp>
          <p:nvSpPr>
            <p:cNvPr id="77869" name="Line 45"/>
            <p:cNvSpPr>
              <a:spLocks noChangeShapeType="1"/>
            </p:cNvSpPr>
            <p:nvPr/>
          </p:nvSpPr>
          <p:spPr bwMode="auto">
            <a:xfrm>
              <a:off x="1823" y="2568"/>
              <a:ext cx="0" cy="10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70" name="Line 46"/>
            <p:cNvSpPr>
              <a:spLocks noChangeShapeType="1"/>
            </p:cNvSpPr>
            <p:nvPr/>
          </p:nvSpPr>
          <p:spPr bwMode="auto">
            <a:xfrm>
              <a:off x="2255" y="2568"/>
              <a:ext cx="0" cy="10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71" name="Line 47"/>
            <p:cNvSpPr>
              <a:spLocks noChangeShapeType="1"/>
            </p:cNvSpPr>
            <p:nvPr/>
          </p:nvSpPr>
          <p:spPr bwMode="auto">
            <a:xfrm>
              <a:off x="1831" y="2568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72" name="Line 48"/>
            <p:cNvSpPr>
              <a:spLocks noChangeShapeType="1"/>
            </p:cNvSpPr>
            <p:nvPr/>
          </p:nvSpPr>
          <p:spPr bwMode="auto">
            <a:xfrm>
              <a:off x="1831" y="2840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73" name="Line 49"/>
            <p:cNvSpPr>
              <a:spLocks noChangeShapeType="1"/>
            </p:cNvSpPr>
            <p:nvPr/>
          </p:nvSpPr>
          <p:spPr bwMode="auto">
            <a:xfrm>
              <a:off x="1831" y="3113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74" name="Line 50"/>
            <p:cNvSpPr>
              <a:spLocks noChangeShapeType="1"/>
            </p:cNvSpPr>
            <p:nvPr/>
          </p:nvSpPr>
          <p:spPr bwMode="auto">
            <a:xfrm>
              <a:off x="1823" y="3385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75" name="Line 51"/>
            <p:cNvSpPr>
              <a:spLocks noChangeShapeType="1"/>
            </p:cNvSpPr>
            <p:nvPr/>
          </p:nvSpPr>
          <p:spPr bwMode="auto">
            <a:xfrm>
              <a:off x="1823" y="3657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76" name="Text Box 52"/>
            <p:cNvSpPr txBox="1">
              <a:spLocks noChangeArrowheads="1"/>
            </p:cNvSpPr>
            <p:nvPr/>
          </p:nvSpPr>
          <p:spPr bwMode="auto">
            <a:xfrm>
              <a:off x="1247" y="2462"/>
              <a:ext cx="51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rear </a:t>
              </a:r>
            </a:p>
          </p:txBody>
        </p:sp>
        <p:sp>
          <p:nvSpPr>
            <p:cNvPr id="77877" name="Line 53"/>
            <p:cNvSpPr>
              <a:spLocks noChangeShapeType="1"/>
            </p:cNvSpPr>
            <p:nvPr/>
          </p:nvSpPr>
          <p:spPr bwMode="auto">
            <a:xfrm>
              <a:off x="1295" y="2702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78" name="Line 54"/>
            <p:cNvSpPr>
              <a:spLocks noChangeShapeType="1"/>
            </p:cNvSpPr>
            <p:nvPr/>
          </p:nvSpPr>
          <p:spPr bwMode="auto">
            <a:xfrm>
              <a:off x="1303" y="3503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879" name="Text Box 55"/>
            <p:cNvSpPr txBox="1">
              <a:spLocks noChangeArrowheads="1"/>
            </p:cNvSpPr>
            <p:nvPr/>
          </p:nvSpPr>
          <p:spPr bwMode="auto">
            <a:xfrm>
              <a:off x="1927" y="2820"/>
              <a:ext cx="32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J</a:t>
              </a:r>
              <a:r>
                <a:rPr lang="en-US" altLang="zh-CN" baseline="-25000"/>
                <a:t>3</a:t>
              </a:r>
              <a:r>
                <a:rPr lang="en-US" altLang="zh-CN"/>
                <a:t> </a:t>
              </a:r>
            </a:p>
          </p:txBody>
        </p:sp>
        <p:sp>
          <p:nvSpPr>
            <p:cNvPr id="77881" name="Text Box 57"/>
            <p:cNvSpPr txBox="1">
              <a:spLocks noChangeArrowheads="1"/>
            </p:cNvSpPr>
            <p:nvPr/>
          </p:nvSpPr>
          <p:spPr bwMode="auto">
            <a:xfrm>
              <a:off x="1921" y="3369"/>
              <a:ext cx="32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J</a:t>
              </a:r>
              <a:r>
                <a:rPr lang="en-US" altLang="zh-CN" baseline="-25000"/>
                <a:t>1</a:t>
              </a:r>
              <a:r>
                <a:rPr lang="en-US" altLang="zh-CN"/>
                <a:t> </a:t>
              </a:r>
            </a:p>
          </p:txBody>
        </p:sp>
        <p:sp>
          <p:nvSpPr>
            <p:cNvPr id="77882" name="Text Box 58"/>
            <p:cNvSpPr txBox="1">
              <a:spLocks noChangeArrowheads="1"/>
            </p:cNvSpPr>
            <p:nvPr/>
          </p:nvSpPr>
          <p:spPr bwMode="auto">
            <a:xfrm>
              <a:off x="1913" y="3072"/>
              <a:ext cx="32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J</a:t>
              </a:r>
              <a:r>
                <a:rPr lang="en-US" altLang="zh-CN" baseline="-25000"/>
                <a:t>2</a:t>
              </a:r>
              <a:r>
                <a:rPr lang="en-US" altLang="zh-CN"/>
                <a:t> </a:t>
              </a:r>
            </a:p>
          </p:txBody>
        </p:sp>
      </p:grp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78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78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78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778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78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78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78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78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78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78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1000"/>
                                        <p:tgtEl>
                                          <p:spTgt spid="77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8" grpId="0"/>
      <p:bldP spid="7788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2" name="Text Box 4"/>
          <p:cNvSpPr txBox="1">
            <a:spLocks noChangeArrowheads="1"/>
          </p:cNvSpPr>
          <p:nvPr/>
        </p:nvSpPr>
        <p:spPr bwMode="auto">
          <a:xfrm>
            <a:off x="2154238" y="1031876"/>
            <a:ext cx="7974012" cy="5349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180000"/>
              </a:lnSpc>
            </a:pPr>
            <a:r>
              <a:rPr lang="en-US" altLang="zh-CN">
                <a:ea typeface="宋体" pitchFamily="2" charset="-122"/>
              </a:rPr>
              <a:t>Status EnQueue (SqQueue  &amp;Q,  QElemType  e) {    </a:t>
            </a:r>
          </a:p>
          <a:p>
            <a:pPr eaLnBrk="0" hangingPunct="0">
              <a:lnSpc>
                <a:spcPct val="180000"/>
              </a:lnSpc>
            </a:pPr>
            <a:r>
              <a:rPr lang="en-US" altLang="zh-CN">
                <a:ea typeface="宋体" pitchFamily="2" charset="-122"/>
              </a:rPr>
              <a:t>    // </a:t>
            </a:r>
            <a:r>
              <a:rPr lang="zh-CN" altLang="en-US"/>
              <a:t>插入元素 </a:t>
            </a:r>
            <a:r>
              <a:rPr lang="en-US" altLang="zh-CN"/>
              <a:t>e </a:t>
            </a:r>
            <a:r>
              <a:rPr lang="zh-CN" altLang="en-US"/>
              <a:t>为 </a:t>
            </a:r>
            <a:r>
              <a:rPr lang="en-US" altLang="zh-CN"/>
              <a:t>Q </a:t>
            </a:r>
            <a:r>
              <a:rPr lang="zh-CN" altLang="en-US"/>
              <a:t>的新的队尾元素 </a:t>
            </a:r>
            <a:endParaRPr lang="zh-CN" altLang="en-US">
              <a:ea typeface="宋体" pitchFamily="2" charset="-122"/>
            </a:endParaRPr>
          </a:p>
          <a:p>
            <a:pPr eaLnBrk="0" hangingPunct="0">
              <a:lnSpc>
                <a:spcPct val="180000"/>
              </a:lnSpc>
            </a:pPr>
            <a:r>
              <a:rPr lang="zh-CN" altLang="en-US">
                <a:ea typeface="宋体" pitchFamily="2" charset="-122"/>
              </a:rPr>
              <a:t>     </a:t>
            </a:r>
          </a:p>
          <a:p>
            <a:pPr eaLnBrk="0" hangingPunct="0">
              <a:lnSpc>
                <a:spcPct val="180000"/>
              </a:lnSpc>
            </a:pPr>
            <a:r>
              <a:rPr lang="zh-CN" altLang="en-US">
                <a:ea typeface="宋体" pitchFamily="2" charset="-122"/>
              </a:rPr>
              <a:t>        </a:t>
            </a:r>
            <a:r>
              <a:rPr lang="zh-CN" altLang="en-US"/>
              <a:t> </a:t>
            </a:r>
            <a:endParaRPr lang="zh-CN" altLang="en-US">
              <a:ea typeface="宋体" pitchFamily="2" charset="-122"/>
            </a:endParaRPr>
          </a:p>
          <a:p>
            <a:pPr eaLnBrk="0" hangingPunct="0">
              <a:lnSpc>
                <a:spcPct val="180000"/>
              </a:lnSpc>
            </a:pPr>
            <a:r>
              <a:rPr lang="zh-CN" altLang="en-US">
                <a:ea typeface="宋体" pitchFamily="2" charset="-122"/>
              </a:rPr>
              <a:t>    </a:t>
            </a:r>
            <a:r>
              <a:rPr lang="en-US" altLang="zh-CN">
                <a:ea typeface="宋体" pitchFamily="2" charset="-122"/>
              </a:rPr>
              <a:t>Q.base[Q.rear] = e; </a:t>
            </a:r>
          </a:p>
          <a:p>
            <a:pPr eaLnBrk="0" hangingPunct="0">
              <a:lnSpc>
                <a:spcPct val="180000"/>
              </a:lnSpc>
            </a:pPr>
            <a:r>
              <a:rPr lang="en-US" altLang="zh-CN">
                <a:ea typeface="宋体" pitchFamily="2" charset="-122"/>
              </a:rPr>
              <a:t>    Q.rear = (Q.rear + 1) % MAXQSIZE; </a:t>
            </a:r>
          </a:p>
          <a:p>
            <a:pPr eaLnBrk="0" hangingPunct="0">
              <a:lnSpc>
                <a:spcPct val="180000"/>
              </a:lnSpc>
            </a:pPr>
            <a:r>
              <a:rPr lang="en-US" altLang="zh-CN">
                <a:ea typeface="宋体" pitchFamily="2" charset="-122"/>
              </a:rPr>
              <a:t>    return OK; </a:t>
            </a:r>
          </a:p>
          <a:p>
            <a:pPr eaLnBrk="0" hangingPunct="0">
              <a:lnSpc>
                <a:spcPct val="180000"/>
              </a:lnSpc>
            </a:pPr>
            <a:r>
              <a:rPr lang="en-US" altLang="zh-CN">
                <a:ea typeface="宋体" pitchFamily="2" charset="-122"/>
              </a:rPr>
              <a:t>} </a:t>
            </a:r>
          </a:p>
        </p:txBody>
      </p:sp>
      <p:sp useBgFill="1">
        <p:nvSpPr>
          <p:cNvPr id="78893" name="Text Box 45"/>
          <p:cNvSpPr txBox="1">
            <a:spLocks noChangeArrowheads="1"/>
          </p:cNvSpPr>
          <p:nvPr/>
        </p:nvSpPr>
        <p:spPr bwMode="auto">
          <a:xfrm>
            <a:off x="2154238" y="1031876"/>
            <a:ext cx="7974012" cy="534987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180000"/>
              </a:lnSpc>
            </a:pPr>
            <a:r>
              <a:rPr lang="en-US" altLang="zh-CN">
                <a:ea typeface="宋体" pitchFamily="2" charset="-122"/>
              </a:rPr>
              <a:t>Status EnQueue (SqQueue  &amp;Q,  QElemType  e) {    </a:t>
            </a:r>
          </a:p>
          <a:p>
            <a:pPr eaLnBrk="0" hangingPunct="0">
              <a:lnSpc>
                <a:spcPct val="180000"/>
              </a:lnSpc>
            </a:pPr>
            <a:r>
              <a:rPr lang="en-US" altLang="zh-CN">
                <a:ea typeface="宋体" pitchFamily="2" charset="-122"/>
              </a:rPr>
              <a:t>    // </a:t>
            </a:r>
            <a:r>
              <a:rPr lang="zh-CN" altLang="en-US"/>
              <a:t>插入元素 </a:t>
            </a:r>
            <a:r>
              <a:rPr lang="en-US" altLang="zh-CN"/>
              <a:t>e </a:t>
            </a:r>
            <a:r>
              <a:rPr lang="zh-CN" altLang="en-US"/>
              <a:t>为 </a:t>
            </a:r>
            <a:r>
              <a:rPr lang="en-US" altLang="zh-CN"/>
              <a:t>Q </a:t>
            </a:r>
            <a:r>
              <a:rPr lang="zh-CN" altLang="en-US"/>
              <a:t>的新的队尾元素 </a:t>
            </a:r>
            <a:endParaRPr lang="zh-CN" altLang="en-US">
              <a:ea typeface="宋体" pitchFamily="2" charset="-122"/>
            </a:endParaRPr>
          </a:p>
          <a:p>
            <a:pPr eaLnBrk="0" hangingPunct="0">
              <a:lnSpc>
                <a:spcPct val="180000"/>
              </a:lnSpc>
            </a:pPr>
            <a:r>
              <a:rPr lang="zh-CN" altLang="en-US">
                <a:ea typeface="宋体" pitchFamily="2" charset="-122"/>
              </a:rPr>
              <a:t>    </a:t>
            </a:r>
            <a:r>
              <a:rPr lang="en-US" altLang="zh-CN">
                <a:solidFill>
                  <a:srgbClr val="0000FF"/>
                </a:solidFill>
                <a:ea typeface="宋体" pitchFamily="2" charset="-122"/>
              </a:rPr>
              <a:t>if ((Q.rear + 1) % MAXQSIZE == Q.front) </a:t>
            </a:r>
          </a:p>
          <a:p>
            <a:pPr eaLnBrk="0" hangingPunct="0">
              <a:lnSpc>
                <a:spcPct val="180000"/>
              </a:lnSpc>
            </a:pPr>
            <a:r>
              <a:rPr lang="en-US" altLang="zh-CN">
                <a:solidFill>
                  <a:srgbClr val="0000FF"/>
                </a:solidFill>
                <a:ea typeface="宋体" pitchFamily="2" charset="-122"/>
              </a:rPr>
              <a:t>        return ERROR;             </a:t>
            </a:r>
            <a:r>
              <a:rPr lang="en-US" altLang="zh-CN">
                <a:solidFill>
                  <a:srgbClr val="0000FF"/>
                </a:solidFill>
              </a:rPr>
              <a:t>// </a:t>
            </a:r>
            <a:r>
              <a:rPr lang="zh-CN" altLang="en-US">
                <a:solidFill>
                  <a:srgbClr val="0000FF"/>
                </a:solidFill>
              </a:rPr>
              <a:t>队列满</a:t>
            </a:r>
            <a:r>
              <a:rPr lang="zh-CN" altLang="en-US"/>
              <a:t> </a:t>
            </a:r>
            <a:endParaRPr lang="zh-CN" altLang="en-US">
              <a:ea typeface="宋体" pitchFamily="2" charset="-122"/>
            </a:endParaRPr>
          </a:p>
          <a:p>
            <a:pPr eaLnBrk="0" hangingPunct="0">
              <a:lnSpc>
                <a:spcPct val="180000"/>
              </a:lnSpc>
            </a:pPr>
            <a:r>
              <a:rPr lang="zh-CN" altLang="en-US">
                <a:ea typeface="宋体" pitchFamily="2" charset="-122"/>
              </a:rPr>
              <a:t>    </a:t>
            </a:r>
            <a:r>
              <a:rPr lang="en-US" altLang="zh-CN">
                <a:ea typeface="宋体" pitchFamily="2" charset="-122"/>
              </a:rPr>
              <a:t>Q.base[Q.rear] = e; </a:t>
            </a:r>
          </a:p>
          <a:p>
            <a:pPr eaLnBrk="0" hangingPunct="0">
              <a:lnSpc>
                <a:spcPct val="180000"/>
              </a:lnSpc>
            </a:pPr>
            <a:r>
              <a:rPr lang="en-US" altLang="zh-CN">
                <a:ea typeface="宋体" pitchFamily="2" charset="-122"/>
              </a:rPr>
              <a:t>    Q.rear = (Q.rear + 1) % MAXQSIZE; </a:t>
            </a:r>
          </a:p>
          <a:p>
            <a:pPr eaLnBrk="0" hangingPunct="0">
              <a:lnSpc>
                <a:spcPct val="180000"/>
              </a:lnSpc>
            </a:pPr>
            <a:r>
              <a:rPr lang="en-US" altLang="zh-CN">
                <a:ea typeface="宋体" pitchFamily="2" charset="-122"/>
              </a:rPr>
              <a:t>    return OK; </a:t>
            </a:r>
          </a:p>
          <a:p>
            <a:pPr eaLnBrk="0" hangingPunct="0">
              <a:lnSpc>
                <a:spcPct val="180000"/>
              </a:lnSpc>
            </a:pPr>
            <a:r>
              <a:rPr lang="en-US" altLang="zh-CN">
                <a:ea typeface="宋体" pitchFamily="2" charset="-122"/>
              </a:rPr>
              <a:t>} </a:t>
            </a:r>
          </a:p>
        </p:txBody>
      </p:sp>
      <p:sp>
        <p:nvSpPr>
          <p:cNvPr id="78853" name="Text Box 5"/>
          <p:cNvSpPr txBox="1">
            <a:spLocks noChangeArrowheads="1"/>
          </p:cNvSpPr>
          <p:nvPr/>
        </p:nvSpPr>
        <p:spPr bwMode="auto">
          <a:xfrm>
            <a:off x="1992313" y="595313"/>
            <a:ext cx="4375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ea typeface="华文中宋" pitchFamily="2" charset="-122"/>
              </a:rPr>
              <a:t>  </a:t>
            </a:r>
            <a:r>
              <a:rPr lang="zh-CN" altLang="en-US">
                <a:ea typeface="华文中宋" pitchFamily="2" charset="-122"/>
              </a:rPr>
              <a:t>插入操作在循环队列中的实现 </a:t>
            </a:r>
          </a:p>
        </p:txBody>
      </p:sp>
      <p:grpSp>
        <p:nvGrpSpPr>
          <p:cNvPr id="78892" name="Group 44"/>
          <p:cNvGrpSpPr>
            <a:grpSpLocks/>
          </p:cNvGrpSpPr>
          <p:nvPr/>
        </p:nvGrpSpPr>
        <p:grpSpPr bwMode="auto">
          <a:xfrm>
            <a:off x="8172451" y="3573464"/>
            <a:ext cx="1668463" cy="1800225"/>
            <a:chOff x="4233" y="2750"/>
            <a:chExt cx="1051" cy="1134"/>
          </a:xfrm>
        </p:grpSpPr>
        <p:sp>
          <p:nvSpPr>
            <p:cNvPr id="78871" name="Text Box 23"/>
            <p:cNvSpPr txBox="1">
              <a:spLocks noChangeArrowheads="1"/>
            </p:cNvSpPr>
            <p:nvPr/>
          </p:nvSpPr>
          <p:spPr bwMode="auto">
            <a:xfrm>
              <a:off x="4233" y="2961"/>
              <a:ext cx="58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front </a:t>
              </a:r>
            </a:p>
          </p:txBody>
        </p:sp>
        <p:sp>
          <p:nvSpPr>
            <p:cNvPr id="78872" name="Line 24"/>
            <p:cNvSpPr>
              <a:spLocks noChangeShapeType="1"/>
            </p:cNvSpPr>
            <p:nvPr/>
          </p:nvSpPr>
          <p:spPr bwMode="auto">
            <a:xfrm>
              <a:off x="4844" y="2795"/>
              <a:ext cx="0" cy="10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73" name="Line 25"/>
            <p:cNvSpPr>
              <a:spLocks noChangeShapeType="1"/>
            </p:cNvSpPr>
            <p:nvPr/>
          </p:nvSpPr>
          <p:spPr bwMode="auto">
            <a:xfrm>
              <a:off x="5276" y="2795"/>
              <a:ext cx="0" cy="10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74" name="Line 26"/>
            <p:cNvSpPr>
              <a:spLocks noChangeShapeType="1"/>
            </p:cNvSpPr>
            <p:nvPr/>
          </p:nvSpPr>
          <p:spPr bwMode="auto">
            <a:xfrm>
              <a:off x="4852" y="2795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75" name="Line 27"/>
            <p:cNvSpPr>
              <a:spLocks noChangeShapeType="1"/>
            </p:cNvSpPr>
            <p:nvPr/>
          </p:nvSpPr>
          <p:spPr bwMode="auto">
            <a:xfrm>
              <a:off x="4852" y="3067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76" name="Line 28"/>
            <p:cNvSpPr>
              <a:spLocks noChangeShapeType="1"/>
            </p:cNvSpPr>
            <p:nvPr/>
          </p:nvSpPr>
          <p:spPr bwMode="auto">
            <a:xfrm>
              <a:off x="4852" y="3340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77" name="Line 29"/>
            <p:cNvSpPr>
              <a:spLocks noChangeShapeType="1"/>
            </p:cNvSpPr>
            <p:nvPr/>
          </p:nvSpPr>
          <p:spPr bwMode="auto">
            <a:xfrm>
              <a:off x="4844" y="3612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78" name="Line 30"/>
            <p:cNvSpPr>
              <a:spLocks noChangeShapeType="1"/>
            </p:cNvSpPr>
            <p:nvPr/>
          </p:nvSpPr>
          <p:spPr bwMode="auto">
            <a:xfrm>
              <a:off x="4844" y="3884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79" name="Text Box 31"/>
            <p:cNvSpPr txBox="1">
              <a:spLocks noChangeArrowheads="1"/>
            </p:cNvSpPr>
            <p:nvPr/>
          </p:nvSpPr>
          <p:spPr bwMode="auto">
            <a:xfrm>
              <a:off x="4241" y="3505"/>
              <a:ext cx="51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rear </a:t>
              </a:r>
            </a:p>
          </p:txBody>
        </p:sp>
        <p:sp>
          <p:nvSpPr>
            <p:cNvPr id="78880" name="Line 32"/>
            <p:cNvSpPr>
              <a:spLocks noChangeShapeType="1"/>
            </p:cNvSpPr>
            <p:nvPr/>
          </p:nvSpPr>
          <p:spPr bwMode="auto">
            <a:xfrm>
              <a:off x="4289" y="3745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81" name="Line 33"/>
            <p:cNvSpPr>
              <a:spLocks noChangeShapeType="1"/>
            </p:cNvSpPr>
            <p:nvPr/>
          </p:nvSpPr>
          <p:spPr bwMode="auto">
            <a:xfrm>
              <a:off x="4302" y="3215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882" name="Text Box 34"/>
            <p:cNvSpPr txBox="1">
              <a:spLocks noChangeArrowheads="1"/>
            </p:cNvSpPr>
            <p:nvPr/>
          </p:nvSpPr>
          <p:spPr bwMode="auto">
            <a:xfrm>
              <a:off x="4948" y="3047"/>
              <a:ext cx="32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J</a:t>
              </a:r>
              <a:r>
                <a:rPr lang="en-US" altLang="zh-CN" baseline="-25000"/>
                <a:t>3</a:t>
              </a:r>
              <a:r>
                <a:rPr lang="en-US" altLang="zh-CN"/>
                <a:t> </a:t>
              </a:r>
            </a:p>
          </p:txBody>
        </p:sp>
        <p:sp>
          <p:nvSpPr>
            <p:cNvPr id="78883" name="Text Box 35"/>
            <p:cNvSpPr txBox="1">
              <a:spLocks noChangeArrowheads="1"/>
            </p:cNvSpPr>
            <p:nvPr/>
          </p:nvSpPr>
          <p:spPr bwMode="auto">
            <a:xfrm>
              <a:off x="4940" y="2750"/>
              <a:ext cx="32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J</a:t>
              </a:r>
              <a:r>
                <a:rPr lang="en-US" altLang="zh-CN" baseline="-25000"/>
                <a:t>4</a:t>
              </a:r>
              <a:r>
                <a:rPr lang="en-US" altLang="zh-CN"/>
                <a:t> </a:t>
              </a:r>
            </a:p>
          </p:txBody>
        </p:sp>
      </p:grpSp>
      <p:sp>
        <p:nvSpPr>
          <p:cNvPr id="78886" name="Text Box 38"/>
          <p:cNvSpPr txBox="1">
            <a:spLocks noChangeArrowheads="1"/>
          </p:cNvSpPr>
          <p:nvPr/>
        </p:nvSpPr>
        <p:spPr bwMode="auto">
          <a:xfrm>
            <a:off x="9326563" y="4916488"/>
            <a:ext cx="514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J</a:t>
            </a:r>
            <a:r>
              <a:rPr lang="en-US" altLang="zh-CN" baseline="-25000"/>
              <a:t>5</a:t>
            </a:r>
            <a:r>
              <a:rPr lang="en-US" altLang="zh-CN"/>
              <a:t> </a:t>
            </a:r>
          </a:p>
        </p:txBody>
      </p:sp>
      <p:grpSp>
        <p:nvGrpSpPr>
          <p:cNvPr id="78889" name="Group 41"/>
          <p:cNvGrpSpPr>
            <a:grpSpLocks/>
          </p:cNvGrpSpPr>
          <p:nvPr/>
        </p:nvGrpSpPr>
        <p:grpSpPr bwMode="auto">
          <a:xfrm>
            <a:off x="8185150" y="4365625"/>
            <a:ext cx="914400" cy="457200"/>
            <a:chOff x="4254" y="3249"/>
            <a:chExt cx="576" cy="288"/>
          </a:xfrm>
        </p:grpSpPr>
        <p:sp>
          <p:nvSpPr>
            <p:cNvPr id="78887" name="Text Box 39"/>
            <p:cNvSpPr txBox="1">
              <a:spLocks noChangeArrowheads="1"/>
            </p:cNvSpPr>
            <p:nvPr/>
          </p:nvSpPr>
          <p:spPr bwMode="auto">
            <a:xfrm>
              <a:off x="4254" y="3249"/>
              <a:ext cx="51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rear </a:t>
              </a:r>
            </a:p>
          </p:txBody>
        </p:sp>
        <p:sp>
          <p:nvSpPr>
            <p:cNvPr id="78888" name="Line 40"/>
            <p:cNvSpPr>
              <a:spLocks noChangeShapeType="1"/>
            </p:cNvSpPr>
            <p:nvPr/>
          </p:nvSpPr>
          <p:spPr bwMode="auto">
            <a:xfrm>
              <a:off x="4302" y="3489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 useBgFill="1">
        <p:nvSpPr>
          <p:cNvPr id="78890" name="Rectangle 42"/>
          <p:cNvSpPr>
            <a:spLocks noChangeArrowheads="1"/>
          </p:cNvSpPr>
          <p:nvPr/>
        </p:nvSpPr>
        <p:spPr bwMode="auto">
          <a:xfrm>
            <a:off x="8112126" y="4868863"/>
            <a:ext cx="1008063" cy="43180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88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88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88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88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88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88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78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78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2" grpId="0"/>
      <p:bldP spid="78893" grpId="0" animBg="1"/>
      <p:bldP spid="78886" grpId="0"/>
      <p:bldP spid="78890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6" name="Text Box 4"/>
          <p:cNvSpPr txBox="1">
            <a:spLocks noChangeArrowheads="1"/>
          </p:cNvSpPr>
          <p:nvPr/>
        </p:nvSpPr>
        <p:spPr bwMode="auto">
          <a:xfrm>
            <a:off x="1962151" y="1149351"/>
            <a:ext cx="7446963" cy="5057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170000"/>
              </a:lnSpc>
            </a:pPr>
            <a:r>
              <a:rPr lang="en-US" altLang="zh-CN">
                <a:ea typeface="宋体" pitchFamily="2" charset="-122"/>
              </a:rPr>
              <a:t> </a:t>
            </a:r>
            <a:r>
              <a:rPr lang="en-US" altLang="zh-CN"/>
              <a:t>Status DeQueue (SqQueue &amp;Q, ElemType &amp;e) {  </a:t>
            </a:r>
          </a:p>
          <a:p>
            <a:pPr eaLnBrk="0" hangingPunct="0">
              <a:lnSpc>
                <a:spcPct val="170000"/>
              </a:lnSpc>
            </a:pPr>
            <a:r>
              <a:rPr lang="en-US" altLang="zh-CN"/>
              <a:t>     // </a:t>
            </a:r>
            <a:r>
              <a:rPr lang="zh-CN" altLang="en-US"/>
              <a:t>若队列不空，则删除 </a:t>
            </a:r>
            <a:r>
              <a:rPr lang="en-US" altLang="zh-CN"/>
              <a:t>Q </a:t>
            </a:r>
            <a:r>
              <a:rPr lang="zh-CN" altLang="en-US"/>
              <a:t>的队头元素，</a:t>
            </a:r>
          </a:p>
          <a:p>
            <a:pPr eaLnBrk="0" hangingPunct="0">
              <a:lnSpc>
                <a:spcPct val="170000"/>
              </a:lnSpc>
            </a:pPr>
            <a:r>
              <a:rPr lang="zh-CN" altLang="en-US"/>
              <a:t>     </a:t>
            </a:r>
            <a:r>
              <a:rPr lang="en-US" altLang="zh-CN"/>
              <a:t>// </a:t>
            </a:r>
            <a:r>
              <a:rPr lang="zh-CN" altLang="en-US"/>
              <a:t>用</a:t>
            </a:r>
            <a:r>
              <a:rPr lang="en-US" altLang="zh-CN"/>
              <a:t>e </a:t>
            </a:r>
            <a:r>
              <a:rPr lang="zh-CN" altLang="en-US"/>
              <a:t>返回其值，并返回 </a:t>
            </a:r>
            <a:r>
              <a:rPr lang="en-US" altLang="zh-CN"/>
              <a:t>OK;  </a:t>
            </a:r>
            <a:r>
              <a:rPr lang="zh-CN" altLang="en-US"/>
              <a:t>否则返回 </a:t>
            </a:r>
            <a:r>
              <a:rPr lang="en-US" altLang="zh-CN"/>
              <a:t>ERROR </a:t>
            </a:r>
          </a:p>
          <a:p>
            <a:pPr eaLnBrk="0" hangingPunct="0">
              <a:lnSpc>
                <a:spcPct val="170000"/>
              </a:lnSpc>
            </a:pPr>
            <a:r>
              <a:rPr lang="en-US" altLang="zh-CN"/>
              <a:t>    if (Q.front == Q.rear)  return ERROR; </a:t>
            </a:r>
          </a:p>
          <a:p>
            <a:pPr eaLnBrk="0" hangingPunct="0">
              <a:lnSpc>
                <a:spcPct val="170000"/>
              </a:lnSpc>
            </a:pPr>
            <a:r>
              <a:rPr lang="en-US" altLang="zh-CN"/>
              <a:t>    e = Q.base[Q.front]; </a:t>
            </a:r>
          </a:p>
          <a:p>
            <a:pPr eaLnBrk="0" hangingPunct="0">
              <a:lnSpc>
                <a:spcPct val="170000"/>
              </a:lnSpc>
            </a:pPr>
            <a:r>
              <a:rPr lang="en-US" altLang="zh-CN"/>
              <a:t>    Q.front = (Q.front + 1) % MAXQSIZE; </a:t>
            </a:r>
          </a:p>
          <a:p>
            <a:pPr eaLnBrk="0" hangingPunct="0">
              <a:lnSpc>
                <a:spcPct val="170000"/>
              </a:lnSpc>
            </a:pPr>
            <a:r>
              <a:rPr lang="en-US" altLang="zh-CN"/>
              <a:t>    return OK; </a:t>
            </a:r>
          </a:p>
          <a:p>
            <a:pPr eaLnBrk="0" hangingPunct="0">
              <a:lnSpc>
                <a:spcPct val="170000"/>
              </a:lnSpc>
            </a:pPr>
            <a:r>
              <a:rPr lang="en-US" altLang="zh-CN"/>
              <a:t>} 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79878" name="Text Box 6"/>
          <p:cNvSpPr txBox="1">
            <a:spLocks noChangeArrowheads="1"/>
          </p:cNvSpPr>
          <p:nvPr/>
        </p:nvSpPr>
        <p:spPr bwMode="auto">
          <a:xfrm>
            <a:off x="1920875" y="692150"/>
            <a:ext cx="4375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>
                <a:ea typeface="华文中宋" pitchFamily="2" charset="-122"/>
              </a:rPr>
              <a:t>  </a:t>
            </a:r>
            <a:r>
              <a:rPr lang="zh-CN" altLang="en-US">
                <a:ea typeface="华文中宋" pitchFamily="2" charset="-122"/>
              </a:rPr>
              <a:t>删除操作在循环队列中的实现 </a:t>
            </a:r>
          </a:p>
        </p:txBody>
      </p:sp>
      <p:grpSp>
        <p:nvGrpSpPr>
          <p:cNvPr id="79879" name="Group 7"/>
          <p:cNvGrpSpPr>
            <a:grpSpLocks/>
          </p:cNvGrpSpPr>
          <p:nvPr/>
        </p:nvGrpSpPr>
        <p:grpSpPr bwMode="auto">
          <a:xfrm>
            <a:off x="8528050" y="2462213"/>
            <a:ext cx="1600200" cy="1535112"/>
            <a:chOff x="576" y="3014"/>
            <a:chExt cx="1008" cy="967"/>
          </a:xfrm>
        </p:grpSpPr>
        <p:sp>
          <p:nvSpPr>
            <p:cNvPr id="79880" name="Line 8"/>
            <p:cNvSpPr>
              <a:spLocks noChangeShapeType="1"/>
            </p:cNvSpPr>
            <p:nvPr/>
          </p:nvSpPr>
          <p:spPr bwMode="auto">
            <a:xfrm>
              <a:off x="1152" y="3014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881" name="Line 9"/>
            <p:cNvSpPr>
              <a:spLocks noChangeShapeType="1"/>
            </p:cNvSpPr>
            <p:nvPr/>
          </p:nvSpPr>
          <p:spPr bwMode="auto">
            <a:xfrm>
              <a:off x="1584" y="3014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882" name="Line 10"/>
            <p:cNvSpPr>
              <a:spLocks noChangeShapeType="1"/>
            </p:cNvSpPr>
            <p:nvPr/>
          </p:nvSpPr>
          <p:spPr bwMode="auto">
            <a:xfrm>
              <a:off x="1152" y="3014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883" name="Line 11"/>
            <p:cNvSpPr>
              <a:spLocks noChangeShapeType="1"/>
            </p:cNvSpPr>
            <p:nvPr/>
          </p:nvSpPr>
          <p:spPr bwMode="auto">
            <a:xfrm>
              <a:off x="1152" y="3206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884" name="Line 12"/>
            <p:cNvSpPr>
              <a:spLocks noChangeShapeType="1"/>
            </p:cNvSpPr>
            <p:nvPr/>
          </p:nvSpPr>
          <p:spPr bwMode="auto">
            <a:xfrm>
              <a:off x="1152" y="3398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885" name="Line 13"/>
            <p:cNvSpPr>
              <a:spLocks noChangeShapeType="1"/>
            </p:cNvSpPr>
            <p:nvPr/>
          </p:nvSpPr>
          <p:spPr bwMode="auto">
            <a:xfrm>
              <a:off x="1152" y="3590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886" name="Line 14"/>
            <p:cNvSpPr>
              <a:spLocks noChangeShapeType="1"/>
            </p:cNvSpPr>
            <p:nvPr/>
          </p:nvSpPr>
          <p:spPr bwMode="auto">
            <a:xfrm>
              <a:off x="1152" y="3782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887" name="Text Box 15"/>
            <p:cNvSpPr txBox="1">
              <a:spLocks noChangeArrowheads="1"/>
            </p:cNvSpPr>
            <p:nvPr/>
          </p:nvSpPr>
          <p:spPr bwMode="auto">
            <a:xfrm>
              <a:off x="576" y="3405"/>
              <a:ext cx="51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rear </a:t>
              </a:r>
            </a:p>
          </p:txBody>
        </p:sp>
        <p:sp>
          <p:nvSpPr>
            <p:cNvPr id="79888" name="Line 16"/>
            <p:cNvSpPr>
              <a:spLocks noChangeShapeType="1"/>
            </p:cNvSpPr>
            <p:nvPr/>
          </p:nvSpPr>
          <p:spPr bwMode="auto">
            <a:xfrm>
              <a:off x="624" y="3645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889" name="Line 17"/>
            <p:cNvSpPr>
              <a:spLocks noChangeShapeType="1"/>
            </p:cNvSpPr>
            <p:nvPr/>
          </p:nvSpPr>
          <p:spPr bwMode="auto">
            <a:xfrm>
              <a:off x="624" y="3741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890" name="Text Box 18"/>
            <p:cNvSpPr txBox="1">
              <a:spLocks noChangeArrowheads="1"/>
            </p:cNvSpPr>
            <p:nvPr/>
          </p:nvSpPr>
          <p:spPr bwMode="auto">
            <a:xfrm>
              <a:off x="576" y="3693"/>
              <a:ext cx="58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front </a:t>
              </a:r>
            </a:p>
          </p:txBody>
        </p:sp>
      </p:grpSp>
      <p:grpSp>
        <p:nvGrpSpPr>
          <p:cNvPr id="79913" name="Group 41"/>
          <p:cNvGrpSpPr>
            <a:grpSpLocks/>
          </p:cNvGrpSpPr>
          <p:nvPr/>
        </p:nvGrpSpPr>
        <p:grpSpPr bwMode="auto">
          <a:xfrm>
            <a:off x="8472488" y="4165601"/>
            <a:ext cx="1655762" cy="1897063"/>
            <a:chOff x="4468" y="2643"/>
            <a:chExt cx="1043" cy="1195"/>
          </a:xfrm>
        </p:grpSpPr>
        <p:sp>
          <p:nvSpPr>
            <p:cNvPr id="79892" name="Text Box 20"/>
            <p:cNvSpPr txBox="1">
              <a:spLocks noChangeArrowheads="1"/>
            </p:cNvSpPr>
            <p:nvPr/>
          </p:nvSpPr>
          <p:spPr bwMode="auto">
            <a:xfrm>
              <a:off x="4468" y="3430"/>
              <a:ext cx="58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front </a:t>
              </a:r>
            </a:p>
          </p:txBody>
        </p:sp>
        <p:sp>
          <p:nvSpPr>
            <p:cNvPr id="79893" name="Line 21"/>
            <p:cNvSpPr>
              <a:spLocks noChangeShapeType="1"/>
            </p:cNvSpPr>
            <p:nvPr/>
          </p:nvSpPr>
          <p:spPr bwMode="auto">
            <a:xfrm>
              <a:off x="5071" y="2749"/>
              <a:ext cx="0" cy="10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894" name="Line 22"/>
            <p:cNvSpPr>
              <a:spLocks noChangeShapeType="1"/>
            </p:cNvSpPr>
            <p:nvPr/>
          </p:nvSpPr>
          <p:spPr bwMode="auto">
            <a:xfrm>
              <a:off x="5503" y="2749"/>
              <a:ext cx="0" cy="10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895" name="Line 23"/>
            <p:cNvSpPr>
              <a:spLocks noChangeShapeType="1"/>
            </p:cNvSpPr>
            <p:nvPr/>
          </p:nvSpPr>
          <p:spPr bwMode="auto">
            <a:xfrm>
              <a:off x="5079" y="2749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896" name="Line 24"/>
            <p:cNvSpPr>
              <a:spLocks noChangeShapeType="1"/>
            </p:cNvSpPr>
            <p:nvPr/>
          </p:nvSpPr>
          <p:spPr bwMode="auto">
            <a:xfrm>
              <a:off x="5079" y="3021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897" name="Line 25"/>
            <p:cNvSpPr>
              <a:spLocks noChangeShapeType="1"/>
            </p:cNvSpPr>
            <p:nvPr/>
          </p:nvSpPr>
          <p:spPr bwMode="auto">
            <a:xfrm>
              <a:off x="5079" y="3294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898" name="Line 26"/>
            <p:cNvSpPr>
              <a:spLocks noChangeShapeType="1"/>
            </p:cNvSpPr>
            <p:nvPr/>
          </p:nvSpPr>
          <p:spPr bwMode="auto">
            <a:xfrm>
              <a:off x="5071" y="3566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899" name="Line 27"/>
            <p:cNvSpPr>
              <a:spLocks noChangeShapeType="1"/>
            </p:cNvSpPr>
            <p:nvPr/>
          </p:nvSpPr>
          <p:spPr bwMode="auto">
            <a:xfrm>
              <a:off x="5071" y="3838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00" name="Text Box 28"/>
            <p:cNvSpPr txBox="1">
              <a:spLocks noChangeArrowheads="1"/>
            </p:cNvSpPr>
            <p:nvPr/>
          </p:nvSpPr>
          <p:spPr bwMode="auto">
            <a:xfrm>
              <a:off x="4495" y="2643"/>
              <a:ext cx="51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rear </a:t>
              </a:r>
            </a:p>
          </p:txBody>
        </p:sp>
        <p:sp>
          <p:nvSpPr>
            <p:cNvPr id="79901" name="Line 29"/>
            <p:cNvSpPr>
              <a:spLocks noChangeShapeType="1"/>
            </p:cNvSpPr>
            <p:nvPr/>
          </p:nvSpPr>
          <p:spPr bwMode="auto">
            <a:xfrm>
              <a:off x="4513" y="2883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02" name="Line 30"/>
            <p:cNvSpPr>
              <a:spLocks noChangeShapeType="1"/>
            </p:cNvSpPr>
            <p:nvPr/>
          </p:nvSpPr>
          <p:spPr bwMode="auto">
            <a:xfrm>
              <a:off x="4513" y="3684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903" name="Text Box 31"/>
            <p:cNvSpPr txBox="1">
              <a:spLocks noChangeArrowheads="1"/>
            </p:cNvSpPr>
            <p:nvPr/>
          </p:nvSpPr>
          <p:spPr bwMode="auto">
            <a:xfrm>
              <a:off x="5175" y="3001"/>
              <a:ext cx="32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J</a:t>
              </a:r>
              <a:r>
                <a:rPr lang="en-US" altLang="zh-CN" baseline="-25000"/>
                <a:t>3</a:t>
              </a:r>
              <a:r>
                <a:rPr lang="en-US" altLang="zh-CN"/>
                <a:t> </a:t>
              </a:r>
            </a:p>
          </p:txBody>
        </p:sp>
        <p:sp>
          <p:nvSpPr>
            <p:cNvPr id="79904" name="Text Box 32"/>
            <p:cNvSpPr txBox="1">
              <a:spLocks noChangeArrowheads="1"/>
            </p:cNvSpPr>
            <p:nvPr/>
          </p:nvSpPr>
          <p:spPr bwMode="auto">
            <a:xfrm>
              <a:off x="5169" y="3550"/>
              <a:ext cx="32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J</a:t>
              </a:r>
              <a:r>
                <a:rPr lang="en-US" altLang="zh-CN" baseline="-25000"/>
                <a:t>1</a:t>
              </a:r>
              <a:r>
                <a:rPr lang="en-US" altLang="zh-CN"/>
                <a:t> </a:t>
              </a:r>
            </a:p>
          </p:txBody>
        </p:sp>
        <p:sp>
          <p:nvSpPr>
            <p:cNvPr id="79905" name="Text Box 33"/>
            <p:cNvSpPr txBox="1">
              <a:spLocks noChangeArrowheads="1"/>
            </p:cNvSpPr>
            <p:nvPr/>
          </p:nvSpPr>
          <p:spPr bwMode="auto">
            <a:xfrm>
              <a:off x="5161" y="3253"/>
              <a:ext cx="32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J</a:t>
              </a:r>
              <a:r>
                <a:rPr lang="en-US" altLang="zh-CN" baseline="-25000"/>
                <a:t>2</a:t>
              </a:r>
              <a:r>
                <a:rPr lang="en-US" altLang="zh-CN"/>
                <a:t> </a:t>
              </a:r>
            </a:p>
          </p:txBody>
        </p:sp>
      </p:grpSp>
      <p:sp useBgFill="1">
        <p:nvSpPr>
          <p:cNvPr id="79906" name="Rectangle 34"/>
          <p:cNvSpPr>
            <a:spLocks noChangeArrowheads="1"/>
          </p:cNvSpPr>
          <p:nvPr/>
        </p:nvSpPr>
        <p:spPr bwMode="auto">
          <a:xfrm>
            <a:off x="9551988" y="5703888"/>
            <a:ext cx="431800" cy="31750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 useBgFill="1">
        <p:nvSpPr>
          <p:cNvPr id="79907" name="Rectangle 35"/>
          <p:cNvSpPr>
            <a:spLocks noChangeArrowheads="1"/>
          </p:cNvSpPr>
          <p:nvPr/>
        </p:nvSpPr>
        <p:spPr bwMode="auto">
          <a:xfrm>
            <a:off x="8472489" y="5486401"/>
            <a:ext cx="935037" cy="358775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9912" name="Group 40"/>
          <p:cNvGrpSpPr>
            <a:grpSpLocks/>
          </p:cNvGrpSpPr>
          <p:nvPr/>
        </p:nvGrpSpPr>
        <p:grpSpPr bwMode="auto">
          <a:xfrm>
            <a:off x="8472488" y="4983163"/>
            <a:ext cx="920750" cy="457200"/>
            <a:chOff x="4468" y="3158"/>
            <a:chExt cx="580" cy="288"/>
          </a:xfrm>
        </p:grpSpPr>
        <p:sp>
          <p:nvSpPr>
            <p:cNvPr id="79908" name="Text Box 36"/>
            <p:cNvSpPr txBox="1">
              <a:spLocks noChangeArrowheads="1"/>
            </p:cNvSpPr>
            <p:nvPr/>
          </p:nvSpPr>
          <p:spPr bwMode="auto">
            <a:xfrm>
              <a:off x="4468" y="3158"/>
              <a:ext cx="58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front </a:t>
              </a:r>
            </a:p>
          </p:txBody>
        </p:sp>
        <p:sp>
          <p:nvSpPr>
            <p:cNvPr id="79909" name="Line 37"/>
            <p:cNvSpPr>
              <a:spLocks noChangeShapeType="1"/>
            </p:cNvSpPr>
            <p:nvPr/>
          </p:nvSpPr>
          <p:spPr bwMode="auto">
            <a:xfrm>
              <a:off x="4513" y="3412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98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98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98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98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99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99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99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99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79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79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6" grpId="0"/>
      <p:bldP spid="79906" grpId="0" animBg="1"/>
      <p:bldP spid="79907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60" name="Text Box 4"/>
          <p:cNvSpPr txBox="1">
            <a:spLocks noChangeArrowheads="1"/>
          </p:cNvSpPr>
          <p:nvPr/>
        </p:nvSpPr>
        <p:spPr bwMode="auto">
          <a:xfrm>
            <a:off x="2498726" y="620713"/>
            <a:ext cx="18065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latin typeface="华文中宋" pitchFamily="2" charset="-122"/>
                <a:ea typeface="华文中宋" pitchFamily="2" charset="-122"/>
              </a:rPr>
              <a:t>队列的应用 </a:t>
            </a:r>
          </a:p>
        </p:txBody>
      </p:sp>
      <p:sp>
        <p:nvSpPr>
          <p:cNvPr id="147461" name="Text Box 5"/>
          <p:cNvSpPr txBox="1">
            <a:spLocks noChangeArrowheads="1"/>
          </p:cNvSpPr>
          <p:nvPr/>
        </p:nvSpPr>
        <p:spPr bwMode="auto">
          <a:xfrm>
            <a:off x="6835776" y="723900"/>
            <a:ext cx="3033203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ea typeface="华文中宋" pitchFamily="2" charset="-122"/>
              </a:rPr>
              <a:t> </a:t>
            </a:r>
            <a:r>
              <a:rPr lang="en-US" altLang="zh-CN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en-US" altLang="zh-CN">
                <a:solidFill>
                  <a:srgbClr val="0000FF"/>
                </a:solidFill>
                <a:ea typeface="华文中宋" pitchFamily="2" charset="-122"/>
              </a:rPr>
              <a:t> </a:t>
            </a:r>
            <a:r>
              <a:rPr lang="en-US" altLang="zh-CN">
                <a:ea typeface="华文中宋" pitchFamily="2" charset="-122"/>
              </a:rPr>
              <a:t>             </a:t>
            </a:r>
            <a:r>
              <a:rPr lang="en-US" altLang="zh-CN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1     1</a:t>
            </a:r>
          </a:p>
          <a:p>
            <a:r>
              <a:rPr lang="en-US" altLang="zh-CN">
                <a:ea typeface="华文中宋" pitchFamily="2" charset="-122"/>
              </a:rPr>
              <a:t> </a:t>
            </a:r>
            <a:r>
              <a:rPr lang="en-US" altLang="zh-CN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en-US" altLang="zh-CN">
                <a:ea typeface="华文中宋" pitchFamily="2" charset="-122"/>
              </a:rPr>
              <a:t>           </a:t>
            </a:r>
            <a:r>
              <a:rPr lang="en-US" altLang="zh-CN">
                <a:solidFill>
                  <a:srgbClr val="0000FF"/>
                </a:solidFill>
                <a:ea typeface="华文中宋" pitchFamily="2" charset="-122"/>
              </a:rPr>
              <a:t>1    2     1</a:t>
            </a:r>
            <a:r>
              <a:rPr lang="en-US" altLang="zh-CN">
                <a:ea typeface="华文中宋" pitchFamily="2" charset="-122"/>
              </a:rPr>
              <a:t>  </a:t>
            </a:r>
          </a:p>
          <a:p>
            <a:r>
              <a:rPr lang="en-US" altLang="zh-CN">
                <a:ea typeface="华文中宋" pitchFamily="2" charset="-122"/>
              </a:rPr>
              <a:t> </a:t>
            </a:r>
            <a:r>
              <a:rPr lang="en-US" altLang="zh-CN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3</a:t>
            </a:r>
            <a:r>
              <a:rPr lang="en-US" altLang="zh-CN">
                <a:ea typeface="华文中宋" pitchFamily="2" charset="-122"/>
              </a:rPr>
              <a:t>       1     3     3     1</a:t>
            </a:r>
          </a:p>
          <a:p>
            <a:r>
              <a:rPr lang="en-US" altLang="zh-CN">
                <a:ea typeface="华文中宋" pitchFamily="2" charset="-122"/>
              </a:rPr>
              <a:t> </a:t>
            </a:r>
            <a:r>
              <a:rPr lang="en-US" altLang="zh-CN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4</a:t>
            </a:r>
            <a:r>
              <a:rPr lang="en-US" altLang="zh-CN">
                <a:ea typeface="华文中宋" pitchFamily="2" charset="-122"/>
              </a:rPr>
              <a:t>   1     4     6     4      1</a:t>
            </a:r>
          </a:p>
        </p:txBody>
      </p:sp>
      <p:sp>
        <p:nvSpPr>
          <p:cNvPr id="147462" name="Text Box 6"/>
          <p:cNvSpPr txBox="1">
            <a:spLocks noChangeArrowheads="1"/>
          </p:cNvSpPr>
          <p:nvPr/>
        </p:nvSpPr>
        <p:spPr bwMode="auto">
          <a:xfrm>
            <a:off x="2495550" y="1819275"/>
            <a:ext cx="3841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>
                <a:ea typeface="华文中宋" pitchFamily="2" charset="-122"/>
              </a:rPr>
              <a:t>利用循环队列的计算过程：</a:t>
            </a:r>
          </a:p>
        </p:txBody>
      </p:sp>
      <p:sp>
        <p:nvSpPr>
          <p:cNvPr id="147463" name="Text Box 7"/>
          <p:cNvSpPr txBox="1">
            <a:spLocks noChangeArrowheads="1"/>
          </p:cNvSpPr>
          <p:nvPr/>
        </p:nvSpPr>
        <p:spPr bwMode="auto">
          <a:xfrm>
            <a:off x="2495551" y="2241550"/>
            <a:ext cx="3185487" cy="11347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ea typeface="华文中宋" pitchFamily="2" charset="-122"/>
              </a:rPr>
              <a:t>假设只计算 </a:t>
            </a:r>
            <a:r>
              <a:rPr lang="en-US" altLang="zh-CN">
                <a:ea typeface="华文中宋" pitchFamily="2" charset="-122"/>
              </a:rPr>
              <a:t>2 </a:t>
            </a:r>
            <a:r>
              <a:rPr lang="zh-CN" altLang="en-US">
                <a:ea typeface="华文中宋" pitchFamily="2" charset="-122"/>
              </a:rPr>
              <a:t>行， </a:t>
            </a:r>
          </a:p>
          <a:p>
            <a:pPr>
              <a:lnSpc>
                <a:spcPct val="150000"/>
              </a:lnSpc>
            </a:pPr>
            <a:r>
              <a:rPr lang="zh-CN" altLang="en-US">
                <a:ea typeface="华文中宋" pitchFamily="2" charset="-122"/>
              </a:rPr>
              <a:t>队列的最大容量为 </a:t>
            </a:r>
            <a:r>
              <a:rPr lang="en-US" altLang="zh-CN">
                <a:ea typeface="华文中宋" pitchFamily="2" charset="-122"/>
              </a:rPr>
              <a:t>5</a:t>
            </a:r>
            <a:r>
              <a:rPr lang="zh-CN" altLang="en-US">
                <a:ea typeface="华文中宋" pitchFamily="2" charset="-122"/>
              </a:rPr>
              <a:t>。</a:t>
            </a:r>
          </a:p>
        </p:txBody>
      </p:sp>
      <p:sp>
        <p:nvSpPr>
          <p:cNvPr id="147469" name="Line 13"/>
          <p:cNvSpPr>
            <a:spLocks noChangeShapeType="1"/>
          </p:cNvSpPr>
          <p:nvPr/>
        </p:nvSpPr>
        <p:spPr bwMode="auto">
          <a:xfrm flipV="1">
            <a:off x="3433763" y="4318000"/>
            <a:ext cx="0" cy="43180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med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7470" name="Line 14"/>
          <p:cNvSpPr>
            <a:spLocks noChangeShapeType="1"/>
          </p:cNvSpPr>
          <p:nvPr/>
        </p:nvSpPr>
        <p:spPr bwMode="auto">
          <a:xfrm flipV="1">
            <a:off x="4946650" y="4318000"/>
            <a:ext cx="0" cy="4318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7471" name="Text Box 15"/>
          <p:cNvSpPr txBox="1">
            <a:spLocks noChangeArrowheads="1"/>
          </p:cNvSpPr>
          <p:nvPr/>
        </p:nvSpPr>
        <p:spPr bwMode="auto">
          <a:xfrm>
            <a:off x="3419475" y="4365625"/>
            <a:ext cx="844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0000FF"/>
                </a:solidFill>
                <a:ea typeface="宋体" pitchFamily="2" charset="-122"/>
              </a:rPr>
              <a:t>front</a:t>
            </a:r>
          </a:p>
        </p:txBody>
      </p:sp>
      <p:sp>
        <p:nvSpPr>
          <p:cNvPr id="147472" name="Text Box 16"/>
          <p:cNvSpPr txBox="1">
            <a:spLocks noChangeArrowheads="1"/>
          </p:cNvSpPr>
          <p:nvPr/>
        </p:nvSpPr>
        <p:spPr bwMode="auto">
          <a:xfrm>
            <a:off x="4921251" y="4365625"/>
            <a:ext cx="7413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rear</a:t>
            </a:r>
          </a:p>
        </p:txBody>
      </p:sp>
      <p:graphicFrame>
        <p:nvGraphicFramePr>
          <p:cNvPr id="147614" name="Group 158"/>
          <p:cNvGraphicFramePr>
            <a:graphicFrameLocks noGrp="1"/>
          </p:cNvGraphicFramePr>
          <p:nvPr/>
        </p:nvGraphicFramePr>
        <p:xfrm>
          <a:off x="3286126" y="3862388"/>
          <a:ext cx="1871663" cy="457200"/>
        </p:xfrm>
        <a:graphic>
          <a:graphicData uri="http://schemas.openxmlformats.org/drawingml/2006/table">
            <a:tbl>
              <a:tblPr/>
              <a:tblGrid>
                <a:gridCol w="374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0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7542" name="Group 86"/>
          <p:cNvGraphicFramePr>
            <a:graphicFrameLocks noGrp="1"/>
          </p:cNvGraphicFramePr>
          <p:nvPr/>
        </p:nvGraphicFramePr>
        <p:xfrm>
          <a:off x="3286126" y="4989513"/>
          <a:ext cx="1871663" cy="457200"/>
        </p:xfrm>
        <a:graphic>
          <a:graphicData uri="http://schemas.openxmlformats.org/drawingml/2006/table">
            <a:tbl>
              <a:tblPr/>
              <a:tblGrid>
                <a:gridCol w="374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0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4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4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7556" name="Line 100"/>
          <p:cNvSpPr>
            <a:spLocks noChangeShapeType="1"/>
          </p:cNvSpPr>
          <p:nvPr/>
        </p:nvSpPr>
        <p:spPr bwMode="auto">
          <a:xfrm flipV="1">
            <a:off x="3824288" y="5445125"/>
            <a:ext cx="0" cy="43180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med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7557" name="Line 101"/>
          <p:cNvSpPr>
            <a:spLocks noChangeShapeType="1"/>
          </p:cNvSpPr>
          <p:nvPr/>
        </p:nvSpPr>
        <p:spPr bwMode="auto">
          <a:xfrm flipV="1">
            <a:off x="3455988" y="5445125"/>
            <a:ext cx="0" cy="4318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7558" name="Text Box 102"/>
          <p:cNvSpPr txBox="1">
            <a:spLocks noChangeArrowheads="1"/>
          </p:cNvSpPr>
          <p:nvPr/>
        </p:nvSpPr>
        <p:spPr bwMode="auto">
          <a:xfrm>
            <a:off x="3810000" y="5492750"/>
            <a:ext cx="844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0000FF"/>
                </a:solidFill>
                <a:ea typeface="宋体" pitchFamily="2" charset="-122"/>
              </a:rPr>
              <a:t>front</a:t>
            </a:r>
          </a:p>
        </p:txBody>
      </p:sp>
      <p:sp>
        <p:nvSpPr>
          <p:cNvPr id="147559" name="Text Box 103"/>
          <p:cNvSpPr txBox="1">
            <a:spLocks noChangeArrowheads="1"/>
          </p:cNvSpPr>
          <p:nvPr/>
        </p:nvSpPr>
        <p:spPr bwMode="auto">
          <a:xfrm>
            <a:off x="2709863" y="5492750"/>
            <a:ext cx="7413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rear</a:t>
            </a:r>
          </a:p>
        </p:txBody>
      </p:sp>
      <p:graphicFrame>
        <p:nvGraphicFramePr>
          <p:cNvPr id="147560" name="Group 104"/>
          <p:cNvGraphicFramePr>
            <a:graphicFrameLocks noGrp="1"/>
          </p:cNvGraphicFramePr>
          <p:nvPr/>
        </p:nvGraphicFramePr>
        <p:xfrm>
          <a:off x="6959601" y="2781300"/>
          <a:ext cx="1871663" cy="457200"/>
        </p:xfrm>
        <a:graphic>
          <a:graphicData uri="http://schemas.openxmlformats.org/drawingml/2006/table">
            <a:tbl>
              <a:tblPr/>
              <a:tblGrid>
                <a:gridCol w="374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0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4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4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7574" name="Line 118"/>
          <p:cNvSpPr>
            <a:spLocks noChangeShapeType="1"/>
          </p:cNvSpPr>
          <p:nvPr/>
        </p:nvSpPr>
        <p:spPr bwMode="auto">
          <a:xfrm flipV="1">
            <a:off x="7910513" y="3236913"/>
            <a:ext cx="0" cy="43180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med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7575" name="Line 119"/>
          <p:cNvSpPr>
            <a:spLocks noChangeShapeType="1"/>
          </p:cNvSpPr>
          <p:nvPr/>
        </p:nvSpPr>
        <p:spPr bwMode="auto">
          <a:xfrm flipV="1">
            <a:off x="7489825" y="3236913"/>
            <a:ext cx="0" cy="4318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7576" name="Text Box 120"/>
          <p:cNvSpPr txBox="1">
            <a:spLocks noChangeArrowheads="1"/>
          </p:cNvSpPr>
          <p:nvPr/>
        </p:nvSpPr>
        <p:spPr bwMode="auto">
          <a:xfrm>
            <a:off x="7896225" y="3284538"/>
            <a:ext cx="844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0000FF"/>
                </a:solidFill>
                <a:ea typeface="宋体" pitchFamily="2" charset="-122"/>
              </a:rPr>
              <a:t>front</a:t>
            </a:r>
          </a:p>
        </p:txBody>
      </p:sp>
      <p:sp>
        <p:nvSpPr>
          <p:cNvPr id="147577" name="Text Box 121"/>
          <p:cNvSpPr txBox="1">
            <a:spLocks noChangeArrowheads="1"/>
          </p:cNvSpPr>
          <p:nvPr/>
        </p:nvSpPr>
        <p:spPr bwMode="auto">
          <a:xfrm>
            <a:off x="6743701" y="3284538"/>
            <a:ext cx="7413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rear</a:t>
            </a:r>
          </a:p>
        </p:txBody>
      </p:sp>
      <p:graphicFrame>
        <p:nvGraphicFramePr>
          <p:cNvPr id="147578" name="Group 122"/>
          <p:cNvGraphicFramePr>
            <a:graphicFrameLocks noGrp="1"/>
          </p:cNvGraphicFramePr>
          <p:nvPr/>
        </p:nvGraphicFramePr>
        <p:xfrm>
          <a:off x="6958013" y="3933825"/>
          <a:ext cx="1871662" cy="457200"/>
        </p:xfrm>
        <a:graphic>
          <a:graphicData uri="http://schemas.openxmlformats.org/drawingml/2006/table">
            <a:tbl>
              <a:tblPr/>
              <a:tblGrid>
                <a:gridCol w="374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0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4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4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7592" name="Line 136"/>
          <p:cNvSpPr>
            <a:spLocks noChangeShapeType="1"/>
          </p:cNvSpPr>
          <p:nvPr/>
        </p:nvSpPr>
        <p:spPr bwMode="auto">
          <a:xfrm flipV="1">
            <a:off x="8267700" y="4389438"/>
            <a:ext cx="0" cy="43180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med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7593" name="Line 137"/>
          <p:cNvSpPr>
            <a:spLocks noChangeShapeType="1"/>
          </p:cNvSpPr>
          <p:nvPr/>
        </p:nvSpPr>
        <p:spPr bwMode="auto">
          <a:xfrm flipV="1">
            <a:off x="7848600" y="4389438"/>
            <a:ext cx="0" cy="4318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7594" name="Text Box 138"/>
          <p:cNvSpPr txBox="1">
            <a:spLocks noChangeArrowheads="1"/>
          </p:cNvSpPr>
          <p:nvPr/>
        </p:nvSpPr>
        <p:spPr bwMode="auto">
          <a:xfrm>
            <a:off x="8253413" y="4437063"/>
            <a:ext cx="844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0000FF"/>
                </a:solidFill>
                <a:ea typeface="宋体" pitchFamily="2" charset="-122"/>
              </a:rPr>
              <a:t>front</a:t>
            </a:r>
          </a:p>
        </p:txBody>
      </p:sp>
      <p:sp>
        <p:nvSpPr>
          <p:cNvPr id="147595" name="Text Box 139"/>
          <p:cNvSpPr txBox="1">
            <a:spLocks noChangeArrowheads="1"/>
          </p:cNvSpPr>
          <p:nvPr/>
        </p:nvSpPr>
        <p:spPr bwMode="auto">
          <a:xfrm>
            <a:off x="7102476" y="4437063"/>
            <a:ext cx="7413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rear</a:t>
            </a:r>
          </a:p>
        </p:txBody>
      </p:sp>
      <p:graphicFrame>
        <p:nvGraphicFramePr>
          <p:cNvPr id="147596" name="Group 140"/>
          <p:cNvGraphicFramePr>
            <a:graphicFrameLocks noGrp="1"/>
          </p:cNvGraphicFramePr>
          <p:nvPr/>
        </p:nvGraphicFramePr>
        <p:xfrm>
          <a:off x="6958013" y="5060950"/>
          <a:ext cx="1871662" cy="457200"/>
        </p:xfrm>
        <a:graphic>
          <a:graphicData uri="http://schemas.openxmlformats.org/drawingml/2006/table">
            <a:tbl>
              <a:tblPr/>
              <a:tblGrid>
                <a:gridCol w="374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0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4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4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7610" name="Line 154"/>
          <p:cNvSpPr>
            <a:spLocks noChangeShapeType="1"/>
          </p:cNvSpPr>
          <p:nvPr/>
        </p:nvSpPr>
        <p:spPr bwMode="auto">
          <a:xfrm flipV="1">
            <a:off x="8648700" y="5516563"/>
            <a:ext cx="0" cy="43180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med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7611" name="Line 155"/>
          <p:cNvSpPr>
            <a:spLocks noChangeShapeType="1"/>
          </p:cNvSpPr>
          <p:nvPr/>
        </p:nvSpPr>
        <p:spPr bwMode="auto">
          <a:xfrm flipV="1">
            <a:off x="8229600" y="5516563"/>
            <a:ext cx="0" cy="4318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7612" name="Text Box 156"/>
          <p:cNvSpPr txBox="1">
            <a:spLocks noChangeArrowheads="1"/>
          </p:cNvSpPr>
          <p:nvPr/>
        </p:nvSpPr>
        <p:spPr bwMode="auto">
          <a:xfrm>
            <a:off x="8634413" y="5564188"/>
            <a:ext cx="844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0000FF"/>
                </a:solidFill>
                <a:ea typeface="宋体" pitchFamily="2" charset="-122"/>
              </a:rPr>
              <a:t>front</a:t>
            </a:r>
          </a:p>
        </p:txBody>
      </p:sp>
      <p:sp>
        <p:nvSpPr>
          <p:cNvPr id="147613" name="Text Box 157"/>
          <p:cNvSpPr txBox="1">
            <a:spLocks noChangeArrowheads="1"/>
          </p:cNvSpPr>
          <p:nvPr/>
        </p:nvSpPr>
        <p:spPr bwMode="auto">
          <a:xfrm>
            <a:off x="7483476" y="5564188"/>
            <a:ext cx="7413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rear</a:t>
            </a:r>
          </a:p>
        </p:txBody>
      </p:sp>
      <p:sp>
        <p:nvSpPr>
          <p:cNvPr id="147630" name="Text Box 174"/>
          <p:cNvSpPr txBox="1">
            <a:spLocks noChangeArrowheads="1"/>
          </p:cNvSpPr>
          <p:nvPr/>
        </p:nvSpPr>
        <p:spPr bwMode="auto">
          <a:xfrm>
            <a:off x="2495551" y="1196975"/>
            <a:ext cx="36242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ea typeface="华文中宋" pitchFamily="2" charset="-122"/>
              </a:rPr>
              <a:t>补例 </a:t>
            </a:r>
            <a:r>
              <a:rPr lang="en-US" altLang="zh-CN">
                <a:ea typeface="华文中宋" pitchFamily="2" charset="-122"/>
              </a:rPr>
              <a:t>1</a:t>
            </a:r>
            <a:r>
              <a:rPr lang="zh-CN" altLang="en-US">
                <a:ea typeface="华文中宋" pitchFamily="2" charset="-122"/>
              </a:rPr>
              <a:t>：</a:t>
            </a:r>
            <a:r>
              <a:rPr lang="zh-CN" altLang="en-US"/>
              <a:t>杨辉三角的计算  </a:t>
            </a:r>
          </a:p>
        </p:txBody>
      </p:sp>
      <p:pic>
        <p:nvPicPr>
          <p:cNvPr id="7680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47528" y="3501008"/>
            <a:ext cx="8558652" cy="2952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7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474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474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7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7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476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476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47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47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47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47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475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475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47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47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47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47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475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75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47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47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147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147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475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475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147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147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147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147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1475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1475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147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147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500"/>
                                        <p:tgtEl>
                                          <p:spTgt spid="147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147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68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68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68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680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3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680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680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680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680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680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680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680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461" grpId="0"/>
      <p:bldP spid="147462" grpId="0"/>
      <p:bldP spid="147463" grpId="0"/>
      <p:bldP spid="147469" grpId="0" animBg="1"/>
      <p:bldP spid="147470" grpId="0" animBg="1"/>
      <p:bldP spid="147471" grpId="0"/>
      <p:bldP spid="147472" grpId="0"/>
      <p:bldP spid="147556" grpId="0" animBg="1"/>
      <p:bldP spid="147557" grpId="0" animBg="1"/>
      <p:bldP spid="147558" grpId="0"/>
      <p:bldP spid="147559" grpId="0"/>
      <p:bldP spid="147574" grpId="0" animBg="1"/>
      <p:bldP spid="147575" grpId="0" animBg="1"/>
      <p:bldP spid="147576" grpId="0"/>
      <p:bldP spid="147577" grpId="0"/>
      <p:bldP spid="147592" grpId="0" animBg="1"/>
      <p:bldP spid="147593" grpId="0" animBg="1"/>
      <p:bldP spid="147594" grpId="0"/>
      <p:bldP spid="147595" grpId="0"/>
      <p:bldP spid="147610" grpId="0" animBg="1"/>
      <p:bldP spid="147611" grpId="0" animBg="1"/>
      <p:bldP spid="147612" grpId="0"/>
      <p:bldP spid="147613" grpId="0"/>
      <p:bldP spid="147630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8" name="Text Box 4"/>
          <p:cNvSpPr txBox="1">
            <a:spLocks noChangeArrowheads="1"/>
          </p:cNvSpPr>
          <p:nvPr/>
        </p:nvSpPr>
        <p:spPr bwMode="auto">
          <a:xfrm>
            <a:off x="2208214" y="955675"/>
            <a:ext cx="45370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>
                <a:ea typeface="华文中宋" pitchFamily="2" charset="-122"/>
              </a:rPr>
              <a:t>补例 </a:t>
            </a:r>
            <a:r>
              <a:rPr lang="en-US" altLang="zh-CN">
                <a:ea typeface="华文中宋" pitchFamily="2" charset="-122"/>
              </a:rPr>
              <a:t>2</a:t>
            </a:r>
            <a:r>
              <a:rPr lang="zh-CN" altLang="en-US">
                <a:ea typeface="华文中宋" pitchFamily="2" charset="-122"/>
              </a:rPr>
              <a:t>：</a:t>
            </a:r>
            <a:r>
              <a:rPr lang="en-US" altLang="zh-CN">
                <a:ea typeface="华文中宋" pitchFamily="2" charset="-122"/>
              </a:rPr>
              <a:t>CPU </a:t>
            </a:r>
            <a:r>
              <a:rPr lang="zh-CN" altLang="en-US"/>
              <a:t>资源的竞争问题</a:t>
            </a:r>
            <a:r>
              <a:rPr lang="zh-CN" altLang="en-US">
                <a:ea typeface="华文中宋" pitchFamily="2" charset="-122"/>
              </a:rPr>
              <a:t> </a:t>
            </a:r>
          </a:p>
        </p:txBody>
      </p:sp>
      <p:sp>
        <p:nvSpPr>
          <p:cNvPr id="149509" name="Text Box 5"/>
          <p:cNvSpPr txBox="1">
            <a:spLocks noChangeArrowheads="1"/>
          </p:cNvSpPr>
          <p:nvPr/>
        </p:nvSpPr>
        <p:spPr bwMode="auto">
          <a:xfrm>
            <a:off x="2343150" y="1733550"/>
            <a:ext cx="8001000" cy="407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lnSpc>
                <a:spcPct val="140000"/>
              </a:lnSpc>
              <a:spcBef>
                <a:spcPct val="50000"/>
              </a:spcBef>
            </a:pPr>
            <a:r>
              <a:rPr lang="en-US" altLang="zh-CN"/>
              <a:t>        </a:t>
            </a:r>
            <a:r>
              <a:rPr lang="zh-CN" altLang="en-US"/>
              <a:t>在多用户计算机系统中，各个用户需要使用 </a:t>
            </a:r>
            <a:r>
              <a:rPr lang="en-US" altLang="zh-CN"/>
              <a:t>CPU </a:t>
            </a:r>
          </a:p>
          <a:p>
            <a:pPr algn="just">
              <a:lnSpc>
                <a:spcPct val="140000"/>
              </a:lnSpc>
              <a:spcBef>
                <a:spcPct val="50000"/>
              </a:spcBef>
            </a:pPr>
            <a:r>
              <a:rPr lang="zh-CN" altLang="en-US"/>
              <a:t>运行自己的程序，它们分别向操作系统提出使用 </a:t>
            </a:r>
            <a:r>
              <a:rPr lang="en-US" altLang="zh-CN"/>
              <a:t>CPU </a:t>
            </a:r>
          </a:p>
          <a:p>
            <a:pPr algn="just">
              <a:lnSpc>
                <a:spcPct val="140000"/>
              </a:lnSpc>
              <a:spcBef>
                <a:spcPct val="50000"/>
              </a:spcBef>
            </a:pPr>
            <a:r>
              <a:rPr lang="zh-CN" altLang="en-US"/>
              <a:t>的请求，操作系统按照每个请求在时间上的先后顺序， </a:t>
            </a:r>
          </a:p>
          <a:p>
            <a:pPr algn="just">
              <a:lnSpc>
                <a:spcPct val="140000"/>
              </a:lnSpc>
              <a:spcBef>
                <a:spcPct val="50000"/>
              </a:spcBef>
            </a:pPr>
            <a:r>
              <a:rPr lang="zh-CN" altLang="en-US"/>
              <a:t>将其排成一个队列，每次把</a:t>
            </a:r>
            <a:r>
              <a:rPr lang="en-US" altLang="zh-CN"/>
              <a:t>CPU</a:t>
            </a:r>
            <a:r>
              <a:rPr lang="zh-CN" altLang="en-US"/>
              <a:t>分配给队头用户使用， </a:t>
            </a:r>
          </a:p>
          <a:p>
            <a:pPr algn="just">
              <a:lnSpc>
                <a:spcPct val="140000"/>
              </a:lnSpc>
              <a:spcBef>
                <a:spcPct val="50000"/>
              </a:spcBef>
            </a:pPr>
            <a:r>
              <a:rPr lang="zh-CN" altLang="en-US"/>
              <a:t>当相应的程序运行结束，则令其出队，再把</a:t>
            </a:r>
            <a:r>
              <a:rPr lang="en-US" altLang="zh-CN"/>
              <a:t>CPU</a:t>
            </a:r>
            <a:r>
              <a:rPr lang="zh-CN" altLang="en-US"/>
              <a:t>分配 </a:t>
            </a:r>
          </a:p>
          <a:p>
            <a:pPr algn="just">
              <a:lnSpc>
                <a:spcPct val="140000"/>
              </a:lnSpc>
              <a:spcBef>
                <a:spcPct val="50000"/>
              </a:spcBef>
            </a:pPr>
            <a:r>
              <a:rPr lang="zh-CN" altLang="en-US"/>
              <a:t>给新的队头用户，直到所有用户任务处理完毕。 </a:t>
            </a:r>
          </a:p>
        </p:txBody>
      </p:sp>
    </p:spTree>
  </p:cSld>
  <p:clrMapOvr>
    <a:masterClrMapping/>
  </p:clrMapOvr>
  <p:transition spd="slow">
    <p:split dir="in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6" name="Text Box 4"/>
          <p:cNvSpPr txBox="1">
            <a:spLocks noChangeArrowheads="1"/>
          </p:cNvSpPr>
          <p:nvPr/>
        </p:nvSpPr>
        <p:spPr bwMode="auto">
          <a:xfrm>
            <a:off x="2279650" y="717550"/>
            <a:ext cx="7315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>
                <a:ea typeface="华文中宋" pitchFamily="2" charset="-122"/>
              </a:rPr>
              <a:t>补</a:t>
            </a:r>
            <a:r>
              <a:rPr lang="zh-CN" altLang="en-US">
                <a:latin typeface="华文中宋" pitchFamily="2" charset="-122"/>
                <a:ea typeface="华文中宋" pitchFamily="2" charset="-122"/>
              </a:rPr>
              <a:t>例 </a:t>
            </a:r>
            <a:r>
              <a:rPr lang="en-US" altLang="zh-CN"/>
              <a:t>3</a:t>
            </a:r>
            <a:r>
              <a:rPr lang="zh-CN" altLang="en-US"/>
              <a:t>：主机与外部设备之间速度不匹配的问题。 </a:t>
            </a:r>
          </a:p>
        </p:txBody>
      </p:sp>
      <p:sp>
        <p:nvSpPr>
          <p:cNvPr id="151557" name="Text Box 5"/>
          <p:cNvSpPr txBox="1">
            <a:spLocks noChangeArrowheads="1"/>
          </p:cNvSpPr>
          <p:nvPr/>
        </p:nvSpPr>
        <p:spPr bwMode="auto">
          <a:xfrm>
            <a:off x="2279651" y="1436689"/>
            <a:ext cx="7777163" cy="4708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/>
              <a:t>        </a:t>
            </a:r>
            <a:r>
              <a:rPr lang="zh-CN" altLang="en-US"/>
              <a:t>以主机和打印机为例来说明，主机输出数据给打印 </a:t>
            </a:r>
          </a:p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zh-CN" altLang="en-US"/>
              <a:t>机打印，主机输出数据的速度比打印机打印的速度要快 </a:t>
            </a:r>
          </a:p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zh-CN" altLang="en-US"/>
              <a:t>得多，若直接把输出的数据送给打印机打印，由于速度 </a:t>
            </a:r>
          </a:p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zh-CN" altLang="en-US"/>
              <a:t>不匹配，显然不行。</a:t>
            </a:r>
            <a:r>
              <a:rPr lang="zh-CN" altLang="en-US">
                <a:solidFill>
                  <a:srgbClr val="0000FF"/>
                </a:solidFill>
              </a:rPr>
              <a:t>解决的方法</a:t>
            </a:r>
            <a:r>
              <a:rPr lang="zh-CN" altLang="en-US"/>
              <a:t>是设置一个打印数据缓 </a:t>
            </a:r>
          </a:p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zh-CN" altLang="en-US"/>
              <a:t>冲区，主机把要打印的数据依此写到这个缓冲区中，写 </a:t>
            </a:r>
          </a:p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zh-CN" altLang="en-US"/>
              <a:t>满后就暂停输出，继而去做其它的事情，打印机就从缓 </a:t>
            </a:r>
          </a:p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zh-CN" altLang="en-US"/>
              <a:t>冲区中按照先进先出的原则依次取出数据并打印，打印 </a:t>
            </a:r>
          </a:p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zh-CN" altLang="en-US"/>
              <a:t>完后再向主机发出请求，主机接到请求后再向缓冲区写 </a:t>
            </a:r>
          </a:p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zh-CN" altLang="en-US"/>
              <a:t>入打印数据，这样利用队列既保证了打印数据的正确， </a:t>
            </a:r>
          </a:p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zh-CN" altLang="en-US"/>
              <a:t>又使主机提高了效率。 </a:t>
            </a:r>
          </a:p>
        </p:txBody>
      </p:sp>
    </p:spTree>
  </p:cSld>
  <p:clrMapOvr>
    <a:masterClrMapping/>
  </p:clrMapOvr>
  <p:transition spd="slow">
    <p:split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Text Box 3"/>
          <p:cNvSpPr txBox="1">
            <a:spLocks noChangeArrowheads="1"/>
          </p:cNvSpPr>
          <p:nvPr/>
        </p:nvSpPr>
        <p:spPr bwMode="auto">
          <a:xfrm>
            <a:off x="1920875" y="476672"/>
            <a:ext cx="8496300" cy="5759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pPr>
              <a:lnSpc>
                <a:spcPct val="150000"/>
              </a:lnSpc>
            </a:pPr>
            <a:r>
              <a:rPr lang="zh-CN" altLang="en-US" dirty="0">
                <a:ea typeface="华文中宋" pitchFamily="2" charset="-122"/>
              </a:rPr>
              <a:t>                                            课堂练习</a:t>
            </a:r>
            <a:r>
              <a:rPr lang="zh-CN" altLang="en-US" dirty="0"/>
              <a:t> </a:t>
            </a:r>
            <a:br>
              <a:rPr lang="zh-CN" altLang="en-US" dirty="0"/>
            </a:br>
            <a:r>
              <a:rPr lang="en-US" altLang="zh-CN" dirty="0"/>
              <a:t>1</a:t>
            </a:r>
            <a:r>
              <a:rPr lang="zh-CN" altLang="en-US" dirty="0"/>
              <a:t>、循环队列用数组 </a:t>
            </a:r>
            <a:r>
              <a:rPr lang="en-US" altLang="zh-CN" dirty="0"/>
              <a:t>A[0, </a:t>
            </a:r>
            <a:r>
              <a:rPr lang="en-US" altLang="zh-CN" i="1" dirty="0"/>
              <a:t>m</a:t>
            </a:r>
            <a:r>
              <a:rPr lang="en-US" altLang="zh-CN" dirty="0"/>
              <a:t>-1] </a:t>
            </a:r>
            <a:r>
              <a:rPr lang="zh-CN" altLang="en-US" dirty="0"/>
              <a:t>存放其元素值，已知其头尾指 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      针分别是 </a:t>
            </a:r>
            <a:r>
              <a:rPr lang="en-US" altLang="zh-CN" dirty="0"/>
              <a:t>front </a:t>
            </a:r>
            <a:r>
              <a:rPr lang="zh-CN" altLang="en-US" dirty="0"/>
              <a:t>和 </a:t>
            </a:r>
            <a:r>
              <a:rPr lang="en-US" altLang="zh-CN" dirty="0"/>
              <a:t>rear ,</a:t>
            </a:r>
            <a:r>
              <a:rPr lang="zh-CN" altLang="en-US" dirty="0"/>
              <a:t>则当前队列中的元素个数是（）。 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      </a:t>
            </a:r>
            <a:r>
              <a:rPr lang="en-US" altLang="zh-CN" dirty="0"/>
              <a:t>(A)  (rear-</a:t>
            </a:r>
            <a:r>
              <a:rPr lang="en-US" altLang="zh-CN" dirty="0" err="1"/>
              <a:t>front+</a:t>
            </a:r>
            <a:r>
              <a:rPr lang="en-US" altLang="zh-CN" i="1" dirty="0" err="1"/>
              <a:t>m</a:t>
            </a:r>
            <a:r>
              <a:rPr lang="en-US" altLang="zh-CN" dirty="0"/>
              <a:t>)%</a:t>
            </a:r>
            <a:r>
              <a:rPr lang="en-US" altLang="zh-CN" i="1" dirty="0"/>
              <a:t>m</a:t>
            </a:r>
            <a:r>
              <a:rPr lang="en-US" altLang="zh-CN" dirty="0"/>
              <a:t>       (B)  rear-front+1 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      (C)  rear-front-1                   (D)  rear-front 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2</a:t>
            </a:r>
            <a:r>
              <a:rPr lang="zh-CN" altLang="en-US" dirty="0"/>
              <a:t>、以数组 </a:t>
            </a:r>
            <a:r>
              <a:rPr lang="en-US" altLang="zh-CN" dirty="0"/>
              <a:t>Q[0… </a:t>
            </a:r>
            <a:r>
              <a:rPr lang="en-US" altLang="zh-CN" i="1" dirty="0"/>
              <a:t>m</a:t>
            </a:r>
            <a:r>
              <a:rPr lang="zh-CN" altLang="en-US" dirty="0"/>
              <a:t>－</a:t>
            </a:r>
            <a:r>
              <a:rPr lang="en-US" altLang="zh-CN" dirty="0"/>
              <a:t>1] </a:t>
            </a:r>
            <a:r>
              <a:rPr lang="zh-CN" altLang="en-US" dirty="0"/>
              <a:t>存放循环队列中的元素，变量 </a:t>
            </a:r>
            <a:r>
              <a:rPr lang="en-US" altLang="zh-CN" dirty="0"/>
              <a:t>rear  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      </a:t>
            </a:r>
            <a:r>
              <a:rPr lang="zh-CN" altLang="en-US" dirty="0"/>
              <a:t>和 </a:t>
            </a:r>
            <a:r>
              <a:rPr lang="en-US" altLang="zh-CN" dirty="0" err="1"/>
              <a:t>qulen</a:t>
            </a:r>
            <a:r>
              <a:rPr lang="en-US" altLang="zh-CN" dirty="0"/>
              <a:t> </a:t>
            </a:r>
            <a:r>
              <a:rPr lang="zh-CN" altLang="en-US" dirty="0"/>
              <a:t>分别指示循环队列中队尾元素的实际位置和当前 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      队列中元素的个数，队列第一个元素的实际位置是（）。 　</a:t>
            </a:r>
            <a:br>
              <a:rPr lang="zh-CN" altLang="en-US" dirty="0"/>
            </a:br>
            <a:r>
              <a:rPr lang="zh-CN" altLang="en-US" dirty="0"/>
              <a:t>      </a:t>
            </a:r>
            <a:r>
              <a:rPr lang="en-US" altLang="zh-CN" dirty="0"/>
              <a:t>(A) 1+rear</a:t>
            </a:r>
            <a:r>
              <a:rPr lang="zh-CN" altLang="en-US" dirty="0"/>
              <a:t>－</a:t>
            </a:r>
            <a:r>
              <a:rPr lang="en-US" altLang="zh-CN" dirty="0" err="1"/>
              <a:t>qulen</a:t>
            </a:r>
            <a:r>
              <a:rPr lang="zh-CN" altLang="en-US" dirty="0"/>
              <a:t>　    </a:t>
            </a:r>
            <a:r>
              <a:rPr lang="en-US" altLang="zh-CN" dirty="0"/>
              <a:t>(B) rear</a:t>
            </a:r>
            <a:r>
              <a:rPr lang="zh-CN" altLang="en-US" dirty="0"/>
              <a:t>－</a:t>
            </a:r>
            <a:r>
              <a:rPr lang="en-US" altLang="zh-CN" dirty="0" err="1"/>
              <a:t>qulen</a:t>
            </a:r>
            <a:r>
              <a:rPr lang="zh-CN" altLang="en-US" dirty="0"/>
              <a:t>＋</a:t>
            </a:r>
            <a:r>
              <a:rPr lang="en-US" altLang="zh-CN" i="1" dirty="0"/>
              <a:t>m</a:t>
            </a:r>
            <a:r>
              <a:rPr lang="zh-CN" altLang="en-US" dirty="0"/>
              <a:t>　</a:t>
            </a:r>
            <a:br>
              <a:rPr lang="zh-CN" altLang="en-US" dirty="0"/>
            </a:br>
            <a:r>
              <a:rPr lang="zh-CN" altLang="en-US" dirty="0"/>
              <a:t>      </a:t>
            </a:r>
            <a:r>
              <a:rPr lang="en-US" altLang="zh-CN" dirty="0"/>
              <a:t>(C) </a:t>
            </a:r>
            <a:r>
              <a:rPr lang="en-US" altLang="zh-CN" i="1" dirty="0"/>
              <a:t>m</a:t>
            </a:r>
            <a:r>
              <a:rPr lang="zh-CN" altLang="en-US" dirty="0"/>
              <a:t>－</a:t>
            </a:r>
            <a:r>
              <a:rPr lang="en-US" altLang="zh-CN" dirty="0" err="1"/>
              <a:t>qulen</a:t>
            </a:r>
            <a:r>
              <a:rPr lang="zh-CN" altLang="en-US" dirty="0"/>
              <a:t>　             </a:t>
            </a:r>
            <a:r>
              <a:rPr lang="en-US" altLang="zh-CN" dirty="0"/>
              <a:t>(D) 1</a:t>
            </a:r>
            <a:r>
              <a:rPr lang="zh-CN" altLang="en-US" dirty="0"/>
              <a:t>＋</a:t>
            </a:r>
            <a:r>
              <a:rPr lang="en-US" altLang="zh-CN" dirty="0"/>
              <a:t>(rear</a:t>
            </a:r>
            <a:r>
              <a:rPr lang="zh-CN" altLang="en-US" dirty="0"/>
              <a:t>－</a:t>
            </a:r>
            <a:r>
              <a:rPr lang="en-US" altLang="zh-CN" dirty="0" err="1"/>
              <a:t>qulen</a:t>
            </a:r>
            <a:r>
              <a:rPr lang="zh-CN" altLang="en-US" dirty="0"/>
              <a:t>＋</a:t>
            </a:r>
            <a:r>
              <a:rPr lang="en-US" altLang="zh-CN" i="1" dirty="0"/>
              <a:t>m</a:t>
            </a:r>
            <a:r>
              <a:rPr lang="en-US" altLang="zh-CN" dirty="0"/>
              <a:t>) % </a:t>
            </a:r>
            <a:r>
              <a:rPr lang="en-US" altLang="zh-CN" i="1" dirty="0"/>
              <a:t>m </a:t>
            </a:r>
            <a:endParaRPr lang="en-US" altLang="zh-CN" dirty="0"/>
          </a:p>
        </p:txBody>
      </p:sp>
    </p:spTree>
  </p:cSld>
  <p:clrMapOvr>
    <a:masterClrMapping/>
  </p:clrMapOvr>
  <p:transition spd="slow">
    <p:diamond/>
  </p:transition>
</p:sld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13183</TotalTime>
  <Words>5950</Words>
  <Application>Microsoft Office PowerPoint</Application>
  <PresentationFormat>宽屏</PresentationFormat>
  <Paragraphs>1017</Paragraphs>
  <Slides>55</Slides>
  <Notes>46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55</vt:i4>
      </vt:variant>
    </vt:vector>
  </HeadingPairs>
  <TitlesOfParts>
    <vt:vector size="65" baseType="lpstr">
      <vt:lpstr>黑体</vt:lpstr>
      <vt:lpstr>华文新魏</vt:lpstr>
      <vt:lpstr>华文中宋</vt:lpstr>
      <vt:lpstr>楷体_GB2312</vt:lpstr>
      <vt:lpstr>隶书</vt:lpstr>
      <vt:lpstr>Arial</vt:lpstr>
      <vt:lpstr>Times New Roman</vt:lpstr>
      <vt:lpstr>Wingdings</vt:lpstr>
      <vt:lpstr>默认设计模板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</dc:creator>
  <cp:lastModifiedBy>陈 润资</cp:lastModifiedBy>
  <cp:revision>767</cp:revision>
  <dcterms:created xsi:type="dcterms:W3CDTF">2004-01-29T07:02:12Z</dcterms:created>
  <dcterms:modified xsi:type="dcterms:W3CDTF">2022-09-28T12:02:30Z</dcterms:modified>
</cp:coreProperties>
</file>