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0"/>
  </p:notesMasterIdLst>
  <p:sldIdLst>
    <p:sldId id="256" r:id="rId2"/>
    <p:sldId id="263" r:id="rId3"/>
    <p:sldId id="384" r:id="rId4"/>
    <p:sldId id="470" r:id="rId5"/>
    <p:sldId id="519" r:id="rId6"/>
    <p:sldId id="472" r:id="rId7"/>
    <p:sldId id="425" r:id="rId8"/>
    <p:sldId id="520" r:id="rId9"/>
    <p:sldId id="521" r:id="rId10"/>
    <p:sldId id="522" r:id="rId11"/>
    <p:sldId id="523" r:id="rId12"/>
    <p:sldId id="524" r:id="rId13"/>
    <p:sldId id="525" r:id="rId14"/>
    <p:sldId id="526" r:id="rId15"/>
    <p:sldId id="527" r:id="rId16"/>
    <p:sldId id="436" r:id="rId17"/>
    <p:sldId id="480" r:id="rId18"/>
    <p:sldId id="484" r:id="rId19"/>
    <p:sldId id="440" r:id="rId20"/>
    <p:sldId id="528" r:id="rId21"/>
    <p:sldId id="485" r:id="rId22"/>
    <p:sldId id="529" r:id="rId23"/>
    <p:sldId id="530" r:id="rId24"/>
    <p:sldId id="531" r:id="rId25"/>
    <p:sldId id="532" r:id="rId26"/>
    <p:sldId id="533" r:id="rId27"/>
    <p:sldId id="534" r:id="rId28"/>
    <p:sldId id="492" r:id="rId29"/>
    <p:sldId id="493" r:id="rId30"/>
    <p:sldId id="494" r:id="rId31"/>
    <p:sldId id="495" r:id="rId32"/>
    <p:sldId id="496" r:id="rId33"/>
    <p:sldId id="502" r:id="rId34"/>
    <p:sldId id="497" r:id="rId35"/>
    <p:sldId id="504" r:id="rId36"/>
    <p:sldId id="498" r:id="rId37"/>
    <p:sldId id="503" r:id="rId38"/>
    <p:sldId id="379" r:id="rId39"/>
  </p:sldIdLst>
  <p:sldSz cx="12192000" cy="6858000"/>
  <p:notesSz cx="6858000" cy="9144000"/>
  <p:embeddedFontLst>
    <p:embeddedFont>
      <p:font typeface="Calibri" panose="020F0502020204030204" pitchFamily="34" charset="0"/>
      <p:regular r:id="rId41"/>
      <p:bold r:id="rId42"/>
      <p:italic r:id="rId43"/>
      <p:boldItalic r:id="rId44"/>
    </p:embeddedFont>
    <p:embeddedFont>
      <p:font typeface="Calibri Light" panose="020F0302020204030204" pitchFamily="34" charset="0"/>
      <p:regular r:id="rId45"/>
      <p:italic r:id="rId46"/>
    </p:embeddedFont>
    <p:embeddedFont>
      <p:font typeface="隶书" panose="02010509060101010101" pitchFamily="49" charset="-122"/>
      <p:regular r:id="rId47"/>
    </p:embeddedFont>
    <p:embeddedFont>
      <p:font typeface="微软雅黑" panose="020B0503020204020204" pitchFamily="34" charset="-122"/>
      <p:regular r:id="rId48"/>
      <p:bold r:id="rId49"/>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94">
          <p15:clr>
            <a:srgbClr val="A4A3A4"/>
          </p15:clr>
        </p15:guide>
        <p15:guide id="2" orient="horz" pos="4065">
          <p15:clr>
            <a:srgbClr val="A4A3A4"/>
          </p15:clr>
        </p15:guide>
        <p15:guide id="3" pos="325">
          <p15:clr>
            <a:srgbClr val="A4A3A4"/>
          </p15:clr>
        </p15:guide>
        <p15:guide id="4" pos="7106">
          <p15:clr>
            <a:srgbClr val="A4A3A4"/>
          </p15:clr>
        </p15:guide>
        <p15:guide id="5" pos="189">
          <p15:clr>
            <a:srgbClr val="A4A3A4"/>
          </p15:clr>
        </p15:guide>
        <p15:guide id="6"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1F1"/>
    <a:srgbClr val="BE1007"/>
    <a:srgbClr val="BF6D07"/>
    <a:srgbClr val="0D0D0D"/>
    <a:srgbClr val="404040"/>
    <a:srgbClr val="F5F5F5"/>
    <a:srgbClr val="F93D32"/>
    <a:srgbClr val="202022"/>
    <a:srgbClr val="5A9ED6"/>
    <a:srgbClr val="F731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88376" autoAdjust="0"/>
  </p:normalViewPr>
  <p:slideViewPr>
    <p:cSldViewPr snapToGrid="0" showGuides="1">
      <p:cViewPr varScale="1">
        <p:scale>
          <a:sx n="65" d="100"/>
          <a:sy n="65" d="100"/>
        </p:scale>
        <p:origin x="45" y="48"/>
      </p:cViewPr>
      <p:guideLst>
        <p:guide orient="horz" pos="1094"/>
        <p:guide orient="horz" pos="4065"/>
        <p:guide pos="325"/>
        <p:guide pos="7106"/>
        <p:guide pos="189"/>
        <p:guide pos="3840"/>
      </p:guideLst>
    </p:cSldViewPr>
  </p:slideViewPr>
  <p:notesTextViewPr>
    <p:cViewPr>
      <p:scale>
        <a:sx n="1" d="1"/>
        <a:sy n="1" d="1"/>
      </p:scale>
      <p:origin x="0" y="0"/>
    </p:cViewPr>
  </p:notesTextViewPr>
  <p:sorterViewPr>
    <p:cViewPr>
      <p:scale>
        <a:sx n="87" d="100"/>
        <a:sy n="87"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387EB66-2EB9-44FB-BDE3-207EEAD179C9}" type="doc">
      <dgm:prSet loTypeId="urn:microsoft.com/office/officeart/2005/8/layout/chevron2" loCatId="process" qsTypeId="urn:microsoft.com/office/officeart/2005/8/quickstyle/simple1#1" qsCatId="simple" csTypeId="urn:microsoft.com/office/officeart/2005/8/colors/accent1_2#1" csCatId="accent1" phldr="1"/>
      <dgm:spPr/>
      <dgm:t>
        <a:bodyPr/>
        <a:lstStyle/>
        <a:p>
          <a:endParaRPr lang="zh-CN" altLang="en-US"/>
        </a:p>
      </dgm:t>
    </dgm:pt>
    <dgm:pt modelId="{FCF7349B-C67A-4862-BB85-6690C35B1C96}">
      <dgm:prSet phldrT="[文本]" custT="1"/>
      <dgm:spPr/>
      <dgm:t>
        <a:bodyPr/>
        <a:lstStyle/>
        <a:p>
          <a:r>
            <a:rPr lang="zh-CN" altLang="en-US" sz="2400" b="1" dirty="0">
              <a:solidFill>
                <a:schemeClr val="tx1"/>
              </a:solidFill>
              <a:latin typeface="微软雅黑" pitchFamily="34" charset="-122"/>
              <a:ea typeface="微软雅黑" pitchFamily="34" charset="-122"/>
            </a:rPr>
            <a:t>诊断</a:t>
          </a:r>
        </a:p>
      </dgm:t>
    </dgm:pt>
    <dgm:pt modelId="{C1A19B4A-C24F-4765-9F08-6FFD850F8210}" type="parTrans" cxnId="{ACBBAF89-8347-40ED-AE50-CCA7EE47AE03}">
      <dgm:prSet/>
      <dgm:spPr/>
      <dgm:t>
        <a:bodyPr/>
        <a:lstStyle/>
        <a:p>
          <a:endParaRPr lang="zh-CN" altLang="en-US" b="1">
            <a:solidFill>
              <a:schemeClr val="tx1"/>
            </a:solidFill>
            <a:latin typeface="华康俪金黑W8(P)"/>
          </a:endParaRPr>
        </a:p>
      </dgm:t>
    </dgm:pt>
    <dgm:pt modelId="{5F48B56E-C6E9-478C-83C6-BFABE2B6E824}" type="sibTrans" cxnId="{ACBBAF89-8347-40ED-AE50-CCA7EE47AE03}">
      <dgm:prSet/>
      <dgm:spPr/>
      <dgm:t>
        <a:bodyPr/>
        <a:lstStyle/>
        <a:p>
          <a:endParaRPr lang="zh-CN" altLang="en-US" b="1">
            <a:solidFill>
              <a:schemeClr val="tx1"/>
            </a:solidFill>
            <a:latin typeface="华康俪金黑W8(P)"/>
          </a:endParaRPr>
        </a:p>
      </dgm:t>
    </dgm:pt>
    <dgm:pt modelId="{3E609A3C-A2AC-4ACB-9857-49835D806273}">
      <dgm:prSet phldrT="[文本]" custT="1"/>
      <dgm:spPr/>
      <dgm:t>
        <a:bodyPr/>
        <a:lstStyle/>
        <a:p>
          <a:r>
            <a:rPr lang="zh-CN" altLang="en-US" sz="2800" b="1" dirty="0">
              <a:solidFill>
                <a:schemeClr val="tx1"/>
              </a:solidFill>
              <a:latin typeface="微软雅黑" pitchFamily="34" charset="-122"/>
              <a:ea typeface="微软雅黑" pitchFamily="34" charset="-122"/>
            </a:rPr>
            <a:t>准确定位痛点</a:t>
          </a:r>
        </a:p>
      </dgm:t>
    </dgm:pt>
    <dgm:pt modelId="{C9231E62-7391-4E5B-A6CB-552D940A0AB9}" type="parTrans" cxnId="{A17329A2-C2B0-40D3-B0AC-745C061D961E}">
      <dgm:prSet/>
      <dgm:spPr/>
      <dgm:t>
        <a:bodyPr/>
        <a:lstStyle/>
        <a:p>
          <a:endParaRPr lang="zh-CN" altLang="en-US" b="1">
            <a:solidFill>
              <a:schemeClr val="tx1"/>
            </a:solidFill>
            <a:latin typeface="华康俪金黑W8(P)"/>
          </a:endParaRPr>
        </a:p>
      </dgm:t>
    </dgm:pt>
    <dgm:pt modelId="{B1A27E6D-2B9D-40C6-AB8B-3F7E3889F4DE}" type="sibTrans" cxnId="{A17329A2-C2B0-40D3-B0AC-745C061D961E}">
      <dgm:prSet/>
      <dgm:spPr/>
      <dgm:t>
        <a:bodyPr/>
        <a:lstStyle/>
        <a:p>
          <a:endParaRPr lang="zh-CN" altLang="en-US" b="1">
            <a:solidFill>
              <a:schemeClr val="tx1"/>
            </a:solidFill>
            <a:latin typeface="华康俪金黑W8(P)"/>
          </a:endParaRPr>
        </a:p>
      </dgm:t>
    </dgm:pt>
    <dgm:pt modelId="{062ECF6E-2B6B-4BF8-958E-1FA379DE6C5D}">
      <dgm:prSet phldrT="[文本]" custT="1"/>
      <dgm:spPr/>
      <dgm:t>
        <a:bodyPr/>
        <a:lstStyle/>
        <a:p>
          <a:r>
            <a:rPr lang="zh-CN" altLang="en-US" sz="2400" b="1" dirty="0">
              <a:solidFill>
                <a:schemeClr val="tx1"/>
              </a:solidFill>
              <a:latin typeface="微软雅黑" pitchFamily="34" charset="-122"/>
              <a:ea typeface="微软雅黑" pitchFamily="34" charset="-122"/>
            </a:rPr>
            <a:t>开方</a:t>
          </a:r>
        </a:p>
      </dgm:t>
    </dgm:pt>
    <dgm:pt modelId="{BC782BDE-8B55-42A9-B877-C11BB2B7865A}" type="parTrans" cxnId="{E03658BD-B7F9-43CA-B765-D7554CC787A3}">
      <dgm:prSet/>
      <dgm:spPr/>
      <dgm:t>
        <a:bodyPr/>
        <a:lstStyle/>
        <a:p>
          <a:endParaRPr lang="zh-CN" altLang="en-US" b="1">
            <a:solidFill>
              <a:schemeClr val="tx1"/>
            </a:solidFill>
            <a:latin typeface="华康俪金黑W8(P)"/>
          </a:endParaRPr>
        </a:p>
      </dgm:t>
    </dgm:pt>
    <dgm:pt modelId="{C46E646A-1DC2-40F9-9114-FF0760D97841}" type="sibTrans" cxnId="{E03658BD-B7F9-43CA-B765-D7554CC787A3}">
      <dgm:prSet/>
      <dgm:spPr/>
      <dgm:t>
        <a:bodyPr/>
        <a:lstStyle/>
        <a:p>
          <a:endParaRPr lang="zh-CN" altLang="en-US" b="1">
            <a:solidFill>
              <a:schemeClr val="tx1"/>
            </a:solidFill>
            <a:latin typeface="华康俪金黑W8(P)"/>
          </a:endParaRPr>
        </a:p>
      </dgm:t>
    </dgm:pt>
    <dgm:pt modelId="{5296B032-3D43-485C-AC4F-A093DDE4601F}">
      <dgm:prSet phldrT="[文本]" custT="1"/>
      <dgm:spPr/>
      <dgm:t>
        <a:bodyPr/>
        <a:lstStyle/>
        <a:p>
          <a:r>
            <a:rPr lang="zh-CN" altLang="en-US" sz="2800" b="1" dirty="0">
              <a:solidFill>
                <a:schemeClr val="tx1"/>
              </a:solidFill>
              <a:latin typeface="微软雅黑" pitchFamily="34" charset="-122"/>
              <a:ea typeface="微软雅黑" pitchFamily="34" charset="-122"/>
            </a:rPr>
            <a:t>提出合理解决方案</a:t>
          </a:r>
        </a:p>
      </dgm:t>
    </dgm:pt>
    <dgm:pt modelId="{F13CAAB0-AC78-4220-B800-90E007CCA568}" type="parTrans" cxnId="{67BD58CF-54FA-45CC-A170-6CF6A4C3EEF4}">
      <dgm:prSet/>
      <dgm:spPr/>
      <dgm:t>
        <a:bodyPr/>
        <a:lstStyle/>
        <a:p>
          <a:endParaRPr lang="zh-CN" altLang="en-US" b="1">
            <a:solidFill>
              <a:schemeClr val="tx1"/>
            </a:solidFill>
            <a:latin typeface="华康俪金黑W8(P)"/>
          </a:endParaRPr>
        </a:p>
      </dgm:t>
    </dgm:pt>
    <dgm:pt modelId="{A9E770A3-F7CB-4290-A0E0-497FC4E3C750}" type="sibTrans" cxnId="{67BD58CF-54FA-45CC-A170-6CF6A4C3EEF4}">
      <dgm:prSet/>
      <dgm:spPr/>
      <dgm:t>
        <a:bodyPr/>
        <a:lstStyle/>
        <a:p>
          <a:endParaRPr lang="zh-CN" altLang="en-US" b="1">
            <a:solidFill>
              <a:schemeClr val="tx1"/>
            </a:solidFill>
            <a:latin typeface="华康俪金黑W8(P)"/>
          </a:endParaRPr>
        </a:p>
      </dgm:t>
    </dgm:pt>
    <dgm:pt modelId="{4A1A6CA0-FFE9-4317-B035-89337C1CCD2C}">
      <dgm:prSet phldrT="[文本]" custT="1"/>
      <dgm:spPr/>
      <dgm:t>
        <a:bodyPr/>
        <a:lstStyle/>
        <a:p>
          <a:r>
            <a:rPr lang="zh-CN" altLang="en-US" sz="2400" b="1" dirty="0">
              <a:solidFill>
                <a:schemeClr val="tx1"/>
              </a:solidFill>
              <a:latin typeface="微软雅黑" pitchFamily="34" charset="-122"/>
              <a:ea typeface="微软雅黑" pitchFamily="34" charset="-122"/>
            </a:rPr>
            <a:t>配药</a:t>
          </a:r>
        </a:p>
      </dgm:t>
    </dgm:pt>
    <dgm:pt modelId="{507CC9C8-1FB0-4187-A06B-130A43AE0E54}" type="parTrans" cxnId="{2425A577-275E-4417-B1FB-F60FB250E301}">
      <dgm:prSet/>
      <dgm:spPr/>
      <dgm:t>
        <a:bodyPr/>
        <a:lstStyle/>
        <a:p>
          <a:endParaRPr lang="zh-CN" altLang="en-US" b="1">
            <a:solidFill>
              <a:schemeClr val="tx1"/>
            </a:solidFill>
            <a:latin typeface="华康俪金黑W8(P)"/>
          </a:endParaRPr>
        </a:p>
      </dgm:t>
    </dgm:pt>
    <dgm:pt modelId="{7B6FE1BF-848A-4F76-AC2B-1139F81FAB2C}" type="sibTrans" cxnId="{2425A577-275E-4417-B1FB-F60FB250E301}">
      <dgm:prSet/>
      <dgm:spPr/>
      <dgm:t>
        <a:bodyPr/>
        <a:lstStyle/>
        <a:p>
          <a:endParaRPr lang="zh-CN" altLang="en-US" b="1">
            <a:solidFill>
              <a:schemeClr val="tx1"/>
            </a:solidFill>
            <a:latin typeface="华康俪金黑W8(P)"/>
          </a:endParaRPr>
        </a:p>
      </dgm:t>
    </dgm:pt>
    <dgm:pt modelId="{A81F8F70-5E8D-4B3E-8F89-FE47186960C2}">
      <dgm:prSet phldrT="[文本]" custT="1"/>
      <dgm:spPr/>
      <dgm:t>
        <a:bodyPr/>
        <a:lstStyle/>
        <a:p>
          <a:r>
            <a:rPr lang="zh-CN" altLang="en-US" sz="2400" b="1" dirty="0">
              <a:solidFill>
                <a:schemeClr val="tx1"/>
              </a:solidFill>
              <a:latin typeface="微软雅黑" pitchFamily="34" charset="-122"/>
              <a:ea typeface="微软雅黑" pitchFamily="34" charset="-122"/>
            </a:rPr>
            <a:t>治疗</a:t>
          </a:r>
        </a:p>
      </dgm:t>
    </dgm:pt>
    <dgm:pt modelId="{F3296350-9D9D-4E99-BB1A-B57E5451E98A}" type="parTrans" cxnId="{3EA29B0D-6167-4EAC-98AA-966FE9725B10}">
      <dgm:prSet/>
      <dgm:spPr/>
      <dgm:t>
        <a:bodyPr/>
        <a:lstStyle/>
        <a:p>
          <a:endParaRPr lang="zh-CN" altLang="en-US" b="1">
            <a:solidFill>
              <a:schemeClr val="tx1"/>
            </a:solidFill>
            <a:latin typeface="华康俪金黑W8(P)"/>
          </a:endParaRPr>
        </a:p>
      </dgm:t>
    </dgm:pt>
    <dgm:pt modelId="{736A98DA-6A99-4BF0-A2FF-57A99E27BA83}" type="sibTrans" cxnId="{3EA29B0D-6167-4EAC-98AA-966FE9725B10}">
      <dgm:prSet/>
      <dgm:spPr/>
      <dgm:t>
        <a:bodyPr/>
        <a:lstStyle/>
        <a:p>
          <a:endParaRPr lang="zh-CN" altLang="en-US" b="1">
            <a:solidFill>
              <a:schemeClr val="tx1"/>
            </a:solidFill>
            <a:latin typeface="华康俪金黑W8(P)"/>
          </a:endParaRPr>
        </a:p>
      </dgm:t>
    </dgm:pt>
    <dgm:pt modelId="{5FAB027A-278E-4AB4-98EA-9B9BB7432D4C}">
      <dgm:prSet phldrT="[文本]" custT="1"/>
      <dgm:spPr/>
      <dgm:t>
        <a:bodyPr/>
        <a:lstStyle/>
        <a:p>
          <a:r>
            <a:rPr lang="zh-CN" altLang="en-US" sz="2800" b="1" dirty="0">
              <a:solidFill>
                <a:schemeClr val="tx1"/>
              </a:solidFill>
              <a:latin typeface="微软雅黑" pitchFamily="34" charset="-122"/>
              <a:ea typeface="微软雅黑" pitchFamily="34" charset="-122"/>
            </a:rPr>
            <a:t>设计开发软件系统</a:t>
          </a:r>
        </a:p>
      </dgm:t>
    </dgm:pt>
    <dgm:pt modelId="{5CA422FB-E4E5-4A03-8770-9CCC5EFE4A5C}" type="parTrans" cxnId="{D57EB0D3-CA34-4AD9-8FDB-E5773C235150}">
      <dgm:prSet/>
      <dgm:spPr/>
      <dgm:t>
        <a:bodyPr/>
        <a:lstStyle/>
        <a:p>
          <a:endParaRPr lang="zh-CN" altLang="en-US" b="1">
            <a:solidFill>
              <a:schemeClr val="tx1"/>
            </a:solidFill>
            <a:latin typeface="华康俪金黑W8(P)"/>
          </a:endParaRPr>
        </a:p>
      </dgm:t>
    </dgm:pt>
    <dgm:pt modelId="{768F023E-6382-4A37-84FB-DB280BEC0759}" type="sibTrans" cxnId="{D57EB0D3-CA34-4AD9-8FDB-E5773C235150}">
      <dgm:prSet/>
      <dgm:spPr/>
      <dgm:t>
        <a:bodyPr/>
        <a:lstStyle/>
        <a:p>
          <a:endParaRPr lang="zh-CN" altLang="en-US" b="1">
            <a:solidFill>
              <a:schemeClr val="tx1"/>
            </a:solidFill>
            <a:latin typeface="华康俪金黑W8(P)"/>
          </a:endParaRPr>
        </a:p>
      </dgm:t>
    </dgm:pt>
    <dgm:pt modelId="{449B0010-8BF7-4F0C-BEF1-6D2869F4A322}">
      <dgm:prSet phldrT="[文本]" custT="1"/>
      <dgm:spPr/>
      <dgm:t>
        <a:bodyPr/>
        <a:lstStyle/>
        <a:p>
          <a:r>
            <a:rPr lang="zh-CN" altLang="en-US" sz="2800" b="1" dirty="0">
              <a:solidFill>
                <a:schemeClr val="tx1"/>
              </a:solidFill>
              <a:latin typeface="微软雅黑" pitchFamily="34" charset="-122"/>
              <a:ea typeface="微软雅黑" pitchFamily="34" charset="-122"/>
            </a:rPr>
            <a:t>实施维护软件系统</a:t>
          </a:r>
        </a:p>
      </dgm:t>
    </dgm:pt>
    <dgm:pt modelId="{D3946E6C-0ADA-415B-9A0F-86E263E99B02}" type="parTrans" cxnId="{EEA78D89-52D0-438D-9873-4EDA924181E5}">
      <dgm:prSet/>
      <dgm:spPr/>
      <dgm:t>
        <a:bodyPr/>
        <a:lstStyle/>
        <a:p>
          <a:endParaRPr lang="zh-CN" altLang="en-US" b="1">
            <a:solidFill>
              <a:schemeClr val="tx1"/>
            </a:solidFill>
            <a:latin typeface="华康俪金黑W8(P)"/>
          </a:endParaRPr>
        </a:p>
      </dgm:t>
    </dgm:pt>
    <dgm:pt modelId="{9CD27C80-AC2E-4620-B6FA-BDFEA0BE484F}" type="sibTrans" cxnId="{EEA78D89-52D0-438D-9873-4EDA924181E5}">
      <dgm:prSet/>
      <dgm:spPr/>
      <dgm:t>
        <a:bodyPr/>
        <a:lstStyle/>
        <a:p>
          <a:endParaRPr lang="zh-CN" altLang="en-US" b="1">
            <a:solidFill>
              <a:schemeClr val="tx1"/>
            </a:solidFill>
            <a:latin typeface="华康俪金黑W8(P)"/>
          </a:endParaRPr>
        </a:p>
      </dgm:t>
    </dgm:pt>
    <dgm:pt modelId="{E82536D0-067E-433F-8602-B520B7230312}" type="pres">
      <dgm:prSet presAssocID="{8387EB66-2EB9-44FB-BDE3-207EEAD179C9}" presName="linearFlow" presStyleCnt="0">
        <dgm:presLayoutVars>
          <dgm:dir/>
          <dgm:animLvl val="lvl"/>
          <dgm:resizeHandles val="exact"/>
        </dgm:presLayoutVars>
      </dgm:prSet>
      <dgm:spPr/>
    </dgm:pt>
    <dgm:pt modelId="{176009C6-0D40-426A-A5E7-90A6E6AC5057}" type="pres">
      <dgm:prSet presAssocID="{FCF7349B-C67A-4862-BB85-6690C35B1C96}" presName="composite" presStyleCnt="0"/>
      <dgm:spPr/>
    </dgm:pt>
    <dgm:pt modelId="{24CEA544-E0EF-4AC7-9AA7-8D83E7CA0F0A}" type="pres">
      <dgm:prSet presAssocID="{FCF7349B-C67A-4862-BB85-6690C35B1C96}" presName="parentText" presStyleLbl="alignNode1" presStyleIdx="0" presStyleCnt="4">
        <dgm:presLayoutVars>
          <dgm:chMax val="1"/>
          <dgm:bulletEnabled val="1"/>
        </dgm:presLayoutVars>
      </dgm:prSet>
      <dgm:spPr/>
    </dgm:pt>
    <dgm:pt modelId="{68AF5A80-EF42-4AED-BC1D-8F9EB6AE9BF5}" type="pres">
      <dgm:prSet presAssocID="{FCF7349B-C67A-4862-BB85-6690C35B1C96}" presName="descendantText" presStyleLbl="alignAcc1" presStyleIdx="0" presStyleCnt="4">
        <dgm:presLayoutVars>
          <dgm:bulletEnabled val="1"/>
        </dgm:presLayoutVars>
      </dgm:prSet>
      <dgm:spPr/>
    </dgm:pt>
    <dgm:pt modelId="{56FCE015-0DB5-4D74-9CC4-2A0EA6958D74}" type="pres">
      <dgm:prSet presAssocID="{5F48B56E-C6E9-478C-83C6-BFABE2B6E824}" presName="sp" presStyleCnt="0"/>
      <dgm:spPr/>
    </dgm:pt>
    <dgm:pt modelId="{7BBAA337-97A4-4E53-8CCB-FD57D9B95A1C}" type="pres">
      <dgm:prSet presAssocID="{062ECF6E-2B6B-4BF8-958E-1FA379DE6C5D}" presName="composite" presStyleCnt="0"/>
      <dgm:spPr/>
    </dgm:pt>
    <dgm:pt modelId="{A570785C-59E2-4EF1-A8AA-1EBED734FBB7}" type="pres">
      <dgm:prSet presAssocID="{062ECF6E-2B6B-4BF8-958E-1FA379DE6C5D}" presName="parentText" presStyleLbl="alignNode1" presStyleIdx="1" presStyleCnt="4">
        <dgm:presLayoutVars>
          <dgm:chMax val="1"/>
          <dgm:bulletEnabled val="1"/>
        </dgm:presLayoutVars>
      </dgm:prSet>
      <dgm:spPr/>
    </dgm:pt>
    <dgm:pt modelId="{EA1EF20B-419E-4880-9C30-DC94AC8D69C7}" type="pres">
      <dgm:prSet presAssocID="{062ECF6E-2B6B-4BF8-958E-1FA379DE6C5D}" presName="descendantText" presStyleLbl="alignAcc1" presStyleIdx="1" presStyleCnt="4">
        <dgm:presLayoutVars>
          <dgm:bulletEnabled val="1"/>
        </dgm:presLayoutVars>
      </dgm:prSet>
      <dgm:spPr/>
    </dgm:pt>
    <dgm:pt modelId="{9431BFEA-1870-4243-AAA2-9BED5998F7F2}" type="pres">
      <dgm:prSet presAssocID="{C46E646A-1DC2-40F9-9114-FF0760D97841}" presName="sp" presStyleCnt="0"/>
      <dgm:spPr/>
    </dgm:pt>
    <dgm:pt modelId="{089876A3-B92C-4122-B74F-B745C1A0E360}" type="pres">
      <dgm:prSet presAssocID="{4A1A6CA0-FFE9-4317-B035-89337C1CCD2C}" presName="composite" presStyleCnt="0"/>
      <dgm:spPr/>
    </dgm:pt>
    <dgm:pt modelId="{1B453154-CBB2-4470-AC37-1A1E79EA4B2F}" type="pres">
      <dgm:prSet presAssocID="{4A1A6CA0-FFE9-4317-B035-89337C1CCD2C}" presName="parentText" presStyleLbl="alignNode1" presStyleIdx="2" presStyleCnt="4">
        <dgm:presLayoutVars>
          <dgm:chMax val="1"/>
          <dgm:bulletEnabled val="1"/>
        </dgm:presLayoutVars>
      </dgm:prSet>
      <dgm:spPr/>
    </dgm:pt>
    <dgm:pt modelId="{FCFF4C28-C682-4B63-B069-150DBD2FD9C6}" type="pres">
      <dgm:prSet presAssocID="{4A1A6CA0-FFE9-4317-B035-89337C1CCD2C}" presName="descendantText" presStyleLbl="alignAcc1" presStyleIdx="2" presStyleCnt="4">
        <dgm:presLayoutVars>
          <dgm:bulletEnabled val="1"/>
        </dgm:presLayoutVars>
      </dgm:prSet>
      <dgm:spPr/>
    </dgm:pt>
    <dgm:pt modelId="{BC1C8DAB-6F54-4400-A214-66983DC7FB34}" type="pres">
      <dgm:prSet presAssocID="{7B6FE1BF-848A-4F76-AC2B-1139F81FAB2C}" presName="sp" presStyleCnt="0"/>
      <dgm:spPr/>
    </dgm:pt>
    <dgm:pt modelId="{9377C3F4-A920-4362-A9B4-5C747D1B2EBC}" type="pres">
      <dgm:prSet presAssocID="{A81F8F70-5E8D-4B3E-8F89-FE47186960C2}" presName="composite" presStyleCnt="0"/>
      <dgm:spPr/>
    </dgm:pt>
    <dgm:pt modelId="{37D6BDAA-776C-476D-8ADB-CEDA5E6143F4}" type="pres">
      <dgm:prSet presAssocID="{A81F8F70-5E8D-4B3E-8F89-FE47186960C2}" presName="parentText" presStyleLbl="alignNode1" presStyleIdx="3" presStyleCnt="4">
        <dgm:presLayoutVars>
          <dgm:chMax val="1"/>
          <dgm:bulletEnabled val="1"/>
        </dgm:presLayoutVars>
      </dgm:prSet>
      <dgm:spPr/>
    </dgm:pt>
    <dgm:pt modelId="{2707C44F-CAEC-4AF9-8387-1BB2EC18CE99}" type="pres">
      <dgm:prSet presAssocID="{A81F8F70-5E8D-4B3E-8F89-FE47186960C2}" presName="descendantText" presStyleLbl="alignAcc1" presStyleIdx="3" presStyleCnt="4">
        <dgm:presLayoutVars>
          <dgm:bulletEnabled val="1"/>
        </dgm:presLayoutVars>
      </dgm:prSet>
      <dgm:spPr/>
    </dgm:pt>
  </dgm:ptLst>
  <dgm:cxnLst>
    <dgm:cxn modelId="{9CA01102-5D4B-4B53-9FF4-4DD1A473FA2E}" type="presOf" srcId="{3E609A3C-A2AC-4ACB-9857-49835D806273}" destId="{68AF5A80-EF42-4AED-BC1D-8F9EB6AE9BF5}" srcOrd="0" destOrd="0" presId="urn:microsoft.com/office/officeart/2005/8/layout/chevron2"/>
    <dgm:cxn modelId="{3EA29B0D-6167-4EAC-98AA-966FE9725B10}" srcId="{8387EB66-2EB9-44FB-BDE3-207EEAD179C9}" destId="{A81F8F70-5E8D-4B3E-8F89-FE47186960C2}" srcOrd="3" destOrd="0" parTransId="{F3296350-9D9D-4E99-BB1A-B57E5451E98A}" sibTransId="{736A98DA-6A99-4BF0-A2FF-57A99E27BA83}"/>
    <dgm:cxn modelId="{64A82C2E-96EE-4727-8BBC-9FF16460A7D2}" type="presOf" srcId="{062ECF6E-2B6B-4BF8-958E-1FA379DE6C5D}" destId="{A570785C-59E2-4EF1-A8AA-1EBED734FBB7}" srcOrd="0" destOrd="0" presId="urn:microsoft.com/office/officeart/2005/8/layout/chevron2"/>
    <dgm:cxn modelId="{5539A52E-CC2C-4A02-998E-EDBB9767A62C}" type="presOf" srcId="{FCF7349B-C67A-4862-BB85-6690C35B1C96}" destId="{24CEA544-E0EF-4AC7-9AA7-8D83E7CA0F0A}" srcOrd="0" destOrd="0" presId="urn:microsoft.com/office/officeart/2005/8/layout/chevron2"/>
    <dgm:cxn modelId="{09477E5C-46C9-45BE-AC3C-69D164B96308}" type="presOf" srcId="{A81F8F70-5E8D-4B3E-8F89-FE47186960C2}" destId="{37D6BDAA-776C-476D-8ADB-CEDA5E6143F4}" srcOrd="0" destOrd="0" presId="urn:microsoft.com/office/officeart/2005/8/layout/chevron2"/>
    <dgm:cxn modelId="{90AAB369-148A-4015-9991-4FBE05BB1EE3}" type="presOf" srcId="{8387EB66-2EB9-44FB-BDE3-207EEAD179C9}" destId="{E82536D0-067E-433F-8602-B520B7230312}" srcOrd="0" destOrd="0" presId="urn:microsoft.com/office/officeart/2005/8/layout/chevron2"/>
    <dgm:cxn modelId="{A1BB216A-88B2-48B4-A5BB-4556362FA7F5}" type="presOf" srcId="{5296B032-3D43-485C-AC4F-A093DDE4601F}" destId="{EA1EF20B-419E-4880-9C30-DC94AC8D69C7}" srcOrd="0" destOrd="0" presId="urn:microsoft.com/office/officeart/2005/8/layout/chevron2"/>
    <dgm:cxn modelId="{2425A577-275E-4417-B1FB-F60FB250E301}" srcId="{8387EB66-2EB9-44FB-BDE3-207EEAD179C9}" destId="{4A1A6CA0-FFE9-4317-B035-89337C1CCD2C}" srcOrd="2" destOrd="0" parTransId="{507CC9C8-1FB0-4187-A06B-130A43AE0E54}" sibTransId="{7B6FE1BF-848A-4F76-AC2B-1139F81FAB2C}"/>
    <dgm:cxn modelId="{EEA78D89-52D0-438D-9873-4EDA924181E5}" srcId="{A81F8F70-5E8D-4B3E-8F89-FE47186960C2}" destId="{449B0010-8BF7-4F0C-BEF1-6D2869F4A322}" srcOrd="0" destOrd="0" parTransId="{D3946E6C-0ADA-415B-9A0F-86E263E99B02}" sibTransId="{9CD27C80-AC2E-4620-B6FA-BDFEA0BE484F}"/>
    <dgm:cxn modelId="{ACBBAF89-8347-40ED-AE50-CCA7EE47AE03}" srcId="{8387EB66-2EB9-44FB-BDE3-207EEAD179C9}" destId="{FCF7349B-C67A-4862-BB85-6690C35B1C96}" srcOrd="0" destOrd="0" parTransId="{C1A19B4A-C24F-4765-9F08-6FFD850F8210}" sibTransId="{5F48B56E-C6E9-478C-83C6-BFABE2B6E824}"/>
    <dgm:cxn modelId="{A17329A2-C2B0-40D3-B0AC-745C061D961E}" srcId="{FCF7349B-C67A-4862-BB85-6690C35B1C96}" destId="{3E609A3C-A2AC-4ACB-9857-49835D806273}" srcOrd="0" destOrd="0" parTransId="{C9231E62-7391-4E5B-A6CB-552D940A0AB9}" sibTransId="{B1A27E6D-2B9D-40C6-AB8B-3F7E3889F4DE}"/>
    <dgm:cxn modelId="{E9B24DAF-DAAA-4B11-83CB-CEE7F60F8233}" type="presOf" srcId="{5FAB027A-278E-4AB4-98EA-9B9BB7432D4C}" destId="{FCFF4C28-C682-4B63-B069-150DBD2FD9C6}" srcOrd="0" destOrd="0" presId="urn:microsoft.com/office/officeart/2005/8/layout/chevron2"/>
    <dgm:cxn modelId="{E03658BD-B7F9-43CA-B765-D7554CC787A3}" srcId="{8387EB66-2EB9-44FB-BDE3-207EEAD179C9}" destId="{062ECF6E-2B6B-4BF8-958E-1FA379DE6C5D}" srcOrd="1" destOrd="0" parTransId="{BC782BDE-8B55-42A9-B877-C11BB2B7865A}" sibTransId="{C46E646A-1DC2-40F9-9114-FF0760D97841}"/>
    <dgm:cxn modelId="{67BD58CF-54FA-45CC-A170-6CF6A4C3EEF4}" srcId="{062ECF6E-2B6B-4BF8-958E-1FA379DE6C5D}" destId="{5296B032-3D43-485C-AC4F-A093DDE4601F}" srcOrd="0" destOrd="0" parTransId="{F13CAAB0-AC78-4220-B800-90E007CCA568}" sibTransId="{A9E770A3-F7CB-4290-A0E0-497FC4E3C750}"/>
    <dgm:cxn modelId="{D57EB0D3-CA34-4AD9-8FDB-E5773C235150}" srcId="{4A1A6CA0-FFE9-4317-B035-89337C1CCD2C}" destId="{5FAB027A-278E-4AB4-98EA-9B9BB7432D4C}" srcOrd="0" destOrd="0" parTransId="{5CA422FB-E4E5-4A03-8770-9CCC5EFE4A5C}" sibTransId="{768F023E-6382-4A37-84FB-DB280BEC0759}"/>
    <dgm:cxn modelId="{950FE6DF-EF12-4326-8E30-65E6515F96FE}" type="presOf" srcId="{449B0010-8BF7-4F0C-BEF1-6D2869F4A322}" destId="{2707C44F-CAEC-4AF9-8387-1BB2EC18CE99}" srcOrd="0" destOrd="0" presId="urn:microsoft.com/office/officeart/2005/8/layout/chevron2"/>
    <dgm:cxn modelId="{1C5611EB-0F27-42B4-A284-59EF67E44EA5}" type="presOf" srcId="{4A1A6CA0-FFE9-4317-B035-89337C1CCD2C}" destId="{1B453154-CBB2-4470-AC37-1A1E79EA4B2F}" srcOrd="0" destOrd="0" presId="urn:microsoft.com/office/officeart/2005/8/layout/chevron2"/>
    <dgm:cxn modelId="{E20D4509-50A0-4FD0-B35D-DB938A7FA9C5}" type="presParOf" srcId="{E82536D0-067E-433F-8602-B520B7230312}" destId="{176009C6-0D40-426A-A5E7-90A6E6AC5057}" srcOrd="0" destOrd="0" presId="urn:microsoft.com/office/officeart/2005/8/layout/chevron2"/>
    <dgm:cxn modelId="{612693BB-9B62-479B-A704-AF15B31B1221}" type="presParOf" srcId="{176009C6-0D40-426A-A5E7-90A6E6AC5057}" destId="{24CEA544-E0EF-4AC7-9AA7-8D83E7CA0F0A}" srcOrd="0" destOrd="0" presId="urn:microsoft.com/office/officeart/2005/8/layout/chevron2"/>
    <dgm:cxn modelId="{BAD9B491-0BA4-436E-898F-C14D433B26AE}" type="presParOf" srcId="{176009C6-0D40-426A-A5E7-90A6E6AC5057}" destId="{68AF5A80-EF42-4AED-BC1D-8F9EB6AE9BF5}" srcOrd="1" destOrd="0" presId="urn:microsoft.com/office/officeart/2005/8/layout/chevron2"/>
    <dgm:cxn modelId="{12F5F1E8-F20C-46EF-B95E-2EFD7B0CDA0D}" type="presParOf" srcId="{E82536D0-067E-433F-8602-B520B7230312}" destId="{56FCE015-0DB5-4D74-9CC4-2A0EA6958D74}" srcOrd="1" destOrd="0" presId="urn:microsoft.com/office/officeart/2005/8/layout/chevron2"/>
    <dgm:cxn modelId="{CE0FEDC5-187B-42E9-883F-59B08A65B925}" type="presParOf" srcId="{E82536D0-067E-433F-8602-B520B7230312}" destId="{7BBAA337-97A4-4E53-8CCB-FD57D9B95A1C}" srcOrd="2" destOrd="0" presId="urn:microsoft.com/office/officeart/2005/8/layout/chevron2"/>
    <dgm:cxn modelId="{20EF9F8E-BBC9-4B9A-8816-7BAAA7762993}" type="presParOf" srcId="{7BBAA337-97A4-4E53-8CCB-FD57D9B95A1C}" destId="{A570785C-59E2-4EF1-A8AA-1EBED734FBB7}" srcOrd="0" destOrd="0" presId="urn:microsoft.com/office/officeart/2005/8/layout/chevron2"/>
    <dgm:cxn modelId="{CE535397-FBA7-49C7-B6FE-1818775FA952}" type="presParOf" srcId="{7BBAA337-97A4-4E53-8CCB-FD57D9B95A1C}" destId="{EA1EF20B-419E-4880-9C30-DC94AC8D69C7}" srcOrd="1" destOrd="0" presId="urn:microsoft.com/office/officeart/2005/8/layout/chevron2"/>
    <dgm:cxn modelId="{B247C325-2BD2-4456-96E7-5626C60A23F1}" type="presParOf" srcId="{E82536D0-067E-433F-8602-B520B7230312}" destId="{9431BFEA-1870-4243-AAA2-9BED5998F7F2}" srcOrd="3" destOrd="0" presId="urn:microsoft.com/office/officeart/2005/8/layout/chevron2"/>
    <dgm:cxn modelId="{3E07255B-54E6-4F37-9636-0DCF49556A95}" type="presParOf" srcId="{E82536D0-067E-433F-8602-B520B7230312}" destId="{089876A3-B92C-4122-B74F-B745C1A0E360}" srcOrd="4" destOrd="0" presId="urn:microsoft.com/office/officeart/2005/8/layout/chevron2"/>
    <dgm:cxn modelId="{04107248-7347-464A-9A88-C0F69D0C666F}" type="presParOf" srcId="{089876A3-B92C-4122-B74F-B745C1A0E360}" destId="{1B453154-CBB2-4470-AC37-1A1E79EA4B2F}" srcOrd="0" destOrd="0" presId="urn:microsoft.com/office/officeart/2005/8/layout/chevron2"/>
    <dgm:cxn modelId="{9CA1F781-2259-4F71-BB1C-CDA94AF56EDC}" type="presParOf" srcId="{089876A3-B92C-4122-B74F-B745C1A0E360}" destId="{FCFF4C28-C682-4B63-B069-150DBD2FD9C6}" srcOrd="1" destOrd="0" presId="urn:microsoft.com/office/officeart/2005/8/layout/chevron2"/>
    <dgm:cxn modelId="{A749500B-97FA-4F4D-806C-C7C71D45FCC7}" type="presParOf" srcId="{E82536D0-067E-433F-8602-B520B7230312}" destId="{BC1C8DAB-6F54-4400-A214-66983DC7FB34}" srcOrd="5" destOrd="0" presId="urn:microsoft.com/office/officeart/2005/8/layout/chevron2"/>
    <dgm:cxn modelId="{DE95B88D-9BB4-47FC-BE12-C53B6975E464}" type="presParOf" srcId="{E82536D0-067E-433F-8602-B520B7230312}" destId="{9377C3F4-A920-4362-A9B4-5C747D1B2EBC}" srcOrd="6" destOrd="0" presId="urn:microsoft.com/office/officeart/2005/8/layout/chevron2"/>
    <dgm:cxn modelId="{47AEE38E-2656-47FC-9B2D-F413EE471632}" type="presParOf" srcId="{9377C3F4-A920-4362-A9B4-5C747D1B2EBC}" destId="{37D6BDAA-776C-476D-8ADB-CEDA5E6143F4}" srcOrd="0" destOrd="0" presId="urn:microsoft.com/office/officeart/2005/8/layout/chevron2"/>
    <dgm:cxn modelId="{6D2C1ED2-38F3-43A5-87EF-EA80BBB90DC0}" type="presParOf" srcId="{9377C3F4-A920-4362-A9B4-5C747D1B2EBC}" destId="{2707C44F-CAEC-4AF9-8387-1BB2EC18CE9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8AF464-D5DB-44E1-9C78-72CADC1BA900}" type="doc">
      <dgm:prSet loTypeId="urn:microsoft.com/office/officeart/2005/8/layout/hProcess11#1" loCatId="process" qsTypeId="urn:microsoft.com/office/officeart/2005/8/quickstyle/simple1#2" qsCatId="simple" csTypeId="urn:microsoft.com/office/officeart/2005/8/colors/colorful5#1" csCatId="colorful" phldr="1"/>
      <dgm:spPr/>
    </dgm:pt>
    <dgm:pt modelId="{4815DCBD-5120-47EC-B278-A8CE200D182E}">
      <dgm:prSet phldrT="[文本]" custT="1"/>
      <dgm:spPr/>
      <dgm:t>
        <a:bodyPr/>
        <a:lstStyle/>
        <a:p>
          <a:r>
            <a:rPr lang="zh-CN" altLang="en-US" sz="2200" dirty="0">
              <a:latin typeface="微软雅黑" pitchFamily="34" charset="-122"/>
              <a:ea typeface="微软雅黑" pitchFamily="34" charset="-122"/>
            </a:rPr>
            <a:t>早期：挖不出需求</a:t>
          </a:r>
        </a:p>
      </dgm:t>
    </dgm:pt>
    <dgm:pt modelId="{DD1B27A4-3BD7-4A4B-ACE4-D8E9322D50E0}" type="parTrans" cxnId="{A71994A6-F34C-4C78-B14F-0F7197FC30E4}">
      <dgm:prSet/>
      <dgm:spPr/>
      <dgm:t>
        <a:bodyPr/>
        <a:lstStyle/>
        <a:p>
          <a:endParaRPr lang="zh-CN" altLang="en-US"/>
        </a:p>
      </dgm:t>
    </dgm:pt>
    <dgm:pt modelId="{AD5EC185-0C3E-4CB9-9DFC-8CF66A720FF9}" type="sibTrans" cxnId="{A71994A6-F34C-4C78-B14F-0F7197FC30E4}">
      <dgm:prSet/>
      <dgm:spPr/>
      <dgm:t>
        <a:bodyPr/>
        <a:lstStyle/>
        <a:p>
          <a:endParaRPr lang="zh-CN" altLang="en-US"/>
        </a:p>
      </dgm:t>
    </dgm:pt>
    <dgm:pt modelId="{A7DA8423-00C7-4E93-9229-3C13AF94587F}">
      <dgm:prSet phldrT="[文本]" custT="1"/>
      <dgm:spPr/>
      <dgm:t>
        <a:bodyPr/>
        <a:lstStyle/>
        <a:p>
          <a:r>
            <a:rPr lang="zh-CN" altLang="en-US" sz="2200" dirty="0">
              <a:latin typeface="微软雅黑" pitchFamily="34" charset="-122"/>
              <a:ea typeface="微软雅黑" pitchFamily="34" charset="-122"/>
            </a:rPr>
            <a:t>中期：需求像洪水猛兽</a:t>
          </a:r>
        </a:p>
      </dgm:t>
    </dgm:pt>
    <dgm:pt modelId="{2489775F-81E7-4828-A7DF-D420FBE2B71A}" type="parTrans" cxnId="{052FAAD0-3612-4A61-92C3-0AF8EE7EF20F}">
      <dgm:prSet/>
      <dgm:spPr/>
      <dgm:t>
        <a:bodyPr/>
        <a:lstStyle/>
        <a:p>
          <a:endParaRPr lang="zh-CN" altLang="en-US"/>
        </a:p>
      </dgm:t>
    </dgm:pt>
    <dgm:pt modelId="{1A14A12A-1763-4A13-B19A-693CF7F3BDE8}" type="sibTrans" cxnId="{052FAAD0-3612-4A61-92C3-0AF8EE7EF20F}">
      <dgm:prSet/>
      <dgm:spPr/>
      <dgm:t>
        <a:bodyPr/>
        <a:lstStyle/>
        <a:p>
          <a:endParaRPr lang="zh-CN" altLang="en-US"/>
        </a:p>
      </dgm:t>
    </dgm:pt>
    <dgm:pt modelId="{E5B4460D-02BE-4F29-ADC2-871A429EC4A5}">
      <dgm:prSet phldrT="[文本]" custT="1"/>
      <dgm:spPr/>
      <dgm:t>
        <a:bodyPr/>
        <a:lstStyle/>
        <a:p>
          <a:r>
            <a:rPr lang="zh-CN" altLang="en-US" sz="2200" dirty="0">
              <a:latin typeface="微软雅黑" pitchFamily="34" charset="-122"/>
              <a:ea typeface="微软雅黑" pitchFamily="34" charset="-122"/>
            </a:rPr>
            <a:t>晚期：像癌症晚期一样</a:t>
          </a:r>
        </a:p>
      </dgm:t>
    </dgm:pt>
    <dgm:pt modelId="{2D9FB5B4-69D0-434B-97EC-66D9F3CF9B57}" type="parTrans" cxnId="{211B2A52-5C31-40EF-B114-91489367E0D2}">
      <dgm:prSet/>
      <dgm:spPr/>
      <dgm:t>
        <a:bodyPr/>
        <a:lstStyle/>
        <a:p>
          <a:endParaRPr lang="zh-CN" altLang="en-US"/>
        </a:p>
      </dgm:t>
    </dgm:pt>
    <dgm:pt modelId="{223082B1-7B04-4DB6-B04D-491ECA064BD3}" type="sibTrans" cxnId="{211B2A52-5C31-40EF-B114-91489367E0D2}">
      <dgm:prSet/>
      <dgm:spPr/>
      <dgm:t>
        <a:bodyPr/>
        <a:lstStyle/>
        <a:p>
          <a:endParaRPr lang="zh-CN" altLang="en-US"/>
        </a:p>
      </dgm:t>
    </dgm:pt>
    <dgm:pt modelId="{FBA8A870-6B23-4605-980C-77B493724E43}" type="pres">
      <dgm:prSet presAssocID="{A58AF464-D5DB-44E1-9C78-72CADC1BA900}" presName="Name0" presStyleCnt="0">
        <dgm:presLayoutVars>
          <dgm:dir/>
          <dgm:resizeHandles val="exact"/>
        </dgm:presLayoutVars>
      </dgm:prSet>
      <dgm:spPr/>
    </dgm:pt>
    <dgm:pt modelId="{0F7CD7EC-0EB9-4C1B-AF3B-BDD24EFEA889}" type="pres">
      <dgm:prSet presAssocID="{A58AF464-D5DB-44E1-9C78-72CADC1BA900}" presName="arrow" presStyleLbl="bgShp" presStyleIdx="0" presStyleCnt="1"/>
      <dgm:spPr/>
    </dgm:pt>
    <dgm:pt modelId="{5E6A8CE9-ADCB-46F1-8C94-34E6753BED25}" type="pres">
      <dgm:prSet presAssocID="{A58AF464-D5DB-44E1-9C78-72CADC1BA900}" presName="points" presStyleCnt="0"/>
      <dgm:spPr/>
    </dgm:pt>
    <dgm:pt modelId="{BEF5B8FE-91EA-44FD-8724-E58C4C09027C}" type="pres">
      <dgm:prSet presAssocID="{4815DCBD-5120-47EC-B278-A8CE200D182E}" presName="compositeA" presStyleCnt="0"/>
      <dgm:spPr/>
    </dgm:pt>
    <dgm:pt modelId="{5BB18918-E96F-4F0C-9087-0251B42BE6DF}" type="pres">
      <dgm:prSet presAssocID="{4815DCBD-5120-47EC-B278-A8CE200D182E}" presName="textA" presStyleLbl="revTx" presStyleIdx="0" presStyleCnt="3" custScaleX="192601">
        <dgm:presLayoutVars>
          <dgm:bulletEnabled val="1"/>
        </dgm:presLayoutVars>
      </dgm:prSet>
      <dgm:spPr/>
    </dgm:pt>
    <dgm:pt modelId="{3F1099F9-27AA-45E8-AD7F-6BF61FE7B2F0}" type="pres">
      <dgm:prSet presAssocID="{4815DCBD-5120-47EC-B278-A8CE200D182E}" presName="circleA" presStyleLbl="node1" presStyleIdx="0" presStyleCnt="3"/>
      <dgm:spPr/>
    </dgm:pt>
    <dgm:pt modelId="{92CD6235-7EA2-495A-B34B-23CFC8EA088E}" type="pres">
      <dgm:prSet presAssocID="{4815DCBD-5120-47EC-B278-A8CE200D182E}" presName="spaceA" presStyleCnt="0"/>
      <dgm:spPr/>
    </dgm:pt>
    <dgm:pt modelId="{2CBE5117-0659-4326-89BE-E1A3B86DADFD}" type="pres">
      <dgm:prSet presAssocID="{AD5EC185-0C3E-4CB9-9DFC-8CF66A720FF9}" presName="space" presStyleCnt="0"/>
      <dgm:spPr/>
    </dgm:pt>
    <dgm:pt modelId="{00B20AFF-734E-4179-A0BC-5F489A1EE304}" type="pres">
      <dgm:prSet presAssocID="{A7DA8423-00C7-4E93-9229-3C13AF94587F}" presName="compositeB" presStyleCnt="0"/>
      <dgm:spPr/>
    </dgm:pt>
    <dgm:pt modelId="{F39F4ED7-C3C6-4EFA-AB81-CBDA19BEF63C}" type="pres">
      <dgm:prSet presAssocID="{A7DA8423-00C7-4E93-9229-3C13AF94587F}" presName="textB" presStyleLbl="revTx" presStyleIdx="1" presStyleCnt="3" custScaleX="241112">
        <dgm:presLayoutVars>
          <dgm:bulletEnabled val="1"/>
        </dgm:presLayoutVars>
      </dgm:prSet>
      <dgm:spPr/>
    </dgm:pt>
    <dgm:pt modelId="{F37110D6-ACF0-4F9B-9805-6B4ACB0EC892}" type="pres">
      <dgm:prSet presAssocID="{A7DA8423-00C7-4E93-9229-3C13AF94587F}" presName="circleB" presStyleLbl="node1" presStyleIdx="1" presStyleCnt="3"/>
      <dgm:spPr/>
    </dgm:pt>
    <dgm:pt modelId="{2BD9AC21-587E-435A-B263-854E2F45A2BE}" type="pres">
      <dgm:prSet presAssocID="{A7DA8423-00C7-4E93-9229-3C13AF94587F}" presName="spaceB" presStyleCnt="0"/>
      <dgm:spPr/>
    </dgm:pt>
    <dgm:pt modelId="{B54C757B-20CF-48D9-B453-98CB649E6F81}" type="pres">
      <dgm:prSet presAssocID="{1A14A12A-1763-4A13-B19A-693CF7F3BDE8}" presName="space" presStyleCnt="0"/>
      <dgm:spPr/>
    </dgm:pt>
    <dgm:pt modelId="{DCE690E3-C1F6-42A2-9AA1-23CBE4C8D67D}" type="pres">
      <dgm:prSet presAssocID="{E5B4460D-02BE-4F29-ADC2-871A429EC4A5}" presName="compositeA" presStyleCnt="0"/>
      <dgm:spPr/>
    </dgm:pt>
    <dgm:pt modelId="{AB28DF79-0511-4665-A83F-1CEB1B2A3AD1}" type="pres">
      <dgm:prSet presAssocID="{E5B4460D-02BE-4F29-ADC2-871A429EC4A5}" presName="textA" presStyleLbl="revTx" presStyleIdx="2" presStyleCnt="3" custScaleX="250111">
        <dgm:presLayoutVars>
          <dgm:bulletEnabled val="1"/>
        </dgm:presLayoutVars>
      </dgm:prSet>
      <dgm:spPr/>
    </dgm:pt>
    <dgm:pt modelId="{15821B24-86E6-4FD3-AEDC-3F2C839F6C88}" type="pres">
      <dgm:prSet presAssocID="{E5B4460D-02BE-4F29-ADC2-871A429EC4A5}" presName="circleA" presStyleLbl="node1" presStyleIdx="2" presStyleCnt="3"/>
      <dgm:spPr/>
    </dgm:pt>
    <dgm:pt modelId="{AAE2E1EC-C7A6-4532-ACE6-B5C9833D7A8E}" type="pres">
      <dgm:prSet presAssocID="{E5B4460D-02BE-4F29-ADC2-871A429EC4A5}" presName="spaceA" presStyleCnt="0"/>
      <dgm:spPr/>
    </dgm:pt>
  </dgm:ptLst>
  <dgm:cxnLst>
    <dgm:cxn modelId="{92DE7030-C760-4BE6-B589-19262EC1719C}" type="presOf" srcId="{A7DA8423-00C7-4E93-9229-3C13AF94587F}" destId="{F39F4ED7-C3C6-4EFA-AB81-CBDA19BEF63C}" srcOrd="0" destOrd="0" presId="urn:microsoft.com/office/officeart/2005/8/layout/hProcess11#1"/>
    <dgm:cxn modelId="{211B2A52-5C31-40EF-B114-91489367E0D2}" srcId="{A58AF464-D5DB-44E1-9C78-72CADC1BA900}" destId="{E5B4460D-02BE-4F29-ADC2-871A429EC4A5}" srcOrd="2" destOrd="0" parTransId="{2D9FB5B4-69D0-434B-97EC-66D9F3CF9B57}" sibTransId="{223082B1-7B04-4DB6-B04D-491ECA064BD3}"/>
    <dgm:cxn modelId="{D48F8078-B7A6-4E00-B3DC-D8F2D271E35A}" type="presOf" srcId="{E5B4460D-02BE-4F29-ADC2-871A429EC4A5}" destId="{AB28DF79-0511-4665-A83F-1CEB1B2A3AD1}" srcOrd="0" destOrd="0" presId="urn:microsoft.com/office/officeart/2005/8/layout/hProcess11#1"/>
    <dgm:cxn modelId="{AA0C3180-0BA8-4846-8BAE-EABF9567EBEC}" type="presOf" srcId="{A58AF464-D5DB-44E1-9C78-72CADC1BA900}" destId="{FBA8A870-6B23-4605-980C-77B493724E43}" srcOrd="0" destOrd="0" presId="urn:microsoft.com/office/officeart/2005/8/layout/hProcess11#1"/>
    <dgm:cxn modelId="{A71994A6-F34C-4C78-B14F-0F7197FC30E4}" srcId="{A58AF464-D5DB-44E1-9C78-72CADC1BA900}" destId="{4815DCBD-5120-47EC-B278-A8CE200D182E}" srcOrd="0" destOrd="0" parTransId="{DD1B27A4-3BD7-4A4B-ACE4-D8E9322D50E0}" sibTransId="{AD5EC185-0C3E-4CB9-9DFC-8CF66A720FF9}"/>
    <dgm:cxn modelId="{052FAAD0-3612-4A61-92C3-0AF8EE7EF20F}" srcId="{A58AF464-D5DB-44E1-9C78-72CADC1BA900}" destId="{A7DA8423-00C7-4E93-9229-3C13AF94587F}" srcOrd="1" destOrd="0" parTransId="{2489775F-81E7-4828-A7DF-D420FBE2B71A}" sibTransId="{1A14A12A-1763-4A13-B19A-693CF7F3BDE8}"/>
    <dgm:cxn modelId="{0EF8E7E2-B965-4053-B99E-A067D6180A41}" type="presOf" srcId="{4815DCBD-5120-47EC-B278-A8CE200D182E}" destId="{5BB18918-E96F-4F0C-9087-0251B42BE6DF}" srcOrd="0" destOrd="0" presId="urn:microsoft.com/office/officeart/2005/8/layout/hProcess11#1"/>
    <dgm:cxn modelId="{FEC90308-C6E1-4102-9735-FD515B8F4D6D}" type="presParOf" srcId="{FBA8A870-6B23-4605-980C-77B493724E43}" destId="{0F7CD7EC-0EB9-4C1B-AF3B-BDD24EFEA889}" srcOrd="0" destOrd="0" presId="urn:microsoft.com/office/officeart/2005/8/layout/hProcess11#1"/>
    <dgm:cxn modelId="{9E158D35-8AD8-4E70-A3C1-47E159BBFC4A}" type="presParOf" srcId="{FBA8A870-6B23-4605-980C-77B493724E43}" destId="{5E6A8CE9-ADCB-46F1-8C94-34E6753BED25}" srcOrd="1" destOrd="0" presId="urn:microsoft.com/office/officeart/2005/8/layout/hProcess11#1"/>
    <dgm:cxn modelId="{04041486-D351-4980-894B-05369BF0E05B}" type="presParOf" srcId="{5E6A8CE9-ADCB-46F1-8C94-34E6753BED25}" destId="{BEF5B8FE-91EA-44FD-8724-E58C4C09027C}" srcOrd="0" destOrd="0" presId="urn:microsoft.com/office/officeart/2005/8/layout/hProcess11#1"/>
    <dgm:cxn modelId="{AE4EA088-67F8-4FCF-8413-1212D0FC5B63}" type="presParOf" srcId="{BEF5B8FE-91EA-44FD-8724-E58C4C09027C}" destId="{5BB18918-E96F-4F0C-9087-0251B42BE6DF}" srcOrd="0" destOrd="0" presId="urn:microsoft.com/office/officeart/2005/8/layout/hProcess11#1"/>
    <dgm:cxn modelId="{E2885878-6539-4151-B706-6CA9012831C0}" type="presParOf" srcId="{BEF5B8FE-91EA-44FD-8724-E58C4C09027C}" destId="{3F1099F9-27AA-45E8-AD7F-6BF61FE7B2F0}" srcOrd="1" destOrd="0" presId="urn:microsoft.com/office/officeart/2005/8/layout/hProcess11#1"/>
    <dgm:cxn modelId="{DA0581B8-B09D-484C-91CA-3D48AC870FF5}" type="presParOf" srcId="{BEF5B8FE-91EA-44FD-8724-E58C4C09027C}" destId="{92CD6235-7EA2-495A-B34B-23CFC8EA088E}" srcOrd="2" destOrd="0" presId="urn:microsoft.com/office/officeart/2005/8/layout/hProcess11#1"/>
    <dgm:cxn modelId="{E573C691-0C41-406B-BB72-574404D90758}" type="presParOf" srcId="{5E6A8CE9-ADCB-46F1-8C94-34E6753BED25}" destId="{2CBE5117-0659-4326-89BE-E1A3B86DADFD}" srcOrd="1" destOrd="0" presId="urn:microsoft.com/office/officeart/2005/8/layout/hProcess11#1"/>
    <dgm:cxn modelId="{BD9ACDB4-6BC4-4E06-9515-9679AF9A8FE1}" type="presParOf" srcId="{5E6A8CE9-ADCB-46F1-8C94-34E6753BED25}" destId="{00B20AFF-734E-4179-A0BC-5F489A1EE304}" srcOrd="2" destOrd="0" presId="urn:microsoft.com/office/officeart/2005/8/layout/hProcess11#1"/>
    <dgm:cxn modelId="{03E4420E-AE43-46E1-A81F-17F29B9802C3}" type="presParOf" srcId="{00B20AFF-734E-4179-A0BC-5F489A1EE304}" destId="{F39F4ED7-C3C6-4EFA-AB81-CBDA19BEF63C}" srcOrd="0" destOrd="0" presId="urn:microsoft.com/office/officeart/2005/8/layout/hProcess11#1"/>
    <dgm:cxn modelId="{65805704-01C8-47B2-9F17-BB5A8B27A569}" type="presParOf" srcId="{00B20AFF-734E-4179-A0BC-5F489A1EE304}" destId="{F37110D6-ACF0-4F9B-9805-6B4ACB0EC892}" srcOrd="1" destOrd="0" presId="urn:microsoft.com/office/officeart/2005/8/layout/hProcess11#1"/>
    <dgm:cxn modelId="{69F01EC9-A747-45EE-BC52-5D7B6CE66A50}" type="presParOf" srcId="{00B20AFF-734E-4179-A0BC-5F489A1EE304}" destId="{2BD9AC21-587E-435A-B263-854E2F45A2BE}" srcOrd="2" destOrd="0" presId="urn:microsoft.com/office/officeart/2005/8/layout/hProcess11#1"/>
    <dgm:cxn modelId="{292C0A1E-F98D-422A-84DD-0BFE79CF348A}" type="presParOf" srcId="{5E6A8CE9-ADCB-46F1-8C94-34E6753BED25}" destId="{B54C757B-20CF-48D9-B453-98CB649E6F81}" srcOrd="3" destOrd="0" presId="urn:microsoft.com/office/officeart/2005/8/layout/hProcess11#1"/>
    <dgm:cxn modelId="{B4E3661E-A9EF-4A5F-954F-3B212EFF8437}" type="presParOf" srcId="{5E6A8CE9-ADCB-46F1-8C94-34E6753BED25}" destId="{DCE690E3-C1F6-42A2-9AA1-23CBE4C8D67D}" srcOrd="4" destOrd="0" presId="urn:microsoft.com/office/officeart/2005/8/layout/hProcess11#1"/>
    <dgm:cxn modelId="{AF3ADC8F-840A-4B20-A710-A48385EDD416}" type="presParOf" srcId="{DCE690E3-C1F6-42A2-9AA1-23CBE4C8D67D}" destId="{AB28DF79-0511-4665-A83F-1CEB1B2A3AD1}" srcOrd="0" destOrd="0" presId="urn:microsoft.com/office/officeart/2005/8/layout/hProcess11#1"/>
    <dgm:cxn modelId="{B941D11C-2170-4F2D-B252-B6C46A2A913D}" type="presParOf" srcId="{DCE690E3-C1F6-42A2-9AA1-23CBE4C8D67D}" destId="{15821B24-86E6-4FD3-AEDC-3F2C839F6C88}" srcOrd="1" destOrd="0" presId="urn:microsoft.com/office/officeart/2005/8/layout/hProcess11#1"/>
    <dgm:cxn modelId="{7BBB8F5D-ED55-4E38-8324-95603CFC002C}" type="presParOf" srcId="{DCE690E3-C1F6-42A2-9AA1-23CBE4C8D67D}" destId="{AAE2E1EC-C7A6-4532-ACE6-B5C9833D7A8E}" srcOrd="2" destOrd="0" presId="urn:microsoft.com/office/officeart/2005/8/layout/hProcess1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A67C6B-BE64-43AD-A373-D1B48140E2E7}" type="doc">
      <dgm:prSet loTypeId="urn:microsoft.com/office/officeart/2005/8/layout/chevron1" loCatId="process" qsTypeId="urn:microsoft.com/office/officeart/2005/8/quickstyle/simple1#3" qsCatId="simple" csTypeId="urn:microsoft.com/office/officeart/2005/8/colors/colorful5#2" csCatId="colorful" phldr="1"/>
      <dgm:spPr/>
    </dgm:pt>
    <dgm:pt modelId="{67B81689-C780-439A-AFB7-EC58ADC7D738}">
      <dgm:prSet phldrT="[文本]" custT="1"/>
      <dgm:spPr/>
      <dgm:t>
        <a:bodyPr/>
        <a:lstStyle/>
        <a:p>
          <a:r>
            <a:rPr lang="zh-CN" altLang="en-US" sz="2800" dirty="0">
              <a:solidFill>
                <a:schemeClr val="tx1"/>
              </a:solidFill>
              <a:latin typeface="微软雅黑" pitchFamily="34" charset="-122"/>
              <a:ea typeface="微软雅黑" pitchFamily="34" charset="-122"/>
            </a:rPr>
            <a:t>需求调查</a:t>
          </a:r>
        </a:p>
      </dgm:t>
    </dgm:pt>
    <dgm:pt modelId="{2120F71E-B0A2-4563-8B4A-EA725F37A32F}" type="parTrans" cxnId="{559CE718-5FFC-4DFE-B74D-5C4FF1AFAFE8}">
      <dgm:prSet/>
      <dgm:spPr/>
      <dgm:t>
        <a:bodyPr/>
        <a:lstStyle/>
        <a:p>
          <a:endParaRPr lang="zh-CN" altLang="en-US" sz="1400">
            <a:solidFill>
              <a:schemeClr val="tx1"/>
            </a:solidFill>
          </a:endParaRPr>
        </a:p>
      </dgm:t>
    </dgm:pt>
    <dgm:pt modelId="{E7C4852E-B2ED-4B1C-B7DA-DD8C1CCE3787}" type="sibTrans" cxnId="{559CE718-5FFC-4DFE-B74D-5C4FF1AFAFE8}">
      <dgm:prSet/>
      <dgm:spPr/>
      <dgm:t>
        <a:bodyPr/>
        <a:lstStyle/>
        <a:p>
          <a:endParaRPr lang="zh-CN" altLang="en-US" sz="1400">
            <a:solidFill>
              <a:schemeClr val="tx1"/>
            </a:solidFill>
          </a:endParaRPr>
        </a:p>
      </dgm:t>
    </dgm:pt>
    <dgm:pt modelId="{B918FABD-203B-485F-B9EF-C18E53076AAA}">
      <dgm:prSet phldrT="[文本]" custT="1"/>
      <dgm:spPr/>
      <dgm:t>
        <a:bodyPr/>
        <a:lstStyle/>
        <a:p>
          <a:r>
            <a:rPr lang="zh-CN" altLang="en-US" sz="2800" dirty="0">
              <a:solidFill>
                <a:schemeClr val="tx1"/>
              </a:solidFill>
              <a:latin typeface="微软雅黑" pitchFamily="34" charset="-122"/>
              <a:ea typeface="微软雅黑" pitchFamily="34" charset="-122"/>
            </a:rPr>
            <a:t>需求分析</a:t>
          </a:r>
        </a:p>
      </dgm:t>
    </dgm:pt>
    <dgm:pt modelId="{1A964A76-5D14-4F70-AAEF-047E2F8A8EE4}" type="parTrans" cxnId="{B6057C8F-75F1-4D17-950F-C54DE3A90972}">
      <dgm:prSet/>
      <dgm:spPr/>
      <dgm:t>
        <a:bodyPr/>
        <a:lstStyle/>
        <a:p>
          <a:endParaRPr lang="zh-CN" altLang="en-US" sz="1400">
            <a:solidFill>
              <a:schemeClr val="tx1"/>
            </a:solidFill>
          </a:endParaRPr>
        </a:p>
      </dgm:t>
    </dgm:pt>
    <dgm:pt modelId="{57E8C08F-B179-46EB-A5DA-8028A5043B99}" type="sibTrans" cxnId="{B6057C8F-75F1-4D17-950F-C54DE3A90972}">
      <dgm:prSet/>
      <dgm:spPr/>
      <dgm:t>
        <a:bodyPr/>
        <a:lstStyle/>
        <a:p>
          <a:endParaRPr lang="zh-CN" altLang="en-US" sz="1400">
            <a:solidFill>
              <a:schemeClr val="tx1"/>
            </a:solidFill>
          </a:endParaRPr>
        </a:p>
      </dgm:t>
    </dgm:pt>
    <dgm:pt modelId="{ED3B0BBF-8788-4B36-9D73-88FC94F68F11}">
      <dgm:prSet phldrT="[文本]" custT="1"/>
      <dgm:spPr/>
      <dgm:t>
        <a:bodyPr/>
        <a:lstStyle/>
        <a:p>
          <a:r>
            <a:rPr lang="zh-CN" altLang="en-US" sz="2800" dirty="0">
              <a:solidFill>
                <a:schemeClr val="tx1"/>
              </a:solidFill>
              <a:latin typeface="微软雅黑" pitchFamily="34" charset="-122"/>
              <a:ea typeface="微软雅黑" pitchFamily="34" charset="-122"/>
            </a:rPr>
            <a:t>需求定义</a:t>
          </a:r>
        </a:p>
      </dgm:t>
    </dgm:pt>
    <dgm:pt modelId="{7C462D65-0723-41D0-AA0E-BD8F55994420}" type="parTrans" cxnId="{98D88641-4082-4AA4-8C82-C8ACDE881EBC}">
      <dgm:prSet/>
      <dgm:spPr/>
      <dgm:t>
        <a:bodyPr/>
        <a:lstStyle/>
        <a:p>
          <a:endParaRPr lang="zh-CN" altLang="en-US" sz="1400">
            <a:solidFill>
              <a:schemeClr val="tx1"/>
            </a:solidFill>
          </a:endParaRPr>
        </a:p>
      </dgm:t>
    </dgm:pt>
    <dgm:pt modelId="{28DC67E6-D835-42B9-A4DA-D803DCFC38D4}" type="sibTrans" cxnId="{98D88641-4082-4AA4-8C82-C8ACDE881EBC}">
      <dgm:prSet/>
      <dgm:spPr/>
      <dgm:t>
        <a:bodyPr/>
        <a:lstStyle/>
        <a:p>
          <a:endParaRPr lang="zh-CN" altLang="en-US" sz="1400">
            <a:solidFill>
              <a:schemeClr val="tx1"/>
            </a:solidFill>
          </a:endParaRPr>
        </a:p>
      </dgm:t>
    </dgm:pt>
    <dgm:pt modelId="{2F0DD128-5518-48CD-B4E0-230D77163B5D}" type="pres">
      <dgm:prSet presAssocID="{17A67C6B-BE64-43AD-A373-D1B48140E2E7}" presName="Name0" presStyleCnt="0">
        <dgm:presLayoutVars>
          <dgm:dir/>
          <dgm:animLvl val="lvl"/>
          <dgm:resizeHandles val="exact"/>
        </dgm:presLayoutVars>
      </dgm:prSet>
      <dgm:spPr/>
    </dgm:pt>
    <dgm:pt modelId="{19E5B55A-8891-4E78-B1D7-30577F5D5B23}" type="pres">
      <dgm:prSet presAssocID="{67B81689-C780-439A-AFB7-EC58ADC7D738}" presName="parTxOnly" presStyleLbl="node1" presStyleIdx="0" presStyleCnt="3">
        <dgm:presLayoutVars>
          <dgm:chMax val="0"/>
          <dgm:chPref val="0"/>
          <dgm:bulletEnabled val="1"/>
        </dgm:presLayoutVars>
      </dgm:prSet>
      <dgm:spPr/>
    </dgm:pt>
    <dgm:pt modelId="{4BE38CAF-BA07-4528-9E85-BD4E872A580D}" type="pres">
      <dgm:prSet presAssocID="{E7C4852E-B2ED-4B1C-B7DA-DD8C1CCE3787}" presName="parTxOnlySpace" presStyleCnt="0"/>
      <dgm:spPr/>
    </dgm:pt>
    <dgm:pt modelId="{ACE07256-2A99-45EB-B365-42ED1962F541}" type="pres">
      <dgm:prSet presAssocID="{B918FABD-203B-485F-B9EF-C18E53076AAA}" presName="parTxOnly" presStyleLbl="node1" presStyleIdx="1" presStyleCnt="3">
        <dgm:presLayoutVars>
          <dgm:chMax val="0"/>
          <dgm:chPref val="0"/>
          <dgm:bulletEnabled val="1"/>
        </dgm:presLayoutVars>
      </dgm:prSet>
      <dgm:spPr/>
    </dgm:pt>
    <dgm:pt modelId="{0F8A5E4D-7A4F-4376-816B-B1997D96CB09}" type="pres">
      <dgm:prSet presAssocID="{57E8C08F-B179-46EB-A5DA-8028A5043B99}" presName="parTxOnlySpace" presStyleCnt="0"/>
      <dgm:spPr/>
    </dgm:pt>
    <dgm:pt modelId="{6FCA77A9-FB19-4FCD-8A37-99799A5BF684}" type="pres">
      <dgm:prSet presAssocID="{ED3B0BBF-8788-4B36-9D73-88FC94F68F11}" presName="parTxOnly" presStyleLbl="node1" presStyleIdx="2" presStyleCnt="3">
        <dgm:presLayoutVars>
          <dgm:chMax val="0"/>
          <dgm:chPref val="0"/>
          <dgm:bulletEnabled val="1"/>
        </dgm:presLayoutVars>
      </dgm:prSet>
      <dgm:spPr/>
    </dgm:pt>
  </dgm:ptLst>
  <dgm:cxnLst>
    <dgm:cxn modelId="{559CE718-5FFC-4DFE-B74D-5C4FF1AFAFE8}" srcId="{17A67C6B-BE64-43AD-A373-D1B48140E2E7}" destId="{67B81689-C780-439A-AFB7-EC58ADC7D738}" srcOrd="0" destOrd="0" parTransId="{2120F71E-B0A2-4563-8B4A-EA725F37A32F}" sibTransId="{E7C4852E-B2ED-4B1C-B7DA-DD8C1CCE3787}"/>
    <dgm:cxn modelId="{3C830D27-CAEA-49A0-A9A3-5203C392AA48}" type="presOf" srcId="{67B81689-C780-439A-AFB7-EC58ADC7D738}" destId="{19E5B55A-8891-4E78-B1D7-30577F5D5B23}" srcOrd="0" destOrd="0" presId="urn:microsoft.com/office/officeart/2005/8/layout/chevron1"/>
    <dgm:cxn modelId="{85EA0E3E-E204-4777-9FD8-7AA5B3837571}" type="presOf" srcId="{17A67C6B-BE64-43AD-A373-D1B48140E2E7}" destId="{2F0DD128-5518-48CD-B4E0-230D77163B5D}" srcOrd="0" destOrd="0" presId="urn:microsoft.com/office/officeart/2005/8/layout/chevron1"/>
    <dgm:cxn modelId="{98D88641-4082-4AA4-8C82-C8ACDE881EBC}" srcId="{17A67C6B-BE64-43AD-A373-D1B48140E2E7}" destId="{ED3B0BBF-8788-4B36-9D73-88FC94F68F11}" srcOrd="2" destOrd="0" parTransId="{7C462D65-0723-41D0-AA0E-BD8F55994420}" sibTransId="{28DC67E6-D835-42B9-A4DA-D803DCFC38D4}"/>
    <dgm:cxn modelId="{C038CE4A-8366-41F3-AD59-A92A43EE076D}" type="presOf" srcId="{B918FABD-203B-485F-B9EF-C18E53076AAA}" destId="{ACE07256-2A99-45EB-B365-42ED1962F541}" srcOrd="0" destOrd="0" presId="urn:microsoft.com/office/officeart/2005/8/layout/chevron1"/>
    <dgm:cxn modelId="{B6057C8F-75F1-4D17-950F-C54DE3A90972}" srcId="{17A67C6B-BE64-43AD-A373-D1B48140E2E7}" destId="{B918FABD-203B-485F-B9EF-C18E53076AAA}" srcOrd="1" destOrd="0" parTransId="{1A964A76-5D14-4F70-AAEF-047E2F8A8EE4}" sibTransId="{57E8C08F-B179-46EB-A5DA-8028A5043B99}"/>
    <dgm:cxn modelId="{A273A8BA-1596-4B2F-A023-6672FE2DC014}" type="presOf" srcId="{ED3B0BBF-8788-4B36-9D73-88FC94F68F11}" destId="{6FCA77A9-FB19-4FCD-8A37-99799A5BF684}" srcOrd="0" destOrd="0" presId="urn:microsoft.com/office/officeart/2005/8/layout/chevron1"/>
    <dgm:cxn modelId="{E91F4D95-680C-4BC8-ABE1-5A7316BF2853}" type="presParOf" srcId="{2F0DD128-5518-48CD-B4E0-230D77163B5D}" destId="{19E5B55A-8891-4E78-B1D7-30577F5D5B23}" srcOrd="0" destOrd="0" presId="urn:microsoft.com/office/officeart/2005/8/layout/chevron1"/>
    <dgm:cxn modelId="{5D83A68C-F803-494A-B7FB-E309E7EE0F6D}" type="presParOf" srcId="{2F0DD128-5518-48CD-B4E0-230D77163B5D}" destId="{4BE38CAF-BA07-4528-9E85-BD4E872A580D}" srcOrd="1" destOrd="0" presId="urn:microsoft.com/office/officeart/2005/8/layout/chevron1"/>
    <dgm:cxn modelId="{07A1B494-22A8-4305-91E8-C1E8786E7EA8}" type="presParOf" srcId="{2F0DD128-5518-48CD-B4E0-230D77163B5D}" destId="{ACE07256-2A99-45EB-B365-42ED1962F541}" srcOrd="2" destOrd="0" presId="urn:microsoft.com/office/officeart/2005/8/layout/chevron1"/>
    <dgm:cxn modelId="{8CC4180B-1CDC-4111-8A3B-BD87ECDF0C16}" type="presParOf" srcId="{2F0DD128-5518-48CD-B4E0-230D77163B5D}" destId="{0F8A5E4D-7A4F-4376-816B-B1997D96CB09}" srcOrd="3" destOrd="0" presId="urn:microsoft.com/office/officeart/2005/8/layout/chevron1"/>
    <dgm:cxn modelId="{A9E32641-7CC7-4AF3-AEEC-3733717FEC94}" type="presParOf" srcId="{2F0DD128-5518-48CD-B4E0-230D77163B5D}" destId="{6FCA77A9-FB19-4FCD-8A37-99799A5BF684}"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CEA544-E0EF-4AC7-9AA7-8D83E7CA0F0A}">
      <dsp:nvSpPr>
        <dsp:cNvPr id="0" name=""/>
        <dsp:cNvSpPr/>
      </dsp:nvSpPr>
      <dsp:spPr>
        <a:xfrm rot="5400000">
          <a:off x="-219257" y="221911"/>
          <a:ext cx="1461717" cy="102320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solidFill>
                <a:schemeClr val="tx1"/>
              </a:solidFill>
              <a:latin typeface="微软雅黑" pitchFamily="34" charset="-122"/>
              <a:ea typeface="微软雅黑" pitchFamily="34" charset="-122"/>
            </a:rPr>
            <a:t>诊断</a:t>
          </a:r>
        </a:p>
      </dsp:txBody>
      <dsp:txXfrm rot="-5400000">
        <a:off x="2" y="514254"/>
        <a:ext cx="1023201" cy="438516"/>
      </dsp:txXfrm>
    </dsp:sp>
    <dsp:sp modelId="{68AF5A80-EF42-4AED-BC1D-8F9EB6AE9BF5}">
      <dsp:nvSpPr>
        <dsp:cNvPr id="0" name=""/>
        <dsp:cNvSpPr/>
      </dsp:nvSpPr>
      <dsp:spPr>
        <a:xfrm rot="5400000">
          <a:off x="2360682" y="-1334826"/>
          <a:ext cx="950615" cy="362557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chemeClr val="tx1"/>
              </a:solidFill>
              <a:latin typeface="微软雅黑" pitchFamily="34" charset="-122"/>
              <a:ea typeface="微软雅黑" pitchFamily="34" charset="-122"/>
            </a:rPr>
            <a:t>准确定位痛点</a:t>
          </a:r>
        </a:p>
      </dsp:txBody>
      <dsp:txXfrm rot="-5400000">
        <a:off x="1023202" y="49059"/>
        <a:ext cx="3579171" cy="857805"/>
      </dsp:txXfrm>
    </dsp:sp>
    <dsp:sp modelId="{A570785C-59E2-4EF1-A8AA-1EBED734FBB7}">
      <dsp:nvSpPr>
        <dsp:cNvPr id="0" name=""/>
        <dsp:cNvSpPr/>
      </dsp:nvSpPr>
      <dsp:spPr>
        <a:xfrm rot="5400000">
          <a:off x="-219257" y="1539125"/>
          <a:ext cx="1461717" cy="102320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solidFill>
                <a:schemeClr val="tx1"/>
              </a:solidFill>
              <a:latin typeface="微软雅黑" pitchFamily="34" charset="-122"/>
              <a:ea typeface="微软雅黑" pitchFamily="34" charset="-122"/>
            </a:rPr>
            <a:t>开方</a:t>
          </a:r>
        </a:p>
      </dsp:txBody>
      <dsp:txXfrm rot="-5400000">
        <a:off x="2" y="1831468"/>
        <a:ext cx="1023201" cy="438516"/>
      </dsp:txXfrm>
    </dsp:sp>
    <dsp:sp modelId="{EA1EF20B-419E-4880-9C30-DC94AC8D69C7}">
      <dsp:nvSpPr>
        <dsp:cNvPr id="0" name=""/>
        <dsp:cNvSpPr/>
      </dsp:nvSpPr>
      <dsp:spPr>
        <a:xfrm rot="5400000">
          <a:off x="2360931" y="-17862"/>
          <a:ext cx="950116" cy="362557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chemeClr val="tx1"/>
              </a:solidFill>
              <a:latin typeface="微软雅黑" pitchFamily="34" charset="-122"/>
              <a:ea typeface="微软雅黑" pitchFamily="34" charset="-122"/>
            </a:rPr>
            <a:t>提出合理解决方案</a:t>
          </a:r>
        </a:p>
      </dsp:txBody>
      <dsp:txXfrm rot="-5400000">
        <a:off x="1023202" y="1366249"/>
        <a:ext cx="3579195" cy="857354"/>
      </dsp:txXfrm>
    </dsp:sp>
    <dsp:sp modelId="{1B453154-CBB2-4470-AC37-1A1E79EA4B2F}">
      <dsp:nvSpPr>
        <dsp:cNvPr id="0" name=""/>
        <dsp:cNvSpPr/>
      </dsp:nvSpPr>
      <dsp:spPr>
        <a:xfrm rot="5400000">
          <a:off x="-219257" y="2856339"/>
          <a:ext cx="1461717" cy="102320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solidFill>
                <a:schemeClr val="tx1"/>
              </a:solidFill>
              <a:latin typeface="微软雅黑" pitchFamily="34" charset="-122"/>
              <a:ea typeface="微软雅黑" pitchFamily="34" charset="-122"/>
            </a:rPr>
            <a:t>配药</a:t>
          </a:r>
        </a:p>
      </dsp:txBody>
      <dsp:txXfrm rot="-5400000">
        <a:off x="2" y="3148682"/>
        <a:ext cx="1023201" cy="438516"/>
      </dsp:txXfrm>
    </dsp:sp>
    <dsp:sp modelId="{FCFF4C28-C682-4B63-B069-150DBD2FD9C6}">
      <dsp:nvSpPr>
        <dsp:cNvPr id="0" name=""/>
        <dsp:cNvSpPr/>
      </dsp:nvSpPr>
      <dsp:spPr>
        <a:xfrm rot="5400000">
          <a:off x="2360931" y="1299352"/>
          <a:ext cx="950116" cy="362557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chemeClr val="tx1"/>
              </a:solidFill>
              <a:latin typeface="微软雅黑" pitchFamily="34" charset="-122"/>
              <a:ea typeface="微软雅黑" pitchFamily="34" charset="-122"/>
            </a:rPr>
            <a:t>设计开发软件系统</a:t>
          </a:r>
        </a:p>
      </dsp:txBody>
      <dsp:txXfrm rot="-5400000">
        <a:off x="1023202" y="2683463"/>
        <a:ext cx="3579195" cy="857354"/>
      </dsp:txXfrm>
    </dsp:sp>
    <dsp:sp modelId="{37D6BDAA-776C-476D-8ADB-CEDA5E6143F4}">
      <dsp:nvSpPr>
        <dsp:cNvPr id="0" name=""/>
        <dsp:cNvSpPr/>
      </dsp:nvSpPr>
      <dsp:spPr>
        <a:xfrm rot="5400000">
          <a:off x="-219257" y="4173553"/>
          <a:ext cx="1461717" cy="102320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solidFill>
                <a:schemeClr val="tx1"/>
              </a:solidFill>
              <a:latin typeface="微软雅黑" pitchFamily="34" charset="-122"/>
              <a:ea typeface="微软雅黑" pitchFamily="34" charset="-122"/>
            </a:rPr>
            <a:t>治疗</a:t>
          </a:r>
        </a:p>
      </dsp:txBody>
      <dsp:txXfrm rot="-5400000">
        <a:off x="2" y="4465896"/>
        <a:ext cx="1023201" cy="438516"/>
      </dsp:txXfrm>
    </dsp:sp>
    <dsp:sp modelId="{2707C44F-CAEC-4AF9-8387-1BB2EC18CE99}">
      <dsp:nvSpPr>
        <dsp:cNvPr id="0" name=""/>
        <dsp:cNvSpPr/>
      </dsp:nvSpPr>
      <dsp:spPr>
        <a:xfrm rot="5400000">
          <a:off x="2360931" y="2616566"/>
          <a:ext cx="950116" cy="362557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b="1" kern="1200" dirty="0">
              <a:solidFill>
                <a:schemeClr val="tx1"/>
              </a:solidFill>
              <a:latin typeface="微软雅黑" pitchFamily="34" charset="-122"/>
              <a:ea typeface="微软雅黑" pitchFamily="34" charset="-122"/>
            </a:rPr>
            <a:t>实施维护软件系统</a:t>
          </a:r>
        </a:p>
      </dsp:txBody>
      <dsp:txXfrm rot="-5400000">
        <a:off x="1023202" y="4000677"/>
        <a:ext cx="3579195" cy="8573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7CD7EC-0EB9-4C1B-AF3B-BDD24EFEA889}">
      <dsp:nvSpPr>
        <dsp:cNvPr id="0" name=""/>
        <dsp:cNvSpPr/>
      </dsp:nvSpPr>
      <dsp:spPr>
        <a:xfrm>
          <a:off x="0" y="717753"/>
          <a:ext cx="10316613" cy="957004"/>
        </a:xfrm>
        <a:prstGeom prst="notchedRightArrow">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B18918-E96F-4F0C-9087-0251B42BE6DF}">
      <dsp:nvSpPr>
        <dsp:cNvPr id="0" name=""/>
        <dsp:cNvSpPr/>
      </dsp:nvSpPr>
      <dsp:spPr>
        <a:xfrm>
          <a:off x="2763" y="0"/>
          <a:ext cx="2575907" cy="957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156464" numCol="1" spcCol="1270" anchor="b" anchorCtr="0">
          <a:noAutofit/>
        </a:bodyPr>
        <a:lstStyle/>
        <a:p>
          <a:pPr marL="0" lvl="0" indent="0" algn="ctr" defTabSz="977900">
            <a:lnSpc>
              <a:spcPct val="90000"/>
            </a:lnSpc>
            <a:spcBef>
              <a:spcPct val="0"/>
            </a:spcBef>
            <a:spcAft>
              <a:spcPct val="35000"/>
            </a:spcAft>
            <a:buNone/>
          </a:pPr>
          <a:r>
            <a:rPr lang="zh-CN" altLang="en-US" sz="2200" kern="1200" dirty="0">
              <a:latin typeface="微软雅黑" pitchFamily="34" charset="-122"/>
              <a:ea typeface="微软雅黑" pitchFamily="34" charset="-122"/>
            </a:rPr>
            <a:t>早期：挖不出需求</a:t>
          </a:r>
        </a:p>
      </dsp:txBody>
      <dsp:txXfrm>
        <a:off x="2763" y="0"/>
        <a:ext cx="2575907" cy="957004"/>
      </dsp:txXfrm>
    </dsp:sp>
    <dsp:sp modelId="{3F1099F9-27AA-45E8-AD7F-6BF61FE7B2F0}">
      <dsp:nvSpPr>
        <dsp:cNvPr id="0" name=""/>
        <dsp:cNvSpPr/>
      </dsp:nvSpPr>
      <dsp:spPr>
        <a:xfrm>
          <a:off x="1171091" y="1076630"/>
          <a:ext cx="239251" cy="239251"/>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9F4ED7-C3C6-4EFA-AB81-CBDA19BEF63C}">
      <dsp:nvSpPr>
        <dsp:cNvPr id="0" name=""/>
        <dsp:cNvSpPr/>
      </dsp:nvSpPr>
      <dsp:spPr>
        <a:xfrm>
          <a:off x="2645542" y="1435507"/>
          <a:ext cx="3224709" cy="957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156464" numCol="1" spcCol="1270" anchor="t" anchorCtr="0">
          <a:noAutofit/>
        </a:bodyPr>
        <a:lstStyle/>
        <a:p>
          <a:pPr marL="0" lvl="0" indent="0" algn="ctr" defTabSz="977900">
            <a:lnSpc>
              <a:spcPct val="90000"/>
            </a:lnSpc>
            <a:spcBef>
              <a:spcPct val="0"/>
            </a:spcBef>
            <a:spcAft>
              <a:spcPct val="35000"/>
            </a:spcAft>
            <a:buNone/>
          </a:pPr>
          <a:r>
            <a:rPr lang="zh-CN" altLang="en-US" sz="2200" kern="1200" dirty="0">
              <a:latin typeface="微软雅黑" pitchFamily="34" charset="-122"/>
              <a:ea typeface="微软雅黑" pitchFamily="34" charset="-122"/>
            </a:rPr>
            <a:t>中期：需求像洪水猛兽</a:t>
          </a:r>
        </a:p>
      </dsp:txBody>
      <dsp:txXfrm>
        <a:off x="2645542" y="1435507"/>
        <a:ext cx="3224709" cy="957004"/>
      </dsp:txXfrm>
    </dsp:sp>
    <dsp:sp modelId="{F37110D6-ACF0-4F9B-9805-6B4ACB0EC892}">
      <dsp:nvSpPr>
        <dsp:cNvPr id="0" name=""/>
        <dsp:cNvSpPr/>
      </dsp:nvSpPr>
      <dsp:spPr>
        <a:xfrm>
          <a:off x="4138271" y="1076630"/>
          <a:ext cx="239251" cy="239251"/>
        </a:xfrm>
        <a:prstGeom prst="ellipse">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28DF79-0511-4665-A83F-1CEB1B2A3AD1}">
      <dsp:nvSpPr>
        <dsp:cNvPr id="0" name=""/>
        <dsp:cNvSpPr/>
      </dsp:nvSpPr>
      <dsp:spPr>
        <a:xfrm>
          <a:off x="5937123" y="0"/>
          <a:ext cx="3345064" cy="957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156464" numCol="1" spcCol="1270" anchor="b" anchorCtr="0">
          <a:noAutofit/>
        </a:bodyPr>
        <a:lstStyle/>
        <a:p>
          <a:pPr marL="0" lvl="0" indent="0" algn="ctr" defTabSz="977900">
            <a:lnSpc>
              <a:spcPct val="90000"/>
            </a:lnSpc>
            <a:spcBef>
              <a:spcPct val="0"/>
            </a:spcBef>
            <a:spcAft>
              <a:spcPct val="35000"/>
            </a:spcAft>
            <a:buNone/>
          </a:pPr>
          <a:r>
            <a:rPr lang="zh-CN" altLang="en-US" sz="2200" kern="1200" dirty="0">
              <a:latin typeface="微软雅黑" pitchFamily="34" charset="-122"/>
              <a:ea typeface="微软雅黑" pitchFamily="34" charset="-122"/>
            </a:rPr>
            <a:t>晚期：像癌症晚期一样</a:t>
          </a:r>
        </a:p>
      </dsp:txBody>
      <dsp:txXfrm>
        <a:off x="5937123" y="0"/>
        <a:ext cx="3345064" cy="957004"/>
      </dsp:txXfrm>
    </dsp:sp>
    <dsp:sp modelId="{15821B24-86E6-4FD3-AEDC-3F2C839F6C88}">
      <dsp:nvSpPr>
        <dsp:cNvPr id="0" name=""/>
        <dsp:cNvSpPr/>
      </dsp:nvSpPr>
      <dsp:spPr>
        <a:xfrm>
          <a:off x="7490030" y="1076630"/>
          <a:ext cx="239251" cy="239251"/>
        </a:xfrm>
        <a:prstGeom prst="ellipse">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E5B55A-8891-4E78-B1D7-30577F5D5B23}">
      <dsp:nvSpPr>
        <dsp:cNvPr id="0" name=""/>
        <dsp:cNvSpPr/>
      </dsp:nvSpPr>
      <dsp:spPr>
        <a:xfrm>
          <a:off x="2381" y="0"/>
          <a:ext cx="2901156" cy="503656"/>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solidFill>
                <a:schemeClr val="tx1"/>
              </a:solidFill>
              <a:latin typeface="微软雅黑" pitchFamily="34" charset="-122"/>
              <a:ea typeface="微软雅黑" pitchFamily="34" charset="-122"/>
            </a:rPr>
            <a:t>需求调查</a:t>
          </a:r>
        </a:p>
      </dsp:txBody>
      <dsp:txXfrm>
        <a:off x="254209" y="0"/>
        <a:ext cx="2397500" cy="503656"/>
      </dsp:txXfrm>
    </dsp:sp>
    <dsp:sp modelId="{ACE07256-2A99-45EB-B365-42ED1962F541}">
      <dsp:nvSpPr>
        <dsp:cNvPr id="0" name=""/>
        <dsp:cNvSpPr/>
      </dsp:nvSpPr>
      <dsp:spPr>
        <a:xfrm>
          <a:off x="2613421" y="0"/>
          <a:ext cx="2901156" cy="503656"/>
        </a:xfrm>
        <a:prstGeom prst="chevron">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solidFill>
                <a:schemeClr val="tx1"/>
              </a:solidFill>
              <a:latin typeface="微软雅黑" pitchFamily="34" charset="-122"/>
              <a:ea typeface="微软雅黑" pitchFamily="34" charset="-122"/>
            </a:rPr>
            <a:t>需求分析</a:t>
          </a:r>
        </a:p>
      </dsp:txBody>
      <dsp:txXfrm>
        <a:off x="2865249" y="0"/>
        <a:ext cx="2397500" cy="503656"/>
      </dsp:txXfrm>
    </dsp:sp>
    <dsp:sp modelId="{6FCA77A9-FB19-4FCD-8A37-99799A5BF684}">
      <dsp:nvSpPr>
        <dsp:cNvPr id="0" name=""/>
        <dsp:cNvSpPr/>
      </dsp:nvSpPr>
      <dsp:spPr>
        <a:xfrm>
          <a:off x="5224462" y="0"/>
          <a:ext cx="2901156" cy="503656"/>
        </a:xfrm>
        <a:prstGeom prst="chevron">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solidFill>
                <a:schemeClr val="tx1"/>
              </a:solidFill>
              <a:latin typeface="微软雅黑" pitchFamily="34" charset="-122"/>
              <a:ea typeface="微软雅黑" pitchFamily="34" charset="-122"/>
            </a:rPr>
            <a:t>需求定义</a:t>
          </a:r>
        </a:p>
      </dsp:txBody>
      <dsp:txXfrm>
        <a:off x="5476290" y="0"/>
        <a:ext cx="2397500" cy="503656"/>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HorzCh" val="ctr"/>
                  <dgm:param type="txAnchorVertCh" val="b"/>
                  <dgm:param type="txAnchorVert" val="b"/>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HorzCh" val="ctr"/>
                  <dgm:param type="txAnchorVertCh" val="t"/>
                  <dgm:param type="txAnchorVert" val="t"/>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C0826-6BC5-4534-8F91-2515044AF1B8}" type="datetimeFigureOut">
              <a:rPr lang="zh-CN" altLang="en-US" smtClean="0"/>
              <a:t>2022/7/20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54993C-2851-4B37-8A50-837DDC8B7B44}" type="slidenum">
              <a:rPr lang="zh-CN" altLang="en-US" smtClean="0"/>
              <a:t>‹#›</a:t>
            </a:fld>
            <a:endParaRPr lang="zh-CN" altLang="en-US"/>
          </a:p>
        </p:txBody>
      </p:sp>
    </p:spTree>
    <p:extLst>
      <p:ext uri="{BB962C8B-B14F-4D97-AF65-F5344CB8AC3E}">
        <p14:creationId xmlns:p14="http://schemas.microsoft.com/office/powerpoint/2010/main" val="4277579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baike.baidu.com/item/%E6%96%87%E6%A1%A3/1009768"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jieheshili</a:t>
            </a:r>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9</a:t>
            </a:fld>
            <a:endParaRPr lang="zh-CN" altLang="en-US"/>
          </a:p>
        </p:txBody>
      </p:sp>
    </p:spTree>
    <p:extLst>
      <p:ext uri="{BB962C8B-B14F-4D97-AF65-F5344CB8AC3E}">
        <p14:creationId xmlns:p14="http://schemas.microsoft.com/office/powerpoint/2010/main" val="2208590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https://www.infoq.com/articles/standish-chaos-2015/</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10</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引出“需求工程”</a:t>
            </a:r>
            <a:endParaRPr lang="en-US" altLang="zh-CN" dirty="0"/>
          </a:p>
          <a:p>
            <a:r>
              <a:rPr lang="zh-CN" altLang="en-US" sz="1200" b="0" i="0" kern="1200" dirty="0">
                <a:solidFill>
                  <a:schemeClr val="tx1"/>
                </a:solidFill>
                <a:effectLst/>
                <a:latin typeface="+mn-lt"/>
                <a:ea typeface="+mn-ea"/>
                <a:cs typeface="+mn-cs"/>
              </a:rPr>
              <a:t>它通过合适的工具和记号系统地描述待开发系统及其行为特征和相关约束，形成需求</a:t>
            </a:r>
            <a:r>
              <a:rPr lang="zh-CN" altLang="en-US" sz="1200" b="0" i="0" u="none" strike="noStrike" kern="1200" dirty="0">
                <a:solidFill>
                  <a:schemeClr val="tx1"/>
                </a:solidFill>
                <a:effectLst/>
                <a:latin typeface="+mn-lt"/>
                <a:ea typeface="+mn-ea"/>
                <a:cs typeface="+mn-cs"/>
                <a:hlinkClick r:id="rId3"/>
              </a:rPr>
              <a:t>文档</a:t>
            </a:r>
            <a:r>
              <a:rPr lang="zh-CN" altLang="en-US" sz="1200" b="0" i="0" kern="1200" dirty="0">
                <a:solidFill>
                  <a:schemeClr val="tx1"/>
                </a:solidFill>
                <a:effectLst/>
                <a:latin typeface="+mn-lt"/>
                <a:ea typeface="+mn-ea"/>
                <a:cs typeface="+mn-cs"/>
              </a:rPr>
              <a:t>，并对用户不断变化的需求演进给予支持。</a:t>
            </a:r>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11</a:t>
            </a:fld>
            <a:endParaRPr lang="zh-CN" altLang="en-US"/>
          </a:p>
        </p:txBody>
      </p:sp>
    </p:spTree>
    <p:extLst>
      <p:ext uri="{BB962C8B-B14F-4D97-AF65-F5344CB8AC3E}">
        <p14:creationId xmlns:p14="http://schemas.microsoft.com/office/powerpoint/2010/main" val="1214605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12</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13</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套一个企业说，各种角色。印刷厂的例子。</a:t>
            </a:r>
          </a:p>
        </p:txBody>
      </p:sp>
      <p:sp>
        <p:nvSpPr>
          <p:cNvPr id="4" name="灯片编号占位符 3"/>
          <p:cNvSpPr>
            <a:spLocks noGrp="1"/>
          </p:cNvSpPr>
          <p:nvPr>
            <p:ph type="sldNum" sz="quarter" idx="10"/>
          </p:nvPr>
        </p:nvSpPr>
        <p:spPr/>
        <p:txBody>
          <a:bodyPr/>
          <a:lstStyle/>
          <a:p>
            <a:fld id="{2954993C-2851-4B37-8A50-837DDC8B7B44}" type="slidenum">
              <a:rPr lang="zh-CN" altLang="en-US" smtClean="0"/>
              <a:t>14</a:t>
            </a:fld>
            <a:endParaRPr lang="zh-CN" altLang="en-US"/>
          </a:p>
        </p:txBody>
      </p:sp>
    </p:spTree>
    <p:extLst>
      <p:ext uri="{BB962C8B-B14F-4D97-AF65-F5344CB8AC3E}">
        <p14:creationId xmlns:p14="http://schemas.microsoft.com/office/powerpoint/2010/main" val="1605031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从图中可以看出扩展</a:t>
            </a:r>
            <a:r>
              <a:rPr lang="en-US" altLang="zh-CN" sz="1200" b="0" i="0" kern="1200" dirty="0">
                <a:solidFill>
                  <a:schemeClr val="tx1"/>
                </a:solidFill>
                <a:effectLst/>
                <a:latin typeface="+mn-lt"/>
                <a:ea typeface="+mn-ea"/>
                <a:cs typeface="+mn-cs"/>
              </a:rPr>
              <a:t>ICONIX</a:t>
            </a:r>
            <a:r>
              <a:rPr lang="zh-CN" altLang="en-US" sz="1200" b="0" i="0" kern="1200" dirty="0">
                <a:solidFill>
                  <a:schemeClr val="tx1"/>
                </a:solidFill>
                <a:effectLst/>
                <a:latin typeface="+mn-lt"/>
                <a:ea typeface="+mn-ea"/>
                <a:cs typeface="+mn-cs"/>
              </a:rPr>
              <a:t>过程可分为：愿景、业务建模、需求分析、健壮性分析、关键设计、最终设计和实现这几步。它又分为两个大的部分，分别是需求阶段和系统的设计和实现阶段，又可分为四个阶段：需求分析阶段、初步设计阶段、详细设计阶段和部署阶段。它基于极限编程和敏捷软件开发的思想，提倡在项目开始阶段构建域模型和用例模型，其中用例模型驱动整个动态模型，而域模型驱动整个静态模型。</a:t>
            </a:r>
            <a:r>
              <a:rPr lang="en-US" altLang="zh-CN" sz="1200" b="0" i="0" kern="1200" dirty="0">
                <a:solidFill>
                  <a:schemeClr val="tx1"/>
                </a:solidFill>
                <a:effectLst/>
                <a:latin typeface="+mn-lt"/>
                <a:ea typeface="+mn-ea"/>
                <a:cs typeface="+mn-cs"/>
              </a:rPr>
              <a:t>ICONIX</a:t>
            </a:r>
            <a:r>
              <a:rPr lang="zh-CN" altLang="en-US" sz="1200" b="0" i="0" kern="1200" dirty="0">
                <a:solidFill>
                  <a:schemeClr val="tx1"/>
                </a:solidFill>
                <a:effectLst/>
                <a:latin typeface="+mn-lt"/>
                <a:ea typeface="+mn-ea"/>
                <a:cs typeface="+mn-cs"/>
              </a:rPr>
              <a:t>过程是一种以最小步骤实现用例到代码的方法学，覆盖了软件过程中所有关键的环节。</a:t>
            </a:r>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17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18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要从公司的</a:t>
            </a:r>
            <a:r>
              <a:rPr lang="zh-CN" altLang="en-US" dirty="0">
                <a:solidFill>
                  <a:srgbClr val="FF0000"/>
                </a:solidFill>
              </a:rPr>
              <a:t>战略高度</a:t>
            </a:r>
            <a:r>
              <a:rPr lang="zh-CN" altLang="en-US" dirty="0"/>
              <a:t>看待愿景</a:t>
            </a:r>
            <a:endParaRPr lang="en-US" altLang="zh-CN" dirty="0"/>
          </a:p>
          <a:p>
            <a:r>
              <a:rPr lang="zh-CN" altLang="en-US" dirty="0"/>
              <a:t>软件是给个人</a:t>
            </a:r>
            <a:r>
              <a:rPr lang="en-US" altLang="zh-CN" dirty="0"/>
              <a:t>/</a:t>
            </a:r>
            <a:r>
              <a:rPr lang="zh-CN" altLang="en-US" dirty="0"/>
              <a:t>组织做的，如果是给组织做→组织中最有权力的干系人</a:t>
            </a:r>
          </a:p>
        </p:txBody>
      </p:sp>
      <p:sp>
        <p:nvSpPr>
          <p:cNvPr id="4" name="灯片编号占位符 3"/>
          <p:cNvSpPr>
            <a:spLocks noGrp="1"/>
          </p:cNvSpPr>
          <p:nvPr>
            <p:ph type="sldNum" sz="quarter" idx="10"/>
          </p:nvPr>
        </p:nvSpPr>
        <p:spPr/>
        <p:txBody>
          <a:bodyPr/>
          <a:lstStyle/>
          <a:p>
            <a:fld id="{FDDB9895-7A6E-44E3-810E-C8FBEE467FCB}" type="slidenum">
              <a:rPr lang="zh-CN" altLang="en-US" smtClean="0"/>
              <a:t>22</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要从公司的</a:t>
            </a:r>
            <a:r>
              <a:rPr lang="zh-CN" altLang="en-US" dirty="0">
                <a:solidFill>
                  <a:srgbClr val="FF0000"/>
                </a:solidFill>
              </a:rPr>
              <a:t>战略高度</a:t>
            </a:r>
            <a:r>
              <a:rPr lang="zh-CN" altLang="en-US" dirty="0"/>
              <a:t>看待愿景</a:t>
            </a:r>
            <a:endParaRPr lang="en-US" altLang="zh-CN" dirty="0"/>
          </a:p>
          <a:p>
            <a:r>
              <a:rPr lang="en-US" altLang="zh-CN" dirty="0"/>
              <a:t>CRM</a:t>
            </a:r>
            <a:r>
              <a:rPr lang="en-US" altLang="zh-CN" baseline="0" dirty="0"/>
              <a:t> \  ERP</a:t>
            </a:r>
            <a:endParaRPr lang="zh-CN" altLang="en-US"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23</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chemeClr val="tx2"/>
                </a:solidFill>
                <a:latin typeface="微软雅黑" pitchFamily="34" charset="-122"/>
                <a:ea typeface="微软雅黑" pitchFamily="34" charset="-122"/>
              </a:rPr>
              <a:t>愿景更宏观，不可测量</a:t>
            </a:r>
            <a:endParaRPr lang="en-US" altLang="zh-CN" b="1" dirty="0">
              <a:solidFill>
                <a:schemeClr val="tx2"/>
              </a:solidFill>
              <a:latin typeface="微软雅黑" pitchFamily="34" charset="-122"/>
              <a:ea typeface="微软雅黑" pitchFamily="34" charset="-122"/>
            </a:endParaRPr>
          </a:p>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24</a:t>
            </a:fld>
            <a:endParaRPr lang="zh-CN" altLang="en-US"/>
          </a:p>
        </p:txBody>
      </p:sp>
    </p:spTree>
    <p:extLst>
      <p:ext uri="{BB962C8B-B14F-4D97-AF65-F5344CB8AC3E}">
        <p14:creationId xmlns:p14="http://schemas.microsoft.com/office/powerpoint/2010/main" val="88364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CRM </a:t>
            </a:r>
            <a:r>
              <a:rPr lang="zh-CN" altLang="en-US" dirty="0"/>
              <a:t>客户关系管理系统</a:t>
            </a:r>
          </a:p>
        </p:txBody>
      </p:sp>
      <p:sp>
        <p:nvSpPr>
          <p:cNvPr id="4" name="灯片编号占位符 3"/>
          <p:cNvSpPr>
            <a:spLocks noGrp="1"/>
          </p:cNvSpPr>
          <p:nvPr>
            <p:ph type="sldNum" sz="quarter" idx="10"/>
          </p:nvPr>
        </p:nvSpPr>
        <p:spPr/>
        <p:txBody>
          <a:bodyPr/>
          <a:lstStyle/>
          <a:p>
            <a:fld id="{2954993C-2851-4B37-8A50-837DDC8B7B44}" type="slidenum">
              <a:rPr lang="zh-CN" altLang="en-US" smtClean="0"/>
              <a:t>25</a:t>
            </a:fld>
            <a:endParaRPr lang="zh-CN" altLang="en-US"/>
          </a:p>
        </p:txBody>
      </p:sp>
    </p:spTree>
    <p:extLst>
      <p:ext uri="{BB962C8B-B14F-4D97-AF65-F5344CB8AC3E}">
        <p14:creationId xmlns:p14="http://schemas.microsoft.com/office/powerpoint/2010/main" val="3852321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愿景：提高出版社的数字信息化程度</a:t>
            </a:r>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27</a:t>
            </a:fld>
            <a:endParaRPr lang="zh-CN" altLang="en-US"/>
          </a:p>
        </p:txBody>
      </p:sp>
    </p:spTree>
    <p:extLst>
      <p:ext uri="{BB962C8B-B14F-4D97-AF65-F5344CB8AC3E}">
        <p14:creationId xmlns:p14="http://schemas.microsoft.com/office/powerpoint/2010/main" val="3302495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2022/7/20</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7"/>
          <p:cNvSpPr/>
          <p:nvPr userDrawn="1"/>
        </p:nvSpPr>
        <p:spPr>
          <a:xfrm>
            <a:off x="0" y="6555346"/>
            <a:ext cx="12192000" cy="302654"/>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userDrawn="1"/>
        </p:nvSpPr>
        <p:spPr>
          <a:xfrm>
            <a:off x="0" y="6465194"/>
            <a:ext cx="2305316" cy="39280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2022/7/20</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2022/7/20</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2022/7/20</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2022/7/20</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2022/7/20</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2022/7/20</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2022/7/20</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2022/7/20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2022/7/20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2022/7/20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2022/7/20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2022/7/20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2022/7/20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2022/7/20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2022/7/20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2022/7/20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2022/7/20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2022/7/20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2022/7/20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2022/7/20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e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6555346"/>
            <a:ext cx="12192000" cy="302654"/>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userDrawn="1"/>
        </p:nvSpPr>
        <p:spPr>
          <a:xfrm>
            <a:off x="0" y="6465194"/>
            <a:ext cx="2305316" cy="39280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p:nvPr userDrawn="1"/>
        </p:nvSpPr>
        <p:spPr>
          <a:xfrm>
            <a:off x="0" y="567314"/>
            <a:ext cx="167640" cy="45376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1.png"/><Relationship Id="rId7" Type="http://schemas.openxmlformats.org/officeDocument/2006/relationships/hyperlink" Target="http://image.baidu.com/i?ct=503316480&amp;z=0&amp;tn=baiduimagedetail&amp;word=%BF%CD%BB%A7%B9%DC%C0%ED%CF%B5%CD%B3&amp;in=22868&amp;cl=2&amp;lm=-1&amp;pn=16&amp;rn=1&amp;di=43325423205&amp;ln=1&amp;fr=&amp;ic=0&amp;s=0&amp;se=1&amp;sme=0&amp;tab=&amp;width=&amp;height=&amp;face=0&amp;fb=0" TargetMode="Externa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4.jpeg"/><Relationship Id="rId5" Type="http://schemas.openxmlformats.org/officeDocument/2006/relationships/image" Target="../media/image13.png"/><Relationship Id="rId10" Type="http://schemas.openxmlformats.org/officeDocument/2006/relationships/image" Target="../media/image16.jpeg"/><Relationship Id="rId4" Type="http://schemas.openxmlformats.org/officeDocument/2006/relationships/image" Target="../media/image12.png"/><Relationship Id="rId9" Type="http://schemas.openxmlformats.org/officeDocument/2006/relationships/hyperlink" Target="http://image.baidu.com/i?ct=503316480&amp;z=0&amp;tn=baiduimagedetail&amp;word=%B2%C6%CE%F1%C8%ED%BC%FE&amp;in=14994&amp;cl=2&amp;lm=-1&amp;pn=21&amp;rn=1&amp;di=2359508070&amp;ln=1&amp;fr=&amp;ic=0&amp;s=0&amp;se=&amp;sme=0&amp;tab=&amp;width=&amp;height=&amp;face=0&amp;fb=0"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722772" y="3245476"/>
            <a:ext cx="5469228" cy="64394"/>
          </a:xfrm>
          <a:prstGeom prst="rect">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609521" y="2613640"/>
            <a:ext cx="5569602" cy="523220"/>
          </a:xfrm>
          <a:prstGeom prst="rect">
            <a:avLst/>
          </a:prstGeom>
          <a:noFill/>
        </p:spPr>
        <p:txBody>
          <a:bodyPr wrap="none" rtlCol="0">
            <a:spAutoFit/>
          </a:bodyPr>
          <a:lstStyle/>
          <a:p>
            <a:r>
              <a:rPr lang="zh-CN" altLang="en-US" sz="2800" b="1" dirty="0">
                <a:solidFill>
                  <a:srgbClr val="BE1007"/>
                </a:solidFill>
                <a:latin typeface="华康俪金黑W8(P)" panose="020B0800000000000000" pitchFamily="34" charset="-122"/>
                <a:ea typeface="华康俪金黑W8(P)" panose="020B0800000000000000" pitchFamily="34" charset="-122"/>
              </a:rPr>
              <a:t>第二章  踏上</a:t>
            </a:r>
            <a:r>
              <a:rPr lang="en-US" altLang="zh-CN" sz="2800" b="1" dirty="0">
                <a:solidFill>
                  <a:srgbClr val="BE1007"/>
                </a:solidFill>
                <a:latin typeface="华康俪金黑W8(P)" panose="020B0800000000000000" pitchFamily="34" charset="-122"/>
                <a:ea typeface="华康俪金黑W8(P)" panose="020B0800000000000000" pitchFamily="34" charset="-122"/>
              </a:rPr>
              <a:t>ICONIX</a:t>
            </a:r>
            <a:r>
              <a:rPr lang="zh-CN" altLang="en-US" sz="2800" b="1" dirty="0">
                <a:solidFill>
                  <a:srgbClr val="BE1007"/>
                </a:solidFill>
                <a:latin typeface="华康俪金黑W8(P)" panose="020B0800000000000000" pitchFamily="34" charset="-122"/>
                <a:ea typeface="华康俪金黑W8(P)" panose="020B0800000000000000" pitchFamily="34" charset="-122"/>
              </a:rPr>
              <a:t>软件过程之路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anim calcmode="lin" valueType="num">
                                      <p:cBhvr>
                                        <p:cTn id="9"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44" name="文本框 43"/>
            <p:cNvSpPr txBox="1"/>
            <p:nvPr/>
          </p:nvSpPr>
          <p:spPr>
            <a:xfrm>
              <a:off x="4474051" y="2174845"/>
              <a:ext cx="249299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站在客户的角度思考</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123393"/>
            <a:ext cx="6501248" cy="1575607"/>
            <a:chOff x="3328988" y="3123393"/>
            <a:chExt cx="6501248" cy="1575607"/>
          </a:xfrm>
        </p:grpSpPr>
        <p:sp>
          <p:nvSpPr>
            <p:cNvPr id="51" name="矩形 50"/>
            <p:cNvSpPr/>
            <p:nvPr/>
          </p:nvSpPr>
          <p:spPr>
            <a:xfrm>
              <a:off x="3328988" y="397510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sp>
          <p:nvSpPr>
            <p:cNvPr id="56" name="文本框 55"/>
            <p:cNvSpPr txBox="1"/>
            <p:nvPr/>
          </p:nvSpPr>
          <p:spPr>
            <a:xfrm>
              <a:off x="4511817" y="3123393"/>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需求工程概述</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62" name="文本框 61"/>
            <p:cNvSpPr txBox="1"/>
            <p:nvPr/>
          </p:nvSpPr>
          <p:spPr>
            <a:xfrm>
              <a:off x="4474051" y="4994215"/>
              <a:ext cx="2749471"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好项目是从愿景开始的</a:t>
              </a:r>
            </a:p>
          </p:txBody>
        </p:sp>
      </p:grpSp>
      <p:sp>
        <p:nvSpPr>
          <p:cNvPr id="64" name="文本框 63"/>
          <p:cNvSpPr txBox="1"/>
          <p:nvPr/>
        </p:nvSpPr>
        <p:spPr>
          <a:xfrm>
            <a:off x="4372451" y="4060048"/>
            <a:ext cx="3443380" cy="400110"/>
          </a:xfrm>
          <a:prstGeom prst="rect">
            <a:avLst/>
          </a:prstGeom>
          <a:noFill/>
        </p:spPr>
        <p:txBody>
          <a:bodyPr wrap="non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ICONIX</a:t>
            </a:r>
            <a:r>
              <a:rPr lang="zh-CN" altLang="en-US" sz="2000" b="1" dirty="0">
                <a:solidFill>
                  <a:schemeClr val="bg1"/>
                </a:solidFill>
                <a:latin typeface="微软雅黑" panose="020B0503020204020204" pitchFamily="34" charset="-122"/>
                <a:ea typeface="微软雅黑" panose="020B0503020204020204" pitchFamily="34" charset="-122"/>
              </a:rPr>
              <a:t>软件过程的需求阶段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grpSp>
      <p:sp>
        <p:nvSpPr>
          <p:cNvPr id="64" name="矩形 63"/>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p:cNvSpPr txBox="1"/>
          <p:nvPr/>
        </p:nvSpPr>
        <p:spPr>
          <a:xfrm>
            <a:off x="4372451" y="3125591"/>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需求工程概述</a:t>
            </a:r>
          </a:p>
        </p:txBody>
      </p:sp>
      <p:sp>
        <p:nvSpPr>
          <p:cNvPr id="97" name="文本框 96"/>
          <p:cNvSpPr txBox="1"/>
          <p:nvPr/>
        </p:nvSpPr>
        <p:spPr>
          <a:xfrm>
            <a:off x="4372451" y="4994215"/>
            <a:ext cx="2749471"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好项目是从愿景开始的</a:t>
            </a:r>
          </a:p>
        </p:txBody>
      </p:sp>
      <p:sp>
        <p:nvSpPr>
          <p:cNvPr id="50" name="文本框 49"/>
          <p:cNvSpPr txBox="1"/>
          <p:nvPr/>
        </p:nvSpPr>
        <p:spPr>
          <a:xfrm>
            <a:off x="4372451" y="2174845"/>
            <a:ext cx="249299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站在客户的角度思考</a:t>
            </a:r>
          </a:p>
        </p:txBody>
      </p:sp>
      <p:sp>
        <p:nvSpPr>
          <p:cNvPr id="62" name="文本框 61"/>
          <p:cNvSpPr txBox="1"/>
          <p:nvPr/>
        </p:nvSpPr>
        <p:spPr>
          <a:xfrm>
            <a:off x="4372451" y="4060048"/>
            <a:ext cx="3443380" cy="400110"/>
          </a:xfrm>
          <a:prstGeom prst="rect">
            <a:avLst/>
          </a:prstGeom>
          <a:noFill/>
        </p:spPr>
        <p:txBody>
          <a:bodyPr wrap="non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ICONIX</a:t>
            </a:r>
            <a:r>
              <a:rPr lang="zh-CN" altLang="en-US" sz="2000" b="1" dirty="0">
                <a:solidFill>
                  <a:schemeClr val="bg1"/>
                </a:solidFill>
                <a:latin typeface="微软雅黑" panose="020B0503020204020204" pitchFamily="34" charset="-122"/>
                <a:ea typeface="微软雅黑" panose="020B0503020204020204" pitchFamily="34" charset="-122"/>
              </a:rPr>
              <a:t>软件过程的需求阶段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思考</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1383030" y="607151"/>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内容占位符 2"/>
          <p:cNvSpPr txBox="1"/>
          <p:nvPr/>
        </p:nvSpPr>
        <p:spPr>
          <a:xfrm>
            <a:off x="393701" y="1423761"/>
            <a:ext cx="8964096" cy="40757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zh-CN" altLang="en-US" dirty="0">
                <a:latin typeface="微软雅黑" panose="020B0503020204020204" pitchFamily="34" charset="-122"/>
                <a:ea typeface="微软雅黑" panose="020B0503020204020204" pitchFamily="34" charset="-122"/>
              </a:rPr>
              <a:t>企业客户为什么会掏钱购买我们的软件？</a:t>
            </a:r>
            <a:endParaRPr lang="en-US" altLang="zh-CN" dirty="0">
              <a:latin typeface="微软雅黑" panose="020B0503020204020204" pitchFamily="34" charset="-122"/>
              <a:ea typeface="微软雅黑" panose="020B0503020204020204" pitchFamily="34" charset="-122"/>
            </a:endParaRPr>
          </a:p>
          <a:p>
            <a:pPr marL="0" indent="0">
              <a:lnSpc>
                <a:spcPct val="150000"/>
              </a:lnSpc>
              <a:buNone/>
            </a:pPr>
            <a:r>
              <a:rPr lang="zh-CN" altLang="en-US" sz="2000" dirty="0">
                <a:solidFill>
                  <a:srgbClr val="FF0000"/>
                </a:solidFill>
                <a:latin typeface="微软雅黑" panose="020B0503020204020204" pitchFamily="34" charset="-122"/>
                <a:ea typeface="微软雅黑" panose="020B0503020204020204" pitchFamily="34" charset="-122"/>
              </a:rPr>
              <a:t>（注：我们先分析企业类客户，个人用户在</a:t>
            </a:r>
            <a:r>
              <a:rPr lang="en-US" altLang="zh-CN" sz="2000" dirty="0">
                <a:solidFill>
                  <a:srgbClr val="FF0000"/>
                </a:solidFill>
                <a:latin typeface="微软雅黑" panose="020B0503020204020204" pitchFamily="34" charset="-122"/>
                <a:ea typeface="微软雅黑" panose="020B0503020204020204" pitchFamily="34" charset="-122"/>
              </a:rPr>
              <a:t>Scrum</a:t>
            </a:r>
            <a:r>
              <a:rPr lang="zh-CN" altLang="en-US" sz="2000" dirty="0">
                <a:solidFill>
                  <a:srgbClr val="FF0000"/>
                </a:solidFill>
                <a:latin typeface="微软雅黑" panose="020B0503020204020204" pitchFamily="34" charset="-122"/>
                <a:ea typeface="微软雅黑" panose="020B0503020204020204" pitchFamily="34" charset="-122"/>
              </a:rPr>
              <a:t>过程时再探讨）</a:t>
            </a:r>
            <a:endParaRPr lang="en-US" altLang="zh-CN" sz="2000" dirty="0">
              <a:solidFill>
                <a:srgbClr val="FF0000"/>
              </a:solidFill>
              <a:latin typeface="微软雅黑" panose="020B0503020204020204" pitchFamily="34" charset="-122"/>
              <a:ea typeface="微软雅黑" panose="020B0503020204020204" pitchFamily="34" charset="-122"/>
            </a:endParaRPr>
          </a:p>
          <a:p>
            <a:pPr marL="285750" indent="-285750">
              <a:lnSpc>
                <a:spcPct val="150000"/>
              </a:lnSpc>
            </a:pPr>
            <a:endParaRPr lang="en-US" altLang="zh-CN" sz="2400" dirty="0">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57797" y="1299573"/>
            <a:ext cx="2590800" cy="5016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3467616" cy="584775"/>
          </a:xfrm>
          <a:prstGeom prst="rect">
            <a:avLst/>
          </a:prstGeom>
          <a:noFill/>
        </p:spPr>
        <p:txBody>
          <a:bodyPr wrap="none" rtlCol="0">
            <a:spAutoFit/>
          </a:bodyPr>
          <a:lstStyle/>
          <a:p>
            <a:r>
              <a:rPr lang="zh-CN" altLang="en-US" sz="3200" b="1" dirty="0">
                <a:solidFill>
                  <a:srgbClr val="141316"/>
                </a:solidFill>
                <a:latin typeface="微软雅黑" pitchFamily="34" charset="-122"/>
                <a:ea typeface="微软雅黑" pitchFamily="34" charset="-122"/>
              </a:rPr>
              <a:t>了解企业的生命线</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3770511" y="595536"/>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42" name="矩形 41"/>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4" name="文本框 13"/>
          <p:cNvSpPr txBox="1"/>
          <p:nvPr/>
        </p:nvSpPr>
        <p:spPr>
          <a:xfrm>
            <a:off x="991614" y="2050476"/>
            <a:ext cx="1620957" cy="523220"/>
          </a:xfrm>
          <a:prstGeom prst="rect">
            <a:avLst/>
          </a:prstGeom>
          <a:noFill/>
        </p:spPr>
        <p:txBody>
          <a:bodyPr wrap="none" rtlCol="0">
            <a:spAutoFit/>
          </a:bodyPr>
          <a:lstStyle/>
          <a:p>
            <a:r>
              <a:rPr lang="zh-CN" altLang="en-US" sz="2800" dirty="0">
                <a:latin typeface="微软雅黑" pitchFamily="34" charset="-122"/>
                <a:ea typeface="微软雅黑" pitchFamily="34" charset="-122"/>
              </a:rPr>
              <a:t>企业生存</a:t>
            </a:r>
          </a:p>
        </p:txBody>
      </p:sp>
      <p:sp>
        <p:nvSpPr>
          <p:cNvPr id="15" name="虚尾箭头 14"/>
          <p:cNvSpPr/>
          <p:nvPr/>
        </p:nvSpPr>
        <p:spPr>
          <a:xfrm flipH="1">
            <a:off x="2664822" y="2162756"/>
            <a:ext cx="365760" cy="298660"/>
          </a:xfrm>
          <a:prstGeom prst="strip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8" name="文本框 17"/>
          <p:cNvSpPr txBox="1"/>
          <p:nvPr/>
        </p:nvSpPr>
        <p:spPr>
          <a:xfrm>
            <a:off x="3344743" y="2050476"/>
            <a:ext cx="2339102" cy="523220"/>
          </a:xfrm>
          <a:prstGeom prst="rect">
            <a:avLst/>
          </a:prstGeom>
          <a:noFill/>
        </p:spPr>
        <p:txBody>
          <a:bodyPr wrap="none" rtlCol="0">
            <a:spAutoFit/>
          </a:bodyPr>
          <a:lstStyle/>
          <a:p>
            <a:r>
              <a:rPr lang="zh-CN" altLang="en-US" sz="2800" dirty="0">
                <a:latin typeface="微软雅黑" pitchFamily="34" charset="-122"/>
                <a:ea typeface="微软雅黑" pitchFamily="34" charset="-122"/>
              </a:rPr>
              <a:t>盈利（赚钱）</a:t>
            </a:r>
          </a:p>
        </p:txBody>
      </p:sp>
      <p:sp>
        <p:nvSpPr>
          <p:cNvPr id="16" name="左大括号 15"/>
          <p:cNvSpPr/>
          <p:nvPr/>
        </p:nvSpPr>
        <p:spPr>
          <a:xfrm rot="5400000">
            <a:off x="3652456" y="2226918"/>
            <a:ext cx="287383" cy="1332411"/>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itchFamily="34" charset="-122"/>
              <a:ea typeface="微软雅黑" pitchFamily="34" charset="-122"/>
            </a:endParaRPr>
          </a:p>
        </p:txBody>
      </p:sp>
      <p:sp>
        <p:nvSpPr>
          <p:cNvPr id="20" name="文本框 19"/>
          <p:cNvSpPr txBox="1"/>
          <p:nvPr/>
        </p:nvSpPr>
        <p:spPr>
          <a:xfrm>
            <a:off x="2433795" y="3146862"/>
            <a:ext cx="1415772" cy="461665"/>
          </a:xfrm>
          <a:prstGeom prst="rect">
            <a:avLst/>
          </a:prstGeom>
          <a:noFill/>
        </p:spPr>
        <p:txBody>
          <a:bodyPr wrap="none" rtlCol="0">
            <a:spAutoFit/>
          </a:bodyPr>
          <a:lstStyle/>
          <a:p>
            <a:r>
              <a:rPr lang="zh-CN" altLang="en-US" sz="2400" dirty="0">
                <a:latin typeface="微软雅黑" pitchFamily="34" charset="-122"/>
                <a:ea typeface="微软雅黑" pitchFamily="34" charset="-122"/>
              </a:rPr>
              <a:t>增加收入</a:t>
            </a:r>
          </a:p>
        </p:txBody>
      </p:sp>
      <p:sp>
        <p:nvSpPr>
          <p:cNvPr id="21" name="文本框 20"/>
          <p:cNvSpPr txBox="1"/>
          <p:nvPr/>
        </p:nvSpPr>
        <p:spPr>
          <a:xfrm>
            <a:off x="3897029" y="3146862"/>
            <a:ext cx="1415772" cy="461665"/>
          </a:xfrm>
          <a:prstGeom prst="rect">
            <a:avLst/>
          </a:prstGeom>
          <a:noFill/>
        </p:spPr>
        <p:txBody>
          <a:bodyPr wrap="none" rtlCol="0">
            <a:spAutoFit/>
          </a:bodyPr>
          <a:lstStyle/>
          <a:p>
            <a:r>
              <a:rPr lang="zh-CN" altLang="en-US" sz="2400" dirty="0">
                <a:latin typeface="微软雅黑" pitchFamily="34" charset="-122"/>
                <a:ea typeface="微软雅黑" pitchFamily="34" charset="-122"/>
              </a:rPr>
              <a:t>降低成本</a:t>
            </a:r>
          </a:p>
        </p:txBody>
      </p:sp>
      <p:sp>
        <p:nvSpPr>
          <p:cNvPr id="23" name="左大括号 22"/>
          <p:cNvSpPr/>
          <p:nvPr/>
        </p:nvSpPr>
        <p:spPr>
          <a:xfrm rot="16200000" flipV="1">
            <a:off x="3656754" y="3200490"/>
            <a:ext cx="287383" cy="1332411"/>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itchFamily="34" charset="-122"/>
              <a:ea typeface="微软雅黑" pitchFamily="34" charset="-122"/>
            </a:endParaRPr>
          </a:p>
        </p:txBody>
      </p:sp>
      <p:sp>
        <p:nvSpPr>
          <p:cNvPr id="19" name="文本框 18"/>
          <p:cNvSpPr txBox="1"/>
          <p:nvPr/>
        </p:nvSpPr>
        <p:spPr>
          <a:xfrm>
            <a:off x="2392244" y="4207912"/>
            <a:ext cx="2954655" cy="830997"/>
          </a:xfrm>
          <a:prstGeom prst="rect">
            <a:avLst/>
          </a:prstGeom>
          <a:noFill/>
        </p:spPr>
        <p:txBody>
          <a:bodyPr wrap="none" rtlCol="0">
            <a:spAutoFit/>
          </a:bodyPr>
          <a:lstStyle/>
          <a:p>
            <a:pPr algn="ctr"/>
            <a:r>
              <a:rPr lang="zh-CN" altLang="en-US" sz="2400" dirty="0">
                <a:latin typeface="微软雅黑" pitchFamily="34" charset="-122"/>
                <a:ea typeface="微软雅黑" pitchFamily="34" charset="-122"/>
              </a:rPr>
              <a:t>不断面对挑战和问题</a:t>
            </a:r>
            <a:endParaRPr lang="en-US" altLang="zh-CN" sz="2400" dirty="0">
              <a:latin typeface="微软雅黑" pitchFamily="34" charset="-122"/>
              <a:ea typeface="微软雅黑" pitchFamily="34" charset="-122"/>
            </a:endParaRPr>
          </a:p>
          <a:p>
            <a:pPr algn="ctr"/>
            <a:r>
              <a:rPr lang="zh-CN" altLang="en-US" sz="2400" dirty="0">
                <a:latin typeface="微软雅黑" pitchFamily="34" charset="-122"/>
                <a:ea typeface="微软雅黑" pitchFamily="34" charset="-122"/>
              </a:rPr>
              <a:t>（客户的痛点）</a:t>
            </a:r>
          </a:p>
        </p:txBody>
      </p:sp>
      <p:sp>
        <p:nvSpPr>
          <p:cNvPr id="22" name="虚尾箭头 21"/>
          <p:cNvSpPr/>
          <p:nvPr/>
        </p:nvSpPr>
        <p:spPr>
          <a:xfrm flipH="1">
            <a:off x="5738257" y="4178827"/>
            <a:ext cx="522514" cy="381597"/>
          </a:xfrm>
          <a:prstGeom prst="strip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6" name="文本框 25"/>
          <p:cNvSpPr txBox="1"/>
          <p:nvPr/>
        </p:nvSpPr>
        <p:spPr>
          <a:xfrm>
            <a:off x="6530504" y="4130968"/>
            <a:ext cx="3057247" cy="523220"/>
          </a:xfrm>
          <a:prstGeom prst="rect">
            <a:avLst/>
          </a:prstGeom>
          <a:noFill/>
        </p:spPr>
        <p:txBody>
          <a:bodyPr wrap="none" rtlCol="0">
            <a:spAutoFit/>
          </a:bodyPr>
          <a:lstStyle/>
          <a:p>
            <a:r>
              <a:rPr lang="zh-CN" altLang="en-US" sz="2800" dirty="0">
                <a:latin typeface="微软雅黑" pitchFamily="34" charset="-122"/>
                <a:ea typeface="微软雅黑" pitchFamily="34" charset="-122"/>
              </a:rPr>
              <a:t>企业投入（花钱）</a:t>
            </a:r>
          </a:p>
        </p:txBody>
      </p:sp>
      <p:sp>
        <p:nvSpPr>
          <p:cNvPr id="24" name="椭圆形标注 23"/>
          <p:cNvSpPr/>
          <p:nvPr/>
        </p:nvSpPr>
        <p:spPr>
          <a:xfrm>
            <a:off x="765822" y="5372663"/>
            <a:ext cx="3496179" cy="992777"/>
          </a:xfrm>
          <a:prstGeom prst="wedgeEllipseCallout">
            <a:avLst>
              <a:gd name="adj1" fmla="val 38952"/>
              <a:gd name="adj2" fmla="val -80241"/>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200" b="1" dirty="0">
                <a:solidFill>
                  <a:schemeClr val="tx1"/>
                </a:solidFill>
                <a:latin typeface="微软雅黑" pitchFamily="34" charset="-122"/>
                <a:ea typeface="微软雅黑" pitchFamily="34" charset="-122"/>
              </a:rPr>
              <a:t>如果能解决好这里，客户就愿意付费</a:t>
            </a:r>
          </a:p>
        </p:txBody>
      </p:sp>
      <p:sp>
        <p:nvSpPr>
          <p:cNvPr id="28" name="文本框 27"/>
          <p:cNvSpPr txBox="1"/>
          <p:nvPr/>
        </p:nvSpPr>
        <p:spPr>
          <a:xfrm>
            <a:off x="5582126" y="5487144"/>
            <a:ext cx="5416868" cy="883703"/>
          </a:xfrm>
          <a:prstGeom prst="rect">
            <a:avLst/>
          </a:prstGeom>
          <a:noFill/>
        </p:spPr>
        <p:txBody>
          <a:bodyPr wrap="none" rtlCol="0">
            <a:spAutoFit/>
          </a:bodyPr>
          <a:lstStyle/>
          <a:p>
            <a:pPr>
              <a:lnSpc>
                <a:spcPts val="3200"/>
              </a:lnSpc>
            </a:pPr>
            <a:r>
              <a:rPr lang="zh-CN" altLang="en-US" sz="2400" b="1" dirty="0">
                <a:solidFill>
                  <a:srgbClr val="FF0000"/>
                </a:solidFill>
                <a:latin typeface="微软雅黑" pitchFamily="34" charset="-122"/>
                <a:ea typeface="微软雅黑" pitchFamily="34" charset="-122"/>
              </a:rPr>
              <a:t>结论：如果能帮助客户“开源、节流”</a:t>
            </a:r>
            <a:endParaRPr lang="en-US" altLang="zh-CN" sz="2400" b="1" dirty="0">
              <a:solidFill>
                <a:srgbClr val="FF0000"/>
              </a:solidFill>
              <a:latin typeface="微软雅黑" pitchFamily="34" charset="-122"/>
              <a:ea typeface="微软雅黑" pitchFamily="34" charset="-122"/>
            </a:endParaRPr>
          </a:p>
          <a:p>
            <a:pPr>
              <a:lnSpc>
                <a:spcPts val="3200"/>
              </a:lnSpc>
            </a:pPr>
            <a:r>
              <a:rPr lang="zh-CN" altLang="en-US" sz="2400" b="1" dirty="0">
                <a:solidFill>
                  <a:srgbClr val="FF0000"/>
                </a:solidFill>
                <a:latin typeface="微软雅黑" pitchFamily="34" charset="-122"/>
                <a:ea typeface="微软雅黑" pitchFamily="34" charset="-122"/>
              </a:rPr>
              <a:t>客户就愿意购买我们的软件</a:t>
            </a:r>
          </a:p>
        </p:txBody>
      </p:sp>
      <p:sp>
        <p:nvSpPr>
          <p:cNvPr id="29" name="内容占位符 2">
            <a:extLst>
              <a:ext uri="{FF2B5EF4-FFF2-40B4-BE49-F238E27FC236}">
                <a16:creationId xmlns:a16="http://schemas.microsoft.com/office/drawing/2014/main" id="{C619144C-49D9-852B-6FFF-FC782B36E2C9}"/>
              </a:ext>
            </a:extLst>
          </p:cNvPr>
          <p:cNvSpPr txBox="1"/>
          <p:nvPr/>
        </p:nvSpPr>
        <p:spPr>
          <a:xfrm>
            <a:off x="705695" y="1116249"/>
            <a:ext cx="8964096" cy="7629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zh-CN" altLang="en-US" dirty="0">
                <a:latin typeface="微软雅黑" panose="020B0503020204020204" pitchFamily="34" charset="-122"/>
                <a:ea typeface="微软雅黑" panose="020B0503020204020204" pitchFamily="34" charset="-122"/>
              </a:rPr>
              <a:t>企业客户为什么会掏钱购买我们的软件？</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80258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down)">
                                      <p:cBhvr>
                                        <p:cTn id="13" dur="500"/>
                                        <p:tgtEl>
                                          <p:spTgt spid="1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down)">
                                      <p:cBhvr>
                                        <p:cTn id="16" dur="500"/>
                                        <p:tgtEl>
                                          <p:spTgt spid="16"/>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down)">
                                      <p:cBhvr>
                                        <p:cTn id="22" dur="500"/>
                                        <p:tgtEl>
                                          <p:spTgt spid="20"/>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down)">
                                      <p:cBhvr>
                                        <p:cTn id="25" dur="500"/>
                                        <p:tgtEl>
                                          <p:spTgt spid="23"/>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down)">
                                      <p:cBhvr>
                                        <p:cTn id="28" dur="500"/>
                                        <p:tgtEl>
                                          <p:spTgt spid="19"/>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down)">
                                      <p:cBhvr>
                                        <p:cTn id="31" dur="500"/>
                                        <p:tgtEl>
                                          <p:spTgt spid="22"/>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down)">
                                      <p:cBhvr>
                                        <p:cTn id="34" dur="5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8" grpId="0"/>
      <p:bldP spid="16" grpId="0" animBg="1"/>
      <p:bldP spid="20" grpId="0"/>
      <p:bldP spid="21" grpId="0"/>
      <p:bldP spid="23" grpId="0" animBg="1"/>
      <p:bldP spid="19" grpId="0"/>
      <p:bldP spid="22" grpId="0" animBg="1"/>
      <p:bldP spid="26" grpId="0"/>
      <p:bldP spid="24" grpId="0" animBg="1"/>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1826141"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需要注意</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2129036" y="596074"/>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内容占位符 2"/>
          <p:cNvSpPr txBox="1"/>
          <p:nvPr/>
        </p:nvSpPr>
        <p:spPr>
          <a:xfrm>
            <a:off x="393700" y="1423761"/>
            <a:ext cx="6242231" cy="4663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zh-CN" altLang="en-US" sz="2400" dirty="0">
                <a:latin typeface="微软雅黑" panose="020B0503020204020204" pitchFamily="34" charset="-122"/>
                <a:ea typeface="微软雅黑" panose="020B0503020204020204" pitchFamily="34" charset="-122"/>
              </a:rPr>
              <a:t>企业的运作是个复杂系统，无法通过一种方法或一个软件解决所有问题。只能不断优化局部，而实现整体的进步。</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pPr>
            <a:r>
              <a:rPr lang="zh-CN" altLang="en-US" sz="2400" dirty="0">
                <a:latin typeface="微软雅黑" panose="020B0503020204020204" pitchFamily="34" charset="-122"/>
                <a:ea typeface="微软雅黑" panose="020B0503020204020204" pitchFamily="34" charset="-122"/>
              </a:rPr>
              <a:t>每一个软件系统都解决企业某方面的痛点，这个痛点直接或间接地与企业的“开源、节流”相关。</a:t>
            </a:r>
            <a:endParaRPr lang="en-US" altLang="zh-CN" sz="2400" dirty="0">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277321" y="1253943"/>
            <a:ext cx="5790700" cy="5003165"/>
          </a:xfrm>
          <a:prstGeom prst="rect">
            <a:avLst/>
          </a:prstGeom>
        </p:spPr>
      </p:pic>
      <p:sp>
        <p:nvSpPr>
          <p:cNvPr id="15" name="文本框 14"/>
          <p:cNvSpPr txBox="1"/>
          <p:nvPr/>
        </p:nvSpPr>
        <p:spPr>
          <a:xfrm>
            <a:off x="731520" y="5316584"/>
            <a:ext cx="5444119" cy="461665"/>
          </a:xfrm>
          <a:prstGeom prst="rect">
            <a:avLst/>
          </a:prstGeom>
          <a:noFill/>
        </p:spPr>
        <p:txBody>
          <a:bodyPr wrap="none" rtlCol="0">
            <a:spAutoFit/>
          </a:bodyPr>
          <a:lstStyle/>
          <a:p>
            <a:r>
              <a:rPr lang="zh-CN" altLang="en-US" sz="2400" b="1" dirty="0">
                <a:solidFill>
                  <a:srgbClr val="FF0000"/>
                </a:solidFill>
                <a:latin typeface="微软雅黑" pitchFamily="34" charset="-122"/>
                <a:ea typeface="微软雅黑" pitchFamily="34" charset="-122"/>
              </a:rPr>
              <a:t>思考：如何能准确定位客户的痛点呢？</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grpSp>
      <p:sp>
        <p:nvSpPr>
          <p:cNvPr id="64" name="矩形 63"/>
          <p:cNvSpPr/>
          <p:nvPr/>
        </p:nvSpPr>
        <p:spPr>
          <a:xfrm>
            <a:off x="88849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4372451" y="3120995"/>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需求工程概述</a:t>
            </a:r>
          </a:p>
        </p:txBody>
      </p:sp>
      <p:sp>
        <p:nvSpPr>
          <p:cNvPr id="69" name="文本框 68"/>
          <p:cNvSpPr txBox="1"/>
          <p:nvPr/>
        </p:nvSpPr>
        <p:spPr>
          <a:xfrm>
            <a:off x="4372451" y="4994215"/>
            <a:ext cx="2749471"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好项目是从愿景开始的</a:t>
            </a:r>
          </a:p>
        </p:txBody>
      </p:sp>
      <p:sp>
        <p:nvSpPr>
          <p:cNvPr id="65" name="文本框 64"/>
          <p:cNvSpPr txBox="1"/>
          <p:nvPr/>
        </p:nvSpPr>
        <p:spPr>
          <a:xfrm>
            <a:off x="4372451" y="2174845"/>
            <a:ext cx="249299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站在客户的角度思考</a:t>
            </a:r>
          </a:p>
        </p:txBody>
      </p:sp>
      <p:sp>
        <p:nvSpPr>
          <p:cNvPr id="50" name="文本框 49"/>
          <p:cNvSpPr txBox="1"/>
          <p:nvPr/>
        </p:nvSpPr>
        <p:spPr>
          <a:xfrm>
            <a:off x="4372451" y="4060048"/>
            <a:ext cx="3443380" cy="400110"/>
          </a:xfrm>
          <a:prstGeom prst="rect">
            <a:avLst/>
          </a:prstGeom>
          <a:noFill/>
        </p:spPr>
        <p:txBody>
          <a:bodyPr wrap="non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ICONIX</a:t>
            </a:r>
            <a:r>
              <a:rPr lang="zh-CN" altLang="en-US" sz="2000" b="1" dirty="0">
                <a:solidFill>
                  <a:schemeClr val="bg1"/>
                </a:solidFill>
                <a:latin typeface="微软雅黑" panose="020B0503020204020204" pitchFamily="34" charset="-122"/>
                <a:ea typeface="微软雅黑" panose="020B0503020204020204" pitchFamily="34" charset="-122"/>
              </a:rPr>
              <a:t>软件过程的需求阶段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4698722" cy="584775"/>
          </a:xfrm>
          <a:prstGeom prst="rect">
            <a:avLst/>
          </a:prstGeom>
          <a:noFill/>
        </p:spPr>
        <p:txBody>
          <a:bodyPr wrap="none" rtlCol="0">
            <a:spAutoFit/>
          </a:bodyPr>
          <a:lstStyle/>
          <a:p>
            <a:r>
              <a:rPr lang="zh-CN" altLang="en-US" sz="3200" b="1" dirty="0">
                <a:solidFill>
                  <a:srgbClr val="141316"/>
                </a:solidFill>
                <a:latin typeface="微软雅黑" pitchFamily="34" charset="-122"/>
                <a:ea typeface="微软雅黑" pitchFamily="34" charset="-122"/>
              </a:rPr>
              <a:t>像医生一样解决客户的痛</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4964867" y="594359"/>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42" name="矩形 41"/>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graphicFrame>
        <p:nvGraphicFramePr>
          <p:cNvPr id="24" name="图示 23"/>
          <p:cNvGraphicFramePr/>
          <p:nvPr>
            <p:extLst>
              <p:ext uri="{D42A27DB-BD31-4B8C-83A1-F6EECF244321}">
                <p14:modId xmlns:p14="http://schemas.microsoft.com/office/powerpoint/2010/main" val="2633239084"/>
              </p:ext>
            </p:extLst>
          </p:nvPr>
        </p:nvGraphicFramePr>
        <p:xfrm>
          <a:off x="955188" y="1155094"/>
          <a:ext cx="4648778"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右大括号 12"/>
          <p:cNvSpPr/>
          <p:nvPr/>
        </p:nvSpPr>
        <p:spPr>
          <a:xfrm>
            <a:off x="5917474" y="1632857"/>
            <a:ext cx="404949" cy="1306286"/>
          </a:xfrm>
          <a:prstGeom prst="rightBrace">
            <a:avLst/>
          </a:prstGeom>
          <a:ln w="127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itchFamily="34" charset="-122"/>
              <a:ea typeface="微软雅黑" pitchFamily="34" charset="-122"/>
            </a:endParaRPr>
          </a:p>
        </p:txBody>
      </p:sp>
      <p:sp>
        <p:nvSpPr>
          <p:cNvPr id="14" name="文本框 13"/>
          <p:cNvSpPr txBox="1"/>
          <p:nvPr/>
        </p:nvSpPr>
        <p:spPr>
          <a:xfrm>
            <a:off x="6466984" y="2101334"/>
            <a:ext cx="4801314"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在软件过程中，称为“</a:t>
            </a:r>
            <a:r>
              <a:rPr lang="zh-CN" altLang="en-US" sz="2400" b="1" dirty="0">
                <a:solidFill>
                  <a:srgbClr val="FF0000"/>
                </a:solidFill>
                <a:latin typeface="微软雅黑" pitchFamily="34" charset="-122"/>
                <a:ea typeface="微软雅黑" pitchFamily="34" charset="-122"/>
              </a:rPr>
              <a:t>需求开发</a:t>
            </a:r>
            <a:r>
              <a:rPr lang="zh-CN" altLang="en-US" sz="2400" b="1" dirty="0">
                <a:latin typeface="微软雅黑" pitchFamily="34" charset="-122"/>
                <a:ea typeface="微软雅黑" pitchFamily="34" charset="-122"/>
              </a:rPr>
              <a:t>”</a:t>
            </a:r>
          </a:p>
        </p:txBody>
      </p:sp>
      <p:sp>
        <p:nvSpPr>
          <p:cNvPr id="12" name="文本框 11"/>
          <p:cNvSpPr txBox="1"/>
          <p:nvPr/>
        </p:nvSpPr>
        <p:spPr>
          <a:xfrm>
            <a:off x="6466984" y="2939142"/>
            <a:ext cx="3262432" cy="461665"/>
          </a:xfrm>
          <a:prstGeom prst="rect">
            <a:avLst/>
          </a:prstGeom>
          <a:noFill/>
        </p:spPr>
        <p:txBody>
          <a:bodyPr wrap="none" rtlCol="0">
            <a:spAutoFit/>
          </a:bodyPr>
          <a:lstStyle/>
          <a:p>
            <a:pPr algn="l"/>
            <a:r>
              <a:rPr lang="zh-CN" altLang="en-US" sz="2400" b="1" dirty="0">
                <a:latin typeface="微软雅黑" pitchFamily="34" charset="-122"/>
                <a:ea typeface="微软雅黑" pitchFamily="34" charset="-122"/>
                <a:sym typeface="+mn-ea"/>
              </a:rPr>
              <a:t>需求是软件成功的基础</a:t>
            </a:r>
            <a:endParaRPr lang="zh-CN" altLang="en-US" sz="2400" b="1" dirty="0">
              <a:latin typeface="微软雅黑" pitchFamily="34" charset="-122"/>
              <a:ea typeface="微软雅黑" pitchFamily="34" charset="-122"/>
            </a:endParaRPr>
          </a:p>
        </p:txBody>
      </p:sp>
    </p:spTree>
    <p:extLst>
      <p:ext uri="{BB962C8B-B14F-4D97-AF65-F5344CB8AC3E}">
        <p14:creationId xmlns:p14="http://schemas.microsoft.com/office/powerpoint/2010/main" val="1901482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1+#ppt_w/2"/>
                                          </p:val>
                                        </p:tav>
                                        <p:tav tm="100000">
                                          <p:val>
                                            <p:strVal val="#ppt_x"/>
                                          </p:val>
                                        </p:tav>
                                      </p:tavLst>
                                    </p:anim>
                                    <p:anim calcmode="lin" valueType="num">
                                      <p:cBhvr additive="base">
                                        <p:cTn id="1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11"/>
          <p:cNvSpPr/>
          <p:nvPr/>
        </p:nvSpPr>
        <p:spPr>
          <a:xfrm>
            <a:off x="1175657" y="2738846"/>
            <a:ext cx="10316614" cy="199861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 name="文本框 1"/>
          <p:cNvSpPr txBox="1"/>
          <p:nvPr/>
        </p:nvSpPr>
        <p:spPr>
          <a:xfrm>
            <a:off x="274320" y="449590"/>
            <a:ext cx="3877985" cy="584775"/>
          </a:xfrm>
          <a:prstGeom prst="rect">
            <a:avLst/>
          </a:prstGeom>
          <a:noFill/>
        </p:spPr>
        <p:txBody>
          <a:bodyPr wrap="none" rtlCol="0">
            <a:spAutoFit/>
          </a:bodyPr>
          <a:lstStyle/>
          <a:p>
            <a:r>
              <a:rPr lang="zh-CN" altLang="en-US" sz="3200" b="1" dirty="0">
                <a:solidFill>
                  <a:srgbClr val="141316"/>
                </a:solidFill>
                <a:latin typeface="微软雅黑" pitchFamily="34" charset="-122"/>
                <a:ea typeface="微软雅黑" pitchFamily="34" charset="-122"/>
              </a:rPr>
              <a:t>可怕的“需求噩梦”</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4020205" y="602363"/>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42" name="矩形 41"/>
          <p:cNvSpPr/>
          <p:nvPr/>
        </p:nvSpPr>
        <p:spPr>
          <a:xfrm>
            <a:off x="8885357" y="797309"/>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5" name="文本框 24"/>
          <p:cNvSpPr txBox="1"/>
          <p:nvPr/>
        </p:nvSpPr>
        <p:spPr>
          <a:xfrm>
            <a:off x="663575" y="1222375"/>
            <a:ext cx="11178540" cy="1135054"/>
          </a:xfrm>
          <a:prstGeom prst="rect">
            <a:avLst/>
          </a:prstGeom>
          <a:noFill/>
        </p:spPr>
        <p:txBody>
          <a:bodyPr wrap="square" rtlCol="0">
            <a:spAutoFit/>
          </a:bodyPr>
          <a:lstStyle/>
          <a:p>
            <a:pPr>
              <a:lnSpc>
                <a:spcPct val="150000"/>
              </a:lnSpc>
            </a:pPr>
            <a:r>
              <a:rPr lang="zh-CN" altLang="en-US" sz="2400" b="1" dirty="0">
                <a:latin typeface="微软雅黑" pitchFamily="34" charset="-122"/>
                <a:ea typeface="微软雅黑" pitchFamily="34" charset="-122"/>
              </a:rPr>
              <a:t>需求是软件成功的基础，但是：</a:t>
            </a:r>
            <a:endParaRPr lang="en-US" altLang="zh-CN" sz="2400" b="1" dirty="0">
              <a:latin typeface="微软雅黑" pitchFamily="34" charset="-122"/>
              <a:ea typeface="微软雅黑" pitchFamily="34" charset="-122"/>
            </a:endParaRPr>
          </a:p>
          <a:p>
            <a:pPr>
              <a:lnSpc>
                <a:spcPct val="150000"/>
              </a:lnSpc>
            </a:pPr>
            <a:r>
              <a:rPr lang="zh-CN" altLang="en-US" sz="2400" b="1" dirty="0">
                <a:latin typeface="微软雅黑" pitchFamily="34" charset="-122"/>
                <a:ea typeface="微软雅黑" pitchFamily="34" charset="-122"/>
              </a:rPr>
              <a:t>有时对需求的</a:t>
            </a:r>
            <a:r>
              <a:rPr lang="zh-CN" altLang="en-US" sz="2400" b="1" dirty="0">
                <a:solidFill>
                  <a:srgbClr val="FF0000"/>
                </a:solidFill>
                <a:latin typeface="微软雅黑" pitchFamily="34" charset="-122"/>
                <a:ea typeface="微软雅黑" pitchFamily="34" charset="-122"/>
              </a:rPr>
              <a:t>重要性</a:t>
            </a:r>
            <a:r>
              <a:rPr lang="zh-CN" altLang="en-US" sz="2400" b="1" dirty="0">
                <a:latin typeface="微软雅黑" pitchFamily="34" charset="-122"/>
                <a:ea typeface="微软雅黑" pitchFamily="34" charset="-122"/>
              </a:rPr>
              <a:t>认识不够，有经验的软件工作人员，都经历过“</a:t>
            </a:r>
            <a:r>
              <a:rPr lang="zh-CN" altLang="en-US" sz="2400" b="1" dirty="0">
                <a:solidFill>
                  <a:srgbClr val="FF0000"/>
                </a:solidFill>
                <a:latin typeface="微软雅黑" pitchFamily="34" charset="-122"/>
                <a:ea typeface="微软雅黑" pitchFamily="34" charset="-122"/>
              </a:rPr>
              <a:t>需求噩梦</a:t>
            </a:r>
            <a:r>
              <a:rPr lang="zh-CN" altLang="en-US" sz="2400" b="1" dirty="0">
                <a:latin typeface="微软雅黑" pitchFamily="34" charset="-122"/>
                <a:ea typeface="微软雅黑" pitchFamily="34" charset="-122"/>
              </a:rPr>
              <a:t>”</a:t>
            </a:r>
          </a:p>
        </p:txBody>
      </p:sp>
      <p:graphicFrame>
        <p:nvGraphicFramePr>
          <p:cNvPr id="27" name="图示 26"/>
          <p:cNvGraphicFramePr/>
          <p:nvPr>
            <p:extLst>
              <p:ext uri="{D42A27DB-BD31-4B8C-83A1-F6EECF244321}">
                <p14:modId xmlns:p14="http://schemas.microsoft.com/office/powerpoint/2010/main" val="2895062347"/>
              </p:ext>
            </p:extLst>
          </p:nvPr>
        </p:nvGraphicFramePr>
        <p:xfrm>
          <a:off x="1175657" y="2541898"/>
          <a:ext cx="10316613" cy="23925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文本框 12"/>
          <p:cNvSpPr txBox="1"/>
          <p:nvPr/>
        </p:nvSpPr>
        <p:spPr>
          <a:xfrm>
            <a:off x="663575" y="5276334"/>
            <a:ext cx="10033516" cy="461665"/>
          </a:xfrm>
          <a:prstGeom prst="rect">
            <a:avLst/>
          </a:prstGeom>
          <a:noFill/>
        </p:spPr>
        <p:txBody>
          <a:bodyPr wrap="none" rtlCol="0">
            <a:spAutoFit/>
          </a:bodyPr>
          <a:lstStyle/>
          <a:p>
            <a:pPr algn="l"/>
            <a:r>
              <a:rPr lang="zh-CN" altLang="en-US" sz="2400" b="1" dirty="0">
                <a:latin typeface="微软雅黑" pitchFamily="34" charset="-122"/>
                <a:ea typeface="微软雅黑" pitchFamily="34" charset="-122"/>
                <a:sym typeface="+mn-ea"/>
              </a:rPr>
              <a:t>需求十分重要，并且贯穿整个软件开发的整个过程，需要引起足够的重视</a:t>
            </a:r>
            <a:endParaRPr lang="zh-CN" altLang="en-US" sz="2400" b="1" dirty="0">
              <a:latin typeface="微软雅黑" pitchFamily="34" charset="-122"/>
              <a:ea typeface="微软雅黑" pitchFamily="34" charset="-122"/>
            </a:endParaRPr>
          </a:p>
        </p:txBody>
      </p:sp>
    </p:spTree>
    <p:extLst>
      <p:ext uri="{BB962C8B-B14F-4D97-AF65-F5344CB8AC3E}">
        <p14:creationId xmlns:p14="http://schemas.microsoft.com/office/powerpoint/2010/main" val="741944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1+#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Graphic spid="27" grpId="0">
        <p:bldAsOne/>
      </p:bldGraphic>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3877985" cy="584775"/>
          </a:xfrm>
          <a:prstGeom prst="rect">
            <a:avLst/>
          </a:prstGeom>
          <a:noFill/>
        </p:spPr>
        <p:txBody>
          <a:bodyPr wrap="none" rtlCol="0">
            <a:spAutoFit/>
          </a:bodyPr>
          <a:lstStyle/>
          <a:p>
            <a:r>
              <a:rPr lang="zh-CN" altLang="en-US" sz="3200" b="1" dirty="0">
                <a:solidFill>
                  <a:srgbClr val="141316"/>
                </a:solidFill>
                <a:latin typeface="微软雅黑" pitchFamily="34" charset="-122"/>
                <a:ea typeface="微软雅黑" pitchFamily="34" charset="-122"/>
              </a:rPr>
              <a:t>项目失败的因素分析</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2326334011"/>
              </p:ext>
            </p:extLst>
          </p:nvPr>
        </p:nvGraphicFramePr>
        <p:xfrm>
          <a:off x="1082765" y="1283822"/>
          <a:ext cx="4104090" cy="4815840"/>
        </p:xfrm>
        <a:graphic>
          <a:graphicData uri="http://schemas.openxmlformats.org/drawingml/2006/table">
            <a:tbl>
              <a:tblPr firstRow="1" bandRow="1">
                <a:tableStyleId>{5C22544A-7EE6-4342-B048-85BDC9FD1C3A}</a:tableStyleId>
              </a:tblPr>
              <a:tblGrid>
                <a:gridCol w="2496007">
                  <a:extLst>
                    <a:ext uri="{9D8B030D-6E8A-4147-A177-3AD203B41FA5}">
                      <a16:colId xmlns:a16="http://schemas.microsoft.com/office/drawing/2014/main" val="20000"/>
                    </a:ext>
                  </a:extLst>
                </a:gridCol>
                <a:gridCol w="1608083">
                  <a:extLst>
                    <a:ext uri="{9D8B030D-6E8A-4147-A177-3AD203B41FA5}">
                      <a16:colId xmlns:a16="http://schemas.microsoft.com/office/drawing/2014/main" val="20001"/>
                    </a:ext>
                  </a:extLst>
                </a:gridCol>
              </a:tblGrid>
              <a:tr h="370840">
                <a:tc>
                  <a:txBody>
                    <a:bodyPr/>
                    <a:lstStyle/>
                    <a:p>
                      <a:pPr algn="ctr"/>
                      <a:r>
                        <a:rPr lang="zh-CN" altLang="en-US" sz="2400" dirty="0">
                          <a:latin typeface="微软雅黑" pitchFamily="34" charset="-122"/>
                          <a:ea typeface="微软雅黑" pitchFamily="34" charset="-122"/>
                        </a:rPr>
                        <a:t>失败因素</a:t>
                      </a:r>
                    </a:p>
                  </a:txBody>
                  <a:tcPr/>
                </a:tc>
                <a:tc>
                  <a:txBody>
                    <a:bodyPr/>
                    <a:lstStyle/>
                    <a:p>
                      <a:pPr algn="ctr"/>
                      <a:r>
                        <a:rPr lang="zh-CN" altLang="en-US" sz="2400" dirty="0">
                          <a:latin typeface="微软雅黑" pitchFamily="34" charset="-122"/>
                          <a:ea typeface="微软雅黑" pitchFamily="34" charset="-122"/>
                        </a:rPr>
                        <a:t>权重</a:t>
                      </a:r>
                    </a:p>
                  </a:txBody>
                  <a:tcPr/>
                </a:tc>
                <a:extLst>
                  <a:ext uri="{0D108BD9-81ED-4DB2-BD59-A6C34878D82A}">
                    <a16:rowId xmlns:a16="http://schemas.microsoft.com/office/drawing/2014/main" val="10000"/>
                  </a:ext>
                </a:extLst>
              </a:tr>
              <a:tr h="370840">
                <a:tc>
                  <a:txBody>
                    <a:bodyPr/>
                    <a:lstStyle/>
                    <a:p>
                      <a:r>
                        <a:rPr lang="zh-CN" altLang="en-US" sz="2000" dirty="0">
                          <a:solidFill>
                            <a:srgbClr val="FF0000"/>
                          </a:solidFill>
                          <a:latin typeface="微软雅黑" pitchFamily="34" charset="-122"/>
                          <a:ea typeface="微软雅黑" pitchFamily="34" charset="-122"/>
                        </a:rPr>
                        <a:t>不完整的需求</a:t>
                      </a:r>
                    </a:p>
                  </a:txBody>
                  <a:tcPr/>
                </a:tc>
                <a:tc>
                  <a:txBody>
                    <a:bodyPr/>
                    <a:lstStyle/>
                    <a:p>
                      <a:r>
                        <a:rPr lang="en-US" altLang="zh-CN" sz="2000" dirty="0">
                          <a:latin typeface="微软雅黑" pitchFamily="34" charset="-122"/>
                          <a:ea typeface="微软雅黑" pitchFamily="34" charset="-122"/>
                        </a:rPr>
                        <a:t>13.1%</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01"/>
                  </a:ext>
                </a:extLst>
              </a:tr>
              <a:tr h="370840">
                <a:tc>
                  <a:txBody>
                    <a:bodyPr/>
                    <a:lstStyle/>
                    <a:p>
                      <a:r>
                        <a:rPr lang="zh-CN" altLang="en-US" sz="2000" dirty="0">
                          <a:solidFill>
                            <a:schemeClr val="tx1"/>
                          </a:solidFill>
                          <a:latin typeface="微软雅黑" pitchFamily="34" charset="-122"/>
                          <a:ea typeface="微软雅黑" pitchFamily="34" charset="-122"/>
                        </a:rPr>
                        <a:t>缺乏用户参与</a:t>
                      </a:r>
                    </a:p>
                  </a:txBody>
                  <a:tcPr/>
                </a:tc>
                <a:tc>
                  <a:txBody>
                    <a:bodyPr/>
                    <a:lstStyle/>
                    <a:p>
                      <a:r>
                        <a:rPr lang="en-US" altLang="zh-CN" sz="2000" dirty="0">
                          <a:latin typeface="微软雅黑" pitchFamily="34" charset="-122"/>
                          <a:ea typeface="微软雅黑" pitchFamily="34" charset="-122"/>
                        </a:rPr>
                        <a:t>12.4%</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02"/>
                  </a:ext>
                </a:extLst>
              </a:tr>
              <a:tr h="370840">
                <a:tc>
                  <a:txBody>
                    <a:bodyPr/>
                    <a:lstStyle/>
                    <a:p>
                      <a:r>
                        <a:rPr lang="zh-CN" altLang="en-US" sz="2000" dirty="0">
                          <a:latin typeface="微软雅黑" pitchFamily="34" charset="-122"/>
                          <a:ea typeface="微软雅黑" pitchFamily="34" charset="-122"/>
                        </a:rPr>
                        <a:t>资源不足</a:t>
                      </a:r>
                    </a:p>
                  </a:txBody>
                  <a:tcPr/>
                </a:tc>
                <a:tc>
                  <a:txBody>
                    <a:bodyPr/>
                    <a:lstStyle/>
                    <a:p>
                      <a:r>
                        <a:rPr lang="en-US" altLang="zh-CN" sz="2000" dirty="0">
                          <a:latin typeface="微软雅黑" pitchFamily="34" charset="-122"/>
                          <a:ea typeface="微软雅黑" pitchFamily="34" charset="-122"/>
                        </a:rPr>
                        <a:t>10.6%</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03"/>
                  </a:ext>
                </a:extLst>
              </a:tr>
              <a:tr h="370840">
                <a:tc>
                  <a:txBody>
                    <a:bodyPr/>
                    <a:lstStyle/>
                    <a:p>
                      <a:r>
                        <a:rPr lang="zh-CN" altLang="en-US" sz="2000" dirty="0">
                          <a:solidFill>
                            <a:srgbClr val="FF0000"/>
                          </a:solidFill>
                          <a:latin typeface="微软雅黑" pitchFamily="34" charset="-122"/>
                          <a:ea typeface="微软雅黑" pitchFamily="34" charset="-122"/>
                        </a:rPr>
                        <a:t>不切实际的用户期望</a:t>
                      </a:r>
                    </a:p>
                  </a:txBody>
                  <a:tcPr/>
                </a:tc>
                <a:tc>
                  <a:txBody>
                    <a:bodyPr/>
                    <a:lstStyle/>
                    <a:p>
                      <a:r>
                        <a:rPr lang="en-US" altLang="zh-CN" sz="2000" dirty="0">
                          <a:latin typeface="微软雅黑" pitchFamily="34" charset="-122"/>
                          <a:ea typeface="微软雅黑" pitchFamily="34" charset="-122"/>
                        </a:rPr>
                        <a:t>9.9%</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04"/>
                  </a:ext>
                </a:extLst>
              </a:tr>
              <a:tr h="370840">
                <a:tc>
                  <a:txBody>
                    <a:bodyPr/>
                    <a:lstStyle/>
                    <a:p>
                      <a:r>
                        <a:rPr lang="zh-CN" altLang="en-US" sz="2000" b="0" dirty="0">
                          <a:solidFill>
                            <a:schemeClr val="tx1"/>
                          </a:solidFill>
                          <a:latin typeface="微软雅黑" pitchFamily="34" charset="-122"/>
                          <a:ea typeface="微软雅黑" pitchFamily="34" charset="-122"/>
                        </a:rPr>
                        <a:t>缺乏执行层的支持</a:t>
                      </a:r>
                    </a:p>
                  </a:txBody>
                  <a:tcPr/>
                </a:tc>
                <a:tc>
                  <a:txBody>
                    <a:bodyPr/>
                    <a:lstStyle/>
                    <a:p>
                      <a:r>
                        <a:rPr lang="en-US" altLang="zh-CN" sz="2000" dirty="0">
                          <a:latin typeface="微软雅黑" pitchFamily="34" charset="-122"/>
                          <a:ea typeface="微软雅黑" pitchFamily="34" charset="-122"/>
                        </a:rPr>
                        <a:t>9.3%</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05"/>
                  </a:ext>
                </a:extLst>
              </a:tr>
              <a:tr h="370840">
                <a:tc>
                  <a:txBody>
                    <a:bodyPr/>
                    <a:lstStyle/>
                    <a:p>
                      <a:r>
                        <a:rPr lang="zh-CN" altLang="en-US" sz="2000" dirty="0">
                          <a:solidFill>
                            <a:srgbClr val="FF0000"/>
                          </a:solidFill>
                          <a:latin typeface="微软雅黑" pitchFamily="34" charset="-122"/>
                          <a:ea typeface="微软雅黑" pitchFamily="34" charset="-122"/>
                        </a:rPr>
                        <a:t>需求变更频繁</a:t>
                      </a:r>
                    </a:p>
                  </a:txBody>
                  <a:tcPr/>
                </a:tc>
                <a:tc>
                  <a:txBody>
                    <a:bodyPr/>
                    <a:lstStyle/>
                    <a:p>
                      <a:r>
                        <a:rPr lang="en-US" altLang="zh-CN" sz="2000" dirty="0">
                          <a:latin typeface="微软雅黑" pitchFamily="34" charset="-122"/>
                          <a:ea typeface="微软雅黑" pitchFamily="34" charset="-122"/>
                        </a:rPr>
                        <a:t>8.7%</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06"/>
                  </a:ext>
                </a:extLst>
              </a:tr>
              <a:tr h="370840">
                <a:tc>
                  <a:txBody>
                    <a:bodyPr/>
                    <a:lstStyle/>
                    <a:p>
                      <a:r>
                        <a:rPr lang="zh-CN" altLang="en-US" sz="2000" dirty="0">
                          <a:latin typeface="微软雅黑" pitchFamily="34" charset="-122"/>
                          <a:ea typeface="微软雅黑" pitchFamily="34" charset="-122"/>
                        </a:rPr>
                        <a:t>规划不足</a:t>
                      </a:r>
                    </a:p>
                  </a:txBody>
                  <a:tcPr/>
                </a:tc>
                <a:tc>
                  <a:txBody>
                    <a:bodyPr/>
                    <a:lstStyle/>
                    <a:p>
                      <a:r>
                        <a:rPr lang="en-US" altLang="zh-CN" sz="2000" dirty="0">
                          <a:latin typeface="微软雅黑" pitchFamily="34" charset="-122"/>
                          <a:ea typeface="微软雅黑" pitchFamily="34" charset="-122"/>
                        </a:rPr>
                        <a:t>8.1%</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07"/>
                  </a:ext>
                </a:extLst>
              </a:tr>
              <a:tr h="370840">
                <a:tc>
                  <a:txBody>
                    <a:bodyPr/>
                    <a:lstStyle/>
                    <a:p>
                      <a:r>
                        <a:rPr lang="zh-CN" altLang="en-US" sz="2000" dirty="0">
                          <a:solidFill>
                            <a:srgbClr val="FF0000"/>
                          </a:solidFill>
                          <a:latin typeface="微软雅黑" pitchFamily="34" charset="-122"/>
                          <a:ea typeface="微软雅黑" pitchFamily="34" charset="-122"/>
                        </a:rPr>
                        <a:t>提供了不再需要的</a:t>
                      </a:r>
                    </a:p>
                  </a:txBody>
                  <a:tcPr/>
                </a:tc>
                <a:tc>
                  <a:txBody>
                    <a:bodyPr/>
                    <a:lstStyle/>
                    <a:p>
                      <a:r>
                        <a:rPr lang="en-US" altLang="zh-CN" sz="2000" dirty="0">
                          <a:latin typeface="微软雅黑" pitchFamily="34" charset="-122"/>
                          <a:ea typeface="微软雅黑" pitchFamily="34" charset="-122"/>
                        </a:rPr>
                        <a:t>7.5%</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08"/>
                  </a:ext>
                </a:extLst>
              </a:tr>
              <a:tr h="370840">
                <a:tc>
                  <a:txBody>
                    <a:bodyPr/>
                    <a:lstStyle/>
                    <a:p>
                      <a:r>
                        <a:rPr lang="zh-CN" altLang="en-US" sz="2000" dirty="0">
                          <a:latin typeface="微软雅黑" pitchFamily="34" charset="-122"/>
                          <a:ea typeface="微软雅黑" pitchFamily="34" charset="-122"/>
                        </a:rPr>
                        <a:t>缺乏</a:t>
                      </a:r>
                      <a:r>
                        <a:rPr lang="en-US" altLang="zh-CN" sz="2000" dirty="0">
                          <a:latin typeface="微软雅黑" pitchFamily="34" charset="-122"/>
                          <a:ea typeface="微软雅黑" pitchFamily="34" charset="-122"/>
                        </a:rPr>
                        <a:t>IT</a:t>
                      </a:r>
                      <a:r>
                        <a:rPr lang="zh-CN" altLang="en-US" sz="2000" dirty="0">
                          <a:latin typeface="微软雅黑" pitchFamily="34" charset="-122"/>
                          <a:ea typeface="微软雅黑" pitchFamily="34" charset="-122"/>
                        </a:rPr>
                        <a:t>管理</a:t>
                      </a:r>
                    </a:p>
                  </a:txBody>
                  <a:tcPr/>
                </a:tc>
                <a:tc>
                  <a:txBody>
                    <a:bodyPr/>
                    <a:lstStyle/>
                    <a:p>
                      <a:r>
                        <a:rPr lang="en-US" altLang="zh-CN" sz="2000" dirty="0">
                          <a:latin typeface="微软雅黑" pitchFamily="34" charset="-122"/>
                          <a:ea typeface="微软雅黑" pitchFamily="34" charset="-122"/>
                        </a:rPr>
                        <a:t>6.2%</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09"/>
                  </a:ext>
                </a:extLst>
              </a:tr>
              <a:tr h="370840">
                <a:tc>
                  <a:txBody>
                    <a:bodyPr/>
                    <a:lstStyle/>
                    <a:p>
                      <a:r>
                        <a:rPr lang="zh-CN" altLang="en-US" sz="2000" dirty="0">
                          <a:latin typeface="微软雅黑" pitchFamily="34" charset="-122"/>
                          <a:ea typeface="微软雅黑" pitchFamily="34" charset="-122"/>
                        </a:rPr>
                        <a:t>技术能力缺乏</a:t>
                      </a:r>
                    </a:p>
                  </a:txBody>
                  <a:tcPr/>
                </a:tc>
                <a:tc>
                  <a:txBody>
                    <a:bodyPr/>
                    <a:lstStyle/>
                    <a:p>
                      <a:r>
                        <a:rPr lang="en-US" altLang="zh-CN" sz="2000" dirty="0">
                          <a:latin typeface="微软雅黑" pitchFamily="34" charset="-122"/>
                          <a:ea typeface="微软雅黑" pitchFamily="34" charset="-122"/>
                        </a:rPr>
                        <a:t>4.3%</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10"/>
                  </a:ext>
                </a:extLst>
              </a:tr>
              <a:tr h="370840">
                <a:tc>
                  <a:txBody>
                    <a:bodyPr/>
                    <a:lstStyle/>
                    <a:p>
                      <a:r>
                        <a:rPr lang="zh-CN" altLang="en-US" sz="2000" dirty="0">
                          <a:latin typeface="微软雅黑" pitchFamily="34" charset="-122"/>
                          <a:ea typeface="微软雅黑" pitchFamily="34" charset="-122"/>
                        </a:rPr>
                        <a:t>其他</a:t>
                      </a:r>
                    </a:p>
                  </a:txBody>
                  <a:tcPr/>
                </a:tc>
                <a:tc>
                  <a:txBody>
                    <a:bodyPr/>
                    <a:lstStyle/>
                    <a:p>
                      <a:r>
                        <a:rPr lang="en-US" altLang="zh-CN" sz="2000" dirty="0">
                          <a:latin typeface="微软雅黑" pitchFamily="34" charset="-122"/>
                          <a:ea typeface="微软雅黑" pitchFamily="34" charset="-122"/>
                        </a:rPr>
                        <a:t>9.9%</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11"/>
                  </a:ext>
                </a:extLst>
              </a:tr>
            </a:tbl>
          </a:graphicData>
        </a:graphic>
      </p:graphicFrame>
      <p:sp>
        <p:nvSpPr>
          <p:cNvPr id="5" name="矩形 4"/>
          <p:cNvSpPr/>
          <p:nvPr/>
        </p:nvSpPr>
        <p:spPr>
          <a:xfrm>
            <a:off x="992543" y="6088908"/>
            <a:ext cx="4383188" cy="400110"/>
          </a:xfrm>
          <a:prstGeom prst="rect">
            <a:avLst/>
          </a:prstGeom>
        </p:spPr>
        <p:txBody>
          <a:bodyPr wrap="none">
            <a:spAutoFit/>
          </a:bodyPr>
          <a:lstStyle/>
          <a:p>
            <a:r>
              <a:rPr lang="zh-CN" altLang="en-US" sz="2000" dirty="0">
                <a:solidFill>
                  <a:srgbClr val="003399"/>
                </a:solidFill>
                <a:latin typeface="微软雅黑" panose="020B0503020204020204" pitchFamily="34" charset="-122"/>
                <a:ea typeface="微软雅黑" panose="020B0503020204020204" pitchFamily="34" charset="-122"/>
              </a:rPr>
              <a:t>来自</a:t>
            </a:r>
            <a:r>
              <a:rPr lang="en-US" altLang="zh-CN" sz="2000" dirty="0">
                <a:solidFill>
                  <a:srgbClr val="003399"/>
                </a:solidFill>
                <a:latin typeface="微软雅黑" panose="020B0503020204020204" pitchFamily="34" charset="-122"/>
                <a:ea typeface="微软雅黑" panose="020B0503020204020204" pitchFamily="34" charset="-122"/>
              </a:rPr>
              <a:t>Standish Group</a:t>
            </a:r>
            <a:r>
              <a:rPr lang="zh-CN" altLang="en-US" sz="2000" dirty="0">
                <a:solidFill>
                  <a:srgbClr val="003399"/>
                </a:solidFill>
                <a:latin typeface="微软雅黑" panose="020B0503020204020204" pitchFamily="34" charset="-122"/>
                <a:ea typeface="微软雅黑" panose="020B0503020204020204" pitchFamily="34" charset="-122"/>
              </a:rPr>
              <a:t>公司的调查结果</a:t>
            </a:r>
          </a:p>
        </p:txBody>
      </p:sp>
      <p:sp>
        <p:nvSpPr>
          <p:cNvPr id="6" name="文本框 5"/>
          <p:cNvSpPr txBox="1"/>
          <p:nvPr/>
        </p:nvSpPr>
        <p:spPr>
          <a:xfrm>
            <a:off x="5375731" y="1737359"/>
            <a:ext cx="6681637" cy="461665"/>
          </a:xfrm>
          <a:prstGeom prst="rect">
            <a:avLst/>
          </a:prstGeom>
          <a:noFill/>
        </p:spPr>
        <p:txBody>
          <a:bodyPr wrap="none" rtlCol="0">
            <a:spAutoFit/>
          </a:bodyPr>
          <a:lstStyle/>
          <a:p>
            <a:r>
              <a:rPr lang="zh-CN" altLang="en-US" sz="2400" b="1" dirty="0">
                <a:solidFill>
                  <a:srgbClr val="FF0000"/>
                </a:solidFill>
                <a:latin typeface="微软雅黑" pitchFamily="34" charset="-122"/>
                <a:ea typeface="微软雅黑" pitchFamily="34" charset="-122"/>
              </a:rPr>
              <a:t>导致项目失败的因素中，与需求相关的比例最高</a:t>
            </a:r>
          </a:p>
        </p:txBody>
      </p:sp>
      <p:sp>
        <p:nvSpPr>
          <p:cNvPr id="12" name="矩形 11"/>
          <p:cNvSpPr/>
          <p:nvPr/>
        </p:nvSpPr>
        <p:spPr>
          <a:xfrm>
            <a:off x="8885357" y="80075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grpSp>
        <p:nvGrpSpPr>
          <p:cNvPr id="13" name="组合 12"/>
          <p:cNvGrpSpPr/>
          <p:nvPr/>
        </p:nvGrpSpPr>
        <p:grpSpPr>
          <a:xfrm>
            <a:off x="4268300" y="598631"/>
            <a:ext cx="491490" cy="318085"/>
            <a:chOff x="3017520" y="601990"/>
            <a:chExt cx="491490" cy="414010"/>
          </a:xfrm>
        </p:grpSpPr>
        <p:sp>
          <p:nvSpPr>
            <p:cNvPr id="14" name="燕尾形 13"/>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15" name="燕尾形 14"/>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16" name="燕尾形 15"/>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grpSp>
      <p:sp>
        <p:nvSpPr>
          <p:cNvPr id="7" name="文本框 6"/>
          <p:cNvSpPr txBox="1"/>
          <p:nvPr/>
        </p:nvSpPr>
        <p:spPr>
          <a:xfrm>
            <a:off x="7085333" y="2972025"/>
            <a:ext cx="2646878" cy="830997"/>
          </a:xfrm>
          <a:prstGeom prst="rect">
            <a:avLst/>
          </a:prstGeom>
          <a:noFill/>
        </p:spPr>
        <p:txBody>
          <a:bodyPr wrap="none" rtlCol="0">
            <a:spAutoFit/>
          </a:bodyPr>
          <a:lstStyle/>
          <a:p>
            <a:r>
              <a:rPr lang="zh-CN" altLang="en-US" sz="4800" dirty="0">
                <a:solidFill>
                  <a:srgbClr val="FF0000"/>
                </a:solidFill>
                <a:latin typeface="微软雅黑" pitchFamily="34" charset="-122"/>
                <a:ea typeface="微软雅黑" pitchFamily="34" charset="-122"/>
              </a:rPr>
              <a:t>怎么办！</a:t>
            </a:r>
          </a:p>
        </p:txBody>
      </p:sp>
    </p:spTree>
    <p:extLst>
      <p:ext uri="{BB962C8B-B14F-4D97-AF65-F5344CB8AC3E}">
        <p14:creationId xmlns:p14="http://schemas.microsoft.com/office/powerpoint/2010/main" val="371473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3114" y="1853318"/>
            <a:ext cx="7552140" cy="4982694"/>
          </a:xfrm>
          <a:prstGeom prst="rect">
            <a:avLst/>
          </a:prstGeom>
        </p:spPr>
      </p:pic>
      <p:sp>
        <p:nvSpPr>
          <p:cNvPr id="2" name="文本框 1"/>
          <p:cNvSpPr txBox="1"/>
          <p:nvPr/>
        </p:nvSpPr>
        <p:spPr>
          <a:xfrm>
            <a:off x="274320" y="449590"/>
            <a:ext cx="5109091" cy="584775"/>
          </a:xfrm>
          <a:prstGeom prst="rect">
            <a:avLst/>
          </a:prstGeom>
          <a:noFill/>
        </p:spPr>
        <p:txBody>
          <a:bodyPr wrap="none" rtlCol="0">
            <a:spAutoFit/>
          </a:bodyPr>
          <a:lstStyle>
            <a:defPPr>
              <a:defRPr lang="zh-CN"/>
            </a:defPPr>
            <a:lvl1pPr>
              <a:defRPr sz="3200" b="1">
                <a:solidFill>
                  <a:srgbClr val="141316"/>
                </a:solidFill>
                <a:latin typeface="微软雅黑" panose="020B0503020204020204" pitchFamily="34" charset="-122"/>
                <a:ea typeface="微软雅黑" panose="020B0503020204020204" pitchFamily="34" charset="-122"/>
              </a:defRPr>
            </a:lvl1pPr>
          </a:lstStyle>
          <a:p>
            <a:r>
              <a:rPr lang="zh-CN" altLang="en-US" dirty="0"/>
              <a:t>围绕需求开展整个软件过程</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499406" y="588916"/>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8885357" y="81242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形标注 12"/>
          <p:cNvSpPr/>
          <p:nvPr/>
        </p:nvSpPr>
        <p:spPr>
          <a:xfrm>
            <a:off x="1471492" y="4004479"/>
            <a:ext cx="2216259" cy="787314"/>
          </a:xfrm>
          <a:prstGeom prst="wedgeEllipseCallout">
            <a:avLst>
              <a:gd name="adj1" fmla="val 150679"/>
              <a:gd name="adj2" fmla="val -340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需求工程出现</a:t>
            </a:r>
          </a:p>
        </p:txBody>
      </p:sp>
      <p:sp>
        <p:nvSpPr>
          <p:cNvPr id="14" name="TextBox 13"/>
          <p:cNvSpPr txBox="1"/>
          <p:nvPr/>
        </p:nvSpPr>
        <p:spPr>
          <a:xfrm>
            <a:off x="3548418" y="2195720"/>
            <a:ext cx="1763751" cy="369332"/>
          </a:xfrm>
          <a:prstGeom prst="rect">
            <a:avLst/>
          </a:prstGeom>
          <a:solidFill>
            <a:srgbClr val="EDF1F4"/>
          </a:solidFill>
        </p:spPr>
        <p:txBody>
          <a:bodyPr wrap="square" rtlCol="0">
            <a:spAutoFit/>
          </a:bodyPr>
          <a:lstStyle/>
          <a:p>
            <a:endParaRPr lang="zh-CN" altLang="en-US" dirty="0"/>
          </a:p>
        </p:txBody>
      </p:sp>
      <p:sp>
        <p:nvSpPr>
          <p:cNvPr id="17" name="TextBox 16"/>
          <p:cNvSpPr txBox="1"/>
          <p:nvPr/>
        </p:nvSpPr>
        <p:spPr>
          <a:xfrm>
            <a:off x="5796300" y="2183120"/>
            <a:ext cx="1577894" cy="369332"/>
          </a:xfrm>
          <a:prstGeom prst="rect">
            <a:avLst/>
          </a:prstGeom>
          <a:solidFill>
            <a:srgbClr val="DEE3E7"/>
          </a:solidFill>
        </p:spPr>
        <p:txBody>
          <a:bodyPr wrap="square" rtlCol="0">
            <a:spAutoFit/>
          </a:bodyPr>
          <a:lstStyle/>
          <a:p>
            <a:endParaRPr lang="zh-CN" altLang="en-US" dirty="0"/>
          </a:p>
        </p:txBody>
      </p:sp>
      <p:sp>
        <p:nvSpPr>
          <p:cNvPr id="18" name="TextBox 17"/>
          <p:cNvSpPr txBox="1"/>
          <p:nvPr/>
        </p:nvSpPr>
        <p:spPr>
          <a:xfrm>
            <a:off x="5283828" y="2209368"/>
            <a:ext cx="522596" cy="369332"/>
          </a:xfrm>
          <a:prstGeom prst="rect">
            <a:avLst/>
          </a:prstGeom>
          <a:solidFill>
            <a:srgbClr val="E5E9EC"/>
          </a:solidFill>
        </p:spPr>
        <p:txBody>
          <a:bodyPr wrap="square" rtlCol="0">
            <a:spAutoFit/>
          </a:bodyPr>
          <a:lstStyle/>
          <a:p>
            <a:endParaRPr lang="zh-CN" altLang="en-US" dirty="0"/>
          </a:p>
        </p:txBody>
      </p:sp>
      <p:sp>
        <p:nvSpPr>
          <p:cNvPr id="19" name="TextBox 18"/>
          <p:cNvSpPr txBox="1"/>
          <p:nvPr/>
        </p:nvSpPr>
        <p:spPr>
          <a:xfrm>
            <a:off x="702000" y="1260000"/>
            <a:ext cx="10195474" cy="1011944"/>
          </a:xfrm>
          <a:prstGeom prst="rect">
            <a:avLst/>
          </a:prstGeom>
          <a:noFill/>
        </p:spPr>
        <p:txBody>
          <a:bodyPr wrap="square" rtlCol="0">
            <a:spAutoFit/>
          </a:bodyPr>
          <a:lstStyle/>
          <a:p>
            <a:pPr>
              <a:lnSpc>
                <a:spcPct val="125000"/>
              </a:lnSpc>
              <a:spcAft>
                <a:spcPts val="600"/>
              </a:spcAft>
              <a:defRPr/>
            </a:pPr>
            <a:r>
              <a:rPr lang="zh-CN" altLang="en-US" sz="2400" b="1" dirty="0">
                <a:solidFill>
                  <a:srgbClr val="002060"/>
                </a:solidFill>
                <a:latin typeface="微软雅黑" pitchFamily="34" charset="-122"/>
                <a:ea typeface="微软雅黑" pitchFamily="34" charset="-122"/>
              </a:rPr>
              <a:t>需求工程：</a:t>
            </a:r>
            <a:r>
              <a:rPr lang="zh-CN" altLang="en-US" sz="2400" dirty="0">
                <a:latin typeface="微软雅黑" pitchFamily="34" charset="-122"/>
                <a:ea typeface="微软雅黑" pitchFamily="34" charset="-122"/>
              </a:rPr>
              <a:t>通过合适的工具和记号系统地描述待开发系统及其行为特征和相关约束，形成需求文档，并对用户不断变化的需求演进给予支持。</a:t>
            </a:r>
          </a:p>
        </p:txBody>
      </p:sp>
    </p:spTree>
    <p:extLst>
      <p:ext uri="{BB962C8B-B14F-4D97-AF65-F5344CB8AC3E}">
        <p14:creationId xmlns:p14="http://schemas.microsoft.com/office/powerpoint/2010/main" val="3680672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0" end="0"/>
                                            </p:txEl>
                                          </p:spTgt>
                                        </p:tgtEl>
                                        <p:attrNameLst>
                                          <p:attrName>style.visibility</p:attrName>
                                        </p:attrNameLst>
                                      </p:cBhvr>
                                      <p:to>
                                        <p:strVal val="visible"/>
                                      </p:to>
                                    </p:set>
                                    <p:animEffect transition="in" filter="fade">
                                      <p:cBhvr>
                                        <p:cTn id="12"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592982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需求工程是解决需求噩梦的手段</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内容占位符 5"/>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r="6464" b="2315"/>
          <a:stretch>
            <a:fillRect/>
          </a:stretch>
        </p:blipFill>
        <p:spPr>
          <a:xfrm>
            <a:off x="2706590" y="1644193"/>
            <a:ext cx="5959739" cy="3653020"/>
          </a:xfrm>
          <a:prstGeom prst="rect">
            <a:avLst/>
          </a:prstGeom>
        </p:spPr>
      </p:pic>
      <p:sp>
        <p:nvSpPr>
          <p:cNvPr id="17" name="内容占位符 2"/>
          <p:cNvSpPr txBox="1"/>
          <p:nvPr/>
        </p:nvSpPr>
        <p:spPr>
          <a:xfrm>
            <a:off x="8759462" y="2652236"/>
            <a:ext cx="3356738" cy="36382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zh-CN" altLang="en-US" sz="2400" b="1" dirty="0">
                <a:solidFill>
                  <a:srgbClr val="FF0000"/>
                </a:solidFill>
                <a:latin typeface="微软雅黑" panose="020B0503020204020204" pitchFamily="34" charset="-122"/>
                <a:ea typeface="微软雅黑" panose="020B0503020204020204" pitchFamily="34" charset="-122"/>
              </a:rPr>
              <a:t>需求管理</a:t>
            </a:r>
            <a:endParaRPr lang="en-US" altLang="zh-CN" sz="2400" b="1" dirty="0">
              <a:solidFill>
                <a:srgbClr val="FF0000"/>
              </a:solidFill>
              <a:latin typeface="微软雅黑" panose="020B0503020204020204" pitchFamily="34" charset="-122"/>
              <a:ea typeface="微软雅黑" panose="020B0503020204020204" pitchFamily="34" charset="-122"/>
            </a:endParaRPr>
          </a:p>
          <a:p>
            <a:pPr marL="0" indent="0">
              <a:lnSpc>
                <a:spcPct val="120000"/>
              </a:lnSpc>
              <a:buNone/>
            </a:pPr>
            <a:r>
              <a:rPr lang="en-US" altLang="zh-CN" sz="1600" dirty="0">
                <a:latin typeface="微软雅黑" panose="020B0503020204020204" pitchFamily="34" charset="-122"/>
                <a:ea typeface="微软雅黑" panose="020B0503020204020204" pitchFamily="34" charset="-122"/>
              </a:rPr>
              <a:t>(Requirement Management, RM)</a:t>
            </a:r>
            <a:r>
              <a:rPr lang="zh-CN" altLang="en-US" sz="2400" dirty="0">
                <a:latin typeface="微软雅黑" panose="020B0503020204020204" pitchFamily="34" charset="-122"/>
                <a:ea typeface="微软雅黑" panose="020B0503020204020204" pitchFamily="34" charset="-122"/>
              </a:rPr>
              <a:t>目的是在客户与开发方之间建立对需求的共同理解，维护需求与其他工作成果的一致性，并控制需求的变更。</a:t>
            </a:r>
          </a:p>
        </p:txBody>
      </p:sp>
      <p:sp>
        <p:nvSpPr>
          <p:cNvPr id="12" name="矩形 11"/>
          <p:cNvSpPr/>
          <p:nvPr/>
        </p:nvSpPr>
        <p:spPr>
          <a:xfrm>
            <a:off x="8885357" y="816311"/>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6244755" y="601481"/>
            <a:ext cx="491490" cy="318085"/>
            <a:chOff x="3017520" y="601990"/>
            <a:chExt cx="491490" cy="414010"/>
          </a:xfrm>
        </p:grpSpPr>
        <p:sp>
          <p:nvSpPr>
            <p:cNvPr id="14" name="燕尾形 13"/>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燕尾形 1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燕尾形 17"/>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矩形 3"/>
          <p:cNvSpPr/>
          <p:nvPr/>
        </p:nvSpPr>
        <p:spPr>
          <a:xfrm>
            <a:off x="110358" y="2652236"/>
            <a:ext cx="3342290" cy="2288832"/>
          </a:xfrm>
          <a:prstGeom prst="rect">
            <a:avLst/>
          </a:prstGeom>
        </p:spPr>
        <p:txBody>
          <a:bodyPr wrap="square">
            <a:spAutoFit/>
          </a:bodyPr>
          <a:lstStyle/>
          <a:p>
            <a:pPr>
              <a:lnSpc>
                <a:spcPct val="120000"/>
              </a:lnSpc>
            </a:pPr>
            <a:r>
              <a:rPr lang="zh-CN" altLang="en-US" sz="2400" b="1" dirty="0">
                <a:solidFill>
                  <a:srgbClr val="FF0000"/>
                </a:solidFill>
                <a:latin typeface="微软雅黑" panose="020B0503020204020204" pitchFamily="34" charset="-122"/>
                <a:ea typeface="微软雅黑" panose="020B0503020204020204" pitchFamily="34" charset="-122"/>
              </a:rPr>
              <a:t>需求开发</a:t>
            </a:r>
            <a:endParaRPr lang="en-US" altLang="zh-CN" sz="2400" b="1" dirty="0">
              <a:solidFill>
                <a:srgbClr val="FF0000"/>
              </a:solidFill>
              <a:latin typeface="微软雅黑" panose="020B0503020204020204" pitchFamily="34" charset="-122"/>
              <a:ea typeface="微软雅黑" panose="020B0503020204020204" pitchFamily="34" charset="-122"/>
            </a:endParaRPr>
          </a:p>
          <a:p>
            <a:pPr>
              <a:lnSpc>
                <a:spcPct val="120000"/>
              </a:lnSpc>
              <a:spcBef>
                <a:spcPts val="1000"/>
              </a:spcBef>
            </a:pPr>
            <a:r>
              <a:rPr lang="en-US" altLang="zh-CN" sz="1600" dirty="0">
                <a:latin typeface="微软雅黑" panose="020B0503020204020204" pitchFamily="34" charset="-122"/>
                <a:ea typeface="微软雅黑" panose="020B0503020204020204" pitchFamily="34" charset="-122"/>
              </a:rPr>
              <a:t>(Requirement Development, RD)</a:t>
            </a:r>
            <a:r>
              <a:rPr lang="zh-CN" altLang="en-US" sz="2400" dirty="0">
                <a:latin typeface="微软雅黑" panose="020B0503020204020204" pitchFamily="34" charset="-122"/>
                <a:ea typeface="微软雅黑" panose="020B0503020204020204" pitchFamily="34" charset="-122"/>
              </a:rPr>
              <a:t>目的是通过调查与分析，获取用户需求并定义产品需求。 </a:t>
            </a:r>
          </a:p>
        </p:txBody>
      </p:sp>
    </p:spTree>
    <p:extLst>
      <p:ext uri="{BB962C8B-B14F-4D97-AF65-F5344CB8AC3E}">
        <p14:creationId xmlns:p14="http://schemas.microsoft.com/office/powerpoint/2010/main" val="2954434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3057247" cy="584775"/>
          </a:xfrm>
          <a:prstGeom prst="rect">
            <a:avLst/>
          </a:prstGeom>
          <a:noFill/>
        </p:spPr>
        <p:txBody>
          <a:bodyPr wrap="none" rtlCol="0">
            <a:spAutoFit/>
          </a:bodyPr>
          <a:lstStyle/>
          <a:p>
            <a:r>
              <a:rPr lang="zh-CN" altLang="en-US" sz="3200" b="1" dirty="0">
                <a:solidFill>
                  <a:srgbClr val="141316"/>
                </a:solidFill>
                <a:latin typeface="微软雅黑" pitchFamily="34" charset="-122"/>
                <a:ea typeface="微软雅黑" pitchFamily="34" charset="-122"/>
              </a:rPr>
              <a:t>需求开发的方法</a:t>
            </a:r>
          </a:p>
        </p:txBody>
      </p:sp>
      <p:cxnSp>
        <p:nvCxnSpPr>
          <p:cNvPr id="3" name="直接连接符 2"/>
          <p:cNvCxnSpPr/>
          <p:nvPr/>
        </p:nvCxnSpPr>
        <p:spPr>
          <a:xfrm>
            <a:off x="-15766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2" name="矩形 11"/>
          <p:cNvSpPr/>
          <p:nvPr/>
        </p:nvSpPr>
        <p:spPr>
          <a:xfrm>
            <a:off x="8885357" y="797309"/>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9" name="AutoShape 9"/>
          <p:cNvSpPr>
            <a:spLocks noChangeArrowheads="1"/>
          </p:cNvSpPr>
          <p:nvPr/>
        </p:nvSpPr>
        <p:spPr bwMode="gray">
          <a:xfrm>
            <a:off x="1154317" y="1367214"/>
            <a:ext cx="2019589" cy="527763"/>
          </a:xfrm>
          <a:prstGeom prst="roundRect">
            <a:avLst>
              <a:gd name="adj" fmla="val 50000"/>
            </a:avLst>
          </a:prstGeom>
          <a:gradFill rotWithShape="1">
            <a:gsLst>
              <a:gs pos="0">
                <a:schemeClr val="accent2"/>
              </a:gs>
              <a:gs pos="100000">
                <a:schemeClr val="accent2">
                  <a:gamma/>
                  <a:tint val="69804"/>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a:r>
              <a:rPr lang="zh-CN" altLang="en-US" sz="2400" b="1" dirty="0">
                <a:latin typeface="微软雅黑" pitchFamily="34" charset="-122"/>
                <a:ea typeface="微软雅黑" pitchFamily="34" charset="-122"/>
              </a:rPr>
              <a:t>需求开发工作</a:t>
            </a:r>
            <a:endParaRPr lang="en-US" altLang="zh-CN" sz="2400" b="1" dirty="0">
              <a:latin typeface="微软雅黑" pitchFamily="34" charset="-122"/>
              <a:ea typeface="微软雅黑" pitchFamily="34" charset="-122"/>
            </a:endParaRPr>
          </a:p>
        </p:txBody>
      </p:sp>
      <p:grpSp>
        <p:nvGrpSpPr>
          <p:cNvPr id="21" name="组合 20"/>
          <p:cNvGrpSpPr/>
          <p:nvPr/>
        </p:nvGrpSpPr>
        <p:grpSpPr>
          <a:xfrm>
            <a:off x="3617928" y="603952"/>
            <a:ext cx="491490" cy="318085"/>
            <a:chOff x="3017520" y="601990"/>
            <a:chExt cx="491490" cy="414010"/>
          </a:xfrm>
        </p:grpSpPr>
        <p:sp>
          <p:nvSpPr>
            <p:cNvPr id="22" name="燕尾形 2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23" name="燕尾形 2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24" name="燕尾形 2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grpSp>
      <p:graphicFrame>
        <p:nvGraphicFramePr>
          <p:cNvPr id="4" name="图示 3"/>
          <p:cNvGraphicFramePr/>
          <p:nvPr>
            <p:extLst>
              <p:ext uri="{D42A27DB-BD31-4B8C-83A1-F6EECF244321}">
                <p14:modId xmlns:p14="http://schemas.microsoft.com/office/powerpoint/2010/main" val="2112160300"/>
              </p:ext>
            </p:extLst>
          </p:nvPr>
        </p:nvGraphicFramePr>
        <p:xfrm>
          <a:off x="1154318" y="2338188"/>
          <a:ext cx="8128000" cy="5036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 name="文本框 24"/>
          <p:cNvSpPr txBox="1"/>
          <p:nvPr/>
        </p:nvSpPr>
        <p:spPr>
          <a:xfrm>
            <a:off x="1785390" y="3048446"/>
            <a:ext cx="1704313" cy="2446182"/>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sz="2400" b="1" dirty="0">
                <a:latin typeface="微软雅黑" pitchFamily="34" charset="-122"/>
                <a:ea typeface="微软雅黑" pitchFamily="34" charset="-122"/>
              </a:rPr>
              <a:t>研究文档</a:t>
            </a:r>
            <a:endParaRPr lang="en-US" altLang="zh-CN" sz="2400" b="1" dirty="0">
              <a:latin typeface="微软雅黑" pitchFamily="34" charset="-122"/>
              <a:ea typeface="微软雅黑" pitchFamily="34" charset="-122"/>
            </a:endParaRPr>
          </a:p>
          <a:p>
            <a:pPr marL="285750" indent="-285750">
              <a:lnSpc>
                <a:spcPct val="130000"/>
              </a:lnSpc>
              <a:buFont typeface="Arial" panose="020B0604020202020204" pitchFamily="34" charset="0"/>
              <a:buChar char="•"/>
            </a:pPr>
            <a:r>
              <a:rPr lang="zh-CN" altLang="en-US" sz="2400" b="1" dirty="0">
                <a:latin typeface="微软雅黑" pitchFamily="34" charset="-122"/>
                <a:ea typeface="微软雅黑" pitchFamily="34" charset="-122"/>
              </a:rPr>
              <a:t>访谈</a:t>
            </a:r>
            <a:endParaRPr lang="en-US" altLang="zh-CN" sz="2400" b="1" dirty="0">
              <a:latin typeface="微软雅黑" pitchFamily="34" charset="-122"/>
              <a:ea typeface="微软雅黑" pitchFamily="34" charset="-122"/>
            </a:endParaRPr>
          </a:p>
          <a:p>
            <a:pPr marL="285750" indent="-285750">
              <a:lnSpc>
                <a:spcPct val="130000"/>
              </a:lnSpc>
              <a:buFont typeface="Arial" panose="020B0604020202020204" pitchFamily="34" charset="0"/>
              <a:buChar char="•"/>
            </a:pPr>
            <a:r>
              <a:rPr lang="zh-CN" altLang="en-US" sz="2400" b="1" dirty="0">
                <a:latin typeface="微软雅黑" pitchFamily="34" charset="-122"/>
                <a:ea typeface="微软雅黑" pitchFamily="34" charset="-122"/>
              </a:rPr>
              <a:t>现场观察</a:t>
            </a:r>
            <a:endParaRPr lang="en-US" altLang="zh-CN" sz="2400" b="1" dirty="0">
              <a:latin typeface="微软雅黑" pitchFamily="34" charset="-122"/>
              <a:ea typeface="微软雅黑" pitchFamily="34" charset="-122"/>
            </a:endParaRPr>
          </a:p>
          <a:p>
            <a:pPr marL="285750" indent="-285750">
              <a:lnSpc>
                <a:spcPct val="130000"/>
              </a:lnSpc>
              <a:buFont typeface="Arial" panose="020B0604020202020204" pitchFamily="34" charset="0"/>
              <a:buChar char="•"/>
            </a:pPr>
            <a:r>
              <a:rPr lang="zh-CN" altLang="en-US" sz="2400" b="1" dirty="0">
                <a:latin typeface="微软雅黑" pitchFamily="34" charset="-122"/>
                <a:ea typeface="微软雅黑" pitchFamily="34" charset="-122"/>
              </a:rPr>
              <a:t>问卷</a:t>
            </a:r>
            <a:endParaRPr lang="en-US" altLang="zh-CN" sz="2400" b="1" dirty="0">
              <a:latin typeface="微软雅黑" pitchFamily="34" charset="-122"/>
              <a:ea typeface="微软雅黑" pitchFamily="34" charset="-122"/>
            </a:endParaRPr>
          </a:p>
          <a:p>
            <a:pPr marL="285750" indent="-285750">
              <a:lnSpc>
                <a:spcPct val="130000"/>
              </a:lnSpc>
              <a:buFont typeface="Arial" panose="020B0604020202020204" pitchFamily="34" charset="0"/>
              <a:buChar char="•"/>
            </a:pPr>
            <a:r>
              <a:rPr lang="zh-CN" altLang="en-US" sz="2400" b="1" dirty="0">
                <a:latin typeface="微软雅黑" pitchFamily="34" charset="-122"/>
                <a:ea typeface="微软雅黑" pitchFamily="34" charset="-122"/>
              </a:rPr>
              <a:t>原型法</a:t>
            </a:r>
            <a:r>
              <a:rPr lang="en-US" altLang="zh-CN" sz="2400" b="1" dirty="0">
                <a:latin typeface="微软雅黑" pitchFamily="34" charset="-122"/>
                <a:ea typeface="微软雅黑" pitchFamily="34" charset="-122"/>
              </a:rPr>
              <a:t> </a:t>
            </a:r>
          </a:p>
        </p:txBody>
      </p:sp>
      <p:sp>
        <p:nvSpPr>
          <p:cNvPr id="26" name="文本框 25"/>
          <p:cNvSpPr txBox="1"/>
          <p:nvPr/>
        </p:nvSpPr>
        <p:spPr>
          <a:xfrm>
            <a:off x="4440796" y="3048446"/>
            <a:ext cx="1704313" cy="1485920"/>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sz="2400" b="1" dirty="0">
                <a:solidFill>
                  <a:srgbClr val="FF0000"/>
                </a:solidFill>
                <a:latin typeface="微软雅黑" pitchFamily="34" charset="-122"/>
                <a:ea typeface="微软雅黑" pitchFamily="34" charset="-122"/>
              </a:rPr>
              <a:t>定义愿景</a:t>
            </a:r>
            <a:endParaRPr lang="en-US" altLang="zh-CN" sz="2400" b="1" dirty="0">
              <a:solidFill>
                <a:srgbClr val="FF0000"/>
              </a:solidFill>
              <a:latin typeface="微软雅黑" pitchFamily="34" charset="-122"/>
              <a:ea typeface="微软雅黑" pitchFamily="34" charset="-122"/>
            </a:endParaRPr>
          </a:p>
          <a:p>
            <a:pPr marL="285750" indent="-285750">
              <a:lnSpc>
                <a:spcPct val="130000"/>
              </a:lnSpc>
              <a:buFont typeface="Arial" panose="020B0604020202020204" pitchFamily="34" charset="0"/>
              <a:buChar char="•"/>
            </a:pPr>
            <a:r>
              <a:rPr lang="zh-CN" altLang="en-US" sz="2400" b="1" dirty="0">
                <a:solidFill>
                  <a:srgbClr val="FF0000"/>
                </a:solidFill>
                <a:latin typeface="微软雅黑" pitchFamily="34" charset="-122"/>
                <a:ea typeface="微软雅黑" pitchFamily="34" charset="-122"/>
              </a:rPr>
              <a:t>业务建模</a:t>
            </a:r>
            <a:endParaRPr lang="en-US" altLang="zh-CN" sz="2400" b="1" dirty="0">
              <a:solidFill>
                <a:srgbClr val="FF0000"/>
              </a:solidFill>
              <a:latin typeface="微软雅黑" pitchFamily="34" charset="-122"/>
              <a:ea typeface="微软雅黑" pitchFamily="34" charset="-122"/>
            </a:endParaRPr>
          </a:p>
          <a:p>
            <a:pPr marL="285750" indent="-285750">
              <a:lnSpc>
                <a:spcPct val="130000"/>
              </a:lnSpc>
              <a:buFont typeface="Arial" panose="020B0604020202020204" pitchFamily="34" charset="0"/>
              <a:buChar char="•"/>
            </a:pPr>
            <a:r>
              <a:rPr lang="zh-CN" altLang="en-US" sz="2400" b="1" dirty="0">
                <a:solidFill>
                  <a:srgbClr val="FF0000"/>
                </a:solidFill>
                <a:latin typeface="微软雅黑" pitchFamily="34" charset="-122"/>
                <a:ea typeface="微软雅黑" pitchFamily="34" charset="-122"/>
              </a:rPr>
              <a:t>用例分析</a:t>
            </a:r>
            <a:endParaRPr lang="en-US" altLang="zh-CN" sz="2400" b="1" dirty="0">
              <a:solidFill>
                <a:srgbClr val="FF0000"/>
              </a:solidFill>
              <a:latin typeface="微软雅黑" pitchFamily="34" charset="-122"/>
              <a:ea typeface="微软雅黑" pitchFamily="34" charset="-122"/>
            </a:endParaRPr>
          </a:p>
        </p:txBody>
      </p:sp>
      <p:sp>
        <p:nvSpPr>
          <p:cNvPr id="27" name="文本框 26"/>
          <p:cNvSpPr txBox="1"/>
          <p:nvPr/>
        </p:nvSpPr>
        <p:spPr>
          <a:xfrm>
            <a:off x="6984119" y="3048445"/>
            <a:ext cx="2688458" cy="1485920"/>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400" b="1" dirty="0">
                <a:latin typeface="微软雅黑" pitchFamily="34" charset="-122"/>
                <a:ea typeface="微软雅黑" pitchFamily="34" charset="-122"/>
              </a:rPr>
              <a:t>需求规格说明书</a:t>
            </a:r>
            <a:endParaRPr lang="en-US" altLang="zh-CN" sz="2400" b="1" dirty="0">
              <a:latin typeface="微软雅黑" pitchFamily="34" charset="-122"/>
              <a:ea typeface="微软雅黑" pitchFamily="34" charset="-122"/>
            </a:endParaRPr>
          </a:p>
          <a:p>
            <a:pPr marL="284400" lvl="1" indent="-285750">
              <a:lnSpc>
                <a:spcPct val="130000"/>
              </a:lnSpc>
              <a:buFont typeface="Arial" panose="020B0604020202020204" pitchFamily="34" charset="0"/>
              <a:buChar char="•"/>
            </a:pPr>
            <a:r>
              <a:rPr lang="zh-CN" altLang="en-US" sz="2400" b="1" dirty="0">
                <a:latin typeface="微软雅黑" pitchFamily="34" charset="-122"/>
                <a:ea typeface="微软雅黑" pitchFamily="34" charset="-122"/>
              </a:rPr>
              <a:t>功能需求</a:t>
            </a:r>
            <a:endParaRPr lang="en-US" altLang="zh-CN" sz="2400" b="1" dirty="0">
              <a:latin typeface="微软雅黑" pitchFamily="34" charset="-122"/>
              <a:ea typeface="微软雅黑" pitchFamily="34" charset="-122"/>
            </a:endParaRPr>
          </a:p>
          <a:p>
            <a:pPr marL="284400" lvl="1" indent="-285750">
              <a:lnSpc>
                <a:spcPct val="130000"/>
              </a:lnSpc>
              <a:buFont typeface="Arial" panose="020B0604020202020204" pitchFamily="34" charset="0"/>
              <a:buChar char="•"/>
            </a:pPr>
            <a:r>
              <a:rPr lang="zh-CN" altLang="en-US" sz="2400" b="1" dirty="0">
                <a:latin typeface="微软雅黑" pitchFamily="34" charset="-122"/>
                <a:ea typeface="微软雅黑" pitchFamily="34" charset="-122"/>
              </a:rPr>
              <a:t>非功能需求</a:t>
            </a:r>
            <a:endParaRPr lang="en-US" altLang="zh-CN" sz="2400" b="1" dirty="0">
              <a:latin typeface="微软雅黑" pitchFamily="34" charset="-122"/>
              <a:ea typeface="微软雅黑" pitchFamily="34" charset="-122"/>
            </a:endParaRPr>
          </a:p>
        </p:txBody>
      </p:sp>
      <p:sp>
        <p:nvSpPr>
          <p:cNvPr id="6" name="文本框 5"/>
          <p:cNvSpPr txBox="1"/>
          <p:nvPr/>
        </p:nvSpPr>
        <p:spPr>
          <a:xfrm>
            <a:off x="1154317" y="5649157"/>
            <a:ext cx="7879080" cy="553998"/>
          </a:xfrm>
          <a:prstGeom prst="rect">
            <a:avLst/>
          </a:prstGeom>
          <a:noFill/>
        </p:spPr>
        <p:txBody>
          <a:bodyPr wrap="none" rtlCol="0">
            <a:spAutoFit/>
          </a:bodyPr>
          <a:lstStyle/>
          <a:p>
            <a:pPr>
              <a:lnSpc>
                <a:spcPct val="125000"/>
              </a:lnSpc>
              <a:defRPr/>
            </a:pPr>
            <a:r>
              <a:rPr lang="zh-CN" altLang="en-US" sz="2400" b="1" dirty="0">
                <a:solidFill>
                  <a:srgbClr val="FF9900"/>
                </a:solidFill>
                <a:latin typeface="微软雅黑" pitchFamily="34" charset="-122"/>
                <a:ea typeface="微软雅黑" pitchFamily="34" charset="-122"/>
              </a:rPr>
              <a:t>不同的软件过程，需求阶段都很重要，但方法是不一样的</a:t>
            </a:r>
          </a:p>
        </p:txBody>
      </p:sp>
    </p:spTree>
    <p:extLst>
      <p:ext uri="{BB962C8B-B14F-4D97-AF65-F5344CB8AC3E}">
        <p14:creationId xmlns:p14="http://schemas.microsoft.com/office/powerpoint/2010/main" val="244239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2646878" cy="584775"/>
          </a:xfrm>
          <a:prstGeom prst="rect">
            <a:avLst/>
          </a:prstGeom>
          <a:noFill/>
        </p:spPr>
        <p:txBody>
          <a:bodyPr wrap="none" rtlCol="0">
            <a:spAutoFit/>
          </a:bodyPr>
          <a:lstStyle/>
          <a:p>
            <a:r>
              <a:rPr lang="zh-CN" altLang="en-US" sz="3200" b="1" dirty="0">
                <a:solidFill>
                  <a:srgbClr val="141316"/>
                </a:solidFill>
                <a:latin typeface="微软雅黑" pitchFamily="34" charset="-122"/>
                <a:ea typeface="微软雅黑" pitchFamily="34" charset="-122"/>
              </a:rPr>
              <a:t>浅谈需求调查</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2949773" y="614490"/>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42" name="矩形 41"/>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1" name="内容占位符 2"/>
          <p:cNvSpPr txBox="1"/>
          <p:nvPr/>
        </p:nvSpPr>
        <p:spPr>
          <a:xfrm>
            <a:off x="393700" y="1423761"/>
            <a:ext cx="11375934" cy="4663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zh-CN" altLang="en-US" sz="2400" dirty="0">
                <a:latin typeface="微软雅黑" panose="020B0503020204020204" pitchFamily="34" charset="-122"/>
                <a:ea typeface="微软雅黑" panose="020B0503020204020204" pitchFamily="34" charset="-122"/>
              </a:rPr>
              <a:t>注意：需求调查是尽可能</a:t>
            </a:r>
            <a:r>
              <a:rPr lang="zh-CN" altLang="en-US" sz="2400" dirty="0">
                <a:solidFill>
                  <a:srgbClr val="FF0000"/>
                </a:solidFill>
                <a:latin typeface="微软雅黑" panose="020B0503020204020204" pitchFamily="34" charset="-122"/>
                <a:ea typeface="微软雅黑" panose="020B0503020204020204" pitchFamily="34" charset="-122"/>
              </a:rPr>
              <a:t>全面、准确</a:t>
            </a:r>
            <a:r>
              <a:rPr lang="zh-CN" altLang="en-US" sz="2400" dirty="0">
                <a:latin typeface="微软雅黑" panose="020B0503020204020204" pitchFamily="34" charset="-122"/>
                <a:ea typeface="微软雅黑" panose="020B0503020204020204" pitchFamily="34" charset="-122"/>
              </a:rPr>
              <a:t>地听到客户原始声音。作为</a:t>
            </a:r>
            <a:r>
              <a:rPr lang="zh-CN" altLang="en-US" sz="2400" dirty="0">
                <a:solidFill>
                  <a:srgbClr val="FF0000"/>
                </a:solidFill>
                <a:latin typeface="微软雅黑" panose="020B0503020204020204" pitchFamily="34" charset="-122"/>
                <a:ea typeface="微软雅黑" panose="020B0503020204020204" pitchFamily="34" charset="-122"/>
              </a:rPr>
              <a:t>需求分析的依据</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pPr>
            <a:r>
              <a:rPr lang="zh-CN" altLang="en-US" sz="2400" dirty="0">
                <a:latin typeface="微软雅黑" panose="020B0503020204020204" pitchFamily="34" charset="-122"/>
                <a:ea typeface="微软雅黑" panose="020B0503020204020204" pitchFamily="34" charset="-122"/>
              </a:rPr>
              <a:t>思考：调查下面三类人的需求时，有什么不同吗？</a:t>
            </a:r>
            <a:endParaRPr lang="en-US" altLang="zh-CN" sz="2400" dirty="0">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3"/>
          <a:stretch>
            <a:fillRect/>
          </a:stretch>
        </p:blipFill>
        <p:spPr>
          <a:xfrm>
            <a:off x="833318" y="2907576"/>
            <a:ext cx="2409825" cy="1905000"/>
          </a:xfrm>
          <a:prstGeom prst="rect">
            <a:avLst/>
          </a:prstGeom>
        </p:spPr>
      </p:pic>
      <p:pic>
        <p:nvPicPr>
          <p:cNvPr id="17" name="图片 16"/>
          <p:cNvPicPr>
            <a:picLocks noChangeAspect="1"/>
          </p:cNvPicPr>
          <p:nvPr/>
        </p:nvPicPr>
        <p:blipFill>
          <a:blip r:embed="rId4"/>
          <a:stretch>
            <a:fillRect/>
          </a:stretch>
        </p:blipFill>
        <p:spPr>
          <a:xfrm>
            <a:off x="5319826" y="2900230"/>
            <a:ext cx="1110900" cy="1904400"/>
          </a:xfrm>
          <a:prstGeom prst="rect">
            <a:avLst/>
          </a:prstGeom>
        </p:spPr>
      </p:pic>
      <p:pic>
        <p:nvPicPr>
          <p:cNvPr id="18" name="图片 17"/>
          <p:cNvPicPr>
            <a:picLocks noChangeAspect="1"/>
          </p:cNvPicPr>
          <p:nvPr/>
        </p:nvPicPr>
        <p:blipFill>
          <a:blip r:embed="rId5"/>
          <a:stretch>
            <a:fillRect/>
          </a:stretch>
        </p:blipFill>
        <p:spPr>
          <a:xfrm>
            <a:off x="8505348" y="2900230"/>
            <a:ext cx="974764" cy="1904400"/>
          </a:xfrm>
          <a:prstGeom prst="rect">
            <a:avLst/>
          </a:prstGeom>
        </p:spPr>
      </p:pic>
      <p:sp>
        <p:nvSpPr>
          <p:cNvPr id="19" name="文本框 18"/>
          <p:cNvSpPr txBox="1"/>
          <p:nvPr/>
        </p:nvSpPr>
        <p:spPr>
          <a:xfrm>
            <a:off x="1715064" y="4910820"/>
            <a:ext cx="800219"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老板</a:t>
            </a:r>
          </a:p>
        </p:txBody>
      </p:sp>
      <p:sp>
        <p:nvSpPr>
          <p:cNvPr id="27" name="文本框 26"/>
          <p:cNvSpPr txBox="1"/>
          <p:nvPr/>
        </p:nvSpPr>
        <p:spPr>
          <a:xfrm>
            <a:off x="5160225" y="4910005"/>
            <a:ext cx="1415772"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中层经理</a:t>
            </a:r>
          </a:p>
        </p:txBody>
      </p:sp>
      <p:sp>
        <p:nvSpPr>
          <p:cNvPr id="28" name="文本框 27"/>
          <p:cNvSpPr txBox="1"/>
          <p:nvPr/>
        </p:nvSpPr>
        <p:spPr>
          <a:xfrm>
            <a:off x="8311812" y="4972404"/>
            <a:ext cx="1415772"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一线员工</a:t>
            </a:r>
          </a:p>
        </p:txBody>
      </p:sp>
      <p:sp>
        <p:nvSpPr>
          <p:cNvPr id="20" name="文本框 19"/>
          <p:cNvSpPr txBox="1"/>
          <p:nvPr/>
        </p:nvSpPr>
        <p:spPr>
          <a:xfrm>
            <a:off x="691226" y="5682343"/>
            <a:ext cx="2723823" cy="430887"/>
          </a:xfrm>
          <a:prstGeom prst="rect">
            <a:avLst/>
          </a:prstGeom>
          <a:noFill/>
        </p:spPr>
        <p:txBody>
          <a:bodyPr wrap="none" rtlCol="0">
            <a:spAutoFit/>
          </a:bodyPr>
          <a:lstStyle/>
          <a:p>
            <a:r>
              <a:rPr lang="zh-CN" altLang="en-US" sz="2200" dirty="0">
                <a:latin typeface="微软雅黑" pitchFamily="34" charset="-122"/>
                <a:ea typeface="微软雅黑" pitchFamily="34" charset="-122"/>
              </a:rPr>
              <a:t>企业战略、开源节流</a:t>
            </a:r>
          </a:p>
        </p:txBody>
      </p:sp>
      <p:sp>
        <p:nvSpPr>
          <p:cNvPr id="30" name="文本框 29"/>
          <p:cNvSpPr txBox="1"/>
          <p:nvPr/>
        </p:nvSpPr>
        <p:spPr>
          <a:xfrm>
            <a:off x="4586537" y="5682343"/>
            <a:ext cx="2723823" cy="430887"/>
          </a:xfrm>
          <a:prstGeom prst="rect">
            <a:avLst/>
          </a:prstGeom>
          <a:noFill/>
        </p:spPr>
        <p:txBody>
          <a:bodyPr wrap="none" rtlCol="0">
            <a:spAutoFit/>
          </a:bodyPr>
          <a:lstStyle/>
          <a:p>
            <a:r>
              <a:rPr lang="zh-CN" altLang="en-US" sz="2200" dirty="0">
                <a:latin typeface="微软雅黑" pitchFamily="34" charset="-122"/>
                <a:ea typeface="微软雅黑" pitchFamily="34" charset="-122"/>
              </a:rPr>
              <a:t>简化管理、优化流程</a:t>
            </a:r>
          </a:p>
        </p:txBody>
      </p:sp>
      <p:sp>
        <p:nvSpPr>
          <p:cNvPr id="31" name="文本框 30"/>
          <p:cNvSpPr txBox="1"/>
          <p:nvPr/>
        </p:nvSpPr>
        <p:spPr>
          <a:xfrm>
            <a:off x="8351340" y="5687181"/>
            <a:ext cx="1313180" cy="430887"/>
          </a:xfrm>
          <a:prstGeom prst="rect">
            <a:avLst/>
          </a:prstGeom>
          <a:noFill/>
        </p:spPr>
        <p:txBody>
          <a:bodyPr wrap="none" rtlCol="0">
            <a:spAutoFit/>
          </a:bodyPr>
          <a:lstStyle/>
          <a:p>
            <a:r>
              <a:rPr lang="zh-CN" altLang="en-US" sz="2200" dirty="0">
                <a:latin typeface="微软雅黑" pitchFamily="34" charset="-122"/>
                <a:ea typeface="微软雅黑" pitchFamily="34" charset="-122"/>
              </a:rPr>
              <a:t>工作简单</a:t>
            </a:r>
          </a:p>
        </p:txBody>
      </p:sp>
    </p:spTree>
    <p:extLst>
      <p:ext uri="{BB962C8B-B14F-4D97-AF65-F5344CB8AC3E}">
        <p14:creationId xmlns:p14="http://schemas.microsoft.com/office/powerpoint/2010/main" val="1147492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500" fill="hold"/>
                                        <p:tgtEl>
                                          <p:spTgt spid="30"/>
                                        </p:tgtEl>
                                        <p:attrNameLst>
                                          <p:attrName>ppt_x</p:attrName>
                                        </p:attrNameLst>
                                      </p:cBhvr>
                                      <p:tavLst>
                                        <p:tav tm="0">
                                          <p:val>
                                            <p:strVal val="#ppt_x"/>
                                          </p:val>
                                        </p:tav>
                                        <p:tav tm="100000">
                                          <p:val>
                                            <p:strVal val="#ppt_x"/>
                                          </p:val>
                                        </p:tav>
                                      </p:tavLst>
                                    </p:anim>
                                    <p:anim calcmode="lin" valueType="num">
                                      <p:cBhvr additive="base">
                                        <p:cTn id="1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ppt_x"/>
                                          </p:val>
                                        </p:tav>
                                        <p:tav tm="100000">
                                          <p:val>
                                            <p:strVal val="#ppt_x"/>
                                          </p:val>
                                        </p:tav>
                                      </p:tavLst>
                                    </p:anim>
                                    <p:anim calcmode="lin" valueType="num">
                                      <p:cBhvr additive="base">
                                        <p:cTn id="2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0" grpId="0"/>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itchFamily="34" charset="-122"/>
                <a:ea typeface="微软雅黑" pitchFamily="34" charset="-122"/>
              </a:rPr>
              <a:t>从需求调查到需求分析</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4562673" y="611264"/>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42" name="矩形 41"/>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1" name="内容占位符 2"/>
          <p:cNvSpPr txBox="1"/>
          <p:nvPr/>
        </p:nvSpPr>
        <p:spPr>
          <a:xfrm>
            <a:off x="393700" y="1423761"/>
            <a:ext cx="11375934" cy="4663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endParaRPr lang="en-US" altLang="zh-CN" sz="2400" dirty="0">
              <a:latin typeface="微软雅黑" pitchFamily="34" charset="-122"/>
              <a:ea typeface="微软雅黑" pitchFamily="34" charset="-122"/>
            </a:endParaRPr>
          </a:p>
        </p:txBody>
      </p:sp>
      <p:pic>
        <p:nvPicPr>
          <p:cNvPr id="16" name="图片 15"/>
          <p:cNvPicPr>
            <a:picLocks noChangeAspect="1"/>
          </p:cNvPicPr>
          <p:nvPr/>
        </p:nvPicPr>
        <p:blipFill>
          <a:blip r:embed="rId2"/>
          <a:stretch>
            <a:fillRect/>
          </a:stretch>
        </p:blipFill>
        <p:spPr>
          <a:xfrm>
            <a:off x="2300960" y="1517178"/>
            <a:ext cx="2409825" cy="1905000"/>
          </a:xfrm>
          <a:prstGeom prst="rect">
            <a:avLst/>
          </a:prstGeom>
        </p:spPr>
      </p:pic>
      <p:pic>
        <p:nvPicPr>
          <p:cNvPr id="17" name="图片 16"/>
          <p:cNvPicPr>
            <a:picLocks noChangeAspect="1"/>
          </p:cNvPicPr>
          <p:nvPr/>
        </p:nvPicPr>
        <p:blipFill>
          <a:blip r:embed="rId3"/>
          <a:stretch>
            <a:fillRect/>
          </a:stretch>
        </p:blipFill>
        <p:spPr>
          <a:xfrm>
            <a:off x="6638356" y="1510647"/>
            <a:ext cx="1066800" cy="1828800"/>
          </a:xfrm>
          <a:prstGeom prst="rect">
            <a:avLst/>
          </a:prstGeom>
        </p:spPr>
      </p:pic>
      <p:pic>
        <p:nvPicPr>
          <p:cNvPr id="18" name="图片 17"/>
          <p:cNvPicPr>
            <a:picLocks noChangeAspect="1"/>
          </p:cNvPicPr>
          <p:nvPr/>
        </p:nvPicPr>
        <p:blipFill>
          <a:blip r:embed="rId4"/>
          <a:stretch>
            <a:fillRect/>
          </a:stretch>
        </p:blipFill>
        <p:spPr>
          <a:xfrm>
            <a:off x="9632727" y="1510647"/>
            <a:ext cx="1028700" cy="2009775"/>
          </a:xfrm>
          <a:prstGeom prst="rect">
            <a:avLst/>
          </a:prstGeom>
        </p:spPr>
      </p:pic>
      <p:sp>
        <p:nvSpPr>
          <p:cNvPr id="19" name="文本框 18"/>
          <p:cNvSpPr txBox="1"/>
          <p:nvPr/>
        </p:nvSpPr>
        <p:spPr>
          <a:xfrm>
            <a:off x="3088110" y="3520422"/>
            <a:ext cx="800219"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老板</a:t>
            </a:r>
          </a:p>
        </p:txBody>
      </p:sp>
      <p:sp>
        <p:nvSpPr>
          <p:cNvPr id="27" name="文本框 26"/>
          <p:cNvSpPr txBox="1"/>
          <p:nvPr/>
        </p:nvSpPr>
        <p:spPr>
          <a:xfrm>
            <a:off x="6533271" y="3519607"/>
            <a:ext cx="1415772"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中层经理</a:t>
            </a:r>
          </a:p>
        </p:txBody>
      </p:sp>
      <p:sp>
        <p:nvSpPr>
          <p:cNvPr id="28" name="文本框 27"/>
          <p:cNvSpPr txBox="1"/>
          <p:nvPr/>
        </p:nvSpPr>
        <p:spPr>
          <a:xfrm>
            <a:off x="9542964" y="3582006"/>
            <a:ext cx="1415772"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一线员工</a:t>
            </a:r>
          </a:p>
        </p:txBody>
      </p:sp>
      <p:sp>
        <p:nvSpPr>
          <p:cNvPr id="20" name="文本框 19"/>
          <p:cNvSpPr txBox="1"/>
          <p:nvPr/>
        </p:nvSpPr>
        <p:spPr>
          <a:xfrm>
            <a:off x="2174381" y="4082937"/>
            <a:ext cx="2723823" cy="430887"/>
          </a:xfrm>
          <a:prstGeom prst="rect">
            <a:avLst/>
          </a:prstGeom>
          <a:noFill/>
        </p:spPr>
        <p:txBody>
          <a:bodyPr wrap="none" rtlCol="0">
            <a:spAutoFit/>
          </a:bodyPr>
          <a:lstStyle/>
          <a:p>
            <a:r>
              <a:rPr lang="zh-CN" altLang="en-US" sz="2200" dirty="0">
                <a:latin typeface="微软雅黑" pitchFamily="34" charset="-122"/>
                <a:ea typeface="微软雅黑" pitchFamily="34" charset="-122"/>
              </a:rPr>
              <a:t>企业战略、开源节流</a:t>
            </a:r>
          </a:p>
        </p:txBody>
      </p:sp>
      <p:sp>
        <p:nvSpPr>
          <p:cNvPr id="30" name="文本框 29"/>
          <p:cNvSpPr txBox="1"/>
          <p:nvPr/>
        </p:nvSpPr>
        <p:spPr>
          <a:xfrm>
            <a:off x="5914549" y="4082937"/>
            <a:ext cx="2723823" cy="430887"/>
          </a:xfrm>
          <a:prstGeom prst="rect">
            <a:avLst/>
          </a:prstGeom>
          <a:noFill/>
        </p:spPr>
        <p:txBody>
          <a:bodyPr wrap="none" rtlCol="0">
            <a:spAutoFit/>
          </a:bodyPr>
          <a:lstStyle/>
          <a:p>
            <a:r>
              <a:rPr lang="zh-CN" altLang="en-US" sz="2200" dirty="0">
                <a:latin typeface="微软雅黑" pitchFamily="34" charset="-122"/>
                <a:ea typeface="微软雅黑" pitchFamily="34" charset="-122"/>
              </a:rPr>
              <a:t>简化管理、优化流程</a:t>
            </a:r>
          </a:p>
        </p:txBody>
      </p:sp>
      <p:sp>
        <p:nvSpPr>
          <p:cNvPr id="31" name="文本框 30"/>
          <p:cNvSpPr txBox="1"/>
          <p:nvPr/>
        </p:nvSpPr>
        <p:spPr>
          <a:xfrm>
            <a:off x="9575887" y="4082937"/>
            <a:ext cx="1313180" cy="430887"/>
          </a:xfrm>
          <a:prstGeom prst="rect">
            <a:avLst/>
          </a:prstGeom>
          <a:noFill/>
        </p:spPr>
        <p:txBody>
          <a:bodyPr wrap="none" rtlCol="0">
            <a:spAutoFit/>
          </a:bodyPr>
          <a:lstStyle/>
          <a:p>
            <a:r>
              <a:rPr lang="zh-CN" altLang="en-US" sz="2200" dirty="0">
                <a:latin typeface="微软雅黑" pitchFamily="34" charset="-122"/>
                <a:ea typeface="微软雅黑" pitchFamily="34" charset="-122"/>
              </a:rPr>
              <a:t>工作简单</a:t>
            </a:r>
          </a:p>
        </p:txBody>
      </p:sp>
      <p:sp>
        <p:nvSpPr>
          <p:cNvPr id="23" name="文本框 22"/>
          <p:cNvSpPr txBox="1"/>
          <p:nvPr/>
        </p:nvSpPr>
        <p:spPr>
          <a:xfrm>
            <a:off x="2807649" y="5437815"/>
            <a:ext cx="1415772" cy="461665"/>
          </a:xfrm>
          <a:prstGeom prst="rect">
            <a:avLst/>
          </a:prstGeom>
          <a:noFill/>
        </p:spPr>
        <p:txBody>
          <a:bodyPr wrap="none" rtlCol="0">
            <a:spAutoFit/>
          </a:bodyPr>
          <a:lstStyle/>
          <a:p>
            <a:r>
              <a:rPr lang="zh-CN" altLang="en-US" sz="2400" dirty="0">
                <a:solidFill>
                  <a:srgbClr val="FF0000"/>
                </a:solidFill>
                <a:latin typeface="微软雅黑" pitchFamily="34" charset="-122"/>
                <a:ea typeface="微软雅黑" pitchFamily="34" charset="-122"/>
              </a:rPr>
              <a:t>定义愿景</a:t>
            </a:r>
          </a:p>
        </p:txBody>
      </p:sp>
      <p:sp>
        <p:nvSpPr>
          <p:cNvPr id="24" name="文本框 23"/>
          <p:cNvSpPr txBox="1"/>
          <p:nvPr/>
        </p:nvSpPr>
        <p:spPr>
          <a:xfrm>
            <a:off x="6463869" y="5437815"/>
            <a:ext cx="1415772" cy="461665"/>
          </a:xfrm>
          <a:prstGeom prst="rect">
            <a:avLst/>
          </a:prstGeom>
          <a:noFill/>
        </p:spPr>
        <p:txBody>
          <a:bodyPr wrap="none" rtlCol="0">
            <a:spAutoFit/>
          </a:bodyPr>
          <a:lstStyle/>
          <a:p>
            <a:r>
              <a:rPr lang="zh-CN" altLang="en-US" sz="2400" dirty="0">
                <a:solidFill>
                  <a:srgbClr val="FF0000"/>
                </a:solidFill>
                <a:latin typeface="微软雅黑" pitchFamily="34" charset="-122"/>
                <a:ea typeface="微软雅黑" pitchFamily="34" charset="-122"/>
              </a:rPr>
              <a:t>业务建模</a:t>
            </a:r>
          </a:p>
        </p:txBody>
      </p:sp>
      <p:sp>
        <p:nvSpPr>
          <p:cNvPr id="25" name="文本框 24"/>
          <p:cNvSpPr txBox="1"/>
          <p:nvPr/>
        </p:nvSpPr>
        <p:spPr>
          <a:xfrm>
            <a:off x="9527734" y="5422045"/>
            <a:ext cx="1415772" cy="461665"/>
          </a:xfrm>
          <a:prstGeom prst="rect">
            <a:avLst/>
          </a:prstGeom>
          <a:noFill/>
        </p:spPr>
        <p:txBody>
          <a:bodyPr wrap="none" rtlCol="0">
            <a:spAutoFit/>
          </a:bodyPr>
          <a:lstStyle/>
          <a:p>
            <a:r>
              <a:rPr lang="zh-CN" altLang="en-US" sz="2400" dirty="0">
                <a:solidFill>
                  <a:srgbClr val="FF0000"/>
                </a:solidFill>
                <a:latin typeface="微软雅黑" pitchFamily="34" charset="-122"/>
                <a:ea typeface="微软雅黑" pitchFamily="34" charset="-122"/>
              </a:rPr>
              <a:t>用例分析</a:t>
            </a:r>
          </a:p>
        </p:txBody>
      </p:sp>
      <p:sp>
        <p:nvSpPr>
          <p:cNvPr id="12" name="文本框 11"/>
          <p:cNvSpPr txBox="1"/>
          <p:nvPr/>
        </p:nvSpPr>
        <p:spPr>
          <a:xfrm>
            <a:off x="496807" y="3097319"/>
            <a:ext cx="553998" cy="1323439"/>
          </a:xfrm>
          <a:prstGeom prst="rect">
            <a:avLst/>
          </a:prstGeom>
          <a:noFill/>
        </p:spPr>
        <p:txBody>
          <a:bodyPr vert="eaVert" wrap="none" rtlCol="0">
            <a:spAutoFit/>
          </a:bodyPr>
          <a:lstStyle/>
          <a:p>
            <a:r>
              <a:rPr lang="zh-CN" altLang="en-US" sz="2400" dirty="0">
                <a:latin typeface="微软雅黑" pitchFamily="34" charset="-122"/>
                <a:ea typeface="微软雅黑" pitchFamily="34" charset="-122"/>
              </a:rPr>
              <a:t>需求调查</a:t>
            </a:r>
          </a:p>
        </p:txBody>
      </p:sp>
      <p:sp>
        <p:nvSpPr>
          <p:cNvPr id="29" name="文本框 28"/>
          <p:cNvSpPr txBox="1"/>
          <p:nvPr/>
        </p:nvSpPr>
        <p:spPr>
          <a:xfrm>
            <a:off x="496807" y="5066473"/>
            <a:ext cx="553998" cy="1323439"/>
          </a:xfrm>
          <a:prstGeom prst="rect">
            <a:avLst/>
          </a:prstGeom>
          <a:noFill/>
        </p:spPr>
        <p:txBody>
          <a:bodyPr vert="eaVert" wrap="none" rtlCol="0">
            <a:spAutoFit/>
          </a:bodyPr>
          <a:lstStyle/>
          <a:p>
            <a:r>
              <a:rPr lang="zh-CN" altLang="en-US" sz="2400" dirty="0">
                <a:latin typeface="微软雅黑" pitchFamily="34" charset="-122"/>
                <a:ea typeface="微软雅黑" pitchFamily="34" charset="-122"/>
              </a:rPr>
              <a:t>需求分析</a:t>
            </a:r>
          </a:p>
        </p:txBody>
      </p:sp>
      <p:sp>
        <p:nvSpPr>
          <p:cNvPr id="13" name="虚尾箭头 12"/>
          <p:cNvSpPr/>
          <p:nvPr/>
        </p:nvSpPr>
        <p:spPr>
          <a:xfrm rot="5400000">
            <a:off x="431072" y="4524702"/>
            <a:ext cx="587829" cy="378823"/>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32" name="虚尾箭头 31"/>
          <p:cNvSpPr/>
          <p:nvPr/>
        </p:nvSpPr>
        <p:spPr>
          <a:xfrm rot="5400000">
            <a:off x="3221621" y="4714432"/>
            <a:ext cx="587829" cy="378823"/>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33" name="虚尾箭头 32"/>
          <p:cNvSpPr/>
          <p:nvPr/>
        </p:nvSpPr>
        <p:spPr>
          <a:xfrm rot="5400000">
            <a:off x="6877841" y="4740807"/>
            <a:ext cx="587829" cy="378823"/>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34" name="虚尾箭头 33"/>
          <p:cNvSpPr/>
          <p:nvPr/>
        </p:nvSpPr>
        <p:spPr>
          <a:xfrm rot="5400000">
            <a:off x="9941706" y="4714431"/>
            <a:ext cx="587829" cy="378823"/>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Tree>
    <p:extLst>
      <p:ext uri="{BB962C8B-B14F-4D97-AF65-F5344CB8AC3E}">
        <p14:creationId xmlns:p14="http://schemas.microsoft.com/office/powerpoint/2010/main" val="856126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32" grpId="0" animBg="1"/>
      <p:bldP spid="33" grpId="0" animBg="1"/>
      <p:bldP spid="3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grpSp>
      <p:sp>
        <p:nvSpPr>
          <p:cNvPr id="64" name="矩形 63"/>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72451" y="2174845"/>
            <a:ext cx="249299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站在客户的角度思考</a:t>
            </a:r>
          </a:p>
        </p:txBody>
      </p:sp>
      <p:sp>
        <p:nvSpPr>
          <p:cNvPr id="62" name="文本框 61"/>
          <p:cNvSpPr txBox="1"/>
          <p:nvPr/>
        </p:nvSpPr>
        <p:spPr>
          <a:xfrm>
            <a:off x="4372451" y="3115991"/>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需求工程概述</a:t>
            </a:r>
          </a:p>
        </p:txBody>
      </p:sp>
      <p:sp>
        <p:nvSpPr>
          <p:cNvPr id="70" name="文本框 69"/>
          <p:cNvSpPr txBox="1"/>
          <p:nvPr/>
        </p:nvSpPr>
        <p:spPr>
          <a:xfrm>
            <a:off x="4372451" y="4994215"/>
            <a:ext cx="2749471"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好项目是从愿景开始的</a:t>
            </a:r>
          </a:p>
        </p:txBody>
      </p:sp>
      <p:sp>
        <p:nvSpPr>
          <p:cNvPr id="56" name="文本框 55"/>
          <p:cNvSpPr txBox="1"/>
          <p:nvPr/>
        </p:nvSpPr>
        <p:spPr>
          <a:xfrm>
            <a:off x="4372451" y="4060048"/>
            <a:ext cx="3443380" cy="400110"/>
          </a:xfrm>
          <a:prstGeom prst="rect">
            <a:avLst/>
          </a:prstGeom>
          <a:noFill/>
        </p:spPr>
        <p:txBody>
          <a:bodyPr wrap="non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ICONIX</a:t>
            </a:r>
            <a:r>
              <a:rPr lang="zh-CN" altLang="en-US" sz="2000" b="1" dirty="0">
                <a:solidFill>
                  <a:schemeClr val="bg1"/>
                </a:solidFill>
                <a:latin typeface="微软雅黑" panose="020B0503020204020204" pitchFamily="34" charset="-122"/>
                <a:ea typeface="微软雅黑" panose="020B0503020204020204" pitchFamily="34" charset="-122"/>
              </a:rPr>
              <a:t>软件过程的需求阶段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3343608" cy="584775"/>
          </a:xfrm>
          <a:prstGeom prst="rect">
            <a:avLst/>
          </a:prstGeom>
          <a:noFill/>
        </p:spPr>
        <p:txBody>
          <a:bodyPr wrap="none" rtlCol="0">
            <a:spAutoFit/>
          </a:bodyPr>
          <a:lstStyle/>
          <a:p>
            <a:r>
              <a:rPr lang="en-US" altLang="zh-CN" sz="3200" b="1" dirty="0">
                <a:solidFill>
                  <a:srgbClr val="141316"/>
                </a:solidFill>
                <a:latin typeface="微软雅黑" panose="020B0503020204020204" pitchFamily="34" charset="-122"/>
                <a:ea typeface="微软雅黑" panose="020B0503020204020204" pitchFamily="34" charset="-122"/>
              </a:rPr>
              <a:t>ICONIX</a:t>
            </a:r>
            <a:r>
              <a:rPr lang="zh-CN" altLang="en-US" sz="3200" b="1" dirty="0">
                <a:solidFill>
                  <a:srgbClr val="141316"/>
                </a:solidFill>
                <a:latin typeface="微软雅黑" panose="020B0503020204020204" pitchFamily="34" charset="-122"/>
                <a:ea typeface="微软雅黑" panose="020B0503020204020204" pitchFamily="34" charset="-122"/>
              </a:rPr>
              <a:t>过程总览</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内容占位符 14" descr="map.jpg"/>
          <p:cNvPicPr>
            <a:picLocks noChangeAspect="1"/>
          </p:cNvPicPr>
          <p:nvPr/>
        </p:nvPicPr>
        <p:blipFill>
          <a:blip r:embed="rId3" cstate="print"/>
          <a:stretch>
            <a:fillRect/>
          </a:stretch>
        </p:blipFill>
        <p:spPr>
          <a:xfrm>
            <a:off x="493347" y="1476103"/>
            <a:ext cx="11412228" cy="4057681"/>
          </a:xfrm>
          <a:prstGeom prst="rect">
            <a:avLst/>
          </a:prstGeom>
        </p:spPr>
      </p:pic>
      <p:cxnSp>
        <p:nvCxnSpPr>
          <p:cNvPr id="18" name="直接连接符 17"/>
          <p:cNvCxnSpPr/>
          <p:nvPr/>
        </p:nvCxnSpPr>
        <p:spPr>
          <a:xfrm>
            <a:off x="5865518" y="1279753"/>
            <a:ext cx="12768" cy="4559344"/>
          </a:xfrm>
          <a:prstGeom prst="line">
            <a:avLst/>
          </a:prstGeom>
          <a:ln w="38100">
            <a:prstDash val="dash"/>
          </a:ln>
        </p:spPr>
        <p:style>
          <a:lnRef idx="3">
            <a:schemeClr val="accent1"/>
          </a:lnRef>
          <a:fillRef idx="0">
            <a:schemeClr val="accent1"/>
          </a:fillRef>
          <a:effectRef idx="2">
            <a:schemeClr val="accent1"/>
          </a:effectRef>
          <a:fontRef idx="minor">
            <a:schemeClr val="tx1"/>
          </a:fontRef>
        </p:style>
      </p:cxnSp>
      <p:sp>
        <p:nvSpPr>
          <p:cNvPr id="19" name="AutoShape 9"/>
          <p:cNvSpPr>
            <a:spLocks noChangeArrowheads="1"/>
          </p:cNvSpPr>
          <p:nvPr/>
        </p:nvSpPr>
        <p:spPr bwMode="gray">
          <a:xfrm>
            <a:off x="2840332" y="5657690"/>
            <a:ext cx="1870364" cy="527763"/>
          </a:xfrm>
          <a:prstGeom prst="roundRect">
            <a:avLst>
              <a:gd name="adj" fmla="val 50000"/>
            </a:avLst>
          </a:prstGeom>
          <a:gradFill rotWithShape="1">
            <a:gsLst>
              <a:gs pos="0">
                <a:schemeClr val="accent2"/>
              </a:gs>
              <a:gs pos="100000">
                <a:schemeClr val="accent2">
                  <a:gamma/>
                  <a:tint val="69804"/>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a:r>
              <a:rPr lang="zh-CN" altLang="en-US" sz="2000" b="1" dirty="0">
                <a:solidFill>
                  <a:srgbClr val="FFFFFF"/>
                </a:solidFill>
                <a:ea typeface="宋体" panose="02010600030101010101" pitchFamily="2" charset="-122"/>
              </a:rPr>
              <a:t>需求开发</a:t>
            </a:r>
            <a:endParaRPr lang="en-US" altLang="zh-CN" sz="2000" b="1" dirty="0">
              <a:solidFill>
                <a:srgbClr val="FFFFFF"/>
              </a:solidFill>
              <a:ea typeface="宋体" panose="02010600030101010101" pitchFamily="2" charset="-122"/>
            </a:endParaRPr>
          </a:p>
        </p:txBody>
      </p:sp>
      <p:sp>
        <p:nvSpPr>
          <p:cNvPr id="20" name="AutoShape 9"/>
          <p:cNvSpPr>
            <a:spLocks noChangeArrowheads="1"/>
          </p:cNvSpPr>
          <p:nvPr/>
        </p:nvSpPr>
        <p:spPr bwMode="gray">
          <a:xfrm>
            <a:off x="8480035" y="5657690"/>
            <a:ext cx="1962765" cy="527763"/>
          </a:xfrm>
          <a:prstGeom prst="roundRect">
            <a:avLst>
              <a:gd name="adj" fmla="val 50000"/>
            </a:avLst>
          </a:prstGeom>
          <a:gradFill rotWithShape="1">
            <a:gsLst>
              <a:gs pos="0">
                <a:schemeClr val="accent2"/>
              </a:gs>
              <a:gs pos="100000">
                <a:schemeClr val="accent2">
                  <a:gamma/>
                  <a:tint val="69804"/>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a:r>
              <a:rPr lang="zh-CN" altLang="en-US" sz="2000" b="1" dirty="0">
                <a:solidFill>
                  <a:srgbClr val="FFFFFF"/>
                </a:solidFill>
                <a:ea typeface="宋体" panose="02010600030101010101" pitchFamily="2" charset="-122"/>
              </a:rPr>
              <a:t>设计实现</a:t>
            </a:r>
            <a:endParaRPr lang="en-US" altLang="zh-CN" sz="2000" b="1" dirty="0">
              <a:solidFill>
                <a:srgbClr val="FFFFFF"/>
              </a:solidFill>
              <a:ea typeface="宋体" panose="02010600030101010101" pitchFamily="2" charset="-122"/>
            </a:endParaRPr>
          </a:p>
        </p:txBody>
      </p:sp>
      <p:grpSp>
        <p:nvGrpSpPr>
          <p:cNvPr id="21" name="组合 20"/>
          <p:cNvGrpSpPr/>
          <p:nvPr/>
        </p:nvGrpSpPr>
        <p:grpSpPr>
          <a:xfrm>
            <a:off x="3617928" y="603952"/>
            <a:ext cx="491490" cy="318085"/>
            <a:chOff x="3017520" y="601990"/>
            <a:chExt cx="491490" cy="414010"/>
          </a:xfrm>
        </p:grpSpPr>
        <p:sp>
          <p:nvSpPr>
            <p:cNvPr id="22" name="燕尾形 2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燕尾形 2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燕尾形 2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0"/>
                                        <p:tgtEl>
                                          <p:spTgt spid="18"/>
                                        </p:tgtEl>
                                      </p:cBhvr>
                                    </p:animEffect>
                                  </p:childTnLst>
                                </p:cTn>
                              </p:par>
                              <p:par>
                                <p:cTn id="8" presetID="2" presetClass="entr" presetSubtype="4"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 calcmode="lin" valueType="num">
                                      <p:cBhvr additive="base">
                                        <p:cTn id="10" dur="500" fill="hold"/>
                                        <p:tgtEl>
                                          <p:spTgt spid="19"/>
                                        </p:tgtEl>
                                        <p:attrNameLst>
                                          <p:attrName>ppt_x</p:attrName>
                                        </p:attrNameLst>
                                      </p:cBhvr>
                                      <p:tavLst>
                                        <p:tav tm="0">
                                          <p:val>
                                            <p:strVal val="#ppt_x"/>
                                          </p:val>
                                        </p:tav>
                                        <p:tav tm="100000">
                                          <p:val>
                                            <p:strVal val="#ppt_x"/>
                                          </p:val>
                                        </p:tav>
                                      </p:tavLst>
                                    </p:anim>
                                    <p:anim calcmode="lin" valueType="num">
                                      <p:cBhvr additive="base">
                                        <p:cTn id="11" dur="500" fill="hold"/>
                                        <p:tgtEl>
                                          <p:spTgt spid="19"/>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500" fill="hold"/>
                                        <p:tgtEl>
                                          <p:spTgt spid="20"/>
                                        </p:tgtEl>
                                        <p:attrNameLst>
                                          <p:attrName>ppt_x</p:attrName>
                                        </p:attrNameLst>
                                      </p:cBhvr>
                                      <p:tavLst>
                                        <p:tav tm="0">
                                          <p:val>
                                            <p:strVal val="#ppt_x"/>
                                          </p:val>
                                        </p:tav>
                                        <p:tav tm="100000">
                                          <p:val>
                                            <p:strVal val="#ppt_x"/>
                                          </p:val>
                                        </p:tav>
                                      </p:tavLst>
                                    </p:anim>
                                    <p:anim calcmode="lin" valueType="num">
                                      <p:cBhvr additive="base">
                                        <p:cTn id="15"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3343608" cy="584775"/>
          </a:xfrm>
          <a:prstGeom prst="rect">
            <a:avLst/>
          </a:prstGeom>
          <a:noFill/>
        </p:spPr>
        <p:txBody>
          <a:bodyPr wrap="none" rtlCol="0">
            <a:spAutoFit/>
          </a:bodyPr>
          <a:lstStyle/>
          <a:p>
            <a:r>
              <a:rPr lang="en-US" altLang="zh-CN" sz="3200" b="1" dirty="0">
                <a:solidFill>
                  <a:srgbClr val="141316"/>
                </a:solidFill>
                <a:latin typeface="微软雅黑" panose="020B0503020204020204" pitchFamily="34" charset="-122"/>
                <a:ea typeface="微软雅黑" panose="020B0503020204020204" pitchFamily="34" charset="-122"/>
              </a:rPr>
              <a:t>ICONIX</a:t>
            </a:r>
            <a:r>
              <a:rPr lang="zh-CN" altLang="en-US" sz="3200" b="1" dirty="0">
                <a:solidFill>
                  <a:srgbClr val="141316"/>
                </a:solidFill>
                <a:latin typeface="微软雅黑" panose="020B0503020204020204" pitchFamily="34" charset="-122"/>
                <a:ea typeface="微软雅黑" panose="020B0503020204020204" pitchFamily="34" charset="-122"/>
              </a:rPr>
              <a:t>过程特点</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a:off x="3617928" y="603952"/>
            <a:ext cx="491490" cy="318085"/>
            <a:chOff x="3017520" y="601990"/>
            <a:chExt cx="491490" cy="414010"/>
          </a:xfrm>
        </p:grpSpPr>
        <p:sp>
          <p:nvSpPr>
            <p:cNvPr id="22" name="燕尾形 2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燕尾形 2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燕尾形 2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7" name="内容占位符 2"/>
          <p:cNvSpPr txBox="1"/>
          <p:nvPr/>
        </p:nvSpPr>
        <p:spPr>
          <a:xfrm>
            <a:off x="393700" y="1180283"/>
            <a:ext cx="11375934" cy="50294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zh-CN" altLang="en-US" sz="2400" dirty="0">
                <a:latin typeface="微软雅黑" panose="020B0503020204020204" pitchFamily="34" charset="-122"/>
                <a:ea typeface="微软雅黑" panose="020B0503020204020204" pitchFamily="34" charset="-122"/>
              </a:rPr>
              <a:t>尽早进入编码阶段，缩短分析设计周期的软件开发方法。</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pPr>
            <a:r>
              <a:rPr lang="zh-CN" altLang="en-US" sz="2400" dirty="0">
                <a:latin typeface="微软雅黑" panose="020B0503020204020204" pitchFamily="34" charset="-122"/>
                <a:ea typeface="微软雅黑" panose="020B0503020204020204" pitchFamily="34" charset="-122"/>
              </a:rPr>
              <a:t>合理的简化统一过程</a:t>
            </a:r>
            <a:r>
              <a:rPr lang="en-US" altLang="zh-CN" sz="2400" dirty="0">
                <a:latin typeface="微软雅黑" panose="020B0503020204020204" pitchFamily="34" charset="-122"/>
                <a:ea typeface="微软雅黑" panose="020B0503020204020204" pitchFamily="34" charset="-122"/>
              </a:rPr>
              <a:t>(RUP)</a:t>
            </a:r>
            <a:r>
              <a:rPr lang="zh-CN" altLang="en-US" sz="2400" dirty="0">
                <a:latin typeface="微软雅黑" panose="020B0503020204020204" pitchFamily="34" charset="-122"/>
                <a:ea typeface="微软雅黑" panose="020B0503020204020204" pitchFamily="34" charset="-122"/>
              </a:rPr>
              <a:t>， 基于敏捷软件开发的思想。</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与 </a:t>
            </a:r>
            <a:r>
              <a:rPr lang="en-US" altLang="zh-CN" sz="2400" dirty="0">
                <a:latin typeface="微软雅黑" panose="020B0503020204020204" pitchFamily="34" charset="-122"/>
                <a:ea typeface="微软雅黑" panose="020B0503020204020204" pitchFamily="34" charset="-122"/>
              </a:rPr>
              <a:t>RUP</a:t>
            </a:r>
            <a:r>
              <a:rPr lang="zh-CN" altLang="en-US" sz="2400" dirty="0">
                <a:latin typeface="微软雅黑" panose="020B0503020204020204" pitchFamily="34" charset="-122"/>
                <a:ea typeface="微软雅黑" panose="020B0503020204020204" pitchFamily="34" charset="-122"/>
              </a:rPr>
              <a:t>相比，是轻量级的过程。与敏捷相比，</a:t>
            </a:r>
            <a:r>
              <a:rPr lang="en-US" altLang="zh-CN" sz="2400" dirty="0">
                <a:latin typeface="微软雅黑" panose="020B0503020204020204" pitchFamily="34" charset="-122"/>
                <a:ea typeface="微软雅黑" panose="020B0503020204020204" pitchFamily="34" charset="-122"/>
              </a:rPr>
              <a:t>ICONIX</a:t>
            </a:r>
            <a:r>
              <a:rPr lang="zh-CN" altLang="en-US" sz="2400" dirty="0">
                <a:latin typeface="微软雅黑" panose="020B0503020204020204" pitchFamily="34" charset="-122"/>
                <a:ea typeface="微软雅黑" panose="020B0503020204020204" pitchFamily="34" charset="-122"/>
              </a:rPr>
              <a:t>提供充足的需求和设计文档，但不过度分析设计。</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ICONIX</a:t>
            </a:r>
            <a:r>
              <a:rPr lang="zh-CN" altLang="en-US" sz="2400" dirty="0">
                <a:latin typeface="微软雅黑" panose="020B0503020204020204" pitchFamily="34" charset="-122"/>
                <a:ea typeface="微软雅黑" panose="020B0503020204020204" pitchFamily="34" charset="-122"/>
              </a:rPr>
              <a:t>过程从把需求文档变成可运作的代码过程只需四步，使用四张</a:t>
            </a:r>
            <a:r>
              <a:rPr lang="en-US" altLang="zh-CN" sz="2400" dirty="0">
                <a:latin typeface="微软雅黑" panose="020B0503020204020204" pitchFamily="34" charset="-122"/>
                <a:ea typeface="微软雅黑" panose="020B0503020204020204" pitchFamily="34" charset="-122"/>
              </a:rPr>
              <a:t>UML</a:t>
            </a:r>
            <a:r>
              <a:rPr lang="zh-CN" altLang="en-US" sz="2400" dirty="0">
                <a:latin typeface="微软雅黑" panose="020B0503020204020204" pitchFamily="34" charset="-122"/>
                <a:ea typeface="微软雅黑" panose="020B0503020204020204" pitchFamily="34" charset="-122"/>
              </a:rPr>
              <a:t>图</a:t>
            </a:r>
            <a:endParaRPr lang="en-US" altLang="zh-CN" sz="2400" dirty="0">
              <a:latin typeface="微软雅黑" panose="020B0503020204020204" pitchFamily="34" charset="-122"/>
              <a:ea typeface="微软雅黑" panose="020B0503020204020204" pitchFamily="34" charset="-122"/>
            </a:endParaRPr>
          </a:p>
          <a:p>
            <a:pPr lvl="1">
              <a:lnSpc>
                <a:spcPct val="150000"/>
              </a:lnSpc>
              <a:buFont typeface="Wingdings" pitchFamily="2" charset="2"/>
              <a:buChar char="Ø"/>
            </a:pPr>
            <a:r>
              <a:rPr lang="zh-CN" altLang="en-US" sz="1800" dirty="0">
                <a:latin typeface="微软雅黑" panose="020B0503020204020204" pitchFamily="34" charset="-122"/>
                <a:ea typeface="微软雅黑" panose="020B0503020204020204" pitchFamily="34" charset="-122"/>
              </a:rPr>
              <a:t>用例图</a:t>
            </a:r>
            <a:endParaRPr lang="en-US" altLang="zh-CN" sz="1800" dirty="0">
              <a:latin typeface="微软雅黑" panose="020B0503020204020204" pitchFamily="34" charset="-122"/>
              <a:ea typeface="微软雅黑" panose="020B0503020204020204" pitchFamily="34" charset="-122"/>
            </a:endParaRPr>
          </a:p>
          <a:p>
            <a:pPr lvl="1">
              <a:lnSpc>
                <a:spcPct val="150000"/>
              </a:lnSpc>
              <a:buFont typeface="Wingdings" pitchFamily="2" charset="2"/>
              <a:buChar char="Ø"/>
            </a:pPr>
            <a:r>
              <a:rPr lang="zh-CN" altLang="en-US" sz="1800" dirty="0">
                <a:latin typeface="微软雅黑" panose="020B0503020204020204" pitchFamily="34" charset="-122"/>
                <a:ea typeface="微软雅黑" panose="020B0503020204020204" pitchFamily="34" charset="-122"/>
              </a:rPr>
              <a:t>序列图</a:t>
            </a:r>
            <a:endParaRPr lang="en-US" altLang="zh-CN" sz="1800" dirty="0">
              <a:latin typeface="微软雅黑" panose="020B0503020204020204" pitchFamily="34" charset="-122"/>
              <a:ea typeface="微软雅黑" panose="020B0503020204020204" pitchFamily="34" charset="-122"/>
            </a:endParaRPr>
          </a:p>
          <a:p>
            <a:pPr lvl="1">
              <a:lnSpc>
                <a:spcPct val="150000"/>
              </a:lnSpc>
              <a:buFont typeface="Wingdings" pitchFamily="2" charset="2"/>
              <a:buChar char="Ø"/>
            </a:pPr>
            <a:r>
              <a:rPr lang="zh-CN" altLang="en-US" sz="1800" dirty="0">
                <a:latin typeface="微软雅黑" panose="020B0503020204020204" pitchFamily="34" charset="-122"/>
                <a:ea typeface="微软雅黑" panose="020B0503020204020204" pitchFamily="34" charset="-122"/>
              </a:rPr>
              <a:t>类图</a:t>
            </a:r>
            <a:endParaRPr lang="en-US" altLang="zh-CN" sz="1800" dirty="0">
              <a:latin typeface="微软雅黑" panose="020B0503020204020204" pitchFamily="34" charset="-122"/>
              <a:ea typeface="微软雅黑" panose="020B0503020204020204" pitchFamily="34" charset="-122"/>
            </a:endParaRPr>
          </a:p>
          <a:p>
            <a:pPr lvl="1">
              <a:lnSpc>
                <a:spcPct val="150000"/>
              </a:lnSpc>
              <a:buFont typeface="Wingdings" pitchFamily="2" charset="2"/>
              <a:buChar char="Ø"/>
            </a:pPr>
            <a:r>
              <a:rPr lang="zh-CN" altLang="en-US" sz="1800" dirty="0">
                <a:latin typeface="微软雅黑" panose="020B0503020204020204" pitchFamily="34" charset="-122"/>
                <a:ea typeface="微软雅黑" panose="020B0503020204020204" pitchFamily="34" charset="-122"/>
              </a:rPr>
              <a:t>健壮性图（非</a:t>
            </a:r>
            <a:r>
              <a:rPr lang="en-US" altLang="zh-CN" sz="1800" dirty="0">
                <a:latin typeface="微软雅黑" panose="020B0503020204020204" pitchFamily="34" charset="-122"/>
                <a:ea typeface="微软雅黑" panose="020B0503020204020204" pitchFamily="34" charset="-122"/>
              </a:rPr>
              <a:t>UML</a:t>
            </a:r>
            <a:r>
              <a:rPr lang="zh-CN" altLang="en-US" sz="1800" dirty="0">
                <a:latin typeface="微软雅黑" panose="020B0503020204020204" pitchFamily="34" charset="-122"/>
                <a:ea typeface="微软雅黑" panose="020B0503020204020204" pitchFamily="34" charset="-122"/>
              </a:rPr>
              <a:t>标准）</a:t>
            </a:r>
            <a:endParaRPr lang="en-US" altLang="zh-CN" sz="18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3" end="3"/>
                                            </p:txEl>
                                          </p:spTgt>
                                        </p:tgtEl>
                                        <p:attrNameLst>
                                          <p:attrName>style.visibility</p:attrName>
                                        </p:attrNameLst>
                                      </p:cBhvr>
                                      <p:to>
                                        <p:strVal val="visible"/>
                                      </p:to>
                                    </p:set>
                                    <p:animEffect transition="in" filter="fade">
                                      <p:cBhvr>
                                        <p:cTn id="7" dur="500"/>
                                        <p:tgtEl>
                                          <p:spTgt spid="17">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
                                            <p:txEl>
                                              <p:pRg st="4" end="4"/>
                                            </p:txEl>
                                          </p:spTgt>
                                        </p:tgtEl>
                                        <p:attrNameLst>
                                          <p:attrName>style.visibility</p:attrName>
                                        </p:attrNameLst>
                                      </p:cBhvr>
                                      <p:to>
                                        <p:strVal val="visible"/>
                                      </p:to>
                                    </p:set>
                                    <p:animEffect transition="in" filter="fade">
                                      <p:cBhvr>
                                        <p:cTn id="10" dur="500"/>
                                        <p:tgtEl>
                                          <p:spTgt spid="17">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xEl>
                                              <p:pRg st="5" end="5"/>
                                            </p:txEl>
                                          </p:spTgt>
                                        </p:tgtEl>
                                        <p:attrNameLst>
                                          <p:attrName>style.visibility</p:attrName>
                                        </p:attrNameLst>
                                      </p:cBhvr>
                                      <p:to>
                                        <p:strVal val="visible"/>
                                      </p:to>
                                    </p:set>
                                    <p:animEffect transition="in" filter="fade">
                                      <p:cBhvr>
                                        <p:cTn id="13" dur="500"/>
                                        <p:tgtEl>
                                          <p:spTgt spid="17">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xEl>
                                              <p:pRg st="6" end="6"/>
                                            </p:txEl>
                                          </p:spTgt>
                                        </p:tgtEl>
                                        <p:attrNameLst>
                                          <p:attrName>style.visibility</p:attrName>
                                        </p:attrNameLst>
                                      </p:cBhvr>
                                      <p:to>
                                        <p:strVal val="visible"/>
                                      </p:to>
                                    </p:set>
                                    <p:animEffect transition="in" filter="fade">
                                      <p:cBhvr>
                                        <p:cTn id="16" dur="500"/>
                                        <p:tgtEl>
                                          <p:spTgt spid="17">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xEl>
                                              <p:pRg st="7" end="7"/>
                                            </p:txEl>
                                          </p:spTgt>
                                        </p:tgtEl>
                                        <p:attrNameLst>
                                          <p:attrName>style.visibility</p:attrName>
                                        </p:attrNameLst>
                                      </p:cBhvr>
                                      <p:to>
                                        <p:strVal val="visible"/>
                                      </p:to>
                                    </p:set>
                                    <p:animEffect transition="in" filter="fade">
                                      <p:cBhvr>
                                        <p:cTn id="19" dur="500"/>
                                        <p:tgtEl>
                                          <p:spTgt spid="1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grpSp>
      <p:sp>
        <p:nvSpPr>
          <p:cNvPr id="64" name="矩形 63"/>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72451" y="2174845"/>
            <a:ext cx="249299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站在客户的角度思考</a:t>
            </a:r>
          </a:p>
        </p:txBody>
      </p:sp>
      <p:sp>
        <p:nvSpPr>
          <p:cNvPr id="62" name="文本框 61"/>
          <p:cNvSpPr txBox="1"/>
          <p:nvPr/>
        </p:nvSpPr>
        <p:spPr>
          <a:xfrm>
            <a:off x="4372451" y="3120995"/>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需求工程概述</a:t>
            </a:r>
          </a:p>
        </p:txBody>
      </p:sp>
      <p:sp>
        <p:nvSpPr>
          <p:cNvPr id="69" name="文本框 68"/>
          <p:cNvSpPr txBox="1"/>
          <p:nvPr/>
        </p:nvSpPr>
        <p:spPr>
          <a:xfrm>
            <a:off x="4372451" y="4994215"/>
            <a:ext cx="2749471"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好项目是从愿景开始的</a:t>
            </a:r>
          </a:p>
        </p:txBody>
      </p:sp>
      <p:sp>
        <p:nvSpPr>
          <p:cNvPr id="56" name="文本框 55"/>
          <p:cNvSpPr txBox="1"/>
          <p:nvPr/>
        </p:nvSpPr>
        <p:spPr>
          <a:xfrm>
            <a:off x="4372451" y="4060048"/>
            <a:ext cx="3443380" cy="400110"/>
          </a:xfrm>
          <a:prstGeom prst="rect">
            <a:avLst/>
          </a:prstGeom>
          <a:noFill/>
        </p:spPr>
        <p:txBody>
          <a:bodyPr wrap="non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ICONIX</a:t>
            </a:r>
            <a:r>
              <a:rPr lang="zh-CN" altLang="en-US" sz="2000" b="1" dirty="0">
                <a:solidFill>
                  <a:schemeClr val="bg1"/>
                </a:solidFill>
                <a:latin typeface="微软雅黑" panose="020B0503020204020204" pitchFamily="34" charset="-122"/>
                <a:ea typeface="微软雅黑" panose="020B0503020204020204" pitchFamily="34" charset="-122"/>
              </a:rPr>
              <a:t>软件过程的需求阶段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3434080" cy="583565"/>
          </a:xfrm>
          <a:prstGeom prst="rect">
            <a:avLst/>
          </a:prstGeom>
          <a:noFill/>
        </p:spPr>
        <p:txBody>
          <a:bodyPr wrap="none" rtlCol="0">
            <a:spAutoFit/>
          </a:bodyPr>
          <a:lstStyle/>
          <a:p>
            <a:r>
              <a:rPr lang="zh-CN" altLang="en-US" sz="3200" b="1" dirty="0">
                <a:solidFill>
                  <a:srgbClr val="141316"/>
                </a:solidFill>
                <a:latin typeface="微软雅黑" pitchFamily="34" charset="-122"/>
                <a:ea typeface="微软雅黑" pitchFamily="34" charset="-122"/>
              </a:rPr>
              <a:t>愿景是核心和起点</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3754355" y="575315"/>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42" name="矩形 41"/>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pic>
        <p:nvPicPr>
          <p:cNvPr id="16" name="图片 15"/>
          <p:cNvPicPr>
            <a:picLocks noChangeAspect="1"/>
          </p:cNvPicPr>
          <p:nvPr/>
        </p:nvPicPr>
        <p:blipFill>
          <a:blip r:embed="rId2"/>
          <a:stretch>
            <a:fillRect/>
          </a:stretch>
        </p:blipFill>
        <p:spPr>
          <a:xfrm>
            <a:off x="1244638" y="1517178"/>
            <a:ext cx="2409825" cy="1905000"/>
          </a:xfrm>
          <a:prstGeom prst="rect">
            <a:avLst/>
          </a:prstGeom>
        </p:spPr>
      </p:pic>
      <p:pic>
        <p:nvPicPr>
          <p:cNvPr id="17" name="图片 16"/>
          <p:cNvPicPr>
            <a:picLocks noChangeAspect="1"/>
          </p:cNvPicPr>
          <p:nvPr/>
        </p:nvPicPr>
        <p:blipFill>
          <a:blip r:embed="rId3"/>
          <a:stretch>
            <a:fillRect/>
          </a:stretch>
        </p:blipFill>
        <p:spPr>
          <a:xfrm>
            <a:off x="5944652" y="1510647"/>
            <a:ext cx="1066800" cy="1828800"/>
          </a:xfrm>
          <a:prstGeom prst="rect">
            <a:avLst/>
          </a:prstGeom>
        </p:spPr>
      </p:pic>
      <p:pic>
        <p:nvPicPr>
          <p:cNvPr id="18" name="图片 17"/>
          <p:cNvPicPr>
            <a:picLocks noChangeAspect="1"/>
          </p:cNvPicPr>
          <p:nvPr/>
        </p:nvPicPr>
        <p:blipFill>
          <a:blip r:embed="rId4"/>
          <a:stretch>
            <a:fillRect/>
          </a:stretch>
        </p:blipFill>
        <p:spPr>
          <a:xfrm>
            <a:off x="9301641" y="1510647"/>
            <a:ext cx="1028700" cy="2009775"/>
          </a:xfrm>
          <a:prstGeom prst="rect">
            <a:avLst/>
          </a:prstGeom>
        </p:spPr>
      </p:pic>
      <p:sp>
        <p:nvSpPr>
          <p:cNvPr id="19" name="文本框 18"/>
          <p:cNvSpPr txBox="1"/>
          <p:nvPr/>
        </p:nvSpPr>
        <p:spPr>
          <a:xfrm>
            <a:off x="2126384" y="3520422"/>
            <a:ext cx="800219"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老板</a:t>
            </a:r>
          </a:p>
        </p:txBody>
      </p:sp>
      <p:sp>
        <p:nvSpPr>
          <p:cNvPr id="20" name="文本框 19"/>
          <p:cNvSpPr txBox="1"/>
          <p:nvPr/>
        </p:nvSpPr>
        <p:spPr>
          <a:xfrm>
            <a:off x="5770166" y="3567720"/>
            <a:ext cx="1415772"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中层经理</a:t>
            </a:r>
          </a:p>
        </p:txBody>
      </p:sp>
      <p:sp>
        <p:nvSpPr>
          <p:cNvPr id="21" name="文本框 20"/>
          <p:cNvSpPr txBox="1"/>
          <p:nvPr/>
        </p:nvSpPr>
        <p:spPr>
          <a:xfrm>
            <a:off x="9108105" y="3582006"/>
            <a:ext cx="1415772"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一线员工</a:t>
            </a:r>
          </a:p>
        </p:txBody>
      </p:sp>
      <p:sp>
        <p:nvSpPr>
          <p:cNvPr id="15" name="虚尾箭头 14"/>
          <p:cNvSpPr/>
          <p:nvPr/>
        </p:nvSpPr>
        <p:spPr>
          <a:xfrm rot="5400000">
            <a:off x="2235518" y="4127863"/>
            <a:ext cx="618725" cy="444137"/>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2" name="矩形 21"/>
          <p:cNvSpPr/>
          <p:nvPr/>
        </p:nvSpPr>
        <p:spPr>
          <a:xfrm>
            <a:off x="836357" y="4810109"/>
            <a:ext cx="9725739" cy="1135054"/>
          </a:xfrm>
          <a:prstGeom prst="rect">
            <a:avLst/>
          </a:prstGeom>
        </p:spPr>
        <p:txBody>
          <a:bodyPr wrap="none">
            <a:spAutoFit/>
          </a:bodyPr>
          <a:lstStyle/>
          <a:p>
            <a:pPr>
              <a:lnSpc>
                <a:spcPct val="150000"/>
              </a:lnSpc>
            </a:pPr>
            <a:r>
              <a:rPr lang="zh-CN" altLang="en-US" sz="2400" b="1" dirty="0">
                <a:latin typeface="微软雅黑" pitchFamily="34" charset="-122"/>
                <a:ea typeface="微软雅黑" pitchFamily="34" charset="-122"/>
              </a:rPr>
              <a:t>老板</a:t>
            </a:r>
            <a:r>
              <a:rPr lang="zh-CN" altLang="en-US" sz="2400" b="1" dirty="0">
                <a:solidFill>
                  <a:srgbClr val="FF0000"/>
                </a:solidFill>
                <a:latin typeface="微软雅黑" pitchFamily="34" charset="-122"/>
                <a:ea typeface="微软雅黑" pitchFamily="34" charset="-122"/>
              </a:rPr>
              <a:t>提出愿景</a:t>
            </a:r>
            <a:r>
              <a:rPr lang="zh-CN" altLang="en-US" sz="2400" b="1" dirty="0">
                <a:latin typeface="微软雅黑" pitchFamily="34" charset="-122"/>
                <a:ea typeface="微软雅黑" pitchFamily="34" charset="-122"/>
              </a:rPr>
              <a:t>，花钱购买软件的目的就是要</a:t>
            </a:r>
            <a:r>
              <a:rPr lang="zh-CN" altLang="en-US" sz="2400" b="1" dirty="0">
                <a:solidFill>
                  <a:srgbClr val="FF0000"/>
                </a:solidFill>
                <a:latin typeface="微软雅黑" pitchFamily="34" charset="-122"/>
                <a:ea typeface="微软雅黑" pitchFamily="34" charset="-122"/>
              </a:rPr>
              <a:t>实现愿景</a:t>
            </a:r>
            <a:endParaRPr lang="en-US" altLang="zh-CN" sz="2400" b="1" dirty="0">
              <a:latin typeface="微软雅黑" pitchFamily="34" charset="-122"/>
              <a:ea typeface="微软雅黑" pitchFamily="34" charset="-122"/>
            </a:endParaRPr>
          </a:p>
          <a:p>
            <a:pPr>
              <a:lnSpc>
                <a:spcPct val="150000"/>
              </a:lnSpc>
            </a:pPr>
            <a:r>
              <a:rPr lang="zh-CN" altLang="en-US" sz="2400" b="1" dirty="0">
                <a:latin typeface="微软雅黑" pitchFamily="34" charset="-122"/>
                <a:ea typeface="微软雅黑" pitchFamily="34" charset="-122"/>
              </a:rPr>
              <a:t>愿景的高度和重要性决定了老板投入的力度，所以说愿景是</a:t>
            </a:r>
            <a:r>
              <a:rPr lang="zh-CN" altLang="en-US" sz="2400" b="1" dirty="0">
                <a:solidFill>
                  <a:srgbClr val="FF0000"/>
                </a:solidFill>
                <a:latin typeface="微软雅黑" pitchFamily="34" charset="-122"/>
                <a:ea typeface="微软雅黑" pitchFamily="34" charset="-122"/>
              </a:rPr>
              <a:t>核心</a:t>
            </a:r>
            <a:r>
              <a:rPr lang="zh-CN" altLang="en-US" sz="2400" b="1" dirty="0">
                <a:latin typeface="微软雅黑" pitchFamily="34" charset="-122"/>
                <a:ea typeface="微软雅黑" pitchFamily="34" charset="-122"/>
              </a:rPr>
              <a:t>和</a:t>
            </a:r>
            <a:r>
              <a:rPr lang="zh-CN" altLang="en-US" sz="2400" b="1" dirty="0">
                <a:solidFill>
                  <a:srgbClr val="FF0000"/>
                </a:solidFill>
                <a:latin typeface="微软雅黑" pitchFamily="34" charset="-122"/>
                <a:ea typeface="微软雅黑" pitchFamily="34" charset="-122"/>
              </a:rPr>
              <a:t>起点</a:t>
            </a:r>
          </a:p>
        </p:txBody>
      </p:sp>
    </p:spTree>
    <p:extLst>
      <p:ext uri="{BB962C8B-B14F-4D97-AF65-F5344CB8AC3E}">
        <p14:creationId xmlns:p14="http://schemas.microsoft.com/office/powerpoint/2010/main" val="2498656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3467616"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获取愿景的三步曲</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3770511" y="588916"/>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内容占位符 2"/>
          <p:cNvSpPr txBox="1"/>
          <p:nvPr/>
        </p:nvSpPr>
        <p:spPr>
          <a:xfrm>
            <a:off x="393700" y="1345383"/>
            <a:ext cx="11375934" cy="4663530"/>
          </a:xfrm>
          <a:prstGeom prst="rect">
            <a:avLst/>
          </a:prstGeom>
        </p:spPr>
        <p:txBody>
          <a:bodyPr/>
          <a:lstStyle>
            <a:defPPr>
              <a:defRPr lang="zh-CN"/>
            </a:defPPr>
            <a:lvl1pPr marL="285750" indent="-285750">
              <a:lnSpc>
                <a:spcPct val="150000"/>
              </a:lnSpc>
              <a:spcBef>
                <a:spcPts val="10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1pPr>
            <a:lvl2pPr marL="742950" lvl="1" indent="-285750">
              <a:lnSpc>
                <a:spcPct val="150000"/>
              </a:lnSpc>
              <a:spcBef>
                <a:spcPts val="500"/>
              </a:spcBef>
              <a:buFont typeface="Arial" panose="020B0604020202020204" pitchFamily="34" charset="0"/>
              <a:buChar char="•"/>
              <a:defRPr>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第一步：找到软件项目的“老大”；</a:t>
            </a:r>
            <a:endParaRPr lang="en-US" altLang="zh-CN" dirty="0"/>
          </a:p>
          <a:p>
            <a:r>
              <a:rPr lang="zh-CN" altLang="en-US" dirty="0"/>
              <a:t>第二步：得到“老大”对项目的期望（愿景）；</a:t>
            </a:r>
            <a:endParaRPr lang="en-US" altLang="zh-CN" dirty="0"/>
          </a:p>
          <a:p>
            <a:r>
              <a:rPr lang="zh-CN" altLang="en-US" dirty="0"/>
              <a:t>第三步：描述出愿景的度量指标；</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3200" y="1483200"/>
            <a:ext cx="9233338" cy="4389120"/>
          </a:xfrm>
        </p:spPr>
        <p:txBody>
          <a:bodyPr/>
          <a:lstStyle/>
          <a:p>
            <a:r>
              <a:rPr lang="zh-CN" altLang="en-US" dirty="0"/>
              <a:t>你认为谁是老大？</a:t>
            </a:r>
          </a:p>
        </p:txBody>
      </p:sp>
      <p:pic>
        <p:nvPicPr>
          <p:cNvPr id="21508" name="Picture 4"/>
          <p:cNvPicPr>
            <a:picLocks noChangeAspect="1" noChangeArrowheads="1"/>
          </p:cNvPicPr>
          <p:nvPr/>
        </p:nvPicPr>
        <p:blipFill>
          <a:blip r:embed="rId3" cstate="print">
            <a:clrChange>
              <a:clrFrom>
                <a:srgbClr val="FEFFFF"/>
              </a:clrFrom>
              <a:clrTo>
                <a:srgbClr val="FEFFFF">
                  <a:alpha val="0"/>
                </a:srgbClr>
              </a:clrTo>
            </a:clrChange>
          </a:blip>
          <a:srcRect l="13832" t="5829" r="7786" b="6735"/>
          <a:stretch>
            <a:fillRect/>
          </a:stretch>
        </p:blipFill>
        <p:spPr bwMode="auto">
          <a:xfrm>
            <a:off x="1787048" y="3418347"/>
            <a:ext cx="753794" cy="1330225"/>
          </a:xfrm>
          <a:prstGeom prst="rect">
            <a:avLst/>
          </a:prstGeom>
          <a:noFill/>
          <a:ln w="9525">
            <a:noFill/>
            <a:miter lim="800000"/>
            <a:headEnd/>
            <a:tailEnd/>
          </a:ln>
          <a:effectLst/>
        </p:spPr>
      </p:pic>
      <p:pic>
        <p:nvPicPr>
          <p:cNvPr id="21509"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4586438" y="3489784"/>
            <a:ext cx="772510" cy="1229710"/>
          </a:xfrm>
          <a:prstGeom prst="rect">
            <a:avLst/>
          </a:prstGeom>
          <a:noFill/>
          <a:ln w="9525">
            <a:noFill/>
            <a:miter lim="800000"/>
            <a:headEnd/>
            <a:tailEnd/>
          </a:ln>
          <a:effectLst/>
        </p:spPr>
      </p:pic>
      <p:pic>
        <p:nvPicPr>
          <p:cNvPr id="21507" name="Picture 3"/>
          <p:cNvPicPr>
            <a:picLocks noChangeAspect="1" noChangeArrowheads="1"/>
          </p:cNvPicPr>
          <p:nvPr/>
        </p:nvPicPr>
        <p:blipFill>
          <a:blip r:embed="rId5" cstate="print">
            <a:clrChange>
              <a:clrFrom>
                <a:srgbClr val="FFFFFF"/>
              </a:clrFrom>
              <a:clrTo>
                <a:srgbClr val="FFFFFF">
                  <a:alpha val="0"/>
                </a:srgbClr>
              </a:clrTo>
            </a:clrChange>
          </a:blip>
          <a:srcRect l="9956" r="5420" b="2901"/>
          <a:stretch>
            <a:fillRect/>
          </a:stretch>
        </p:blipFill>
        <p:spPr bwMode="auto">
          <a:xfrm>
            <a:off x="7430650" y="3489784"/>
            <a:ext cx="753794" cy="1285884"/>
          </a:xfrm>
          <a:prstGeom prst="rect">
            <a:avLst/>
          </a:prstGeom>
          <a:noFill/>
          <a:ln w="9525">
            <a:noFill/>
            <a:miter lim="800000"/>
            <a:headEnd/>
            <a:tailEnd/>
          </a:ln>
          <a:effectLst/>
        </p:spPr>
      </p:pic>
      <p:sp>
        <p:nvSpPr>
          <p:cNvPr id="16" name="云形标注 15"/>
          <p:cNvSpPr/>
          <p:nvPr/>
        </p:nvSpPr>
        <p:spPr>
          <a:xfrm>
            <a:off x="2429990" y="2211292"/>
            <a:ext cx="2286016" cy="1285884"/>
          </a:xfrm>
          <a:prstGeom prst="cloudCallout">
            <a:avLst>
              <a:gd name="adj1" fmla="val -43182"/>
              <a:gd name="adj2" fmla="val 712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pitchFamily="34" charset="-122"/>
                <a:ea typeface="微软雅黑" panose="020B0503020204020204" pitchFamily="34" charset="-122"/>
              </a:rPr>
              <a:t>X</a:t>
            </a:r>
            <a:r>
              <a:rPr lang="zh-CN" altLang="en-US" sz="2400" b="1" dirty="0">
                <a:latin typeface="微软雅黑" panose="020B0503020204020204" pitchFamily="34" charset="-122"/>
                <a:ea typeface="微软雅黑" panose="020B0503020204020204" pitchFamily="34" charset="-122"/>
              </a:rPr>
              <a:t>公司</a:t>
            </a:r>
            <a:br>
              <a:rPr lang="en-US" altLang="zh-CN" sz="2400" b="1" dirty="0">
                <a:latin typeface="微软雅黑" panose="020B0503020204020204" pitchFamily="34" charset="-122"/>
                <a:ea typeface="微软雅黑" panose="020B0503020204020204" pitchFamily="34" charset="-122"/>
              </a:rPr>
            </a:br>
            <a:r>
              <a:rPr lang="zh-CN" altLang="en-US" sz="2400" b="1" dirty="0">
                <a:latin typeface="微软雅黑" panose="020B0503020204020204" pitchFamily="34" charset="-122"/>
                <a:ea typeface="微软雅黑" panose="020B0503020204020204" pitchFamily="34" charset="-122"/>
              </a:rPr>
              <a:t>市场总监</a:t>
            </a:r>
          </a:p>
        </p:txBody>
      </p:sp>
      <p:sp>
        <p:nvSpPr>
          <p:cNvPr id="19" name="云形标注 18"/>
          <p:cNvSpPr/>
          <p:nvPr/>
        </p:nvSpPr>
        <p:spPr>
          <a:xfrm>
            <a:off x="5216072" y="2282730"/>
            <a:ext cx="2286016" cy="1285884"/>
          </a:xfrm>
          <a:prstGeom prst="cloudCallout">
            <a:avLst>
              <a:gd name="adj1" fmla="val -43182"/>
              <a:gd name="adj2" fmla="val 712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pitchFamily="34" charset="-122"/>
                <a:ea typeface="微软雅黑" panose="020B0503020204020204" pitchFamily="34" charset="-122"/>
              </a:rPr>
              <a:t>X</a:t>
            </a:r>
            <a:r>
              <a:rPr lang="zh-CN" altLang="en-US" sz="2400" b="1" dirty="0">
                <a:latin typeface="微软雅黑" panose="020B0503020204020204" pitchFamily="34" charset="-122"/>
                <a:ea typeface="微软雅黑" panose="020B0503020204020204" pitchFamily="34" charset="-122"/>
              </a:rPr>
              <a:t>公司</a:t>
            </a:r>
            <a:br>
              <a:rPr lang="en-US" altLang="zh-CN" sz="2400" b="1" dirty="0">
                <a:latin typeface="微软雅黑" panose="020B0503020204020204" pitchFamily="34" charset="-122"/>
                <a:ea typeface="微软雅黑" panose="020B0503020204020204" pitchFamily="34" charset="-122"/>
              </a:rPr>
            </a:br>
            <a:r>
              <a:rPr lang="zh-CN" altLang="en-US" sz="2400" b="1" dirty="0">
                <a:latin typeface="微软雅黑" panose="020B0503020204020204" pitchFamily="34" charset="-122"/>
                <a:ea typeface="微软雅黑" panose="020B0503020204020204" pitchFamily="34" charset="-122"/>
              </a:rPr>
              <a:t>财务总监</a:t>
            </a:r>
          </a:p>
        </p:txBody>
      </p:sp>
      <p:sp>
        <p:nvSpPr>
          <p:cNvPr id="20" name="云形标注 19"/>
          <p:cNvSpPr/>
          <p:nvPr/>
        </p:nvSpPr>
        <p:spPr>
          <a:xfrm>
            <a:off x="8002122" y="2282730"/>
            <a:ext cx="2286016" cy="1285884"/>
          </a:xfrm>
          <a:prstGeom prst="cloudCallout">
            <a:avLst>
              <a:gd name="adj1" fmla="val -43182"/>
              <a:gd name="adj2" fmla="val 712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pitchFamily="34" charset="-122"/>
                <a:ea typeface="微软雅黑" panose="020B0503020204020204" pitchFamily="34" charset="-122"/>
              </a:rPr>
              <a:t>X</a:t>
            </a:r>
            <a:r>
              <a:rPr lang="zh-CN" altLang="en-US" sz="2400" b="1" dirty="0">
                <a:latin typeface="微软雅黑" panose="020B0503020204020204" pitchFamily="34" charset="-122"/>
                <a:ea typeface="微软雅黑" panose="020B0503020204020204" pitchFamily="34" charset="-122"/>
              </a:rPr>
              <a:t>公司</a:t>
            </a:r>
            <a:endParaRPr lang="en-US" altLang="zh-CN" sz="2400" b="1" dirty="0">
              <a:latin typeface="微软雅黑" panose="020B0503020204020204" pitchFamily="34" charset="-122"/>
              <a:ea typeface="微软雅黑" panose="020B0503020204020204" pitchFamily="34" charset="-122"/>
            </a:endParaRPr>
          </a:p>
          <a:p>
            <a:pPr algn="ctr"/>
            <a:r>
              <a:rPr lang="zh-CN" altLang="en-US" sz="2400" b="1" dirty="0">
                <a:latin typeface="微软雅黑" panose="020B0503020204020204" pitchFamily="34" charset="-122"/>
                <a:ea typeface="微软雅黑" panose="020B0503020204020204" pitchFamily="34" charset="-122"/>
              </a:rPr>
              <a:t>老总</a:t>
            </a:r>
          </a:p>
        </p:txBody>
      </p:sp>
      <p:sp>
        <p:nvSpPr>
          <p:cNvPr id="11" name="文本框 10"/>
          <p:cNvSpPr txBox="1"/>
          <p:nvPr/>
        </p:nvSpPr>
        <p:spPr>
          <a:xfrm>
            <a:off x="274320" y="449590"/>
            <a:ext cx="3877985" cy="584775"/>
          </a:xfrm>
          <a:prstGeom prst="rect">
            <a:avLst/>
          </a:prstGeom>
          <a:noFill/>
        </p:spPr>
        <p:txBody>
          <a:bodyPr wrap="none" rtlCol="0">
            <a:spAutoFit/>
          </a:bodyPr>
          <a:lstStyle/>
          <a:p>
            <a:r>
              <a:rPr lang="zh-CN" altLang="en-US" sz="3200" b="1" dirty="0">
                <a:solidFill>
                  <a:srgbClr val="141316"/>
                </a:solidFill>
                <a:latin typeface="微软雅黑" pitchFamily="34" charset="-122"/>
                <a:ea typeface="微软雅黑" pitchFamily="34" charset="-122"/>
              </a:rPr>
              <a:t>第一步：找“老大”</a:t>
            </a:r>
          </a:p>
        </p:txBody>
      </p:sp>
      <p:cxnSp>
        <p:nvCxnSpPr>
          <p:cNvPr id="12" name="直接连接符 11"/>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3935135" y="608150"/>
            <a:ext cx="491490" cy="318085"/>
            <a:chOff x="3017520" y="601990"/>
            <a:chExt cx="491490" cy="414010"/>
          </a:xfrm>
        </p:grpSpPr>
        <p:sp>
          <p:nvSpPr>
            <p:cNvPr id="14" name="燕尾形 13"/>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15" name="燕尾形 14"/>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18" name="燕尾形 17"/>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grpSp>
      <p:sp>
        <p:nvSpPr>
          <p:cNvPr id="21" name="矩形 2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2" name="矩形 2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3" name="矩形 2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4" name="矩形 2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5" name="矩形 24"/>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6" name="矩形 25"/>
          <p:cNvSpPr/>
          <p:nvPr/>
        </p:nvSpPr>
        <p:spPr>
          <a:xfrm>
            <a:off x="1505297" y="4883650"/>
            <a:ext cx="6032421" cy="1005788"/>
          </a:xfrm>
          <a:prstGeom prst="rect">
            <a:avLst/>
          </a:prstGeom>
        </p:spPr>
        <p:txBody>
          <a:bodyPr wrap="none">
            <a:spAutoFit/>
          </a:bodyPr>
          <a:lstStyle/>
          <a:p>
            <a:pPr>
              <a:lnSpc>
                <a:spcPct val="130000"/>
              </a:lnSpc>
            </a:pPr>
            <a:r>
              <a:rPr lang="zh-CN" altLang="en-US" sz="2400" dirty="0">
                <a:solidFill>
                  <a:schemeClr val="tx1"/>
                </a:solidFill>
                <a:latin typeface="微软雅黑" panose="020B0503020204020204" pitchFamily="34" charset="-122"/>
                <a:ea typeface="微软雅黑" panose="020B0503020204020204" pitchFamily="34" charset="-122"/>
              </a:rPr>
              <a:t>要点：</a:t>
            </a:r>
            <a:r>
              <a:rPr lang="zh-CN" altLang="en-US" sz="2400" dirty="0">
                <a:latin typeface="微软雅黑" panose="020B0503020204020204" pitchFamily="34" charset="-122"/>
                <a:ea typeface="微软雅黑" panose="020B0503020204020204" pitchFamily="34" charset="-122"/>
              </a:rPr>
              <a:t>软件项目</a:t>
            </a:r>
            <a:r>
              <a:rPr lang="zh-CN" altLang="en-US" sz="2400" dirty="0">
                <a:solidFill>
                  <a:schemeClr val="tx1"/>
                </a:solidFill>
                <a:latin typeface="微软雅黑" panose="020B0503020204020204" pitchFamily="34" charset="-122"/>
                <a:ea typeface="微软雅黑" panose="020B0503020204020204" pitchFamily="34" charset="-122"/>
              </a:rPr>
              <a:t>要改善哪个</a:t>
            </a:r>
            <a:r>
              <a:rPr lang="zh-CN" altLang="en-US" sz="2400" dirty="0">
                <a:solidFill>
                  <a:srgbClr val="FF0000"/>
                </a:solidFill>
                <a:latin typeface="微软雅黑" panose="020B0503020204020204" pitchFamily="34" charset="-122"/>
                <a:ea typeface="微软雅黑" panose="020B0503020204020204" pitchFamily="34" charset="-122"/>
              </a:rPr>
              <a:t>组织</a:t>
            </a:r>
            <a:r>
              <a:rPr lang="zh-CN" altLang="en-US" sz="2400" dirty="0">
                <a:solidFill>
                  <a:schemeClr val="tx1"/>
                </a:solidFill>
                <a:latin typeface="微软雅黑" panose="020B0503020204020204" pitchFamily="34" charset="-122"/>
                <a:ea typeface="微软雅黑" panose="020B0503020204020204" pitchFamily="34" charset="-122"/>
              </a:rPr>
              <a:t>的流程？</a:t>
            </a: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30000"/>
              </a:lnSpc>
            </a:pPr>
            <a:r>
              <a:rPr lang="zh-CN" altLang="en-US" sz="2400" dirty="0">
                <a:solidFill>
                  <a:schemeClr val="tx1"/>
                </a:solidFill>
                <a:latin typeface="微软雅黑" panose="020B0503020204020204" pitchFamily="34" charset="-122"/>
                <a:ea typeface="微软雅黑" panose="020B0503020204020204" pitchFamily="34" charset="-122"/>
              </a:rPr>
              <a:t>老大就是要</a:t>
            </a:r>
            <a:r>
              <a:rPr lang="zh-CN" altLang="en-US" sz="2400" dirty="0">
                <a:solidFill>
                  <a:srgbClr val="FF0000"/>
                </a:solidFill>
                <a:latin typeface="微软雅黑" panose="020B0503020204020204" pitchFamily="34" charset="-122"/>
                <a:ea typeface="微软雅黑" panose="020B0503020204020204" pitchFamily="34" charset="-122"/>
              </a:rPr>
              <a:t>改善的组织中最有权力的干系人</a:t>
            </a:r>
          </a:p>
        </p:txBody>
      </p:sp>
      <p:sp>
        <p:nvSpPr>
          <p:cNvPr id="4" name="文本框 3"/>
          <p:cNvSpPr txBox="1"/>
          <p:nvPr/>
        </p:nvSpPr>
        <p:spPr>
          <a:xfrm>
            <a:off x="1505297" y="5961616"/>
            <a:ext cx="7879080"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谁是老大？强化客户管理、提升财务效率、优化公司资源</a:t>
            </a:r>
          </a:p>
        </p:txBody>
      </p:sp>
    </p:spTree>
    <p:extLst>
      <p:ext uri="{BB962C8B-B14F-4D97-AF65-F5344CB8AC3E}">
        <p14:creationId xmlns:p14="http://schemas.microsoft.com/office/powerpoint/2010/main" val="2926273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74320" y="449590"/>
            <a:ext cx="7366119" cy="523220"/>
          </a:xfrm>
          <a:prstGeom prst="rect">
            <a:avLst/>
          </a:prstGeom>
          <a:noFill/>
        </p:spPr>
        <p:txBody>
          <a:bodyPr wrap="none" rtlCol="0">
            <a:spAutoFit/>
          </a:bodyPr>
          <a:lstStyle/>
          <a:p>
            <a:r>
              <a:rPr lang="zh-CN" altLang="en-US" sz="2800" b="1" dirty="0">
                <a:solidFill>
                  <a:srgbClr val="141316"/>
                </a:solidFill>
                <a:latin typeface="微软雅黑" pitchFamily="34" charset="-122"/>
                <a:ea typeface="微软雅黑" pitchFamily="34" charset="-122"/>
              </a:rPr>
              <a:t>第二步：得到“老大”对项目的期望（愿景）</a:t>
            </a:r>
          </a:p>
        </p:txBody>
      </p:sp>
      <p:cxnSp>
        <p:nvCxnSpPr>
          <p:cNvPr id="10" name="直接连接符 9"/>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7355519" y="608150"/>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grpSp>
      <p:sp>
        <p:nvSpPr>
          <p:cNvPr id="15" name="矩形 14"/>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6" name="矩形 15"/>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8" name="矩形 17"/>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0" name="矩形 19"/>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1" name="矩形 20"/>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grpSp>
        <p:nvGrpSpPr>
          <p:cNvPr id="24" name="组合 23"/>
          <p:cNvGrpSpPr/>
          <p:nvPr/>
        </p:nvGrpSpPr>
        <p:grpSpPr>
          <a:xfrm>
            <a:off x="1834036" y="2318443"/>
            <a:ext cx="1415772" cy="1684485"/>
            <a:chOff x="513836" y="3643314"/>
            <a:chExt cx="1415772" cy="1684485"/>
          </a:xfrm>
        </p:grpSpPr>
        <p:pic>
          <p:nvPicPr>
            <p:cNvPr id="25" name="Picture 4"/>
            <p:cNvPicPr>
              <a:picLocks noChangeAspect="1" noChangeArrowheads="1"/>
            </p:cNvPicPr>
            <p:nvPr/>
          </p:nvPicPr>
          <p:blipFill>
            <a:blip r:embed="rId3">
              <a:clrChange>
                <a:clrFrom>
                  <a:srgbClr val="FEFFFF"/>
                </a:clrFrom>
                <a:clrTo>
                  <a:srgbClr val="FEFFFF">
                    <a:alpha val="0"/>
                  </a:srgbClr>
                </a:clrTo>
              </a:clrChange>
            </a:blip>
            <a:srcRect l="13832" t="5829" r="7786" b="6735"/>
            <a:stretch>
              <a:fillRect/>
            </a:stretch>
          </p:blipFill>
          <p:spPr bwMode="auto">
            <a:xfrm>
              <a:off x="642910" y="3643314"/>
              <a:ext cx="753794" cy="1330225"/>
            </a:xfrm>
            <a:prstGeom prst="rect">
              <a:avLst/>
            </a:prstGeom>
            <a:noFill/>
            <a:ln w="9525">
              <a:noFill/>
              <a:miter lim="800000"/>
              <a:headEnd/>
              <a:tailEnd/>
            </a:ln>
            <a:effectLst/>
          </p:spPr>
        </p:pic>
        <p:sp>
          <p:nvSpPr>
            <p:cNvPr id="26" name="TextBox 5"/>
            <p:cNvSpPr txBox="1"/>
            <p:nvPr/>
          </p:nvSpPr>
          <p:spPr>
            <a:xfrm>
              <a:off x="513836" y="4866134"/>
              <a:ext cx="1415772" cy="461665"/>
            </a:xfrm>
            <a:prstGeom prst="rect">
              <a:avLst/>
            </a:prstGeom>
            <a:noFill/>
          </p:spPr>
          <p:txBody>
            <a:bodyPr wrap="none" rtlCol="0">
              <a:spAutoFit/>
            </a:bodyPr>
            <a:lstStyle/>
            <a:p>
              <a:r>
                <a:rPr lang="zh-CN" altLang="en-US" sz="2400" dirty="0">
                  <a:latin typeface="微软雅黑" pitchFamily="34" charset="-122"/>
                  <a:ea typeface="微软雅黑" pitchFamily="34" charset="-122"/>
                </a:rPr>
                <a:t>市场总监</a:t>
              </a:r>
            </a:p>
          </p:txBody>
        </p:sp>
      </p:grpSp>
      <p:grpSp>
        <p:nvGrpSpPr>
          <p:cNvPr id="29" name="组合 28"/>
          <p:cNvGrpSpPr/>
          <p:nvPr/>
        </p:nvGrpSpPr>
        <p:grpSpPr>
          <a:xfrm>
            <a:off x="4637001" y="2325290"/>
            <a:ext cx="1415772" cy="1676111"/>
            <a:chOff x="3319394" y="4714884"/>
            <a:chExt cx="1415772" cy="1676111"/>
          </a:xfrm>
        </p:grpSpPr>
        <p:pic>
          <p:nvPicPr>
            <p:cNvPr id="30"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3442300" y="4714884"/>
              <a:ext cx="772510" cy="1229710"/>
            </a:xfrm>
            <a:prstGeom prst="rect">
              <a:avLst/>
            </a:prstGeom>
            <a:noFill/>
            <a:ln w="9525">
              <a:noFill/>
              <a:miter lim="800000"/>
              <a:headEnd/>
              <a:tailEnd/>
            </a:ln>
            <a:effectLst/>
          </p:spPr>
        </p:pic>
        <p:sp>
          <p:nvSpPr>
            <p:cNvPr id="31" name="TextBox 8"/>
            <p:cNvSpPr txBox="1"/>
            <p:nvPr/>
          </p:nvSpPr>
          <p:spPr>
            <a:xfrm>
              <a:off x="3319394" y="5929330"/>
              <a:ext cx="1415772" cy="461665"/>
            </a:xfrm>
            <a:prstGeom prst="rect">
              <a:avLst/>
            </a:prstGeom>
            <a:noFill/>
          </p:spPr>
          <p:txBody>
            <a:bodyPr wrap="none" rtlCol="0">
              <a:spAutoFit/>
            </a:bodyPr>
            <a:lstStyle/>
            <a:p>
              <a:r>
                <a:rPr lang="zh-CN" altLang="en-US" sz="2400" dirty="0">
                  <a:latin typeface="微软雅黑" pitchFamily="34" charset="-122"/>
                  <a:ea typeface="微软雅黑" pitchFamily="34" charset="-122"/>
                </a:rPr>
                <a:t>财务总监</a:t>
              </a:r>
            </a:p>
          </p:txBody>
        </p:sp>
      </p:grpSp>
      <p:grpSp>
        <p:nvGrpSpPr>
          <p:cNvPr id="34" name="组合 33"/>
          <p:cNvGrpSpPr/>
          <p:nvPr/>
        </p:nvGrpSpPr>
        <p:grpSpPr>
          <a:xfrm>
            <a:off x="7455220" y="2199706"/>
            <a:ext cx="1415772" cy="1747549"/>
            <a:chOff x="6174186" y="4643446"/>
            <a:chExt cx="1415772" cy="1747549"/>
          </a:xfrm>
        </p:grpSpPr>
        <p:pic>
          <p:nvPicPr>
            <p:cNvPr id="35" name="Picture 3"/>
            <p:cNvPicPr>
              <a:picLocks noChangeAspect="1" noChangeArrowheads="1"/>
            </p:cNvPicPr>
            <p:nvPr/>
          </p:nvPicPr>
          <p:blipFill>
            <a:blip r:embed="rId5">
              <a:clrChange>
                <a:clrFrom>
                  <a:srgbClr val="FFFFFF"/>
                </a:clrFrom>
                <a:clrTo>
                  <a:srgbClr val="FFFFFF">
                    <a:alpha val="0"/>
                  </a:srgbClr>
                </a:clrTo>
              </a:clrChange>
            </a:blip>
            <a:srcRect l="9956" r="5420" b="2901"/>
            <a:stretch>
              <a:fillRect/>
            </a:stretch>
          </p:blipFill>
          <p:spPr bwMode="auto">
            <a:xfrm>
              <a:off x="6286512" y="4643446"/>
              <a:ext cx="753794" cy="1285884"/>
            </a:xfrm>
            <a:prstGeom prst="rect">
              <a:avLst/>
            </a:prstGeom>
            <a:noFill/>
            <a:ln w="9525">
              <a:noFill/>
              <a:miter lim="800000"/>
              <a:headEnd/>
              <a:tailEnd/>
            </a:ln>
            <a:effectLst/>
          </p:spPr>
        </p:pic>
        <p:sp>
          <p:nvSpPr>
            <p:cNvPr id="36" name="TextBox 11"/>
            <p:cNvSpPr txBox="1"/>
            <p:nvPr/>
          </p:nvSpPr>
          <p:spPr>
            <a:xfrm>
              <a:off x="6174186" y="5929330"/>
              <a:ext cx="1415772" cy="461665"/>
            </a:xfrm>
            <a:prstGeom prst="rect">
              <a:avLst/>
            </a:prstGeom>
            <a:noFill/>
          </p:spPr>
          <p:txBody>
            <a:bodyPr wrap="none" rtlCol="0">
              <a:spAutoFit/>
            </a:bodyPr>
            <a:lstStyle/>
            <a:p>
              <a:r>
                <a:rPr lang="zh-CN" altLang="en-US" sz="2400" dirty="0">
                  <a:latin typeface="微软雅黑" pitchFamily="34" charset="-122"/>
                  <a:ea typeface="微软雅黑" pitchFamily="34" charset="-122"/>
                </a:rPr>
                <a:t>公司老总</a:t>
              </a:r>
            </a:p>
          </p:txBody>
        </p:sp>
      </p:grpSp>
      <p:sp>
        <p:nvSpPr>
          <p:cNvPr id="37" name="内容占位符 2"/>
          <p:cNvSpPr txBox="1"/>
          <p:nvPr/>
        </p:nvSpPr>
        <p:spPr>
          <a:xfrm>
            <a:off x="762000" y="1484474"/>
            <a:ext cx="10972800" cy="4389120"/>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6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软件项目的</a:t>
            </a:r>
            <a:r>
              <a:rPr lang="zh-CN" altLang="en-US" dirty="0">
                <a:solidFill>
                  <a:srgbClr val="FF0000"/>
                </a:solidFill>
              </a:rPr>
              <a:t>愿景</a:t>
            </a:r>
            <a:r>
              <a:rPr lang="zh-CN" altLang="en-US" dirty="0"/>
              <a:t>是“老大”愿意掏钱开发这个系统的</a:t>
            </a:r>
            <a:r>
              <a:rPr lang="zh-CN" altLang="en-US" dirty="0">
                <a:solidFill>
                  <a:srgbClr val="FF0000"/>
                </a:solidFill>
              </a:rPr>
              <a:t>目的</a:t>
            </a:r>
            <a:r>
              <a:rPr lang="zh-CN" altLang="en-US" dirty="0"/>
              <a:t>。</a:t>
            </a:r>
            <a:endParaRPr lang="en-US" altLang="zh-CN" dirty="0"/>
          </a:p>
          <a:p>
            <a:endParaRPr lang="zh-CN" altLang="en-US" dirty="0"/>
          </a:p>
        </p:txBody>
      </p:sp>
      <p:grpSp>
        <p:nvGrpSpPr>
          <p:cNvPr id="41" name="组合 40"/>
          <p:cNvGrpSpPr/>
          <p:nvPr/>
        </p:nvGrpSpPr>
        <p:grpSpPr>
          <a:xfrm>
            <a:off x="8506929" y="4099786"/>
            <a:ext cx="1723549" cy="2346017"/>
            <a:chOff x="8159358" y="3547268"/>
            <a:chExt cx="2215287" cy="2966942"/>
          </a:xfrm>
        </p:grpSpPr>
        <p:pic>
          <p:nvPicPr>
            <p:cNvPr id="1026" name="Picture 2" descr="http://img1.makepolo.net/images/formals/img/product/482/950/34aa943e2e6305228daff42e87c61fac.jp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b="8371"/>
            <a:stretch>
              <a:fillRect/>
            </a:stretch>
          </p:blipFill>
          <p:spPr bwMode="auto">
            <a:xfrm>
              <a:off x="8288527" y="3547268"/>
              <a:ext cx="1702359" cy="2339464"/>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8159358" y="6008202"/>
              <a:ext cx="2215287" cy="506008"/>
            </a:xfrm>
            <a:prstGeom prst="rect">
              <a:avLst/>
            </a:prstGeom>
          </p:spPr>
          <p:txBody>
            <a:bodyPr wrap="none">
              <a:spAutoFit/>
            </a:bodyPr>
            <a:lstStyle/>
            <a:p>
              <a:r>
                <a:rPr lang="zh-CN" altLang="en-US" sz="2000" b="1" dirty="0">
                  <a:latin typeface="微软雅黑" pitchFamily="34" charset="-122"/>
                  <a:ea typeface="微软雅黑" pitchFamily="34" charset="-122"/>
                </a:rPr>
                <a:t>优化公司资源</a:t>
              </a:r>
              <a:endParaRPr lang="zh-CN" altLang="en-US" sz="2000" dirty="0">
                <a:latin typeface="微软雅黑" pitchFamily="34" charset="-122"/>
                <a:ea typeface="微软雅黑" pitchFamily="34" charset="-122"/>
              </a:endParaRPr>
            </a:p>
          </p:txBody>
        </p:sp>
      </p:grpSp>
      <p:grpSp>
        <p:nvGrpSpPr>
          <p:cNvPr id="39" name="组合 38"/>
          <p:cNvGrpSpPr/>
          <p:nvPr/>
        </p:nvGrpSpPr>
        <p:grpSpPr>
          <a:xfrm>
            <a:off x="2398491" y="4099786"/>
            <a:ext cx="1723548" cy="2340582"/>
            <a:chOff x="2407948" y="3536155"/>
            <a:chExt cx="1814223" cy="2938527"/>
          </a:xfrm>
        </p:grpSpPr>
        <p:pic>
          <p:nvPicPr>
            <p:cNvPr id="28" name="Picture 4" descr="http://t1.baidu.com/it/u=2400376608,4076490763&amp;fm=0&amp;gp=0.jpg">
              <a:hlinkClick r:id="rId7"/>
            </p:cNvPr>
            <p:cNvPicPr>
              <a:picLocks noChangeAspect="1" noChangeArrowheads="1"/>
            </p:cNvPicPr>
            <p:nvPr/>
          </p:nvPicPr>
          <p:blipFill>
            <a:blip r:embed="rId8"/>
            <a:srcRect/>
            <a:stretch>
              <a:fillRect/>
            </a:stretch>
          </p:blipFill>
          <p:spPr bwMode="auto">
            <a:xfrm>
              <a:off x="2460985" y="3536155"/>
              <a:ext cx="1672350" cy="2397476"/>
            </a:xfrm>
            <a:prstGeom prst="rect">
              <a:avLst/>
            </a:prstGeom>
            <a:noFill/>
          </p:spPr>
        </p:pic>
        <p:sp>
          <p:nvSpPr>
            <p:cNvPr id="8" name="矩形 7"/>
            <p:cNvSpPr/>
            <p:nvPr/>
          </p:nvSpPr>
          <p:spPr>
            <a:xfrm>
              <a:off x="2407948" y="5972356"/>
              <a:ext cx="1814223" cy="502326"/>
            </a:xfrm>
            <a:prstGeom prst="rect">
              <a:avLst/>
            </a:prstGeom>
          </p:spPr>
          <p:txBody>
            <a:bodyPr wrap="none">
              <a:spAutoFit/>
            </a:bodyPr>
            <a:lstStyle/>
            <a:p>
              <a:r>
                <a:rPr lang="zh-CN" altLang="en-US" sz="2000" b="1" dirty="0">
                  <a:latin typeface="微软雅黑" pitchFamily="34" charset="-122"/>
                  <a:ea typeface="微软雅黑" pitchFamily="34" charset="-122"/>
                </a:rPr>
                <a:t>强化客户管理</a:t>
              </a:r>
              <a:endParaRPr lang="zh-CN" altLang="en-US" sz="2000" dirty="0">
                <a:latin typeface="微软雅黑" pitchFamily="34" charset="-122"/>
                <a:ea typeface="微软雅黑" pitchFamily="34" charset="-122"/>
              </a:endParaRPr>
            </a:p>
          </p:txBody>
        </p:sp>
      </p:grpSp>
      <p:grpSp>
        <p:nvGrpSpPr>
          <p:cNvPr id="40" name="组合 39"/>
          <p:cNvGrpSpPr/>
          <p:nvPr/>
        </p:nvGrpSpPr>
        <p:grpSpPr>
          <a:xfrm>
            <a:off x="5323604" y="4159554"/>
            <a:ext cx="1723549" cy="2280812"/>
            <a:chOff x="5320211" y="3669706"/>
            <a:chExt cx="1926743" cy="2831781"/>
          </a:xfrm>
        </p:grpSpPr>
        <p:pic>
          <p:nvPicPr>
            <p:cNvPr id="23" name="Picture 2" descr="http://t1.baidu.com/it/u=817552532,883220518&amp;fm=0&amp;gp=0.jpg">
              <a:hlinkClick r:id="rId9"/>
            </p:cNvPr>
            <p:cNvPicPr>
              <a:picLocks noChangeAspect="1" noChangeArrowheads="1"/>
            </p:cNvPicPr>
            <p:nvPr/>
          </p:nvPicPr>
          <p:blipFill>
            <a:blip r:embed="rId10"/>
            <a:srcRect/>
            <a:stretch>
              <a:fillRect/>
            </a:stretch>
          </p:blipFill>
          <p:spPr bwMode="auto">
            <a:xfrm>
              <a:off x="5375925" y="3669706"/>
              <a:ext cx="1571636" cy="2222516"/>
            </a:xfrm>
            <a:prstGeom prst="rect">
              <a:avLst/>
            </a:prstGeom>
            <a:noFill/>
          </p:spPr>
        </p:pic>
        <p:sp>
          <p:nvSpPr>
            <p:cNvPr id="38" name="矩形 37"/>
            <p:cNvSpPr/>
            <p:nvPr/>
          </p:nvSpPr>
          <p:spPr>
            <a:xfrm>
              <a:off x="5320211" y="6004724"/>
              <a:ext cx="1926743" cy="496763"/>
            </a:xfrm>
            <a:prstGeom prst="rect">
              <a:avLst/>
            </a:prstGeom>
          </p:spPr>
          <p:txBody>
            <a:bodyPr wrap="none">
              <a:spAutoFit/>
            </a:bodyPr>
            <a:lstStyle/>
            <a:p>
              <a:r>
                <a:rPr lang="zh-CN" altLang="en-US" sz="2000" b="1" dirty="0">
                  <a:latin typeface="微软雅黑" pitchFamily="34" charset="-122"/>
                  <a:ea typeface="微软雅黑" pitchFamily="34" charset="-122"/>
                </a:rPr>
                <a:t>提升财务效率</a:t>
              </a:r>
              <a:endParaRPr lang="zh-CN" altLang="en-US" sz="2000" dirty="0">
                <a:latin typeface="微软雅黑" pitchFamily="34" charset="-122"/>
                <a:ea typeface="微软雅黑" pitchFamily="34" charset="-122"/>
              </a:endParaRPr>
            </a:p>
          </p:txBody>
        </p:sp>
      </p:grpSp>
    </p:spTree>
    <p:extLst>
      <p:ext uri="{BB962C8B-B14F-4D97-AF65-F5344CB8AC3E}">
        <p14:creationId xmlns:p14="http://schemas.microsoft.com/office/powerpoint/2010/main" val="1179305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
                                        </p:tgtEl>
                                        <p:attrNameLst>
                                          <p:attrName>style.visibility</p:attrName>
                                        </p:attrNameLst>
                                      </p:cBhvr>
                                      <p:to>
                                        <p:strVal val="visible"/>
                                      </p:to>
                                    </p:set>
                                    <p:anim calcmode="lin" valueType="num">
                                      <p:cBhvr additive="base">
                                        <p:cTn id="13" dur="500" fill="hold"/>
                                        <p:tgtEl>
                                          <p:spTgt spid="40"/>
                                        </p:tgtEl>
                                        <p:attrNameLst>
                                          <p:attrName>ppt_x</p:attrName>
                                        </p:attrNameLst>
                                      </p:cBhvr>
                                      <p:tavLst>
                                        <p:tav tm="0">
                                          <p:val>
                                            <p:strVal val="#ppt_x"/>
                                          </p:val>
                                        </p:tav>
                                        <p:tav tm="100000">
                                          <p:val>
                                            <p:strVal val="#ppt_x"/>
                                          </p:val>
                                        </p:tav>
                                      </p:tavLst>
                                    </p:anim>
                                    <p:anim calcmode="lin" valueType="num">
                                      <p:cBhvr additive="base">
                                        <p:cTn id="1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00" fill="hold"/>
                                        <p:tgtEl>
                                          <p:spTgt spid="41"/>
                                        </p:tgtEl>
                                        <p:attrNameLst>
                                          <p:attrName>ppt_x</p:attrName>
                                        </p:attrNameLst>
                                      </p:cBhvr>
                                      <p:tavLst>
                                        <p:tav tm="0">
                                          <p:val>
                                            <p:strVal val="#ppt_x"/>
                                          </p:val>
                                        </p:tav>
                                        <p:tav tm="100000">
                                          <p:val>
                                            <p:strVal val="#ppt_x"/>
                                          </p:val>
                                        </p:tav>
                                      </p:tavLst>
                                    </p:anim>
                                    <p:anim calcmode="lin" valueType="num">
                                      <p:cBhvr additive="base">
                                        <p:cTn id="2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3"/>
          <p:cNvSpPr>
            <a:spLocks noChangeArrowheads="1"/>
          </p:cNvSpPr>
          <p:nvPr/>
        </p:nvSpPr>
        <p:spPr bwMode="gray">
          <a:xfrm rot="39573186">
            <a:off x="6139657" y="2260753"/>
            <a:ext cx="792162" cy="288925"/>
          </a:xfrm>
          <a:prstGeom prst="rightArrow">
            <a:avLst>
              <a:gd name="adj1" fmla="val 35167"/>
              <a:gd name="adj2" fmla="val 111028"/>
            </a:avLst>
          </a:prstGeom>
          <a:gradFill rotWithShape="1">
            <a:gsLst>
              <a:gs pos="0">
                <a:schemeClr val="accent1">
                  <a:gamma/>
                  <a:shade val="89020"/>
                  <a:invGamma/>
                  <a:alpha val="0"/>
                </a:schemeClr>
              </a:gs>
              <a:gs pos="100000">
                <a:schemeClr val="accent1"/>
              </a:gs>
            </a:gsLst>
            <a:lin ang="0" scaled="1"/>
          </a:gradFill>
          <a:ln w="0" algn="ctr">
            <a:noFill/>
            <a:miter lim="800000"/>
          </a:ln>
          <a:effectLst/>
        </p:spPr>
        <p:txBody>
          <a:bodyPr wrap="none" anchor="ctr"/>
          <a:lstStyle/>
          <a:p>
            <a:endParaRPr lang="zh-CN" altLang="en-US">
              <a:latin typeface="微软雅黑" pitchFamily="34" charset="-122"/>
              <a:ea typeface="微软雅黑" pitchFamily="34" charset="-122"/>
            </a:endParaRPr>
          </a:p>
        </p:txBody>
      </p:sp>
      <p:sp>
        <p:nvSpPr>
          <p:cNvPr id="5" name="AutoShape 4"/>
          <p:cNvSpPr>
            <a:spLocks noChangeArrowheads="1"/>
          </p:cNvSpPr>
          <p:nvPr/>
        </p:nvSpPr>
        <p:spPr bwMode="gray">
          <a:xfrm rot="3465783">
            <a:off x="6139657" y="4424516"/>
            <a:ext cx="792163" cy="288925"/>
          </a:xfrm>
          <a:prstGeom prst="rightArrow">
            <a:avLst>
              <a:gd name="adj1" fmla="val 35167"/>
              <a:gd name="adj2" fmla="val 111029"/>
            </a:avLst>
          </a:prstGeom>
          <a:gradFill rotWithShape="1">
            <a:gsLst>
              <a:gs pos="0">
                <a:schemeClr val="accent1">
                  <a:gamma/>
                  <a:shade val="89020"/>
                  <a:invGamma/>
                  <a:alpha val="0"/>
                </a:schemeClr>
              </a:gs>
              <a:gs pos="100000">
                <a:schemeClr val="accent1"/>
              </a:gs>
            </a:gsLst>
            <a:lin ang="0" scaled="1"/>
          </a:gradFill>
          <a:ln w="0" algn="ctr">
            <a:noFill/>
            <a:miter lim="800000"/>
          </a:ln>
          <a:effectLst/>
        </p:spPr>
        <p:txBody>
          <a:bodyPr wrap="none" anchor="ctr"/>
          <a:lstStyle/>
          <a:p>
            <a:endParaRPr lang="zh-CN" altLang="en-US">
              <a:latin typeface="微软雅黑" pitchFamily="34" charset="-122"/>
              <a:ea typeface="微软雅黑" pitchFamily="34" charset="-122"/>
            </a:endParaRPr>
          </a:p>
        </p:txBody>
      </p:sp>
      <p:sp>
        <p:nvSpPr>
          <p:cNvPr id="6" name="AutoShape 5"/>
          <p:cNvSpPr>
            <a:spLocks noChangeArrowheads="1"/>
          </p:cNvSpPr>
          <p:nvPr/>
        </p:nvSpPr>
        <p:spPr bwMode="gray">
          <a:xfrm rot="35969022">
            <a:off x="4920457" y="2336953"/>
            <a:ext cx="792162" cy="288925"/>
          </a:xfrm>
          <a:prstGeom prst="rightArrow">
            <a:avLst>
              <a:gd name="adj1" fmla="val 35167"/>
              <a:gd name="adj2" fmla="val 111028"/>
            </a:avLst>
          </a:prstGeom>
          <a:gradFill rotWithShape="1">
            <a:gsLst>
              <a:gs pos="0">
                <a:schemeClr val="accent1">
                  <a:gamma/>
                  <a:shade val="89020"/>
                  <a:invGamma/>
                  <a:alpha val="0"/>
                </a:schemeClr>
              </a:gs>
              <a:gs pos="100000">
                <a:schemeClr val="accent1"/>
              </a:gs>
            </a:gsLst>
            <a:lin ang="0" scaled="1"/>
          </a:gradFill>
          <a:ln w="0" algn="ctr">
            <a:noFill/>
            <a:miter lim="800000"/>
          </a:ln>
          <a:effectLst/>
        </p:spPr>
        <p:txBody>
          <a:bodyPr wrap="none" anchor="ctr"/>
          <a:lstStyle/>
          <a:p>
            <a:endParaRPr lang="zh-CN" altLang="en-US">
              <a:latin typeface="微软雅黑" pitchFamily="34" charset="-122"/>
              <a:ea typeface="微软雅黑" pitchFamily="34" charset="-122"/>
            </a:endParaRPr>
          </a:p>
        </p:txBody>
      </p:sp>
      <p:sp>
        <p:nvSpPr>
          <p:cNvPr id="7" name="AutoShape 6"/>
          <p:cNvSpPr>
            <a:spLocks noChangeArrowheads="1"/>
          </p:cNvSpPr>
          <p:nvPr/>
        </p:nvSpPr>
        <p:spPr bwMode="gray">
          <a:xfrm rot="7535209">
            <a:off x="4882357" y="4391178"/>
            <a:ext cx="792162" cy="288925"/>
          </a:xfrm>
          <a:prstGeom prst="rightArrow">
            <a:avLst>
              <a:gd name="adj1" fmla="val 35167"/>
              <a:gd name="adj2" fmla="val 111028"/>
            </a:avLst>
          </a:prstGeom>
          <a:gradFill rotWithShape="1">
            <a:gsLst>
              <a:gs pos="0">
                <a:schemeClr val="accent1">
                  <a:gamma/>
                  <a:shade val="89020"/>
                  <a:invGamma/>
                  <a:alpha val="0"/>
                </a:schemeClr>
              </a:gs>
              <a:gs pos="100000">
                <a:schemeClr val="accent1"/>
              </a:gs>
            </a:gsLst>
            <a:lin ang="0" scaled="1"/>
          </a:gradFill>
          <a:ln w="0" algn="ctr">
            <a:noFill/>
            <a:miter lim="800000"/>
          </a:ln>
          <a:effectLst/>
        </p:spPr>
        <p:txBody>
          <a:bodyPr wrap="none" anchor="ctr"/>
          <a:lstStyle/>
          <a:p>
            <a:endParaRPr lang="zh-CN" altLang="en-US">
              <a:latin typeface="微软雅黑" pitchFamily="34" charset="-122"/>
              <a:ea typeface="微软雅黑" pitchFamily="34" charset="-122"/>
            </a:endParaRPr>
          </a:p>
        </p:txBody>
      </p:sp>
      <p:sp>
        <p:nvSpPr>
          <p:cNvPr id="8" name="AutoShape 7"/>
          <p:cNvSpPr>
            <a:spLocks noChangeArrowheads="1"/>
          </p:cNvSpPr>
          <p:nvPr/>
        </p:nvSpPr>
        <p:spPr bwMode="gray">
          <a:xfrm>
            <a:off x="6718301" y="3388672"/>
            <a:ext cx="792163" cy="288925"/>
          </a:xfrm>
          <a:prstGeom prst="rightArrow">
            <a:avLst>
              <a:gd name="adj1" fmla="val 35167"/>
              <a:gd name="adj2" fmla="val 111029"/>
            </a:avLst>
          </a:prstGeom>
          <a:gradFill rotWithShape="1">
            <a:gsLst>
              <a:gs pos="0">
                <a:schemeClr val="accent1">
                  <a:gamma/>
                  <a:shade val="89020"/>
                  <a:invGamma/>
                  <a:alpha val="0"/>
                </a:schemeClr>
              </a:gs>
              <a:gs pos="100000">
                <a:schemeClr val="accent1"/>
              </a:gs>
            </a:gsLst>
            <a:lin ang="0" scaled="1"/>
          </a:gradFill>
          <a:ln w="0" algn="ctr">
            <a:noFill/>
            <a:miter lim="800000"/>
          </a:ln>
          <a:effectLst/>
        </p:spPr>
        <p:txBody>
          <a:bodyPr wrap="none" anchor="ctr"/>
          <a:lstStyle/>
          <a:p>
            <a:endParaRPr lang="zh-CN" altLang="en-US">
              <a:latin typeface="微软雅黑" pitchFamily="34" charset="-122"/>
              <a:ea typeface="微软雅黑" pitchFamily="34" charset="-122"/>
            </a:endParaRPr>
          </a:p>
        </p:txBody>
      </p:sp>
      <p:sp>
        <p:nvSpPr>
          <p:cNvPr id="9" name="AutoShape 8"/>
          <p:cNvSpPr>
            <a:spLocks noChangeArrowheads="1"/>
          </p:cNvSpPr>
          <p:nvPr/>
        </p:nvSpPr>
        <p:spPr bwMode="gray">
          <a:xfrm rot="-10800000">
            <a:off x="4308475" y="3382322"/>
            <a:ext cx="863600" cy="288925"/>
          </a:xfrm>
          <a:prstGeom prst="rightArrow">
            <a:avLst>
              <a:gd name="adj1" fmla="val 35167"/>
              <a:gd name="adj2" fmla="val 121041"/>
            </a:avLst>
          </a:prstGeom>
          <a:gradFill rotWithShape="1">
            <a:gsLst>
              <a:gs pos="0">
                <a:schemeClr val="accent1">
                  <a:gamma/>
                  <a:shade val="89020"/>
                  <a:invGamma/>
                  <a:alpha val="0"/>
                </a:schemeClr>
              </a:gs>
              <a:gs pos="100000">
                <a:schemeClr val="accent1"/>
              </a:gs>
            </a:gsLst>
            <a:lin ang="0" scaled="1"/>
          </a:gradFill>
          <a:ln w="0" algn="ctr">
            <a:noFill/>
            <a:miter lim="800000"/>
          </a:ln>
          <a:effectLst/>
        </p:spPr>
        <p:txBody>
          <a:bodyPr wrap="none" anchor="ctr"/>
          <a:lstStyle/>
          <a:p>
            <a:endParaRPr lang="zh-CN" altLang="en-US">
              <a:latin typeface="微软雅黑" pitchFamily="34" charset="-122"/>
              <a:ea typeface="微软雅黑" pitchFamily="34" charset="-122"/>
            </a:endParaRPr>
          </a:p>
        </p:txBody>
      </p:sp>
      <p:sp>
        <p:nvSpPr>
          <p:cNvPr id="10" name="Oval 9"/>
          <p:cNvSpPr>
            <a:spLocks noChangeArrowheads="1"/>
          </p:cNvSpPr>
          <p:nvPr/>
        </p:nvSpPr>
        <p:spPr bwMode="auto">
          <a:xfrm>
            <a:off x="4029076" y="3244090"/>
            <a:ext cx="3743325" cy="519351"/>
          </a:xfrm>
          <a:prstGeom prst="ellipse">
            <a:avLst/>
          </a:prstGeom>
          <a:noFill/>
          <a:ln w="38100" algn="ctr">
            <a:solidFill>
              <a:schemeClr val="bg2"/>
            </a:solidFill>
            <a:round/>
          </a:ln>
          <a:effectLst/>
        </p:spPr>
        <p:txBody>
          <a:bodyPr anchor="ctr">
            <a:spAutoFit/>
          </a:bodyPr>
          <a:lstStyle/>
          <a:p>
            <a:endParaRPr lang="zh-CN" altLang="en-US">
              <a:latin typeface="微软雅黑" pitchFamily="34" charset="-122"/>
              <a:ea typeface="微软雅黑" pitchFamily="34" charset="-122"/>
            </a:endParaRPr>
          </a:p>
        </p:txBody>
      </p:sp>
      <p:grpSp>
        <p:nvGrpSpPr>
          <p:cNvPr id="11" name="Group 10"/>
          <p:cNvGrpSpPr/>
          <p:nvPr/>
        </p:nvGrpSpPr>
        <p:grpSpPr bwMode="auto">
          <a:xfrm>
            <a:off x="4791076" y="1678934"/>
            <a:ext cx="360363" cy="360362"/>
            <a:chOff x="1973" y="1706"/>
            <a:chExt cx="227" cy="227"/>
          </a:xfrm>
        </p:grpSpPr>
        <p:sp>
          <p:nvSpPr>
            <p:cNvPr id="12" name="Oval 11"/>
            <p:cNvSpPr>
              <a:spLocks noChangeArrowheads="1"/>
            </p:cNvSpPr>
            <p:nvPr/>
          </p:nvSpPr>
          <p:spPr bwMode="gray">
            <a:xfrm>
              <a:off x="1973" y="1706"/>
              <a:ext cx="227" cy="227"/>
            </a:xfrm>
            <a:prstGeom prst="ellipse">
              <a:avLst/>
            </a:prstGeom>
            <a:gradFill rotWithShape="1">
              <a:gsLst>
                <a:gs pos="0">
                  <a:schemeClr val="accent2">
                    <a:gamma/>
                    <a:tint val="33725"/>
                    <a:invGamma/>
                  </a:schemeClr>
                </a:gs>
                <a:gs pos="100000">
                  <a:schemeClr val="accent2"/>
                </a:gs>
              </a:gsLst>
              <a:path path="shape">
                <a:fillToRect l="50000" t="50000" r="50000" b="50000"/>
              </a:path>
            </a:gradFill>
            <a:ln w="9525" algn="ctr">
              <a:noFill/>
              <a:round/>
            </a:ln>
            <a:effectLst/>
          </p:spPr>
          <p:txBody>
            <a:bodyPr wrap="none" anchor="ctr"/>
            <a:lstStyle/>
            <a:p>
              <a:endParaRPr lang="zh-CN" altLang="en-US">
                <a:latin typeface="微软雅黑" pitchFamily="34" charset="-122"/>
                <a:ea typeface="微软雅黑" pitchFamily="34" charset="-122"/>
              </a:endParaRPr>
            </a:p>
          </p:txBody>
        </p:sp>
        <p:sp>
          <p:nvSpPr>
            <p:cNvPr id="13" name="Oval 12"/>
            <p:cNvSpPr>
              <a:spLocks noChangeArrowheads="1"/>
            </p:cNvSpPr>
            <p:nvPr/>
          </p:nvSpPr>
          <p:spPr bwMode="gray">
            <a:xfrm>
              <a:off x="1983" y="1725"/>
              <a:ext cx="141" cy="142"/>
            </a:xfrm>
            <a:prstGeom prst="ellipse">
              <a:avLst/>
            </a:prstGeom>
            <a:gradFill rotWithShape="1">
              <a:gsLst>
                <a:gs pos="0">
                  <a:schemeClr val="accent2">
                    <a:gamma/>
                    <a:tint val="33725"/>
                    <a:invGamma/>
                  </a:schemeClr>
                </a:gs>
                <a:gs pos="100000">
                  <a:schemeClr val="accent2">
                    <a:alpha val="0"/>
                  </a:schemeClr>
                </a:gs>
              </a:gsLst>
              <a:path path="shape">
                <a:fillToRect l="50000" t="50000" r="50000" b="50000"/>
              </a:path>
            </a:gradFill>
            <a:ln w="9525" algn="ctr">
              <a:noFill/>
              <a:round/>
            </a:ln>
            <a:effectLst/>
          </p:spPr>
          <p:txBody>
            <a:bodyPr wrap="none" anchor="ctr"/>
            <a:lstStyle/>
            <a:p>
              <a:endParaRPr lang="zh-CN" altLang="en-US">
                <a:latin typeface="微软雅黑" pitchFamily="34" charset="-122"/>
                <a:ea typeface="微软雅黑" pitchFamily="34" charset="-122"/>
              </a:endParaRPr>
            </a:p>
          </p:txBody>
        </p:sp>
      </p:grpSp>
      <p:grpSp>
        <p:nvGrpSpPr>
          <p:cNvPr id="14" name="Group 13"/>
          <p:cNvGrpSpPr/>
          <p:nvPr/>
        </p:nvGrpSpPr>
        <p:grpSpPr bwMode="auto">
          <a:xfrm>
            <a:off x="3846513" y="3334697"/>
            <a:ext cx="360362" cy="360363"/>
            <a:chOff x="1565" y="2659"/>
            <a:chExt cx="227" cy="227"/>
          </a:xfrm>
        </p:grpSpPr>
        <p:sp>
          <p:nvSpPr>
            <p:cNvPr id="15" name="Oval 14"/>
            <p:cNvSpPr>
              <a:spLocks noChangeArrowheads="1"/>
            </p:cNvSpPr>
            <p:nvPr/>
          </p:nvSpPr>
          <p:spPr bwMode="gray">
            <a:xfrm>
              <a:off x="1565" y="2659"/>
              <a:ext cx="227" cy="227"/>
            </a:xfrm>
            <a:prstGeom prst="ellipse">
              <a:avLst/>
            </a:prstGeom>
            <a:gradFill rotWithShape="1">
              <a:gsLst>
                <a:gs pos="0">
                  <a:schemeClr val="accent2">
                    <a:gamma/>
                    <a:tint val="33725"/>
                    <a:invGamma/>
                  </a:schemeClr>
                </a:gs>
                <a:gs pos="100000">
                  <a:schemeClr val="accent2"/>
                </a:gs>
              </a:gsLst>
              <a:path path="shape">
                <a:fillToRect l="50000" t="50000" r="50000" b="50000"/>
              </a:path>
            </a:gradFill>
            <a:ln w="9525" algn="ctr">
              <a:noFill/>
              <a:round/>
            </a:ln>
            <a:effectLst/>
          </p:spPr>
          <p:txBody>
            <a:bodyPr wrap="none" anchor="ctr"/>
            <a:lstStyle/>
            <a:p>
              <a:endParaRPr lang="zh-CN" altLang="en-US">
                <a:latin typeface="微软雅黑" pitchFamily="34" charset="-122"/>
                <a:ea typeface="微软雅黑" pitchFamily="34" charset="-122"/>
              </a:endParaRPr>
            </a:p>
          </p:txBody>
        </p:sp>
        <p:sp>
          <p:nvSpPr>
            <p:cNvPr id="16" name="Oval 15"/>
            <p:cNvSpPr>
              <a:spLocks noChangeArrowheads="1"/>
            </p:cNvSpPr>
            <p:nvPr/>
          </p:nvSpPr>
          <p:spPr bwMode="gray">
            <a:xfrm>
              <a:off x="1575" y="2678"/>
              <a:ext cx="141" cy="142"/>
            </a:xfrm>
            <a:prstGeom prst="ellipse">
              <a:avLst/>
            </a:prstGeom>
            <a:gradFill rotWithShape="1">
              <a:gsLst>
                <a:gs pos="0">
                  <a:schemeClr val="accent2">
                    <a:gamma/>
                    <a:tint val="33725"/>
                    <a:invGamma/>
                  </a:schemeClr>
                </a:gs>
                <a:gs pos="100000">
                  <a:schemeClr val="accent2">
                    <a:alpha val="0"/>
                  </a:schemeClr>
                </a:gs>
              </a:gsLst>
              <a:path path="shape">
                <a:fillToRect l="50000" t="50000" r="50000" b="50000"/>
              </a:path>
            </a:gradFill>
            <a:ln w="9525" algn="ctr">
              <a:noFill/>
              <a:round/>
            </a:ln>
            <a:effectLst/>
          </p:spPr>
          <p:txBody>
            <a:bodyPr wrap="none" anchor="ctr"/>
            <a:lstStyle/>
            <a:p>
              <a:endParaRPr lang="zh-CN" altLang="en-US">
                <a:latin typeface="微软雅黑" pitchFamily="34" charset="-122"/>
                <a:ea typeface="微软雅黑" pitchFamily="34" charset="-122"/>
              </a:endParaRPr>
            </a:p>
          </p:txBody>
        </p:sp>
      </p:grpSp>
      <p:grpSp>
        <p:nvGrpSpPr>
          <p:cNvPr id="17" name="Group 16"/>
          <p:cNvGrpSpPr/>
          <p:nvPr/>
        </p:nvGrpSpPr>
        <p:grpSpPr bwMode="auto">
          <a:xfrm>
            <a:off x="4710113" y="4877747"/>
            <a:ext cx="360362" cy="360363"/>
            <a:chOff x="2109" y="3612"/>
            <a:chExt cx="227" cy="227"/>
          </a:xfrm>
        </p:grpSpPr>
        <p:sp>
          <p:nvSpPr>
            <p:cNvPr id="18" name="Oval 17"/>
            <p:cNvSpPr>
              <a:spLocks noChangeArrowheads="1"/>
            </p:cNvSpPr>
            <p:nvPr/>
          </p:nvSpPr>
          <p:spPr bwMode="gray">
            <a:xfrm>
              <a:off x="2109" y="3612"/>
              <a:ext cx="227" cy="227"/>
            </a:xfrm>
            <a:prstGeom prst="ellipse">
              <a:avLst/>
            </a:prstGeom>
            <a:gradFill rotWithShape="1">
              <a:gsLst>
                <a:gs pos="0">
                  <a:schemeClr val="accent2">
                    <a:gamma/>
                    <a:tint val="33725"/>
                    <a:invGamma/>
                  </a:schemeClr>
                </a:gs>
                <a:gs pos="100000">
                  <a:schemeClr val="accent2"/>
                </a:gs>
              </a:gsLst>
              <a:path path="shape">
                <a:fillToRect l="50000" t="50000" r="50000" b="50000"/>
              </a:path>
            </a:gradFill>
            <a:ln w="9525" algn="ctr">
              <a:noFill/>
              <a:round/>
            </a:ln>
            <a:effectLst/>
          </p:spPr>
          <p:txBody>
            <a:bodyPr wrap="none" anchor="ctr"/>
            <a:lstStyle/>
            <a:p>
              <a:endParaRPr lang="zh-CN" altLang="en-US">
                <a:latin typeface="微软雅黑" pitchFamily="34" charset="-122"/>
                <a:ea typeface="微软雅黑" pitchFamily="34" charset="-122"/>
              </a:endParaRPr>
            </a:p>
          </p:txBody>
        </p:sp>
        <p:sp>
          <p:nvSpPr>
            <p:cNvPr id="19" name="Oval 18"/>
            <p:cNvSpPr>
              <a:spLocks noChangeArrowheads="1"/>
            </p:cNvSpPr>
            <p:nvPr/>
          </p:nvSpPr>
          <p:spPr bwMode="gray">
            <a:xfrm>
              <a:off x="2119" y="3631"/>
              <a:ext cx="141" cy="142"/>
            </a:xfrm>
            <a:prstGeom prst="ellipse">
              <a:avLst/>
            </a:prstGeom>
            <a:gradFill rotWithShape="1">
              <a:gsLst>
                <a:gs pos="0">
                  <a:schemeClr val="accent2">
                    <a:gamma/>
                    <a:tint val="33725"/>
                    <a:invGamma/>
                  </a:schemeClr>
                </a:gs>
                <a:gs pos="100000">
                  <a:schemeClr val="accent2">
                    <a:alpha val="0"/>
                  </a:schemeClr>
                </a:gs>
              </a:gsLst>
              <a:path path="shape">
                <a:fillToRect l="50000" t="50000" r="50000" b="50000"/>
              </a:path>
            </a:gradFill>
            <a:ln w="9525" algn="ctr">
              <a:noFill/>
              <a:round/>
            </a:ln>
            <a:effectLst/>
          </p:spPr>
          <p:txBody>
            <a:bodyPr wrap="none" anchor="ctr"/>
            <a:lstStyle/>
            <a:p>
              <a:endParaRPr lang="zh-CN" altLang="en-US">
                <a:latin typeface="微软雅黑" pitchFamily="34" charset="-122"/>
                <a:ea typeface="微软雅黑" pitchFamily="34" charset="-122"/>
              </a:endParaRPr>
            </a:p>
          </p:txBody>
        </p:sp>
      </p:grpSp>
      <p:grpSp>
        <p:nvGrpSpPr>
          <p:cNvPr id="20" name="Group 19"/>
          <p:cNvGrpSpPr/>
          <p:nvPr/>
        </p:nvGrpSpPr>
        <p:grpSpPr bwMode="auto">
          <a:xfrm>
            <a:off x="6640513" y="1658297"/>
            <a:ext cx="360362" cy="360363"/>
            <a:chOff x="3470" y="1706"/>
            <a:chExt cx="227" cy="227"/>
          </a:xfrm>
        </p:grpSpPr>
        <p:sp>
          <p:nvSpPr>
            <p:cNvPr id="21" name="Oval 20"/>
            <p:cNvSpPr>
              <a:spLocks noChangeArrowheads="1"/>
            </p:cNvSpPr>
            <p:nvPr/>
          </p:nvSpPr>
          <p:spPr bwMode="gray">
            <a:xfrm>
              <a:off x="3470" y="1706"/>
              <a:ext cx="227" cy="227"/>
            </a:xfrm>
            <a:prstGeom prst="ellipse">
              <a:avLst/>
            </a:prstGeom>
            <a:gradFill rotWithShape="1">
              <a:gsLst>
                <a:gs pos="0">
                  <a:schemeClr val="accent2">
                    <a:gamma/>
                    <a:tint val="33725"/>
                    <a:invGamma/>
                  </a:schemeClr>
                </a:gs>
                <a:gs pos="100000">
                  <a:schemeClr val="accent2"/>
                </a:gs>
              </a:gsLst>
              <a:path path="shape">
                <a:fillToRect l="50000" t="50000" r="50000" b="50000"/>
              </a:path>
            </a:gradFill>
            <a:ln w="9525" algn="ctr">
              <a:noFill/>
              <a:round/>
            </a:ln>
            <a:effectLst/>
          </p:spPr>
          <p:txBody>
            <a:bodyPr wrap="none" anchor="ctr"/>
            <a:lstStyle/>
            <a:p>
              <a:endParaRPr lang="zh-CN" altLang="en-US">
                <a:latin typeface="微软雅黑" pitchFamily="34" charset="-122"/>
                <a:ea typeface="微软雅黑" pitchFamily="34" charset="-122"/>
              </a:endParaRPr>
            </a:p>
          </p:txBody>
        </p:sp>
        <p:sp>
          <p:nvSpPr>
            <p:cNvPr id="22" name="Oval 21"/>
            <p:cNvSpPr>
              <a:spLocks noChangeArrowheads="1"/>
            </p:cNvSpPr>
            <p:nvPr/>
          </p:nvSpPr>
          <p:spPr bwMode="gray">
            <a:xfrm>
              <a:off x="3480" y="1725"/>
              <a:ext cx="141" cy="142"/>
            </a:xfrm>
            <a:prstGeom prst="ellipse">
              <a:avLst/>
            </a:prstGeom>
            <a:gradFill rotWithShape="1">
              <a:gsLst>
                <a:gs pos="0">
                  <a:schemeClr val="accent2">
                    <a:gamma/>
                    <a:tint val="33725"/>
                    <a:invGamma/>
                  </a:schemeClr>
                </a:gs>
                <a:gs pos="100000">
                  <a:schemeClr val="accent2">
                    <a:alpha val="0"/>
                  </a:schemeClr>
                </a:gs>
              </a:gsLst>
              <a:path path="shape">
                <a:fillToRect l="50000" t="50000" r="50000" b="50000"/>
              </a:path>
            </a:gradFill>
            <a:ln w="9525" algn="ctr">
              <a:noFill/>
              <a:round/>
            </a:ln>
            <a:effectLst/>
          </p:spPr>
          <p:txBody>
            <a:bodyPr wrap="none" anchor="ctr"/>
            <a:lstStyle/>
            <a:p>
              <a:endParaRPr lang="zh-CN" altLang="en-US">
                <a:latin typeface="微软雅黑" pitchFamily="34" charset="-122"/>
                <a:ea typeface="微软雅黑" pitchFamily="34" charset="-122"/>
              </a:endParaRPr>
            </a:p>
          </p:txBody>
        </p:sp>
      </p:grpSp>
      <p:grpSp>
        <p:nvGrpSpPr>
          <p:cNvPr id="23" name="Group 22"/>
          <p:cNvGrpSpPr/>
          <p:nvPr/>
        </p:nvGrpSpPr>
        <p:grpSpPr bwMode="auto">
          <a:xfrm>
            <a:off x="7589838" y="3334697"/>
            <a:ext cx="360362" cy="360363"/>
            <a:chOff x="3923" y="2659"/>
            <a:chExt cx="227" cy="227"/>
          </a:xfrm>
        </p:grpSpPr>
        <p:sp>
          <p:nvSpPr>
            <p:cNvPr id="24" name="Oval 23"/>
            <p:cNvSpPr>
              <a:spLocks noChangeArrowheads="1"/>
            </p:cNvSpPr>
            <p:nvPr/>
          </p:nvSpPr>
          <p:spPr bwMode="gray">
            <a:xfrm>
              <a:off x="3923" y="2659"/>
              <a:ext cx="227" cy="227"/>
            </a:xfrm>
            <a:prstGeom prst="ellipse">
              <a:avLst/>
            </a:prstGeom>
            <a:gradFill rotWithShape="1">
              <a:gsLst>
                <a:gs pos="0">
                  <a:schemeClr val="accent2">
                    <a:gamma/>
                    <a:tint val="33725"/>
                    <a:invGamma/>
                  </a:schemeClr>
                </a:gs>
                <a:gs pos="100000">
                  <a:schemeClr val="accent2"/>
                </a:gs>
              </a:gsLst>
              <a:path path="shape">
                <a:fillToRect l="50000" t="50000" r="50000" b="50000"/>
              </a:path>
            </a:gradFill>
            <a:ln w="9525" algn="ctr">
              <a:noFill/>
              <a:round/>
            </a:ln>
            <a:effectLst/>
          </p:spPr>
          <p:txBody>
            <a:bodyPr wrap="none" anchor="ctr"/>
            <a:lstStyle/>
            <a:p>
              <a:endParaRPr lang="zh-CN" altLang="en-US">
                <a:latin typeface="微软雅黑" pitchFamily="34" charset="-122"/>
                <a:ea typeface="微软雅黑" pitchFamily="34" charset="-122"/>
              </a:endParaRPr>
            </a:p>
          </p:txBody>
        </p:sp>
        <p:sp>
          <p:nvSpPr>
            <p:cNvPr id="25" name="Oval 24"/>
            <p:cNvSpPr>
              <a:spLocks noChangeArrowheads="1"/>
            </p:cNvSpPr>
            <p:nvPr/>
          </p:nvSpPr>
          <p:spPr bwMode="gray">
            <a:xfrm>
              <a:off x="3933" y="2678"/>
              <a:ext cx="141" cy="142"/>
            </a:xfrm>
            <a:prstGeom prst="ellipse">
              <a:avLst/>
            </a:prstGeom>
            <a:gradFill rotWithShape="1">
              <a:gsLst>
                <a:gs pos="0">
                  <a:schemeClr val="accent2">
                    <a:gamma/>
                    <a:tint val="33725"/>
                    <a:invGamma/>
                  </a:schemeClr>
                </a:gs>
                <a:gs pos="100000">
                  <a:schemeClr val="accent2">
                    <a:alpha val="0"/>
                  </a:schemeClr>
                </a:gs>
              </a:gsLst>
              <a:path path="shape">
                <a:fillToRect l="50000" t="50000" r="50000" b="50000"/>
              </a:path>
            </a:gradFill>
            <a:ln w="9525" algn="ctr">
              <a:noFill/>
              <a:round/>
            </a:ln>
            <a:effectLst/>
          </p:spPr>
          <p:txBody>
            <a:bodyPr wrap="none" anchor="ctr"/>
            <a:lstStyle/>
            <a:p>
              <a:endParaRPr lang="zh-CN" altLang="en-US">
                <a:latin typeface="微软雅黑" pitchFamily="34" charset="-122"/>
                <a:ea typeface="微软雅黑" pitchFamily="34" charset="-122"/>
              </a:endParaRPr>
            </a:p>
          </p:txBody>
        </p:sp>
      </p:grpSp>
      <p:grpSp>
        <p:nvGrpSpPr>
          <p:cNvPr id="26" name="Group 25"/>
          <p:cNvGrpSpPr/>
          <p:nvPr/>
        </p:nvGrpSpPr>
        <p:grpSpPr bwMode="auto">
          <a:xfrm>
            <a:off x="6727608" y="4871833"/>
            <a:ext cx="360363" cy="360363"/>
            <a:chOff x="3515" y="3521"/>
            <a:chExt cx="227" cy="227"/>
          </a:xfrm>
        </p:grpSpPr>
        <p:sp>
          <p:nvSpPr>
            <p:cNvPr id="27" name="Oval 26"/>
            <p:cNvSpPr>
              <a:spLocks noChangeArrowheads="1"/>
            </p:cNvSpPr>
            <p:nvPr/>
          </p:nvSpPr>
          <p:spPr bwMode="gray">
            <a:xfrm>
              <a:off x="3515" y="3521"/>
              <a:ext cx="227" cy="227"/>
            </a:xfrm>
            <a:prstGeom prst="ellipse">
              <a:avLst/>
            </a:prstGeom>
            <a:gradFill rotWithShape="1">
              <a:gsLst>
                <a:gs pos="0">
                  <a:schemeClr val="accent2">
                    <a:gamma/>
                    <a:tint val="33725"/>
                    <a:invGamma/>
                  </a:schemeClr>
                </a:gs>
                <a:gs pos="100000">
                  <a:schemeClr val="accent2"/>
                </a:gs>
              </a:gsLst>
              <a:path path="shape">
                <a:fillToRect l="50000" t="50000" r="50000" b="50000"/>
              </a:path>
            </a:gradFill>
            <a:ln w="9525" algn="ctr">
              <a:noFill/>
              <a:round/>
            </a:ln>
            <a:effectLst/>
          </p:spPr>
          <p:txBody>
            <a:bodyPr wrap="none" anchor="ctr"/>
            <a:lstStyle/>
            <a:p>
              <a:endParaRPr lang="zh-CN" altLang="en-US">
                <a:latin typeface="微软雅黑" pitchFamily="34" charset="-122"/>
                <a:ea typeface="微软雅黑" pitchFamily="34" charset="-122"/>
              </a:endParaRPr>
            </a:p>
          </p:txBody>
        </p:sp>
        <p:sp>
          <p:nvSpPr>
            <p:cNvPr id="28" name="Oval 27"/>
            <p:cNvSpPr>
              <a:spLocks noChangeArrowheads="1"/>
            </p:cNvSpPr>
            <p:nvPr/>
          </p:nvSpPr>
          <p:spPr bwMode="gray">
            <a:xfrm>
              <a:off x="3525" y="3540"/>
              <a:ext cx="141" cy="142"/>
            </a:xfrm>
            <a:prstGeom prst="ellipse">
              <a:avLst/>
            </a:prstGeom>
            <a:gradFill rotWithShape="1">
              <a:gsLst>
                <a:gs pos="0">
                  <a:schemeClr val="accent2">
                    <a:gamma/>
                    <a:tint val="33725"/>
                    <a:invGamma/>
                  </a:schemeClr>
                </a:gs>
                <a:gs pos="100000">
                  <a:schemeClr val="accent2">
                    <a:alpha val="0"/>
                  </a:schemeClr>
                </a:gs>
              </a:gsLst>
              <a:path path="shape">
                <a:fillToRect l="50000" t="50000" r="50000" b="50000"/>
              </a:path>
            </a:gradFill>
            <a:ln w="9525" algn="ctr">
              <a:noFill/>
              <a:round/>
            </a:ln>
            <a:effectLst/>
          </p:spPr>
          <p:txBody>
            <a:bodyPr wrap="none" anchor="ctr"/>
            <a:lstStyle/>
            <a:p>
              <a:endParaRPr lang="zh-CN" altLang="en-US">
                <a:latin typeface="微软雅黑" pitchFamily="34" charset="-122"/>
                <a:ea typeface="微软雅黑" pitchFamily="34" charset="-122"/>
              </a:endParaRPr>
            </a:p>
          </p:txBody>
        </p:sp>
      </p:grpSp>
      <p:sp>
        <p:nvSpPr>
          <p:cNvPr id="29" name="Oval 28"/>
          <p:cNvSpPr>
            <a:spLocks noChangeArrowheads="1"/>
          </p:cNvSpPr>
          <p:nvPr/>
        </p:nvSpPr>
        <p:spPr bwMode="gray">
          <a:xfrm>
            <a:off x="4986338" y="3285365"/>
            <a:ext cx="259766" cy="51935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endParaRPr lang="zh-CN" altLang="en-US">
              <a:latin typeface="微软雅黑" pitchFamily="34" charset="-122"/>
              <a:ea typeface="微软雅黑" pitchFamily="34" charset="-122"/>
            </a:endParaRPr>
          </a:p>
        </p:txBody>
      </p:sp>
      <p:sp>
        <p:nvSpPr>
          <p:cNvPr id="30" name="Oval 29"/>
          <p:cNvSpPr>
            <a:spLocks noChangeArrowheads="1"/>
          </p:cNvSpPr>
          <p:nvPr/>
        </p:nvSpPr>
        <p:spPr bwMode="gray">
          <a:xfrm>
            <a:off x="4979988" y="3269490"/>
            <a:ext cx="259766" cy="519351"/>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ln>
          <a:effectLst/>
        </p:spPr>
        <p:txBody>
          <a:bodyPr wrap="none" anchor="ctr">
            <a:spAutoFit/>
          </a:bodyPr>
          <a:lstStyle/>
          <a:p>
            <a:endParaRPr lang="zh-CN" altLang="en-US">
              <a:latin typeface="微软雅黑" pitchFamily="34" charset="-122"/>
              <a:ea typeface="微软雅黑" pitchFamily="34" charset="-122"/>
            </a:endParaRPr>
          </a:p>
        </p:txBody>
      </p:sp>
      <p:sp>
        <p:nvSpPr>
          <p:cNvPr id="31" name="Oval 30"/>
          <p:cNvSpPr>
            <a:spLocks noChangeArrowheads="1"/>
          </p:cNvSpPr>
          <p:nvPr/>
        </p:nvSpPr>
        <p:spPr bwMode="gray">
          <a:xfrm>
            <a:off x="5113339" y="3285365"/>
            <a:ext cx="1690687" cy="51935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endParaRPr lang="zh-CN" altLang="en-US">
              <a:latin typeface="微软雅黑" pitchFamily="34" charset="-122"/>
              <a:ea typeface="微软雅黑" pitchFamily="34" charset="-122"/>
            </a:endParaRPr>
          </a:p>
        </p:txBody>
      </p:sp>
      <p:sp>
        <p:nvSpPr>
          <p:cNvPr id="32" name="Oval 31"/>
          <p:cNvSpPr>
            <a:spLocks noChangeArrowheads="1"/>
          </p:cNvSpPr>
          <p:nvPr/>
        </p:nvSpPr>
        <p:spPr bwMode="gray">
          <a:xfrm>
            <a:off x="5095875" y="3258378"/>
            <a:ext cx="1690688" cy="519351"/>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endParaRPr lang="zh-CN" altLang="en-US">
              <a:latin typeface="微软雅黑" pitchFamily="34" charset="-122"/>
              <a:ea typeface="微软雅黑" pitchFamily="34" charset="-122"/>
            </a:endParaRPr>
          </a:p>
        </p:txBody>
      </p:sp>
      <p:sp>
        <p:nvSpPr>
          <p:cNvPr id="33" name="Oval 32"/>
          <p:cNvSpPr>
            <a:spLocks noChangeArrowheads="1"/>
          </p:cNvSpPr>
          <p:nvPr/>
        </p:nvSpPr>
        <p:spPr bwMode="gray">
          <a:xfrm>
            <a:off x="5197476" y="3285365"/>
            <a:ext cx="1522413" cy="519351"/>
          </a:xfrm>
          <a:prstGeom prst="ellipse">
            <a:avLst/>
          </a:prstGeom>
          <a:solidFill>
            <a:srgbClr val="333333"/>
          </a:solidFill>
          <a:ln w="38100" algn="ctr">
            <a:noFill/>
            <a:round/>
          </a:ln>
          <a:effectLst/>
        </p:spPr>
        <p:txBody>
          <a:bodyPr anchor="ctr">
            <a:spAutoFit/>
          </a:bodyPr>
          <a:lstStyle/>
          <a:p>
            <a:endParaRPr lang="zh-CN" altLang="en-US">
              <a:latin typeface="微软雅黑" pitchFamily="34" charset="-122"/>
              <a:ea typeface="微软雅黑" pitchFamily="34" charset="-122"/>
            </a:endParaRPr>
          </a:p>
        </p:txBody>
      </p:sp>
      <p:sp>
        <p:nvSpPr>
          <p:cNvPr id="34" name="Oval 33"/>
          <p:cNvSpPr>
            <a:spLocks noChangeArrowheads="1"/>
          </p:cNvSpPr>
          <p:nvPr/>
        </p:nvSpPr>
        <p:spPr bwMode="gray">
          <a:xfrm>
            <a:off x="5219701" y="2802884"/>
            <a:ext cx="1471613" cy="1473200"/>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latin typeface="微软雅黑" pitchFamily="34" charset="-122"/>
              <a:ea typeface="微软雅黑" pitchFamily="34" charset="-122"/>
            </a:endParaRPr>
          </a:p>
        </p:txBody>
      </p:sp>
      <p:sp>
        <p:nvSpPr>
          <p:cNvPr id="35" name="Oval 34"/>
          <p:cNvSpPr>
            <a:spLocks noChangeArrowheads="1"/>
          </p:cNvSpPr>
          <p:nvPr/>
        </p:nvSpPr>
        <p:spPr bwMode="gray">
          <a:xfrm>
            <a:off x="5237164" y="2812409"/>
            <a:ext cx="1438275" cy="1435100"/>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latin typeface="微软雅黑" pitchFamily="34" charset="-122"/>
              <a:ea typeface="微软雅黑" pitchFamily="34" charset="-122"/>
            </a:endParaRPr>
          </a:p>
        </p:txBody>
      </p:sp>
      <p:sp>
        <p:nvSpPr>
          <p:cNvPr id="36" name="Oval 35"/>
          <p:cNvSpPr>
            <a:spLocks noChangeArrowheads="1"/>
          </p:cNvSpPr>
          <p:nvPr/>
        </p:nvSpPr>
        <p:spPr bwMode="gray">
          <a:xfrm>
            <a:off x="5253039" y="2826696"/>
            <a:ext cx="1366837" cy="1341438"/>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latin typeface="微软雅黑" pitchFamily="34" charset="-122"/>
              <a:ea typeface="微软雅黑" pitchFamily="34" charset="-122"/>
            </a:endParaRPr>
          </a:p>
        </p:txBody>
      </p:sp>
      <p:sp>
        <p:nvSpPr>
          <p:cNvPr id="37" name="Oval 36"/>
          <p:cNvSpPr>
            <a:spLocks noChangeArrowheads="1"/>
          </p:cNvSpPr>
          <p:nvPr/>
        </p:nvSpPr>
        <p:spPr bwMode="gray">
          <a:xfrm>
            <a:off x="5334000" y="2863209"/>
            <a:ext cx="1214438" cy="1090612"/>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latin typeface="微软雅黑" pitchFamily="34" charset="-122"/>
              <a:ea typeface="微软雅黑" pitchFamily="34" charset="-122"/>
            </a:endParaRPr>
          </a:p>
        </p:txBody>
      </p:sp>
      <p:sp>
        <p:nvSpPr>
          <p:cNvPr id="38" name="Text Box 37"/>
          <p:cNvSpPr txBox="1">
            <a:spLocks noChangeArrowheads="1"/>
          </p:cNvSpPr>
          <p:nvPr/>
        </p:nvSpPr>
        <p:spPr bwMode="gray">
          <a:xfrm>
            <a:off x="5345038" y="3196033"/>
            <a:ext cx="1198880" cy="706755"/>
          </a:xfrm>
          <a:prstGeom prst="rect">
            <a:avLst/>
          </a:prstGeom>
          <a:noFill/>
          <a:ln w="9525" algn="ctr">
            <a:noFill/>
            <a:miter lim="800000"/>
          </a:ln>
          <a:effectLst/>
        </p:spPr>
        <p:txBody>
          <a:bodyPr wrap="none">
            <a:spAutoFit/>
          </a:bodyPr>
          <a:lstStyle/>
          <a:p>
            <a:pPr algn="ctr" eaLnBrk="0" hangingPunct="0"/>
            <a:r>
              <a:rPr lang="zh-CN" altLang="en-US" sz="2000" b="1" dirty="0">
                <a:solidFill>
                  <a:schemeClr val="tx1"/>
                </a:solidFill>
                <a:latin typeface="微软雅黑" pitchFamily="34" charset="-122"/>
                <a:ea typeface="微软雅黑" pitchFamily="34" charset="-122"/>
              </a:rPr>
              <a:t>防汛指挥</a:t>
            </a:r>
            <a:br>
              <a:rPr lang="zh-CN" altLang="en-US" sz="2000" b="1" dirty="0">
                <a:solidFill>
                  <a:schemeClr val="tx1"/>
                </a:solidFill>
                <a:latin typeface="微软雅黑" pitchFamily="34" charset="-122"/>
                <a:ea typeface="微软雅黑" pitchFamily="34" charset="-122"/>
              </a:rPr>
            </a:br>
            <a:r>
              <a:rPr lang="zh-CN" altLang="en-US" sz="2000" b="1" dirty="0">
                <a:solidFill>
                  <a:schemeClr val="tx1"/>
                </a:solidFill>
                <a:latin typeface="微软雅黑" pitchFamily="34" charset="-122"/>
                <a:ea typeface="微软雅黑" pitchFamily="34" charset="-122"/>
              </a:rPr>
              <a:t>系统愿景</a:t>
            </a:r>
          </a:p>
        </p:txBody>
      </p:sp>
      <p:sp>
        <p:nvSpPr>
          <p:cNvPr id="39" name="Text Box 38"/>
          <p:cNvSpPr txBox="1">
            <a:spLocks noChangeArrowheads="1"/>
          </p:cNvSpPr>
          <p:nvPr/>
        </p:nvSpPr>
        <p:spPr bwMode="auto">
          <a:xfrm>
            <a:off x="7077076" y="1605909"/>
            <a:ext cx="1723549" cy="461665"/>
          </a:xfrm>
          <a:prstGeom prst="rect">
            <a:avLst/>
          </a:prstGeom>
          <a:noFill/>
          <a:ln w="9525" algn="ctr">
            <a:noFill/>
            <a:miter lim="800000"/>
          </a:ln>
          <a:effectLst/>
        </p:spPr>
        <p:txBody>
          <a:bodyPr wrap="none">
            <a:spAutoFit/>
          </a:bodyPr>
          <a:lstStyle/>
          <a:p>
            <a:pPr eaLnBrk="0" hangingPunct="0"/>
            <a:r>
              <a:rPr lang="zh-CN" altLang="en-US" sz="2400" b="1" dirty="0">
                <a:solidFill>
                  <a:schemeClr val="tx2"/>
                </a:solidFill>
                <a:latin typeface="微软雅黑" pitchFamily="34" charset="-122"/>
                <a:ea typeface="微软雅黑" pitchFamily="34" charset="-122"/>
              </a:rPr>
              <a:t>查看天气图</a:t>
            </a:r>
            <a:endParaRPr lang="en-US" altLang="zh-CN" sz="2400" b="1" dirty="0">
              <a:solidFill>
                <a:schemeClr val="tx2"/>
              </a:solidFill>
              <a:latin typeface="微软雅黑" pitchFamily="34" charset="-122"/>
              <a:ea typeface="微软雅黑" pitchFamily="34" charset="-122"/>
            </a:endParaRPr>
          </a:p>
        </p:txBody>
      </p:sp>
      <p:sp>
        <p:nvSpPr>
          <p:cNvPr id="40" name="Text Box 39"/>
          <p:cNvSpPr txBox="1">
            <a:spLocks noChangeArrowheads="1"/>
          </p:cNvSpPr>
          <p:nvPr/>
        </p:nvSpPr>
        <p:spPr bwMode="auto">
          <a:xfrm>
            <a:off x="3343559" y="1605909"/>
            <a:ext cx="1415772" cy="461665"/>
          </a:xfrm>
          <a:prstGeom prst="rect">
            <a:avLst/>
          </a:prstGeom>
          <a:noFill/>
          <a:ln w="9525" algn="ctr">
            <a:noFill/>
            <a:miter lim="800000"/>
          </a:ln>
          <a:effectLst/>
        </p:spPr>
        <p:txBody>
          <a:bodyPr wrap="none">
            <a:spAutoFit/>
          </a:bodyPr>
          <a:lstStyle/>
          <a:p>
            <a:pPr algn="r" eaLnBrk="0" hangingPunct="0"/>
            <a:r>
              <a:rPr lang="zh-CN" altLang="en-US" sz="2400" b="1" dirty="0">
                <a:solidFill>
                  <a:schemeClr val="tx2"/>
                </a:solidFill>
                <a:latin typeface="微软雅黑" pitchFamily="34" charset="-122"/>
                <a:ea typeface="微软雅黑" pitchFamily="34" charset="-122"/>
              </a:rPr>
              <a:t>查看云图</a:t>
            </a:r>
            <a:endParaRPr lang="en-US" altLang="zh-CN" sz="2400" b="1" dirty="0">
              <a:solidFill>
                <a:schemeClr val="tx2"/>
              </a:solidFill>
              <a:latin typeface="微软雅黑" pitchFamily="34" charset="-122"/>
              <a:ea typeface="微软雅黑" pitchFamily="34" charset="-122"/>
            </a:endParaRPr>
          </a:p>
        </p:txBody>
      </p:sp>
      <p:sp>
        <p:nvSpPr>
          <p:cNvPr id="41" name="Text Box 40"/>
          <p:cNvSpPr txBox="1">
            <a:spLocks noChangeArrowheads="1"/>
          </p:cNvSpPr>
          <p:nvPr/>
        </p:nvSpPr>
        <p:spPr bwMode="auto">
          <a:xfrm>
            <a:off x="7991476" y="3358509"/>
            <a:ext cx="2646878" cy="461665"/>
          </a:xfrm>
          <a:prstGeom prst="rect">
            <a:avLst/>
          </a:prstGeom>
          <a:noFill/>
          <a:ln w="9525" algn="ctr">
            <a:noFill/>
            <a:miter lim="800000"/>
          </a:ln>
          <a:effectLst/>
        </p:spPr>
        <p:txBody>
          <a:bodyPr wrap="none">
            <a:spAutoFit/>
          </a:bodyPr>
          <a:lstStyle/>
          <a:p>
            <a:pPr eaLnBrk="0" hangingPunct="0"/>
            <a:r>
              <a:rPr lang="zh-CN" altLang="en-US" sz="2400" b="1" dirty="0">
                <a:solidFill>
                  <a:schemeClr val="tx2"/>
                </a:solidFill>
                <a:latin typeface="微软雅黑" pitchFamily="34" charset="-122"/>
                <a:ea typeface="微软雅黑" pitchFamily="34" charset="-122"/>
              </a:rPr>
              <a:t>上报水库运行情况</a:t>
            </a:r>
            <a:endParaRPr lang="en-US" altLang="zh-CN" sz="2400" b="1" dirty="0">
              <a:solidFill>
                <a:schemeClr val="tx2"/>
              </a:solidFill>
              <a:latin typeface="微软雅黑" pitchFamily="34" charset="-122"/>
              <a:ea typeface="微软雅黑" pitchFamily="34" charset="-122"/>
            </a:endParaRPr>
          </a:p>
        </p:txBody>
      </p:sp>
      <p:sp>
        <p:nvSpPr>
          <p:cNvPr id="42" name="Text Box 41"/>
          <p:cNvSpPr txBox="1">
            <a:spLocks noChangeArrowheads="1"/>
          </p:cNvSpPr>
          <p:nvPr/>
        </p:nvSpPr>
        <p:spPr bwMode="auto">
          <a:xfrm>
            <a:off x="7140140" y="4848347"/>
            <a:ext cx="2646878" cy="461665"/>
          </a:xfrm>
          <a:prstGeom prst="rect">
            <a:avLst/>
          </a:prstGeom>
          <a:noFill/>
          <a:ln w="9525" algn="ctr">
            <a:noFill/>
            <a:miter lim="800000"/>
          </a:ln>
          <a:effectLst/>
        </p:spPr>
        <p:txBody>
          <a:bodyPr wrap="none">
            <a:spAutoFit/>
          </a:bodyPr>
          <a:lstStyle/>
          <a:p>
            <a:pPr eaLnBrk="0" hangingPunct="0"/>
            <a:r>
              <a:rPr lang="zh-CN" altLang="en-US" sz="2400" b="1" dirty="0">
                <a:solidFill>
                  <a:schemeClr val="tx2"/>
                </a:solidFill>
                <a:latin typeface="微软雅黑" pitchFamily="34" charset="-122"/>
                <a:ea typeface="微软雅黑" pitchFamily="34" charset="-122"/>
              </a:rPr>
              <a:t>上报河道运行情况</a:t>
            </a:r>
            <a:endParaRPr lang="en-US" altLang="zh-CN" sz="2400" b="1" dirty="0">
              <a:solidFill>
                <a:schemeClr val="tx2"/>
              </a:solidFill>
              <a:latin typeface="微软雅黑" pitchFamily="34" charset="-122"/>
              <a:ea typeface="微软雅黑" pitchFamily="34" charset="-122"/>
            </a:endParaRPr>
          </a:p>
        </p:txBody>
      </p:sp>
      <p:sp>
        <p:nvSpPr>
          <p:cNvPr id="43" name="Text Box 42"/>
          <p:cNvSpPr txBox="1">
            <a:spLocks noChangeArrowheads="1"/>
          </p:cNvSpPr>
          <p:nvPr/>
        </p:nvSpPr>
        <p:spPr bwMode="auto">
          <a:xfrm>
            <a:off x="2429156" y="3358509"/>
            <a:ext cx="1415772" cy="461665"/>
          </a:xfrm>
          <a:prstGeom prst="rect">
            <a:avLst/>
          </a:prstGeom>
          <a:noFill/>
          <a:ln w="9525" algn="ctr">
            <a:noFill/>
            <a:miter lim="800000"/>
          </a:ln>
          <a:effectLst/>
        </p:spPr>
        <p:txBody>
          <a:bodyPr wrap="none">
            <a:spAutoFit/>
          </a:bodyPr>
          <a:lstStyle/>
          <a:p>
            <a:pPr algn="r" eaLnBrk="0" hangingPunct="0"/>
            <a:r>
              <a:rPr lang="zh-CN" altLang="en-US" sz="2400" b="1" dirty="0">
                <a:solidFill>
                  <a:schemeClr val="tx2"/>
                </a:solidFill>
                <a:latin typeface="微软雅黑" pitchFamily="34" charset="-122"/>
                <a:ea typeface="微软雅黑" pitchFamily="34" charset="-122"/>
              </a:rPr>
              <a:t>调度分析</a:t>
            </a:r>
            <a:endParaRPr lang="en-US" altLang="zh-CN" sz="2400" b="1" dirty="0">
              <a:solidFill>
                <a:schemeClr val="tx2"/>
              </a:solidFill>
              <a:latin typeface="微软雅黑" pitchFamily="34" charset="-122"/>
              <a:ea typeface="微软雅黑" pitchFamily="34" charset="-122"/>
            </a:endParaRPr>
          </a:p>
        </p:txBody>
      </p:sp>
      <p:sp>
        <p:nvSpPr>
          <p:cNvPr id="44" name="Text Box 43"/>
          <p:cNvSpPr txBox="1">
            <a:spLocks noChangeArrowheads="1"/>
          </p:cNvSpPr>
          <p:nvPr/>
        </p:nvSpPr>
        <p:spPr bwMode="auto">
          <a:xfrm>
            <a:off x="3267356" y="4896796"/>
            <a:ext cx="1415772" cy="461665"/>
          </a:xfrm>
          <a:prstGeom prst="rect">
            <a:avLst/>
          </a:prstGeom>
          <a:noFill/>
          <a:ln w="9525" algn="ctr">
            <a:noFill/>
            <a:miter lim="800000"/>
          </a:ln>
          <a:effectLst/>
        </p:spPr>
        <p:txBody>
          <a:bodyPr wrap="none">
            <a:spAutoFit/>
          </a:bodyPr>
          <a:lstStyle/>
          <a:p>
            <a:pPr algn="r" eaLnBrk="0" hangingPunct="0"/>
            <a:r>
              <a:rPr lang="zh-CN" altLang="en-US" sz="2400" b="1" dirty="0">
                <a:solidFill>
                  <a:schemeClr val="tx2"/>
                </a:solidFill>
                <a:latin typeface="微软雅黑" pitchFamily="34" charset="-122"/>
                <a:ea typeface="微软雅黑" pitchFamily="34" charset="-122"/>
              </a:rPr>
              <a:t>水位分析</a:t>
            </a:r>
            <a:endParaRPr lang="en-US" altLang="zh-CN" sz="2400" b="1" dirty="0">
              <a:solidFill>
                <a:schemeClr val="tx2"/>
              </a:solidFill>
              <a:latin typeface="微软雅黑" pitchFamily="34" charset="-122"/>
              <a:ea typeface="微软雅黑" pitchFamily="34" charset="-122"/>
            </a:endParaRPr>
          </a:p>
        </p:txBody>
      </p:sp>
      <p:sp>
        <p:nvSpPr>
          <p:cNvPr id="45" name="文本框 44"/>
          <p:cNvSpPr txBox="1"/>
          <p:nvPr/>
        </p:nvSpPr>
        <p:spPr>
          <a:xfrm>
            <a:off x="274320" y="449590"/>
            <a:ext cx="3416320" cy="523220"/>
          </a:xfrm>
          <a:prstGeom prst="rect">
            <a:avLst/>
          </a:prstGeom>
          <a:noFill/>
        </p:spPr>
        <p:txBody>
          <a:bodyPr wrap="none" rtlCol="0">
            <a:spAutoFit/>
          </a:bodyPr>
          <a:lstStyle/>
          <a:p>
            <a:r>
              <a:rPr lang="zh-CN" altLang="en-US" sz="2800" b="1" dirty="0">
                <a:solidFill>
                  <a:srgbClr val="141316"/>
                </a:solidFill>
                <a:latin typeface="微软雅黑" pitchFamily="34" charset="-122"/>
                <a:ea typeface="微软雅黑" pitchFamily="34" charset="-122"/>
              </a:rPr>
              <a:t>注意：愿景不是功能</a:t>
            </a:r>
          </a:p>
        </p:txBody>
      </p:sp>
      <p:cxnSp>
        <p:nvCxnSpPr>
          <p:cNvPr id="46" name="直接连接符 4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7" name="组合 46"/>
          <p:cNvGrpSpPr/>
          <p:nvPr/>
        </p:nvGrpSpPr>
        <p:grpSpPr>
          <a:xfrm>
            <a:off x="3685730" y="602020"/>
            <a:ext cx="491490" cy="318085"/>
            <a:chOff x="3017520" y="601990"/>
            <a:chExt cx="491490" cy="414010"/>
          </a:xfrm>
        </p:grpSpPr>
        <p:sp>
          <p:nvSpPr>
            <p:cNvPr id="48" name="燕尾形 4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49" name="燕尾形 4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50" name="燕尾形 4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grpSp>
      <p:sp>
        <p:nvSpPr>
          <p:cNvPr id="51" name="矩形 5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52" name="矩形 5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53" name="矩形 5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54" name="矩形 5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55" name="矩形 54"/>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 name="Text Box 37"/>
          <p:cNvSpPr txBox="1">
            <a:spLocks noChangeArrowheads="1"/>
          </p:cNvSpPr>
          <p:nvPr/>
        </p:nvSpPr>
        <p:spPr bwMode="gray">
          <a:xfrm>
            <a:off x="5196776" y="3201113"/>
            <a:ext cx="1475083" cy="707886"/>
          </a:xfrm>
          <a:prstGeom prst="rect">
            <a:avLst/>
          </a:prstGeom>
          <a:noFill/>
          <a:ln w="9525" algn="ctr">
            <a:noFill/>
            <a:miter lim="800000"/>
          </a:ln>
          <a:effectLst/>
        </p:spPr>
        <p:txBody>
          <a:bodyPr wrap="none">
            <a:spAutoFit/>
          </a:bodyPr>
          <a:lstStyle/>
          <a:p>
            <a:pPr algn="ctr" eaLnBrk="0" hangingPunct="0"/>
            <a:r>
              <a:rPr lang="zh-CN" altLang="en-US" sz="2000" b="1" dirty="0">
                <a:solidFill>
                  <a:srgbClr val="FF0000"/>
                </a:solidFill>
                <a:latin typeface="微软雅黑" panose="020B0503020204020204" pitchFamily="34" charset="-122"/>
                <a:ea typeface="微软雅黑" panose="020B0503020204020204" pitchFamily="34" charset="-122"/>
              </a:rPr>
              <a:t>提高防汛</a:t>
            </a:r>
            <a:endParaRPr lang="en-US" altLang="zh-CN" sz="2000" b="1" dirty="0">
              <a:solidFill>
                <a:srgbClr val="FF0000"/>
              </a:solidFill>
              <a:latin typeface="微软雅黑" panose="020B0503020204020204" pitchFamily="34" charset="-122"/>
              <a:ea typeface="微软雅黑" panose="020B0503020204020204" pitchFamily="34" charset="-122"/>
            </a:endParaRPr>
          </a:p>
          <a:p>
            <a:pPr algn="ctr" eaLnBrk="0" hangingPunct="0"/>
            <a:r>
              <a:rPr lang="zh-CN" altLang="en-US" sz="2000" b="1" dirty="0">
                <a:solidFill>
                  <a:srgbClr val="FF0000"/>
                </a:solidFill>
                <a:latin typeface="微软雅黑" panose="020B0503020204020204" pitchFamily="34" charset="-122"/>
                <a:ea typeface="微软雅黑" panose="020B0503020204020204" pitchFamily="34" charset="-122"/>
              </a:rPr>
              <a:t>决策准确度</a:t>
            </a:r>
            <a:endParaRPr lang="en-US" altLang="zh-CN" sz="20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79566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38"/>
                                        </p:tgtEl>
                                      </p:cBhvr>
                                    </p:animEffect>
                                    <p:set>
                                      <p:cBhvr>
                                        <p:cTn id="7" dur="1" fill="hold">
                                          <p:stCondLst>
                                            <p:cond delay="499"/>
                                          </p:stCondLst>
                                        </p:cTn>
                                        <p:tgtEl>
                                          <p:spTgt spid="38"/>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bldLvl="0" animBg="1"/>
      <p:bldP spid="2"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312094"/>
            <a:ext cx="10972800" cy="4389120"/>
          </a:xfrm>
        </p:spPr>
        <p:txBody>
          <a:bodyPr/>
          <a:lstStyle/>
          <a:p>
            <a:pPr>
              <a:lnSpc>
                <a:spcPct val="150000"/>
              </a:lnSpc>
            </a:pPr>
            <a:r>
              <a:rPr lang="zh-CN" altLang="en-US" dirty="0"/>
              <a:t>描述愿景必须指出</a:t>
            </a:r>
            <a:r>
              <a:rPr lang="zh-CN" altLang="en-US" dirty="0">
                <a:solidFill>
                  <a:srgbClr val="FF0000"/>
                </a:solidFill>
              </a:rPr>
              <a:t>度量指标</a:t>
            </a:r>
            <a:r>
              <a:rPr lang="zh-CN" altLang="en-US" dirty="0"/>
              <a:t>。</a:t>
            </a:r>
            <a:endParaRPr lang="en-US" altLang="zh-CN" dirty="0"/>
          </a:p>
          <a:p>
            <a:pPr lvl="1">
              <a:lnSpc>
                <a:spcPct val="150000"/>
              </a:lnSpc>
            </a:pPr>
            <a:r>
              <a:rPr lang="zh-CN" altLang="en-US" dirty="0"/>
              <a:t>愿景描述不是记录具体做了什么事，而是描述</a:t>
            </a:r>
            <a:r>
              <a:rPr lang="zh-CN" altLang="en-US" dirty="0">
                <a:solidFill>
                  <a:srgbClr val="FF0000"/>
                </a:solidFill>
              </a:rPr>
              <a:t>改善</a:t>
            </a:r>
            <a:r>
              <a:rPr lang="zh-CN" altLang="en-US" dirty="0"/>
              <a:t>组织的哪些指标。</a:t>
            </a:r>
          </a:p>
        </p:txBody>
      </p:sp>
      <p:grpSp>
        <p:nvGrpSpPr>
          <p:cNvPr id="10" name="组合 9"/>
          <p:cNvGrpSpPr/>
          <p:nvPr/>
        </p:nvGrpSpPr>
        <p:grpSpPr>
          <a:xfrm>
            <a:off x="6238876" y="3032118"/>
            <a:ext cx="3583316" cy="2428892"/>
            <a:chOff x="774370" y="2928934"/>
            <a:chExt cx="3583316" cy="3362620"/>
          </a:xfrm>
        </p:grpSpPr>
        <p:sp>
          <p:nvSpPr>
            <p:cNvPr id="5" name="剪去同侧角的矩形 4"/>
            <p:cNvSpPr/>
            <p:nvPr/>
          </p:nvSpPr>
          <p:spPr>
            <a:xfrm>
              <a:off x="774370" y="2944173"/>
              <a:ext cx="3571900" cy="3347381"/>
            </a:xfrm>
            <a:prstGeom prst="snip2SameRect">
              <a:avLst>
                <a:gd name="adj1" fmla="val 8711"/>
                <a:gd name="adj2" fmla="val 0"/>
              </a:avLst>
            </a:prstGeom>
            <a:noFill/>
            <a:ln>
              <a:solidFill>
                <a:srgbClr val="0070C0"/>
              </a:solidFill>
            </a:ln>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itchFamily="34" charset="-122"/>
                <a:ea typeface="微软雅黑" pitchFamily="34" charset="-122"/>
              </a:endParaRPr>
            </a:p>
          </p:txBody>
        </p:sp>
        <p:sp>
          <p:nvSpPr>
            <p:cNvPr id="8" name="内容占位符 2"/>
            <p:cNvSpPr txBox="1"/>
            <p:nvPr/>
          </p:nvSpPr>
          <p:spPr>
            <a:xfrm>
              <a:off x="785786" y="2928934"/>
              <a:ext cx="3571900" cy="3357586"/>
            </a:xfrm>
            <a:prstGeom prst="rect">
              <a:avLst/>
            </a:prstGeom>
            <a:effectLst>
              <a:glow rad="63500">
                <a:schemeClr val="accent5">
                  <a:satMod val="175000"/>
                  <a:alpha val="40000"/>
                </a:schemeClr>
              </a:glow>
            </a:effectLst>
          </p:spPr>
          <p:txBody>
            <a:bodyPr/>
            <a:lstStyle/>
            <a:p>
              <a:pPr algn="ctr">
                <a:spcBef>
                  <a:spcPct val="20000"/>
                </a:spcBef>
                <a:buFont typeface="Arial" panose="020B0604020202020204" pitchFamily="34" charset="0"/>
                <a:buNone/>
              </a:pPr>
              <a:endParaRPr lang="en-US" altLang="zh-CN" sz="2000" b="1" dirty="0">
                <a:latin typeface="微软雅黑" pitchFamily="34" charset="-122"/>
                <a:ea typeface="微软雅黑" pitchFamily="34" charset="-122"/>
              </a:endParaRPr>
            </a:p>
            <a:p>
              <a:pPr algn="ctr">
                <a:lnSpc>
                  <a:spcPct val="150000"/>
                </a:lnSpc>
                <a:spcBef>
                  <a:spcPct val="20000"/>
                </a:spcBef>
                <a:buFont typeface="Arial" panose="020B0604020202020204" pitchFamily="34" charset="0"/>
                <a:buNone/>
              </a:pPr>
              <a:r>
                <a:rPr lang="zh-CN" altLang="en-US" sz="2200" dirty="0">
                  <a:latin typeface="微软雅黑" pitchFamily="34" charset="-122"/>
                  <a:ea typeface="微软雅黑" pitchFamily="34" charset="-122"/>
                </a:rPr>
                <a:t>减少采集数据所花费的时间</a:t>
              </a:r>
              <a:endParaRPr lang="en-US" altLang="zh-CN" sz="2200" dirty="0">
                <a:latin typeface="微软雅黑" pitchFamily="34" charset="-122"/>
                <a:ea typeface="微软雅黑" pitchFamily="34" charset="-122"/>
              </a:endParaRPr>
            </a:p>
            <a:p>
              <a:pPr algn="ctr">
                <a:lnSpc>
                  <a:spcPct val="150000"/>
                </a:lnSpc>
                <a:spcBef>
                  <a:spcPct val="20000"/>
                </a:spcBef>
                <a:buFont typeface="Arial" panose="020B0604020202020204" pitchFamily="34" charset="0"/>
                <a:buNone/>
              </a:pPr>
              <a:r>
                <a:rPr lang="zh-CN" altLang="en-US" sz="2200" dirty="0">
                  <a:latin typeface="微软雅黑" pitchFamily="34" charset="-122"/>
                  <a:ea typeface="微软雅黑" pitchFamily="34" charset="-122"/>
                </a:rPr>
                <a:t>提高动画的速度</a:t>
              </a:r>
              <a:endParaRPr lang="en-US" altLang="zh-CN" sz="2200" dirty="0">
                <a:latin typeface="微软雅黑" pitchFamily="34" charset="-122"/>
                <a:ea typeface="微软雅黑" pitchFamily="34" charset="-122"/>
              </a:endParaRPr>
            </a:p>
            <a:p>
              <a:pPr algn="ctr">
                <a:lnSpc>
                  <a:spcPct val="150000"/>
                </a:lnSpc>
                <a:spcBef>
                  <a:spcPct val="20000"/>
                </a:spcBef>
                <a:buFont typeface="Arial" panose="020B0604020202020204" pitchFamily="34" charset="0"/>
                <a:buNone/>
              </a:pPr>
              <a:r>
                <a:rPr lang="zh-CN" altLang="en-US" sz="2200" dirty="0">
                  <a:latin typeface="微软雅黑" pitchFamily="34" charset="-122"/>
                  <a:ea typeface="微软雅黑" pitchFamily="34" charset="-122"/>
                </a:rPr>
                <a:t>缩短订单的处理周期</a:t>
              </a:r>
            </a:p>
          </p:txBody>
        </p:sp>
      </p:grpSp>
      <p:grpSp>
        <p:nvGrpSpPr>
          <p:cNvPr id="11" name="组合 10"/>
          <p:cNvGrpSpPr/>
          <p:nvPr/>
        </p:nvGrpSpPr>
        <p:grpSpPr>
          <a:xfrm>
            <a:off x="2166910" y="3032118"/>
            <a:ext cx="3590964" cy="2428892"/>
            <a:chOff x="4748186" y="2928934"/>
            <a:chExt cx="3590964" cy="3362620"/>
          </a:xfrm>
        </p:grpSpPr>
        <p:sp>
          <p:nvSpPr>
            <p:cNvPr id="4" name="剪去同侧角的矩形 3"/>
            <p:cNvSpPr/>
            <p:nvPr/>
          </p:nvSpPr>
          <p:spPr>
            <a:xfrm>
              <a:off x="4767250" y="2944173"/>
              <a:ext cx="3571900" cy="3347381"/>
            </a:xfrm>
            <a:prstGeom prst="snip2SameRect">
              <a:avLst>
                <a:gd name="adj1" fmla="val 8711"/>
                <a:gd name="adj2" fmla="val 0"/>
              </a:avLst>
            </a:prstGeom>
            <a:noFill/>
            <a:ln>
              <a:solidFill>
                <a:srgbClr val="0070C0"/>
              </a:solidFill>
            </a:ln>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itchFamily="34" charset="-122"/>
                <a:ea typeface="微软雅黑" pitchFamily="34" charset="-122"/>
              </a:endParaRPr>
            </a:p>
          </p:txBody>
        </p:sp>
        <p:sp>
          <p:nvSpPr>
            <p:cNvPr id="9" name="内容占位符 2"/>
            <p:cNvSpPr txBox="1"/>
            <p:nvPr/>
          </p:nvSpPr>
          <p:spPr>
            <a:xfrm>
              <a:off x="4748186" y="2928934"/>
              <a:ext cx="3571900" cy="3357586"/>
            </a:xfrm>
            <a:prstGeom prst="rect">
              <a:avLst/>
            </a:prstGeom>
            <a:effectLst>
              <a:glow rad="63500">
                <a:schemeClr val="accent5">
                  <a:satMod val="175000"/>
                  <a:alpha val="40000"/>
                </a:schemeClr>
              </a:glow>
            </a:effectLst>
          </p:spPr>
          <p:txBody>
            <a:bodyPr/>
            <a:lstStyle/>
            <a:p>
              <a:pPr algn="ctr">
                <a:spcBef>
                  <a:spcPct val="20000"/>
                </a:spcBef>
                <a:buFont typeface="Arial" panose="020B0604020202020204" pitchFamily="34" charset="0"/>
                <a:buNone/>
              </a:pPr>
              <a:endParaRPr lang="en-US" altLang="zh-CN" sz="2000" b="1" dirty="0">
                <a:latin typeface="微软雅黑" pitchFamily="34" charset="-122"/>
                <a:ea typeface="微软雅黑" pitchFamily="34" charset="-122"/>
              </a:endParaRPr>
            </a:p>
            <a:p>
              <a:pPr algn="ctr">
                <a:lnSpc>
                  <a:spcPct val="150000"/>
                </a:lnSpc>
                <a:spcBef>
                  <a:spcPct val="20000"/>
                </a:spcBef>
                <a:buFont typeface="Arial" panose="020B0604020202020204" pitchFamily="34" charset="0"/>
                <a:buNone/>
              </a:pPr>
              <a:r>
                <a:rPr lang="zh-CN" altLang="en-US" sz="2200" dirty="0">
                  <a:latin typeface="微软雅黑" pitchFamily="34" charset="-122"/>
                  <a:ea typeface="微软雅黑" pitchFamily="34" charset="-122"/>
                </a:rPr>
                <a:t>建立一个</a:t>
              </a:r>
              <a:r>
                <a:rPr lang="en-US" altLang="zh-CN" sz="2200" dirty="0">
                  <a:latin typeface="微软雅黑" pitchFamily="34" charset="-122"/>
                  <a:ea typeface="微软雅黑" pitchFamily="34" charset="-122"/>
                </a:rPr>
                <a:t>CRM</a:t>
              </a:r>
              <a:r>
                <a:rPr lang="zh-CN" altLang="en-US" sz="2200" dirty="0">
                  <a:latin typeface="微软雅黑" pitchFamily="34" charset="-122"/>
                  <a:ea typeface="微软雅黑" pitchFamily="34" charset="-122"/>
                </a:rPr>
                <a:t>系统</a:t>
              </a:r>
              <a:endParaRPr lang="en-US" altLang="zh-CN" sz="2200" dirty="0">
                <a:latin typeface="微软雅黑" pitchFamily="34" charset="-122"/>
                <a:ea typeface="微软雅黑" pitchFamily="34" charset="-122"/>
              </a:endParaRPr>
            </a:p>
            <a:p>
              <a:pPr algn="ctr">
                <a:lnSpc>
                  <a:spcPct val="150000"/>
                </a:lnSpc>
                <a:spcBef>
                  <a:spcPct val="20000"/>
                </a:spcBef>
                <a:buFont typeface="Arial" panose="020B0604020202020204" pitchFamily="34" charset="0"/>
                <a:buNone/>
              </a:pPr>
              <a:r>
                <a:rPr lang="zh-CN" altLang="en-US" sz="2200" dirty="0">
                  <a:latin typeface="微软雅黑" pitchFamily="34" charset="-122"/>
                  <a:ea typeface="微软雅黑" pitchFamily="34" charset="-122"/>
                </a:rPr>
                <a:t>提供在线定机票功能</a:t>
              </a:r>
              <a:endParaRPr lang="en-US" altLang="zh-CN" sz="2200" dirty="0">
                <a:latin typeface="微软雅黑" pitchFamily="34" charset="-122"/>
                <a:ea typeface="微软雅黑" pitchFamily="34" charset="-122"/>
              </a:endParaRPr>
            </a:p>
            <a:p>
              <a:pPr algn="ctr">
                <a:lnSpc>
                  <a:spcPct val="150000"/>
                </a:lnSpc>
                <a:spcBef>
                  <a:spcPct val="20000"/>
                </a:spcBef>
                <a:buFont typeface="Arial" panose="020B0604020202020204" pitchFamily="34" charset="0"/>
                <a:buNone/>
              </a:pPr>
              <a:r>
                <a:rPr lang="zh-CN" altLang="en-US" sz="2200" dirty="0">
                  <a:latin typeface="微软雅黑" pitchFamily="34" charset="-122"/>
                  <a:ea typeface="微软雅黑" pitchFamily="34" charset="-122"/>
                </a:rPr>
                <a:t>能够进行风险评估</a:t>
              </a:r>
            </a:p>
          </p:txBody>
        </p:sp>
      </p:grpSp>
      <p:sp>
        <p:nvSpPr>
          <p:cNvPr id="12" name="矩形 11"/>
          <p:cNvSpPr/>
          <p:nvPr/>
        </p:nvSpPr>
        <p:spPr>
          <a:xfrm>
            <a:off x="7453322" y="4342766"/>
            <a:ext cx="1265090" cy="1938992"/>
          </a:xfrm>
          <a:prstGeom prst="rect">
            <a:avLst/>
          </a:prstGeom>
        </p:spPr>
        <p:txBody>
          <a:bodyPr wrap="none">
            <a:spAutoFit/>
          </a:bodyPr>
          <a:lstStyle/>
          <a:p>
            <a:r>
              <a:rPr lang="zh-CN" altLang="en-US" sz="12000" b="1" dirty="0">
                <a:solidFill>
                  <a:srgbClr val="FF0000"/>
                </a:solidFill>
                <a:latin typeface="微软雅黑" pitchFamily="34" charset="-122"/>
                <a:ea typeface="微软雅黑" pitchFamily="34" charset="-122"/>
              </a:rPr>
              <a:t>√</a:t>
            </a:r>
          </a:p>
        </p:txBody>
      </p:sp>
      <p:sp>
        <p:nvSpPr>
          <p:cNvPr id="13" name="矩形 12"/>
          <p:cNvSpPr/>
          <p:nvPr/>
        </p:nvSpPr>
        <p:spPr>
          <a:xfrm>
            <a:off x="3024167" y="4566604"/>
            <a:ext cx="1356462" cy="1938992"/>
          </a:xfrm>
          <a:prstGeom prst="rect">
            <a:avLst/>
          </a:prstGeom>
        </p:spPr>
        <p:txBody>
          <a:bodyPr wrap="none">
            <a:spAutoFit/>
          </a:bodyPr>
          <a:lstStyle/>
          <a:p>
            <a:r>
              <a:rPr lang="en-US" altLang="zh-CN" sz="12000" b="1" dirty="0">
                <a:solidFill>
                  <a:srgbClr val="FF0000"/>
                </a:solidFill>
                <a:latin typeface="微软雅黑" pitchFamily="34" charset="-122"/>
                <a:ea typeface="微软雅黑" pitchFamily="34" charset="-122"/>
              </a:rPr>
              <a:t>×</a:t>
            </a:r>
            <a:endParaRPr lang="zh-CN" altLang="en-US" sz="12000" b="1" dirty="0">
              <a:solidFill>
                <a:srgbClr val="FF0000"/>
              </a:solidFill>
              <a:latin typeface="微软雅黑" pitchFamily="34" charset="-122"/>
              <a:ea typeface="微软雅黑" pitchFamily="34" charset="-122"/>
            </a:endParaRPr>
          </a:p>
        </p:txBody>
      </p:sp>
      <p:grpSp>
        <p:nvGrpSpPr>
          <p:cNvPr id="18" name="组合 17"/>
          <p:cNvGrpSpPr/>
          <p:nvPr/>
        </p:nvGrpSpPr>
        <p:grpSpPr>
          <a:xfrm>
            <a:off x="6453190" y="3899540"/>
            <a:ext cx="1214446" cy="1143613"/>
            <a:chOff x="4929190" y="4143380"/>
            <a:chExt cx="1214446" cy="1143613"/>
          </a:xfrm>
        </p:grpSpPr>
        <p:cxnSp>
          <p:nvCxnSpPr>
            <p:cNvPr id="15" name="直接连接符 14"/>
            <p:cNvCxnSpPr/>
            <p:nvPr/>
          </p:nvCxnSpPr>
          <p:spPr>
            <a:xfrm>
              <a:off x="4929190" y="4143380"/>
              <a:ext cx="571504" cy="1588"/>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6" name="直接连接符 15"/>
            <p:cNvCxnSpPr/>
            <p:nvPr/>
          </p:nvCxnSpPr>
          <p:spPr>
            <a:xfrm>
              <a:off x="5572132" y="4641858"/>
              <a:ext cx="571504" cy="1588"/>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7" name="直接连接符 16"/>
            <p:cNvCxnSpPr/>
            <p:nvPr/>
          </p:nvCxnSpPr>
          <p:spPr>
            <a:xfrm>
              <a:off x="5302637" y="5285405"/>
              <a:ext cx="571504" cy="1588"/>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grpSp>
      <p:sp>
        <p:nvSpPr>
          <p:cNvPr id="19" name="文本框 18"/>
          <p:cNvSpPr txBox="1"/>
          <p:nvPr/>
        </p:nvSpPr>
        <p:spPr>
          <a:xfrm>
            <a:off x="274320" y="449590"/>
            <a:ext cx="5211683" cy="523220"/>
          </a:xfrm>
          <a:prstGeom prst="rect">
            <a:avLst/>
          </a:prstGeom>
          <a:noFill/>
        </p:spPr>
        <p:txBody>
          <a:bodyPr wrap="none" rtlCol="0">
            <a:spAutoFit/>
          </a:bodyPr>
          <a:lstStyle/>
          <a:p>
            <a:r>
              <a:rPr lang="zh-CN" altLang="en-US" sz="2800" b="1" dirty="0">
                <a:solidFill>
                  <a:srgbClr val="141316"/>
                </a:solidFill>
                <a:latin typeface="微软雅黑" pitchFamily="34" charset="-122"/>
                <a:ea typeface="微软雅黑" pitchFamily="34" charset="-122"/>
              </a:rPr>
              <a:t>第三步：描述出愿景的度量指标</a:t>
            </a:r>
          </a:p>
        </p:txBody>
      </p:sp>
      <p:cxnSp>
        <p:nvCxnSpPr>
          <p:cNvPr id="20" name="直接连接符 19"/>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5627630" y="588916"/>
            <a:ext cx="491490" cy="318085"/>
            <a:chOff x="3017520" y="601990"/>
            <a:chExt cx="491490" cy="414010"/>
          </a:xfrm>
        </p:grpSpPr>
        <p:sp>
          <p:nvSpPr>
            <p:cNvPr id="22" name="燕尾形 2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23" name="燕尾形 2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24" name="燕尾形 2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grpSp>
      <p:sp>
        <p:nvSpPr>
          <p:cNvPr id="25" name="矩形 24"/>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6" name="矩形 25"/>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7" name="矩形 26"/>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8" name="矩形 27"/>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29" name="矩形 28"/>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Tree>
    <p:extLst>
      <p:ext uri="{BB962C8B-B14F-4D97-AF65-F5344CB8AC3E}">
        <p14:creationId xmlns:p14="http://schemas.microsoft.com/office/powerpoint/2010/main" val="4069848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qile\Desktop\软件过程\更新图片资源\试讲图片\价值-利润.png价值-利润"/>
          <p:cNvPicPr>
            <a:picLocks noChangeAspect="1" noChangeArrowheads="1"/>
          </p:cNvPicPr>
          <p:nvPr/>
        </p:nvPicPr>
        <p:blipFill>
          <a:blip r:embed="rId2"/>
          <a:srcRect/>
          <a:stretch>
            <a:fillRect/>
          </a:stretch>
        </p:blipFill>
        <p:spPr bwMode="auto">
          <a:xfrm>
            <a:off x="2024109" y="1587044"/>
            <a:ext cx="8195911" cy="4076065"/>
          </a:xfrm>
          <a:prstGeom prst="rect">
            <a:avLst/>
          </a:prstGeom>
          <a:noFill/>
          <a:ln w="9525">
            <a:noFill/>
            <a:miter lim="800000"/>
            <a:headEnd/>
            <a:tailEnd/>
          </a:ln>
          <a:effectLst/>
        </p:spPr>
      </p:pic>
      <p:sp>
        <p:nvSpPr>
          <p:cNvPr id="5" name="矩形 4"/>
          <p:cNvSpPr/>
          <p:nvPr/>
        </p:nvSpPr>
        <p:spPr>
          <a:xfrm>
            <a:off x="2024109" y="5773184"/>
            <a:ext cx="7007046" cy="523220"/>
          </a:xfrm>
          <a:prstGeom prst="rect">
            <a:avLst/>
          </a:prstGeom>
        </p:spPr>
        <p:txBody>
          <a:bodyPr wrap="none">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要点：买了这个系统对组织有什么好的用处</a:t>
            </a:r>
            <a:endParaRPr lang="en-US" altLang="zh-CN" sz="2800" b="1" dirty="0">
              <a:solidFill>
                <a:srgbClr val="FF000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274320" y="449590"/>
            <a:ext cx="5516880" cy="521970"/>
          </a:xfrm>
          <a:prstGeom prst="rect">
            <a:avLst/>
          </a:prstGeom>
          <a:noFill/>
        </p:spPr>
        <p:txBody>
          <a:bodyPr wrap="none" rtlCol="0">
            <a:spAutoFit/>
          </a:bodyPr>
          <a:lstStyle/>
          <a:p>
            <a:r>
              <a:rPr lang="zh-CN" altLang="en-US" sz="2800" b="1" dirty="0">
                <a:solidFill>
                  <a:srgbClr val="141316"/>
                </a:solidFill>
                <a:latin typeface="微软雅黑" pitchFamily="34" charset="-122"/>
                <a:ea typeface="微软雅黑" pitchFamily="34" charset="-122"/>
              </a:rPr>
              <a:t>注意：愿景的度量指标主要关注点</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5800412" y="55999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grpSp>
      <p:sp>
        <p:nvSpPr>
          <p:cNvPr id="12" name="矩形 11"/>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3" name="矩形 12"/>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4" name="矩形 13"/>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5" name="矩形 14"/>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6" name="矩形 15"/>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Tree>
    <p:extLst>
      <p:ext uri="{BB962C8B-B14F-4D97-AF65-F5344CB8AC3E}">
        <p14:creationId xmlns:p14="http://schemas.microsoft.com/office/powerpoint/2010/main" val="2567156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p:cNvPicPr>
            <a:picLocks noChangeAspect="1" noChangeArrowheads="1"/>
          </p:cNvPicPr>
          <p:nvPr/>
        </p:nvPicPr>
        <p:blipFill>
          <a:blip r:embed="rId3" cstate="print"/>
          <a:srcRect/>
          <a:stretch>
            <a:fillRect/>
          </a:stretch>
        </p:blipFill>
        <p:spPr bwMode="auto">
          <a:xfrm>
            <a:off x="1630443" y="1365468"/>
            <a:ext cx="8322151" cy="3643338"/>
          </a:xfrm>
          <a:prstGeom prst="rect">
            <a:avLst/>
          </a:prstGeom>
          <a:noFill/>
          <a:ln w="9525">
            <a:noFill/>
            <a:miter lim="800000"/>
            <a:headEnd/>
            <a:tailEnd/>
          </a:ln>
          <a:effectLst/>
        </p:spPr>
      </p:pic>
      <p:sp>
        <p:nvSpPr>
          <p:cNvPr id="5" name="文本框 4"/>
          <p:cNvSpPr txBox="1"/>
          <p:nvPr/>
        </p:nvSpPr>
        <p:spPr>
          <a:xfrm>
            <a:off x="274320" y="449590"/>
            <a:ext cx="4134465" cy="523220"/>
          </a:xfrm>
          <a:prstGeom prst="rect">
            <a:avLst/>
          </a:prstGeom>
          <a:noFill/>
        </p:spPr>
        <p:txBody>
          <a:bodyPr wrap="none" rtlCol="0">
            <a:spAutoFit/>
          </a:bodyPr>
          <a:lstStyle/>
          <a:p>
            <a:r>
              <a:rPr lang="zh-CN" altLang="en-US" sz="2800" b="1" dirty="0">
                <a:solidFill>
                  <a:srgbClr val="141316"/>
                </a:solidFill>
                <a:latin typeface="微软雅黑" pitchFamily="34" charset="-122"/>
                <a:ea typeface="微软雅黑" pitchFamily="34" charset="-122"/>
              </a:rPr>
              <a:t>示例：正确描述度量指标</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4511013" y="586898"/>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itchFamily="34" charset="-122"/>
                <a:ea typeface="微软雅黑" pitchFamily="34" charset="-122"/>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15" name="矩形 14"/>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4" name="矩形 3"/>
          <p:cNvSpPr/>
          <p:nvPr/>
        </p:nvSpPr>
        <p:spPr>
          <a:xfrm>
            <a:off x="1630443" y="5504208"/>
            <a:ext cx="3587842" cy="461665"/>
          </a:xfrm>
          <a:prstGeom prst="rect">
            <a:avLst/>
          </a:prstGeom>
        </p:spPr>
        <p:txBody>
          <a:bodyPr wrap="none">
            <a:spAutoFit/>
          </a:bodyPr>
          <a:lstStyle/>
          <a:p>
            <a:r>
              <a:rPr lang="zh-CN" altLang="en-US" sz="2400" b="1" dirty="0">
                <a:solidFill>
                  <a:srgbClr val="FF0000"/>
                </a:solidFill>
                <a:latin typeface="微软雅黑" pitchFamily="34" charset="-122"/>
                <a:ea typeface="微软雅黑" pitchFamily="34" charset="-122"/>
              </a:rPr>
              <a:t>错误：把功能当度量指标</a:t>
            </a:r>
          </a:p>
        </p:txBody>
      </p:sp>
    </p:spTree>
    <p:extLst>
      <p:ext uri="{BB962C8B-B14F-4D97-AF65-F5344CB8AC3E}">
        <p14:creationId xmlns:p14="http://schemas.microsoft.com/office/powerpoint/2010/main" val="75636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274320" y="449590"/>
            <a:ext cx="1620957"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修改示例</a:t>
            </a:r>
          </a:p>
        </p:txBody>
      </p:sp>
      <p:pic>
        <p:nvPicPr>
          <p:cNvPr id="63490" name="Picture 2"/>
          <p:cNvPicPr>
            <a:picLocks noChangeAspect="1" noChangeArrowheads="1"/>
          </p:cNvPicPr>
          <p:nvPr/>
        </p:nvPicPr>
        <p:blipFill>
          <a:blip r:embed="rId2" cstate="print"/>
          <a:srcRect/>
          <a:stretch>
            <a:fillRect/>
          </a:stretch>
        </p:blipFill>
        <p:spPr bwMode="auto">
          <a:xfrm>
            <a:off x="1995350" y="1596039"/>
            <a:ext cx="8429684" cy="4149597"/>
          </a:xfrm>
          <a:prstGeom prst="rect">
            <a:avLst/>
          </a:prstGeom>
          <a:noFill/>
          <a:ln w="9525">
            <a:noFill/>
            <a:miter lim="800000"/>
            <a:headEnd/>
            <a:tailEnd/>
          </a:ln>
          <a:effectLst/>
        </p:spPr>
      </p:pic>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1908802" y="588957"/>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矩形 11"/>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p:cNvPicPr>
            <a:picLocks noChangeAspect="1" noChangeArrowheads="1"/>
          </p:cNvPicPr>
          <p:nvPr/>
        </p:nvPicPr>
        <p:blipFill>
          <a:blip r:embed="rId2" cstate="print"/>
          <a:srcRect/>
          <a:stretch>
            <a:fillRect/>
          </a:stretch>
        </p:blipFill>
        <p:spPr bwMode="auto">
          <a:xfrm>
            <a:off x="2152621" y="1277335"/>
            <a:ext cx="7799971" cy="4142220"/>
          </a:xfrm>
          <a:prstGeom prst="rect">
            <a:avLst/>
          </a:prstGeom>
          <a:noFill/>
          <a:ln w="9525">
            <a:noFill/>
            <a:miter lim="800000"/>
            <a:headEnd/>
            <a:tailEnd/>
          </a:ln>
          <a:effectLst/>
        </p:spPr>
      </p:pic>
      <p:sp>
        <p:nvSpPr>
          <p:cNvPr id="5" name="文本框 4"/>
          <p:cNvSpPr txBox="1"/>
          <p:nvPr/>
        </p:nvSpPr>
        <p:spPr>
          <a:xfrm>
            <a:off x="274320" y="449590"/>
            <a:ext cx="1261884"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练习二</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1661133" y="586898"/>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2152623" y="5667869"/>
            <a:ext cx="4206601" cy="461665"/>
          </a:xfrm>
          <a:prstGeom prst="rect">
            <a:avLst/>
          </a:prstGeom>
        </p:spPr>
        <p:txBody>
          <a:bodyPr wrap="none">
            <a:spAutoFit/>
          </a:bodyPr>
          <a:lstStyle/>
          <a:p>
            <a:r>
              <a:rPr lang="zh-CN" altLang="en-US" sz="2400" b="1" dirty="0">
                <a:solidFill>
                  <a:srgbClr val="FF0000"/>
                </a:solidFill>
                <a:latin typeface="微软雅黑" pitchFamily="34" charset="-122"/>
                <a:ea typeface="微软雅黑" pitchFamily="34" charset="-122"/>
              </a:rPr>
              <a:t>错误：把组织目标当度量指标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ChangeAspect="1" noChangeArrowheads="1"/>
          </p:cNvPicPr>
          <p:nvPr/>
        </p:nvPicPr>
        <p:blipFill>
          <a:blip r:embed="rId2" cstate="print"/>
          <a:srcRect/>
          <a:stretch>
            <a:fillRect/>
          </a:stretch>
        </p:blipFill>
        <p:spPr bwMode="auto">
          <a:xfrm>
            <a:off x="1943585" y="1504666"/>
            <a:ext cx="8304830" cy="4071966"/>
          </a:xfrm>
          <a:prstGeom prst="rect">
            <a:avLst/>
          </a:prstGeom>
          <a:noFill/>
          <a:ln w="9525">
            <a:noFill/>
            <a:miter lim="800000"/>
            <a:headEnd/>
            <a:tailEnd/>
          </a:ln>
          <a:effectLst/>
        </p:spPr>
      </p:pic>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1908802" y="588957"/>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矩形 11"/>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274320" y="449590"/>
            <a:ext cx="1620957"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修改示例</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竖卷形 5"/>
          <p:cNvSpPr/>
          <p:nvPr/>
        </p:nvSpPr>
        <p:spPr>
          <a:xfrm>
            <a:off x="1828924" y="1329063"/>
            <a:ext cx="8534152" cy="5013176"/>
          </a:xfrm>
          <a:prstGeom prst="verticalScroll">
            <a:avLst/>
          </a:prstGeom>
          <a:solidFill>
            <a:schemeClr val="accent1">
              <a:lumMod val="20000"/>
              <a:lumOff val="80000"/>
            </a:schemeClr>
          </a:solidFill>
        </p:spPr>
        <p:style>
          <a:lnRef idx="1">
            <a:schemeClr val="accent2"/>
          </a:lnRef>
          <a:fillRef idx="2">
            <a:schemeClr val="accent2"/>
          </a:fillRef>
          <a:effectRef idx="1">
            <a:schemeClr val="accent2"/>
          </a:effectRef>
          <a:fontRef idx="minor">
            <a:schemeClr val="dk1"/>
          </a:fontRef>
        </p:style>
        <p:txBody>
          <a:bodyPr anchor="ctr"/>
          <a:lstStyle/>
          <a:p>
            <a:pPr>
              <a:lnSpc>
                <a:spcPct val="150000"/>
              </a:lnSpc>
              <a:defRPr/>
            </a:pPr>
            <a:r>
              <a:rPr lang="en-US" altLang="zh-CN" sz="2000" b="1" dirty="0">
                <a:latin typeface="微软雅黑" panose="020B0503020204020204" pitchFamily="34" charset="-122"/>
                <a:ea typeface="微软雅黑" panose="020B0503020204020204" pitchFamily="34" charset="-122"/>
              </a:rPr>
              <a:t>XXX</a:t>
            </a:r>
            <a:r>
              <a:rPr lang="zh-CN" altLang="en-US" sz="2000" b="1" dirty="0">
                <a:latin typeface="微软雅黑" panose="020B0503020204020204" pitchFamily="34" charset="-122"/>
                <a:ea typeface="微软雅黑" panose="020B0503020204020204" pitchFamily="34" charset="-122"/>
              </a:rPr>
              <a:t>市人才交流中心一直负责</a:t>
            </a:r>
            <a:r>
              <a:rPr lang="en-US" altLang="zh-CN" sz="2000" b="1" dirty="0">
                <a:latin typeface="微软雅黑" panose="020B0503020204020204" pitchFamily="34" charset="-122"/>
                <a:ea typeface="微软雅黑" panose="020B0503020204020204" pitchFamily="34" charset="-122"/>
              </a:rPr>
              <a:t>XXX</a:t>
            </a:r>
            <a:r>
              <a:rPr lang="zh-CN" altLang="en-US" sz="2000" b="1" dirty="0">
                <a:latin typeface="微软雅黑" panose="020B0503020204020204" pitchFamily="34" charset="-122"/>
                <a:ea typeface="微软雅黑" panose="020B0503020204020204" pitchFamily="34" charset="-122"/>
              </a:rPr>
              <a:t>市的人才中介工作，求职者可以在人才交流中心发布求职信息或查看招聘信息，招聘的公司也可以在人才中心发布招聘信息或查看求职信息。随着互联网技术的发展，</a:t>
            </a:r>
            <a:r>
              <a:rPr lang="en-US" altLang="zh-CN" sz="2000" b="1" dirty="0">
                <a:latin typeface="微软雅黑" panose="020B0503020204020204" pitchFamily="34" charset="-122"/>
                <a:ea typeface="微软雅黑" panose="020B0503020204020204" pitchFamily="34" charset="-122"/>
              </a:rPr>
              <a:t>XXX</a:t>
            </a:r>
            <a:r>
              <a:rPr lang="zh-CN" altLang="en-US" sz="2000" b="1" dirty="0">
                <a:latin typeface="微软雅黑" panose="020B0503020204020204" pitchFamily="34" charset="-122"/>
                <a:ea typeface="微软雅黑" panose="020B0503020204020204" pitchFamily="34" charset="-122"/>
              </a:rPr>
              <a:t>人才交流中心也想要一套软件系统，使得求职者和招聘公司能自助发布求职和招聘信息，这样即可以提高员工的工作效率，精简负责普通招聘工作的人员，又可以缩减求职者和招聘公司排队等候时间，说干就干，开发一套</a:t>
            </a:r>
            <a:r>
              <a:rPr lang="en-US" altLang="zh-CN" sz="2000" b="1" dirty="0">
                <a:latin typeface="微软雅黑" panose="020B0503020204020204" pitchFamily="34" charset="-122"/>
                <a:ea typeface="微软雅黑" panose="020B0503020204020204" pitchFamily="34" charset="-122"/>
              </a:rPr>
              <a:t>XXX</a:t>
            </a:r>
            <a:r>
              <a:rPr lang="zh-CN" altLang="en-US" sz="2000" b="1" dirty="0">
                <a:latin typeface="微软雅黑" panose="020B0503020204020204" pitchFamily="34" charset="-122"/>
                <a:ea typeface="微软雅黑" panose="020B0503020204020204" pitchFamily="34" charset="-122"/>
              </a:rPr>
              <a:t>市人才交流中心自己的求职招聘网站。</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1908802" y="588957"/>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274320" y="449590"/>
            <a:ext cx="1620957"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课堂训练</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274320" y="449590"/>
            <a:ext cx="3775393"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第一步：寻找“老大”</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52884" y="1637330"/>
            <a:ext cx="4006006" cy="2883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389455" y="4683106"/>
            <a:ext cx="4132863" cy="523220"/>
          </a:xfrm>
          <a:prstGeom prst="rect">
            <a:avLst/>
          </a:prstGeom>
          <a:noFill/>
        </p:spPr>
        <p:txBody>
          <a:bodyPr wrap="none" rtlCol="0">
            <a:spAutoFit/>
          </a:bodyPr>
          <a:lstStyle/>
          <a:p>
            <a:r>
              <a:rPr lang="en-US" altLang="zh-CN" sz="2800" dirty="0">
                <a:latin typeface="微软雅黑" panose="020B0503020204020204" pitchFamily="34" charset="-122"/>
                <a:ea typeface="微软雅黑" panose="020B0503020204020204" pitchFamily="34" charset="-122"/>
              </a:rPr>
              <a:t>XXX</a:t>
            </a:r>
            <a:r>
              <a:rPr lang="zh-CN" altLang="en-US" sz="2800" dirty="0">
                <a:latin typeface="微软雅黑" panose="020B0503020204020204" pitchFamily="34" charset="-122"/>
                <a:ea typeface="微软雅黑" panose="020B0503020204020204" pitchFamily="34" charset="-122"/>
              </a:rPr>
              <a:t>市人才交流中心主任</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3924972" y="618364"/>
            <a:ext cx="491490" cy="318085"/>
            <a:chOff x="3017520" y="601990"/>
            <a:chExt cx="491490" cy="414010"/>
          </a:xfrm>
        </p:grpSpPr>
        <p:sp>
          <p:nvSpPr>
            <p:cNvPr id="10" name="燕尾形 9"/>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燕尾形 11"/>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3" name="矩形 12"/>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274320" y="449590"/>
            <a:ext cx="4960012"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第二步： 得到“老大”的期望</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5640" y="2204864"/>
            <a:ext cx="2880320" cy="201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423593" y="4437112"/>
            <a:ext cx="4132863" cy="523220"/>
          </a:xfrm>
          <a:prstGeom prst="rect">
            <a:avLst/>
          </a:prstGeom>
          <a:noFill/>
        </p:spPr>
        <p:txBody>
          <a:bodyPr wrap="none" rtlCol="0">
            <a:spAutoFit/>
          </a:bodyPr>
          <a:lstStyle/>
          <a:p>
            <a:r>
              <a:rPr lang="en-US" altLang="zh-CN" sz="2800" dirty="0">
                <a:latin typeface="微软雅黑" panose="020B0503020204020204" pitchFamily="34" charset="-122"/>
                <a:ea typeface="微软雅黑" panose="020B0503020204020204" pitchFamily="34" charset="-122"/>
              </a:rPr>
              <a:t>XXX</a:t>
            </a:r>
            <a:r>
              <a:rPr lang="zh-CN" altLang="en-US" sz="2800" dirty="0">
                <a:latin typeface="微软雅黑" panose="020B0503020204020204" pitchFamily="34" charset="-122"/>
                <a:ea typeface="微软雅黑" panose="020B0503020204020204" pitchFamily="34" charset="-122"/>
              </a:rPr>
              <a:t>市人才交流中心主任</a:t>
            </a:r>
          </a:p>
        </p:txBody>
      </p:sp>
      <p:sp>
        <p:nvSpPr>
          <p:cNvPr id="7" name="云形标注 6"/>
          <p:cNvSpPr/>
          <p:nvPr/>
        </p:nvSpPr>
        <p:spPr>
          <a:xfrm>
            <a:off x="6240016" y="1916832"/>
            <a:ext cx="3888432" cy="1548752"/>
          </a:xfrm>
          <a:prstGeom prst="cloudCallout">
            <a:avLst>
              <a:gd name="adj1" fmla="val -57723"/>
              <a:gd name="adj2" fmla="val 77495"/>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latin typeface="微软雅黑" panose="020B0503020204020204" pitchFamily="34" charset="-122"/>
                <a:ea typeface="微软雅黑" panose="020B0503020204020204" pitchFamily="34" charset="-122"/>
              </a:rPr>
              <a:t>让求职者和招聘公司能随时随地求职和招聘</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5259540" y="552157"/>
            <a:ext cx="491490" cy="318085"/>
            <a:chOff x="3017520" y="601990"/>
            <a:chExt cx="491490" cy="414010"/>
          </a:xfrm>
        </p:grpSpPr>
        <p:sp>
          <p:nvSpPr>
            <p:cNvPr id="10" name="燕尾形 9"/>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燕尾形 11"/>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3" name="矩形 12"/>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extLst>
              <p:ext uri="{D42A27DB-BD31-4B8C-83A1-F6EECF244321}">
                <p14:modId xmlns:p14="http://schemas.microsoft.com/office/powerpoint/2010/main" val="2258742662"/>
              </p:ext>
            </p:extLst>
          </p:nvPr>
        </p:nvGraphicFramePr>
        <p:xfrm>
          <a:off x="1739516" y="1610343"/>
          <a:ext cx="8712968" cy="3937857"/>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20000"/>
                    </a:ext>
                  </a:extLst>
                </a:gridCol>
                <a:gridCol w="7344816">
                  <a:extLst>
                    <a:ext uri="{9D8B030D-6E8A-4147-A177-3AD203B41FA5}">
                      <a16:colId xmlns:a16="http://schemas.microsoft.com/office/drawing/2014/main" val="20001"/>
                    </a:ext>
                  </a:extLst>
                </a:gridCol>
              </a:tblGrid>
              <a:tr h="992290">
                <a:tc>
                  <a:txBody>
                    <a:bodyPr/>
                    <a:lstStyle/>
                    <a:p>
                      <a:pPr algn="l"/>
                      <a:r>
                        <a:rPr lang="zh-CN" altLang="en-US" sz="2600" b="0" dirty="0">
                          <a:solidFill>
                            <a:schemeClr val="tx1"/>
                          </a:solidFill>
                          <a:latin typeface="微软雅黑" panose="020B0503020204020204" pitchFamily="34" charset="-122"/>
                          <a:ea typeface="微软雅黑" panose="020B0503020204020204" pitchFamily="34" charset="-122"/>
                        </a:rPr>
                        <a:t>老大</a:t>
                      </a:r>
                    </a:p>
                  </a:txBody>
                  <a:tcPr anchor="ctr">
                    <a:solidFill>
                      <a:schemeClr val="tx2">
                        <a:lumMod val="20000"/>
                        <a:lumOff val="80000"/>
                      </a:schemeClr>
                    </a:solidFill>
                  </a:tcPr>
                </a:tc>
                <a:tc>
                  <a:txBody>
                    <a:bodyPr/>
                    <a:lstStyle/>
                    <a:p>
                      <a:pPr algn="l"/>
                      <a:r>
                        <a:rPr lang="en-US" altLang="zh-CN" sz="2600" b="0" dirty="0">
                          <a:solidFill>
                            <a:schemeClr val="tx1"/>
                          </a:solidFill>
                          <a:latin typeface="微软雅黑" panose="020B0503020204020204" pitchFamily="34" charset="-122"/>
                          <a:ea typeface="微软雅黑" panose="020B0503020204020204" pitchFamily="34" charset="-122"/>
                        </a:rPr>
                        <a:t>  XXX</a:t>
                      </a:r>
                      <a:r>
                        <a:rPr lang="zh-CN" altLang="en-US" sz="2600" b="0" dirty="0">
                          <a:solidFill>
                            <a:schemeClr val="tx1"/>
                          </a:solidFill>
                          <a:latin typeface="微软雅黑" panose="020B0503020204020204" pitchFamily="34" charset="-122"/>
                          <a:ea typeface="微软雅黑" panose="020B0503020204020204" pitchFamily="34" charset="-122"/>
                        </a:rPr>
                        <a:t>市人才交流中心主任</a:t>
                      </a:r>
                    </a:p>
                  </a:txBody>
                  <a:tcPr anchor="ctr">
                    <a:solidFill>
                      <a:schemeClr val="tx2">
                        <a:lumMod val="20000"/>
                        <a:lumOff val="80000"/>
                      </a:schemeClr>
                    </a:solidFill>
                  </a:tcPr>
                </a:tc>
                <a:extLst>
                  <a:ext uri="{0D108BD9-81ED-4DB2-BD59-A6C34878D82A}">
                    <a16:rowId xmlns:a16="http://schemas.microsoft.com/office/drawing/2014/main" val="10000"/>
                  </a:ext>
                </a:extLst>
              </a:tr>
              <a:tr h="927912">
                <a:tc>
                  <a:txBody>
                    <a:bodyPr/>
                    <a:lstStyle/>
                    <a:p>
                      <a:pPr algn="l"/>
                      <a:r>
                        <a:rPr lang="zh-CN" altLang="en-US" sz="2600" b="0" dirty="0">
                          <a:solidFill>
                            <a:schemeClr val="tx1"/>
                          </a:solidFill>
                          <a:latin typeface="微软雅黑" panose="020B0503020204020204" pitchFamily="34" charset="-122"/>
                          <a:ea typeface="微软雅黑" panose="020B0503020204020204" pitchFamily="34" charset="-122"/>
                        </a:rPr>
                        <a:t>愿景</a:t>
                      </a:r>
                    </a:p>
                  </a:txBody>
                  <a:tcPr anchor="ctr">
                    <a:solidFill>
                      <a:schemeClr val="tx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600" b="0" dirty="0">
                          <a:solidFill>
                            <a:schemeClr val="tx1"/>
                          </a:solidFill>
                          <a:latin typeface="微软雅黑" panose="020B0503020204020204" pitchFamily="34" charset="-122"/>
                          <a:ea typeface="微软雅黑" panose="020B0503020204020204" pitchFamily="34" charset="-122"/>
                        </a:rPr>
                        <a:t>  让求职者和招聘公司能随时随地求职和招聘</a:t>
                      </a:r>
                    </a:p>
                  </a:txBody>
                  <a:tcPr anchor="ctr">
                    <a:solidFill>
                      <a:schemeClr val="tx2">
                        <a:lumMod val="20000"/>
                        <a:lumOff val="80000"/>
                      </a:schemeClr>
                    </a:solidFill>
                  </a:tcPr>
                </a:tc>
                <a:extLst>
                  <a:ext uri="{0D108BD9-81ED-4DB2-BD59-A6C34878D82A}">
                    <a16:rowId xmlns:a16="http://schemas.microsoft.com/office/drawing/2014/main" val="10001"/>
                  </a:ext>
                </a:extLst>
              </a:tr>
              <a:tr h="2017655">
                <a:tc>
                  <a:txBody>
                    <a:bodyPr/>
                    <a:lstStyle/>
                    <a:p>
                      <a:pPr algn="l"/>
                      <a:r>
                        <a:rPr lang="zh-CN" altLang="en-US" sz="2600" b="0" dirty="0">
                          <a:solidFill>
                            <a:schemeClr val="tx1"/>
                          </a:solidFill>
                          <a:latin typeface="微软雅黑" panose="020B0503020204020204" pitchFamily="34" charset="-122"/>
                          <a:ea typeface="微软雅黑" panose="020B0503020204020204" pitchFamily="34" charset="-122"/>
                        </a:rPr>
                        <a:t>度量</a:t>
                      </a:r>
                      <a:br>
                        <a:rPr lang="en-US" altLang="zh-CN" sz="2600" b="0" dirty="0">
                          <a:solidFill>
                            <a:schemeClr val="tx1"/>
                          </a:solidFill>
                          <a:latin typeface="微软雅黑" panose="020B0503020204020204" pitchFamily="34" charset="-122"/>
                          <a:ea typeface="微软雅黑" panose="020B0503020204020204" pitchFamily="34" charset="-122"/>
                        </a:rPr>
                      </a:br>
                      <a:r>
                        <a:rPr lang="zh-CN" altLang="en-US" sz="2600" b="0" dirty="0">
                          <a:solidFill>
                            <a:schemeClr val="tx1"/>
                          </a:solidFill>
                          <a:latin typeface="微软雅黑" panose="020B0503020204020204" pitchFamily="34" charset="-122"/>
                          <a:ea typeface="微软雅黑" panose="020B0503020204020204" pitchFamily="34" charset="-122"/>
                        </a:rPr>
                        <a:t>指标</a:t>
                      </a:r>
                    </a:p>
                  </a:txBody>
                  <a:tcPr anchor="ctr">
                    <a:solidFill>
                      <a:schemeClr val="tx2">
                        <a:lumMod val="20000"/>
                        <a:lumOff val="80000"/>
                      </a:schemeClr>
                    </a:solidFill>
                  </a:tcPr>
                </a:tc>
                <a:tc>
                  <a:txBody>
                    <a:bodyPr/>
                    <a:lstStyle/>
                    <a:p>
                      <a:pPr marL="514350" marR="0" indent="-514350" algn="l" defTabSz="914400" rtl="0" eaLnBrk="1" fontAlgn="auto" latinLnBrk="0" hangingPunct="1">
                        <a:lnSpc>
                          <a:spcPct val="100000"/>
                        </a:lnSpc>
                        <a:spcBef>
                          <a:spcPts val="0"/>
                        </a:spcBef>
                        <a:spcAft>
                          <a:spcPts val="0"/>
                        </a:spcAft>
                        <a:buClrTx/>
                        <a:buSzTx/>
                        <a:buFont typeface="+mj-lt"/>
                        <a:buAutoNum type="arabicPeriod"/>
                        <a:defRPr/>
                      </a:pPr>
                      <a:endParaRPr lang="en-US" altLang="zh-CN" sz="2800" b="0" dirty="0">
                        <a:solidFill>
                          <a:schemeClr val="tx1"/>
                        </a:solidFill>
                        <a:latin typeface="微软雅黑" panose="020B0503020204020204" pitchFamily="34" charset="-122"/>
                        <a:ea typeface="微软雅黑" panose="020B0503020204020204" pitchFamily="34" charset="-122"/>
                      </a:endParaRPr>
                    </a:p>
                  </a:txBody>
                  <a:tcPr anchor="ctr">
                    <a:solidFill>
                      <a:schemeClr val="tx2">
                        <a:lumMod val="20000"/>
                        <a:lumOff val="80000"/>
                      </a:schemeClr>
                    </a:solidFill>
                  </a:tcPr>
                </a:tc>
                <a:extLst>
                  <a:ext uri="{0D108BD9-81ED-4DB2-BD59-A6C34878D82A}">
                    <a16:rowId xmlns:a16="http://schemas.microsoft.com/office/drawing/2014/main" val="10002"/>
                  </a:ext>
                </a:extLst>
              </a:tr>
            </a:tbl>
          </a:graphicData>
        </a:graphic>
      </p:graphicFrame>
      <p:sp>
        <p:nvSpPr>
          <p:cNvPr id="5" name="文本框 4"/>
          <p:cNvSpPr txBox="1"/>
          <p:nvPr/>
        </p:nvSpPr>
        <p:spPr>
          <a:xfrm>
            <a:off x="274320" y="449590"/>
            <a:ext cx="5211683"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第三步：描述愿景的可度量指标</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5551648" y="579228"/>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248734" y="3579271"/>
            <a:ext cx="6966420" cy="1754326"/>
          </a:xfrm>
          <a:prstGeom prst="rect">
            <a:avLst/>
          </a:prstGeom>
        </p:spPr>
        <p:txBody>
          <a:bodyPr wrap="square">
            <a:spAutoFit/>
          </a:bodyPr>
          <a:lstStyle/>
          <a:p>
            <a:pPr marL="514350" indent="-514350">
              <a:lnSpc>
                <a:spcPct val="150000"/>
              </a:lnSpc>
              <a:buFont typeface="+mj-lt"/>
              <a:buAutoNum type="arabicPeriod"/>
              <a:defRPr/>
            </a:pPr>
            <a:r>
              <a:rPr lang="zh-CN" altLang="en-US" sz="2400" dirty="0">
                <a:latin typeface="微软雅黑" panose="020B0503020204020204" pitchFamily="34" charset="-122"/>
                <a:ea typeface="微软雅黑" panose="020B0503020204020204" pitchFamily="34" charset="-122"/>
              </a:rPr>
              <a:t>缩短求职者和招聘公司的求职和招聘等待时间</a:t>
            </a:r>
            <a:endParaRPr lang="en-US" altLang="zh-CN" sz="2400"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defRPr/>
            </a:pPr>
            <a:r>
              <a:rPr lang="zh-CN" altLang="en-US" sz="2400" dirty="0">
                <a:latin typeface="微软雅黑" panose="020B0503020204020204" pitchFamily="34" charset="-122"/>
                <a:ea typeface="微软雅黑" panose="020B0503020204020204" pitchFamily="34" charset="-122"/>
              </a:rPr>
              <a:t>增加</a:t>
            </a:r>
            <a:r>
              <a:rPr lang="en-US" altLang="zh-CN" sz="2400" dirty="0">
                <a:latin typeface="微软雅黑" panose="020B0503020204020204" pitchFamily="34" charset="-122"/>
                <a:ea typeface="微软雅黑" panose="020B0503020204020204" pitchFamily="34" charset="-122"/>
              </a:rPr>
              <a:t>7</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24</a:t>
            </a:r>
            <a:r>
              <a:rPr lang="zh-CN" altLang="en-US" sz="2400" dirty="0">
                <a:latin typeface="微软雅黑" panose="020B0503020204020204" pitchFamily="34" charset="-122"/>
                <a:ea typeface="微软雅黑" panose="020B0503020204020204" pitchFamily="34" charset="-122"/>
              </a:rPr>
              <a:t>小时不间断服务</a:t>
            </a:r>
            <a:endParaRPr lang="en-US" altLang="zh-CN" sz="2400"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defRPr/>
            </a:pPr>
            <a:r>
              <a:rPr lang="zh-CN" altLang="en-US" sz="2400" dirty="0">
                <a:latin typeface="微软雅黑" panose="020B0503020204020204" pitchFamily="34" charset="-122"/>
                <a:ea typeface="微软雅黑" panose="020B0503020204020204" pitchFamily="34" charset="-122"/>
              </a:rPr>
              <a:t>减少员工的工作量</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4"/>
          <p:cNvSpPr txBox="1"/>
          <p:nvPr/>
        </p:nvSpPr>
        <p:spPr>
          <a:xfrm>
            <a:off x="274320" y="449590"/>
            <a:ext cx="3775393"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看似简单，其实最重要</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4049713" y="564474"/>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内容占位符 2"/>
          <p:cNvSpPr txBox="1"/>
          <p:nvPr/>
        </p:nvSpPr>
        <p:spPr>
          <a:xfrm>
            <a:off x="393700" y="1345383"/>
            <a:ext cx="11375934" cy="4663530"/>
          </a:xfrm>
          <a:prstGeom prst="rect">
            <a:avLst/>
          </a:prstGeom>
        </p:spPr>
        <p:txBody>
          <a:bodyPr/>
          <a:lstStyle>
            <a:defPPr>
              <a:defRPr lang="zh-CN"/>
            </a:defPPr>
            <a:lvl1pPr marL="285750" indent="-285750">
              <a:lnSpc>
                <a:spcPct val="150000"/>
              </a:lnSpc>
              <a:spcBef>
                <a:spcPts val="10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1pPr>
            <a:lvl2pPr marL="742950" lvl="1" indent="-285750">
              <a:lnSpc>
                <a:spcPct val="150000"/>
              </a:lnSpc>
              <a:spcBef>
                <a:spcPts val="500"/>
              </a:spcBef>
              <a:buFont typeface="Arial" panose="020B0604020202020204" pitchFamily="34" charset="0"/>
              <a:buChar char="•"/>
              <a:defRPr>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企业的组织结构和人体类似：老大是大脑，管理层是中枢神经，执行层是肢</a:t>
            </a:r>
            <a:endParaRPr lang="en-US" altLang="zh-CN" dirty="0"/>
          </a:p>
          <a:p>
            <a:r>
              <a:rPr lang="zh-CN" altLang="en-US" dirty="0"/>
              <a:t>大脑统领一切，但大脑的想法最难获得</a:t>
            </a:r>
            <a:endParaRPr lang="en-US" altLang="zh-CN" dirty="0"/>
          </a:p>
        </p:txBody>
      </p:sp>
      <p:pic>
        <p:nvPicPr>
          <p:cNvPr id="18" name="Picture 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25143" y="2367287"/>
            <a:ext cx="6506370" cy="4106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9226" y="1263365"/>
            <a:ext cx="8593807" cy="4907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p:cNvSpPr txBox="1"/>
          <p:nvPr/>
        </p:nvSpPr>
        <p:spPr>
          <a:xfrm>
            <a:off x="274320" y="449590"/>
            <a:ext cx="4431278" cy="523220"/>
          </a:xfrm>
          <a:prstGeom prst="rect">
            <a:avLst/>
          </a:prstGeom>
          <a:noFill/>
        </p:spPr>
        <p:txBody>
          <a:bodyPr wrap="none" rtlCol="0">
            <a:spAutoFit/>
          </a:bodyPr>
          <a:lstStyle/>
          <a:p>
            <a:r>
              <a:rPr lang="en-US" altLang="zh-CN" sz="2800" b="1" dirty="0">
                <a:solidFill>
                  <a:srgbClr val="141316"/>
                </a:solidFill>
                <a:latin typeface="微软雅黑" panose="020B0503020204020204" pitchFamily="34" charset="-122"/>
                <a:ea typeface="微软雅黑" panose="020B0503020204020204" pitchFamily="34" charset="-122"/>
              </a:rPr>
              <a:t>DEMO:EA</a:t>
            </a:r>
            <a:r>
              <a:rPr lang="zh-CN" altLang="en-US" sz="2800" b="1" dirty="0">
                <a:solidFill>
                  <a:srgbClr val="141316"/>
                </a:solidFill>
                <a:latin typeface="微软雅黑" panose="020B0503020204020204" pitchFamily="34" charset="-122"/>
                <a:ea typeface="微软雅黑" panose="020B0503020204020204" pitchFamily="34" charset="-122"/>
              </a:rPr>
              <a:t>中进行愿景建模</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4731398" y="576671"/>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74320" y="449590"/>
            <a:ext cx="902811"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总结</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1276830" y="588916"/>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内容占位符 2"/>
          <p:cNvSpPr txBox="1"/>
          <p:nvPr/>
        </p:nvSpPr>
        <p:spPr>
          <a:xfrm>
            <a:off x="393700" y="1345383"/>
            <a:ext cx="11375934" cy="4663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客户为什么要花钱购买软件？</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为什么说“需求是软件成功的基础”？</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en-US" altLang="zh-CN" sz="2400" dirty="0">
                <a:latin typeface="微软雅黑" panose="020B0503020204020204" pitchFamily="34" charset="-122"/>
                <a:ea typeface="微软雅黑" panose="020B0503020204020204" pitchFamily="34" charset="-122"/>
              </a:rPr>
              <a:t> ICONIX </a:t>
            </a:r>
            <a:r>
              <a:rPr lang="zh-CN" altLang="en-US" sz="2400" dirty="0">
                <a:latin typeface="微软雅黑" panose="020B0503020204020204" pitchFamily="34" charset="-122"/>
                <a:ea typeface="微软雅黑" panose="020B0503020204020204" pitchFamily="34" charset="-122"/>
              </a:rPr>
              <a:t>过程中如何完成需求开发工作？</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 如何做好需求分析第一步：定义愿景？</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6722772" y="3245476"/>
            <a:ext cx="5469228" cy="64394"/>
          </a:xfrm>
          <a:prstGeom prst="rect">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6529588" y="1982450"/>
            <a:ext cx="5383205" cy="1569660"/>
          </a:xfrm>
          <a:prstGeom prst="rect">
            <a:avLst/>
          </a:prstGeom>
          <a:noFill/>
        </p:spPr>
        <p:txBody>
          <a:bodyPr wrap="none" rtlCol="0">
            <a:spAutoFit/>
          </a:bodyPr>
          <a:lstStyle/>
          <a:p>
            <a:r>
              <a:rPr lang="en-US" altLang="zh-CN" sz="9600" b="1" dirty="0">
                <a:solidFill>
                  <a:srgbClr val="B82E24"/>
                </a:solidFill>
                <a:latin typeface="Times New Roman" panose="02020603050405020304" pitchFamily="18" charset="0"/>
                <a:cs typeface="Times New Roman" panose="02020603050405020304" pitchFamily="18" charset="0"/>
              </a:rPr>
              <a:t>THANKS</a:t>
            </a:r>
            <a:endParaRPr lang="zh-CN" altLang="en-US" sz="6000" b="1" dirty="0">
              <a:solidFill>
                <a:srgbClr val="141316"/>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2236</TotalTime>
  <Words>1766</Words>
  <Application>Microsoft Office PowerPoint</Application>
  <PresentationFormat>宽屏</PresentationFormat>
  <Paragraphs>280</Paragraphs>
  <Slides>38</Slides>
  <Notes>14</Notes>
  <HiddenSlides>2</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38</vt:i4>
      </vt:variant>
    </vt:vector>
  </HeadingPairs>
  <TitlesOfParts>
    <vt:vector size="47" baseType="lpstr">
      <vt:lpstr>Wingdings</vt:lpstr>
      <vt:lpstr>Times New Roman</vt:lpstr>
      <vt:lpstr>隶书</vt:lpstr>
      <vt:lpstr>Arial</vt:lpstr>
      <vt:lpstr>Calibri</vt:lpstr>
      <vt:lpstr>华康俪金黑W8(P)</vt:lpstr>
      <vt:lpstr>微软雅黑</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胡占利</dc:creator>
  <cp:lastModifiedBy>Mengyi</cp:lastModifiedBy>
  <cp:revision>348</cp:revision>
  <dcterms:created xsi:type="dcterms:W3CDTF">2013-08-14T15:08:00Z</dcterms:created>
  <dcterms:modified xsi:type="dcterms:W3CDTF">2022-07-20T09:29:21Z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2052-10.1.0.7401</vt:lpwstr>
  </property>
</Properties>
</file>