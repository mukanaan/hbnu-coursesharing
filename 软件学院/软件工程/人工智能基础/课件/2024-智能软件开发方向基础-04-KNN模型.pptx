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64"/>
  </p:notesMasterIdLst>
  <p:handoutMasterIdLst>
    <p:handoutMasterId r:id="rId65"/>
  </p:handoutMasterIdLst>
  <p:sldIdLst>
    <p:sldId id="314" r:id="rId3"/>
    <p:sldId id="1229" r:id="rId4"/>
    <p:sldId id="1228" r:id="rId5"/>
    <p:sldId id="1223" r:id="rId6"/>
    <p:sldId id="1157" r:id="rId7"/>
    <p:sldId id="1045" r:id="rId8"/>
    <p:sldId id="934" r:id="rId9"/>
    <p:sldId id="1156" r:id="rId10"/>
    <p:sldId id="1161" r:id="rId11"/>
    <p:sldId id="938" r:id="rId12"/>
    <p:sldId id="1160" r:id="rId13"/>
    <p:sldId id="1222" r:id="rId14"/>
    <p:sldId id="1168" r:id="rId15"/>
    <p:sldId id="1162" r:id="rId16"/>
    <p:sldId id="1153" r:id="rId17"/>
    <p:sldId id="1167" r:id="rId18"/>
    <p:sldId id="1163" r:id="rId19"/>
    <p:sldId id="1230" r:id="rId20"/>
    <p:sldId id="1164" r:id="rId21"/>
    <p:sldId id="1165" r:id="rId22"/>
    <p:sldId id="1166" r:id="rId23"/>
    <p:sldId id="1054" r:id="rId24"/>
    <p:sldId id="1060" r:id="rId25"/>
    <p:sldId id="1061" r:id="rId26"/>
    <p:sldId id="1062" r:id="rId27"/>
    <p:sldId id="1169" r:id="rId28"/>
    <p:sldId id="1170" r:id="rId29"/>
    <p:sldId id="1057" r:id="rId30"/>
    <p:sldId id="1171" r:id="rId31"/>
    <p:sldId id="1172" r:id="rId32"/>
    <p:sldId id="1173" r:id="rId33"/>
    <p:sldId id="1056" r:id="rId34"/>
    <p:sldId id="1174" r:id="rId35"/>
    <p:sldId id="1206" r:id="rId36"/>
    <p:sldId id="1207" r:id="rId37"/>
    <p:sldId id="1175" r:id="rId38"/>
    <p:sldId id="1181" r:id="rId39"/>
    <p:sldId id="1208" r:id="rId40"/>
    <p:sldId id="1176" r:id="rId41"/>
    <p:sldId id="1178" r:id="rId42"/>
    <p:sldId id="1179" r:id="rId43"/>
    <p:sldId id="1182" r:id="rId44"/>
    <p:sldId id="1183" r:id="rId45"/>
    <p:sldId id="1184" r:id="rId46"/>
    <p:sldId id="1180" r:id="rId47"/>
    <p:sldId id="1224" r:id="rId48"/>
    <p:sldId id="1158" r:id="rId49"/>
    <p:sldId id="1159" r:id="rId50"/>
    <p:sldId id="1187" r:id="rId51"/>
    <p:sldId id="1196" r:id="rId52"/>
    <p:sldId id="1189" r:id="rId53"/>
    <p:sldId id="1190" r:id="rId54"/>
    <p:sldId id="1191" r:id="rId55"/>
    <p:sldId id="1197" r:id="rId56"/>
    <p:sldId id="1193" r:id="rId57"/>
    <p:sldId id="1201" r:id="rId58"/>
    <p:sldId id="1202" r:id="rId59"/>
    <p:sldId id="1195" r:id="rId60"/>
    <p:sldId id="1198" r:id="rId61"/>
    <p:sldId id="1205" r:id="rId62"/>
    <p:sldId id="1231" r:id="rId63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0000"/>
    <a:srgbClr val="00FFFF"/>
    <a:srgbClr val="003399"/>
    <a:srgbClr val="FF9900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2" autoAdjust="0"/>
    <p:restoredTop sz="94701" autoAdjust="0"/>
  </p:normalViewPr>
  <p:slideViewPr>
    <p:cSldViewPr>
      <p:cViewPr varScale="1">
        <p:scale>
          <a:sx n="90" d="100"/>
          <a:sy n="90" d="100"/>
        </p:scale>
        <p:origin x="20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03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099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8" rIns="99037" bIns="49518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2021 </a:t>
            </a:r>
            <a:r>
              <a:rPr lang="zh-CN" altLang="en-US"/>
              <a:t>数据科学与人工智能方向基础</a:t>
            </a: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201" y="1"/>
            <a:ext cx="3076099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8" rIns="99037" bIns="49518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ea typeface="宋体" pitchFamily="2" charset="-122"/>
              </a:defRPr>
            </a:lvl1pPr>
          </a:lstStyle>
          <a:p>
            <a:pPr>
              <a:defRPr/>
            </a:pPr>
            <a:fld id="{7F33BBA6-D661-44E6-80D8-61A0DE3B44F3}" type="datetime1">
              <a:rPr lang="zh-CN" altLang="en-US" smtClean="0"/>
              <a:t>2024/3/19</a:t>
            </a:fld>
            <a:endParaRPr lang="en-US" altLang="zh-CN"/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1851"/>
            <a:ext cx="3076099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8" rIns="99037" bIns="49518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河北师范大学 软件学院</a:t>
            </a:r>
            <a:endParaRPr lang="en-US" altLang="zh-CN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201" y="9721851"/>
            <a:ext cx="3076099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8" rIns="99037" bIns="49518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ea typeface="宋体" pitchFamily="2" charset="-122"/>
              </a:defRPr>
            </a:lvl1pPr>
          </a:lstStyle>
          <a:p>
            <a:pPr>
              <a:defRPr/>
            </a:pPr>
            <a:fld id="{0F0C51C7-6931-4BF8-A880-92822E34E7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505601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099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917" tIns="42959" rIns="85917" bIns="42959" numCol="1" anchor="t" anchorCtr="0" compatLnSpc="1">
            <a:prstTxWarp prst="textNoShape">
              <a:avLst/>
            </a:prstTxWarp>
          </a:bodyPr>
          <a:lstStyle>
            <a:lvl1pPr defTabSz="858838">
              <a:defRPr sz="11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2021 </a:t>
            </a:r>
            <a:r>
              <a:rPr lang="zh-CN" altLang="en-US"/>
              <a:t>数据科学与人工智能方向基础</a:t>
            </a:r>
            <a:endParaRPr lang="en-US" altLang="zh-CN"/>
          </a:p>
        </p:txBody>
      </p:sp>
      <p:sp>
        <p:nvSpPr>
          <p:cNvPr id="531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615" y="1"/>
            <a:ext cx="307609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917" tIns="42959" rIns="85917" bIns="42959" numCol="1" anchor="t" anchorCtr="0" compatLnSpc="1">
            <a:prstTxWarp prst="textNoShape">
              <a:avLst/>
            </a:prstTxWarp>
          </a:bodyPr>
          <a:lstStyle>
            <a:lvl1pPr algn="r" defTabSz="858838">
              <a:defRPr sz="1100">
                <a:ea typeface="宋体" pitchFamily="2" charset="-122"/>
              </a:defRPr>
            </a:lvl1pPr>
          </a:lstStyle>
          <a:p>
            <a:pPr>
              <a:defRPr/>
            </a:pPr>
            <a:fld id="{C0857CBF-BEC8-4B4E-A662-776B898D63C2}" type="datetime1">
              <a:rPr lang="zh-CN" altLang="en-US" smtClean="0"/>
              <a:t>2024/3/19</a:t>
            </a:fld>
            <a:endParaRPr lang="en-US" altLang="zh-CN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1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137" y="4860926"/>
            <a:ext cx="5681026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917" tIns="42959" rIns="85917" bIns="429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31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0263"/>
            <a:ext cx="3076099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917" tIns="42959" rIns="85917" bIns="42959" numCol="1" anchor="b" anchorCtr="0" compatLnSpc="1">
            <a:prstTxWarp prst="textNoShape">
              <a:avLst/>
            </a:prstTxWarp>
          </a:bodyPr>
          <a:lstStyle>
            <a:lvl1pPr defTabSz="858838">
              <a:defRPr sz="11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河北师范大学 软件学院</a:t>
            </a:r>
            <a:endParaRPr lang="en-US" altLang="zh-CN"/>
          </a:p>
        </p:txBody>
      </p:sp>
      <p:sp>
        <p:nvSpPr>
          <p:cNvPr id="531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615" y="9720263"/>
            <a:ext cx="3076098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917" tIns="42959" rIns="85917" bIns="42959" numCol="1" anchor="b" anchorCtr="0" compatLnSpc="1">
            <a:prstTxWarp prst="textNoShape">
              <a:avLst/>
            </a:prstTxWarp>
          </a:bodyPr>
          <a:lstStyle>
            <a:lvl1pPr algn="r" defTabSz="858838">
              <a:defRPr sz="1100">
                <a:ea typeface="宋体" pitchFamily="2" charset="-122"/>
              </a:defRPr>
            </a:lvl1pPr>
          </a:lstStyle>
          <a:p>
            <a:pPr>
              <a:defRPr/>
            </a:pPr>
            <a:fld id="{7C52C910-8BC5-4E29-8450-06CE11C7E8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774881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B14C0-3C5B-4410-BAB4-96C9E53DF7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0AA9F-9296-4963-AFCD-C90A9F2FB8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F2F24-90C7-4042-8B02-09338803BB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9CC2E8-A32D-4A71-810A-B597B85468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CC77AD-F975-4BEE-AE9A-77D2292E2B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02A58-7A19-48C5-9A23-E28457517B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DB7DF-50CB-4820-A14E-F24060176D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2B155-0E6E-4570-A4DD-13C94C32D3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46777-EE6C-4286-BA25-5C88158BD8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2813F5-5E34-4109-B399-EE342C22D1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052A5D-AC70-4D86-B2FB-CA8C7EC554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D56802-F3DB-4ADE-9349-82FBC611BD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A89A-DDB7-458E-8E04-A3C9FC682F78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7B99-E341-42FA-B155-C288A7CE5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02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A89A-DDB7-458E-8E04-A3C9FC682F78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7B99-E341-42FA-B155-C288A7CE5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16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A89A-DDB7-458E-8E04-A3C9FC682F78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7B99-E341-42FA-B155-C288A7CE5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306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A89A-DDB7-458E-8E04-A3C9FC682F78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7B99-E341-42FA-B155-C288A7CE5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728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A89A-DDB7-458E-8E04-A3C9FC682F78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7B99-E341-42FA-B155-C288A7CE5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929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A89A-DDB7-458E-8E04-A3C9FC682F78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7B99-E341-42FA-B155-C288A7CE5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1115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A89A-DDB7-458E-8E04-A3C9FC682F78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7B99-E341-42FA-B155-C288A7CE5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7524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A89A-DDB7-458E-8E04-A3C9FC682F78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7B99-E341-42FA-B155-C288A7CE5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060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A89A-DDB7-458E-8E04-A3C9FC682F78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7B99-E341-42FA-B155-C288A7CE5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5376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A89A-DDB7-458E-8E04-A3C9FC682F78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7B99-E341-42FA-B155-C288A7CE5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5675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A89A-DDB7-458E-8E04-A3C9FC682F78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7B99-E341-42FA-B155-C288A7CE5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7035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34938" y="215900"/>
            <a:ext cx="8896350" cy="6035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pattern classificationPattern Classification, Chapter 1</a:t>
            </a:r>
          </a:p>
        </p:txBody>
      </p:sp>
      <p:sp>
        <p:nvSpPr>
          <p:cNvPr id="4" name="Rectangle 2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D766F4-9195-487B-A582-0B5A49C2B3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168295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>
              <a:defRPr/>
            </a:pPr>
            <a:fld id="{C0E626B3-1191-4DA5-92BA-2A5B443B3A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3A89A-DDB7-458E-8E04-A3C9FC682F78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C7B99-E341-42FA-B155-C288A7CE5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029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0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0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5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7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9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3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6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8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4" Type="http://schemas.openxmlformats.org/officeDocument/2006/relationships/image" Target="../media/image39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40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42.bin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5536" y="1124744"/>
            <a:ext cx="8352928" cy="3866046"/>
          </a:xfrm>
        </p:spPr>
        <p:txBody>
          <a:bodyPr>
            <a:normAutofit fontScale="90000"/>
          </a:bodyPr>
          <a:lstStyle/>
          <a:p>
            <a:r>
              <a:rPr lang="zh-CN" altLang="en-US" sz="53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智能软件开发方向基础</a:t>
            </a:r>
            <a:br>
              <a:rPr lang="en-US" altLang="zh-CN" sz="53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</a:br>
            <a:br>
              <a:rPr lang="en-US" altLang="zh-CN" sz="53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</a:br>
            <a:br>
              <a:rPr lang="en-US" altLang="zh-CN" sz="53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</a:br>
            <a:r>
              <a:rPr lang="zh-CN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第四章  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K-</a:t>
            </a:r>
            <a:r>
              <a:rPr lang="zh-CN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近邻模型</a:t>
            </a:r>
            <a:b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</a:b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K-Nearest </a:t>
            </a:r>
            <a:r>
              <a:rPr lang="en-US" altLang="zh-CN" b="1" dirty="0" err="1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Neighbour</a:t>
            </a:r>
            <a:br>
              <a:rPr lang="en-US" altLang="zh-CN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</a:br>
            <a:b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</a:br>
            <a:r>
              <a:rPr lang="zh-CN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张朝晖</a:t>
            </a:r>
            <a:b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</a:br>
            <a:endParaRPr lang="zh-CN" altLang="en-US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47664" y="5178605"/>
            <a:ext cx="6400800" cy="1296144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2024.3~6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875" y="41984"/>
            <a:ext cx="1316629" cy="1313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6" descr="http://software.hebtu.edu.cn/template/44/images/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093783"/>
            <a:ext cx="3799993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787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250A872-4D58-47F6-82FE-9EBDCD9EA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23596"/>
            <a:ext cx="6336704" cy="621080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32DFD3A-F61F-470E-9B7D-00A7F131A17F}"/>
              </a:ext>
            </a:extLst>
          </p:cNvPr>
          <p:cNvSpPr/>
          <p:nvPr/>
        </p:nvSpPr>
        <p:spPr>
          <a:xfrm>
            <a:off x="1475656" y="1412776"/>
            <a:ext cx="6192688" cy="1512168"/>
          </a:xfrm>
          <a:prstGeom prst="rect">
            <a:avLst/>
          </a:prstGeom>
          <a:solidFill>
            <a:schemeClr val="accent1">
              <a:alpha val="1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B7CAD8-81B7-4AFA-BB14-95031950D43B}"/>
              </a:ext>
            </a:extLst>
          </p:cNvPr>
          <p:cNvSpPr/>
          <p:nvPr/>
        </p:nvSpPr>
        <p:spPr>
          <a:xfrm>
            <a:off x="1475656" y="2924944"/>
            <a:ext cx="6192688" cy="2016224"/>
          </a:xfrm>
          <a:prstGeom prst="rect">
            <a:avLst/>
          </a:prstGeom>
          <a:solidFill>
            <a:srgbClr val="CC0099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475F46-9FFE-4301-8A04-593BD74D5890}"/>
              </a:ext>
            </a:extLst>
          </p:cNvPr>
          <p:cNvSpPr/>
          <p:nvPr/>
        </p:nvSpPr>
        <p:spPr>
          <a:xfrm>
            <a:off x="1475656" y="4941168"/>
            <a:ext cx="6192688" cy="1008112"/>
          </a:xfrm>
          <a:prstGeom prst="rect">
            <a:avLst/>
          </a:prstGeom>
          <a:solidFill>
            <a:schemeClr val="accent1">
              <a:alpha val="1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5675253-1C19-45CB-ACF2-CD62AF8FDBDF}"/>
              </a:ext>
            </a:extLst>
          </p:cNvPr>
          <p:cNvSpPr/>
          <p:nvPr/>
        </p:nvSpPr>
        <p:spPr>
          <a:xfrm>
            <a:off x="1763688" y="2902499"/>
            <a:ext cx="576064" cy="4229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382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11560" y="188640"/>
            <a:ext cx="7488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近邻模型的关键问题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579" y="887892"/>
            <a:ext cx="842493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分类问题的描述、分类模型的性能评价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回归问题的描述、回归模型的性能评价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距离度量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样本的规范化预处理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/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1.   K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</a:t>
            </a:r>
            <a:endParaRPr lang="en-US" altLang="zh-CN" b="1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近邻分类的算法描述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近邻分类系统决策性能的影响因素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如何面向分类，进行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值优选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决策规则</a:t>
            </a:r>
            <a:endParaRPr lang="en-US" altLang="zh-CN" b="1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457200" indent="-457200"/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2.   K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</a:t>
            </a:r>
            <a:endParaRPr lang="en-US" altLang="zh-CN" b="1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近邻回归的算法描述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近邻预测系统性能的影响因素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 如何面向回归问题，进行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值优选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预测规则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/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6237312"/>
            <a:ext cx="3168352" cy="59562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2A16529-17C1-469C-AA74-17034756F77B}"/>
              </a:ext>
            </a:extLst>
          </p:cNvPr>
          <p:cNvSpPr/>
          <p:nvPr/>
        </p:nvSpPr>
        <p:spPr bwMode="auto">
          <a:xfrm>
            <a:off x="179512" y="896526"/>
            <a:ext cx="8669342" cy="1524362"/>
          </a:xfrm>
          <a:prstGeom prst="rect">
            <a:avLst/>
          </a:pr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326D3C-135D-4AE6-8406-C0EB4FCC2C86}"/>
              </a:ext>
            </a:extLst>
          </p:cNvPr>
          <p:cNvSpPr/>
          <p:nvPr/>
        </p:nvSpPr>
        <p:spPr bwMode="auto">
          <a:xfrm>
            <a:off x="186431" y="2429522"/>
            <a:ext cx="8662423" cy="1791566"/>
          </a:xfrm>
          <a:prstGeom prst="rect">
            <a:avLst/>
          </a:pr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84614C-2825-495E-86E5-A8A25EE3EAF6}"/>
              </a:ext>
            </a:extLst>
          </p:cNvPr>
          <p:cNvSpPr/>
          <p:nvPr/>
        </p:nvSpPr>
        <p:spPr bwMode="auto">
          <a:xfrm>
            <a:off x="179512" y="4225032"/>
            <a:ext cx="8669342" cy="1868263"/>
          </a:xfrm>
          <a:prstGeom prst="rect">
            <a:avLst/>
          </a:pr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6284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1374160"/>
            <a:ext cx="79928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PART1.  K-</a:t>
            </a:r>
            <a:r>
              <a:rPr lang="zh-CN" altLang="en-US" sz="40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</a:t>
            </a:r>
            <a:endParaRPr lang="en-US" altLang="zh-CN" sz="4000" b="1" u="sng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r>
              <a:rPr lang="en-US" altLang="zh-CN" sz="4000" dirty="0">
                <a:latin typeface="华文新魏" pitchFamily="2" charset="-122"/>
                <a:ea typeface="华文新魏" pitchFamily="2" charset="-122"/>
              </a:rPr>
              <a:t>PART2. K-</a:t>
            </a:r>
            <a:r>
              <a:rPr lang="zh-CN" altLang="en-US" sz="4000" dirty="0">
                <a:latin typeface="华文新魏" pitchFamily="2" charset="-122"/>
                <a:ea typeface="华文新魏" pitchFamily="2" charset="-122"/>
              </a:rPr>
              <a:t>近邻回归</a:t>
            </a:r>
            <a:endParaRPr lang="en-US" altLang="zh-CN" sz="4000" dirty="0"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238938"/>
            <a:ext cx="3168352" cy="5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2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3568" y="1196752"/>
            <a:ext cx="7488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PART1.   </a:t>
            </a:r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532" y="3284984"/>
            <a:ext cx="84249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关键词：</a:t>
            </a:r>
            <a:endParaRPr lang="en-US" altLang="zh-CN" b="1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分类问题的定义</a:t>
            </a:r>
            <a:endParaRPr lang="en-US" altLang="zh-CN" dirty="0">
              <a:latin typeface="华文新魏" pitchFamily="2" charset="-122"/>
              <a:ea typeface="华文新魏" pitchFamily="2" charset="-122"/>
            </a:endParaRPr>
          </a:p>
          <a:p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KNN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分类模型</a:t>
            </a:r>
            <a:endParaRPr lang="en-US" altLang="zh-CN" dirty="0"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距离度量与样本的规范化预处理</a:t>
            </a:r>
            <a:endParaRPr lang="en-US" altLang="zh-CN" dirty="0"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超参数</a:t>
            </a:r>
            <a:endParaRPr lang="en-US" altLang="zh-CN" dirty="0"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交叉验证</a:t>
            </a:r>
            <a:endParaRPr lang="en-US" altLang="zh-CN" dirty="0"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性能评价</a:t>
            </a:r>
            <a:endParaRPr lang="en-US" altLang="zh-CN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2492896"/>
            <a:ext cx="7488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华文新魏" pitchFamily="2" charset="-122"/>
                <a:ea typeface="华文新魏" pitchFamily="2" charset="-122"/>
              </a:rPr>
              <a:t>K-Nearest Neighbor  Classification</a:t>
            </a:r>
            <a:endParaRPr lang="zh-CN" altLang="en-US" sz="2800" b="1" dirty="0"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6D26DB6-672D-4E3B-A5E5-D2A31FEAA3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238938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182" y="848580"/>
            <a:ext cx="8785225" cy="5256436"/>
          </a:xfrm>
          <a:prstGeom prst="rect">
            <a:avLst/>
          </a:prstGeom>
          <a:noFill/>
          <a:ln w="28575">
            <a:solidFill>
              <a:srgbClr val="000080"/>
            </a:solidFill>
            <a:miter lim="800000"/>
            <a:headEnd/>
            <a:tailEnd/>
          </a:ln>
        </p:spPr>
      </p:pic>
      <p:sp>
        <p:nvSpPr>
          <p:cNvPr id="748549" name="Text Box 5"/>
          <p:cNvSpPr txBox="1">
            <a:spLocks noChangeArrowheads="1"/>
          </p:cNvSpPr>
          <p:nvPr/>
        </p:nvSpPr>
        <p:spPr bwMode="auto">
          <a:xfrm>
            <a:off x="197307" y="188640"/>
            <a:ext cx="8785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分类</a:t>
            </a:r>
            <a:r>
              <a:rPr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(Classification)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与</a:t>
            </a:r>
            <a:r>
              <a:rPr lang="zh-CN" altLang="en-US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聚类</a:t>
            </a:r>
            <a:r>
              <a:rPr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(Clustering)</a:t>
            </a:r>
            <a:r>
              <a:rPr lang="zh-CN" altLang="en-US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的区别</a:t>
            </a:r>
            <a:endParaRPr lang="en-US" altLang="zh-CN" sz="32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4276" name="Rectangle 6"/>
          <p:cNvSpPr>
            <a:spLocks noChangeArrowheads="1"/>
          </p:cNvSpPr>
          <p:nvPr/>
        </p:nvSpPr>
        <p:spPr bwMode="auto">
          <a:xfrm>
            <a:off x="539750" y="5744653"/>
            <a:ext cx="3168650" cy="36036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4277" name="Rectangle 7"/>
          <p:cNvSpPr>
            <a:spLocks noChangeArrowheads="1"/>
          </p:cNvSpPr>
          <p:nvPr/>
        </p:nvSpPr>
        <p:spPr bwMode="auto">
          <a:xfrm>
            <a:off x="4787900" y="5744653"/>
            <a:ext cx="1368425" cy="36036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23866E8-A92D-4454-B32B-6DB019A6C4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238938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79512" y="260648"/>
            <a:ext cx="8785225" cy="5976937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主要内容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1. </a:t>
            </a:r>
            <a:r>
              <a:rPr lang="zh-CN" altLang="en-US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分类问题的一般描述</a:t>
            </a:r>
            <a:endParaRPr lang="en-US" altLang="zh-CN" sz="2800" b="1" u="sng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2.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近邻分类算法的描述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近邻分类的三个基本要素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	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距离度量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	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超参数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值的确定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	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决策规则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4.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近邻算法的实现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—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树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(k-dimensional Tree)</a:t>
            </a: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       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树的构建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       待决策样本的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近邻搜索分支定界搜索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5.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近邻分类模型的评价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思考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)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6237585"/>
            <a:ext cx="3168352" cy="595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3672496"/>
              </p:ext>
            </p:extLst>
          </p:nvPr>
        </p:nvGraphicFramePr>
        <p:xfrm>
          <a:off x="407988" y="-242888"/>
          <a:ext cx="8328025" cy="5788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35080" imgH="2666880" progId="Equation.DSMT4">
                  <p:embed/>
                </p:oleObj>
              </mc:Choice>
              <mc:Fallback>
                <p:oleObj name="Equation" r:id="rId2" imgW="3835080" imgH="26668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8" y="-242888"/>
                        <a:ext cx="8328025" cy="5788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 bwMode="auto">
          <a:xfrm>
            <a:off x="202569" y="4581128"/>
            <a:ext cx="8568952" cy="108012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C9118A7-1FE1-4535-836E-63F54385B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5" y="6236126"/>
            <a:ext cx="3164098" cy="597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79388" y="115888"/>
            <a:ext cx="8785225" cy="5976937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主要内容</a:t>
            </a:r>
            <a:endParaRPr lang="en-US" altLang="zh-CN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1. 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分类问题的一般描述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2. K</a:t>
            </a:r>
            <a:r>
              <a:rPr lang="zh-CN" altLang="en-US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近邻分类算法的描述</a:t>
            </a:r>
            <a:endParaRPr lang="en-US" altLang="zh-CN" sz="2800" b="1" u="sng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近邻分类的三个基本要素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	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距离度量方式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	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超参数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值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	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决策规则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4.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近邻算法的实现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—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树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(k-dimensional Tree)</a:t>
            </a: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5. KNN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分类模型的评价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4975C5-963A-415E-AB95-5813F7468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5" y="6236126"/>
            <a:ext cx="3164098" cy="5974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37894"/>
              </p:ext>
            </p:extLst>
          </p:nvPr>
        </p:nvGraphicFramePr>
        <p:xfrm>
          <a:off x="179512" y="188640"/>
          <a:ext cx="8262938" cy="570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84320" imgH="2616120" progId="Equation.DSMT4">
                  <p:embed/>
                </p:oleObj>
              </mc:Choice>
              <mc:Fallback>
                <p:oleObj name="Equation" r:id="rId2" imgW="3784320" imgH="26161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88640"/>
                        <a:ext cx="8262938" cy="570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E8D4182F-C81B-43F9-AD00-4410313B6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5" y="6236126"/>
            <a:ext cx="3164098" cy="5974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155090"/>
              </p:ext>
            </p:extLst>
          </p:nvPr>
        </p:nvGraphicFramePr>
        <p:xfrm>
          <a:off x="395536" y="332656"/>
          <a:ext cx="8080375" cy="577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33560" imgH="2666880" progId="Equation.DSMT4">
                  <p:embed/>
                </p:oleObj>
              </mc:Choice>
              <mc:Fallback>
                <p:oleObj name="Equation" r:id="rId2" imgW="3733560" imgH="26668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332656"/>
                        <a:ext cx="8080375" cy="577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278846"/>
              </p:ext>
            </p:extLst>
          </p:nvPr>
        </p:nvGraphicFramePr>
        <p:xfrm>
          <a:off x="251520" y="332656"/>
          <a:ext cx="8424863" cy="388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06760" imgH="2133360" progId="Equation.DSMT4">
                  <p:embed/>
                </p:oleObj>
              </mc:Choice>
              <mc:Fallback>
                <p:oleObj name="Equation" r:id="rId2" imgW="4406760" imgH="2133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332656"/>
                        <a:ext cx="8424863" cy="388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" y="6192419"/>
            <a:ext cx="3168352" cy="595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895836-BC1F-4C4F-9F32-D268751F7E64}"/>
                  </a:ext>
                </a:extLst>
              </p:cNvPr>
              <p:cNvSpPr txBox="1"/>
              <p:nvPr/>
            </p:nvSpPr>
            <p:spPr>
              <a:xfrm>
                <a:off x="1582201" y="3699976"/>
                <a:ext cx="5129866" cy="23118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1,…,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b>
                            <m:sup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注：指示函数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895836-BC1F-4C4F-9F32-D268751F7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201" y="3699976"/>
                <a:ext cx="5129866" cy="2311851"/>
              </a:xfrm>
              <a:prstGeom prst="rect">
                <a:avLst/>
              </a:prstGeom>
              <a:blipFill>
                <a:blip r:embed="rId6"/>
                <a:stretch>
                  <a:fillRect l="-3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770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980728"/>
            <a:ext cx="83529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在给定训练集的前提下：</a:t>
            </a:r>
            <a:endParaRPr lang="en-US" altLang="zh-CN" sz="3200" dirty="0">
              <a:latin typeface="华文新魏" pitchFamily="2" charset="-122"/>
              <a:ea typeface="华文新魏" pitchFamily="2" charset="-122"/>
            </a:endParaRPr>
          </a:p>
          <a:p>
            <a:endParaRPr lang="en-US" altLang="zh-CN" sz="3200" dirty="0"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3200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各样本是否预处理、</a:t>
            </a:r>
            <a:endParaRPr lang="en-US" altLang="zh-CN" sz="3200" dirty="0">
              <a:solidFill>
                <a:srgbClr val="3333FF"/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3200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不同的距离度量方式、</a:t>
            </a:r>
            <a:endParaRPr lang="en-US" altLang="zh-CN" sz="3200" dirty="0">
              <a:solidFill>
                <a:srgbClr val="3333FF"/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3200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不同</a:t>
            </a:r>
            <a:r>
              <a:rPr lang="en-US" altLang="zh-CN" sz="3200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3200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值、</a:t>
            </a:r>
            <a:endParaRPr lang="en-US" altLang="zh-CN" sz="3200" dirty="0">
              <a:solidFill>
                <a:srgbClr val="3333FF"/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3200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以及不同的决策规则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，</a:t>
            </a:r>
            <a:endParaRPr lang="en-US" altLang="zh-CN" sz="3200" dirty="0">
              <a:latin typeface="华文新魏" pitchFamily="2" charset="-122"/>
              <a:ea typeface="华文新魏" pitchFamily="2" charset="-122"/>
            </a:endParaRPr>
          </a:p>
          <a:p>
            <a:endParaRPr lang="en-US" altLang="zh-CN" sz="3200" dirty="0">
              <a:latin typeface="华文新魏" pitchFamily="2" charset="-122"/>
              <a:ea typeface="华文新魏" pitchFamily="2" charset="-122"/>
            </a:endParaRPr>
          </a:p>
          <a:p>
            <a:endParaRPr lang="en-US" altLang="zh-CN" sz="3200" dirty="0"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会导致不同的分类结果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1858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79387" y="281729"/>
            <a:ext cx="8785225" cy="5976937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主要内容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1. 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分类问题的一般描述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2. K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近邻分类算法的描述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 K</a:t>
            </a:r>
            <a:r>
              <a:rPr lang="zh-CN" altLang="en-US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近邻分类的三个基本要素</a:t>
            </a:r>
            <a:endParaRPr lang="en-US" altLang="zh-CN" sz="2800" b="1" u="sng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3.1 </a:t>
            </a:r>
            <a:r>
              <a:rPr lang="zh-CN" altLang="en-US" sz="24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距离度量与预处理</a:t>
            </a:r>
            <a:endParaRPr lang="en-US" altLang="zh-CN" sz="2400" b="1" u="sng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	(1)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典型的距离度量方式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	(2)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样本的规范化预处理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3.2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超参数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值的确定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3.3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决策规则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4.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近邻算法的实现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—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树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(k-dimensional Tree)</a:t>
            </a: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5.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近邻分类模型的评价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558804"/>
              </p:ext>
            </p:extLst>
          </p:nvPr>
        </p:nvGraphicFramePr>
        <p:xfrm>
          <a:off x="179512" y="260648"/>
          <a:ext cx="8843962" cy="644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14800" imgH="2997000" progId="Equation.DSMT4">
                  <p:embed/>
                </p:oleObj>
              </mc:Choice>
              <mc:Fallback>
                <p:oleObj name="Equation" r:id="rId2" imgW="4114800" imgH="2997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60648"/>
                        <a:ext cx="8843962" cy="644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1491952"/>
            <a:ext cx="5229225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82096" y="980728"/>
            <a:ext cx="71287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例：平面中与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原点</a:t>
            </a:r>
            <a:r>
              <a:rPr lang="zh-CN" altLang="en-US" b="1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的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Lp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距离</a:t>
            </a:r>
            <a:r>
              <a:rPr lang="zh-CN" altLang="en-US" b="1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为</a:t>
            </a:r>
            <a:r>
              <a:rPr lang="en-US" altLang="zh-CN" b="1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b="1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的点的集合</a:t>
            </a:r>
            <a:endParaRPr lang="en-US" altLang="zh-CN" b="1" dirty="0">
              <a:solidFill>
                <a:srgbClr val="3333FF"/>
              </a:solidFill>
              <a:latin typeface="华文新魏" pitchFamily="2" charset="-122"/>
              <a:ea typeface="华文新魏" pitchFamily="2" charset="-122"/>
            </a:endParaRPr>
          </a:p>
          <a:p>
            <a:endParaRPr lang="en-US" altLang="zh-CN" b="1" dirty="0">
              <a:solidFill>
                <a:srgbClr val="3333FF"/>
              </a:solidFill>
              <a:latin typeface="华文新魏" pitchFamily="2" charset="-122"/>
              <a:ea typeface="华文新魏" pitchFamily="2" charset="-122"/>
            </a:endParaRPr>
          </a:p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 P=1</a:t>
            </a:r>
          </a:p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P=2</a:t>
            </a:r>
          </a:p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P</a:t>
            </a:r>
            <a:r>
              <a:rPr lang="zh-CN" altLang="en-US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为无穷大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6328A6-E4C2-4113-B749-028A23752F12}"/>
              </a:ext>
            </a:extLst>
          </p:cNvPr>
          <p:cNvSpPr/>
          <p:nvPr/>
        </p:nvSpPr>
        <p:spPr bwMode="auto">
          <a:xfrm>
            <a:off x="2843808" y="2348880"/>
            <a:ext cx="3960440" cy="3744416"/>
          </a:xfrm>
          <a:prstGeom prst="rect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47E9AE5-786E-4F76-B2F4-B9C3101700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" y="6262375"/>
            <a:ext cx="3168352" cy="595625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78682EA-F069-4444-AE35-3A9775D07654}"/>
              </a:ext>
            </a:extLst>
          </p:cNvPr>
          <p:cNvCxnSpPr>
            <a:endCxn id="2" idx="1"/>
          </p:cNvCxnSpPr>
          <p:nvPr/>
        </p:nvCxnSpPr>
        <p:spPr bwMode="auto">
          <a:xfrm flipH="1">
            <a:off x="2843808" y="2348880"/>
            <a:ext cx="1944216" cy="187220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6E3E423-B5F5-44A2-8A62-E9B97C2CD081}"/>
              </a:ext>
            </a:extLst>
          </p:cNvPr>
          <p:cNvCxnSpPr/>
          <p:nvPr/>
        </p:nvCxnSpPr>
        <p:spPr bwMode="auto">
          <a:xfrm flipH="1">
            <a:off x="4824028" y="4221088"/>
            <a:ext cx="1944216" cy="187220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AEE04ED-6F39-4E7E-BC45-13B6A88A90D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847479" y="2348880"/>
            <a:ext cx="1920765" cy="187220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858823B-5D34-4EC5-995B-FBA94536F17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843808" y="4221088"/>
            <a:ext cx="1920765" cy="187220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65656"/>
              </p:ext>
            </p:extLst>
          </p:nvPr>
        </p:nvGraphicFramePr>
        <p:xfrm>
          <a:off x="250825" y="236538"/>
          <a:ext cx="8599488" cy="569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22760" imgH="3060360" progId="Equation.DSMT4">
                  <p:embed/>
                </p:oleObj>
              </mc:Choice>
              <mc:Fallback>
                <p:oleObj name="Equation" r:id="rId2" imgW="4622760" imgH="30603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36538"/>
                        <a:ext cx="8599488" cy="569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539552" y="6159797"/>
            <a:ext cx="8802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因此，需要对所有样本的特征描述部分，进行标准化预处理。</a:t>
            </a:r>
            <a:endParaRPr lang="en-US" altLang="zh-CN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348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738086"/>
              </p:ext>
            </p:extLst>
          </p:nvPr>
        </p:nvGraphicFramePr>
        <p:xfrm>
          <a:off x="4139952" y="836712"/>
          <a:ext cx="3299715" cy="1008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640" imgH="545760" progId="Equation.DSMT4">
                  <p:embed/>
                </p:oleObj>
              </mc:Choice>
              <mc:Fallback>
                <p:oleObj name="Equation" r:id="rId4" imgW="1790640" imgH="5457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836712"/>
                        <a:ext cx="3299715" cy="100865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136406"/>
              </p:ext>
            </p:extLst>
          </p:nvPr>
        </p:nvGraphicFramePr>
        <p:xfrm>
          <a:off x="251520" y="236538"/>
          <a:ext cx="7603444" cy="3670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5480" imgH="1396800" progId="Equation.DSMT4">
                  <p:embed/>
                </p:oleObj>
              </mc:Choice>
              <mc:Fallback>
                <p:oleObj name="Equation" r:id="rId2" imgW="2895480" imgH="1396800" progId="Equation.DSMT4">
                  <p:embed/>
                  <p:pic>
                    <p:nvPicPr>
                      <p:cNvPr id="3379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36538"/>
                        <a:ext cx="7603444" cy="3670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B02CD371-A277-4C0A-BC10-9EF3D22C68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" y="6262375"/>
            <a:ext cx="3168352" cy="59562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5D65014-9864-461E-AF9B-6347E7DDB9E8}"/>
              </a:ext>
            </a:extLst>
          </p:cNvPr>
          <p:cNvSpPr/>
          <p:nvPr/>
        </p:nvSpPr>
        <p:spPr bwMode="auto">
          <a:xfrm>
            <a:off x="232780" y="1340768"/>
            <a:ext cx="6336704" cy="1008112"/>
          </a:xfrm>
          <a:prstGeom prst="rect">
            <a:avLst/>
          </a:prstGeom>
          <a:solidFill>
            <a:schemeClr val="accent1">
              <a:alpha val="3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9888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064800"/>
              </p:ext>
            </p:extLst>
          </p:nvPr>
        </p:nvGraphicFramePr>
        <p:xfrm>
          <a:off x="179512" y="154841"/>
          <a:ext cx="7950177" cy="6548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01840" imgH="3377880" progId="Equation.DSMT4">
                  <p:embed/>
                </p:oleObj>
              </mc:Choice>
              <mc:Fallback>
                <p:oleObj name="Equation" r:id="rId2" imgW="4101840" imgH="33778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54841"/>
                        <a:ext cx="7950177" cy="65483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196300"/>
              </p:ext>
            </p:extLst>
          </p:nvPr>
        </p:nvGraphicFramePr>
        <p:xfrm>
          <a:off x="4211960" y="2564904"/>
          <a:ext cx="452278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680" imgH="253800" progId="Equation.DSMT4">
                  <p:embed/>
                </p:oleObj>
              </mc:Choice>
              <mc:Fallback>
                <p:oleObj name="Equation" r:id="rId4" imgW="1993680" imgH="253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2564904"/>
                        <a:ext cx="4522788" cy="5762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EAA4ED4-B92C-4C4B-9D69-52130258D5CD}"/>
              </a:ext>
            </a:extLst>
          </p:cNvPr>
          <p:cNvSpPr txBox="1"/>
          <p:nvPr/>
        </p:nvSpPr>
        <p:spPr>
          <a:xfrm>
            <a:off x="179512" y="1052736"/>
            <a:ext cx="535651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i="1" dirty="0" err="1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sklearn.preprocessing</a:t>
            </a:r>
            <a:r>
              <a:rPr lang="en-US" altLang="zh-CN" b="1" i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StandardScaler</a:t>
            </a:r>
            <a:endParaRPr lang="zh-CN" alt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996504"/>
              </p:ext>
            </p:extLst>
          </p:nvPr>
        </p:nvGraphicFramePr>
        <p:xfrm>
          <a:off x="323528" y="188640"/>
          <a:ext cx="8204200" cy="601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25880" imgH="2946240" progId="Equation.DSMT4">
                  <p:embed/>
                </p:oleObj>
              </mc:Choice>
              <mc:Fallback>
                <p:oleObj name="Equation" r:id="rId2" imgW="4025880" imgH="29462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188640"/>
                        <a:ext cx="8204200" cy="601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104929F-12F2-4EB6-ADEB-F1B2600BC976}"/>
              </a:ext>
            </a:extLst>
          </p:cNvPr>
          <p:cNvSpPr txBox="1"/>
          <p:nvPr/>
        </p:nvSpPr>
        <p:spPr>
          <a:xfrm>
            <a:off x="1403648" y="627157"/>
            <a:ext cx="5356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 err="1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sklearn.preprocessing.</a:t>
            </a:r>
            <a:r>
              <a:rPr lang="en-US" altLang="zh-CN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MinMaxScaler</a:t>
            </a:r>
            <a:endParaRPr lang="zh-CN" altLang="en-US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79387" y="188640"/>
            <a:ext cx="8785225" cy="5976937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主要内容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1. 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分类问题的一般描述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2. K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近邻分类算法的描述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 K</a:t>
            </a:r>
            <a:r>
              <a:rPr lang="zh-CN" altLang="en-US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近邻分类的三个基本要素</a:t>
            </a:r>
            <a:endParaRPr lang="en-US" altLang="zh-CN" sz="2800" b="1" u="sng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3.1 </a:t>
            </a:r>
            <a:r>
              <a:rPr lang="zh-CN" altLang="en-US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距离度量</a:t>
            </a:r>
            <a:endParaRPr lang="en-US" altLang="zh-CN" sz="24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	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典型的距离度量方式、样本的规范化预处理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3.2 </a:t>
            </a:r>
            <a:r>
              <a:rPr lang="zh-CN" altLang="en-US" sz="24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超参数</a:t>
            </a:r>
            <a:r>
              <a:rPr lang="en-US" altLang="zh-CN" sz="24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24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值的确定</a:t>
            </a:r>
            <a:endParaRPr lang="en-US" altLang="zh-CN" sz="2400" b="1" u="sng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          m-fold cross validation   + 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分类模型的评价指标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3.3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决策规则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4.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近邻算法的实现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—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树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(k-dimensional Tree)</a:t>
            </a: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5.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近邻分类模型的评价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A40BA7A-C6D6-4AB3-A8BE-DEF2F71622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4509" y="116632"/>
            <a:ext cx="3036603" cy="1891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26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874683"/>
              </p:ext>
            </p:extLst>
          </p:nvPr>
        </p:nvGraphicFramePr>
        <p:xfrm>
          <a:off x="242888" y="50800"/>
          <a:ext cx="8642350" cy="616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33840" imgH="3352680" progId="Equation.DSMT4">
                  <p:embed/>
                </p:oleObj>
              </mc:Choice>
              <mc:Fallback>
                <p:oleObj name="Equation" r:id="rId3" imgW="4533840" imgH="33526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8" y="50800"/>
                        <a:ext cx="8642350" cy="616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4564063" y="3589338"/>
          <a:ext cx="16827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02" imgH="177492" progId="Equation.DSMT4">
                  <p:embed/>
                </p:oleObj>
              </mc:Choice>
              <mc:Fallback>
                <p:oleObj name="Equation" r:id="rId5" imgW="114102" imgH="17749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3589338"/>
                        <a:ext cx="168275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94" y="260648"/>
            <a:ext cx="8388424" cy="469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3" name="Text Box 4"/>
          <p:cNvSpPr txBox="1">
            <a:spLocks noChangeArrowheads="1"/>
          </p:cNvSpPr>
          <p:nvPr/>
        </p:nvSpPr>
        <p:spPr bwMode="auto">
          <a:xfrm>
            <a:off x="251594" y="5014443"/>
            <a:ext cx="8424862" cy="861774"/>
          </a:xfrm>
          <a:prstGeom prst="rect">
            <a:avLst/>
          </a:prstGeom>
          <a:noFill/>
          <a:ln w="38100">
            <a:solidFill>
              <a:srgbClr val="00008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图： </a:t>
            </a:r>
            <a:r>
              <a:rPr lang="en-US" altLang="zh-CN" sz="2000" b="1" dirty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K-</a:t>
            </a:r>
            <a:r>
              <a:rPr lang="zh-CN" altLang="en-US" sz="2000" b="1" dirty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近邻规则、两类问题，</a:t>
            </a:r>
            <a:r>
              <a:rPr lang="zh-CN" altLang="en-GB" sz="2000" b="1" dirty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基于训练样本的特征空间 网格划分.</a:t>
            </a:r>
            <a:r>
              <a:rPr lang="en-US" altLang="zh-CN" sz="2000" b="1" dirty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K=3.</a:t>
            </a:r>
          </a:p>
          <a:p>
            <a:pPr algn="just">
              <a:spcBef>
                <a:spcPct val="50000"/>
              </a:spcBef>
            </a:pPr>
            <a:r>
              <a:rPr lang="zh-CN" altLang="en-GB" sz="2000" b="1" dirty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左图，</a:t>
            </a:r>
            <a:r>
              <a:rPr lang="zh-CN" altLang="en-US" sz="2000" b="1" dirty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训练样本</a:t>
            </a:r>
            <a:r>
              <a:rPr lang="zh-CN" altLang="en-GB" sz="2000" b="1" dirty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；       </a:t>
            </a:r>
            <a:r>
              <a:rPr lang="zh-CN" altLang="en-GB" sz="2000" b="1" dirty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右图，</a:t>
            </a:r>
            <a:r>
              <a:rPr lang="zh-CN" altLang="en-US" sz="2000" b="1" dirty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二</a:t>
            </a:r>
            <a:r>
              <a:rPr lang="zh-CN" altLang="en-GB" sz="2000" b="1" dirty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维特征空间</a:t>
            </a:r>
            <a:r>
              <a:rPr lang="zh-CN" altLang="en-US" sz="2000" b="1" dirty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的决策结果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DF9571-3BCE-4DF4-8673-26674B1F0C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505798"/>
            <a:ext cx="6488435" cy="61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D5155A4-8379-4B4C-AEA3-8088B1C01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6165304"/>
            <a:ext cx="3170195" cy="59746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C0AF462-67EB-4509-AC6A-A9984C4EC288}"/>
              </a:ext>
            </a:extLst>
          </p:cNvPr>
          <p:cNvSpPr/>
          <p:nvPr/>
        </p:nvSpPr>
        <p:spPr bwMode="auto">
          <a:xfrm>
            <a:off x="3635896" y="188640"/>
            <a:ext cx="2304256" cy="50405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B683B9-CEF9-4666-9805-654F564AA554}"/>
              </a:ext>
            </a:extLst>
          </p:cNvPr>
          <p:cNvSpPr/>
          <p:nvPr/>
        </p:nvSpPr>
        <p:spPr bwMode="auto">
          <a:xfrm>
            <a:off x="3788296" y="341040"/>
            <a:ext cx="2304256" cy="50405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709747"/>
            <a:ext cx="8173841" cy="468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54DF56-6378-4817-9A56-90EDB4D5EC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" y="6262375"/>
            <a:ext cx="3168352" cy="59562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436894E-FCC7-466E-BBE6-F1E8780728BF}"/>
              </a:ext>
            </a:extLst>
          </p:cNvPr>
          <p:cNvSpPr/>
          <p:nvPr/>
        </p:nvSpPr>
        <p:spPr bwMode="auto">
          <a:xfrm>
            <a:off x="1475656" y="698362"/>
            <a:ext cx="5832648" cy="50405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4564063" y="3589338"/>
          <a:ext cx="16827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3589338"/>
                        <a:ext cx="168275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815490"/>
              </p:ext>
            </p:extLst>
          </p:nvPr>
        </p:nvGraphicFramePr>
        <p:xfrm>
          <a:off x="171450" y="193826"/>
          <a:ext cx="8785225" cy="559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99000" imgH="3632040" progId="Equation.DSMT4">
                  <p:embed/>
                </p:oleObj>
              </mc:Choice>
              <mc:Fallback>
                <p:oleObj name="Equation" r:id="rId4" imgW="5499000" imgH="3632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" y="193826"/>
                        <a:ext cx="8785225" cy="559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47408" y="44624"/>
            <a:ext cx="3689088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超参数空间：</a:t>
            </a:r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离散</a:t>
            </a:r>
            <a:r>
              <a: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/</a:t>
            </a:r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连续</a:t>
            </a:r>
            <a:endParaRPr lang="en-US" altLang="zh-CN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1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数据集的使用：</a:t>
            </a:r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交叉验证</a:t>
            </a:r>
            <a:endParaRPr lang="en-US" altLang="zh-CN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1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超参数空间的某点的评价：</a:t>
            </a:r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错误率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F0D365-5DB4-41F6-901C-D7640EC6AC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79388" y="115888"/>
            <a:ext cx="8785225" cy="5976937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主要内容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1. 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分类问题的一般描述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2. K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近邻分类算法的描述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 K</a:t>
            </a:r>
            <a:r>
              <a:rPr lang="zh-CN" altLang="en-US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近邻分类的三个基本要素</a:t>
            </a:r>
            <a:endParaRPr lang="en-US" altLang="zh-CN" sz="2800" b="1" u="sng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3.1 </a:t>
            </a:r>
            <a:r>
              <a:rPr lang="zh-CN" altLang="en-US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距离度量</a:t>
            </a:r>
            <a:endParaRPr lang="en-US" altLang="zh-CN" sz="24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	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典型的距离度量方式、样本的规范化预处理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3.2 </a:t>
            </a:r>
            <a:r>
              <a:rPr lang="zh-CN" altLang="en-US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超参数</a:t>
            </a: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值的确定</a:t>
            </a:r>
            <a:endParaRPr lang="en-US" altLang="zh-CN" sz="24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          m-fold cross validation   + 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分类模型的评价指标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3.3 </a:t>
            </a:r>
            <a:r>
              <a:rPr lang="zh-CN" altLang="en-US" sz="24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决策规则</a:t>
            </a:r>
            <a:r>
              <a:rPr lang="en-US" altLang="zh-CN" sz="24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	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胜者为王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多数表决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)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、加权投票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4.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近邻算法的实现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—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树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(k-dimensional Tree)</a:t>
            </a: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5.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近邻分类模型的评价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FBB10E-7BE8-44F1-BB22-7EB0A08C1A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107504" y="4005064"/>
            <a:ext cx="8424936" cy="172819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graphicFrame>
        <p:nvGraphicFramePr>
          <p:cNvPr id="133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947265"/>
              </p:ext>
            </p:extLst>
          </p:nvPr>
        </p:nvGraphicFramePr>
        <p:xfrm>
          <a:off x="251520" y="185142"/>
          <a:ext cx="7885113" cy="533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16320" imgH="3047760" progId="Equation.DSMT4">
                  <p:embed/>
                </p:oleObj>
              </mc:Choice>
              <mc:Fallback>
                <p:oleObj name="Equation" r:id="rId2" imgW="4216320" imgH="3047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85142"/>
                        <a:ext cx="7885113" cy="533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7016"/>
              </p:ext>
            </p:extLst>
          </p:nvPr>
        </p:nvGraphicFramePr>
        <p:xfrm>
          <a:off x="5428159" y="3300166"/>
          <a:ext cx="16827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8159" y="3300166"/>
                        <a:ext cx="168275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14CCB247-494C-45E3-B819-9F8E494C5A9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4564063" y="3589338"/>
          <a:ext cx="16827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3589338"/>
                        <a:ext cx="168275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158618"/>
              </p:ext>
            </p:extLst>
          </p:nvPr>
        </p:nvGraphicFramePr>
        <p:xfrm>
          <a:off x="88900" y="42863"/>
          <a:ext cx="8950325" cy="587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65560" imgH="2920680" progId="Equation.DSMT4">
                  <p:embed/>
                </p:oleObj>
              </mc:Choice>
              <mc:Fallback>
                <p:oleObj name="Equation" r:id="rId4" imgW="4165560" imgH="29206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" y="42863"/>
                        <a:ext cx="8950325" cy="587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B01ABF3B-4359-4B86-B38F-6533DBD7FF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2555776" y="4365104"/>
            <a:ext cx="1080120" cy="100811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graphicFrame>
        <p:nvGraphicFramePr>
          <p:cNvPr id="133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037781"/>
              </p:ext>
            </p:extLst>
          </p:nvPr>
        </p:nvGraphicFramePr>
        <p:xfrm>
          <a:off x="179388" y="274638"/>
          <a:ext cx="8204200" cy="578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03440" imgH="2565360" progId="Equation.DSMT4">
                  <p:embed/>
                </p:oleObj>
              </mc:Choice>
              <mc:Fallback>
                <p:oleObj name="Equation" r:id="rId2" imgW="3403440" imgH="25653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74638"/>
                        <a:ext cx="8204200" cy="578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4564063" y="3589338"/>
          <a:ext cx="16827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3589338"/>
                        <a:ext cx="168275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03648" y="6093296"/>
            <a:ext cx="6264696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如何确定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个近邻的投票权重？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08104" y="188640"/>
            <a:ext cx="3528392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华文新魏" pitchFamily="2" charset="-122"/>
                <a:ea typeface="华文新魏" pitchFamily="2" charset="-122"/>
              </a:rPr>
              <a:t>距离加权法，可以扩充至</a:t>
            </a:r>
            <a:r>
              <a:rPr lang="en-US" altLang="zh-CN" sz="1800" dirty="0">
                <a:latin typeface="华文新魏" pitchFamily="2" charset="-122"/>
                <a:ea typeface="华文新魏" pitchFamily="2" charset="-122"/>
              </a:rPr>
              <a:t>K=N</a:t>
            </a:r>
            <a:endParaRPr lang="zh-CN" altLang="en-US" sz="18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4564063" y="3589338"/>
          <a:ext cx="16827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3589338"/>
                        <a:ext cx="168275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512333"/>
              </p:ext>
            </p:extLst>
          </p:nvPr>
        </p:nvGraphicFramePr>
        <p:xfrm>
          <a:off x="274641" y="548680"/>
          <a:ext cx="7672388" cy="446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68680" imgH="2222280" progId="Equation.DSMT4">
                  <p:embed/>
                </p:oleObj>
              </mc:Choice>
              <mc:Fallback>
                <p:oleObj name="Equation" r:id="rId4" imgW="3568680" imgH="22222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41" y="548680"/>
                        <a:ext cx="7672388" cy="446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4378DA0E-B064-4713-B339-116C2AF53B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4564063" y="3589338"/>
          <a:ext cx="16827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3589338"/>
                        <a:ext cx="168275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476672"/>
            <a:ext cx="7380312" cy="357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359568" y="4365104"/>
            <a:ext cx="8424863" cy="1839913"/>
          </a:xfrm>
          <a:prstGeom prst="rect">
            <a:avLst/>
          </a:prstGeom>
          <a:noFill/>
          <a:ln w="38100">
            <a:solidFill>
              <a:srgbClr val="00008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图： </a:t>
            </a:r>
            <a:r>
              <a:rPr lang="zh-CN" altLang="en-US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最近邻规则、两类问题，</a:t>
            </a:r>
            <a:r>
              <a:rPr lang="zh-CN" altLang="en-GB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基于训练样本点的</a:t>
            </a:r>
          </a:p>
          <a:p>
            <a:pPr algn="just">
              <a:spcBef>
                <a:spcPct val="50000"/>
              </a:spcBef>
            </a:pPr>
            <a:r>
              <a:rPr lang="zh-CN" altLang="en-GB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   特征空间 的</a:t>
            </a:r>
            <a:r>
              <a:rPr lang="en-GB" altLang="zh-CN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Voronoi</a:t>
            </a:r>
            <a:r>
              <a:rPr lang="zh-CN" altLang="en-GB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网格划分.</a:t>
            </a:r>
          </a:p>
          <a:p>
            <a:pPr algn="just">
              <a:spcBef>
                <a:spcPct val="50000"/>
              </a:spcBef>
            </a:pPr>
            <a:r>
              <a:rPr lang="zh-CN" altLang="en-GB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GB" sz="28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左图，二维特征空间</a:t>
            </a:r>
            <a:r>
              <a:rPr lang="zh-CN" altLang="en-GB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； </a:t>
            </a:r>
            <a:r>
              <a:rPr lang="zh-CN" altLang="en-GB" sz="2800" b="1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右图，三维特征空间</a:t>
            </a:r>
            <a:endParaRPr lang="zh-CN" altLang="en-US" sz="2800" b="1">
              <a:solidFill>
                <a:srgbClr val="0000FF"/>
              </a:solidFill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6BAB56E-E065-4767-92AA-04AEDC02D2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79388" y="115888"/>
            <a:ext cx="8785225" cy="5976937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主要内容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1. 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分类问题的一般描述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2. K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近邻分类算法的描述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 K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近邻分类的三个基本要素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3.1 </a:t>
            </a:r>
            <a:r>
              <a:rPr lang="zh-CN" altLang="en-US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距离度量</a:t>
            </a:r>
            <a:endParaRPr lang="en-US" altLang="zh-CN" sz="24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3.2 </a:t>
            </a:r>
            <a:r>
              <a:rPr lang="zh-CN" altLang="en-US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超参数</a:t>
            </a: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值的确定</a:t>
            </a:r>
            <a:endParaRPr lang="en-US" altLang="zh-CN" sz="24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3.3 </a:t>
            </a:r>
            <a:r>
              <a:rPr lang="zh-CN" altLang="en-US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决策规则</a:t>
            </a:r>
            <a:endParaRPr lang="en-US" altLang="zh-CN" sz="24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1200150" lvl="1" indent="-742950" algn="l" eaLnBrk="1" hangingPunct="1">
              <a:defRPr/>
            </a:pP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4. K</a:t>
            </a:r>
            <a:r>
              <a:rPr lang="zh-CN" altLang="en-US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近邻算法的实现</a:t>
            </a:r>
            <a:r>
              <a:rPr lang="en-US" altLang="zh-CN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—</a:t>
            </a:r>
            <a:r>
              <a:rPr lang="en-US" altLang="zh-CN" sz="28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en-US" altLang="zh-CN" sz="2800" b="1" u="sng" dirty="0" err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d</a:t>
            </a:r>
            <a:r>
              <a:rPr lang="zh-CN" altLang="en-US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树</a:t>
            </a:r>
            <a:r>
              <a:rPr lang="en-US" altLang="zh-CN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en-US" altLang="zh-CN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-dimensional Tree, k</a:t>
            </a:r>
            <a:r>
              <a:rPr lang="zh-CN" altLang="en-US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维树</a:t>
            </a:r>
            <a:r>
              <a:rPr lang="en-US" altLang="zh-CN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)</a:t>
            </a:r>
          </a:p>
          <a:p>
            <a:pPr marL="742950" indent="-742950" algn="l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对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维特征空间的训练集进行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有效存储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，以便针对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新的输入样本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对其近邻进行快速检索的树形结构。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树的构建、基于树的搜索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9E5509-0FE7-422C-8DE1-D779B4A352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4564063" y="3589338"/>
          <a:ext cx="16827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3589338"/>
                        <a:ext cx="168275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 bwMode="auto">
          <a:xfrm>
            <a:off x="167680" y="4581128"/>
            <a:ext cx="7932712" cy="122413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graphicFrame>
        <p:nvGraphicFramePr>
          <p:cNvPr id="1433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310141"/>
              </p:ext>
            </p:extLst>
          </p:nvPr>
        </p:nvGraphicFramePr>
        <p:xfrm>
          <a:off x="189507" y="252370"/>
          <a:ext cx="8786813" cy="549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24000" imgH="2628720" progId="Equation.DSMT4">
                  <p:embed/>
                </p:oleObj>
              </mc:Choice>
              <mc:Fallback>
                <p:oleObj name="Equation" r:id="rId4" imgW="3924000" imgH="26287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07" y="252370"/>
                        <a:ext cx="8786813" cy="549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0B16100E-542D-4F7A-B9A2-3716857C198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4564063" y="3589338"/>
          <a:ext cx="16827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3589338"/>
                        <a:ext cx="168275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162529"/>
              </p:ext>
            </p:extLst>
          </p:nvPr>
        </p:nvGraphicFramePr>
        <p:xfrm>
          <a:off x="211138" y="1052513"/>
          <a:ext cx="8001000" cy="484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20960" imgH="2412720" progId="Equation.DSMT4">
                  <p:embed/>
                </p:oleObj>
              </mc:Choice>
              <mc:Fallback>
                <p:oleObj name="Equation" r:id="rId4" imgW="3720960" imgH="24127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8" y="1052513"/>
                        <a:ext cx="8001000" cy="484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51520" y="183849"/>
            <a:ext cx="6120680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注意区分：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近邻的“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”、</a:t>
            </a:r>
            <a:r>
              <a:rPr lang="en-US" altLang="zh-CN" b="1" dirty="0" err="1">
                <a:latin typeface="华文新魏" pitchFamily="2" charset="-122"/>
                <a:ea typeface="华文新魏" pitchFamily="2" charset="-122"/>
              </a:rPr>
              <a:t>kd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树的“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”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4091CAD-0F41-4667-869C-E86DD26F6F6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966361"/>
              </p:ext>
            </p:extLst>
          </p:nvPr>
        </p:nvGraphicFramePr>
        <p:xfrm>
          <a:off x="250825" y="223838"/>
          <a:ext cx="8162925" cy="641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22480" imgH="3213000" progId="Equation.DSMT4">
                  <p:embed/>
                </p:oleObj>
              </mc:Choice>
              <mc:Fallback>
                <p:oleObj name="Equation" r:id="rId2" imgW="3822480" imgH="3213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23838"/>
                        <a:ext cx="8162925" cy="641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55976" y="6237312"/>
            <a:ext cx="4320480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例：</a:t>
            </a:r>
            <a:r>
              <a:rPr lang="en-US" altLang="zh-CN" dirty="0" err="1">
                <a:latin typeface="华文新魏" pitchFamily="2" charset="-122"/>
                <a:ea typeface="华文新魏" pitchFamily="2" charset="-122"/>
              </a:rPr>
              <a:t>Scikit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-learn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默认值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=30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4048" y="1916832"/>
            <a:ext cx="396044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dirty="0" err="1">
                <a:latin typeface="华文新魏" pitchFamily="2" charset="-122"/>
                <a:ea typeface="华文新魏" pitchFamily="2" charset="-122"/>
              </a:rPr>
              <a:t>kd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树是一个以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划分方式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存储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维空间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数量有限的观测点集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的数据结构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--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二叉树结构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179512" y="5013176"/>
            <a:ext cx="8712968" cy="1152128"/>
          </a:xfrm>
          <a:prstGeom prst="rect">
            <a:avLst/>
          </a:prstGeom>
          <a:solidFill>
            <a:schemeClr val="accent1">
              <a:alpha val="4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35841"/>
            <a:ext cx="152400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139245" y="1246608"/>
            <a:ext cx="8712968" cy="2736304"/>
          </a:xfrm>
          <a:prstGeom prst="rect">
            <a:avLst/>
          </a:prstGeom>
          <a:solidFill>
            <a:srgbClr val="00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graphicFrame>
        <p:nvGraphicFramePr>
          <p:cNvPr id="6144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296896"/>
              </p:ext>
            </p:extLst>
          </p:nvPr>
        </p:nvGraphicFramePr>
        <p:xfrm>
          <a:off x="156988" y="836712"/>
          <a:ext cx="8418512" cy="555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79680" imgH="3022560" progId="Equation.DSMT4">
                  <p:embed/>
                </p:oleObj>
              </mc:Choice>
              <mc:Fallback>
                <p:oleObj name="Equation" r:id="rId2" imgW="4279680" imgH="30225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88" y="836712"/>
                        <a:ext cx="8418512" cy="555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 bwMode="auto">
          <a:xfrm>
            <a:off x="683568" y="1734357"/>
            <a:ext cx="2160240" cy="470507"/>
          </a:xfrm>
          <a:prstGeom prst="rect">
            <a:avLst/>
          </a:prstGeom>
          <a:solidFill>
            <a:schemeClr val="accent1">
              <a:alpha val="46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66244" y="37076"/>
            <a:ext cx="4680520" cy="58477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新魏" pitchFamily="2" charset="-122"/>
                <a:ea typeface="华文新魏" pitchFamily="2" charset="-122"/>
              </a:rPr>
              <a:t>可以选择使用方差最大的特征进行比较和划分，以减少划分后区域内数据点的方差（数据点更密集）</a:t>
            </a:r>
          </a:p>
        </p:txBody>
      </p:sp>
      <p:cxnSp>
        <p:nvCxnSpPr>
          <p:cNvPr id="8" name="直接箭头连接符 7"/>
          <p:cNvCxnSpPr>
            <a:cxnSpLocks/>
          </p:cNvCxnSpPr>
          <p:nvPr/>
        </p:nvCxnSpPr>
        <p:spPr bwMode="auto">
          <a:xfrm>
            <a:off x="8100392" y="641842"/>
            <a:ext cx="144016" cy="5847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8" y="-41999"/>
            <a:ext cx="3168352" cy="595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4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106103"/>
              </p:ext>
            </p:extLst>
          </p:nvPr>
        </p:nvGraphicFramePr>
        <p:xfrm>
          <a:off x="166688" y="333375"/>
          <a:ext cx="8723312" cy="586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57520" imgH="2997000" progId="Equation.DSMT4">
                  <p:embed/>
                </p:oleObj>
              </mc:Choice>
              <mc:Fallback>
                <p:oleObj name="Equation" r:id="rId2" imgW="4457520" imgH="29970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8" y="333375"/>
                        <a:ext cx="8723312" cy="586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5684" y="620688"/>
            <a:ext cx="7228495" cy="6264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 bwMode="auto">
          <a:xfrm>
            <a:off x="467544" y="737320"/>
            <a:ext cx="6984776" cy="5932040"/>
          </a:xfrm>
          <a:prstGeom prst="rect">
            <a:avLst/>
          </a:prstGeom>
          <a:noFill/>
          <a:ln w="412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11560" y="3789040"/>
            <a:ext cx="3888432" cy="273630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44624"/>
            <a:ext cx="8856984" cy="492443"/>
          </a:xfrm>
          <a:prstGeom prst="rect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基于训练样本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A,B,C,D,E,F,G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构建二维特征空间的</a:t>
            </a:r>
            <a:r>
              <a:rPr lang="en-US" altLang="zh-CN" sz="2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kd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树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.</a:t>
            </a:r>
            <a:endParaRPr lang="zh-CN" alt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9523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869278"/>
              </p:ext>
            </p:extLst>
          </p:nvPr>
        </p:nvGraphicFramePr>
        <p:xfrm>
          <a:off x="7927975" y="908050"/>
          <a:ext cx="9255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9040" imgH="228600" progId="Equation.DSMT4">
                  <p:embed/>
                </p:oleObj>
              </mc:Choice>
              <mc:Fallback>
                <p:oleObj name="Equation" r:id="rId3" imgW="419040" imgH="2286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7975" y="908050"/>
                        <a:ext cx="925513" cy="5048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/>
          <p:cNvCxnSpPr>
            <a:cxnSpLocks/>
          </p:cNvCxnSpPr>
          <p:nvPr/>
        </p:nvCxnSpPr>
        <p:spPr bwMode="auto">
          <a:xfrm>
            <a:off x="345684" y="3789040"/>
            <a:ext cx="722849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/>
          <p:nvPr/>
        </p:nvCxnSpPr>
        <p:spPr bwMode="auto">
          <a:xfrm>
            <a:off x="4572000" y="3717032"/>
            <a:ext cx="0" cy="3024336"/>
          </a:xfrm>
          <a:prstGeom prst="line">
            <a:avLst/>
          </a:prstGeom>
          <a:solidFill>
            <a:schemeClr val="accent1"/>
          </a:solidFill>
          <a:ln w="444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/>
          <p:cNvCxnSpPr/>
          <p:nvPr/>
        </p:nvCxnSpPr>
        <p:spPr bwMode="auto">
          <a:xfrm>
            <a:off x="3059832" y="737320"/>
            <a:ext cx="0" cy="3024336"/>
          </a:xfrm>
          <a:prstGeom prst="line">
            <a:avLst/>
          </a:prstGeom>
          <a:solidFill>
            <a:schemeClr val="accent1"/>
          </a:solidFill>
          <a:ln w="444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5480D8D-E413-4528-9D3C-4662CCD7B055}"/>
                  </a:ext>
                </a:extLst>
              </p:cNvPr>
              <p:cNvSpPr txBox="1"/>
              <p:nvPr/>
            </p:nvSpPr>
            <p:spPr>
              <a:xfrm>
                <a:off x="3954092" y="899686"/>
                <a:ext cx="3396058" cy="88857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altLang="zh-C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左子集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1" i="1" smtClean="0">
                                      <a:solidFill>
                                        <a:srgbClr val="FF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1200" b="1" i="1" smtClean="0">
                                      <a:solidFill>
                                        <a:srgbClr val="FF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{</m:t>
                                      </m:r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𝐹</m:t>
                                      </m:r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}</m:t>
                                      </m:r>
                                    </m:e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</a:rPr>
                                        <m:t>{</m:t>
                                      </m:r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</a:rPr>
                                        <m:t>}</m:t>
                                      </m:r>
                                    </m:e>
                                  </m:eqArr>
                                </m:e>
                              </m:d>
                            </m:e>
                            <m:e>
                              <m:r>
                                <a:rPr lang="zh-CN" altLang="en-US" sz="1200" i="1" smtClean="0">
                                  <a:latin typeface="Cambria Math" panose="02040503050406030204" pitchFamily="18" charset="0"/>
                                </a:rPr>
                                <m:t>右子集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{</m:t>
                                      </m:r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}</m:t>
                                      </m:r>
                                    </m:e>
                                    <m:e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{</m:t>
                                      </m:r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}</m:t>
                                      </m:r>
                                    </m:e>
                                  </m:eqAr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5480D8D-E413-4528-9D3C-4662CCD7B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092" y="899686"/>
                <a:ext cx="3396058" cy="8885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620688"/>
            <a:ext cx="6621785" cy="3197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140968"/>
            <a:ext cx="4023605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79512" y="44624"/>
            <a:ext cx="8352928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例：基于二维特征空间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25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个训练样本，构建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kd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树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.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2843808" y="3284984"/>
            <a:ext cx="0" cy="295232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/>
          <p:cNvCxnSpPr/>
          <p:nvPr/>
        </p:nvCxnSpPr>
        <p:spPr bwMode="auto">
          <a:xfrm>
            <a:off x="827584" y="4869160"/>
            <a:ext cx="201622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/>
          <p:cNvCxnSpPr/>
          <p:nvPr/>
        </p:nvCxnSpPr>
        <p:spPr bwMode="auto">
          <a:xfrm>
            <a:off x="827584" y="5445224"/>
            <a:ext cx="201622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/>
          <p:cNvCxnSpPr/>
          <p:nvPr/>
        </p:nvCxnSpPr>
        <p:spPr bwMode="auto">
          <a:xfrm>
            <a:off x="1763688" y="3284984"/>
            <a:ext cx="72008" cy="151216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椭圆 17"/>
          <p:cNvSpPr/>
          <p:nvPr/>
        </p:nvSpPr>
        <p:spPr bwMode="auto">
          <a:xfrm>
            <a:off x="5148064" y="548680"/>
            <a:ext cx="648072" cy="576064"/>
          </a:xfrm>
          <a:prstGeom prst="ellipse">
            <a:avLst/>
          </a:prstGeom>
          <a:noFill/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20" name="椭圆 19"/>
          <p:cNvSpPr/>
          <p:nvPr/>
        </p:nvSpPr>
        <p:spPr bwMode="auto">
          <a:xfrm>
            <a:off x="2699792" y="1988840"/>
            <a:ext cx="648072" cy="576064"/>
          </a:xfrm>
          <a:prstGeom prst="ellipse">
            <a:avLst/>
          </a:prstGeom>
          <a:noFill/>
          <a:ln w="254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 bwMode="auto">
          <a:xfrm>
            <a:off x="2843808" y="4653136"/>
            <a:ext cx="93610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直接连接符 23"/>
          <p:cNvCxnSpPr/>
          <p:nvPr/>
        </p:nvCxnSpPr>
        <p:spPr bwMode="auto">
          <a:xfrm>
            <a:off x="2843808" y="5229200"/>
            <a:ext cx="86409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直接连接符 25"/>
          <p:cNvCxnSpPr/>
          <p:nvPr/>
        </p:nvCxnSpPr>
        <p:spPr bwMode="auto">
          <a:xfrm>
            <a:off x="3275856" y="5229200"/>
            <a:ext cx="0" cy="936104"/>
          </a:xfrm>
          <a:prstGeom prst="line">
            <a:avLst/>
          </a:prstGeom>
          <a:solidFill>
            <a:schemeClr val="accent1"/>
          </a:solidFill>
          <a:ln w="4445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直接连接符 27"/>
          <p:cNvCxnSpPr/>
          <p:nvPr/>
        </p:nvCxnSpPr>
        <p:spPr bwMode="auto">
          <a:xfrm>
            <a:off x="3275856" y="3284984"/>
            <a:ext cx="0" cy="13681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椭圆 28"/>
          <p:cNvSpPr/>
          <p:nvPr/>
        </p:nvSpPr>
        <p:spPr bwMode="auto">
          <a:xfrm>
            <a:off x="3491880" y="1268760"/>
            <a:ext cx="648072" cy="576064"/>
          </a:xfrm>
          <a:prstGeom prst="ellipse">
            <a:avLst/>
          </a:prstGeom>
          <a:noFill/>
          <a:ln w="635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0" name="椭圆 29"/>
          <p:cNvSpPr/>
          <p:nvPr/>
        </p:nvSpPr>
        <p:spPr bwMode="auto">
          <a:xfrm>
            <a:off x="7956376" y="2636912"/>
            <a:ext cx="648072" cy="576064"/>
          </a:xfrm>
          <a:prstGeom prst="ellipse">
            <a:avLst/>
          </a:prstGeom>
          <a:noFill/>
          <a:ln w="635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1" name="椭圆 30"/>
          <p:cNvSpPr/>
          <p:nvPr/>
        </p:nvSpPr>
        <p:spPr bwMode="auto">
          <a:xfrm>
            <a:off x="6804248" y="1268760"/>
            <a:ext cx="648072" cy="576064"/>
          </a:xfrm>
          <a:prstGeom prst="ellipse">
            <a:avLst/>
          </a:prstGeom>
          <a:noFill/>
          <a:ln w="635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2" name="椭圆 31"/>
          <p:cNvSpPr/>
          <p:nvPr/>
        </p:nvSpPr>
        <p:spPr bwMode="auto">
          <a:xfrm>
            <a:off x="2699792" y="1988840"/>
            <a:ext cx="648072" cy="576064"/>
          </a:xfrm>
          <a:prstGeom prst="ellipse">
            <a:avLst/>
          </a:prstGeom>
          <a:noFill/>
          <a:ln w="635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3" name="椭圆 32"/>
          <p:cNvSpPr/>
          <p:nvPr/>
        </p:nvSpPr>
        <p:spPr bwMode="auto">
          <a:xfrm>
            <a:off x="6012160" y="1988840"/>
            <a:ext cx="648072" cy="576064"/>
          </a:xfrm>
          <a:prstGeom prst="ellipse">
            <a:avLst/>
          </a:prstGeom>
          <a:noFill/>
          <a:ln w="635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4" name="椭圆 33"/>
          <p:cNvSpPr/>
          <p:nvPr/>
        </p:nvSpPr>
        <p:spPr bwMode="auto">
          <a:xfrm>
            <a:off x="4355976" y="1988840"/>
            <a:ext cx="648072" cy="576064"/>
          </a:xfrm>
          <a:prstGeom prst="ellipse">
            <a:avLst/>
          </a:prstGeom>
          <a:noFill/>
          <a:ln w="635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5" name="椭圆 34"/>
          <p:cNvSpPr/>
          <p:nvPr/>
        </p:nvSpPr>
        <p:spPr bwMode="auto">
          <a:xfrm>
            <a:off x="7668344" y="1988840"/>
            <a:ext cx="648072" cy="576064"/>
          </a:xfrm>
          <a:prstGeom prst="ellipse">
            <a:avLst/>
          </a:prstGeom>
          <a:noFill/>
          <a:ln w="635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553626"/>
            <a:ext cx="7181850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3619500"/>
            <a:ext cx="71723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653277"/>
              </p:ext>
            </p:extLst>
          </p:nvPr>
        </p:nvGraphicFramePr>
        <p:xfrm>
          <a:off x="395536" y="620688"/>
          <a:ext cx="6003925" cy="363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720" imgH="1701720" progId="Equation.DSMT4">
                  <p:embed/>
                </p:oleObj>
              </mc:Choice>
              <mc:Fallback>
                <p:oleObj name="Equation" r:id="rId2" imgW="2628720" imgH="17017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620688"/>
                        <a:ext cx="6003925" cy="363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EE6671B0-E868-49BF-AD07-69DDB29BF9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1997223"/>
              </p:ext>
            </p:extLst>
          </p:nvPr>
        </p:nvGraphicFramePr>
        <p:xfrm>
          <a:off x="638175" y="404813"/>
          <a:ext cx="7751763" cy="529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2800" imgH="2692080" progId="Equation.DSMT4">
                  <p:embed/>
                </p:oleObj>
              </mc:Choice>
              <mc:Fallback>
                <p:oleObj name="Equation" r:id="rId2" imgW="3682800" imgH="26920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" y="404813"/>
                        <a:ext cx="7751763" cy="529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29B95EB3-0DFE-4E9C-AEB7-2653070985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895073"/>
              </p:ext>
            </p:extLst>
          </p:nvPr>
        </p:nvGraphicFramePr>
        <p:xfrm>
          <a:off x="251520" y="188640"/>
          <a:ext cx="8380412" cy="650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89240" imgH="3403440" progId="Equation.DSMT4">
                  <p:embed/>
                </p:oleObj>
              </mc:Choice>
              <mc:Fallback>
                <p:oleObj name="Equation" r:id="rId2" imgW="4089240" imgH="34034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88640"/>
                        <a:ext cx="8380412" cy="650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5" y="635317"/>
            <a:ext cx="4104456" cy="4017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2708920"/>
            <a:ext cx="4089890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836712"/>
            <a:ext cx="3957489" cy="1911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右箭头 7"/>
          <p:cNvSpPr/>
          <p:nvPr/>
        </p:nvSpPr>
        <p:spPr bwMode="auto">
          <a:xfrm rot="1964719">
            <a:off x="3992045" y="3892750"/>
            <a:ext cx="792088" cy="484581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188640"/>
            <a:ext cx="8352928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例：在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kd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树内搜索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测试样本</a:t>
            </a: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*</a:t>
            </a: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)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的最近邻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.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 flipH="1">
            <a:off x="2123728" y="2780928"/>
            <a:ext cx="288032" cy="21602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矩形 13"/>
          <p:cNvSpPr/>
          <p:nvPr/>
        </p:nvSpPr>
        <p:spPr bwMode="auto">
          <a:xfrm>
            <a:off x="5292080" y="2060848"/>
            <a:ext cx="360040" cy="360040"/>
          </a:xfrm>
          <a:prstGeom prst="rect">
            <a:avLst/>
          </a:prstGeom>
          <a:solidFill>
            <a:schemeClr val="accent1">
              <a:alpha val="44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076056" y="1628800"/>
            <a:ext cx="360040" cy="288032"/>
          </a:xfrm>
          <a:prstGeom prst="rect">
            <a:avLst/>
          </a:prstGeom>
          <a:solidFill>
            <a:schemeClr val="accent1">
              <a:alpha val="44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160" y="1628800"/>
            <a:ext cx="360040" cy="288032"/>
          </a:xfrm>
          <a:prstGeom prst="rect">
            <a:avLst/>
          </a:prstGeom>
          <a:solidFill>
            <a:schemeClr val="accent1">
              <a:alpha val="44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6300192" y="2060848"/>
            <a:ext cx="288032" cy="288032"/>
          </a:xfrm>
          <a:prstGeom prst="rect">
            <a:avLst/>
          </a:prstGeom>
          <a:solidFill>
            <a:schemeClr val="accent1">
              <a:alpha val="39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6093296"/>
            <a:ext cx="3168352" cy="595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1374160"/>
            <a:ext cx="79928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PART1.  K-</a:t>
            </a:r>
            <a:r>
              <a:rPr lang="zh-CN" altLang="en-US" sz="40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</a:t>
            </a:r>
            <a:endParaRPr lang="en-US" altLang="zh-CN" sz="4000" b="1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r>
              <a:rPr lang="en-US" altLang="zh-CN" sz="40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PART2. K-</a:t>
            </a:r>
            <a:r>
              <a:rPr lang="zh-CN" altLang="en-US" sz="40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</a:t>
            </a:r>
            <a:endParaRPr lang="en-US" altLang="zh-CN" sz="4000" b="1" u="sng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E069871-8CA6-4D80-A971-2E372999D7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" y="6262375"/>
            <a:ext cx="3168352" cy="5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935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3568" y="2492896"/>
            <a:ext cx="74888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华文新魏" pitchFamily="2" charset="-122"/>
                <a:ea typeface="华文新魏" pitchFamily="2" charset="-122"/>
              </a:rPr>
              <a:t>PART2. K</a:t>
            </a:r>
            <a:r>
              <a:rPr lang="zh-CN" altLang="en-US" sz="2800" b="1" dirty="0">
                <a:latin typeface="华文新魏" pitchFamily="2" charset="-122"/>
                <a:ea typeface="华文新魏" pitchFamily="2" charset="-122"/>
              </a:rPr>
              <a:t>近邻回归</a:t>
            </a:r>
            <a:endParaRPr lang="en-US" altLang="zh-CN" sz="2800" b="1" dirty="0">
              <a:latin typeface="华文新魏" pitchFamily="2" charset="-122"/>
              <a:ea typeface="华文新魏" pitchFamily="2" charset="-122"/>
            </a:endParaRPr>
          </a:p>
          <a:p>
            <a:pPr algn="ctr"/>
            <a:endParaRPr lang="en-US" altLang="zh-CN" sz="2800" b="1" dirty="0">
              <a:latin typeface="华文新魏" pitchFamily="2" charset="-122"/>
              <a:ea typeface="华文新魏" pitchFamily="2" charset="-122"/>
            </a:endParaRPr>
          </a:p>
          <a:p>
            <a:pPr algn="ctr"/>
            <a:r>
              <a:rPr lang="en-US" altLang="zh-CN" sz="2800" b="1" dirty="0">
                <a:latin typeface="华文新魏" pitchFamily="2" charset="-122"/>
                <a:ea typeface="华文新魏" pitchFamily="2" charset="-122"/>
              </a:rPr>
              <a:t>K-Nearest Neighbors Regression, KNN</a:t>
            </a:r>
            <a:r>
              <a:rPr lang="zh-CN" altLang="en-US" sz="2800" b="1" dirty="0">
                <a:latin typeface="华文新魏" pitchFamily="2" charset="-122"/>
                <a:ea typeface="华文新魏" pitchFamily="2" charset="-122"/>
              </a:rPr>
              <a:t>回归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3200D1B-DEC9-443E-A5F9-E1EA1E1BD0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79388" y="115888"/>
            <a:ext cx="8785225" cy="5976937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主要内容</a:t>
            </a:r>
            <a:endParaRPr lang="en-US" altLang="zh-CN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1. </a:t>
            </a:r>
            <a:r>
              <a:rPr lang="zh-CN" altLang="en-US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回归问题的一般描述</a:t>
            </a:r>
            <a:endParaRPr lang="en-US" altLang="zh-CN" sz="2800" b="1" u="sng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2.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近邻回归算法的描述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近邻回归的预测规则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4.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近邻回归模型的评价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思考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)</a:t>
            </a:r>
          </a:p>
          <a:p>
            <a:pPr marL="742950" indent="-742950" algn="l" eaLnBrk="1" hangingPunct="1"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高维空间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近邻回归模型的性能远不如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低维空间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E08DB2-2274-451A-8696-2023AD1D72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0510025"/>
              </p:ext>
            </p:extLst>
          </p:nvPr>
        </p:nvGraphicFramePr>
        <p:xfrm>
          <a:off x="179512" y="404664"/>
          <a:ext cx="8161337" cy="493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87720" imgH="2412720" progId="Equation.DSMT4">
                  <p:embed/>
                </p:oleObj>
              </mc:Choice>
              <mc:Fallback>
                <p:oleObj name="Equation" r:id="rId2" imgW="3987720" imgH="24127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404664"/>
                        <a:ext cx="8161337" cy="493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0A9C723C-80F6-4C71-8B8A-8E42141913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79388" y="115888"/>
            <a:ext cx="8785225" cy="5976937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主要内容</a:t>
            </a:r>
            <a:endParaRPr lang="en-US" altLang="zh-CN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1. 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回归问题的一般描述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2. K</a:t>
            </a:r>
            <a:r>
              <a:rPr lang="zh-CN" altLang="en-US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近邻回归算法的描述</a:t>
            </a:r>
            <a:endParaRPr lang="en-US" altLang="zh-CN" sz="2800" b="1" u="sng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 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近邻回归的预测规则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5B81E7-E989-4B4A-9228-8F0AB630B8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55710"/>
              </p:ext>
            </p:extLst>
          </p:nvPr>
        </p:nvGraphicFramePr>
        <p:xfrm>
          <a:off x="204787" y="332656"/>
          <a:ext cx="8734425" cy="568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00320" imgH="2603160" progId="Equation.DSMT4">
                  <p:embed/>
                </p:oleObj>
              </mc:Choice>
              <mc:Fallback>
                <p:oleObj name="Equation" r:id="rId2" imgW="4000320" imgH="26031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" y="332656"/>
                        <a:ext cx="8734425" cy="568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94F0D4EC-12A6-41FF-B3B3-02DCEBB9AB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148231"/>
              </p:ext>
            </p:extLst>
          </p:nvPr>
        </p:nvGraphicFramePr>
        <p:xfrm>
          <a:off x="539552" y="188640"/>
          <a:ext cx="7745363" cy="6204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62160" imgH="3174840" progId="Equation.DSMT4">
                  <p:embed/>
                </p:oleObj>
              </mc:Choice>
              <mc:Fallback>
                <p:oleObj name="Equation" r:id="rId2" imgW="3962160" imgH="31748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88640"/>
                        <a:ext cx="7745363" cy="6204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E15F6277-BA8A-4BAF-A342-D5E03E292D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3528" y="1196752"/>
            <a:ext cx="83529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训练集固定的前提下，</a:t>
            </a:r>
            <a:endParaRPr lang="en-US" altLang="zh-CN" sz="3200" dirty="0"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不同的距离度量方式、不同的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值、</a:t>
            </a:r>
            <a:endParaRPr lang="en-US" altLang="zh-CN" sz="3200" dirty="0"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不同的预测规则，</a:t>
            </a:r>
            <a:endParaRPr lang="en-US" altLang="zh-CN" sz="3200" dirty="0">
              <a:latin typeface="华文新魏" pitchFamily="2" charset="-122"/>
              <a:ea typeface="华文新魏" pitchFamily="2" charset="-122"/>
            </a:endParaRPr>
          </a:p>
          <a:p>
            <a:endParaRPr lang="en-US" altLang="zh-CN" sz="3200" dirty="0">
              <a:latin typeface="华文新魏" pitchFamily="2" charset="-122"/>
              <a:ea typeface="华文新魏" pitchFamily="2" charset="-122"/>
            </a:endParaRPr>
          </a:p>
          <a:p>
            <a:endParaRPr lang="en-US" altLang="zh-CN" sz="3200" dirty="0"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会导致不同的预测结果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ABD67C-D7FD-4631-81C3-F290D6D66D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79388" y="115888"/>
            <a:ext cx="8785225" cy="5976937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主要内容</a:t>
            </a:r>
            <a:endParaRPr lang="en-US" altLang="zh-CN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1. 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回归问题的一般描述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2. K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近邻回归算法的描述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 K</a:t>
            </a:r>
            <a:r>
              <a:rPr lang="zh-CN" altLang="en-US" sz="2800" b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近邻回归的预测规则</a:t>
            </a:r>
            <a:endParaRPr lang="en-US" altLang="zh-CN" sz="2800" b="1" u="sng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DEE74F-56FF-4D91-97EA-5773994B08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2483768" y="4509120"/>
            <a:ext cx="4320480" cy="115212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graphicFrame>
        <p:nvGraphicFramePr>
          <p:cNvPr id="133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541834"/>
              </p:ext>
            </p:extLst>
          </p:nvPr>
        </p:nvGraphicFramePr>
        <p:xfrm>
          <a:off x="179512" y="404664"/>
          <a:ext cx="8091487" cy="517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62240" imgH="2158920" progId="Equation.DSMT4">
                  <p:embed/>
                </p:oleObj>
              </mc:Choice>
              <mc:Fallback>
                <p:oleObj name="Equation" r:id="rId2" imgW="3162240" imgH="21589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404664"/>
                        <a:ext cx="8091487" cy="517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426290"/>
              </p:ext>
            </p:extLst>
          </p:nvPr>
        </p:nvGraphicFramePr>
        <p:xfrm>
          <a:off x="4564063" y="3589338"/>
          <a:ext cx="16827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3589338"/>
                        <a:ext cx="168275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9BA67793-ACAF-4117-917C-56D963131D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296" y="1628800"/>
            <a:ext cx="8460432" cy="3887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79387" y="332656"/>
            <a:ext cx="8785225" cy="5976937"/>
          </a:xfrm>
          <a:prstGeom prst="rect">
            <a:avLst/>
          </a:prstGeom>
        </p:spPr>
        <p:txBody>
          <a:bodyPr/>
          <a:lstStyle/>
          <a:p>
            <a:pPr marL="742950" marR="0" lvl="0" indent="-7429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itchFamily="2" charset="-122"/>
                <a:ea typeface="华文新魏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itchFamily="2" charset="-122"/>
                <a:ea typeface="华文新魏" pitchFamily="2" charset="-122"/>
                <a:cs typeface="+mn-cs"/>
              </a:rPr>
              <a:t>1.</a:t>
            </a:r>
            <a:r>
              <a:rPr kumimoji="1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itchFamily="2" charset="-122"/>
                <a:ea typeface="华文新魏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itchFamily="2" charset="-122"/>
                <a:ea typeface="华文新魏" pitchFamily="2" charset="-122"/>
                <a:cs typeface="+mn-cs"/>
              </a:rPr>
              <a:t>一维特征空间的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itchFamily="2" charset="-122"/>
                <a:ea typeface="华文新魏" pitchFamily="2" charset="-122"/>
                <a:cs typeface="+mn-cs"/>
              </a:rPr>
              <a:t>K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itchFamily="2" charset="-122"/>
                <a:ea typeface="华文新魏" pitchFamily="2" charset="-122"/>
                <a:cs typeface="+mn-cs"/>
              </a:rPr>
              <a:t>近邻回归。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itchFamily="2" charset="-122"/>
              <a:ea typeface="华文新魏" pitchFamily="2" charset="-122"/>
              <a:cs typeface="+mn-cs"/>
            </a:endParaRPr>
          </a:p>
          <a:p>
            <a:pPr marL="742950" marR="0" lvl="0" indent="-7429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28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100</a:t>
            </a:r>
            <a:r>
              <a:rPr lang="zh-CN" altLang="en-US" sz="28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个训练样本</a:t>
            </a:r>
            <a:r>
              <a:rPr lang="en-US" altLang="zh-CN" sz="28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8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左 </a:t>
            </a:r>
            <a:r>
              <a:rPr lang="en-US" altLang="zh-CN" sz="28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K=1</a:t>
            </a:r>
            <a:r>
              <a:rPr lang="zh-CN" altLang="en-US" sz="28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， 右</a:t>
            </a:r>
            <a:r>
              <a:rPr lang="en-US" altLang="zh-CN" sz="28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K=9)</a:t>
            </a:r>
          </a:p>
        </p:txBody>
      </p:sp>
      <p:sp>
        <p:nvSpPr>
          <p:cNvPr id="4" name="矩形 3"/>
          <p:cNvSpPr/>
          <p:nvPr/>
        </p:nvSpPr>
        <p:spPr>
          <a:xfrm>
            <a:off x="271999" y="5516229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3333FF"/>
                </a:solidFill>
                <a:cs typeface="Times New Roman" pitchFamily="18" charset="0"/>
              </a:rPr>
              <a:t>The blue curve corresponding to K = 9 represents a smoother fit.</a:t>
            </a:r>
            <a:endParaRPr lang="zh-CN" altLang="en-US" b="1" dirty="0">
              <a:solidFill>
                <a:srgbClr val="3333FF"/>
              </a:solidFill>
              <a:cs typeface="Times New Roman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6" y="611862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984" y="1952992"/>
            <a:ext cx="8860512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75984" y="268777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例：二维特征空间的基于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KNN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回归，基于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64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个训练样本实现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(orange dots). </a:t>
            </a:r>
          </a:p>
          <a:p>
            <a:pPr algn="just"/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Left:  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近邻数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K = 1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，导致较为粗糙的函数拟合结果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/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Right: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近邻数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K = 9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，导致更为平滑的函数拟合结果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23E289-CF00-404B-872C-BD823D1161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3563888" y="4365104"/>
            <a:ext cx="4536504" cy="194421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graphicFrame>
        <p:nvGraphicFramePr>
          <p:cNvPr id="13315" name="Object 4"/>
          <p:cNvGraphicFramePr>
            <a:graphicFrameLocks noChangeAspect="1"/>
          </p:cNvGraphicFramePr>
          <p:nvPr/>
        </p:nvGraphicFramePr>
        <p:xfrm>
          <a:off x="179512" y="188640"/>
          <a:ext cx="8510588" cy="601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30520" imgH="2666880" progId="Equation.DSMT4">
                  <p:embed/>
                </p:oleObj>
              </mc:Choice>
              <mc:Fallback>
                <p:oleObj name="Equation" r:id="rId2" imgW="3530520" imgH="26668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88640"/>
                        <a:ext cx="8510588" cy="601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4564063" y="3589338"/>
          <a:ext cx="16827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3589338"/>
                        <a:ext cx="168275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A8857E34-8818-49E7-960C-3533CC9793A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79388" y="115888"/>
            <a:ext cx="8785225" cy="5976937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主要内容</a:t>
            </a:r>
            <a:endParaRPr lang="en-US" altLang="zh-CN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1. 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回归问题的一般描述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2. K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近邻回归算法的描述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3. K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近邻回归的预测规则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u="sng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u="sng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思考：如何采用</a:t>
            </a: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m-fold CV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法，对</a:t>
            </a: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近邻回归模型进行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           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近邻数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值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的优选？</a:t>
            </a:r>
            <a:endParaRPr lang="en-US" altLang="zh-CN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742950" indent="-742950" algn="l" eaLnBrk="1" hangingPunct="1"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17BD38-0D25-4E19-8D45-1CF9C62B0C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9512" y="260648"/>
            <a:ext cx="8784976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关于</a:t>
            </a: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KD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树的说明</a:t>
            </a: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参见</a:t>
            </a:r>
            <a:r>
              <a:rPr lang="en-US" altLang="zh-CN" sz="2800" b="1" dirty="0" err="1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Scikit</a:t>
            </a: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-learn)</a:t>
            </a:r>
          </a:p>
          <a:p>
            <a:pPr algn="just"/>
            <a:endParaRPr lang="en-US" altLang="zh-CN" dirty="0">
              <a:latin typeface="华文新魏" pitchFamily="2" charset="-122"/>
              <a:ea typeface="华文新魏" pitchFamily="2" charset="-122"/>
            </a:endParaRPr>
          </a:p>
          <a:p>
            <a:pPr algn="just"/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Regarding the Nearest Neighbors algorithms, </a:t>
            </a:r>
            <a:r>
              <a:rPr lang="en-US" altLang="zh-CN" b="1" u="sng" dirty="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if two neighbors, have identical distances but different labels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, the results will depend on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the ordering of the training data.</a:t>
            </a:r>
          </a:p>
          <a:p>
            <a:pPr algn="just"/>
            <a:endParaRPr lang="en-US" altLang="zh-CN" dirty="0">
              <a:latin typeface="华文新魏" pitchFamily="2" charset="-122"/>
              <a:ea typeface="华文新魏" pitchFamily="2" charset="-122"/>
            </a:endParaRPr>
          </a:p>
          <a:p>
            <a:pPr algn="just"/>
            <a:endParaRPr lang="en-US" altLang="zh-CN" dirty="0">
              <a:latin typeface="华文新魏" pitchFamily="2" charset="-122"/>
              <a:ea typeface="华文新魏" pitchFamily="2" charset="-122"/>
            </a:endParaRPr>
          </a:p>
          <a:p>
            <a:pPr algn="just"/>
            <a:endParaRPr lang="en-US" altLang="zh-CN" dirty="0">
              <a:latin typeface="华文新魏" pitchFamily="2" charset="-122"/>
              <a:ea typeface="华文新魏" pitchFamily="2" charset="-122"/>
            </a:endParaRPr>
          </a:p>
          <a:p>
            <a:pPr algn="just"/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Though the KD tree approach is very fast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for low-dimensional (d&lt;20) 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neighbors searches, it becomes inefficient as grows very large: this is one manifestation of the so-called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“curse of dimensionality”. </a:t>
            </a:r>
          </a:p>
          <a:p>
            <a:pPr algn="just"/>
            <a:endParaRPr lang="en-US" altLang="zh-CN" dirty="0">
              <a:latin typeface="华文新魏" pitchFamily="2" charset="-122"/>
              <a:ea typeface="华文新魏" pitchFamily="2" charset="-122"/>
            </a:endParaRPr>
          </a:p>
          <a:p>
            <a:pPr algn="just"/>
            <a:endParaRPr lang="en-US" altLang="zh-CN" dirty="0">
              <a:latin typeface="华文新魏" pitchFamily="2" charset="-122"/>
              <a:ea typeface="华文新魏" pitchFamily="2" charset="-122"/>
            </a:endParaRPr>
          </a:p>
          <a:p>
            <a:pPr algn="just"/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For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small data sets ( less than 30 or so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), 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brute force algorithms 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can be more efficient than a tree-based approach.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EAA3E5-8F28-4661-B966-234ED9CB4E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" y="6262375"/>
            <a:ext cx="3168352" cy="59562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5579" y="887892"/>
            <a:ext cx="842493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分类问题的描述、分类模型的性能评价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回归问题的描述、回归模型的性能评价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距离度量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样本的规范化预处理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/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1.   K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近邻分类</a:t>
            </a:r>
            <a:endParaRPr lang="en-US" altLang="zh-CN" b="1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近邻分类的算法描述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近邻分类系统决策性能的影响因素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如何面向分类，进行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值优选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决策规则</a:t>
            </a:r>
            <a:endParaRPr lang="en-US" altLang="zh-CN" b="1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457200" indent="-457200"/>
            <a:r>
              <a:rPr lang="en-US" altLang="zh-CN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2.   K</a:t>
            </a: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近邻回归</a:t>
            </a:r>
            <a:endParaRPr lang="en-US" altLang="zh-CN" b="1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近邻回归的算法描述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近邻预测系统性能的影响因素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 如何面向回归问题，进行</a:t>
            </a: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值优选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altLang="zh-CN" b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预测规则</a:t>
            </a:r>
            <a:endParaRPr lang="en-US" altLang="zh-CN" b="1" dirty="0">
              <a:latin typeface="华文新魏" pitchFamily="2" charset="-122"/>
              <a:ea typeface="华文新魏" pitchFamily="2" charset="-122"/>
            </a:endParaRPr>
          </a:p>
          <a:p>
            <a:pPr marL="457200" indent="-457200"/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6237312"/>
            <a:ext cx="3168352" cy="59562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2A16529-17C1-469C-AA74-17034756F77B}"/>
              </a:ext>
            </a:extLst>
          </p:cNvPr>
          <p:cNvSpPr/>
          <p:nvPr/>
        </p:nvSpPr>
        <p:spPr bwMode="auto">
          <a:xfrm>
            <a:off x="179512" y="896526"/>
            <a:ext cx="8669342" cy="1524362"/>
          </a:xfrm>
          <a:prstGeom prst="rect">
            <a:avLst/>
          </a:pr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326D3C-135D-4AE6-8406-C0EB4FCC2C86}"/>
              </a:ext>
            </a:extLst>
          </p:cNvPr>
          <p:cNvSpPr/>
          <p:nvPr/>
        </p:nvSpPr>
        <p:spPr bwMode="auto">
          <a:xfrm>
            <a:off x="186431" y="2429522"/>
            <a:ext cx="8662423" cy="1791566"/>
          </a:xfrm>
          <a:prstGeom prst="rect">
            <a:avLst/>
          </a:pr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84614C-2825-495E-86E5-A8A25EE3EAF6}"/>
              </a:ext>
            </a:extLst>
          </p:cNvPr>
          <p:cNvSpPr/>
          <p:nvPr/>
        </p:nvSpPr>
        <p:spPr bwMode="auto">
          <a:xfrm>
            <a:off x="179512" y="4225032"/>
            <a:ext cx="8669342" cy="1868263"/>
          </a:xfrm>
          <a:prstGeom prst="rect">
            <a:avLst/>
          </a:pr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1FC509D0-A41A-4472-9729-3544E7334AFC}"/>
              </a:ext>
            </a:extLst>
          </p:cNvPr>
          <p:cNvSpPr txBox="1"/>
          <p:nvPr/>
        </p:nvSpPr>
        <p:spPr>
          <a:xfrm>
            <a:off x="1056212" y="161315"/>
            <a:ext cx="7488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K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近邻小结</a:t>
            </a:r>
          </a:p>
        </p:txBody>
      </p:sp>
    </p:spTree>
    <p:extLst>
      <p:ext uri="{BB962C8B-B14F-4D97-AF65-F5344CB8AC3E}">
        <p14:creationId xmlns:p14="http://schemas.microsoft.com/office/powerpoint/2010/main" val="1347129784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新魏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新魏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21548</TotalTime>
  <Words>1468</Words>
  <Application>Microsoft Office PowerPoint</Application>
  <PresentationFormat>全屏显示(4:3)</PresentationFormat>
  <Paragraphs>207</Paragraphs>
  <Slides>61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0" baseType="lpstr">
      <vt:lpstr>华文新魏</vt:lpstr>
      <vt:lpstr>Arial</vt:lpstr>
      <vt:lpstr>Calibri</vt:lpstr>
      <vt:lpstr>Cambria Math</vt:lpstr>
      <vt:lpstr>Times New Roman</vt:lpstr>
      <vt:lpstr>Wingdings</vt:lpstr>
      <vt:lpstr>默认设计模板</vt:lpstr>
      <vt:lpstr>Office 主题​​</vt:lpstr>
      <vt:lpstr>Equation</vt:lpstr>
      <vt:lpstr>智能软件开发方向基础   第四章  K-近邻模型 K-Nearest Neighbour  张朝晖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zhangzhaohui</dc:creator>
  <cp:lastModifiedBy>zhaohui zhang</cp:lastModifiedBy>
  <cp:revision>866</cp:revision>
  <cp:lastPrinted>2024-03-19T05:41:01Z</cp:lastPrinted>
  <dcterms:created xsi:type="dcterms:W3CDTF">2007-04-09T09:23:41Z</dcterms:created>
  <dcterms:modified xsi:type="dcterms:W3CDTF">2024-03-19T05:53:26Z</dcterms:modified>
</cp:coreProperties>
</file>